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0"/>
  </p:notesMasterIdLst>
  <p:handoutMasterIdLst>
    <p:handoutMasterId r:id="rId41"/>
  </p:handoutMasterIdLst>
  <p:sldIdLst>
    <p:sldId id="1132" r:id="rId2"/>
    <p:sldId id="1205" r:id="rId3"/>
    <p:sldId id="597" r:id="rId4"/>
    <p:sldId id="532" r:id="rId5"/>
    <p:sldId id="535" r:id="rId6"/>
    <p:sldId id="1382" r:id="rId7"/>
    <p:sldId id="1383" r:id="rId8"/>
    <p:sldId id="1474" r:id="rId9"/>
    <p:sldId id="1475" r:id="rId10"/>
    <p:sldId id="1476" r:id="rId11"/>
    <p:sldId id="1385" r:id="rId12"/>
    <p:sldId id="1386" r:id="rId13"/>
    <p:sldId id="1477" r:id="rId14"/>
    <p:sldId id="1388" r:id="rId15"/>
    <p:sldId id="1472" r:id="rId16"/>
    <p:sldId id="1389" r:id="rId17"/>
    <p:sldId id="1478" r:id="rId18"/>
    <p:sldId id="1469" r:id="rId19"/>
    <p:sldId id="1470" r:id="rId20"/>
    <p:sldId id="1479" r:id="rId21"/>
    <p:sldId id="1480" r:id="rId22"/>
    <p:sldId id="1481" r:id="rId23"/>
    <p:sldId id="1482" r:id="rId24"/>
    <p:sldId id="1483" r:id="rId25"/>
    <p:sldId id="1484" r:id="rId26"/>
    <p:sldId id="1485" r:id="rId27"/>
    <p:sldId id="1486" r:id="rId28"/>
    <p:sldId id="1487" r:id="rId29"/>
    <p:sldId id="1488" r:id="rId30"/>
    <p:sldId id="1404" r:id="rId31"/>
    <p:sldId id="1405" r:id="rId32"/>
    <p:sldId id="1489" r:id="rId33"/>
    <p:sldId id="1407" r:id="rId34"/>
    <p:sldId id="1408" r:id="rId35"/>
    <p:sldId id="1409" r:id="rId36"/>
    <p:sldId id="1415" r:id="rId37"/>
    <p:sldId id="1465" r:id="rId38"/>
    <p:sldId id="1154" r:id="rId39"/>
  </p:sldIdLst>
  <p:sldSz cx="13681075" cy="9001125"/>
  <p:notesSz cx="6834188" cy="9979025"/>
  <p:defaultTextStyle>
    <a:defPPr>
      <a:defRPr lang="en-US"/>
    </a:defPPr>
    <a:lvl1pPr algn="l" rtl="0" eaLnBrk="0" fontAlgn="base" hangingPunct="0">
      <a:spcBef>
        <a:spcPct val="0"/>
      </a:spcBef>
      <a:spcAft>
        <a:spcPct val="0"/>
      </a:spcAft>
      <a:defRPr sz="900" kern="1200">
        <a:solidFill>
          <a:schemeClr val="tx1"/>
        </a:solidFill>
        <a:latin typeface="Tahoma" pitchFamily="34" charset="0"/>
        <a:ea typeface="+mn-ea"/>
        <a:cs typeface="+mn-cs"/>
      </a:defRPr>
    </a:lvl1pPr>
    <a:lvl2pPr marL="523875" indent="-66675" algn="l" rtl="0" eaLnBrk="0" fontAlgn="base" hangingPunct="0">
      <a:spcBef>
        <a:spcPct val="0"/>
      </a:spcBef>
      <a:spcAft>
        <a:spcPct val="0"/>
      </a:spcAft>
      <a:defRPr sz="900" kern="1200">
        <a:solidFill>
          <a:schemeClr val="tx1"/>
        </a:solidFill>
        <a:latin typeface="Tahoma" pitchFamily="34" charset="0"/>
        <a:ea typeface="+mn-ea"/>
        <a:cs typeface="+mn-cs"/>
      </a:defRPr>
    </a:lvl2pPr>
    <a:lvl3pPr marL="1047750" indent="-133350" algn="l" rtl="0" eaLnBrk="0" fontAlgn="base" hangingPunct="0">
      <a:spcBef>
        <a:spcPct val="0"/>
      </a:spcBef>
      <a:spcAft>
        <a:spcPct val="0"/>
      </a:spcAft>
      <a:defRPr sz="900" kern="1200">
        <a:solidFill>
          <a:schemeClr val="tx1"/>
        </a:solidFill>
        <a:latin typeface="Tahoma" pitchFamily="34" charset="0"/>
        <a:ea typeface="+mn-ea"/>
        <a:cs typeface="+mn-cs"/>
      </a:defRPr>
    </a:lvl3pPr>
    <a:lvl4pPr marL="1573213" indent="-201613" algn="l" rtl="0" eaLnBrk="0" fontAlgn="base" hangingPunct="0">
      <a:spcBef>
        <a:spcPct val="0"/>
      </a:spcBef>
      <a:spcAft>
        <a:spcPct val="0"/>
      </a:spcAft>
      <a:defRPr sz="900" kern="1200">
        <a:solidFill>
          <a:schemeClr val="tx1"/>
        </a:solidFill>
        <a:latin typeface="Tahoma" pitchFamily="34" charset="0"/>
        <a:ea typeface="+mn-ea"/>
        <a:cs typeface="+mn-cs"/>
      </a:defRPr>
    </a:lvl4pPr>
    <a:lvl5pPr marL="2097088" indent="-268288" algn="l" rtl="0" eaLnBrk="0" fontAlgn="base" hangingPunct="0">
      <a:spcBef>
        <a:spcPct val="0"/>
      </a:spcBef>
      <a:spcAft>
        <a:spcPct val="0"/>
      </a:spcAft>
      <a:defRPr sz="900" kern="1200">
        <a:solidFill>
          <a:schemeClr val="tx1"/>
        </a:solidFill>
        <a:latin typeface="Tahoma" pitchFamily="34" charset="0"/>
        <a:ea typeface="+mn-ea"/>
        <a:cs typeface="+mn-cs"/>
      </a:defRPr>
    </a:lvl5pPr>
    <a:lvl6pPr marL="2286000" algn="l" defTabSz="914400" rtl="0" eaLnBrk="1" latinLnBrk="0" hangingPunct="1">
      <a:defRPr sz="900" kern="1200">
        <a:solidFill>
          <a:schemeClr val="tx1"/>
        </a:solidFill>
        <a:latin typeface="Tahoma" pitchFamily="34" charset="0"/>
        <a:ea typeface="+mn-ea"/>
        <a:cs typeface="+mn-cs"/>
      </a:defRPr>
    </a:lvl6pPr>
    <a:lvl7pPr marL="2743200" algn="l" defTabSz="914400" rtl="0" eaLnBrk="1" latinLnBrk="0" hangingPunct="1">
      <a:defRPr sz="900" kern="1200">
        <a:solidFill>
          <a:schemeClr val="tx1"/>
        </a:solidFill>
        <a:latin typeface="Tahoma" pitchFamily="34" charset="0"/>
        <a:ea typeface="+mn-ea"/>
        <a:cs typeface="+mn-cs"/>
      </a:defRPr>
    </a:lvl7pPr>
    <a:lvl8pPr marL="3200400" algn="l" defTabSz="914400" rtl="0" eaLnBrk="1" latinLnBrk="0" hangingPunct="1">
      <a:defRPr sz="900" kern="1200">
        <a:solidFill>
          <a:schemeClr val="tx1"/>
        </a:solidFill>
        <a:latin typeface="Tahoma" pitchFamily="34" charset="0"/>
        <a:ea typeface="+mn-ea"/>
        <a:cs typeface="+mn-cs"/>
      </a:defRPr>
    </a:lvl8pPr>
    <a:lvl9pPr marL="3657600" algn="l" defTabSz="914400" rtl="0" eaLnBrk="1" latinLnBrk="0" hangingPunct="1">
      <a:defRPr sz="9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835">
          <p15:clr>
            <a:srgbClr val="A4A3A4"/>
          </p15:clr>
        </p15:guide>
        <p15:guide id="2" pos="431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F00"/>
    <a:srgbClr val="00CC00"/>
    <a:srgbClr val="FF0000"/>
    <a:srgbClr val="969696"/>
    <a:srgbClr val="77777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878" autoAdjust="0"/>
    <p:restoredTop sz="94396" autoAdjust="0"/>
  </p:normalViewPr>
  <p:slideViewPr>
    <p:cSldViewPr snapToGrid="0">
      <p:cViewPr varScale="1">
        <p:scale>
          <a:sx n="60" d="100"/>
          <a:sy n="60" d="100"/>
        </p:scale>
        <p:origin x="835" y="62"/>
      </p:cViewPr>
      <p:guideLst>
        <p:guide orient="horz" pos="2835"/>
        <p:guide pos="431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44" d="100"/>
          <a:sy n="44" d="100"/>
        </p:scale>
        <p:origin x="-1542" y="-114"/>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a:defRPr sz="1200">
                <a:latin typeface="Tahoma" pitchFamily="34" charset="0"/>
              </a:defRPr>
            </a:lvl1pPr>
          </a:lstStyle>
          <a:p>
            <a:pPr>
              <a:defRPr/>
            </a:pPr>
            <a:endParaRPr lang="en-GB"/>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atin typeface="Tahoma" pitchFamily="34" charset="0"/>
              </a:defRPr>
            </a:lvl1pPr>
          </a:lstStyle>
          <a:p>
            <a:pPr>
              <a:defRPr/>
            </a:pPr>
            <a:fld id="{1795414F-D476-4DD2-856E-DFC31EE8148D}" type="datetimeFigureOut">
              <a:rPr lang="en-US"/>
              <a:pPr>
                <a:defRPr/>
              </a:pPr>
              <a:t>4/15/2025</a:t>
            </a:fld>
            <a:endParaRPr lang="en-GB"/>
          </a:p>
        </p:txBody>
      </p:sp>
      <p:sp>
        <p:nvSpPr>
          <p:cNvPr id="4" name="Footer Placeholder 3"/>
          <p:cNvSpPr>
            <a:spLocks noGrp="1"/>
          </p:cNvSpPr>
          <p:nvPr>
            <p:ph type="ftr" sz="quarter" idx="2"/>
          </p:nvPr>
        </p:nvSpPr>
        <p:spPr>
          <a:xfrm>
            <a:off x="0" y="9478963"/>
            <a:ext cx="2960688" cy="498475"/>
          </a:xfrm>
          <a:prstGeom prst="rect">
            <a:avLst/>
          </a:prstGeom>
        </p:spPr>
        <p:txBody>
          <a:bodyPr vert="horz" lIns="91440" tIns="45720" rIns="91440" bIns="45720" rtlCol="0" anchor="b"/>
          <a:lstStyle>
            <a:lvl1pPr algn="l">
              <a:defRPr sz="1200">
                <a:latin typeface="Tahoma" pitchFamily="34" charset="0"/>
              </a:defRPr>
            </a:lvl1pPr>
          </a:lstStyle>
          <a:p>
            <a:pPr>
              <a:defRPr/>
            </a:pPr>
            <a:endParaRPr lang="en-GB"/>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atin typeface="Tahoma" pitchFamily="34" charset="0"/>
              </a:defRPr>
            </a:lvl1pPr>
          </a:lstStyle>
          <a:p>
            <a:pPr>
              <a:defRPr/>
            </a:pPr>
            <a:fld id="{E9D598F7-2133-4013-82D1-4B3B491A4AC3}" type="slidenum">
              <a:rPr lang="en-GB"/>
              <a:pPr>
                <a:defRPr/>
              </a:pPr>
              <a:t>‹#›</a:t>
            </a:fld>
            <a:endParaRPr lang="en-GB"/>
          </a:p>
        </p:txBody>
      </p:sp>
    </p:spTree>
    <p:extLst>
      <p:ext uri="{BB962C8B-B14F-4D97-AF65-F5344CB8AC3E}">
        <p14:creationId xmlns:p14="http://schemas.microsoft.com/office/powerpoint/2010/main" val="2527910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7350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defRPr sz="120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574675" y="749300"/>
            <a:ext cx="5684838" cy="3741738"/>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911225" y="4740275"/>
            <a:ext cx="5011738" cy="44894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7350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defRPr sz="1200">
                <a:latin typeface="Times New Roman" pitchFamily="18" charset="0"/>
              </a:defRPr>
            </a:lvl1pPr>
          </a:lstStyle>
          <a:p>
            <a:pPr>
              <a:defRPr/>
            </a:pPr>
            <a:fld id="{5872934B-F198-4075-B02D-4E5D2B891C00}" type="slidenum">
              <a:rPr lang="en-US"/>
              <a:pPr>
                <a:defRPr/>
              </a:pPr>
              <a:t>‹#›</a:t>
            </a:fld>
            <a:endParaRPr lang="en-US"/>
          </a:p>
        </p:txBody>
      </p:sp>
    </p:spTree>
    <p:extLst>
      <p:ext uri="{BB962C8B-B14F-4D97-AF65-F5344CB8AC3E}">
        <p14:creationId xmlns:p14="http://schemas.microsoft.com/office/powerpoint/2010/main" val="2644165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523875"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1047750"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573213"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2097088"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623185" algn="l" defTabSz="1049274" rtl="0" eaLnBrk="1" latinLnBrk="0" hangingPunct="1">
      <a:defRPr sz="1400" kern="1200">
        <a:solidFill>
          <a:schemeClr val="tx1"/>
        </a:solidFill>
        <a:latin typeface="+mn-lt"/>
        <a:ea typeface="+mn-ea"/>
        <a:cs typeface="+mn-cs"/>
      </a:defRPr>
    </a:lvl6pPr>
    <a:lvl7pPr marL="3147822" algn="l" defTabSz="1049274" rtl="0" eaLnBrk="1" latinLnBrk="0" hangingPunct="1">
      <a:defRPr sz="1400" kern="1200">
        <a:solidFill>
          <a:schemeClr val="tx1"/>
        </a:solidFill>
        <a:latin typeface="+mn-lt"/>
        <a:ea typeface="+mn-ea"/>
        <a:cs typeface="+mn-cs"/>
      </a:defRPr>
    </a:lvl7pPr>
    <a:lvl8pPr marL="3672459" algn="l" defTabSz="1049274" rtl="0" eaLnBrk="1" latinLnBrk="0" hangingPunct="1">
      <a:defRPr sz="1400" kern="1200">
        <a:solidFill>
          <a:schemeClr val="tx1"/>
        </a:solidFill>
        <a:latin typeface="+mn-lt"/>
        <a:ea typeface="+mn-ea"/>
        <a:cs typeface="+mn-cs"/>
      </a:defRPr>
    </a:lvl8pPr>
    <a:lvl9pPr marL="4197096" algn="l" defTabSz="104927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06FD5A2-23F0-49C0-ADD6-9D6095AD17FB}" type="slidenum">
              <a:rPr lang="en-US" smtClean="0"/>
              <a:pPr/>
              <a:t>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2E2159F-B7BA-494B-8339-B5CEB89A0CF4}" type="slidenum">
              <a:rPr lang="en-US" smtClean="0"/>
              <a:pPr/>
              <a:t>2</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4FA6E07-2F72-334A-AD6D-736201ACFB9A}"/>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CA7F8F7F-07AB-D44B-AD5D-2E19EEB2F0E8}"/>
              </a:ext>
            </a:extLst>
          </p:cNvPr>
          <p:cNvSpPr>
            <a:spLocks noGrp="1"/>
          </p:cNvSpPr>
          <p:nvPr>
            <p:ph type="body" idx="1"/>
          </p:nvPr>
        </p:nvSpPr>
        <p:spPr>
          <a:noFill/>
        </p:spPr>
        <p:txBody>
          <a:bodyPr/>
          <a:lstStyle/>
          <a:p>
            <a:endParaRPr lang="en-US" altLang="en-US"/>
          </a:p>
        </p:txBody>
      </p:sp>
      <p:sp>
        <p:nvSpPr>
          <p:cNvPr id="32772" name="Slide Number Placeholder 3">
            <a:extLst>
              <a:ext uri="{FF2B5EF4-FFF2-40B4-BE49-F238E27FC236}">
                <a16:creationId xmlns:a16="http://schemas.microsoft.com/office/drawing/2014/main" id="{10202973-405E-144A-8859-E110D51BC44D}"/>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4D211D-A2C4-F944-A7D4-54E8C0FEFB81}" type="slidenum">
              <a:rPr lang="en-US" altLang="en-US" sz="1000" smtClean="0"/>
              <a:pPr>
                <a:spcBef>
                  <a:spcPct val="0"/>
                </a:spcBef>
              </a:pPr>
              <a:t>3</a:t>
            </a:fld>
            <a:endParaRPr lang="en-US" altLang="en-US" sz="1000"/>
          </a:p>
        </p:txBody>
      </p:sp>
    </p:spTree>
    <p:extLst>
      <p:ext uri="{BB962C8B-B14F-4D97-AF65-F5344CB8AC3E}">
        <p14:creationId xmlns:p14="http://schemas.microsoft.com/office/powerpoint/2010/main" val="1239635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FE2D32FF-8774-4E72-B6C1-57F5E008BBD1}" type="slidenum">
              <a:rPr lang="en-US" smtClean="0"/>
              <a:pPr/>
              <a:t>6</a:t>
            </a:fld>
            <a:endParaRPr lang="en-US"/>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073D77A9-1636-4F63-B364-7C606E610963}" type="slidenum">
              <a:rPr lang="en-US" smtClean="0"/>
              <a:pPr/>
              <a:t>7</a:t>
            </a:fld>
            <a:endParaRPr lang="en-US"/>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bwMode="auto">
          <a:xfrm>
            <a:off x="574675" y="747713"/>
            <a:ext cx="5686425" cy="37433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1" name="Rectangle 3"/>
          <p:cNvSpPr>
            <a:spLocks noGrp="1" noChangeArrowheads="1"/>
          </p:cNvSpPr>
          <p:nvPr>
            <p:ph type="body" idx="1"/>
          </p:nvPr>
        </p:nvSpPr>
        <p:spPr bwMode="auto">
          <a:xfrm>
            <a:off x="911225" y="4740037"/>
            <a:ext cx="5011738" cy="449056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bwMode="auto">
          <a:xfrm>
            <a:off x="574675" y="747713"/>
            <a:ext cx="5686425" cy="37433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p:cNvSpPr>
            <a:spLocks noGrp="1" noChangeArrowheads="1"/>
          </p:cNvSpPr>
          <p:nvPr>
            <p:ph type="body" idx="1"/>
          </p:nvPr>
        </p:nvSpPr>
        <p:spPr bwMode="auto">
          <a:xfrm>
            <a:off x="911225" y="4740037"/>
            <a:ext cx="5011738" cy="449056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bwMode="auto">
          <a:xfrm>
            <a:off x="574675" y="747713"/>
            <a:ext cx="5686425" cy="37433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7" name="Rectangle 3"/>
          <p:cNvSpPr>
            <a:spLocks noGrp="1" noChangeArrowheads="1"/>
          </p:cNvSpPr>
          <p:nvPr>
            <p:ph type="body" idx="1"/>
          </p:nvPr>
        </p:nvSpPr>
        <p:spPr bwMode="auto">
          <a:xfrm>
            <a:off x="911225" y="4740037"/>
            <a:ext cx="5011738" cy="449056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5562C14A-EF0B-4ACA-A16C-8058570E64DD}" type="slidenum">
              <a:rPr lang="en-US" smtClean="0"/>
              <a:pPr/>
              <a:t>11</a:t>
            </a:fld>
            <a:endParaRPr lang="en-US"/>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3EFADAA6-F48D-482C-A062-48492B386F14}" type="slidenum">
              <a:rPr lang="en-US" smtClean="0"/>
              <a:pPr/>
              <a:t>12</a:t>
            </a:fld>
            <a:endParaRPr lang="en-US"/>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2C64540C-B2A3-4346-9EEE-8E1CC71CE92A}" type="slidenum">
              <a:rPr lang="en-US" smtClean="0"/>
              <a:pPr/>
              <a:t>14</a:t>
            </a:fld>
            <a:endParaRPr lang="en-U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912446A6-B059-46C2-B32B-49195809AFA8}" type="slidenum">
              <a:rPr lang="en-US" smtClean="0"/>
              <a:pPr/>
              <a:t>16</a:t>
            </a:fld>
            <a:endParaRPr lang="en-U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6CFE3E3F-C546-42D3-9EC5-2BB98816DD03}" type="slidenum">
              <a:rPr lang="en-US" smtClean="0"/>
              <a:pPr/>
              <a:t>18</a:t>
            </a:fld>
            <a:endParaRPr lang="en-US"/>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4962FDBD-2A91-446E-9C75-2E040D1515FD}" type="slidenum">
              <a:rPr lang="en-US" smtClean="0"/>
              <a:pPr/>
              <a:t>19</a:t>
            </a:fld>
            <a:endParaRPr lang="en-US"/>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bwMode="auto">
          <a:xfrm>
            <a:off x="574675" y="747713"/>
            <a:ext cx="5686425" cy="37433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p:cNvSpPr>
            <a:spLocks noGrp="1" noChangeArrowheads="1"/>
          </p:cNvSpPr>
          <p:nvPr>
            <p:ph type="body" idx="1"/>
          </p:nvPr>
        </p:nvSpPr>
        <p:spPr bwMode="auto">
          <a:xfrm>
            <a:off x="911225" y="4740037"/>
            <a:ext cx="5011738" cy="449056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bwMode="auto">
          <a:xfrm>
            <a:off x="574675" y="747713"/>
            <a:ext cx="5686425" cy="37433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3" name="Rectangle 3"/>
          <p:cNvSpPr>
            <a:spLocks noGrp="1" noChangeArrowheads="1"/>
          </p:cNvSpPr>
          <p:nvPr>
            <p:ph type="body" idx="1"/>
          </p:nvPr>
        </p:nvSpPr>
        <p:spPr bwMode="auto">
          <a:xfrm>
            <a:off x="911225" y="4740037"/>
            <a:ext cx="5011738" cy="449056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ED16B77A-4413-4E60-89EE-0D18B6420C43}" type="slidenum">
              <a:rPr lang="en-US" smtClean="0"/>
              <a:pPr/>
              <a:t>30</a:t>
            </a:fld>
            <a:endParaRPr lang="en-US"/>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F57616B5-F3C2-4675-817F-00C043D7C000}" type="slidenum">
              <a:rPr lang="en-US" smtClean="0"/>
              <a:pPr/>
              <a:t>31</a:t>
            </a:fld>
            <a:endParaRPr lang="en-US"/>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5A54F9FD-B542-4928-8A2C-1F88CCBDDC15}" type="slidenum">
              <a:rPr lang="en-US" smtClean="0"/>
              <a:pPr/>
              <a:t>33</a:t>
            </a:fld>
            <a:endParaRPr lang="en-US"/>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56A94AC6-0598-4A87-924B-0A9FD20853AB}" type="slidenum">
              <a:rPr lang="en-US" smtClean="0"/>
              <a:pPr/>
              <a:t>34</a:t>
            </a:fld>
            <a:endParaRPr lang="en-US"/>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6132F728-8826-4689-BDB8-D9734A238B6C}" type="slidenum">
              <a:rPr lang="en-US" smtClean="0"/>
              <a:pPr/>
              <a:t>35</a:t>
            </a:fld>
            <a:endParaRPr lang="en-US"/>
          </a:p>
        </p:txBody>
      </p:sp>
      <p:sp>
        <p:nvSpPr>
          <p:cNvPr id="198659" name="Rectangle 1026"/>
          <p:cNvSpPr>
            <a:spLocks noGrp="1" noRot="1" noChangeAspect="1" noChangeArrowheads="1" noTextEdit="1"/>
          </p:cNvSpPr>
          <p:nvPr>
            <p:ph type="sldImg"/>
          </p:nvPr>
        </p:nvSpPr>
        <p:spPr>
          <a:ln/>
        </p:spPr>
      </p:sp>
      <p:sp>
        <p:nvSpPr>
          <p:cNvPr id="198660" name="Rectangle 1027"/>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34266A3E-E639-4AD6-8B2E-F3211FC15AA8}" type="slidenum">
              <a:rPr lang="en-US" smtClean="0"/>
              <a:pPr/>
              <a:t>36</a:t>
            </a:fld>
            <a:endParaRPr lang="en-US"/>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D932D71D-7CDE-4C8F-A986-FC7858E0C9D5}" type="slidenum">
              <a:rPr lang="en-US" smtClean="0">
                <a:latin typeface="Times New Roman" charset="0"/>
              </a:rPr>
              <a:pPr/>
              <a:t>37</a:t>
            </a:fld>
            <a:endParaRPr lang="en-US">
              <a:latin typeface="Times New Roman" charset="0"/>
            </a:endParaRPr>
          </a:p>
        </p:txBody>
      </p:sp>
      <p:sp>
        <p:nvSpPr>
          <p:cNvPr id="120835" name="Rectangle 2"/>
          <p:cNvSpPr>
            <a:spLocks noGrp="1" noRot="1" noChangeAspect="1" noChangeArrowheads="1" noTextEdit="1"/>
          </p:cNvSpPr>
          <p:nvPr>
            <p:ph type="sldImg"/>
          </p:nvPr>
        </p:nvSpPr>
        <p:spPr>
          <a:solidFill>
            <a:srgbClr val="FFFFFF"/>
          </a:solidFill>
          <a:ln/>
        </p:spPr>
      </p:sp>
      <p:sp>
        <p:nvSpPr>
          <p:cNvPr id="120836" name="Rectangle 3"/>
          <p:cNvSpPr>
            <a:spLocks noGrp="1" noChangeArrowheads="1"/>
          </p:cNvSpPr>
          <p:nvPr>
            <p:ph type="body" idx="1"/>
          </p:nvPr>
        </p:nvSpPr>
        <p:spPr>
          <a:solidFill>
            <a:srgbClr val="FFFFFF"/>
          </a:solidFill>
          <a:ln>
            <a:solidFill>
              <a:srgbClr val="000000"/>
            </a:solidFill>
          </a:ln>
        </p:spPr>
        <p:txBody>
          <a:bodyPr/>
          <a:lstStyle/>
          <a:p>
            <a:endParaRPr lang="en-US">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38</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201613" y="3200400"/>
            <a:ext cx="13479462" cy="1381125"/>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230412" name="Rectangle 12"/>
          <p:cNvSpPr>
            <a:spLocks noGrp="1" noChangeArrowheads="1"/>
          </p:cNvSpPr>
          <p:nvPr>
            <p:ph type="ctrTitle"/>
          </p:nvPr>
        </p:nvSpPr>
        <p:spPr bwMode="auto">
          <a:xfrm>
            <a:off x="1710135" y="2200278"/>
            <a:ext cx="11628914" cy="1700213"/>
          </a:xfrm>
          <a:prstGeom prst="rect">
            <a:avLst/>
          </a:prstGeom>
          <a:noFill/>
          <a:ln>
            <a:miter lim="800000"/>
            <a:headEnd/>
            <a:tailEnd/>
          </a:ln>
        </p:spPr>
        <p:txBody>
          <a:bodyPr vert="horz" wrap="square" lIns="104927" tIns="52464" rIns="104927" bIns="52464"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912072" y="4600578"/>
            <a:ext cx="12769003" cy="4100513"/>
          </a:xfrm>
        </p:spPr>
        <p:txBody>
          <a:bodyPr/>
          <a:lstStyle>
            <a:lvl1pPr marL="0" indent="0" algn="ctr">
              <a:buFont typeface="Wingdings" pitchFamily="2" charset="2"/>
              <a:buNone/>
              <a:defRPr/>
            </a:lvl1pPr>
          </a:lstStyle>
          <a:p>
            <a:r>
              <a:rPr lang="en-US"/>
              <a:t>Click to edit Master subtitle style</a:t>
            </a:r>
          </a:p>
        </p:txBody>
      </p:sp>
      <p:sp>
        <p:nvSpPr>
          <p:cNvPr id="14" name="Rectangle 28"/>
          <p:cNvSpPr>
            <a:spLocks noGrp="1" noChangeArrowheads="1"/>
          </p:cNvSpPr>
          <p:nvPr>
            <p:ph type="sldNum" sz="quarter" idx="10"/>
          </p:nvPr>
        </p:nvSpPr>
        <p:spPr bwMode="auto">
          <a:xfrm>
            <a:off x="11857038" y="8701088"/>
            <a:ext cx="1824037" cy="300037"/>
          </a:xfrm>
          <a:prstGeom prst="rect">
            <a:avLst/>
          </a:prstGeom>
          <a:ln>
            <a:miter lim="800000"/>
            <a:headEnd/>
            <a:tailEnd/>
          </a:ln>
        </p:spPr>
        <p:txBody>
          <a:bodyPr vert="horz" wrap="square" lIns="104927" tIns="52464" rIns="104927" bIns="52464" numCol="1" anchor="b" anchorCtr="0" compatLnSpc="1">
            <a:prstTxWarp prst="textNoShape">
              <a:avLst/>
            </a:prstTxWarp>
          </a:bodyPr>
          <a:lstStyle>
            <a:lvl1pPr algn="r" eaLnBrk="1" hangingPunct="1">
              <a:defRPr sz="1600">
                <a:latin typeface="Tahoma" pitchFamily="34" charset="0"/>
              </a:defRPr>
            </a:lvl1pPr>
          </a:lstStyle>
          <a:p>
            <a:pPr>
              <a:defRPr/>
            </a:pPr>
            <a:fld id="{24F378D1-C07B-407C-9B5D-F14AE7CD8C13}" type="slidenum">
              <a:rPr lang="en-US"/>
              <a:pPr>
                <a:defRPr/>
              </a:pPr>
              <a:t>‹#›</a:t>
            </a:fld>
            <a:endParaRPr lang="en-US"/>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13" y="5784060"/>
            <a:ext cx="11628914" cy="1787723"/>
          </a:xfrm>
          <a:prstGeom prst="rect">
            <a:avLst/>
          </a:prstGeom>
        </p:spPr>
        <p:txBody>
          <a:bodyPr lIns="104927" tIns="52464" rIns="104927" bIns="52464" anchor="t"/>
          <a:lstStyle>
            <a:lvl1pPr algn="l">
              <a:defRPr sz="4600" b="1" cap="all"/>
            </a:lvl1pPr>
          </a:lstStyle>
          <a:p>
            <a:r>
              <a:rPr lang="en-US"/>
              <a:t>Click to edit Master title style</a:t>
            </a:r>
            <a:endParaRPr lang="en-GB"/>
          </a:p>
        </p:txBody>
      </p:sp>
      <p:sp>
        <p:nvSpPr>
          <p:cNvPr id="3" name="Text Placeholder 2"/>
          <p:cNvSpPr>
            <a:spLocks noGrp="1"/>
          </p:cNvSpPr>
          <p:nvPr>
            <p:ph type="body" idx="1"/>
          </p:nvPr>
        </p:nvSpPr>
        <p:spPr>
          <a:xfrm>
            <a:off x="1080713" y="3815065"/>
            <a:ext cx="11628914" cy="1968995"/>
          </a:xfrm>
        </p:spPr>
        <p:txBody>
          <a:bodyPr anchor="b"/>
          <a:lstStyle>
            <a:lvl1pPr marL="0" indent="0">
              <a:buNone/>
              <a:defRPr sz="2300"/>
            </a:lvl1pPr>
            <a:lvl2pPr marL="524637" indent="0">
              <a:buNone/>
              <a:defRPr sz="2100"/>
            </a:lvl2pPr>
            <a:lvl3pPr marL="1049274" indent="0">
              <a:buNone/>
              <a:defRPr sz="1800"/>
            </a:lvl3pPr>
            <a:lvl4pPr marL="1573911" indent="0">
              <a:buNone/>
              <a:defRPr sz="1600"/>
            </a:lvl4pPr>
            <a:lvl5pPr marL="2098548" indent="0">
              <a:buNone/>
              <a:defRPr sz="1600"/>
            </a:lvl5pPr>
            <a:lvl6pPr marL="2623185" indent="0">
              <a:buNone/>
              <a:defRPr sz="1600"/>
            </a:lvl6pPr>
            <a:lvl7pPr marL="3147822" indent="0">
              <a:buNone/>
              <a:defRPr sz="1600"/>
            </a:lvl7pPr>
            <a:lvl8pPr marL="3672459" indent="0">
              <a:buNone/>
              <a:defRPr sz="1600"/>
            </a:lvl8pPr>
            <a:lvl9pPr marL="4197096" indent="0">
              <a:buNone/>
              <a:defRPr sz="1600"/>
            </a:lvl9pPr>
          </a:lstStyle>
          <a:p>
            <a:pPr lvl="0"/>
            <a:r>
              <a:rPr lang="en-US"/>
              <a:t>Click to edit Master text styles</a:t>
            </a: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Content Placeholder 2"/>
          <p:cNvSpPr>
            <a:spLocks noGrp="1"/>
          </p:cNvSpPr>
          <p:nvPr>
            <p:ph sz="half" idx="1"/>
          </p:nvPr>
        </p:nvSpPr>
        <p:spPr>
          <a:xfrm>
            <a:off x="546296" y="0"/>
            <a:ext cx="6151733"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926047" y="0"/>
            <a:ext cx="6154110"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84054" y="2014836"/>
            <a:ext cx="6044851"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4" name="Content Placeholder 3"/>
          <p:cNvSpPr>
            <a:spLocks noGrp="1"/>
          </p:cNvSpPr>
          <p:nvPr>
            <p:ph sz="half" idx="2"/>
          </p:nvPr>
        </p:nvSpPr>
        <p:spPr>
          <a:xfrm>
            <a:off x="684054" y="2854523"/>
            <a:ext cx="6044851"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949797" y="2014836"/>
            <a:ext cx="6047226"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6" name="Content Placeholder 5"/>
          <p:cNvSpPr>
            <a:spLocks noGrp="1"/>
          </p:cNvSpPr>
          <p:nvPr>
            <p:ph sz="quarter" idx="4"/>
          </p:nvPr>
        </p:nvSpPr>
        <p:spPr>
          <a:xfrm>
            <a:off x="6949797" y="2854523"/>
            <a:ext cx="6047226"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055" y="358381"/>
            <a:ext cx="4500980" cy="1525191"/>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Content Placeholder 2"/>
          <p:cNvSpPr>
            <a:spLocks noGrp="1"/>
          </p:cNvSpPr>
          <p:nvPr>
            <p:ph idx="1"/>
          </p:nvPr>
        </p:nvSpPr>
        <p:spPr>
          <a:xfrm>
            <a:off x="5348922" y="358382"/>
            <a:ext cx="7648102" cy="7682211"/>
          </a:xfrm>
        </p:spPr>
        <p:txBody>
          <a:bodyPr/>
          <a:lstStyle>
            <a:lvl1pPr>
              <a:defRPr sz="3700"/>
            </a:lvl1pPr>
            <a:lvl2pPr>
              <a:defRPr sz="32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4055" y="1883570"/>
            <a:ext cx="4500980" cy="6157020"/>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1588" y="6300787"/>
            <a:ext cx="8208645" cy="743844"/>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Picture Placeholder 2"/>
          <p:cNvSpPr>
            <a:spLocks noGrp="1"/>
          </p:cNvSpPr>
          <p:nvPr>
            <p:ph type="pic" idx="1"/>
          </p:nvPr>
        </p:nvSpPr>
        <p:spPr>
          <a:xfrm>
            <a:off x="2681588" y="804270"/>
            <a:ext cx="8208645" cy="5400675"/>
          </a:xfrm>
        </p:spPr>
        <p:txBody>
          <a:bodyPr/>
          <a:lstStyle>
            <a:lvl1pPr marL="0" indent="0">
              <a:buNone/>
              <a:defRPr sz="3700"/>
            </a:lvl1pPr>
            <a:lvl2pPr marL="524637" indent="0">
              <a:buNone/>
              <a:defRPr sz="3200"/>
            </a:lvl2pPr>
            <a:lvl3pPr marL="1049274" indent="0">
              <a:buNone/>
              <a:defRPr sz="2800"/>
            </a:lvl3pPr>
            <a:lvl4pPr marL="1573911" indent="0">
              <a:buNone/>
              <a:defRPr sz="2300"/>
            </a:lvl4pPr>
            <a:lvl5pPr marL="2098548" indent="0">
              <a:buNone/>
              <a:defRPr sz="2300"/>
            </a:lvl5pPr>
            <a:lvl6pPr marL="2623185" indent="0">
              <a:buNone/>
              <a:defRPr sz="2300"/>
            </a:lvl6pPr>
            <a:lvl7pPr marL="3147822" indent="0">
              <a:buNone/>
              <a:defRPr sz="2300"/>
            </a:lvl7pPr>
            <a:lvl8pPr marL="3672459" indent="0">
              <a:buNone/>
              <a:defRPr sz="2300"/>
            </a:lvl8pPr>
            <a:lvl9pPr marL="4197096" indent="0">
              <a:buNone/>
              <a:defRPr sz="2300"/>
            </a:lvl9pPr>
          </a:lstStyle>
          <a:p>
            <a:pPr lvl="0"/>
            <a:endParaRPr lang="en-GB" noProof="0"/>
          </a:p>
        </p:txBody>
      </p:sp>
      <p:sp>
        <p:nvSpPr>
          <p:cNvPr id="4" name="Text Placeholder 3"/>
          <p:cNvSpPr>
            <a:spLocks noGrp="1"/>
          </p:cNvSpPr>
          <p:nvPr>
            <p:ph type="body" sz="half" idx="2"/>
          </p:nvPr>
        </p:nvSpPr>
        <p:spPr>
          <a:xfrm>
            <a:off x="2681588" y="7044634"/>
            <a:ext cx="8208645" cy="1056381"/>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7284" y="0"/>
            <a:ext cx="3132871" cy="8569822"/>
          </a:xfrm>
          <a:prstGeom prst="rect">
            <a:avLst/>
          </a:prstGeom>
        </p:spPr>
        <p:txBody>
          <a:bodyPr vert="eaVert"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a:xfrm>
            <a:off x="546293" y="0"/>
            <a:ext cx="9172972" cy="8569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374650"/>
            <a:ext cx="11630025" cy="1500188"/>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1025525" y="8401050"/>
            <a:ext cx="2851150" cy="600075"/>
          </a:xfrm>
          <a:prstGeom prst="rect">
            <a:avLst/>
          </a:prstGeom>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xfrm>
            <a:off x="9804400" y="8399463"/>
            <a:ext cx="2851150" cy="600075"/>
          </a:xfrm>
          <a:prstGeom prst="rect">
            <a:avLst/>
          </a:prstGeom>
          <a:ln/>
        </p:spPr>
        <p:txBody>
          <a:bodyPr/>
          <a:lstStyle>
            <a:lvl1pPr>
              <a:defRPr/>
            </a:lvl1pPr>
          </a:lstStyle>
          <a:p>
            <a:pPr>
              <a:defRPr/>
            </a:pPr>
            <a:fld id="{C7CEB0B8-E327-4A51-B1B2-05DF9D4D2C03}" type="slidenum">
              <a:rPr lang="en-US"/>
              <a:pPr>
                <a:defRPr/>
              </a:pPr>
              <a:t>‹#›</a:t>
            </a:fld>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588963" y="16741"/>
            <a:ext cx="12533312" cy="8569325"/>
          </a:xfrm>
          <a:prstGeom prst="rect">
            <a:avLst/>
          </a:prstGeom>
          <a:noFill/>
          <a:ln w="9525">
            <a:noFill/>
            <a:miter lim="800000"/>
            <a:headEnd/>
            <a:tailEnd/>
          </a:ln>
        </p:spPr>
        <p:txBody>
          <a:bodyPr vert="horz" wrap="square" lIns="104927" tIns="52464" rIns="104927" bIns="5246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9393" name="Rectangle 17"/>
          <p:cNvSpPr>
            <a:spLocks noChangeArrowheads="1"/>
          </p:cNvSpPr>
          <p:nvPr/>
        </p:nvSpPr>
        <p:spPr bwMode="auto">
          <a:xfrm>
            <a:off x="0" y="8401050"/>
            <a:ext cx="2849563" cy="600075"/>
          </a:xfrm>
          <a:prstGeom prst="rect">
            <a:avLst/>
          </a:prstGeom>
          <a:noFill/>
          <a:ln w="12700" cap="sq">
            <a:noFill/>
            <a:miter lim="800000"/>
            <a:headEnd type="none" w="sm" len="sm"/>
            <a:tailEnd type="none" w="sm" len="sm"/>
          </a:ln>
          <a:effectLst/>
        </p:spPr>
        <p:txBody>
          <a:bodyPr lIns="104927" tIns="52464" rIns="104927" bIns="52464" anchor="b"/>
          <a:lstStyle/>
          <a:p>
            <a:pPr eaLnBrk="1" hangingPunct="1">
              <a:defRPr/>
            </a:pPr>
            <a:fld id="{A489F54B-69BB-4115-9FC9-7565FFDEE19E}" type="slidenum">
              <a:rPr lang="en-US" sz="1600">
                <a:solidFill>
                  <a:srgbClr val="080808"/>
                </a:solidFill>
                <a:latin typeface="Times New Roman" pitchFamily="18" charset="0"/>
              </a:rPr>
              <a:pPr eaLnBrk="1" hangingPunct="1">
                <a:defRPr/>
              </a:pPr>
              <a:t>‹#›</a:t>
            </a:fld>
            <a:endParaRPr lang="en-US" sz="1600" dirty="0">
              <a:solidFill>
                <a:srgbClr val="080808"/>
              </a:solidFill>
              <a:latin typeface="Times New Roman" pitchFamily="18" charset="0"/>
            </a:endParaRPr>
          </a:p>
        </p:txBody>
      </p:sp>
      <p:sp>
        <p:nvSpPr>
          <p:cNvPr id="229396" name="Rectangle 20"/>
          <p:cNvSpPr>
            <a:spLocks noChangeArrowheads="1"/>
          </p:cNvSpPr>
          <p:nvPr userDrawn="1"/>
        </p:nvSpPr>
        <p:spPr bwMode="ltGray">
          <a:xfrm>
            <a:off x="12018963" y="7761288"/>
            <a:ext cx="490537" cy="622300"/>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0" name="Rectangle 24"/>
          <p:cNvSpPr>
            <a:spLocks noChangeArrowheads="1"/>
          </p:cNvSpPr>
          <p:nvPr userDrawn="1"/>
        </p:nvSpPr>
        <p:spPr bwMode="ltGray">
          <a:xfrm flipH="1">
            <a:off x="11790363" y="8315325"/>
            <a:ext cx="550862" cy="623888"/>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8" name="Rectangle 22"/>
          <p:cNvSpPr>
            <a:spLocks noChangeArrowheads="1"/>
          </p:cNvSpPr>
          <p:nvPr userDrawn="1"/>
        </p:nvSpPr>
        <p:spPr bwMode="ltGray">
          <a:xfrm>
            <a:off x="12498388" y="7761288"/>
            <a:ext cx="655637" cy="622300"/>
          </a:xfrm>
          <a:prstGeom prst="rect">
            <a:avLst/>
          </a:prstGeom>
          <a:solidFill>
            <a:schemeClr val="accent2"/>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9" name="Rectangle 23"/>
          <p:cNvSpPr>
            <a:spLocks noChangeArrowheads="1"/>
          </p:cNvSpPr>
          <p:nvPr userDrawn="1"/>
        </p:nvSpPr>
        <p:spPr bwMode="ltGray">
          <a:xfrm flipH="1">
            <a:off x="12336463" y="8315325"/>
            <a:ext cx="631825" cy="623888"/>
          </a:xfrm>
          <a:prstGeom prst="rect">
            <a:avLst/>
          </a:prstGeom>
          <a:solidFill>
            <a:schemeClr val="folHlink"/>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1" name="Rectangle 25"/>
          <p:cNvSpPr>
            <a:spLocks noChangeArrowheads="1"/>
          </p:cNvSpPr>
          <p:nvPr userDrawn="1"/>
        </p:nvSpPr>
        <p:spPr bwMode="ltGray">
          <a:xfrm flipH="1">
            <a:off x="12749213" y="8220075"/>
            <a:ext cx="839787" cy="554038"/>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84" name="Rectangle 8"/>
          <p:cNvSpPr>
            <a:spLocks noChangeArrowheads="1"/>
          </p:cNvSpPr>
          <p:nvPr userDrawn="1"/>
        </p:nvSpPr>
        <p:spPr bwMode="gray">
          <a:xfrm>
            <a:off x="822325" y="8656638"/>
            <a:ext cx="12307888" cy="42862"/>
          </a:xfrm>
          <a:prstGeom prst="rect">
            <a:avLst/>
          </a:prstGeom>
          <a:gradFill rotWithShape="0">
            <a:gsLst>
              <a:gs pos="0">
                <a:schemeClr val="bg1"/>
              </a:gs>
              <a:gs pos="100000">
                <a:schemeClr val="tx1"/>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16" name="Text Box 40"/>
          <p:cNvSpPr txBox="1">
            <a:spLocks noChangeArrowheads="1"/>
          </p:cNvSpPr>
          <p:nvPr userDrawn="1"/>
        </p:nvSpPr>
        <p:spPr bwMode="auto">
          <a:xfrm>
            <a:off x="565150" y="8639175"/>
            <a:ext cx="12558713" cy="321396"/>
          </a:xfrm>
          <a:prstGeom prst="rect">
            <a:avLst/>
          </a:prstGeom>
          <a:noFill/>
          <a:ln w="12700" cap="sq">
            <a:noFill/>
            <a:miter lim="800000"/>
            <a:headEnd type="none" w="sm" len="sm"/>
            <a:tailEnd type="none" w="sm" len="sm"/>
          </a:ln>
          <a:effectLst/>
        </p:spPr>
        <p:txBody>
          <a:bodyPr lIns="104927" tIns="52464" rIns="104927" bIns="52464">
            <a:spAutoFit/>
          </a:bodyPr>
          <a:lstStyle/>
          <a:p>
            <a:pPr>
              <a:spcBef>
                <a:spcPct val="50000"/>
              </a:spcBef>
              <a:defRPr/>
            </a:pPr>
            <a:r>
              <a:rPr lang="en-US" sz="1400" dirty="0"/>
              <a:t>Topic</a:t>
            </a:r>
            <a:r>
              <a:rPr lang="en-US" sz="1400" baseline="0" dirty="0"/>
              <a:t> 4</a:t>
            </a:r>
            <a:r>
              <a:rPr lang="en-US" sz="1400" dirty="0"/>
              <a:t> Polymorphism</a:t>
            </a:r>
            <a:r>
              <a:rPr lang="en-US" sz="1400" baseline="0" dirty="0"/>
              <a:t>  </a:t>
            </a:r>
            <a:r>
              <a:rPr lang="en-US" sz="1400" dirty="0"/>
              <a:t>                                                                                                                                      CCS3101 Object-oriented</a:t>
            </a:r>
            <a:r>
              <a:rPr lang="en-US" sz="1400" baseline="0" dirty="0"/>
              <a:t> Programming</a:t>
            </a:r>
            <a:endParaRPr lang="en-US" sz="1400" dirty="0"/>
          </a:p>
        </p:txBody>
      </p:sp>
    </p:spTree>
  </p:cSld>
  <p:clrMap bg1="lt1" tx1="dk1" bg2="lt2" tx2="dk2" accent1="accent1" accent2="accent2" accent3="accent3" accent4="accent4" accent5="accent5" accent6="accent6" hlink="hlink" folHlink="folHlink"/>
  <p:sldLayoutIdLst>
    <p:sldLayoutId id="2147484208"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 id="2147484209" r:id="rId12"/>
  </p:sldLayoutIdLst>
  <p:transition>
    <p:random/>
  </p:transition>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p:titleStyle>
    <p:bodyStyle>
      <a:lvl1pPr marL="392113" indent="-392113" algn="l" rtl="0" eaLnBrk="0" fontAlgn="base" hangingPunct="0">
        <a:spcBef>
          <a:spcPct val="20000"/>
        </a:spcBef>
        <a:spcAft>
          <a:spcPct val="0"/>
        </a:spcAft>
        <a:buClr>
          <a:schemeClr val="folHlink"/>
        </a:buClr>
        <a:buSzPct val="60000"/>
        <a:buFont typeface="Wingdings" pitchFamily="2" charset="2"/>
        <a:buChar char="n"/>
        <a:defRPr sz="3700">
          <a:solidFill>
            <a:schemeClr val="tx1"/>
          </a:solidFill>
          <a:latin typeface="+mn-lt"/>
          <a:ea typeface="+mn-ea"/>
          <a:cs typeface="+mn-cs"/>
        </a:defRPr>
      </a:lvl1pPr>
      <a:lvl2pPr marL="852488" indent="-327025" algn="l" rtl="0" eaLnBrk="0" fontAlgn="base" hangingPunct="0">
        <a:spcBef>
          <a:spcPct val="20000"/>
        </a:spcBef>
        <a:spcAft>
          <a:spcPct val="0"/>
        </a:spcAft>
        <a:buClr>
          <a:schemeClr val="hlink"/>
        </a:buClr>
        <a:buSzPct val="55000"/>
        <a:buFont typeface="Wingdings" pitchFamily="2" charset="2"/>
        <a:buChar char="n"/>
        <a:defRPr sz="3200">
          <a:solidFill>
            <a:schemeClr val="tx1"/>
          </a:solidFill>
          <a:latin typeface="+mn-lt"/>
        </a:defRPr>
      </a:lvl2pPr>
      <a:lvl3pPr marL="1311275" indent="-261938"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latin typeface="+mn-lt"/>
        </a:defRPr>
      </a:lvl3pPr>
      <a:lvl4pPr marL="1835150" indent="-261938" algn="l" rtl="0" eaLnBrk="0" fontAlgn="base" hangingPunct="0">
        <a:spcBef>
          <a:spcPct val="20000"/>
        </a:spcBef>
        <a:spcAft>
          <a:spcPct val="0"/>
        </a:spcAft>
        <a:buClr>
          <a:schemeClr val="accent2"/>
        </a:buClr>
        <a:buSzPct val="55000"/>
        <a:buFont typeface="Wingdings" pitchFamily="2" charset="2"/>
        <a:buChar char="n"/>
        <a:defRPr sz="2300">
          <a:solidFill>
            <a:schemeClr val="tx1"/>
          </a:solidFill>
          <a:latin typeface="+mn-lt"/>
        </a:defRPr>
      </a:lvl4pPr>
      <a:lvl5pPr marL="2360613" indent="-261938" algn="l" rtl="0" eaLnBrk="0" fontAlgn="base" hangingPunct="0">
        <a:spcBef>
          <a:spcPct val="20000"/>
        </a:spcBef>
        <a:spcAft>
          <a:spcPct val="0"/>
        </a:spcAft>
        <a:buClr>
          <a:schemeClr val="accent1"/>
        </a:buClr>
        <a:buSzPct val="50000"/>
        <a:buFont typeface="Wingdings" pitchFamily="2" charset="2"/>
        <a:buChar char="n"/>
        <a:defRPr sz="2300">
          <a:solidFill>
            <a:schemeClr val="tx1"/>
          </a:solidFill>
          <a:latin typeface="+mn-lt"/>
        </a:defRPr>
      </a:lvl5pPr>
      <a:lvl6pPr marL="2885504"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6pPr>
      <a:lvl7pPr marL="3410141"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7pPr>
      <a:lvl8pPr marL="3934778"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8pPr>
      <a:lvl9pPr marL="4459415"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9pPr>
    </p:bodyStyle>
    <p:otherStyle>
      <a:defPPr>
        <a:defRPr lang="en-US"/>
      </a:defPPr>
      <a:lvl1pPr marL="0" algn="l" defTabSz="1049274" rtl="0" eaLnBrk="1" latinLnBrk="0" hangingPunct="1">
        <a:defRPr sz="2100" kern="1200">
          <a:solidFill>
            <a:schemeClr val="tx1"/>
          </a:solidFill>
          <a:latin typeface="+mn-lt"/>
          <a:ea typeface="+mn-ea"/>
          <a:cs typeface="+mn-cs"/>
        </a:defRPr>
      </a:lvl1pPr>
      <a:lvl2pPr marL="524637" algn="l" defTabSz="1049274" rtl="0" eaLnBrk="1" latinLnBrk="0" hangingPunct="1">
        <a:defRPr sz="2100" kern="1200">
          <a:solidFill>
            <a:schemeClr val="tx1"/>
          </a:solidFill>
          <a:latin typeface="+mn-lt"/>
          <a:ea typeface="+mn-ea"/>
          <a:cs typeface="+mn-cs"/>
        </a:defRPr>
      </a:lvl2pPr>
      <a:lvl3pPr marL="1049274" algn="l" defTabSz="1049274" rtl="0" eaLnBrk="1" latinLnBrk="0" hangingPunct="1">
        <a:defRPr sz="2100" kern="1200">
          <a:solidFill>
            <a:schemeClr val="tx1"/>
          </a:solidFill>
          <a:latin typeface="+mn-lt"/>
          <a:ea typeface="+mn-ea"/>
          <a:cs typeface="+mn-cs"/>
        </a:defRPr>
      </a:lvl3pPr>
      <a:lvl4pPr marL="1573911" algn="l" defTabSz="1049274" rtl="0" eaLnBrk="1" latinLnBrk="0" hangingPunct="1">
        <a:defRPr sz="2100" kern="1200">
          <a:solidFill>
            <a:schemeClr val="tx1"/>
          </a:solidFill>
          <a:latin typeface="+mn-lt"/>
          <a:ea typeface="+mn-ea"/>
          <a:cs typeface="+mn-cs"/>
        </a:defRPr>
      </a:lvl4pPr>
      <a:lvl5pPr marL="2098548" algn="l" defTabSz="1049274" rtl="0" eaLnBrk="1" latinLnBrk="0" hangingPunct="1">
        <a:defRPr sz="2100" kern="1200">
          <a:solidFill>
            <a:schemeClr val="tx1"/>
          </a:solidFill>
          <a:latin typeface="+mn-lt"/>
          <a:ea typeface="+mn-ea"/>
          <a:cs typeface="+mn-cs"/>
        </a:defRPr>
      </a:lvl5pPr>
      <a:lvl6pPr marL="2623185" algn="l" defTabSz="1049274" rtl="0" eaLnBrk="1" latinLnBrk="0" hangingPunct="1">
        <a:defRPr sz="2100" kern="1200">
          <a:solidFill>
            <a:schemeClr val="tx1"/>
          </a:solidFill>
          <a:latin typeface="+mn-lt"/>
          <a:ea typeface="+mn-ea"/>
          <a:cs typeface="+mn-cs"/>
        </a:defRPr>
      </a:lvl6pPr>
      <a:lvl7pPr marL="3147822" algn="l" defTabSz="1049274" rtl="0" eaLnBrk="1" latinLnBrk="0" hangingPunct="1">
        <a:defRPr sz="2100" kern="1200">
          <a:solidFill>
            <a:schemeClr val="tx1"/>
          </a:solidFill>
          <a:latin typeface="+mn-lt"/>
          <a:ea typeface="+mn-ea"/>
          <a:cs typeface="+mn-cs"/>
        </a:defRPr>
      </a:lvl7pPr>
      <a:lvl8pPr marL="3672459" algn="l" defTabSz="1049274" rtl="0" eaLnBrk="1" latinLnBrk="0" hangingPunct="1">
        <a:defRPr sz="2100" kern="1200">
          <a:solidFill>
            <a:schemeClr val="tx1"/>
          </a:solidFill>
          <a:latin typeface="+mn-lt"/>
          <a:ea typeface="+mn-ea"/>
          <a:cs typeface="+mn-cs"/>
        </a:defRPr>
      </a:lvl8pPr>
      <a:lvl9pPr marL="4197096" algn="l" defTabSz="1049274"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hyperlink" Target="html/PolymorphismDemo.bat"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liveexample.pearsoncmg.com/html/PolymorphismDemo.html"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iveexample.pearsoncmg.com/html/DynamicBindingDemo.html" TargetMode="External"/><Relationship Id="rId2" Type="http://schemas.openxmlformats.org/officeDocument/2006/relationships/hyperlink" Target="html/DynamicBindingDemo.bat"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liveexample.pearsoncmg.com/html/CastingDemo.html" TargetMode="External"/><Relationship Id="rId2" Type="http://schemas.openxmlformats.org/officeDocument/2006/relationships/hyperlink" Target="html/CastingDemo.bat"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liveexample.pearsoncmg.com/html/TestArrayList.html" TargetMode="External"/><Relationship Id="rId2" Type="http://schemas.openxmlformats.org/officeDocument/2006/relationships/hyperlink" Target="html/TestArrayList.bat"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12.xml"/><Relationship Id="rId5" Type="http://schemas.openxmlformats.org/officeDocument/2006/relationships/hyperlink" Target="https://liveexample.pearsoncmg.com/html/DistinctNumbers.html" TargetMode="External"/><Relationship Id="rId4" Type="http://schemas.openxmlformats.org/officeDocument/2006/relationships/hyperlink" Target="html/DistinctNumbers.ba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liveexample.pearsoncmg.com/dsanimation/StackeBook.html"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12.xml"/><Relationship Id="rId4" Type="http://schemas.openxmlformats.org/officeDocument/2006/relationships/hyperlink" Target="https://liveexample.pearsoncmg.com/html/MyStack.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539875" y="2033671"/>
            <a:ext cx="11791950" cy="1708150"/>
          </a:xfrm>
          <a:prstGeom prst="rect">
            <a:avLst/>
          </a:prstGeom>
          <a:noFill/>
          <a:ln w="12700" cap="sq">
            <a:noFill/>
            <a:miter lim="800000"/>
            <a:headEnd type="none" w="sm" len="sm"/>
            <a:tailEnd type="none" w="sm" len="sm"/>
          </a:ln>
        </p:spPr>
        <p:txBody>
          <a:bodyPr lIns="104927" tIns="52464" rIns="104927" bIns="52464" anchor="ctr"/>
          <a:lstStyle/>
          <a:p>
            <a:pPr eaLnBrk="1" hangingPunct="1"/>
            <a:r>
              <a:rPr lang="en-US" sz="5000" b="1" dirty="0">
                <a:latin typeface="Times New Roman" panose="02020603050405020304" pitchFamily="18" charset="0"/>
                <a:cs typeface="Times New Roman" panose="02020603050405020304" pitchFamily="18" charset="0"/>
              </a:rPr>
              <a:t>CCS3101 </a:t>
            </a:r>
          </a:p>
          <a:p>
            <a:pPr eaLnBrk="1" hangingPunct="1"/>
            <a:r>
              <a:rPr lang="en-US" sz="5000" b="1" dirty="0">
                <a:latin typeface="Times New Roman" panose="02020603050405020304" pitchFamily="18" charset="0"/>
                <a:cs typeface="Times New Roman" panose="02020603050405020304" pitchFamily="18" charset="0"/>
              </a:rPr>
              <a:t>OBJECT-ORIENTED PROGRAMMING </a:t>
            </a:r>
          </a:p>
          <a:p>
            <a:pPr eaLnBrk="1" hangingPunct="1"/>
            <a:r>
              <a:rPr lang="en-US" sz="5000" b="1" dirty="0">
                <a:latin typeface="Times New Roman" panose="02020603050405020304" pitchFamily="18" charset="0"/>
                <a:cs typeface="Times New Roman" panose="02020603050405020304" pitchFamily="18" charset="0"/>
              </a:rPr>
              <a:t>Topic 4 Polymorphism</a:t>
            </a:r>
          </a:p>
        </p:txBody>
      </p:sp>
      <p:sp>
        <p:nvSpPr>
          <p:cNvPr id="4099" name="Rectangle 3"/>
          <p:cNvSpPr>
            <a:spLocks noChangeArrowheads="1"/>
          </p:cNvSpPr>
          <p:nvPr/>
        </p:nvSpPr>
        <p:spPr bwMode="auto">
          <a:xfrm>
            <a:off x="798513" y="4900613"/>
            <a:ext cx="11399837" cy="4100512"/>
          </a:xfrm>
          <a:prstGeom prst="rect">
            <a:avLst/>
          </a:prstGeom>
          <a:noFill/>
          <a:ln w="12700" cap="sq">
            <a:noFill/>
            <a:miter lim="800000"/>
            <a:headEnd type="none" w="sm" len="sm"/>
            <a:tailEnd type="none" w="sm" len="sm"/>
          </a:ln>
        </p:spPr>
        <p:txBody>
          <a:bodyPr lIns="104927" tIns="52464" rIns="104927" bIns="52464"/>
          <a:lstStyle/>
          <a:p>
            <a:pPr algn="ctr" eaLnBrk="1" hangingPunct="1">
              <a:spcBef>
                <a:spcPct val="20000"/>
              </a:spcBef>
              <a:buClr>
                <a:schemeClr val="folHlink"/>
              </a:buClr>
              <a:buSzPct val="60000"/>
              <a:buFont typeface="Wingdings" pitchFamily="2" charset="2"/>
              <a:buNone/>
            </a:pPr>
            <a:endParaRPr lang="en-US" sz="16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sz="1600" dirty="0"/>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0" y="4763"/>
            <a:ext cx="13681075" cy="1033462"/>
          </a:xfrm>
          <a:prstGeom prst="rect">
            <a:avLst/>
          </a:prstGeom>
          <a:solidFill>
            <a:srgbClr val="FFFFFF"/>
          </a:solidFill>
          <a:ln>
            <a:miter lim="800000"/>
            <a:headEnd/>
            <a:tailEnd/>
          </a:ln>
        </p:spPr>
        <p:txBody>
          <a:bodyPr lIns="104927" tIns="52464" rIns="104927" bIns="52464" anchor="ct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Learning Objectives</a:t>
            </a:r>
          </a:p>
        </p:txBody>
      </p:sp>
      <p:sp>
        <p:nvSpPr>
          <p:cNvPr id="3" name="Rectangle 2"/>
          <p:cNvSpPr txBox="1">
            <a:spLocks noChangeArrowheads="1"/>
          </p:cNvSpPr>
          <p:nvPr/>
        </p:nvSpPr>
        <p:spPr bwMode="auto">
          <a:xfrm>
            <a:off x="0" y="1147763"/>
            <a:ext cx="13681075" cy="6075362"/>
          </a:xfrm>
          <a:prstGeom prst="rect">
            <a:avLst/>
          </a:prstGeom>
          <a:solidFill>
            <a:srgbClr val="FFFFFF"/>
          </a:solidFill>
          <a:ln>
            <a:miter lim="800000"/>
            <a:headEnd/>
            <a:tailEnd/>
          </a:ln>
        </p:spPr>
        <p:txBody>
          <a:bodyPr lIns="104927" tIns="52464" rIns="104927" bIns="52464"/>
          <a:lstStyle/>
          <a:p>
            <a:pPr marL="413100" indent="-413100" algn="just" eaLnBrk="1" hangingPunct="1">
              <a:buFont typeface="Arial" pitchFamily="34" charset="0"/>
              <a:buChar char="•"/>
              <a:defRPr/>
            </a:pPr>
            <a:r>
              <a:rPr lang="en-US" sz="4400" kern="0" dirty="0">
                <a:latin typeface="Times New Roman" panose="02020603050405020304" pitchFamily="18" charset="0"/>
                <a:ea typeface="+mj-ea"/>
                <a:cs typeface="Times New Roman" panose="02020603050405020304" pitchFamily="18" charset="0"/>
              </a:rPr>
              <a:t>At the end of this chapter, you will be able to:</a:t>
            </a:r>
          </a:p>
          <a:p>
            <a:pPr algn="just" eaLnBrk="1" hangingPunct="1">
              <a:defRPr/>
            </a:pPr>
            <a:endParaRPr lang="en-US" sz="4400" kern="0" dirty="0">
              <a:latin typeface="Times New Roman" panose="02020603050405020304" pitchFamily="18" charset="0"/>
              <a:ea typeface="+mj-ea"/>
              <a:cs typeface="Times New Roman" panose="02020603050405020304" pitchFamily="18" charset="0"/>
            </a:endParaRPr>
          </a:p>
          <a:p>
            <a:pPr marL="1054100" lvl="1" indent="-530225" algn="just">
              <a:buFont typeface="Arial" pitchFamily="34" charset="0"/>
              <a:buChar char="•"/>
              <a:defRPr/>
            </a:pPr>
            <a:r>
              <a:rPr lang="en-US" sz="4400" dirty="0">
                <a:latin typeface="Times New Roman" panose="02020603050405020304" pitchFamily="18" charset="0"/>
                <a:cs typeface="Times New Roman" panose="02020603050405020304" pitchFamily="18" charset="0"/>
              </a:rPr>
              <a:t>Explain polymorphism, dynamic binding and generic programming concepts (P2, C2, A3)</a:t>
            </a:r>
          </a:p>
          <a:p>
            <a:pPr marL="1054100" lvl="1" indent="-530225" algn="just">
              <a:buFont typeface="Arial" pitchFamily="34" charset="0"/>
              <a:buChar char="•"/>
              <a:defRPr/>
            </a:pPr>
            <a:r>
              <a:rPr lang="ms-MY" sz="4400" dirty="0">
                <a:latin typeface="Times New Roman" panose="02020603050405020304" pitchFamily="18" charset="0"/>
                <a:cs typeface="Times New Roman" panose="02020603050405020304" pitchFamily="18" charset="0"/>
              </a:rPr>
              <a:t>Construct an object-oriented program using generic programming (P4)</a:t>
            </a:r>
            <a:endParaRPr lang="en-GB" sz="4400" dirty="0">
              <a:latin typeface="Times New Roman" panose="02020603050405020304" pitchFamily="18" charset="0"/>
              <a:cs typeface="Times New Roman" panose="02020603050405020304" pitchFamily="18" charset="0"/>
            </a:endParaRPr>
          </a:p>
          <a:p>
            <a:pPr marL="1054100" lvl="1" indent="-530225">
              <a:buFont typeface="Arial" pitchFamily="34" charset="0"/>
              <a:buChar char="•"/>
              <a:defRPr/>
            </a:pPr>
            <a:endParaRPr lang="ms-MY" sz="4600" dirty="0">
              <a:latin typeface="Agency FB" pitchFamily="34" charset="0"/>
            </a:endParaRPr>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C6B9D71F-9BDC-CC47-BA13-DEB7B6C390E8}"/>
              </a:ext>
            </a:extLst>
          </p:cNvPr>
          <p:cNvSpPr>
            <a:spLocks noGrp="1" noChangeArrowheads="1"/>
          </p:cNvSpPr>
          <p:nvPr>
            <p:ph type="title"/>
          </p:nvPr>
        </p:nvSpPr>
        <p:spPr>
          <a:xfrm>
            <a:off x="1739900" y="300037"/>
            <a:ext cx="10201275" cy="900113"/>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Polymorphism</a:t>
            </a:r>
          </a:p>
        </p:txBody>
      </p:sp>
      <p:sp>
        <p:nvSpPr>
          <p:cNvPr id="31748" name="Rectangle 3">
            <a:extLst>
              <a:ext uri="{FF2B5EF4-FFF2-40B4-BE49-F238E27FC236}">
                <a16:creationId xmlns:a16="http://schemas.microsoft.com/office/drawing/2014/main" id="{FB1289DE-A532-3742-8588-0A213684BA61}"/>
              </a:ext>
            </a:extLst>
          </p:cNvPr>
          <p:cNvSpPr>
            <a:spLocks noGrp="1" noChangeArrowheads="1"/>
          </p:cNvSpPr>
          <p:nvPr>
            <p:ph type="body" idx="1"/>
          </p:nvPr>
        </p:nvSpPr>
        <p:spPr>
          <a:xfrm>
            <a:off x="1239837" y="1500187"/>
            <a:ext cx="11201400" cy="1500188"/>
          </a:xfrm>
        </p:spPr>
        <p:txBody>
          <a:bodyPr/>
          <a:lstStyle/>
          <a:p>
            <a:pPr marL="0" indent="0">
              <a:spcBef>
                <a:spcPct val="75000"/>
              </a:spcBef>
              <a:buNone/>
            </a:pPr>
            <a:r>
              <a:rPr lang="en-US" altLang="en-US" sz="4000" dirty="0">
                <a:latin typeface="Times New Roman" panose="02020603050405020304" pitchFamily="18" charset="0"/>
                <a:cs typeface="Times New Roman" panose="02020603050405020304" pitchFamily="18" charset="0"/>
              </a:rPr>
              <a:t>Polymorphism means that a variable of a supertype can refer to a subtype object.</a:t>
            </a:r>
          </a:p>
        </p:txBody>
      </p:sp>
      <p:sp>
        <p:nvSpPr>
          <p:cNvPr id="31749" name="Rectangle 5">
            <a:extLst>
              <a:ext uri="{FF2B5EF4-FFF2-40B4-BE49-F238E27FC236}">
                <a16:creationId xmlns:a16="http://schemas.microsoft.com/office/drawing/2014/main" id="{E3C8CB95-7CC7-8043-9D16-63C9FB27585A}"/>
              </a:ext>
            </a:extLst>
          </p:cNvPr>
          <p:cNvSpPr>
            <a:spLocks noChangeArrowheads="1"/>
          </p:cNvSpPr>
          <p:nvPr/>
        </p:nvSpPr>
        <p:spPr bwMode="auto">
          <a:xfrm>
            <a:off x="1339849" y="3300412"/>
            <a:ext cx="11101388" cy="3700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0848" tIns="60425" rIns="120848" bIns="60425"/>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just">
              <a:lnSpc>
                <a:spcPct val="90000"/>
              </a:lnSpc>
              <a:spcBef>
                <a:spcPct val="75000"/>
              </a:spcBef>
              <a:buFont typeface="Monotype Sorts" pitchFamily="2" charset="2"/>
              <a:buNone/>
            </a:pPr>
            <a:r>
              <a:rPr lang="en-US" altLang="en-US" sz="4000" dirty="0"/>
              <a:t>A class defines a type. A type defined by a subclass is called a </a:t>
            </a:r>
            <a:r>
              <a:rPr lang="en-US" altLang="en-US" sz="4000" i="1" dirty="0"/>
              <a:t>subtype</a:t>
            </a:r>
            <a:r>
              <a:rPr lang="en-US" altLang="en-US" sz="4000" dirty="0"/>
              <a:t>, and a type defined by its superclass is called a </a:t>
            </a:r>
            <a:r>
              <a:rPr lang="en-US" altLang="en-US" sz="4000" i="1" dirty="0"/>
              <a:t>supertype</a:t>
            </a:r>
            <a:r>
              <a:rPr lang="en-US" altLang="en-US" sz="4000" dirty="0"/>
              <a:t>. Therefore, you can say that </a:t>
            </a:r>
            <a:r>
              <a:rPr lang="en-US" altLang="en-US" sz="4000" b="1" dirty="0"/>
              <a:t>Circle</a:t>
            </a:r>
            <a:r>
              <a:rPr lang="en-US" altLang="en-US" sz="4000" dirty="0"/>
              <a:t> is a subtype of </a:t>
            </a:r>
            <a:r>
              <a:rPr lang="en-US" altLang="en-US" sz="4000" b="1" dirty="0" err="1"/>
              <a:t>GeometricObject</a:t>
            </a:r>
            <a:r>
              <a:rPr lang="en-US" altLang="en-US" sz="4000" dirty="0"/>
              <a:t> and </a:t>
            </a:r>
            <a:r>
              <a:rPr lang="en-US" altLang="en-US" sz="4000" b="1" dirty="0" err="1"/>
              <a:t>GeometricObject</a:t>
            </a:r>
            <a:r>
              <a:rPr lang="en-US" altLang="en-US" sz="4000" dirty="0"/>
              <a:t> is a supertype for </a:t>
            </a:r>
            <a:r>
              <a:rPr lang="en-US" altLang="en-US" sz="4000" b="1" dirty="0"/>
              <a:t>Circle</a:t>
            </a:r>
            <a:r>
              <a:rPr lang="en-US" altLang="en-US" sz="4000" dirty="0"/>
              <a:t>.</a:t>
            </a:r>
          </a:p>
        </p:txBody>
      </p:sp>
      <p:sp>
        <p:nvSpPr>
          <p:cNvPr id="31750" name="AutoShape 10">
            <a:hlinkClick r:id="rId3" action="ppaction://program" highlightClick="1"/>
            <a:extLst>
              <a:ext uri="{FF2B5EF4-FFF2-40B4-BE49-F238E27FC236}">
                <a16:creationId xmlns:a16="http://schemas.microsoft.com/office/drawing/2014/main" id="{10686F96-95B4-F14B-BF57-1DA198867BF5}"/>
              </a:ext>
            </a:extLst>
          </p:cNvPr>
          <p:cNvSpPr>
            <a:spLocks noChangeArrowheads="1"/>
          </p:cNvSpPr>
          <p:nvPr/>
        </p:nvSpPr>
        <p:spPr bwMode="auto">
          <a:xfrm>
            <a:off x="10530582" y="7519691"/>
            <a:ext cx="916781"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31751" name="Rectangle 9">
            <a:hlinkClick r:id="rId4"/>
            <a:extLst>
              <a:ext uri="{FF2B5EF4-FFF2-40B4-BE49-F238E27FC236}">
                <a16:creationId xmlns:a16="http://schemas.microsoft.com/office/drawing/2014/main" id="{12237B4C-6C33-7048-BB8F-C839991C41EF}"/>
              </a:ext>
            </a:extLst>
          </p:cNvPr>
          <p:cNvSpPr>
            <a:spLocks noChangeArrowheads="1"/>
          </p:cNvSpPr>
          <p:nvPr/>
        </p:nvSpPr>
        <p:spPr bwMode="auto">
          <a:xfrm>
            <a:off x="7203083" y="7492602"/>
            <a:ext cx="3089970"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PolymorphismDemo</a:t>
            </a:r>
          </a:p>
        </p:txBody>
      </p:sp>
    </p:spTree>
    <p:extLst>
      <p:ext uri="{BB962C8B-B14F-4D97-AF65-F5344CB8AC3E}">
        <p14:creationId xmlns:p14="http://schemas.microsoft.com/office/powerpoint/2010/main" val="2500905486"/>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1649064A-29D3-AD4C-BDC7-F2D2BC4D4F15}"/>
              </a:ext>
            </a:extLst>
          </p:cNvPr>
          <p:cNvSpPr>
            <a:spLocks noGrp="1" noChangeArrowheads="1"/>
          </p:cNvSpPr>
          <p:nvPr>
            <p:ph type="title"/>
          </p:nvPr>
        </p:nvSpPr>
        <p:spPr>
          <a:xfrm>
            <a:off x="1139824" y="200024"/>
            <a:ext cx="11501438" cy="900113"/>
          </a:xfrm>
        </p:spPr>
        <p:txBody>
          <a:bodyPr/>
          <a:lstStyle/>
          <a:p>
            <a:pPr algn="ctr"/>
            <a:r>
              <a:rPr lang="en-US" altLang="en-US" sz="3200" b="1" dirty="0">
                <a:solidFill>
                  <a:schemeClr val="tx1"/>
                </a:solidFill>
                <a:latin typeface="Times New Roman" panose="02020603050405020304" pitchFamily="18" charset="0"/>
                <a:cs typeface="Times New Roman" panose="02020603050405020304" pitchFamily="18" charset="0"/>
              </a:rPr>
              <a:t>Polymorphism, Dynamic Binding and Generic Programming</a:t>
            </a:r>
          </a:p>
        </p:txBody>
      </p:sp>
      <p:sp>
        <p:nvSpPr>
          <p:cNvPr id="33796" name="Text Box 5">
            <a:extLst>
              <a:ext uri="{FF2B5EF4-FFF2-40B4-BE49-F238E27FC236}">
                <a16:creationId xmlns:a16="http://schemas.microsoft.com/office/drawing/2014/main" id="{C08E3934-DDC2-FD4D-B5FB-C0B324F1C85F}"/>
              </a:ext>
            </a:extLst>
          </p:cNvPr>
          <p:cNvSpPr txBox="1">
            <a:spLocks noChangeArrowheads="1"/>
          </p:cNvSpPr>
          <p:nvPr/>
        </p:nvSpPr>
        <p:spPr bwMode="auto">
          <a:xfrm>
            <a:off x="1039812" y="1100138"/>
            <a:ext cx="4900613" cy="6009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public class </a:t>
            </a:r>
            <a:r>
              <a:rPr lang="en-US" altLang="en-US" sz="1444" b="1" dirty="0" err="1">
                <a:latin typeface="Courier New" panose="02070309020205020404" pitchFamily="49" charset="0"/>
                <a:cs typeface="Times New Roman" panose="02020603050405020304" pitchFamily="18" charset="0"/>
              </a:rPr>
              <a:t>PolymorphismDemo</a:t>
            </a: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public static void main(String[] </a:t>
            </a:r>
            <a:r>
              <a:rPr lang="en-US" altLang="en-US" sz="1444" b="1" dirty="0" err="1">
                <a:latin typeface="Courier New" panose="02070309020205020404" pitchFamily="49" charset="0"/>
                <a:cs typeface="Times New Roman" panose="02020603050405020304" pitchFamily="18" charset="0"/>
              </a:rPr>
              <a:t>args</a:t>
            </a: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m(new </a:t>
            </a:r>
            <a:r>
              <a:rPr lang="en-US" altLang="en-US" sz="1444" b="1" dirty="0" err="1">
                <a:latin typeface="Courier New" panose="02070309020205020404" pitchFamily="49" charset="0"/>
                <a:cs typeface="Times New Roman" panose="02020603050405020304" pitchFamily="18" charset="0"/>
              </a:rPr>
              <a:t>GraduateStudent</a:t>
            </a:r>
            <a:r>
              <a:rPr lang="en-US" altLang="en-US" sz="1444" b="1" dirty="0">
                <a:latin typeface="Courier New" panose="02070309020205020404" pitchFamily="49" charset="0"/>
                <a:cs typeface="Times New Roman" panose="02020603050405020304" pitchFamily="18" charset="0"/>
              </a:rPr>
              <a: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m(new Student());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m(new Person());</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m(new Object());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public static void m(Object x)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r>
              <a:rPr lang="en-US" altLang="en-US" sz="1444" b="1" dirty="0" err="1">
                <a:latin typeface="Courier New" panose="02070309020205020404" pitchFamily="49" charset="0"/>
                <a:cs typeface="Times New Roman" panose="02020603050405020304" pitchFamily="18" charset="0"/>
              </a:rPr>
              <a:t>System.out.println</a:t>
            </a:r>
            <a:r>
              <a:rPr lang="en-US" altLang="en-US" sz="1444" b="1" dirty="0">
                <a:latin typeface="Courier New" panose="02070309020205020404" pitchFamily="49" charset="0"/>
                <a:cs typeface="Times New Roman" panose="02020603050405020304" pitchFamily="18" charset="0"/>
              </a:rPr>
              <a:t>(</a:t>
            </a:r>
            <a:r>
              <a:rPr lang="en-US" altLang="en-US" sz="1444" b="1" dirty="0" err="1">
                <a:latin typeface="Courier New" panose="02070309020205020404" pitchFamily="49" charset="0"/>
                <a:cs typeface="Times New Roman" panose="02020603050405020304" pitchFamily="18" charset="0"/>
              </a:rPr>
              <a:t>x.toString</a:t>
            </a:r>
            <a:r>
              <a:rPr lang="en-US" altLang="en-US" sz="1444" b="1" dirty="0">
                <a:latin typeface="Courier New" panose="02070309020205020404" pitchFamily="49" charset="0"/>
                <a:cs typeface="Times New Roman" panose="02020603050405020304" pitchFamily="18" charset="0"/>
              </a:rPr>
              <a: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class </a:t>
            </a:r>
            <a:r>
              <a:rPr lang="en-US" altLang="en-US" sz="1444" b="1" dirty="0" err="1">
                <a:latin typeface="Courier New" panose="02070309020205020404" pitchFamily="49" charset="0"/>
                <a:cs typeface="Times New Roman" panose="02020603050405020304" pitchFamily="18" charset="0"/>
              </a:rPr>
              <a:t>GraduateStudent</a:t>
            </a:r>
            <a:r>
              <a:rPr lang="en-US" altLang="en-US" sz="1444" b="1" dirty="0">
                <a:latin typeface="Courier New" panose="02070309020205020404" pitchFamily="49" charset="0"/>
                <a:cs typeface="Times New Roman" panose="02020603050405020304" pitchFamily="18" charset="0"/>
              </a:rPr>
              <a:t> extends Student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class Student extends Person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public String </a:t>
            </a:r>
            <a:r>
              <a:rPr lang="en-US" altLang="en-US" sz="1444" b="1" dirty="0" err="1">
                <a:latin typeface="Courier New" panose="02070309020205020404" pitchFamily="49" charset="0"/>
                <a:cs typeface="Times New Roman" panose="02020603050405020304" pitchFamily="18" charset="0"/>
              </a:rPr>
              <a:t>toString</a:t>
            </a: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return "Student";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class Person extends Object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public String </a:t>
            </a:r>
            <a:r>
              <a:rPr lang="en-US" altLang="en-US" sz="1444" b="1" dirty="0" err="1">
                <a:latin typeface="Courier New" panose="02070309020205020404" pitchFamily="49" charset="0"/>
                <a:cs typeface="Times New Roman" panose="02020603050405020304" pitchFamily="18" charset="0"/>
              </a:rPr>
              <a:t>toString</a:t>
            </a: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return "Person";</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  }</a:t>
            </a:r>
          </a:p>
          <a:p>
            <a:pPr>
              <a:lnSpc>
                <a:spcPct val="50000"/>
              </a:lnSpc>
              <a:spcBef>
                <a:spcPct val="50000"/>
              </a:spcBef>
              <a:buClrTx/>
              <a:buSzTx/>
              <a:buFontTx/>
              <a:buNone/>
            </a:pPr>
            <a:r>
              <a:rPr lang="en-US" altLang="en-US" sz="1444" b="1" dirty="0">
                <a:latin typeface="Courier New" panose="02070309020205020404" pitchFamily="49" charset="0"/>
                <a:cs typeface="Times New Roman" panose="02020603050405020304" pitchFamily="18" charset="0"/>
              </a:rPr>
              <a:t>}</a:t>
            </a:r>
          </a:p>
        </p:txBody>
      </p:sp>
      <p:sp>
        <p:nvSpPr>
          <p:cNvPr id="324615" name="Text Box 7">
            <a:extLst>
              <a:ext uri="{FF2B5EF4-FFF2-40B4-BE49-F238E27FC236}">
                <a16:creationId xmlns:a16="http://schemas.microsoft.com/office/drawing/2014/main" id="{6C51F73E-6947-CA49-9BA4-E77588960FD4}"/>
              </a:ext>
            </a:extLst>
          </p:cNvPr>
          <p:cNvSpPr txBox="1">
            <a:spLocks noChangeArrowheads="1"/>
          </p:cNvSpPr>
          <p:nvPr/>
        </p:nvSpPr>
        <p:spPr bwMode="auto">
          <a:xfrm>
            <a:off x="7040562" y="1200150"/>
            <a:ext cx="4300538" cy="130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625"/>
              <a:t>Method m takes a parameter of the Object type. You can invoke it with any object.</a:t>
            </a:r>
          </a:p>
        </p:txBody>
      </p:sp>
      <p:sp>
        <p:nvSpPr>
          <p:cNvPr id="324616" name="Line 8">
            <a:extLst>
              <a:ext uri="{FF2B5EF4-FFF2-40B4-BE49-F238E27FC236}">
                <a16:creationId xmlns:a16="http://schemas.microsoft.com/office/drawing/2014/main" id="{9BBB17BE-CDE2-BB4B-AF7B-251B11228099}"/>
              </a:ext>
            </a:extLst>
          </p:cNvPr>
          <p:cNvSpPr>
            <a:spLocks noChangeShapeType="1"/>
          </p:cNvSpPr>
          <p:nvPr/>
        </p:nvSpPr>
        <p:spPr bwMode="auto">
          <a:xfrm flipH="1">
            <a:off x="4240212" y="1800225"/>
            <a:ext cx="2800350" cy="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181"/>
          </a:p>
        </p:txBody>
      </p:sp>
      <p:sp>
        <p:nvSpPr>
          <p:cNvPr id="324617" name="Text Box 9">
            <a:extLst>
              <a:ext uri="{FF2B5EF4-FFF2-40B4-BE49-F238E27FC236}">
                <a16:creationId xmlns:a16="http://schemas.microsoft.com/office/drawing/2014/main" id="{4A7284FB-5ECB-C54E-9988-F34898EA1266}"/>
              </a:ext>
            </a:extLst>
          </p:cNvPr>
          <p:cNvSpPr txBox="1">
            <a:spLocks noChangeArrowheads="1"/>
          </p:cNvSpPr>
          <p:nvPr/>
        </p:nvSpPr>
        <p:spPr bwMode="auto">
          <a:xfrm>
            <a:off x="5940424" y="2600325"/>
            <a:ext cx="6700838" cy="130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625" dirty="0">
                <a:cs typeface="Courier New" panose="02070309020205020404" pitchFamily="49" charset="0"/>
              </a:rPr>
              <a:t>An object of a subtype can be used wherever its supertype value is required</a:t>
            </a:r>
            <a:r>
              <a:rPr lang="en-US" altLang="en-US" sz="2625" dirty="0">
                <a:cs typeface="Times New Roman" panose="02020603050405020304" pitchFamily="18" charset="0"/>
              </a:rPr>
              <a:t>. This feature is known as </a:t>
            </a:r>
            <a:r>
              <a:rPr lang="en-US" altLang="en-US" sz="2625" i="1" dirty="0">
                <a:cs typeface="Times New Roman" panose="02020603050405020304" pitchFamily="18" charset="0"/>
              </a:rPr>
              <a:t>polymorphism</a:t>
            </a:r>
            <a:r>
              <a:rPr lang="en-US" altLang="en-US" sz="2625" dirty="0">
                <a:cs typeface="Times New Roman" panose="02020603050405020304" pitchFamily="18" charset="0"/>
              </a:rPr>
              <a:t>.</a:t>
            </a:r>
          </a:p>
        </p:txBody>
      </p:sp>
      <p:sp>
        <p:nvSpPr>
          <p:cNvPr id="324618" name="Rectangle 10">
            <a:extLst>
              <a:ext uri="{FF2B5EF4-FFF2-40B4-BE49-F238E27FC236}">
                <a16:creationId xmlns:a16="http://schemas.microsoft.com/office/drawing/2014/main" id="{A0919D0F-6570-1546-8C0A-D25E401C8149}"/>
              </a:ext>
            </a:extLst>
          </p:cNvPr>
          <p:cNvSpPr>
            <a:spLocks noGrp="1" noChangeArrowheads="1"/>
          </p:cNvSpPr>
          <p:nvPr>
            <p:ph type="body" idx="1"/>
          </p:nvPr>
        </p:nvSpPr>
        <p:spPr>
          <a:xfrm>
            <a:off x="5940425" y="4400550"/>
            <a:ext cx="6600825" cy="3800475"/>
          </a:xfrm>
        </p:spPr>
        <p:txBody>
          <a:bodyPr/>
          <a:lstStyle/>
          <a:p>
            <a:pPr marL="0" indent="0">
              <a:lnSpc>
                <a:spcPct val="90000"/>
              </a:lnSpc>
              <a:buNone/>
            </a:pPr>
            <a:r>
              <a:rPr lang="en-US" altLang="en-US" sz="2625" dirty="0">
                <a:latin typeface="Times New Roman" panose="02020603050405020304" pitchFamily="18" charset="0"/>
                <a:cs typeface="Times New Roman" panose="02020603050405020304" pitchFamily="18" charset="0"/>
              </a:rPr>
              <a:t>When the method m(Object x) is executed, the argument x’s </a:t>
            </a:r>
            <a:r>
              <a:rPr lang="en-US" altLang="en-US" sz="2625" dirty="0" err="1">
                <a:latin typeface="Times New Roman" panose="02020603050405020304" pitchFamily="18" charset="0"/>
                <a:cs typeface="Times New Roman" panose="02020603050405020304" pitchFamily="18" charset="0"/>
              </a:rPr>
              <a:t>toString</a:t>
            </a:r>
            <a:r>
              <a:rPr lang="en-US" altLang="en-US" sz="2625" dirty="0">
                <a:latin typeface="Times New Roman" panose="02020603050405020304" pitchFamily="18" charset="0"/>
                <a:cs typeface="Times New Roman" panose="02020603050405020304" pitchFamily="18" charset="0"/>
              </a:rPr>
              <a:t> method is invoked. x may be an instance of </a:t>
            </a:r>
            <a:r>
              <a:rPr lang="en-US" altLang="en-US" sz="2625" dirty="0" err="1">
                <a:latin typeface="Times New Roman" panose="02020603050405020304" pitchFamily="18" charset="0"/>
                <a:cs typeface="Times New Roman" panose="02020603050405020304" pitchFamily="18" charset="0"/>
              </a:rPr>
              <a:t>GraduateStudent</a:t>
            </a:r>
            <a:r>
              <a:rPr lang="en-US" altLang="en-US" sz="2625" dirty="0">
                <a:latin typeface="Times New Roman" panose="02020603050405020304" pitchFamily="18" charset="0"/>
                <a:cs typeface="Times New Roman" panose="02020603050405020304" pitchFamily="18" charset="0"/>
              </a:rPr>
              <a:t>, Student, Person, or Object. Classes </a:t>
            </a:r>
            <a:r>
              <a:rPr lang="en-US" altLang="en-US" sz="2625" dirty="0" err="1">
                <a:latin typeface="Times New Roman" panose="02020603050405020304" pitchFamily="18" charset="0"/>
                <a:cs typeface="Times New Roman" panose="02020603050405020304" pitchFamily="18" charset="0"/>
              </a:rPr>
              <a:t>GraduateStudent</a:t>
            </a:r>
            <a:r>
              <a:rPr lang="en-US" altLang="en-US" sz="2625" dirty="0">
                <a:latin typeface="Times New Roman" panose="02020603050405020304" pitchFamily="18" charset="0"/>
                <a:cs typeface="Times New Roman" panose="02020603050405020304" pitchFamily="18" charset="0"/>
              </a:rPr>
              <a:t>, Student, Person, and Object have their own implementation of the </a:t>
            </a:r>
            <a:r>
              <a:rPr lang="en-US" altLang="en-US" sz="2625" dirty="0" err="1">
                <a:latin typeface="Times New Roman" panose="02020603050405020304" pitchFamily="18" charset="0"/>
                <a:cs typeface="Times New Roman" panose="02020603050405020304" pitchFamily="18" charset="0"/>
              </a:rPr>
              <a:t>toString</a:t>
            </a:r>
            <a:r>
              <a:rPr lang="en-US" altLang="en-US" sz="2625" dirty="0">
                <a:latin typeface="Times New Roman" panose="02020603050405020304" pitchFamily="18" charset="0"/>
                <a:cs typeface="Times New Roman" panose="02020603050405020304" pitchFamily="18" charset="0"/>
              </a:rPr>
              <a:t> method. Which implementation is used will be determined dynamically by the Java Virtual Machine at runtime. This capability is known as </a:t>
            </a:r>
            <a:r>
              <a:rPr lang="en-US" altLang="en-US" sz="2625" i="1" dirty="0">
                <a:latin typeface="Times New Roman" panose="02020603050405020304" pitchFamily="18" charset="0"/>
                <a:cs typeface="Times New Roman" panose="02020603050405020304" pitchFamily="18" charset="0"/>
              </a:rPr>
              <a:t>dynamic binding</a:t>
            </a:r>
            <a:r>
              <a:rPr lang="en-US" altLang="en-US" sz="2625" dirty="0">
                <a:latin typeface="Times New Roman" panose="02020603050405020304" pitchFamily="18" charset="0"/>
                <a:cs typeface="Times New Roman" panose="02020603050405020304" pitchFamily="18" charset="0"/>
              </a:rPr>
              <a:t>. </a:t>
            </a:r>
          </a:p>
        </p:txBody>
      </p:sp>
      <p:sp>
        <p:nvSpPr>
          <p:cNvPr id="33801" name="AutoShape 10">
            <a:hlinkClick r:id="rId2" action="ppaction://program" highlightClick="1"/>
            <a:extLst>
              <a:ext uri="{FF2B5EF4-FFF2-40B4-BE49-F238E27FC236}">
                <a16:creationId xmlns:a16="http://schemas.microsoft.com/office/drawing/2014/main" id="{9FF9EC06-C89B-8546-B9BD-A775DE23F95B}"/>
              </a:ext>
            </a:extLst>
          </p:cNvPr>
          <p:cNvSpPr>
            <a:spLocks noChangeArrowheads="1"/>
          </p:cNvSpPr>
          <p:nvPr/>
        </p:nvSpPr>
        <p:spPr bwMode="auto">
          <a:xfrm>
            <a:off x="4840287" y="7632205"/>
            <a:ext cx="916781"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363">
                <a:latin typeface="Book Antiqua" panose="02040602050305030304" pitchFamily="18" charset="0"/>
              </a:rPr>
              <a:t>Run</a:t>
            </a:r>
            <a:endParaRPr lang="en-US" altLang="en-US" sz="2363"/>
          </a:p>
        </p:txBody>
      </p:sp>
      <p:sp>
        <p:nvSpPr>
          <p:cNvPr id="33802" name="Rectangle 13">
            <a:hlinkClick r:id="rId3"/>
            <a:extLst>
              <a:ext uri="{FF2B5EF4-FFF2-40B4-BE49-F238E27FC236}">
                <a16:creationId xmlns:a16="http://schemas.microsoft.com/office/drawing/2014/main" id="{87E77A79-5DF3-2E49-B872-C3DAF45D9625}"/>
              </a:ext>
            </a:extLst>
          </p:cNvPr>
          <p:cNvSpPr>
            <a:spLocks noChangeArrowheads="1"/>
          </p:cNvSpPr>
          <p:nvPr/>
        </p:nvSpPr>
        <p:spPr bwMode="auto">
          <a:xfrm>
            <a:off x="1093985" y="7605116"/>
            <a:ext cx="3508772"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625"/>
              <a:t>DynamicBindingDemo</a:t>
            </a:r>
          </a:p>
        </p:txBody>
      </p:sp>
    </p:spTree>
    <p:extLst>
      <p:ext uri="{BB962C8B-B14F-4D97-AF65-F5344CB8AC3E}">
        <p14:creationId xmlns:p14="http://schemas.microsoft.com/office/powerpoint/2010/main" val="34022463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5"/>
                                        </p:tgtEl>
                                        <p:attrNameLst>
                                          <p:attrName>style.visibility</p:attrName>
                                        </p:attrNameLst>
                                      </p:cBhvr>
                                      <p:to>
                                        <p:strVal val="visible"/>
                                      </p:to>
                                    </p:set>
                                    <p:anim calcmode="lin" valueType="num">
                                      <p:cBhvr additive="base">
                                        <p:cTn id="7" dur="500" fill="hold"/>
                                        <p:tgtEl>
                                          <p:spTgt spid="324615"/>
                                        </p:tgtEl>
                                        <p:attrNameLst>
                                          <p:attrName>ppt_x</p:attrName>
                                        </p:attrNameLst>
                                      </p:cBhvr>
                                      <p:tavLst>
                                        <p:tav tm="0">
                                          <p:val>
                                            <p:strVal val="0-#ppt_w/2"/>
                                          </p:val>
                                        </p:tav>
                                        <p:tav tm="100000">
                                          <p:val>
                                            <p:strVal val="#ppt_x"/>
                                          </p:val>
                                        </p:tav>
                                      </p:tavLst>
                                    </p:anim>
                                    <p:anim calcmode="lin" valueType="num">
                                      <p:cBhvr additive="base">
                                        <p:cTn id="8" dur="500" fill="hold"/>
                                        <p:tgtEl>
                                          <p:spTgt spid="32461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24616"/>
                                        </p:tgtEl>
                                        <p:attrNameLst>
                                          <p:attrName>style.visibility</p:attrName>
                                        </p:attrNameLst>
                                      </p:cBhvr>
                                      <p:to>
                                        <p:strVal val="visible"/>
                                      </p:to>
                                    </p:set>
                                    <p:anim calcmode="lin" valueType="num">
                                      <p:cBhvr additive="base">
                                        <p:cTn id="13" dur="500" fill="hold"/>
                                        <p:tgtEl>
                                          <p:spTgt spid="324616"/>
                                        </p:tgtEl>
                                        <p:attrNameLst>
                                          <p:attrName>ppt_x</p:attrName>
                                        </p:attrNameLst>
                                      </p:cBhvr>
                                      <p:tavLst>
                                        <p:tav tm="0">
                                          <p:val>
                                            <p:strVal val="0-#ppt_w/2"/>
                                          </p:val>
                                        </p:tav>
                                        <p:tav tm="100000">
                                          <p:val>
                                            <p:strVal val="#ppt_x"/>
                                          </p:val>
                                        </p:tav>
                                      </p:tavLst>
                                    </p:anim>
                                    <p:anim calcmode="lin" valueType="num">
                                      <p:cBhvr additive="base">
                                        <p:cTn id="14" dur="500" fill="hold"/>
                                        <p:tgtEl>
                                          <p:spTgt spid="32461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4617"/>
                                        </p:tgtEl>
                                        <p:attrNameLst>
                                          <p:attrName>style.visibility</p:attrName>
                                        </p:attrNameLst>
                                      </p:cBhvr>
                                      <p:to>
                                        <p:strVal val="visible"/>
                                      </p:to>
                                    </p:set>
                                    <p:anim calcmode="lin" valueType="num">
                                      <p:cBhvr additive="base">
                                        <p:cTn id="19" dur="500" fill="hold"/>
                                        <p:tgtEl>
                                          <p:spTgt spid="324617"/>
                                        </p:tgtEl>
                                        <p:attrNameLst>
                                          <p:attrName>ppt_x</p:attrName>
                                        </p:attrNameLst>
                                      </p:cBhvr>
                                      <p:tavLst>
                                        <p:tav tm="0">
                                          <p:val>
                                            <p:strVal val="0-#ppt_w/2"/>
                                          </p:val>
                                        </p:tav>
                                        <p:tav tm="100000">
                                          <p:val>
                                            <p:strVal val="#ppt_x"/>
                                          </p:val>
                                        </p:tav>
                                      </p:tavLst>
                                    </p:anim>
                                    <p:anim calcmode="lin" valueType="num">
                                      <p:cBhvr additive="base">
                                        <p:cTn id="20" dur="500" fill="hold"/>
                                        <p:tgtEl>
                                          <p:spTgt spid="32461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4618">
                                            <p:txEl>
                                              <p:pRg st="0" end="0"/>
                                            </p:txEl>
                                          </p:spTgt>
                                        </p:tgtEl>
                                        <p:attrNameLst>
                                          <p:attrName>style.visibility</p:attrName>
                                        </p:attrNameLst>
                                      </p:cBhvr>
                                      <p:to>
                                        <p:strVal val="visible"/>
                                      </p:to>
                                    </p:set>
                                    <p:anim calcmode="lin" valueType="num">
                                      <p:cBhvr additive="base">
                                        <p:cTn id="25" dur="500" fill="hold"/>
                                        <p:tgtEl>
                                          <p:spTgt spid="324618">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46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5" grpId="0" autoUpdateAnimBg="0"/>
      <p:bldP spid="324617" grpId="0" autoUpdateAnimBg="0"/>
      <p:bldP spid="324618"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FA1D32B6-0FBF-5347-B2B5-6B1547AFC2EF}"/>
              </a:ext>
            </a:extLst>
          </p:cNvPr>
          <p:cNvSpPr>
            <a:spLocks noGrp="1" noChangeArrowheads="1"/>
          </p:cNvSpPr>
          <p:nvPr>
            <p:ph type="title"/>
          </p:nvPr>
        </p:nvSpPr>
        <p:spPr>
          <a:xfrm>
            <a:off x="1739900" y="400050"/>
            <a:ext cx="10201275" cy="600075"/>
          </a:xfrm>
        </p:spPr>
        <p:txBody>
          <a:bodyPr/>
          <a:lstStyle/>
          <a:p>
            <a:pPr algn="ctr"/>
            <a:r>
              <a:rPr lang="en-US" altLang="en-US" b="1">
                <a:solidFill>
                  <a:schemeClr val="tx1"/>
                </a:solidFill>
                <a:latin typeface="Times New Roman" panose="02020603050405020304" pitchFamily="18" charset="0"/>
                <a:cs typeface="Times New Roman" panose="02020603050405020304" pitchFamily="18" charset="0"/>
              </a:rPr>
              <a:t>Dynamic Binding</a:t>
            </a:r>
          </a:p>
        </p:txBody>
      </p:sp>
      <p:sp>
        <p:nvSpPr>
          <p:cNvPr id="34820" name="Rectangle 3">
            <a:extLst>
              <a:ext uri="{FF2B5EF4-FFF2-40B4-BE49-F238E27FC236}">
                <a16:creationId xmlns:a16="http://schemas.microsoft.com/office/drawing/2014/main" id="{DB8BB74E-7AD2-C24E-A480-9BC6BD67852E}"/>
              </a:ext>
            </a:extLst>
          </p:cNvPr>
          <p:cNvSpPr>
            <a:spLocks noGrp="1" noChangeArrowheads="1"/>
          </p:cNvSpPr>
          <p:nvPr>
            <p:ph type="body" idx="1"/>
          </p:nvPr>
        </p:nvSpPr>
        <p:spPr>
          <a:xfrm>
            <a:off x="1139824" y="1466416"/>
            <a:ext cx="11701463" cy="4600575"/>
          </a:xfrm>
        </p:spPr>
        <p:txBody>
          <a:bodyPr/>
          <a:lstStyle/>
          <a:p>
            <a:pPr marL="0" indent="0" algn="just">
              <a:lnSpc>
                <a:spcPct val="90000"/>
              </a:lnSpc>
              <a:buNone/>
            </a:pPr>
            <a:r>
              <a:rPr lang="en-US" altLang="en-US" sz="3200" dirty="0">
                <a:latin typeface="Times New Roman" panose="02020603050405020304" pitchFamily="18" charset="0"/>
                <a:cs typeface="Times New Roman" panose="02020603050405020304" pitchFamily="18" charset="0"/>
              </a:rPr>
              <a:t>Dynamic binding works as follows: Suppose an object o is an instance of classes C</a:t>
            </a:r>
            <a:r>
              <a:rPr lang="en-US" altLang="en-US" sz="3200" baseline="-30000" dirty="0">
                <a:latin typeface="Times New Roman" panose="02020603050405020304" pitchFamily="18" charset="0"/>
                <a:cs typeface="Times New Roman" panose="02020603050405020304" pitchFamily="18" charset="0"/>
              </a:rPr>
              <a:t>1</a:t>
            </a:r>
            <a:r>
              <a:rPr lang="en-US" altLang="en-US" sz="3200" dirty="0">
                <a:latin typeface="Times New Roman" panose="02020603050405020304" pitchFamily="18" charset="0"/>
                <a:cs typeface="Times New Roman" panose="02020603050405020304" pitchFamily="18" charset="0"/>
              </a:rPr>
              <a:t>, C</a:t>
            </a:r>
            <a:r>
              <a:rPr lang="en-US" altLang="en-US" sz="3200" baseline="-30000" dirty="0">
                <a:latin typeface="Times New Roman" panose="02020603050405020304" pitchFamily="18" charset="0"/>
                <a:cs typeface="Times New Roman" panose="02020603050405020304" pitchFamily="18" charset="0"/>
              </a:rPr>
              <a:t>2</a:t>
            </a:r>
            <a:r>
              <a:rPr lang="en-US" altLang="en-US" sz="3200" dirty="0">
                <a:latin typeface="Times New Roman" panose="02020603050405020304" pitchFamily="18" charset="0"/>
                <a:cs typeface="Times New Roman" panose="02020603050405020304" pitchFamily="18" charset="0"/>
              </a:rPr>
              <a:t>, ..., C</a:t>
            </a:r>
            <a:r>
              <a:rPr lang="en-US" altLang="en-US" sz="3200" baseline="-30000" dirty="0">
                <a:latin typeface="Times New Roman" panose="02020603050405020304" pitchFamily="18" charset="0"/>
                <a:cs typeface="Times New Roman" panose="02020603050405020304" pitchFamily="18" charset="0"/>
              </a:rPr>
              <a:t>n-1</a:t>
            </a:r>
            <a:r>
              <a:rPr lang="en-US" altLang="en-US" sz="3200" dirty="0">
                <a:latin typeface="Times New Roman" panose="02020603050405020304" pitchFamily="18" charset="0"/>
                <a:cs typeface="Times New Roman" panose="02020603050405020304" pitchFamily="18" charset="0"/>
              </a:rPr>
              <a:t>, and C</a:t>
            </a:r>
            <a:r>
              <a:rPr lang="en-US" altLang="en-US" sz="3200" baseline="-30000"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where C</a:t>
            </a:r>
            <a:r>
              <a:rPr lang="en-US" altLang="en-US" sz="3200" baseline="-30000" dirty="0">
                <a:latin typeface="Times New Roman" panose="02020603050405020304" pitchFamily="18" charset="0"/>
                <a:cs typeface="Times New Roman" panose="02020603050405020304" pitchFamily="18" charset="0"/>
              </a:rPr>
              <a:t>1</a:t>
            </a:r>
            <a:r>
              <a:rPr lang="en-US" altLang="en-US" sz="3200" dirty="0">
                <a:latin typeface="Times New Roman" panose="02020603050405020304" pitchFamily="18" charset="0"/>
                <a:cs typeface="Times New Roman" panose="02020603050405020304" pitchFamily="18" charset="0"/>
              </a:rPr>
              <a:t> is a subclass of C</a:t>
            </a:r>
            <a:r>
              <a:rPr lang="en-US" altLang="en-US" sz="3200" baseline="-30000" dirty="0">
                <a:latin typeface="Times New Roman" panose="02020603050405020304" pitchFamily="18" charset="0"/>
                <a:cs typeface="Times New Roman" panose="02020603050405020304" pitchFamily="18" charset="0"/>
              </a:rPr>
              <a:t>2</a:t>
            </a:r>
            <a:r>
              <a:rPr lang="en-US" altLang="en-US" sz="3200" dirty="0">
                <a:latin typeface="Times New Roman" panose="02020603050405020304" pitchFamily="18" charset="0"/>
                <a:cs typeface="Times New Roman" panose="02020603050405020304" pitchFamily="18" charset="0"/>
              </a:rPr>
              <a:t>, C</a:t>
            </a:r>
            <a:r>
              <a:rPr lang="en-US" altLang="en-US" sz="3200" baseline="-30000" dirty="0">
                <a:latin typeface="Times New Roman" panose="02020603050405020304" pitchFamily="18" charset="0"/>
                <a:cs typeface="Times New Roman" panose="02020603050405020304" pitchFamily="18" charset="0"/>
              </a:rPr>
              <a:t>2</a:t>
            </a:r>
            <a:r>
              <a:rPr lang="en-US" altLang="en-US" sz="3200" dirty="0">
                <a:latin typeface="Times New Roman" panose="02020603050405020304" pitchFamily="18" charset="0"/>
                <a:cs typeface="Times New Roman" panose="02020603050405020304" pitchFamily="18" charset="0"/>
              </a:rPr>
              <a:t> is a subclass of C</a:t>
            </a:r>
            <a:r>
              <a:rPr lang="en-US" altLang="en-US" sz="3200" baseline="-30000" dirty="0">
                <a:latin typeface="Times New Roman" panose="02020603050405020304" pitchFamily="18" charset="0"/>
                <a:cs typeface="Times New Roman" panose="02020603050405020304" pitchFamily="18" charset="0"/>
              </a:rPr>
              <a:t>3</a:t>
            </a:r>
            <a:r>
              <a:rPr lang="en-US" altLang="en-US" sz="3200" dirty="0">
                <a:latin typeface="Times New Roman" panose="02020603050405020304" pitchFamily="18" charset="0"/>
                <a:cs typeface="Times New Roman" panose="02020603050405020304" pitchFamily="18" charset="0"/>
              </a:rPr>
              <a:t>, ..., and C</a:t>
            </a:r>
            <a:r>
              <a:rPr lang="en-US" altLang="en-US" sz="3200" baseline="-30000" dirty="0">
                <a:latin typeface="Times New Roman" panose="02020603050405020304" pitchFamily="18" charset="0"/>
                <a:cs typeface="Times New Roman" panose="02020603050405020304" pitchFamily="18" charset="0"/>
              </a:rPr>
              <a:t>n-1</a:t>
            </a:r>
            <a:r>
              <a:rPr lang="en-US" altLang="en-US" sz="3200" dirty="0">
                <a:latin typeface="Times New Roman" panose="02020603050405020304" pitchFamily="18" charset="0"/>
                <a:cs typeface="Times New Roman" panose="02020603050405020304" pitchFamily="18" charset="0"/>
              </a:rPr>
              <a:t> is a subclass of C</a:t>
            </a:r>
            <a:r>
              <a:rPr lang="en-US" altLang="en-US" sz="3200" baseline="-30000"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That is, C</a:t>
            </a:r>
            <a:r>
              <a:rPr lang="en-US" altLang="en-US" sz="3200" baseline="-30000"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is the most general class, and C</a:t>
            </a:r>
            <a:r>
              <a:rPr lang="en-US" altLang="en-US" sz="3200" baseline="-30000" dirty="0">
                <a:latin typeface="Times New Roman" panose="02020603050405020304" pitchFamily="18" charset="0"/>
                <a:cs typeface="Times New Roman" panose="02020603050405020304" pitchFamily="18" charset="0"/>
              </a:rPr>
              <a:t>1</a:t>
            </a:r>
            <a:r>
              <a:rPr lang="en-US" altLang="en-US" sz="3200" dirty="0">
                <a:latin typeface="Times New Roman" panose="02020603050405020304" pitchFamily="18" charset="0"/>
                <a:cs typeface="Times New Roman" panose="02020603050405020304" pitchFamily="18" charset="0"/>
              </a:rPr>
              <a:t> is the most specific class. In Java, C</a:t>
            </a:r>
            <a:r>
              <a:rPr lang="en-US" altLang="en-US" sz="3200" baseline="-30000"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is the Object class. If o invokes a method p, the JVM searches the implementation for the method p in C</a:t>
            </a:r>
            <a:r>
              <a:rPr lang="en-US" altLang="en-US" sz="3200" baseline="-30000" dirty="0">
                <a:latin typeface="Times New Roman" panose="02020603050405020304" pitchFamily="18" charset="0"/>
                <a:cs typeface="Times New Roman" panose="02020603050405020304" pitchFamily="18" charset="0"/>
              </a:rPr>
              <a:t>1</a:t>
            </a:r>
            <a:r>
              <a:rPr lang="en-US" altLang="en-US" sz="3200" dirty="0">
                <a:latin typeface="Times New Roman" panose="02020603050405020304" pitchFamily="18" charset="0"/>
                <a:cs typeface="Times New Roman" panose="02020603050405020304" pitchFamily="18" charset="0"/>
              </a:rPr>
              <a:t>, C</a:t>
            </a:r>
            <a:r>
              <a:rPr lang="en-US" altLang="en-US" sz="3200" baseline="-30000" dirty="0">
                <a:latin typeface="Times New Roman" panose="02020603050405020304" pitchFamily="18" charset="0"/>
                <a:cs typeface="Times New Roman" panose="02020603050405020304" pitchFamily="18" charset="0"/>
              </a:rPr>
              <a:t>2</a:t>
            </a:r>
            <a:r>
              <a:rPr lang="en-US" altLang="en-US" sz="3200" dirty="0">
                <a:latin typeface="Times New Roman" panose="02020603050405020304" pitchFamily="18" charset="0"/>
                <a:cs typeface="Times New Roman" panose="02020603050405020304" pitchFamily="18" charset="0"/>
              </a:rPr>
              <a:t>, ..., C</a:t>
            </a:r>
            <a:r>
              <a:rPr lang="en-US" altLang="en-US" sz="3200" baseline="-30000" dirty="0">
                <a:latin typeface="Times New Roman" panose="02020603050405020304" pitchFamily="18" charset="0"/>
                <a:cs typeface="Times New Roman" panose="02020603050405020304" pitchFamily="18" charset="0"/>
              </a:rPr>
              <a:t>n-1 </a:t>
            </a:r>
            <a:r>
              <a:rPr lang="en-US" altLang="en-US" sz="3200" dirty="0">
                <a:latin typeface="Times New Roman" panose="02020603050405020304" pitchFamily="18" charset="0"/>
                <a:cs typeface="Times New Roman" panose="02020603050405020304" pitchFamily="18" charset="0"/>
              </a:rPr>
              <a:t>and C</a:t>
            </a:r>
            <a:r>
              <a:rPr lang="en-US" altLang="en-US" sz="3200" baseline="-30000"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in this order, until it is found. Once an implementation is found, the search stops and the first-found implementation is invoked.</a:t>
            </a:r>
          </a:p>
        </p:txBody>
      </p:sp>
      <p:graphicFrame>
        <p:nvGraphicFramePr>
          <p:cNvPr id="34821" name="Object 4">
            <a:extLst>
              <a:ext uri="{FF2B5EF4-FFF2-40B4-BE49-F238E27FC236}">
                <a16:creationId xmlns:a16="http://schemas.microsoft.com/office/drawing/2014/main" id="{9D2AEE57-2F06-0646-9437-8996F607A5CB}"/>
              </a:ext>
            </a:extLst>
          </p:cNvPr>
          <p:cNvGraphicFramePr>
            <a:graphicFrameLocks noChangeAspect="1"/>
          </p:cNvGraphicFramePr>
          <p:nvPr>
            <p:extLst>
              <p:ext uri="{D42A27DB-BD31-4B8C-83A1-F6EECF244321}">
                <p14:modId xmlns:p14="http://schemas.microsoft.com/office/powerpoint/2010/main" val="4216590620"/>
              </p:ext>
            </p:extLst>
          </p:nvPr>
        </p:nvGraphicFramePr>
        <p:xfrm>
          <a:off x="839787" y="5536590"/>
          <a:ext cx="12001500" cy="2708672"/>
        </p:xfrm>
        <a:graphic>
          <a:graphicData uri="http://schemas.openxmlformats.org/presentationml/2006/ole">
            <mc:AlternateContent xmlns:mc="http://schemas.openxmlformats.org/markup-compatibility/2006">
              <mc:Choice xmlns:v="urn:schemas-microsoft-com:vml" Requires="v">
                <p:oleObj spid="_x0000_s6160" name="Picture" r:id="rId2" imgW="22288500" imgH="5143500" progId="Word.Picture.8">
                  <p:embed/>
                </p:oleObj>
              </mc:Choice>
              <mc:Fallback>
                <p:oleObj name="Picture" r:id="rId2" imgW="22288500" imgH="5143500" progId="Word.Picture.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7" y="5536590"/>
                        <a:ext cx="12001500" cy="2708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4516705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1025525" y="0"/>
            <a:ext cx="11630025" cy="1000125"/>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Method Matching vs. Binding</a:t>
            </a:r>
          </a:p>
        </p:txBody>
      </p:sp>
      <p:sp>
        <p:nvSpPr>
          <p:cNvPr id="69636" name="Rectangle 3"/>
          <p:cNvSpPr>
            <a:spLocks noGrp="1" noChangeArrowheads="1"/>
          </p:cNvSpPr>
          <p:nvPr>
            <p:ph type="body" idx="1"/>
          </p:nvPr>
        </p:nvSpPr>
        <p:spPr>
          <a:xfrm>
            <a:off x="341313" y="1300163"/>
            <a:ext cx="12314237" cy="6350939"/>
          </a:xfrm>
          <a:noFill/>
        </p:spPr>
        <p:txBody>
          <a:bodyPr/>
          <a:lstStyle/>
          <a:p>
            <a:pPr marL="627063" indent="-538163" algn="just">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Matching a method signature and binding a method implementation are two issues. </a:t>
            </a:r>
          </a:p>
          <a:p>
            <a:pPr marL="627063" indent="-538163" algn="just">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The compiler finds a matching method according to parameter type, number of parameters, and order of the parameters at compilation time. </a:t>
            </a:r>
          </a:p>
          <a:p>
            <a:pPr marL="627063" indent="-538163" algn="just">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A method may be implemented in several subclasses. </a:t>
            </a:r>
          </a:p>
          <a:p>
            <a:pPr marL="627063" indent="-538163" algn="just">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The Java Virtual Machine dynamically binds the implementation of the method at runtime.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animEffect transition="in" filter="strips(downLeft)">
                                      <p:cBhvr>
                                        <p:cTn id="7" dur="500"/>
                                        <p:tgtEl>
                                          <p:spTgt spid="696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9636">
                                            <p:txEl>
                                              <p:pRg st="1" end="1"/>
                                            </p:txEl>
                                          </p:spTgt>
                                        </p:tgtEl>
                                        <p:attrNameLst>
                                          <p:attrName>style.visibility</p:attrName>
                                        </p:attrNameLst>
                                      </p:cBhvr>
                                      <p:to>
                                        <p:strVal val="visible"/>
                                      </p:to>
                                    </p:set>
                                    <p:animEffect transition="in" filter="strips(downLeft)">
                                      <p:cBhvr>
                                        <p:cTn id="12" dur="500"/>
                                        <p:tgtEl>
                                          <p:spTgt spid="696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9636">
                                            <p:txEl>
                                              <p:pRg st="2" end="2"/>
                                            </p:txEl>
                                          </p:spTgt>
                                        </p:tgtEl>
                                        <p:attrNameLst>
                                          <p:attrName>style.visibility</p:attrName>
                                        </p:attrNameLst>
                                      </p:cBhvr>
                                      <p:to>
                                        <p:strVal val="visible"/>
                                      </p:to>
                                    </p:set>
                                    <p:anim calcmode="lin" valueType="num">
                                      <p:cBhvr additive="base">
                                        <p:cTn id="17" dur="500" fill="hold"/>
                                        <p:tgtEl>
                                          <p:spTgt spid="6963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96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69636">
                                            <p:txEl>
                                              <p:pRg st="3" end="3"/>
                                            </p:txEl>
                                          </p:spTgt>
                                        </p:tgtEl>
                                        <p:attrNameLst>
                                          <p:attrName>style.visibility</p:attrName>
                                        </p:attrNameLst>
                                      </p:cBhvr>
                                      <p:to>
                                        <p:strVal val="visible"/>
                                      </p:to>
                                    </p:set>
                                    <p:animEffect transition="in" filter="strips(downLeft)">
                                      <p:cBhvr>
                                        <p:cTn id="23" dur="500"/>
                                        <p:tgtEl>
                                          <p:spTgt spid="6963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xfrm>
            <a:off x="341313" y="4763"/>
            <a:ext cx="13111162" cy="900112"/>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Generic Programming</a:t>
            </a:r>
          </a:p>
        </p:txBody>
      </p:sp>
      <p:sp>
        <p:nvSpPr>
          <p:cNvPr id="69636" name="Text Box 3"/>
          <p:cNvSpPr txBox="1">
            <a:spLocks noChangeArrowheads="1"/>
          </p:cNvSpPr>
          <p:nvPr/>
        </p:nvSpPr>
        <p:spPr bwMode="auto">
          <a:xfrm>
            <a:off x="228600" y="1100138"/>
            <a:ext cx="6156325" cy="7194550"/>
          </a:xfrm>
          <a:prstGeom prst="rect">
            <a:avLst/>
          </a:prstGeom>
          <a:solidFill>
            <a:schemeClr val="tx2">
              <a:lumMod val="20000"/>
              <a:lumOff val="80000"/>
            </a:schemeClr>
          </a:solidFill>
          <a:ln w="12700">
            <a:noFill/>
            <a:miter lim="800000"/>
            <a:headEnd type="none" w="sm" len="sm"/>
            <a:tailEnd type="none" w="sm" len="sm"/>
          </a:ln>
        </p:spPr>
        <p:txBody>
          <a:bodyPr lIns="129522" tIns="194282" rIns="129522" bIns="64764">
            <a:spAutoFit/>
          </a:bodyPr>
          <a:lstStyle/>
          <a:p>
            <a:pPr>
              <a:lnSpc>
                <a:spcPct val="50000"/>
              </a:lnSpc>
              <a:spcBef>
                <a:spcPct val="50000"/>
              </a:spcBef>
            </a:pPr>
            <a:r>
              <a:rPr lang="en-US" sz="1700" dirty="0">
                <a:solidFill>
                  <a:schemeClr val="bg2"/>
                </a:solidFill>
                <a:latin typeface="Courier New" pitchFamily="49" charset="0"/>
                <a:cs typeface="Times New Roman" pitchFamily="18" charset="0"/>
              </a:rPr>
              <a:t>public class </a:t>
            </a:r>
            <a:r>
              <a:rPr lang="en-US" sz="1700" dirty="0" err="1">
                <a:solidFill>
                  <a:schemeClr val="bg2"/>
                </a:solidFill>
                <a:latin typeface="Courier New" pitchFamily="49" charset="0"/>
                <a:cs typeface="Times New Roman" pitchFamily="18" charset="0"/>
              </a:rPr>
              <a:t>PolymorphismDemo</a:t>
            </a: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public static void main(String[] </a:t>
            </a:r>
            <a:r>
              <a:rPr lang="en-US" sz="1700" dirty="0" err="1">
                <a:solidFill>
                  <a:schemeClr val="bg2"/>
                </a:solidFill>
                <a:latin typeface="Courier New" pitchFamily="49" charset="0"/>
                <a:cs typeface="Times New Roman" pitchFamily="18" charset="0"/>
              </a:rPr>
              <a:t>args</a:t>
            </a: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m(new </a:t>
            </a:r>
            <a:r>
              <a:rPr lang="en-US" sz="1700" dirty="0" err="1">
                <a:solidFill>
                  <a:schemeClr val="bg2"/>
                </a:solidFill>
                <a:latin typeface="Courier New" pitchFamily="49" charset="0"/>
                <a:cs typeface="Times New Roman" pitchFamily="18" charset="0"/>
              </a:rPr>
              <a:t>GraduateStudent</a:t>
            </a:r>
            <a:r>
              <a:rPr lang="en-US" sz="1700" dirty="0">
                <a:solidFill>
                  <a:schemeClr val="bg2"/>
                </a:solidFill>
                <a:latin typeface="Courier New" pitchFamily="49" charset="0"/>
                <a:cs typeface="Times New Roman" pitchFamily="18" charset="0"/>
              </a:rPr>
              <a:t>());</a:t>
            </a:r>
          </a:p>
          <a:p>
            <a:pPr>
              <a:lnSpc>
                <a:spcPct val="50000"/>
              </a:lnSpc>
              <a:spcBef>
                <a:spcPct val="50000"/>
              </a:spcBef>
            </a:pPr>
            <a:r>
              <a:rPr lang="en-US" sz="1700" dirty="0">
                <a:solidFill>
                  <a:schemeClr val="bg2"/>
                </a:solidFill>
                <a:latin typeface="Courier New" pitchFamily="49" charset="0"/>
                <a:cs typeface="Times New Roman" pitchFamily="18" charset="0"/>
              </a:rPr>
              <a:t>    m(new Student());</a:t>
            </a:r>
          </a:p>
          <a:p>
            <a:pPr>
              <a:lnSpc>
                <a:spcPct val="50000"/>
              </a:lnSpc>
              <a:spcBef>
                <a:spcPct val="50000"/>
              </a:spcBef>
            </a:pPr>
            <a:r>
              <a:rPr lang="en-US" sz="1700" dirty="0">
                <a:solidFill>
                  <a:schemeClr val="bg2"/>
                </a:solidFill>
                <a:latin typeface="Courier New" pitchFamily="49" charset="0"/>
                <a:cs typeface="Times New Roman" pitchFamily="18" charset="0"/>
              </a:rPr>
              <a:t>    m(new Person());</a:t>
            </a:r>
          </a:p>
          <a:p>
            <a:pPr>
              <a:lnSpc>
                <a:spcPct val="50000"/>
              </a:lnSpc>
              <a:spcBef>
                <a:spcPct val="50000"/>
              </a:spcBef>
            </a:pPr>
            <a:r>
              <a:rPr lang="en-US" sz="1700" dirty="0">
                <a:solidFill>
                  <a:schemeClr val="bg2"/>
                </a:solidFill>
                <a:latin typeface="Courier New" pitchFamily="49" charset="0"/>
                <a:cs typeface="Times New Roman" pitchFamily="18" charset="0"/>
              </a:rPr>
              <a:t>    m(new Object());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public static void m(Object x) {</a:t>
            </a:r>
          </a:p>
          <a:p>
            <a:pPr>
              <a:lnSpc>
                <a:spcPct val="50000"/>
              </a:lnSpc>
              <a:spcBef>
                <a:spcPct val="50000"/>
              </a:spcBef>
            </a:pPr>
            <a:r>
              <a:rPr lang="en-US" sz="1700" dirty="0">
                <a:solidFill>
                  <a:schemeClr val="bg2"/>
                </a:solidFill>
                <a:latin typeface="Courier New" pitchFamily="49" charset="0"/>
                <a:cs typeface="Times New Roman" pitchFamily="18" charset="0"/>
              </a:rPr>
              <a:t>    </a:t>
            </a:r>
            <a:r>
              <a:rPr lang="en-US" sz="1700" dirty="0" err="1">
                <a:solidFill>
                  <a:schemeClr val="bg2"/>
                </a:solidFill>
                <a:latin typeface="Courier New" pitchFamily="49" charset="0"/>
                <a:cs typeface="Times New Roman" pitchFamily="18" charset="0"/>
              </a:rPr>
              <a:t>System.out.println</a:t>
            </a:r>
            <a:r>
              <a:rPr lang="en-US" sz="1700" dirty="0">
                <a:solidFill>
                  <a:schemeClr val="bg2"/>
                </a:solidFill>
                <a:latin typeface="Courier New" pitchFamily="49" charset="0"/>
                <a:cs typeface="Times New Roman" pitchFamily="18" charset="0"/>
              </a:rPr>
              <a:t>(</a:t>
            </a:r>
            <a:r>
              <a:rPr lang="en-US" sz="1700" dirty="0" err="1">
                <a:solidFill>
                  <a:schemeClr val="bg2"/>
                </a:solidFill>
                <a:latin typeface="Courier New" pitchFamily="49" charset="0"/>
                <a:cs typeface="Times New Roman" pitchFamily="18" charset="0"/>
              </a:rPr>
              <a:t>x.toString</a:t>
            </a:r>
            <a:r>
              <a:rPr lang="en-US" sz="1700" dirty="0">
                <a:solidFill>
                  <a:schemeClr val="bg2"/>
                </a:solidFill>
                <a:latin typeface="Courier New" pitchFamily="49" charset="0"/>
                <a:cs typeface="Times New Roman" pitchFamily="18" charset="0"/>
              </a:rPr>
              <a: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class </a:t>
            </a:r>
            <a:r>
              <a:rPr lang="en-US" sz="1700" dirty="0" err="1">
                <a:solidFill>
                  <a:schemeClr val="bg2"/>
                </a:solidFill>
                <a:latin typeface="Courier New" pitchFamily="49" charset="0"/>
                <a:cs typeface="Times New Roman" pitchFamily="18" charset="0"/>
              </a:rPr>
              <a:t>GraduateStudent</a:t>
            </a:r>
            <a:r>
              <a:rPr lang="en-US" sz="1700" dirty="0">
                <a:solidFill>
                  <a:schemeClr val="bg2"/>
                </a:solidFill>
                <a:latin typeface="Courier New" pitchFamily="49" charset="0"/>
                <a:cs typeface="Times New Roman" pitchFamily="18" charset="0"/>
              </a:rPr>
              <a:t> extends Student {</a:t>
            </a:r>
          </a:p>
          <a:p>
            <a:pPr>
              <a:lnSpc>
                <a:spcPct val="50000"/>
              </a:lnSpc>
              <a:spcBef>
                <a:spcPct val="50000"/>
              </a:spcBef>
            </a:pPr>
            <a:r>
              <a:rPr lang="en-US" sz="1700" dirty="0">
                <a:solidFill>
                  <a:schemeClr val="bg2"/>
                </a:solidFill>
                <a:latin typeface="Courier New" pitchFamily="49" charset="0"/>
                <a:cs typeface="Times New Roman" pitchFamily="18" charset="0"/>
              </a:rPr>
              <a: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class Student extends Person {</a:t>
            </a:r>
          </a:p>
          <a:p>
            <a:pPr>
              <a:lnSpc>
                <a:spcPct val="50000"/>
              </a:lnSpc>
              <a:spcBef>
                <a:spcPct val="50000"/>
              </a:spcBef>
            </a:pPr>
            <a:r>
              <a:rPr lang="en-US" sz="1700" dirty="0">
                <a:solidFill>
                  <a:schemeClr val="bg2"/>
                </a:solidFill>
                <a:latin typeface="Courier New" pitchFamily="49" charset="0"/>
                <a:cs typeface="Times New Roman" pitchFamily="18" charset="0"/>
              </a:rPr>
              <a:t>  public String </a:t>
            </a:r>
            <a:r>
              <a:rPr lang="en-US" sz="1700" dirty="0" err="1">
                <a:solidFill>
                  <a:schemeClr val="bg2"/>
                </a:solidFill>
                <a:latin typeface="Courier New" pitchFamily="49" charset="0"/>
                <a:cs typeface="Times New Roman" pitchFamily="18" charset="0"/>
              </a:rPr>
              <a:t>toString</a:t>
            </a: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return "Student";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class Person extends Object {</a:t>
            </a:r>
          </a:p>
          <a:p>
            <a:pPr>
              <a:lnSpc>
                <a:spcPct val="50000"/>
              </a:lnSpc>
              <a:spcBef>
                <a:spcPct val="50000"/>
              </a:spcBef>
            </a:pPr>
            <a:r>
              <a:rPr lang="en-US" sz="1700" dirty="0">
                <a:solidFill>
                  <a:schemeClr val="bg2"/>
                </a:solidFill>
                <a:latin typeface="Courier New" pitchFamily="49" charset="0"/>
                <a:cs typeface="Times New Roman" pitchFamily="18" charset="0"/>
              </a:rPr>
              <a:t>  public String </a:t>
            </a:r>
            <a:r>
              <a:rPr lang="en-US" sz="1700" dirty="0" err="1">
                <a:solidFill>
                  <a:schemeClr val="bg2"/>
                </a:solidFill>
                <a:latin typeface="Courier New" pitchFamily="49" charset="0"/>
                <a:cs typeface="Times New Roman" pitchFamily="18" charset="0"/>
              </a:rPr>
              <a:t>toString</a:t>
            </a: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    return "Person";</a:t>
            </a:r>
          </a:p>
          <a:p>
            <a:pPr>
              <a:lnSpc>
                <a:spcPct val="50000"/>
              </a:lnSpc>
              <a:spcBef>
                <a:spcPct val="50000"/>
              </a:spcBef>
            </a:pPr>
            <a:r>
              <a:rPr lang="en-US" sz="1700" dirty="0">
                <a:solidFill>
                  <a:schemeClr val="bg2"/>
                </a:solidFill>
                <a:latin typeface="Courier New" pitchFamily="49" charset="0"/>
                <a:cs typeface="Times New Roman" pitchFamily="18" charset="0"/>
              </a:rPr>
              <a:t>  }</a:t>
            </a:r>
          </a:p>
          <a:p>
            <a:pPr>
              <a:lnSpc>
                <a:spcPct val="50000"/>
              </a:lnSpc>
              <a:spcBef>
                <a:spcPct val="50000"/>
              </a:spcBef>
            </a:pPr>
            <a:r>
              <a:rPr lang="en-US" sz="1700" dirty="0">
                <a:solidFill>
                  <a:schemeClr val="bg2"/>
                </a:solidFill>
                <a:latin typeface="Courier New" pitchFamily="49" charset="0"/>
                <a:cs typeface="Times New Roman" pitchFamily="18" charset="0"/>
              </a:rPr>
              <a:t>}</a:t>
            </a:r>
          </a:p>
        </p:txBody>
      </p:sp>
      <p:sp>
        <p:nvSpPr>
          <p:cNvPr id="69637" name="Rectangle 7"/>
          <p:cNvSpPr>
            <a:spLocks noGrp="1" noChangeArrowheads="1"/>
          </p:cNvSpPr>
          <p:nvPr>
            <p:ph type="body" idx="1"/>
          </p:nvPr>
        </p:nvSpPr>
        <p:spPr>
          <a:xfrm>
            <a:off x="6611938" y="1100138"/>
            <a:ext cx="6727825" cy="6265862"/>
          </a:xfrm>
          <a:noFill/>
        </p:spPr>
        <p:txBody>
          <a:bodyPr/>
          <a:lstStyle/>
          <a:p>
            <a:pPr marL="0" indent="0">
              <a:lnSpc>
                <a:spcPct val="90000"/>
              </a:lnSpc>
              <a:buFont typeface="Monotype Sorts" pitchFamily="2" charset="2"/>
              <a:buNone/>
            </a:pPr>
            <a:r>
              <a:rPr lang="en-US" sz="2800" dirty="0">
                <a:latin typeface="Times New Roman" panose="02020603050405020304" pitchFamily="18" charset="0"/>
                <a:cs typeface="Times New Roman" panose="02020603050405020304" pitchFamily="18" charset="0"/>
              </a:rPr>
              <a:t>Polymorphism allows methods to be used generically for a wide range of object arguments. This is known as generic programming. </a:t>
            </a:r>
          </a:p>
          <a:p>
            <a:pPr marL="0" indent="0">
              <a:lnSpc>
                <a:spcPct val="90000"/>
              </a:lnSpc>
              <a:buFont typeface="Monotype Sorts" pitchFamily="2" charset="2"/>
              <a:buNone/>
            </a:pPr>
            <a:r>
              <a:rPr lang="en-US" sz="2800" dirty="0">
                <a:latin typeface="Times New Roman" panose="02020603050405020304" pitchFamily="18" charset="0"/>
                <a:cs typeface="Times New Roman" panose="02020603050405020304" pitchFamily="18" charset="0"/>
              </a:rPr>
              <a:t>If a method’s parameter type is a </a:t>
            </a:r>
            <a:r>
              <a:rPr lang="en-US" sz="2800" dirty="0" err="1">
                <a:latin typeface="Times New Roman" panose="02020603050405020304" pitchFamily="18" charset="0"/>
                <a:cs typeface="Times New Roman" panose="02020603050405020304" pitchFamily="18" charset="0"/>
              </a:rPr>
              <a:t>superclass</a:t>
            </a:r>
            <a:r>
              <a:rPr lang="en-US" sz="2800" dirty="0">
                <a:latin typeface="Times New Roman" panose="02020603050405020304" pitchFamily="18" charset="0"/>
                <a:cs typeface="Times New Roman" panose="02020603050405020304" pitchFamily="18" charset="0"/>
              </a:rPr>
              <a:t> (e.g., Object), you may pass an object to this method of any of the parameter’s subclasses (e.g., Student or String). </a:t>
            </a:r>
          </a:p>
          <a:p>
            <a:pPr marL="0" indent="0">
              <a:lnSpc>
                <a:spcPct val="90000"/>
              </a:lnSpc>
              <a:buFont typeface="Monotype Sorts" pitchFamily="2" charset="2"/>
              <a:buNone/>
            </a:pPr>
            <a:r>
              <a:rPr lang="en-US" sz="2800" dirty="0">
                <a:latin typeface="Times New Roman" panose="02020603050405020304" pitchFamily="18" charset="0"/>
                <a:cs typeface="Times New Roman" panose="02020603050405020304" pitchFamily="18" charset="0"/>
              </a:rPr>
              <a:t>When an object (e.g., a Student object or a String object) is used in the method, the particular implementation of the method of the object that is invoked (e.g., </a:t>
            </a:r>
            <a:r>
              <a:rPr lang="en-US" sz="2800" dirty="0" err="1">
                <a:latin typeface="Times New Roman" panose="02020603050405020304" pitchFamily="18" charset="0"/>
                <a:cs typeface="Times New Roman" panose="02020603050405020304" pitchFamily="18" charset="0"/>
              </a:rPr>
              <a:t>toString</a:t>
            </a:r>
            <a:r>
              <a:rPr lang="en-US" sz="2800" dirty="0">
                <a:latin typeface="Times New Roman" panose="02020603050405020304" pitchFamily="18" charset="0"/>
                <a:cs typeface="Times New Roman" panose="02020603050405020304" pitchFamily="18" charset="0"/>
              </a:rPr>
              <a:t>) is determined dynamically.</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strips(downLeft)">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9637">
                                            <p:txEl>
                                              <p:pRg st="0" end="0"/>
                                            </p:txEl>
                                          </p:spTgt>
                                        </p:tgtEl>
                                        <p:attrNameLst>
                                          <p:attrName>style.visibility</p:attrName>
                                        </p:attrNameLst>
                                      </p:cBhvr>
                                      <p:to>
                                        <p:strVal val="visible"/>
                                      </p:to>
                                    </p:set>
                                    <p:animEffect transition="in" filter="barn(inHorizontal)">
                                      <p:cBhvr>
                                        <p:cTn id="12" dur="500"/>
                                        <p:tgtEl>
                                          <p:spTgt spid="696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9637">
                                            <p:txEl>
                                              <p:pRg st="1" end="1"/>
                                            </p:txEl>
                                          </p:spTgt>
                                        </p:tgtEl>
                                        <p:attrNameLst>
                                          <p:attrName>style.visibility</p:attrName>
                                        </p:attrNameLst>
                                      </p:cBhvr>
                                      <p:to>
                                        <p:strVal val="visible"/>
                                      </p:to>
                                    </p:set>
                                    <p:anim calcmode="lin" valueType="num">
                                      <p:cBhvr additive="base">
                                        <p:cTn id="17" dur="500" fill="hold"/>
                                        <p:tgtEl>
                                          <p:spTgt spid="6963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96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69637">
                                            <p:txEl>
                                              <p:pRg st="2" end="2"/>
                                            </p:txEl>
                                          </p:spTgt>
                                        </p:tgtEl>
                                        <p:attrNameLst>
                                          <p:attrName>style.visibility</p:attrName>
                                        </p:attrNameLst>
                                      </p:cBhvr>
                                      <p:to>
                                        <p:strVal val="visible"/>
                                      </p:to>
                                    </p:set>
                                    <p:animEffect transition="in" filter="slide(fromBottom)">
                                      <p:cBhvr>
                                        <p:cTn id="23" dur="500"/>
                                        <p:tgtEl>
                                          <p:spTgt spid="696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1026081" y="300037"/>
            <a:ext cx="11628914" cy="900113"/>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What is Generics? </a:t>
            </a:r>
          </a:p>
        </p:txBody>
      </p:sp>
      <p:sp>
        <p:nvSpPr>
          <p:cNvPr id="11268" name="Rectangle 3"/>
          <p:cNvSpPr>
            <a:spLocks noGrp="1" noChangeArrowheads="1"/>
          </p:cNvSpPr>
          <p:nvPr>
            <p:ph type="body" idx="1"/>
          </p:nvPr>
        </p:nvSpPr>
        <p:spPr>
          <a:xfrm>
            <a:off x="342027" y="1600200"/>
            <a:ext cx="12997021" cy="6600825"/>
          </a:xfrm>
        </p:spPr>
        <p:txBody>
          <a:bodyPr/>
          <a:lstStyle/>
          <a:p>
            <a:pPr marL="0" indent="0" algn="just">
              <a:buNone/>
            </a:pPr>
            <a:r>
              <a:rPr lang="en-US" altLang="en-US" i="1" dirty="0">
                <a:latin typeface="Times New Roman" panose="02020603050405020304" pitchFamily="18" charset="0"/>
                <a:cs typeface="Times New Roman" panose="02020603050405020304" pitchFamily="18" charset="0"/>
              </a:rPr>
              <a:t>Generics</a:t>
            </a:r>
            <a:r>
              <a:rPr lang="en-US" altLang="en-US" dirty="0">
                <a:latin typeface="Times New Roman" panose="02020603050405020304" pitchFamily="18" charset="0"/>
                <a:cs typeface="Times New Roman" panose="02020603050405020304" pitchFamily="18" charset="0"/>
              </a:rPr>
              <a:t> is the capability to parameterize types. With this capability, you can define a class or a method with generic types that can be substituted using concrete types by the compiler. For example, you may define a generic stack class that stores the elements of a generic type. From this generic class, you may create a stack object for holding strings and a stack object for holding numbers. Here, strings and numbers are concrete types that replace the generic type.</a:t>
            </a:r>
          </a:p>
        </p:txBody>
      </p:sp>
    </p:spTree>
    <p:extLst>
      <p:ext uri="{BB962C8B-B14F-4D97-AF65-F5344CB8AC3E}">
        <p14:creationId xmlns:p14="http://schemas.microsoft.com/office/powerpoint/2010/main" val="1607843046"/>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026081" y="300037"/>
            <a:ext cx="11628914" cy="900113"/>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Why Generics? </a:t>
            </a:r>
          </a:p>
        </p:txBody>
      </p:sp>
      <p:sp>
        <p:nvSpPr>
          <p:cNvPr id="13316" name="Rectangle 3"/>
          <p:cNvSpPr>
            <a:spLocks noGrp="1" noChangeArrowheads="1"/>
          </p:cNvSpPr>
          <p:nvPr>
            <p:ph type="body" idx="1"/>
          </p:nvPr>
        </p:nvSpPr>
        <p:spPr>
          <a:xfrm>
            <a:off x="342027" y="1600200"/>
            <a:ext cx="12997021" cy="6600825"/>
          </a:xfrm>
        </p:spPr>
        <p:txBody>
          <a:bodyPr/>
          <a:lstStyle/>
          <a:p>
            <a:pPr marL="0" indent="0">
              <a:buNone/>
            </a:pPr>
            <a:r>
              <a:rPr lang="en-US" altLang="en-US" sz="4000" dirty="0">
                <a:latin typeface="Times New Roman" panose="02020603050405020304" pitchFamily="18" charset="0"/>
                <a:cs typeface="Times New Roman" panose="02020603050405020304" pitchFamily="18" charset="0"/>
              </a:rPr>
              <a:t>The key benefit of generics is to enable errors to be detected at compile time rather than at runtime. A generic class or method permits you to specify allowable types of objects that the class or method may work with. If you attempt to use the class or method with an incompatible object, a compile error occurs.</a:t>
            </a:r>
          </a:p>
        </p:txBody>
      </p:sp>
    </p:spTree>
    <p:extLst>
      <p:ext uri="{BB962C8B-B14F-4D97-AF65-F5344CB8AC3E}">
        <p14:creationId xmlns:p14="http://schemas.microsoft.com/office/powerpoint/2010/main" val="825687214"/>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7068555" y="400050"/>
            <a:ext cx="5928466" cy="900113"/>
          </a:xfrm>
        </p:spPr>
        <p:txBody>
          <a:bodyPr lIns="129607" tIns="64804" rIns="129607" bIns="64804"/>
          <a:lstStyle/>
          <a:p>
            <a:pPr algn="l"/>
            <a:r>
              <a:rPr lang="en-US" altLang="en-US" sz="4800" dirty="0">
                <a:solidFill>
                  <a:schemeClr val="tx1"/>
                </a:solidFill>
                <a:latin typeface="Times New Roman" panose="02020603050405020304" pitchFamily="18" charset="0"/>
                <a:cs typeface="Times New Roman" panose="02020603050405020304" pitchFamily="18" charset="0"/>
              </a:rPr>
              <a:t>Generic Type</a:t>
            </a:r>
          </a:p>
        </p:txBody>
      </p:sp>
      <p:sp>
        <p:nvSpPr>
          <p:cNvPr id="15364" name="Rectangle 3"/>
          <p:cNvSpPr>
            <a:spLocks noChangeArrowheads="1"/>
          </p:cNvSpPr>
          <p:nvPr/>
        </p:nvSpPr>
        <p:spPr bwMode="auto">
          <a:xfrm>
            <a:off x="0" y="3463011"/>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15365" name="Rectangle 4"/>
          <p:cNvSpPr>
            <a:spLocks noChangeArrowheads="1"/>
          </p:cNvSpPr>
          <p:nvPr/>
        </p:nvSpPr>
        <p:spPr bwMode="auto">
          <a:xfrm>
            <a:off x="0" y="3463011"/>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15366" name="Object 5"/>
          <p:cNvGraphicFramePr>
            <a:graphicFrameLocks noChangeAspect="1"/>
          </p:cNvGraphicFramePr>
          <p:nvPr/>
        </p:nvGraphicFramePr>
        <p:xfrm>
          <a:off x="346777" y="1704380"/>
          <a:ext cx="12987521" cy="2437805"/>
        </p:xfrm>
        <a:graphic>
          <a:graphicData uri="http://schemas.openxmlformats.org/presentationml/2006/ole">
            <mc:AlternateContent xmlns:mc="http://schemas.openxmlformats.org/markup-compatibility/2006">
              <mc:Choice xmlns:v="urn:schemas-microsoft-com:vml" Requires="v">
                <p:oleObj spid="_x0000_s7192" name="Picture" r:id="rId3" imgW="5041900" imgH="1079500" progId="Word.Picture.8">
                  <p:embed/>
                </p:oleObj>
              </mc:Choice>
              <mc:Fallback>
                <p:oleObj name="Picture" r:id="rId3" imgW="5041900" imgH="1079500" progId="Word.Picture.8">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77" y="1704380"/>
                        <a:ext cx="12987521" cy="24378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Rectangle 6"/>
          <p:cNvSpPr>
            <a:spLocks noChangeArrowheads="1"/>
          </p:cNvSpPr>
          <p:nvPr/>
        </p:nvSpPr>
        <p:spPr bwMode="auto">
          <a:xfrm>
            <a:off x="6726528" y="4500562"/>
            <a:ext cx="6498511"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r>
              <a:rPr lang="en-US" altLang="en-US" sz="4800" dirty="0"/>
              <a:t>Generic Instantiation </a:t>
            </a:r>
          </a:p>
        </p:txBody>
      </p:sp>
      <p:sp>
        <p:nvSpPr>
          <p:cNvPr id="238599" name="Text Box 7"/>
          <p:cNvSpPr txBox="1">
            <a:spLocks noChangeArrowheads="1"/>
          </p:cNvSpPr>
          <p:nvPr/>
        </p:nvSpPr>
        <p:spPr bwMode="auto">
          <a:xfrm>
            <a:off x="2394188" y="4900612"/>
            <a:ext cx="3078242"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50000"/>
              </a:spcBef>
              <a:buClrTx/>
              <a:buSzTx/>
              <a:buFontTx/>
              <a:buNone/>
            </a:pPr>
            <a:r>
              <a:rPr lang="en-US" altLang="en-US" sz="3400"/>
              <a:t>Runtime error</a:t>
            </a:r>
          </a:p>
        </p:txBody>
      </p:sp>
      <p:sp>
        <p:nvSpPr>
          <p:cNvPr id="238600" name="Text Box 8"/>
          <p:cNvSpPr txBox="1">
            <a:spLocks noChangeArrowheads="1"/>
          </p:cNvSpPr>
          <p:nvPr/>
        </p:nvSpPr>
        <p:spPr bwMode="auto">
          <a:xfrm>
            <a:off x="10032788" y="7800975"/>
            <a:ext cx="2964233"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50000"/>
              </a:spcBef>
              <a:buClrTx/>
              <a:buSzTx/>
              <a:buFontTx/>
              <a:buNone/>
            </a:pPr>
            <a:r>
              <a:rPr lang="en-US" altLang="en-US" sz="3400"/>
              <a:t>Compile error</a:t>
            </a:r>
          </a:p>
        </p:txBody>
      </p:sp>
      <p:sp>
        <p:nvSpPr>
          <p:cNvPr id="15370" name="Rectangle 9"/>
          <p:cNvSpPr>
            <a:spLocks noChangeArrowheads="1"/>
          </p:cNvSpPr>
          <p:nvPr/>
        </p:nvSpPr>
        <p:spPr bwMode="auto">
          <a:xfrm>
            <a:off x="0" y="373804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15371" name="Object 10"/>
          <p:cNvGraphicFramePr>
            <a:graphicFrameLocks noChangeAspect="1"/>
          </p:cNvGraphicFramePr>
          <p:nvPr/>
        </p:nvGraphicFramePr>
        <p:xfrm>
          <a:off x="216144" y="5800725"/>
          <a:ext cx="13464932" cy="1510606"/>
        </p:xfrm>
        <a:graphic>
          <a:graphicData uri="http://schemas.openxmlformats.org/presentationml/2006/ole">
            <mc:AlternateContent xmlns:mc="http://schemas.openxmlformats.org/markup-compatibility/2006">
              <mc:Choice xmlns:v="urn:schemas-microsoft-com:vml" Requires="v">
                <p:oleObj spid="_x0000_s7193" name="Picture" r:id="rId5" imgW="5171457" imgH="666401" progId="Word.Picture.8">
                  <p:embed/>
                </p:oleObj>
              </mc:Choice>
              <mc:Fallback>
                <p:oleObj name="Picture" r:id="rId5" imgW="5171457" imgH="666401" progId="Word.Picture.8">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144" y="5800725"/>
                        <a:ext cx="13464932" cy="1510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603" name="Line 11"/>
          <p:cNvSpPr>
            <a:spLocks noChangeShapeType="1"/>
          </p:cNvSpPr>
          <p:nvPr/>
        </p:nvSpPr>
        <p:spPr bwMode="auto">
          <a:xfrm>
            <a:off x="4104322" y="5400675"/>
            <a:ext cx="798063" cy="100012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lstStyle/>
          <a:p>
            <a:endParaRPr lang="en-MY"/>
          </a:p>
        </p:txBody>
      </p:sp>
      <p:sp>
        <p:nvSpPr>
          <p:cNvPr id="238604" name="Line 12"/>
          <p:cNvSpPr>
            <a:spLocks noChangeShapeType="1"/>
          </p:cNvSpPr>
          <p:nvPr/>
        </p:nvSpPr>
        <p:spPr bwMode="auto">
          <a:xfrm flipH="1" flipV="1">
            <a:off x="11742923" y="6600825"/>
            <a:ext cx="0" cy="1400175"/>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lstStyle/>
          <a:p>
            <a:endParaRPr lang="en-MY"/>
          </a:p>
        </p:txBody>
      </p:sp>
      <p:sp>
        <p:nvSpPr>
          <p:cNvPr id="15374" name="Rectangle 13"/>
          <p:cNvSpPr>
            <a:spLocks noChangeArrowheads="1"/>
          </p:cNvSpPr>
          <p:nvPr/>
        </p:nvSpPr>
        <p:spPr bwMode="auto">
          <a:xfrm>
            <a:off x="5358421" y="7600950"/>
            <a:ext cx="4218331"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nSpc>
                <a:spcPct val="90000"/>
              </a:lnSpc>
              <a:buFont typeface="Monotype Sorts"/>
              <a:buNone/>
            </a:pPr>
            <a:r>
              <a:rPr lang="en-US" altLang="en-US" sz="3400"/>
              <a:t>Improves reliability</a:t>
            </a:r>
          </a:p>
        </p:txBody>
      </p:sp>
    </p:spTree>
    <p:extLst>
      <p:ext uri="{BB962C8B-B14F-4D97-AF65-F5344CB8AC3E}">
        <p14:creationId xmlns:p14="http://schemas.microsoft.com/office/powerpoint/2010/main" val="26798465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8599"/>
                                        </p:tgtEl>
                                        <p:attrNameLst>
                                          <p:attrName>style.visibility</p:attrName>
                                        </p:attrNameLst>
                                      </p:cBhvr>
                                      <p:to>
                                        <p:strVal val="visible"/>
                                      </p:to>
                                    </p:set>
                                    <p:anim calcmode="lin" valueType="num">
                                      <p:cBhvr additive="base">
                                        <p:cTn id="7" dur="500" fill="hold"/>
                                        <p:tgtEl>
                                          <p:spTgt spid="238599"/>
                                        </p:tgtEl>
                                        <p:attrNameLst>
                                          <p:attrName>ppt_x</p:attrName>
                                        </p:attrNameLst>
                                      </p:cBhvr>
                                      <p:tavLst>
                                        <p:tav tm="0">
                                          <p:val>
                                            <p:strVal val="#ppt_x"/>
                                          </p:val>
                                        </p:tav>
                                        <p:tav tm="100000">
                                          <p:val>
                                            <p:strVal val="#ppt_x"/>
                                          </p:val>
                                        </p:tav>
                                      </p:tavLst>
                                    </p:anim>
                                    <p:anim calcmode="lin" valueType="num">
                                      <p:cBhvr additive="base">
                                        <p:cTn id="8" dur="500" fill="hold"/>
                                        <p:tgtEl>
                                          <p:spTgt spid="238599"/>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38603"/>
                                        </p:tgtEl>
                                        <p:attrNameLst>
                                          <p:attrName>style.visibility</p:attrName>
                                        </p:attrNameLst>
                                      </p:cBhvr>
                                      <p:to>
                                        <p:strVal val="visible"/>
                                      </p:to>
                                    </p:set>
                                    <p:anim calcmode="lin" valueType="num">
                                      <p:cBhvr additive="base">
                                        <p:cTn id="12" dur="500" fill="hold"/>
                                        <p:tgtEl>
                                          <p:spTgt spid="238603"/>
                                        </p:tgtEl>
                                        <p:attrNameLst>
                                          <p:attrName>ppt_x</p:attrName>
                                        </p:attrNameLst>
                                      </p:cBhvr>
                                      <p:tavLst>
                                        <p:tav tm="0">
                                          <p:val>
                                            <p:strVal val="#ppt_x"/>
                                          </p:val>
                                        </p:tav>
                                        <p:tav tm="100000">
                                          <p:val>
                                            <p:strVal val="#ppt_x"/>
                                          </p:val>
                                        </p:tav>
                                      </p:tavLst>
                                    </p:anim>
                                    <p:anim calcmode="lin" valueType="num">
                                      <p:cBhvr additive="base">
                                        <p:cTn id="13" dur="500" fill="hold"/>
                                        <p:tgtEl>
                                          <p:spTgt spid="23860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8604"/>
                                        </p:tgtEl>
                                        <p:attrNameLst>
                                          <p:attrName>style.visibility</p:attrName>
                                        </p:attrNameLst>
                                      </p:cBhvr>
                                      <p:to>
                                        <p:strVal val="visible"/>
                                      </p:to>
                                    </p:set>
                                    <p:anim calcmode="lin" valueType="num">
                                      <p:cBhvr additive="base">
                                        <p:cTn id="18" dur="500" fill="hold"/>
                                        <p:tgtEl>
                                          <p:spTgt spid="238604"/>
                                        </p:tgtEl>
                                        <p:attrNameLst>
                                          <p:attrName>ppt_x</p:attrName>
                                        </p:attrNameLst>
                                      </p:cBhvr>
                                      <p:tavLst>
                                        <p:tav tm="0">
                                          <p:val>
                                            <p:strVal val="#ppt_x"/>
                                          </p:val>
                                        </p:tav>
                                        <p:tav tm="100000">
                                          <p:val>
                                            <p:strVal val="#ppt_x"/>
                                          </p:val>
                                        </p:tav>
                                      </p:tavLst>
                                    </p:anim>
                                    <p:anim calcmode="lin" valueType="num">
                                      <p:cBhvr additive="base">
                                        <p:cTn id="19" dur="500" fill="hold"/>
                                        <p:tgtEl>
                                          <p:spTgt spid="238604"/>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38600"/>
                                        </p:tgtEl>
                                        <p:attrNameLst>
                                          <p:attrName>style.visibility</p:attrName>
                                        </p:attrNameLst>
                                      </p:cBhvr>
                                      <p:to>
                                        <p:strVal val="visible"/>
                                      </p:to>
                                    </p:set>
                                    <p:anim calcmode="lin" valueType="num">
                                      <p:cBhvr additive="base">
                                        <p:cTn id="23" dur="500" fill="hold"/>
                                        <p:tgtEl>
                                          <p:spTgt spid="238600"/>
                                        </p:tgtEl>
                                        <p:attrNameLst>
                                          <p:attrName>ppt_x</p:attrName>
                                        </p:attrNameLst>
                                      </p:cBhvr>
                                      <p:tavLst>
                                        <p:tav tm="0">
                                          <p:val>
                                            <p:strVal val="#ppt_x"/>
                                          </p:val>
                                        </p:tav>
                                        <p:tav tm="100000">
                                          <p:val>
                                            <p:strVal val="#ppt_x"/>
                                          </p:val>
                                        </p:tav>
                                      </p:tavLst>
                                    </p:anim>
                                    <p:anim calcmode="lin" valueType="num">
                                      <p:cBhvr additive="base">
                                        <p:cTn id="24" dur="500" fill="hold"/>
                                        <p:tgtEl>
                                          <p:spTgt spid="2386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9" grpId="0" autoUpdateAnimBg="0"/>
      <p:bldP spid="238600" grpId="0" autoUpdateAnimBg="0"/>
      <p:bldP spid="238603" grpId="0" animBg="1"/>
      <p:bldP spid="23860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1025525" y="80963"/>
            <a:ext cx="11630025" cy="800100"/>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Casting Objects</a:t>
            </a:r>
          </a:p>
        </p:txBody>
      </p:sp>
      <p:sp>
        <p:nvSpPr>
          <p:cNvPr id="71684" name="Rectangle 3"/>
          <p:cNvSpPr>
            <a:spLocks noGrp="1" noChangeArrowheads="1"/>
          </p:cNvSpPr>
          <p:nvPr>
            <p:ph type="body" idx="1"/>
          </p:nvPr>
        </p:nvSpPr>
        <p:spPr>
          <a:xfrm>
            <a:off x="341313" y="1300163"/>
            <a:ext cx="12998450" cy="5791200"/>
          </a:xfrm>
          <a:noFill/>
        </p:spPr>
        <p:txBody>
          <a:bodyPr/>
          <a:lstStyle/>
          <a:p>
            <a:pPr marL="0" indent="0">
              <a:buFont typeface="Monotype Sorts" pitchFamily="2" charset="2"/>
              <a:buNone/>
              <a:tabLst>
                <a:tab pos="79375" algn="l"/>
                <a:tab pos="403225" algn="l"/>
              </a:tabLst>
            </a:pPr>
            <a:r>
              <a:rPr lang="en-US" sz="3200" dirty="0">
                <a:latin typeface="Times New Roman" panose="02020603050405020304" pitchFamily="18" charset="0"/>
                <a:cs typeface="Times New Roman" panose="02020603050405020304" pitchFamily="18" charset="0"/>
              </a:rPr>
              <a:t>You have already used the casting operator to convert variables of one primitive type to another. </a:t>
            </a:r>
            <a:r>
              <a:rPr lang="en-US" sz="3200" i="1" dirty="0">
                <a:latin typeface="Times New Roman" panose="02020603050405020304" pitchFamily="18" charset="0"/>
                <a:cs typeface="Times New Roman" panose="02020603050405020304" pitchFamily="18" charset="0"/>
              </a:rPr>
              <a:t>Casting</a:t>
            </a:r>
            <a:r>
              <a:rPr lang="en-US" sz="3200" dirty="0">
                <a:latin typeface="Times New Roman" panose="02020603050405020304" pitchFamily="18" charset="0"/>
                <a:cs typeface="Times New Roman" panose="02020603050405020304" pitchFamily="18" charset="0"/>
              </a:rPr>
              <a:t> can also be used to convert an object of one class type to another within an inheritance hierarchy. In the preceding section, the statement </a:t>
            </a:r>
          </a:p>
          <a:p>
            <a:pPr marL="889000" lvl="1" indent="-241300">
              <a:buFontTx/>
              <a:buNone/>
              <a:tabLst>
                <a:tab pos="79375" algn="l"/>
                <a:tab pos="403225" algn="l"/>
              </a:tabLst>
            </a:pPr>
            <a:r>
              <a:rPr lang="en-US" dirty="0">
                <a:latin typeface="Times New Roman" panose="02020603050405020304" pitchFamily="18" charset="0"/>
                <a:cs typeface="Times New Roman" panose="02020603050405020304" pitchFamily="18" charset="0"/>
              </a:rPr>
              <a:t>m(new Student());</a:t>
            </a:r>
          </a:p>
          <a:p>
            <a:pPr marL="0" indent="0" algn="ctr">
              <a:spcBef>
                <a:spcPct val="0"/>
              </a:spcBef>
              <a:buClrTx/>
              <a:buSzTx/>
              <a:buFont typeface="Monotype Sorts" pitchFamily="2" charset="2"/>
              <a:buNone/>
              <a:tabLst>
                <a:tab pos="79375" algn="l"/>
                <a:tab pos="403225" algn="l"/>
              </a:tabLst>
            </a:pPr>
            <a:endParaRPr lang="en-US" sz="3200" dirty="0">
              <a:latin typeface="Times New Roman" panose="02020603050405020304" pitchFamily="18" charset="0"/>
              <a:cs typeface="Times New Roman" panose="02020603050405020304" pitchFamily="18" charset="0"/>
            </a:endParaRPr>
          </a:p>
          <a:p>
            <a:pPr marL="0" indent="0">
              <a:spcBef>
                <a:spcPct val="0"/>
              </a:spcBef>
              <a:buClrTx/>
              <a:buSzTx/>
              <a:buFont typeface="Monotype Sorts" pitchFamily="2" charset="2"/>
              <a:buNone/>
              <a:tabLst>
                <a:tab pos="79375" algn="l"/>
                <a:tab pos="403225" algn="l"/>
              </a:tabLst>
            </a:pPr>
            <a:r>
              <a:rPr lang="en-US" sz="3200" dirty="0">
                <a:latin typeface="Times New Roman" panose="02020603050405020304" pitchFamily="18" charset="0"/>
                <a:cs typeface="Times New Roman" panose="02020603050405020304" pitchFamily="18" charset="0"/>
              </a:rPr>
              <a:t>assigns the object new Student() to a parameter of the Object type. This statement is equivalent to:</a:t>
            </a:r>
          </a:p>
          <a:p>
            <a:pPr marL="0" indent="0" algn="ctr">
              <a:spcBef>
                <a:spcPct val="0"/>
              </a:spcBef>
              <a:buClrTx/>
              <a:buSzTx/>
              <a:buFont typeface="Monotype Sorts" pitchFamily="2" charset="2"/>
              <a:buNone/>
              <a:tabLst>
                <a:tab pos="79375" algn="l"/>
                <a:tab pos="403225" algn="l"/>
              </a:tabLst>
            </a:pPr>
            <a:endParaRPr lang="en-US" sz="3200" dirty="0">
              <a:latin typeface="Times New Roman" panose="02020603050405020304" pitchFamily="18" charset="0"/>
              <a:cs typeface="Times New Roman" panose="02020603050405020304" pitchFamily="18" charset="0"/>
            </a:endParaRPr>
          </a:p>
          <a:p>
            <a:pPr marL="889000" lvl="1" indent="-241300">
              <a:buFontTx/>
              <a:buNone/>
              <a:tabLst>
                <a:tab pos="79375" algn="l"/>
                <a:tab pos="403225" algn="l"/>
              </a:tabLst>
            </a:pPr>
            <a:r>
              <a:rPr lang="en-US" dirty="0">
                <a:latin typeface="Times New Roman" panose="02020603050405020304" pitchFamily="18" charset="0"/>
                <a:cs typeface="Times New Roman" panose="02020603050405020304" pitchFamily="18" charset="0"/>
              </a:rPr>
              <a:t>Object o = new Student(); </a:t>
            </a:r>
            <a:r>
              <a:rPr lang="en-US" dirty="0">
                <a:solidFill>
                  <a:srgbClr val="99CC00"/>
                </a:solidFill>
                <a:latin typeface="Times New Roman" panose="02020603050405020304" pitchFamily="18" charset="0"/>
                <a:cs typeface="Times New Roman" panose="02020603050405020304" pitchFamily="18" charset="0"/>
              </a:rPr>
              <a:t>// Implicit casting</a:t>
            </a:r>
            <a:endParaRPr lang="en-US" dirty="0">
              <a:latin typeface="Times New Roman" panose="02020603050405020304" pitchFamily="18" charset="0"/>
              <a:cs typeface="Times New Roman" panose="02020603050405020304" pitchFamily="18" charset="0"/>
            </a:endParaRPr>
          </a:p>
          <a:p>
            <a:pPr marL="889000" lvl="1" indent="-241300">
              <a:buFontTx/>
              <a:buNone/>
              <a:tabLst>
                <a:tab pos="79375" algn="l"/>
                <a:tab pos="403225" algn="l"/>
              </a:tabLst>
            </a:pPr>
            <a:r>
              <a:rPr lang="en-US" dirty="0">
                <a:latin typeface="Times New Roman" panose="02020603050405020304" pitchFamily="18" charset="0"/>
                <a:cs typeface="Times New Roman" panose="02020603050405020304" pitchFamily="18" charset="0"/>
              </a:rPr>
              <a:t>m(o);</a:t>
            </a:r>
          </a:p>
        </p:txBody>
      </p:sp>
      <p:sp>
        <p:nvSpPr>
          <p:cNvPr id="330756" name="Text Box 4"/>
          <p:cNvSpPr txBox="1">
            <a:spLocks noChangeArrowheads="1"/>
          </p:cNvSpPr>
          <p:nvPr/>
        </p:nvSpPr>
        <p:spPr bwMode="auto">
          <a:xfrm>
            <a:off x="5357813" y="7200900"/>
            <a:ext cx="7639050" cy="1331913"/>
          </a:xfrm>
          <a:prstGeom prst="rect">
            <a:avLst/>
          </a:prstGeom>
          <a:noFill/>
          <a:ln w="12700">
            <a:noFill/>
            <a:miter lim="800000"/>
            <a:headEnd type="none" w="sm" len="sm"/>
            <a:tailEnd type="none" w="sm" len="sm"/>
          </a:ln>
        </p:spPr>
        <p:txBody>
          <a:bodyPr lIns="129522" tIns="64764" rIns="129522" bIns="64764">
            <a:spAutoFit/>
          </a:bodyPr>
          <a:lstStyle/>
          <a:p>
            <a:r>
              <a:rPr lang="en-US" sz="2600" dirty="0">
                <a:latin typeface="Times New Roman" panose="02020603050405020304" pitchFamily="18" charset="0"/>
                <a:cs typeface="Times New Roman" panose="02020603050405020304" pitchFamily="18" charset="0"/>
              </a:rPr>
              <a:t>The statement Object o = new Student(), known as implicit casting, is legal because an instance of Student is automatically an instance of Object.</a:t>
            </a:r>
          </a:p>
        </p:txBody>
      </p:sp>
      <p:sp>
        <p:nvSpPr>
          <p:cNvPr id="330757" name="Line 5"/>
          <p:cNvSpPr>
            <a:spLocks noChangeShapeType="1"/>
          </p:cNvSpPr>
          <p:nvPr/>
        </p:nvSpPr>
        <p:spPr bwMode="auto">
          <a:xfrm flipH="1" flipV="1">
            <a:off x="4446588" y="6481763"/>
            <a:ext cx="2241550" cy="838200"/>
          </a:xfrm>
          <a:prstGeom prst="line">
            <a:avLst/>
          </a:prstGeom>
          <a:noFill/>
          <a:ln w="12700">
            <a:solidFill>
              <a:srgbClr val="FF0000"/>
            </a:solidFill>
            <a:round/>
            <a:headEnd type="none" w="sm" len="sm"/>
            <a:tailEnd type="stealth" w="sm" len="sm"/>
          </a:ln>
        </p:spPr>
        <p:txBody>
          <a:bodyPr lIns="129522" tIns="64764" rIns="129522" bIns="64764"/>
          <a:lstStyle/>
          <a:p>
            <a:endParaRPr lang="en-GB"/>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animEffect transition="in" filter="strips(downLeft)">
                                      <p:cBhvr>
                                        <p:cTn id="7" dur="500"/>
                                        <p:tgtEl>
                                          <p:spTgt spid="716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71684">
                                            <p:txEl>
                                              <p:pRg st="1" end="1"/>
                                            </p:txEl>
                                          </p:spTgt>
                                        </p:tgtEl>
                                        <p:attrNameLst>
                                          <p:attrName>style.visibility</p:attrName>
                                        </p:attrNameLst>
                                      </p:cBhvr>
                                      <p:to>
                                        <p:strVal val="visible"/>
                                      </p:to>
                                    </p:set>
                                    <p:anim calcmode="lin" valueType="num">
                                      <p:cBhvr>
                                        <p:cTn id="12" dur="500" fill="hold"/>
                                        <p:tgtEl>
                                          <p:spTgt spid="7168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168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168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684">
                                            <p:txEl>
                                              <p:pRg st="3" end="3"/>
                                            </p:txEl>
                                          </p:spTgt>
                                        </p:tgtEl>
                                        <p:attrNameLst>
                                          <p:attrName>style.visibility</p:attrName>
                                        </p:attrNameLst>
                                      </p:cBhvr>
                                      <p:to>
                                        <p:strVal val="visible"/>
                                      </p:to>
                                    </p:set>
                                    <p:anim calcmode="lin" valueType="num">
                                      <p:cBhvr additive="base">
                                        <p:cTn id="19" dur="500" fill="hold"/>
                                        <p:tgtEl>
                                          <p:spTgt spid="7168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71684">
                                            <p:txEl>
                                              <p:pRg st="5" end="5"/>
                                            </p:txEl>
                                          </p:spTgt>
                                        </p:tgtEl>
                                        <p:attrNameLst>
                                          <p:attrName>style.visibility</p:attrName>
                                        </p:attrNameLst>
                                      </p:cBhvr>
                                      <p:to>
                                        <p:strVal val="visible"/>
                                      </p:to>
                                    </p:set>
                                    <p:animEffect transition="in" filter="slide(fromBottom)">
                                      <p:cBhvr>
                                        <p:cTn id="25" dur="500"/>
                                        <p:tgtEl>
                                          <p:spTgt spid="71684">
                                            <p:txEl>
                                              <p:pRg st="5" end="5"/>
                                            </p:txEl>
                                          </p:spTgt>
                                        </p:tgtEl>
                                      </p:cBhvr>
                                    </p:animEffect>
                                  </p:childTnLst>
                                </p:cTn>
                              </p:par>
                              <p:par>
                                <p:cTn id="26" presetID="12" presetClass="entr" presetSubtype="4" fill="hold" nodeType="withEffect">
                                  <p:stCondLst>
                                    <p:cond delay="0"/>
                                  </p:stCondLst>
                                  <p:childTnLst>
                                    <p:set>
                                      <p:cBhvr>
                                        <p:cTn id="27" dur="1" fill="hold">
                                          <p:stCondLst>
                                            <p:cond delay="0"/>
                                          </p:stCondLst>
                                        </p:cTn>
                                        <p:tgtEl>
                                          <p:spTgt spid="71684">
                                            <p:txEl>
                                              <p:pRg st="6" end="6"/>
                                            </p:txEl>
                                          </p:spTgt>
                                        </p:tgtEl>
                                        <p:attrNameLst>
                                          <p:attrName>style.visibility</p:attrName>
                                        </p:attrNameLst>
                                      </p:cBhvr>
                                      <p:to>
                                        <p:strVal val="visible"/>
                                      </p:to>
                                    </p:set>
                                    <p:animEffect transition="in" filter="slide(fromBottom)">
                                      <p:cBhvr>
                                        <p:cTn id="28" dur="500"/>
                                        <p:tgtEl>
                                          <p:spTgt spid="71684">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30757"/>
                                        </p:tgtEl>
                                        <p:attrNameLst>
                                          <p:attrName>style.visibility</p:attrName>
                                        </p:attrNameLst>
                                      </p:cBhvr>
                                      <p:to>
                                        <p:strVal val="visible"/>
                                      </p:to>
                                    </p:set>
                                    <p:anim calcmode="lin" valueType="num">
                                      <p:cBhvr additive="base">
                                        <p:cTn id="33" dur="500" fill="hold"/>
                                        <p:tgtEl>
                                          <p:spTgt spid="330757"/>
                                        </p:tgtEl>
                                        <p:attrNameLst>
                                          <p:attrName>ppt_x</p:attrName>
                                        </p:attrNameLst>
                                      </p:cBhvr>
                                      <p:tavLst>
                                        <p:tav tm="0">
                                          <p:val>
                                            <p:strVal val="0-#ppt_w/2"/>
                                          </p:val>
                                        </p:tav>
                                        <p:tav tm="100000">
                                          <p:val>
                                            <p:strVal val="#ppt_x"/>
                                          </p:val>
                                        </p:tav>
                                      </p:tavLst>
                                    </p:anim>
                                    <p:anim calcmode="lin" valueType="num">
                                      <p:cBhvr additive="base">
                                        <p:cTn id="34" dur="500" fill="hold"/>
                                        <p:tgtEl>
                                          <p:spTgt spid="33075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30756"/>
                                        </p:tgtEl>
                                        <p:attrNameLst>
                                          <p:attrName>style.visibility</p:attrName>
                                        </p:attrNameLst>
                                      </p:cBhvr>
                                      <p:to>
                                        <p:strVal val="visible"/>
                                      </p:to>
                                    </p:set>
                                    <p:anim calcmode="lin" valueType="num">
                                      <p:cBhvr additive="base">
                                        <p:cTn id="39" dur="500" fill="hold"/>
                                        <p:tgtEl>
                                          <p:spTgt spid="330756"/>
                                        </p:tgtEl>
                                        <p:attrNameLst>
                                          <p:attrName>ppt_x</p:attrName>
                                        </p:attrNameLst>
                                      </p:cBhvr>
                                      <p:tavLst>
                                        <p:tav tm="0">
                                          <p:val>
                                            <p:strVal val="0-#ppt_w/2"/>
                                          </p:val>
                                        </p:tav>
                                        <p:tav tm="100000">
                                          <p:val>
                                            <p:strVal val="#ppt_x"/>
                                          </p:val>
                                        </p:tav>
                                      </p:tavLst>
                                    </p:anim>
                                    <p:anim calcmode="lin" valueType="num">
                                      <p:cBhvr additive="base">
                                        <p:cTn id="40" dur="500" fill="hold"/>
                                        <p:tgtEl>
                                          <p:spTgt spid="330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autoUpdateAnimBg="0"/>
      <p:bldP spid="33075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1025525" y="4763"/>
            <a:ext cx="11630025" cy="800100"/>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Why Casting Is Necessary?</a:t>
            </a:r>
          </a:p>
        </p:txBody>
      </p:sp>
      <p:sp>
        <p:nvSpPr>
          <p:cNvPr id="61444" name="Rectangle 3"/>
          <p:cNvSpPr>
            <a:spLocks noGrp="1" noChangeArrowheads="1"/>
          </p:cNvSpPr>
          <p:nvPr>
            <p:ph type="body" idx="1"/>
          </p:nvPr>
        </p:nvSpPr>
        <p:spPr>
          <a:xfrm>
            <a:off x="211138" y="1071563"/>
            <a:ext cx="13339762" cy="7329487"/>
          </a:xfrm>
        </p:spPr>
        <p:txBody>
          <a:bodyPr/>
          <a:lstStyle/>
          <a:p>
            <a:pPr marL="629582" indent="-539642">
              <a:spcBef>
                <a:spcPts val="0"/>
              </a:spcBef>
              <a:buFont typeface="Wingdings" pitchFamily="2" charset="2"/>
              <a:buChar char="ü"/>
              <a:tabLst>
                <a:tab pos="80908" algn="l"/>
                <a:tab pos="404544" algn="l"/>
              </a:tabLst>
              <a:defRPr/>
            </a:pPr>
            <a:r>
              <a:rPr lang="en-US" sz="3400" dirty="0">
                <a:latin typeface="Times New Roman" panose="02020603050405020304" pitchFamily="18" charset="0"/>
                <a:cs typeface="Times New Roman" panose="02020603050405020304" pitchFamily="18" charset="0"/>
              </a:rPr>
              <a:t>Suppose you want to assign the object reference o to a variable of the Student type using the following statement:</a:t>
            </a:r>
          </a:p>
          <a:p>
            <a:pPr marL="629582" lvl="1" indent="-539642">
              <a:spcBef>
                <a:spcPts val="0"/>
              </a:spcBef>
              <a:buFontTx/>
              <a:buNone/>
              <a:tabLst>
                <a:tab pos="80908" algn="l"/>
                <a:tab pos="404544" algn="l"/>
              </a:tabLst>
              <a:defRPr/>
            </a:pPr>
            <a:r>
              <a:rPr lang="en-US" sz="2800" dirty="0">
                <a:latin typeface="Times New Roman" panose="02020603050405020304" pitchFamily="18" charset="0"/>
                <a:cs typeface="Times New Roman" panose="02020603050405020304" pitchFamily="18" charset="0"/>
              </a:rPr>
              <a:t>				Student b = o;</a:t>
            </a:r>
            <a:endParaRPr lang="en-US" sz="3400" dirty="0">
              <a:latin typeface="Times New Roman" panose="02020603050405020304" pitchFamily="18" charset="0"/>
              <a:cs typeface="Times New Roman" panose="02020603050405020304" pitchFamily="18" charset="0"/>
            </a:endParaRPr>
          </a:p>
          <a:p>
            <a:pPr marL="629582" indent="-539642">
              <a:spcBef>
                <a:spcPts val="0"/>
              </a:spcBef>
              <a:buClrTx/>
              <a:buSzTx/>
              <a:buFont typeface="Wingdings" pitchFamily="2" charset="2"/>
              <a:buChar char="ü"/>
              <a:tabLst>
                <a:tab pos="80908" algn="l"/>
                <a:tab pos="404544" algn="l"/>
              </a:tabLst>
              <a:defRPr/>
            </a:pPr>
            <a:r>
              <a:rPr lang="en-US" sz="3400" dirty="0">
                <a:latin typeface="Times New Roman" panose="02020603050405020304" pitchFamily="18" charset="0"/>
                <a:cs typeface="Times New Roman" panose="02020603050405020304" pitchFamily="18" charset="0"/>
              </a:rPr>
              <a:t>A compilation error would occur. Why does the statement </a:t>
            </a:r>
            <a:r>
              <a:rPr lang="en-US" sz="3400" b="1" dirty="0">
                <a:latin typeface="Times New Roman" panose="02020603050405020304" pitchFamily="18" charset="0"/>
                <a:cs typeface="Times New Roman" panose="02020603050405020304" pitchFamily="18" charset="0"/>
              </a:rPr>
              <a:t>Object o = new Student()</a:t>
            </a:r>
            <a:r>
              <a:rPr lang="en-US" sz="3400" dirty="0">
                <a:latin typeface="Times New Roman" panose="02020603050405020304" pitchFamily="18" charset="0"/>
                <a:cs typeface="Times New Roman" panose="02020603050405020304" pitchFamily="18" charset="0"/>
              </a:rPr>
              <a:t> work and the statement </a:t>
            </a:r>
            <a:r>
              <a:rPr lang="en-US" sz="3400" b="1" dirty="0">
                <a:latin typeface="Times New Roman" panose="02020603050405020304" pitchFamily="18" charset="0"/>
                <a:cs typeface="Times New Roman" panose="02020603050405020304" pitchFamily="18" charset="0"/>
              </a:rPr>
              <a:t>Student b = o</a:t>
            </a:r>
            <a:r>
              <a:rPr lang="en-US" sz="3400" dirty="0">
                <a:latin typeface="Times New Roman" panose="02020603050405020304" pitchFamily="18" charset="0"/>
                <a:cs typeface="Times New Roman" panose="02020603050405020304" pitchFamily="18" charset="0"/>
              </a:rPr>
              <a:t> doesn’t? </a:t>
            </a:r>
          </a:p>
          <a:p>
            <a:pPr marL="1195944" lvl="1" indent="-539642">
              <a:spcBef>
                <a:spcPts val="0"/>
              </a:spcBef>
              <a:buClrTx/>
              <a:buFont typeface="Wingdings" pitchFamily="2" charset="2"/>
              <a:buChar char="ü"/>
              <a:tabLst>
                <a:tab pos="80908" algn="l"/>
                <a:tab pos="404544" algn="l"/>
              </a:tabLst>
              <a:defRPr/>
            </a:pPr>
            <a:r>
              <a:rPr lang="en-US" sz="2800" dirty="0">
                <a:latin typeface="Times New Roman" panose="02020603050405020304" pitchFamily="18" charset="0"/>
                <a:cs typeface="Times New Roman" panose="02020603050405020304" pitchFamily="18" charset="0"/>
              </a:rPr>
              <a:t>This is because a Student object is always an instance of Object, but an Object is not necessarily an instance of Student. </a:t>
            </a:r>
          </a:p>
          <a:p>
            <a:pPr marL="1195944" lvl="1" indent="-539642">
              <a:spcBef>
                <a:spcPts val="0"/>
              </a:spcBef>
              <a:buClrTx/>
              <a:buFont typeface="Wingdings" pitchFamily="2" charset="2"/>
              <a:buChar char="ü"/>
              <a:tabLst>
                <a:tab pos="80908" algn="l"/>
                <a:tab pos="404544" algn="l"/>
              </a:tabLst>
              <a:defRPr/>
            </a:pPr>
            <a:r>
              <a:rPr lang="en-US" sz="2800" dirty="0">
                <a:latin typeface="Times New Roman" panose="02020603050405020304" pitchFamily="18" charset="0"/>
                <a:cs typeface="Times New Roman" panose="02020603050405020304" pitchFamily="18" charset="0"/>
              </a:rPr>
              <a:t>Even though you can see that o is really a Student object, the compiler is not so clever to know it. </a:t>
            </a:r>
          </a:p>
          <a:p>
            <a:pPr marL="1195944" lvl="1" indent="-539642">
              <a:spcBef>
                <a:spcPts val="0"/>
              </a:spcBef>
              <a:buClrTx/>
              <a:buFont typeface="Wingdings" pitchFamily="2" charset="2"/>
              <a:buChar char="ü"/>
              <a:tabLst>
                <a:tab pos="80908" algn="l"/>
                <a:tab pos="404544" algn="l"/>
              </a:tabLst>
              <a:defRPr/>
            </a:pPr>
            <a:r>
              <a:rPr lang="en-US" sz="2800" dirty="0">
                <a:latin typeface="Times New Roman" panose="02020603050405020304" pitchFamily="18" charset="0"/>
                <a:cs typeface="Times New Roman" panose="02020603050405020304" pitchFamily="18" charset="0"/>
              </a:rPr>
              <a:t>To tell the compiler that o is a Student object, use an explicit casting. </a:t>
            </a:r>
          </a:p>
          <a:p>
            <a:pPr marL="1195944" lvl="1" indent="-539642">
              <a:spcBef>
                <a:spcPts val="0"/>
              </a:spcBef>
              <a:buClrTx/>
              <a:buFont typeface="Wingdings" pitchFamily="2" charset="2"/>
              <a:buChar char="ü"/>
              <a:tabLst>
                <a:tab pos="80908" algn="l"/>
                <a:tab pos="404544" algn="l"/>
              </a:tabLst>
              <a:defRPr/>
            </a:pPr>
            <a:r>
              <a:rPr lang="en-US" sz="2800" dirty="0">
                <a:latin typeface="Times New Roman" panose="02020603050405020304" pitchFamily="18" charset="0"/>
                <a:cs typeface="Times New Roman" panose="02020603050405020304" pitchFamily="18" charset="0"/>
              </a:rPr>
              <a:t>The syntax is similar to the one used for casting among primitive data types. Enclose the target object type in parentheses and place it before the object to be cast, as follows:</a:t>
            </a:r>
          </a:p>
          <a:p>
            <a:pPr marL="629582" lvl="1" indent="-539642">
              <a:spcBef>
                <a:spcPts val="0"/>
              </a:spcBef>
              <a:buFontTx/>
              <a:buNone/>
              <a:tabLst>
                <a:tab pos="80908" algn="l"/>
                <a:tab pos="404544" algn="l"/>
              </a:tabLst>
              <a:defRPr/>
            </a:pPr>
            <a:r>
              <a:rPr lang="en-US" sz="2800" dirty="0">
                <a:latin typeface="Times New Roman" panose="02020603050405020304" pitchFamily="18" charset="0"/>
                <a:cs typeface="Times New Roman" panose="02020603050405020304" pitchFamily="18" charset="0"/>
              </a:rPr>
              <a:t>				Student b = (Student)o; // Explicit casting</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1444">
                                            <p:txEl>
                                              <p:pRg st="0" end="0"/>
                                            </p:txEl>
                                          </p:spTgt>
                                        </p:tgtEl>
                                        <p:attrNameLst>
                                          <p:attrName>style.visibility</p:attrName>
                                        </p:attrNameLst>
                                      </p:cBhvr>
                                      <p:to>
                                        <p:strVal val="visible"/>
                                      </p:to>
                                    </p:set>
                                    <p:animEffect transition="in" filter="slide(fromBottom)">
                                      <p:cBhvr>
                                        <p:cTn id="7" dur="500"/>
                                        <p:tgtEl>
                                          <p:spTgt spid="614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1444">
                                            <p:txEl>
                                              <p:pRg st="1" end="1"/>
                                            </p:txEl>
                                          </p:spTgt>
                                        </p:tgtEl>
                                        <p:attrNameLst>
                                          <p:attrName>style.visibility</p:attrName>
                                        </p:attrNameLst>
                                      </p:cBhvr>
                                      <p:to>
                                        <p:strVal val="visible"/>
                                      </p:to>
                                    </p:set>
                                    <p:animEffect transition="in" filter="strips(downLeft)">
                                      <p:cBhvr>
                                        <p:cTn id="12" dur="500"/>
                                        <p:tgtEl>
                                          <p:spTgt spid="614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1444">
                                            <p:txEl>
                                              <p:pRg st="2" end="2"/>
                                            </p:txEl>
                                          </p:spTgt>
                                        </p:tgtEl>
                                        <p:attrNameLst>
                                          <p:attrName>style.visibility</p:attrName>
                                        </p:attrNameLst>
                                      </p:cBhvr>
                                      <p:to>
                                        <p:strVal val="visible"/>
                                      </p:to>
                                    </p:set>
                                    <p:animEffect transition="in" filter="barn(inHorizontal)">
                                      <p:cBhvr>
                                        <p:cTn id="17" dur="500"/>
                                        <p:tgtEl>
                                          <p:spTgt spid="614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nodeType="clickEffect">
                                  <p:stCondLst>
                                    <p:cond delay="0"/>
                                  </p:stCondLst>
                                  <p:childTnLst>
                                    <p:set>
                                      <p:cBhvr>
                                        <p:cTn id="21" dur="1" fill="hold">
                                          <p:stCondLst>
                                            <p:cond delay="0"/>
                                          </p:stCondLst>
                                        </p:cTn>
                                        <p:tgtEl>
                                          <p:spTgt spid="61444">
                                            <p:txEl>
                                              <p:pRg st="3" end="3"/>
                                            </p:txEl>
                                          </p:spTgt>
                                        </p:tgtEl>
                                        <p:attrNameLst>
                                          <p:attrName>style.visibility</p:attrName>
                                        </p:attrNameLst>
                                      </p:cBhvr>
                                      <p:to>
                                        <p:strVal val="visible"/>
                                      </p:to>
                                    </p:set>
                                    <p:anim calcmode="lin" valueType="num">
                                      <p:cBhvr>
                                        <p:cTn id="22" dur="500" fill="hold"/>
                                        <p:tgtEl>
                                          <p:spTgt spid="61444">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61444">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6144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nodeType="clickEffect">
                                  <p:stCondLst>
                                    <p:cond delay="0"/>
                                  </p:stCondLst>
                                  <p:childTnLst>
                                    <p:set>
                                      <p:cBhvr>
                                        <p:cTn id="28" dur="1" fill="hold">
                                          <p:stCondLst>
                                            <p:cond delay="0"/>
                                          </p:stCondLst>
                                        </p:cTn>
                                        <p:tgtEl>
                                          <p:spTgt spid="61444">
                                            <p:txEl>
                                              <p:pRg st="4" end="4"/>
                                            </p:txEl>
                                          </p:spTgt>
                                        </p:tgtEl>
                                        <p:attrNameLst>
                                          <p:attrName>style.visibility</p:attrName>
                                        </p:attrNameLst>
                                      </p:cBhvr>
                                      <p:to>
                                        <p:strVal val="visible"/>
                                      </p:to>
                                    </p:set>
                                    <p:anim calcmode="lin" valueType="num">
                                      <p:cBhvr>
                                        <p:cTn id="29" dur="500" fill="hold"/>
                                        <p:tgtEl>
                                          <p:spTgt spid="61444">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61444">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61444">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nodeType="clickEffect">
                                  <p:stCondLst>
                                    <p:cond delay="0"/>
                                  </p:stCondLst>
                                  <p:childTnLst>
                                    <p:set>
                                      <p:cBhvr>
                                        <p:cTn id="35" dur="1" fill="hold">
                                          <p:stCondLst>
                                            <p:cond delay="0"/>
                                          </p:stCondLst>
                                        </p:cTn>
                                        <p:tgtEl>
                                          <p:spTgt spid="61444">
                                            <p:txEl>
                                              <p:pRg st="5" end="5"/>
                                            </p:txEl>
                                          </p:spTgt>
                                        </p:tgtEl>
                                        <p:attrNameLst>
                                          <p:attrName>style.visibility</p:attrName>
                                        </p:attrNameLst>
                                      </p:cBhvr>
                                      <p:to>
                                        <p:strVal val="visible"/>
                                      </p:to>
                                    </p:set>
                                    <p:anim calcmode="lin" valueType="num">
                                      <p:cBhvr>
                                        <p:cTn id="36" dur="500" fill="hold"/>
                                        <p:tgtEl>
                                          <p:spTgt spid="61444">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61444">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6144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0" fill="hold" nodeType="clickEffect">
                                  <p:stCondLst>
                                    <p:cond delay="0"/>
                                  </p:stCondLst>
                                  <p:childTnLst>
                                    <p:set>
                                      <p:cBhvr>
                                        <p:cTn id="42" dur="1" fill="hold">
                                          <p:stCondLst>
                                            <p:cond delay="0"/>
                                          </p:stCondLst>
                                        </p:cTn>
                                        <p:tgtEl>
                                          <p:spTgt spid="61444">
                                            <p:txEl>
                                              <p:pRg st="6" end="6"/>
                                            </p:txEl>
                                          </p:spTgt>
                                        </p:tgtEl>
                                        <p:attrNameLst>
                                          <p:attrName>style.visibility</p:attrName>
                                        </p:attrNameLst>
                                      </p:cBhvr>
                                      <p:to>
                                        <p:strVal val="visible"/>
                                      </p:to>
                                    </p:set>
                                    <p:anim calcmode="lin" valueType="num">
                                      <p:cBhvr>
                                        <p:cTn id="43" dur="500" fill="hold"/>
                                        <p:tgtEl>
                                          <p:spTgt spid="61444">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61444">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61444">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0" fill="hold" nodeType="clickEffect">
                                  <p:stCondLst>
                                    <p:cond delay="0"/>
                                  </p:stCondLst>
                                  <p:childTnLst>
                                    <p:set>
                                      <p:cBhvr>
                                        <p:cTn id="49" dur="1" fill="hold">
                                          <p:stCondLst>
                                            <p:cond delay="0"/>
                                          </p:stCondLst>
                                        </p:cTn>
                                        <p:tgtEl>
                                          <p:spTgt spid="61444">
                                            <p:txEl>
                                              <p:pRg st="7" end="7"/>
                                            </p:txEl>
                                          </p:spTgt>
                                        </p:tgtEl>
                                        <p:attrNameLst>
                                          <p:attrName>style.visibility</p:attrName>
                                        </p:attrNameLst>
                                      </p:cBhvr>
                                      <p:to>
                                        <p:strVal val="visible"/>
                                      </p:to>
                                    </p:set>
                                    <p:anim calcmode="lin" valueType="num">
                                      <p:cBhvr>
                                        <p:cTn id="50" dur="500" fill="hold"/>
                                        <p:tgtEl>
                                          <p:spTgt spid="61444">
                                            <p:txEl>
                                              <p:pRg st="7" end="7"/>
                                            </p:txEl>
                                          </p:spTgt>
                                        </p:tgtEl>
                                        <p:attrNameLst>
                                          <p:attrName>ppt_w</p:attrName>
                                        </p:attrNameLst>
                                      </p:cBhvr>
                                      <p:tavLst>
                                        <p:tav tm="0">
                                          <p:val>
                                            <p:fltVal val="0"/>
                                          </p:val>
                                        </p:tav>
                                        <p:tav tm="100000">
                                          <p:val>
                                            <p:strVal val="#ppt_w"/>
                                          </p:val>
                                        </p:tav>
                                      </p:tavLst>
                                    </p:anim>
                                    <p:anim calcmode="lin" valueType="num">
                                      <p:cBhvr>
                                        <p:cTn id="51" dur="500" fill="hold"/>
                                        <p:tgtEl>
                                          <p:spTgt spid="61444">
                                            <p:txEl>
                                              <p:pRg st="7" end="7"/>
                                            </p:txEl>
                                          </p:spTgt>
                                        </p:tgtEl>
                                        <p:attrNameLst>
                                          <p:attrName>ppt_h</p:attrName>
                                        </p:attrNameLst>
                                      </p:cBhvr>
                                      <p:tavLst>
                                        <p:tav tm="0">
                                          <p:val>
                                            <p:fltVal val="0"/>
                                          </p:val>
                                        </p:tav>
                                        <p:tav tm="100000">
                                          <p:val>
                                            <p:strVal val="#ppt_h"/>
                                          </p:val>
                                        </p:tav>
                                      </p:tavLst>
                                    </p:anim>
                                    <p:animEffect transition="in" filter="fade">
                                      <p:cBhvr>
                                        <p:cTn id="52" dur="500"/>
                                        <p:tgtEl>
                                          <p:spTgt spid="6144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1026081" y="400050"/>
            <a:ext cx="11628914" cy="18752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Casting from</a:t>
            </a:r>
            <a:br>
              <a:rPr lang="en-US" altLang="en-US" sz="4800" b="1" dirty="0">
                <a:solidFill>
                  <a:schemeClr val="tx1"/>
                </a:solidFill>
                <a:latin typeface="Times New Roman" panose="02020603050405020304" pitchFamily="18" charset="0"/>
                <a:cs typeface="Times New Roman" panose="02020603050405020304" pitchFamily="18" charset="0"/>
              </a:rPr>
            </a:br>
            <a:r>
              <a:rPr lang="en-US" altLang="en-US" sz="4800" b="1" dirty="0">
                <a:solidFill>
                  <a:schemeClr val="tx1"/>
                </a:solidFill>
                <a:latin typeface="Times New Roman" panose="02020603050405020304" pitchFamily="18" charset="0"/>
                <a:cs typeface="Times New Roman" panose="02020603050405020304" pitchFamily="18" charset="0"/>
              </a:rPr>
              <a:t>Superclass to Subclass</a:t>
            </a:r>
          </a:p>
        </p:txBody>
      </p:sp>
      <p:sp>
        <p:nvSpPr>
          <p:cNvPr id="39940" name="Rectangle 3"/>
          <p:cNvSpPr>
            <a:spLocks noGrp="1" noChangeArrowheads="1"/>
          </p:cNvSpPr>
          <p:nvPr>
            <p:ph type="body" idx="1"/>
          </p:nvPr>
        </p:nvSpPr>
        <p:spPr>
          <a:xfrm>
            <a:off x="570045" y="2700338"/>
            <a:ext cx="12654994" cy="5200650"/>
          </a:xfrm>
        </p:spPr>
        <p:txBody>
          <a:bodyPr/>
          <a:lstStyle/>
          <a:p>
            <a:pPr marL="0" indent="0">
              <a:buNone/>
            </a:pPr>
            <a:r>
              <a:rPr lang="en-US" altLang="en-US" sz="4000" dirty="0">
                <a:latin typeface="Times New Roman" panose="02020603050405020304" pitchFamily="18" charset="0"/>
                <a:cs typeface="Times New Roman" panose="02020603050405020304" pitchFamily="18" charset="0"/>
              </a:rPr>
              <a:t>Explicit casting must be used when casting an object from a superclass to a subclass.  This type of casting may not always succeed.</a:t>
            </a:r>
          </a:p>
          <a:p>
            <a:pPr lvl="1">
              <a:spcBef>
                <a:spcPct val="100000"/>
              </a:spcBef>
              <a:buFontTx/>
              <a:buNone/>
            </a:pPr>
            <a:r>
              <a:rPr lang="en-US" altLang="en-US" sz="3600" dirty="0">
                <a:latin typeface="Courier New" panose="02070309020205020404" pitchFamily="49" charset="0"/>
                <a:cs typeface="Courier New" panose="02070309020205020404" pitchFamily="49" charset="0"/>
              </a:rPr>
              <a:t>Apple x = (Apple)fruit;</a:t>
            </a:r>
          </a:p>
          <a:p>
            <a:pPr lvl="1">
              <a:spcBef>
                <a:spcPct val="100000"/>
              </a:spcBef>
              <a:buFontTx/>
              <a:buNone/>
            </a:pPr>
            <a:r>
              <a:rPr lang="en-US" altLang="en-US" sz="3600" dirty="0">
                <a:latin typeface="Courier New" panose="02070309020205020404" pitchFamily="49" charset="0"/>
                <a:cs typeface="Courier New" panose="02070309020205020404" pitchFamily="49" charset="0"/>
              </a:rPr>
              <a:t>Orange x = (Orange)fruit;</a:t>
            </a:r>
          </a:p>
        </p:txBody>
      </p:sp>
    </p:spTree>
    <p:extLst>
      <p:ext uri="{BB962C8B-B14F-4D97-AF65-F5344CB8AC3E}">
        <p14:creationId xmlns:p14="http://schemas.microsoft.com/office/powerpoint/2010/main" val="1088299796"/>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a:xfrm>
            <a:off x="1025525" y="0"/>
            <a:ext cx="11630025" cy="1071563"/>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The </a:t>
            </a:r>
            <a:r>
              <a:rPr lang="en-US" sz="4800" b="1" dirty="0" err="1">
                <a:solidFill>
                  <a:schemeClr val="tx1"/>
                </a:solidFill>
                <a:latin typeface="Courier New" panose="02070309020205020404" pitchFamily="49" charset="0"/>
                <a:cs typeface="Courier New" panose="02070309020205020404" pitchFamily="49" charset="0"/>
              </a:rPr>
              <a:t>instanceof</a:t>
            </a:r>
            <a:r>
              <a:rPr lang="en-US" sz="4800" b="1" dirty="0">
                <a:solidFill>
                  <a:schemeClr val="tx1"/>
                </a:solidFill>
                <a:latin typeface="Times New Roman" panose="02020603050405020304" pitchFamily="18" charset="0"/>
                <a:cs typeface="Times New Roman" panose="02020603050405020304" pitchFamily="18" charset="0"/>
              </a:rPr>
              <a:t> Operator</a:t>
            </a:r>
          </a:p>
        </p:txBody>
      </p:sp>
      <p:sp>
        <p:nvSpPr>
          <p:cNvPr id="63492" name="Rectangle 3"/>
          <p:cNvSpPr>
            <a:spLocks noGrp="1" noChangeArrowheads="1"/>
          </p:cNvSpPr>
          <p:nvPr>
            <p:ph type="body" idx="1"/>
          </p:nvPr>
        </p:nvSpPr>
        <p:spPr>
          <a:xfrm>
            <a:off x="0" y="1071563"/>
            <a:ext cx="13681075" cy="6858000"/>
          </a:xfrm>
        </p:spPr>
        <p:txBody>
          <a:bodyPr/>
          <a:lstStyle/>
          <a:p>
            <a:pPr marL="629582" indent="-539642">
              <a:spcBef>
                <a:spcPts val="0"/>
              </a:spcBef>
              <a:buFont typeface="Wingdings" pitchFamily="2" charset="2"/>
              <a:buChar char="ü"/>
              <a:defRPr/>
            </a:pPr>
            <a:r>
              <a:rPr lang="en-US" sz="2800" dirty="0">
                <a:latin typeface="Times New Roman" panose="02020603050405020304" pitchFamily="18" charset="0"/>
                <a:cs typeface="Times New Roman" panose="02020603050405020304" pitchFamily="18" charset="0"/>
              </a:rPr>
              <a:t>Use the </a:t>
            </a:r>
            <a:r>
              <a:rPr lang="en-US" sz="2800" dirty="0" err="1">
                <a:latin typeface="Courier New" panose="02070309020205020404" pitchFamily="49" charset="0"/>
                <a:cs typeface="Courier New" panose="02070309020205020404" pitchFamily="49" charset="0"/>
              </a:rPr>
              <a:t>instanceof</a:t>
            </a:r>
            <a:r>
              <a:rPr lang="en-US" sz="2800" dirty="0">
                <a:latin typeface="Times New Roman" panose="02020603050405020304" pitchFamily="18" charset="0"/>
                <a:cs typeface="Times New Roman" panose="02020603050405020304" pitchFamily="18" charset="0"/>
              </a:rPr>
              <a:t> operator to test whether an object belongs to a particular type.</a:t>
            </a:r>
          </a:p>
          <a:p>
            <a:pPr marL="629582" indent="-539642">
              <a:spcBef>
                <a:spcPts val="0"/>
              </a:spcBef>
              <a:buFont typeface="Wingdings" pitchFamily="2" charset="2"/>
              <a:buChar char="ü"/>
              <a:defRPr/>
            </a:pPr>
            <a:r>
              <a:rPr lang="en-US" sz="2800" dirty="0">
                <a:latin typeface="Times New Roman" panose="02020603050405020304" pitchFamily="18" charset="0"/>
                <a:cs typeface="Times New Roman" panose="02020603050405020304" pitchFamily="18" charset="0"/>
              </a:rPr>
              <a:t>Syntax:</a:t>
            </a:r>
          </a:p>
          <a:p>
            <a:pPr marL="629582" indent="-539642">
              <a:spcBef>
                <a:spcPts val="0"/>
              </a:spcBef>
              <a:buFont typeface="Monotype Sorts" pitchFamily="2" charset="2"/>
              <a:buNone/>
              <a:defRPr/>
            </a:pPr>
            <a:r>
              <a:rPr lang="en-US" sz="2800" dirty="0">
                <a:latin typeface="Times New Roman" panose="02020603050405020304" pitchFamily="18" charset="0"/>
                <a:cs typeface="Times New Roman" panose="02020603050405020304" pitchFamily="18" charset="0"/>
              </a:rPr>
              <a:t>			</a:t>
            </a:r>
            <a:r>
              <a:rPr lang="en-US" sz="2800" b="1" dirty="0">
                <a:latin typeface="Courier New" panose="02070309020205020404" pitchFamily="49" charset="0"/>
                <a:cs typeface="Courier New" panose="02070309020205020404" pitchFamily="49" charset="0"/>
              </a:rPr>
              <a:t>object </a:t>
            </a:r>
            <a:r>
              <a:rPr lang="en-US" sz="2800" b="1" dirty="0" err="1">
                <a:latin typeface="Courier New" panose="02070309020205020404" pitchFamily="49" charset="0"/>
                <a:cs typeface="Courier New" panose="02070309020205020404" pitchFamily="49" charset="0"/>
              </a:rPr>
              <a:t>instanceof</a:t>
            </a:r>
            <a:r>
              <a:rPr lang="en-US" sz="2800" b="1" dirty="0">
                <a:latin typeface="Courier New" panose="02070309020205020404" pitchFamily="49" charset="0"/>
                <a:cs typeface="Courier New" panose="02070309020205020404" pitchFamily="49" charset="0"/>
              </a:rPr>
              <a:t> </a:t>
            </a:r>
            <a:r>
              <a:rPr lang="en-US" sz="2800" b="1" dirty="0" err="1">
                <a:latin typeface="Courier New" panose="02070309020205020404" pitchFamily="49" charset="0"/>
                <a:cs typeface="Courier New" panose="02070309020205020404" pitchFamily="49" charset="0"/>
              </a:rPr>
              <a:t>TypeName</a:t>
            </a:r>
            <a:endParaRPr lang="en-US" sz="2800" b="1" dirty="0">
              <a:latin typeface="Courier New" panose="02070309020205020404" pitchFamily="49" charset="0"/>
              <a:cs typeface="Courier New" panose="02070309020205020404" pitchFamily="49" charset="0"/>
            </a:endParaRPr>
          </a:p>
          <a:p>
            <a:pPr marL="629582" indent="-539642">
              <a:spcBef>
                <a:spcPts val="0"/>
              </a:spcBef>
              <a:buFont typeface="Wingdings" pitchFamily="2" charset="2"/>
              <a:buChar char="ü"/>
              <a:defRPr/>
            </a:pPr>
            <a:r>
              <a:rPr lang="en-US" sz="2800" dirty="0">
                <a:latin typeface="Times New Roman" panose="02020603050405020304" pitchFamily="18" charset="0"/>
                <a:cs typeface="Times New Roman" panose="02020603050405020304" pitchFamily="18" charset="0"/>
              </a:rPr>
              <a:t>Return true if  the object is an instance of </a:t>
            </a:r>
            <a:r>
              <a:rPr lang="en-US" sz="2800" dirty="0" err="1">
                <a:latin typeface="Times New Roman" panose="02020603050405020304" pitchFamily="18" charset="0"/>
                <a:cs typeface="Times New Roman" panose="02020603050405020304" pitchFamily="18" charset="0"/>
              </a:rPr>
              <a:t>TypeName</a:t>
            </a:r>
            <a:r>
              <a:rPr lang="en-US" sz="2800" dirty="0">
                <a:latin typeface="Times New Roman" panose="02020603050405020304" pitchFamily="18" charset="0"/>
                <a:cs typeface="Times New Roman" panose="02020603050405020304" pitchFamily="18" charset="0"/>
              </a:rPr>
              <a:t> (or one of its subtypes), and false otherwise.</a:t>
            </a:r>
          </a:p>
          <a:p>
            <a:pPr marL="629582" indent="-539642">
              <a:spcBef>
                <a:spcPts val="0"/>
              </a:spcBef>
              <a:buFont typeface="Wingdings" pitchFamily="2" charset="2"/>
              <a:buChar char="ü"/>
              <a:defRPr/>
            </a:pPr>
            <a:r>
              <a:rPr lang="en-US" sz="2800" dirty="0">
                <a:latin typeface="Times New Roman" panose="02020603050405020304" pitchFamily="18" charset="0"/>
                <a:cs typeface="Times New Roman" panose="02020603050405020304" pitchFamily="18" charset="0"/>
              </a:rPr>
              <a:t>For example:</a:t>
            </a:r>
          </a:p>
          <a:p>
            <a:pPr marL="629582" lvl="1" indent="-539642">
              <a:spcBef>
                <a:spcPts val="0"/>
              </a:spcBef>
              <a:buFontTx/>
              <a:buNone/>
              <a:defRPr/>
            </a:pPr>
            <a:r>
              <a:rPr lang="en-US" sz="2800" dirty="0">
                <a:latin typeface="Courier New" pitchFamily="49" charset="0"/>
              </a:rPr>
              <a:t>		 Object </a:t>
            </a:r>
            <a:r>
              <a:rPr lang="en-US" sz="2800" dirty="0" err="1">
                <a:latin typeface="Courier New" pitchFamily="49" charset="0"/>
              </a:rPr>
              <a:t>myObject</a:t>
            </a:r>
            <a:r>
              <a:rPr lang="en-US" sz="2800" dirty="0">
                <a:latin typeface="Courier New" pitchFamily="49" charset="0"/>
              </a:rPr>
              <a:t> = new Circle();</a:t>
            </a:r>
          </a:p>
          <a:p>
            <a:pPr marL="1051814" lvl="1" indent="-404544">
              <a:lnSpc>
                <a:spcPct val="80000"/>
              </a:lnSpc>
              <a:buFontTx/>
              <a:buNone/>
              <a:defRPr/>
            </a:pPr>
            <a:r>
              <a:rPr lang="en-US" sz="2800" dirty="0">
                <a:latin typeface="Courier New" pitchFamily="49" charset="0"/>
              </a:rPr>
              <a:t>	// Some lines of code</a:t>
            </a:r>
          </a:p>
          <a:p>
            <a:pPr marL="1051814" lvl="1" indent="-404544">
              <a:lnSpc>
                <a:spcPct val="80000"/>
              </a:lnSpc>
              <a:buFontTx/>
              <a:buNone/>
              <a:defRPr/>
            </a:pPr>
            <a:r>
              <a:rPr lang="en-US" sz="2800" dirty="0">
                <a:latin typeface="Courier New" pitchFamily="49" charset="0"/>
              </a:rPr>
              <a:t>	/** Perform casting if </a:t>
            </a:r>
            <a:r>
              <a:rPr lang="en-US" sz="2800" dirty="0" err="1">
                <a:latin typeface="Courier New" pitchFamily="49" charset="0"/>
              </a:rPr>
              <a:t>myObject</a:t>
            </a:r>
            <a:r>
              <a:rPr lang="en-US" sz="2800" dirty="0">
                <a:latin typeface="Courier New" pitchFamily="49" charset="0"/>
              </a:rPr>
              <a:t> is an instance of    </a:t>
            </a:r>
          </a:p>
          <a:p>
            <a:pPr marL="1051814" lvl="1" indent="-404544">
              <a:lnSpc>
                <a:spcPct val="80000"/>
              </a:lnSpc>
              <a:buFontTx/>
              <a:buNone/>
              <a:defRPr/>
            </a:pPr>
            <a:r>
              <a:rPr lang="en-US" sz="2800" dirty="0">
                <a:latin typeface="Courier New" pitchFamily="49" charset="0"/>
              </a:rPr>
              <a:t>      Circle */</a:t>
            </a:r>
          </a:p>
          <a:p>
            <a:pPr marL="1051814" lvl="1" indent="-404544">
              <a:lnSpc>
                <a:spcPct val="80000"/>
              </a:lnSpc>
              <a:buFontTx/>
              <a:buNone/>
              <a:defRPr/>
            </a:pPr>
            <a:r>
              <a:rPr lang="en-US" sz="2800" dirty="0">
                <a:latin typeface="Courier New" pitchFamily="49" charset="0"/>
              </a:rPr>
              <a:t>  if (</a:t>
            </a:r>
            <a:r>
              <a:rPr lang="en-US" sz="2800" dirty="0" err="1">
                <a:latin typeface="Courier New" pitchFamily="49" charset="0"/>
              </a:rPr>
              <a:t>myObject</a:t>
            </a:r>
            <a:r>
              <a:rPr lang="en-US" sz="2800" dirty="0">
                <a:latin typeface="Courier New" pitchFamily="49" charset="0"/>
              </a:rPr>
              <a:t> </a:t>
            </a:r>
            <a:r>
              <a:rPr lang="en-US" sz="2800" dirty="0" err="1">
                <a:latin typeface="Courier New" pitchFamily="49" charset="0"/>
              </a:rPr>
              <a:t>instanceof</a:t>
            </a:r>
            <a:r>
              <a:rPr lang="en-US" sz="2800" dirty="0">
                <a:latin typeface="Courier New" pitchFamily="49" charset="0"/>
              </a:rPr>
              <a:t> Circle) {</a:t>
            </a:r>
          </a:p>
          <a:p>
            <a:pPr marL="1051814" lvl="1" indent="-404544">
              <a:lnSpc>
                <a:spcPct val="80000"/>
              </a:lnSpc>
              <a:buFontTx/>
              <a:buNone/>
              <a:defRPr/>
            </a:pPr>
            <a:r>
              <a:rPr lang="en-US" sz="2800" dirty="0">
                <a:latin typeface="Courier New" pitchFamily="49" charset="0"/>
              </a:rPr>
              <a:t>     </a:t>
            </a:r>
            <a:r>
              <a:rPr lang="en-US" sz="2800" dirty="0" err="1">
                <a:latin typeface="Courier New" pitchFamily="49" charset="0"/>
              </a:rPr>
              <a:t>System.out.println</a:t>
            </a:r>
            <a:r>
              <a:rPr lang="en-US" sz="2800" dirty="0">
                <a:latin typeface="Courier New" pitchFamily="49" charset="0"/>
              </a:rPr>
              <a:t>("The circle diameter is " + </a:t>
            </a:r>
          </a:p>
          <a:p>
            <a:pPr marL="1051814" lvl="1" indent="-404544">
              <a:lnSpc>
                <a:spcPct val="80000"/>
              </a:lnSpc>
              <a:buFontTx/>
              <a:buNone/>
              <a:defRPr/>
            </a:pPr>
            <a:r>
              <a:rPr lang="en-US" sz="2800" dirty="0">
                <a:latin typeface="Courier New" pitchFamily="49" charset="0"/>
              </a:rPr>
              <a:t>                     ((Circle)</a:t>
            </a:r>
            <a:r>
              <a:rPr lang="en-US" sz="2800" dirty="0" err="1">
                <a:latin typeface="Courier New" pitchFamily="49" charset="0"/>
              </a:rPr>
              <a:t>myObject</a:t>
            </a:r>
            <a:r>
              <a:rPr lang="en-US" sz="2800" dirty="0">
                <a:latin typeface="Courier New" pitchFamily="49" charset="0"/>
              </a:rPr>
              <a:t>).</a:t>
            </a:r>
            <a:r>
              <a:rPr lang="en-US" sz="2800" dirty="0" err="1">
                <a:latin typeface="Courier New" pitchFamily="49" charset="0"/>
              </a:rPr>
              <a:t>getDiameter</a:t>
            </a:r>
            <a:r>
              <a:rPr lang="en-US" sz="2800" dirty="0">
                <a:latin typeface="Courier New" pitchFamily="49" charset="0"/>
              </a:rPr>
              <a:t>());</a:t>
            </a:r>
          </a:p>
          <a:p>
            <a:pPr marL="1051814" lvl="1" indent="-404544">
              <a:lnSpc>
                <a:spcPct val="80000"/>
              </a:lnSpc>
              <a:buFontTx/>
              <a:buNone/>
              <a:defRPr/>
            </a:pPr>
            <a:r>
              <a:rPr lang="en-US" sz="2800" dirty="0">
                <a:latin typeface="Courier New" pitchFamily="49" charset="0"/>
              </a:rPr>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3492">
                                            <p:txEl>
                                              <p:pRg st="0" end="0"/>
                                            </p:txEl>
                                          </p:spTgt>
                                        </p:tgtEl>
                                        <p:attrNameLst>
                                          <p:attrName>style.visibility</p:attrName>
                                        </p:attrNameLst>
                                      </p:cBhvr>
                                      <p:to>
                                        <p:strVal val="visible"/>
                                      </p:to>
                                    </p:set>
                                    <p:animEffect transition="in" filter="slide(fromBottom)">
                                      <p:cBhvr>
                                        <p:cTn id="7" dur="500"/>
                                        <p:tgtEl>
                                          <p:spTgt spid="634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3492">
                                            <p:txEl>
                                              <p:pRg st="1" end="1"/>
                                            </p:txEl>
                                          </p:spTgt>
                                        </p:tgtEl>
                                        <p:attrNameLst>
                                          <p:attrName>style.visibility</p:attrName>
                                        </p:attrNameLst>
                                      </p:cBhvr>
                                      <p:to>
                                        <p:strVal val="visible"/>
                                      </p:to>
                                    </p:set>
                                    <p:animEffect transition="in" filter="barn(inHorizontal)">
                                      <p:cBhvr>
                                        <p:cTn id="12" dur="500"/>
                                        <p:tgtEl>
                                          <p:spTgt spid="63492">
                                            <p:txEl>
                                              <p:pRg st="1" end="1"/>
                                            </p:txEl>
                                          </p:spTgt>
                                        </p:tgtEl>
                                      </p:cBhvr>
                                    </p:animEffect>
                                  </p:childTnLst>
                                </p:cTn>
                              </p:par>
                              <p:par>
                                <p:cTn id="13" presetID="16" presetClass="entr" presetSubtype="26" fill="hold" nodeType="withEffect">
                                  <p:stCondLst>
                                    <p:cond delay="0"/>
                                  </p:stCondLst>
                                  <p:childTnLst>
                                    <p:set>
                                      <p:cBhvr>
                                        <p:cTn id="14" dur="1" fill="hold">
                                          <p:stCondLst>
                                            <p:cond delay="0"/>
                                          </p:stCondLst>
                                        </p:cTn>
                                        <p:tgtEl>
                                          <p:spTgt spid="63492">
                                            <p:txEl>
                                              <p:pRg st="2" end="2"/>
                                            </p:txEl>
                                          </p:spTgt>
                                        </p:tgtEl>
                                        <p:attrNameLst>
                                          <p:attrName>style.visibility</p:attrName>
                                        </p:attrNameLst>
                                      </p:cBhvr>
                                      <p:to>
                                        <p:strVal val="visible"/>
                                      </p:to>
                                    </p:set>
                                    <p:animEffect transition="in" filter="barn(inHorizontal)">
                                      <p:cBhvr>
                                        <p:cTn id="15" dur="500"/>
                                        <p:tgtEl>
                                          <p:spTgt spid="6349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nodeType="clickEffect">
                                  <p:stCondLst>
                                    <p:cond delay="0"/>
                                  </p:stCondLst>
                                  <p:childTnLst>
                                    <p:set>
                                      <p:cBhvr>
                                        <p:cTn id="19" dur="1" fill="hold">
                                          <p:stCondLst>
                                            <p:cond delay="0"/>
                                          </p:stCondLst>
                                        </p:cTn>
                                        <p:tgtEl>
                                          <p:spTgt spid="63492">
                                            <p:txEl>
                                              <p:pRg st="3" end="3"/>
                                            </p:txEl>
                                          </p:spTgt>
                                        </p:tgtEl>
                                        <p:attrNameLst>
                                          <p:attrName>style.visibility</p:attrName>
                                        </p:attrNameLst>
                                      </p:cBhvr>
                                      <p:to>
                                        <p:strVal val="visible"/>
                                      </p:to>
                                    </p:set>
                                    <p:animEffect transition="in" filter="barn(inHorizontal)">
                                      <p:cBhvr>
                                        <p:cTn id="20" dur="500"/>
                                        <p:tgtEl>
                                          <p:spTgt spid="6349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nodeType="clickEffect">
                                  <p:stCondLst>
                                    <p:cond delay="0"/>
                                  </p:stCondLst>
                                  <p:childTnLst>
                                    <p:set>
                                      <p:cBhvr>
                                        <p:cTn id="24" dur="1" fill="hold">
                                          <p:stCondLst>
                                            <p:cond delay="0"/>
                                          </p:stCondLst>
                                        </p:cTn>
                                        <p:tgtEl>
                                          <p:spTgt spid="63492">
                                            <p:txEl>
                                              <p:pRg st="4" end="4"/>
                                            </p:txEl>
                                          </p:spTgt>
                                        </p:tgtEl>
                                        <p:attrNameLst>
                                          <p:attrName>style.visibility</p:attrName>
                                        </p:attrNameLst>
                                      </p:cBhvr>
                                      <p:to>
                                        <p:strVal val="visible"/>
                                      </p:to>
                                    </p:set>
                                    <p:animEffect transition="in" filter="barn(inHorizontal)">
                                      <p:cBhvr>
                                        <p:cTn id="25" dur="500"/>
                                        <p:tgtEl>
                                          <p:spTgt spid="6349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3492">
                                            <p:txEl>
                                              <p:pRg st="5" end="5"/>
                                            </p:txEl>
                                          </p:spTgt>
                                        </p:tgtEl>
                                        <p:attrNameLst>
                                          <p:attrName>style.visibility</p:attrName>
                                        </p:attrNameLst>
                                      </p:cBhvr>
                                      <p:to>
                                        <p:strVal val="visible"/>
                                      </p:to>
                                    </p:set>
                                    <p:anim calcmode="lin" valueType="num">
                                      <p:cBhvr additive="base">
                                        <p:cTn id="30" dur="500" fill="hold"/>
                                        <p:tgtEl>
                                          <p:spTgt spid="63492">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3492">
                                            <p:txEl>
                                              <p:pRg st="5" end="5"/>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63492">
                                            <p:txEl>
                                              <p:pRg st="6" end="6"/>
                                            </p:txEl>
                                          </p:spTgt>
                                        </p:tgtEl>
                                        <p:attrNameLst>
                                          <p:attrName>style.visibility</p:attrName>
                                        </p:attrNameLst>
                                      </p:cBhvr>
                                      <p:to>
                                        <p:strVal val="visible"/>
                                      </p:to>
                                    </p:set>
                                    <p:anim calcmode="lin" valueType="num">
                                      <p:cBhvr additive="base">
                                        <p:cTn id="34" dur="500" fill="hold"/>
                                        <p:tgtEl>
                                          <p:spTgt spid="63492">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3492">
                                            <p:txEl>
                                              <p:pRg st="6" end="6"/>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63492">
                                            <p:txEl>
                                              <p:pRg st="7" end="7"/>
                                            </p:txEl>
                                          </p:spTgt>
                                        </p:tgtEl>
                                        <p:attrNameLst>
                                          <p:attrName>style.visibility</p:attrName>
                                        </p:attrNameLst>
                                      </p:cBhvr>
                                      <p:to>
                                        <p:strVal val="visible"/>
                                      </p:to>
                                    </p:set>
                                    <p:anim calcmode="lin" valueType="num">
                                      <p:cBhvr additive="base">
                                        <p:cTn id="38" dur="500" fill="hold"/>
                                        <p:tgtEl>
                                          <p:spTgt spid="63492">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63492">
                                            <p:txEl>
                                              <p:pRg st="7" end="7"/>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63492">
                                            <p:txEl>
                                              <p:pRg st="8" end="8"/>
                                            </p:txEl>
                                          </p:spTgt>
                                        </p:tgtEl>
                                        <p:attrNameLst>
                                          <p:attrName>style.visibility</p:attrName>
                                        </p:attrNameLst>
                                      </p:cBhvr>
                                      <p:to>
                                        <p:strVal val="visible"/>
                                      </p:to>
                                    </p:set>
                                    <p:anim calcmode="lin" valueType="num">
                                      <p:cBhvr additive="base">
                                        <p:cTn id="42" dur="500" fill="hold"/>
                                        <p:tgtEl>
                                          <p:spTgt spid="63492">
                                            <p:txEl>
                                              <p:pRg st="8" end="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63492">
                                            <p:txEl>
                                              <p:pRg st="8" end="8"/>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63492">
                                            <p:txEl>
                                              <p:pRg st="9" end="9"/>
                                            </p:txEl>
                                          </p:spTgt>
                                        </p:tgtEl>
                                        <p:attrNameLst>
                                          <p:attrName>style.visibility</p:attrName>
                                        </p:attrNameLst>
                                      </p:cBhvr>
                                      <p:to>
                                        <p:strVal val="visible"/>
                                      </p:to>
                                    </p:set>
                                    <p:anim calcmode="lin" valueType="num">
                                      <p:cBhvr additive="base">
                                        <p:cTn id="46" dur="500" fill="hold"/>
                                        <p:tgtEl>
                                          <p:spTgt spid="63492">
                                            <p:txEl>
                                              <p:pRg st="9" end="9"/>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63492">
                                            <p:txEl>
                                              <p:pRg st="9" end="9"/>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63492">
                                            <p:txEl>
                                              <p:pRg st="10" end="10"/>
                                            </p:txEl>
                                          </p:spTgt>
                                        </p:tgtEl>
                                        <p:attrNameLst>
                                          <p:attrName>style.visibility</p:attrName>
                                        </p:attrNameLst>
                                      </p:cBhvr>
                                      <p:to>
                                        <p:strVal val="visible"/>
                                      </p:to>
                                    </p:set>
                                    <p:anim calcmode="lin" valueType="num">
                                      <p:cBhvr additive="base">
                                        <p:cTn id="50" dur="500" fill="hold"/>
                                        <p:tgtEl>
                                          <p:spTgt spid="63492">
                                            <p:txEl>
                                              <p:pRg st="10" end="1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63492">
                                            <p:txEl>
                                              <p:pRg st="10" end="10"/>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63492">
                                            <p:txEl>
                                              <p:pRg st="11" end="11"/>
                                            </p:txEl>
                                          </p:spTgt>
                                        </p:tgtEl>
                                        <p:attrNameLst>
                                          <p:attrName>style.visibility</p:attrName>
                                        </p:attrNameLst>
                                      </p:cBhvr>
                                      <p:to>
                                        <p:strVal val="visible"/>
                                      </p:to>
                                    </p:set>
                                    <p:anim calcmode="lin" valueType="num">
                                      <p:cBhvr additive="base">
                                        <p:cTn id="54" dur="500" fill="hold"/>
                                        <p:tgtEl>
                                          <p:spTgt spid="63492">
                                            <p:txEl>
                                              <p:pRg st="11" end="1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3492">
                                            <p:txEl>
                                              <p:pRg st="11" end="11"/>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63492">
                                            <p:txEl>
                                              <p:pRg st="12" end="12"/>
                                            </p:txEl>
                                          </p:spTgt>
                                        </p:tgtEl>
                                        <p:attrNameLst>
                                          <p:attrName>style.visibility</p:attrName>
                                        </p:attrNameLst>
                                      </p:cBhvr>
                                      <p:to>
                                        <p:strVal val="visible"/>
                                      </p:to>
                                    </p:set>
                                    <p:anim calcmode="lin" valueType="num">
                                      <p:cBhvr additive="base">
                                        <p:cTn id="58" dur="500" fill="hold"/>
                                        <p:tgtEl>
                                          <p:spTgt spid="63492">
                                            <p:txEl>
                                              <p:pRg st="12" end="12"/>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6349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8963" y="1352812"/>
            <a:ext cx="12533312" cy="7260964"/>
          </a:xfrm>
        </p:spPr>
        <p:txBody>
          <a:bodyPr/>
          <a:lstStyle/>
          <a:p>
            <a:pPr marL="0" indent="0">
              <a:buNone/>
            </a:pPr>
            <a:r>
              <a:rPr lang="en-MY" sz="3200" dirty="0">
                <a:latin typeface="Courier New" panose="02070309020205020404" pitchFamily="49" charset="0"/>
                <a:cs typeface="Courier New" panose="02070309020205020404" pitchFamily="49" charset="0"/>
              </a:rPr>
              <a:t>Circle c1 = new Circle(5, "red"); </a:t>
            </a:r>
          </a:p>
          <a:p>
            <a:pPr marL="0" indent="0">
              <a:buNone/>
            </a:pPr>
            <a:r>
              <a:rPr lang="en-MY" sz="3200" dirty="0" err="1">
                <a:latin typeface="Courier New" panose="02070309020205020404" pitchFamily="49" charset="0"/>
                <a:cs typeface="Courier New" panose="02070309020205020404" pitchFamily="49" charset="0"/>
              </a:rPr>
              <a:t>GeometricObject</a:t>
            </a:r>
            <a:r>
              <a:rPr lang="en-MY" sz="3200" dirty="0">
                <a:latin typeface="Courier New" panose="02070309020205020404" pitchFamily="49" charset="0"/>
                <a:cs typeface="Courier New" panose="02070309020205020404" pitchFamily="49" charset="0"/>
              </a:rPr>
              <a:t> g1 = new </a:t>
            </a:r>
            <a:r>
              <a:rPr lang="en-MY" sz="3200" dirty="0" err="1">
                <a:latin typeface="Courier New" panose="02070309020205020404" pitchFamily="49" charset="0"/>
                <a:cs typeface="Courier New" panose="02070309020205020404" pitchFamily="49" charset="0"/>
              </a:rPr>
              <a:t>GeometricObject</a:t>
            </a:r>
            <a:r>
              <a:rPr lang="en-MY" sz="3200" dirty="0">
                <a:latin typeface="Courier New" panose="02070309020205020404" pitchFamily="49" charset="0"/>
                <a:cs typeface="Courier New" panose="02070309020205020404" pitchFamily="49" charset="0"/>
              </a:rPr>
              <a:t>("blue"); </a:t>
            </a:r>
          </a:p>
          <a:p>
            <a:pPr marL="460375" lvl="1" indent="0">
              <a:buNone/>
            </a:pPr>
            <a:r>
              <a:rPr lang="en-US" sz="2700" dirty="0"/>
              <a:t>True or False?</a:t>
            </a:r>
            <a:endParaRPr lang="en-MY" sz="2700" dirty="0"/>
          </a:p>
          <a:p>
            <a:pPr lvl="1"/>
            <a:r>
              <a:rPr lang="en-MY" sz="2700" dirty="0"/>
              <a:t>c1 </a:t>
            </a:r>
            <a:r>
              <a:rPr lang="en-MY" sz="2700" dirty="0" err="1"/>
              <a:t>instanceof</a:t>
            </a:r>
            <a:r>
              <a:rPr lang="en-MY" sz="2700" dirty="0"/>
              <a:t> Circle </a:t>
            </a:r>
          </a:p>
          <a:p>
            <a:pPr lvl="1"/>
            <a:r>
              <a:rPr lang="en-MY" sz="2700" dirty="0"/>
              <a:t>c1 </a:t>
            </a:r>
            <a:r>
              <a:rPr lang="en-MY" sz="2700" dirty="0" err="1"/>
              <a:t>instanceof</a:t>
            </a:r>
            <a:r>
              <a:rPr lang="en-MY" sz="2700" dirty="0"/>
              <a:t> </a:t>
            </a:r>
            <a:r>
              <a:rPr lang="en-MY" sz="2700" dirty="0" err="1"/>
              <a:t>GeometricObject</a:t>
            </a:r>
            <a:endParaRPr lang="en-MY" sz="2700" dirty="0"/>
          </a:p>
          <a:p>
            <a:pPr lvl="1"/>
            <a:r>
              <a:rPr lang="en-MY" sz="2700" dirty="0"/>
              <a:t>g1 </a:t>
            </a:r>
            <a:r>
              <a:rPr lang="en-MY" sz="2700" dirty="0" err="1"/>
              <a:t>instanceof</a:t>
            </a:r>
            <a:r>
              <a:rPr lang="en-MY" sz="2700" dirty="0"/>
              <a:t> </a:t>
            </a:r>
            <a:r>
              <a:rPr lang="en-MY" sz="2700" dirty="0" err="1"/>
              <a:t>GeometricObject</a:t>
            </a:r>
            <a:endParaRPr lang="en-MY" sz="2700" dirty="0"/>
          </a:p>
          <a:p>
            <a:pPr lvl="1"/>
            <a:r>
              <a:rPr lang="en-MY" sz="2700" dirty="0"/>
              <a:t>g1 </a:t>
            </a:r>
            <a:r>
              <a:rPr lang="en-MY" sz="2700" dirty="0" err="1"/>
              <a:t>instanceof</a:t>
            </a:r>
            <a:r>
              <a:rPr lang="en-MY" sz="2700" dirty="0"/>
              <a:t> Circle</a:t>
            </a:r>
          </a:p>
          <a:p>
            <a:pPr marL="0" indent="0">
              <a:buNone/>
            </a:pPr>
            <a:endParaRPr lang="en-MY" sz="3200" dirty="0"/>
          </a:p>
          <a:p>
            <a:pPr marL="0" indent="0">
              <a:buNone/>
            </a:pPr>
            <a:r>
              <a:rPr lang="en-MY" sz="3200" dirty="0" err="1">
                <a:latin typeface="Courier New" panose="02070309020205020404" pitchFamily="49" charset="0"/>
                <a:cs typeface="Courier New" panose="02070309020205020404" pitchFamily="49" charset="0"/>
              </a:rPr>
              <a:t>GeometricObject</a:t>
            </a:r>
            <a:r>
              <a:rPr lang="en-MY" sz="3200" dirty="0">
                <a:latin typeface="Courier New" panose="02070309020205020404" pitchFamily="49" charset="0"/>
                <a:cs typeface="Courier New" panose="02070309020205020404" pitchFamily="49" charset="0"/>
              </a:rPr>
              <a:t> g2 = new Circle(5, "red"); </a:t>
            </a:r>
          </a:p>
          <a:p>
            <a:pPr marL="460375" lvl="1" indent="0">
              <a:buNone/>
            </a:pPr>
            <a:r>
              <a:rPr lang="en-US" sz="2700" dirty="0"/>
              <a:t>True or False?</a:t>
            </a:r>
            <a:endParaRPr lang="en-MY" sz="2700" dirty="0"/>
          </a:p>
          <a:p>
            <a:pPr lvl="1"/>
            <a:r>
              <a:rPr lang="en-MY" sz="2700" dirty="0"/>
              <a:t>g2 </a:t>
            </a:r>
            <a:r>
              <a:rPr lang="en-MY" sz="2700" dirty="0" err="1"/>
              <a:t>instanceof</a:t>
            </a:r>
            <a:r>
              <a:rPr lang="en-MY" sz="2700" dirty="0"/>
              <a:t> Circle</a:t>
            </a:r>
          </a:p>
          <a:p>
            <a:pPr lvl="1"/>
            <a:r>
              <a:rPr lang="en-MY" sz="2700" dirty="0"/>
              <a:t>g2 </a:t>
            </a:r>
            <a:r>
              <a:rPr lang="en-MY" sz="2700" dirty="0" err="1"/>
              <a:t>instanceof</a:t>
            </a:r>
            <a:r>
              <a:rPr lang="en-MY" sz="2700" dirty="0"/>
              <a:t> </a:t>
            </a:r>
            <a:r>
              <a:rPr lang="en-MY" sz="2700" dirty="0" err="1"/>
              <a:t>GeometricObject</a:t>
            </a:r>
            <a:endParaRPr lang="en-MY" sz="2700" dirty="0"/>
          </a:p>
        </p:txBody>
      </p:sp>
      <p:sp>
        <p:nvSpPr>
          <p:cNvPr id="3" name="Rectangle 2"/>
          <p:cNvSpPr txBox="1">
            <a:spLocks noChangeArrowheads="1"/>
          </p:cNvSpPr>
          <p:nvPr/>
        </p:nvSpPr>
        <p:spPr>
          <a:xfrm>
            <a:off x="1753645" y="663879"/>
            <a:ext cx="9344416" cy="1002082"/>
          </a:xfrm>
          <a:prstGeom prst="rect">
            <a:avLst/>
          </a:prstGeom>
          <a:noFill/>
        </p:spPr>
        <p:txBody>
          <a:bodyPr/>
          <a:lst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a:lstStyle>
          <a:p>
            <a:pPr algn="ctr"/>
            <a:r>
              <a:rPr lang="en-US" sz="3600" b="1" dirty="0" err="1">
                <a:solidFill>
                  <a:schemeClr val="tx1"/>
                </a:solidFill>
                <a:latin typeface="Courier New" panose="02070309020205020404" pitchFamily="49" charset="0"/>
                <a:cs typeface="Courier New" panose="02070309020205020404" pitchFamily="49" charset="0"/>
              </a:rPr>
              <a:t>instanceof</a:t>
            </a:r>
            <a:endParaRPr lang="en-US" sz="3500" b="1" kern="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559913"/>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1025525" y="300038"/>
            <a:ext cx="11630025" cy="817562"/>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TIP</a:t>
            </a:r>
          </a:p>
        </p:txBody>
      </p:sp>
      <p:sp>
        <p:nvSpPr>
          <p:cNvPr id="75780" name="Rectangle 3"/>
          <p:cNvSpPr>
            <a:spLocks noGrp="1" noChangeArrowheads="1"/>
          </p:cNvSpPr>
          <p:nvPr>
            <p:ph type="body" idx="1"/>
          </p:nvPr>
        </p:nvSpPr>
        <p:spPr>
          <a:xfrm>
            <a:off x="569913" y="1400175"/>
            <a:ext cx="12769850" cy="6200775"/>
          </a:xfrm>
          <a:noFill/>
        </p:spPr>
        <p:txBody>
          <a:bodyPr/>
          <a:lstStyle/>
          <a:p>
            <a:pPr marL="627063" indent="-538163">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To help understand casting, you may also consider the analogy of fruit, apple, and orange with the </a:t>
            </a:r>
            <a:r>
              <a:rPr lang="en-US" sz="4000" b="1" dirty="0">
                <a:latin typeface="Times New Roman" panose="02020603050405020304" pitchFamily="18" charset="0"/>
                <a:cs typeface="Times New Roman" panose="02020603050405020304" pitchFamily="18" charset="0"/>
              </a:rPr>
              <a:t>Fruit</a:t>
            </a:r>
            <a:r>
              <a:rPr lang="en-US" sz="4000" dirty="0">
                <a:latin typeface="Times New Roman" panose="02020603050405020304" pitchFamily="18" charset="0"/>
                <a:cs typeface="Times New Roman" panose="02020603050405020304" pitchFamily="18" charset="0"/>
              </a:rPr>
              <a:t> class as the </a:t>
            </a:r>
            <a:r>
              <a:rPr lang="en-US" sz="4000" dirty="0" err="1">
                <a:latin typeface="Times New Roman" panose="02020603050405020304" pitchFamily="18" charset="0"/>
                <a:cs typeface="Times New Roman" panose="02020603050405020304" pitchFamily="18" charset="0"/>
              </a:rPr>
              <a:t>superclass</a:t>
            </a:r>
            <a:r>
              <a:rPr lang="en-US" sz="4000" dirty="0">
                <a:latin typeface="Times New Roman" panose="02020603050405020304" pitchFamily="18" charset="0"/>
                <a:cs typeface="Times New Roman" panose="02020603050405020304" pitchFamily="18" charset="0"/>
              </a:rPr>
              <a:t> for </a:t>
            </a:r>
            <a:r>
              <a:rPr lang="en-US" sz="4000" b="1" dirty="0">
                <a:latin typeface="Times New Roman" panose="02020603050405020304" pitchFamily="18" charset="0"/>
                <a:cs typeface="Times New Roman" panose="02020603050405020304" pitchFamily="18" charset="0"/>
              </a:rPr>
              <a:t>Apple</a:t>
            </a:r>
            <a:r>
              <a:rPr lang="en-US" sz="4000" dirty="0">
                <a:latin typeface="Times New Roman" panose="02020603050405020304" pitchFamily="18" charset="0"/>
                <a:cs typeface="Times New Roman" panose="02020603050405020304" pitchFamily="18" charset="0"/>
              </a:rPr>
              <a:t> and </a:t>
            </a:r>
            <a:r>
              <a:rPr lang="en-US" sz="4000" b="1" dirty="0">
                <a:latin typeface="Times New Roman" panose="02020603050405020304" pitchFamily="18" charset="0"/>
                <a:cs typeface="Times New Roman" panose="02020603050405020304" pitchFamily="18" charset="0"/>
              </a:rPr>
              <a:t>Orange</a:t>
            </a:r>
            <a:r>
              <a:rPr lang="en-US" sz="4000" dirty="0">
                <a:latin typeface="Times New Roman" panose="02020603050405020304" pitchFamily="18" charset="0"/>
                <a:cs typeface="Times New Roman" panose="02020603050405020304" pitchFamily="18" charset="0"/>
              </a:rPr>
              <a:t>. </a:t>
            </a:r>
          </a:p>
          <a:p>
            <a:pPr marL="627063" indent="-538163">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An apple is a fruit, so you can always safely assign an instance of </a:t>
            </a:r>
            <a:r>
              <a:rPr lang="en-US" sz="4000" b="1" dirty="0">
                <a:latin typeface="Times New Roman" panose="02020603050405020304" pitchFamily="18" charset="0"/>
                <a:cs typeface="Times New Roman" panose="02020603050405020304" pitchFamily="18" charset="0"/>
              </a:rPr>
              <a:t>Apple</a:t>
            </a:r>
            <a:r>
              <a:rPr lang="en-US" sz="4000" dirty="0">
                <a:latin typeface="Times New Roman" panose="02020603050405020304" pitchFamily="18" charset="0"/>
                <a:cs typeface="Times New Roman" panose="02020603050405020304" pitchFamily="18" charset="0"/>
              </a:rPr>
              <a:t> to a variable for </a:t>
            </a:r>
            <a:r>
              <a:rPr lang="en-US" sz="4000" b="1" dirty="0">
                <a:latin typeface="Times New Roman" panose="02020603050405020304" pitchFamily="18" charset="0"/>
                <a:cs typeface="Times New Roman" panose="02020603050405020304" pitchFamily="18" charset="0"/>
              </a:rPr>
              <a:t>Fruit</a:t>
            </a:r>
            <a:r>
              <a:rPr lang="en-US" sz="4000" dirty="0">
                <a:latin typeface="Times New Roman" panose="02020603050405020304" pitchFamily="18" charset="0"/>
                <a:cs typeface="Times New Roman" panose="02020603050405020304" pitchFamily="18" charset="0"/>
              </a:rPr>
              <a:t>. </a:t>
            </a:r>
          </a:p>
          <a:p>
            <a:pPr marL="627063" indent="-538163">
              <a:spcBef>
                <a:spcPct val="0"/>
              </a:spcBef>
              <a:buFont typeface="Wingdings" pitchFamily="2" charset="2"/>
              <a:buChar char="ü"/>
            </a:pPr>
            <a:r>
              <a:rPr lang="en-US" sz="4000" dirty="0">
                <a:latin typeface="Times New Roman" panose="02020603050405020304" pitchFamily="18" charset="0"/>
                <a:cs typeface="Times New Roman" panose="02020603050405020304" pitchFamily="18" charset="0"/>
              </a:rPr>
              <a:t>However, a fruit is not necessarily an apple, so you have to use explicit casting to assign an instance of </a:t>
            </a:r>
            <a:r>
              <a:rPr lang="en-US" sz="4000" b="1" dirty="0">
                <a:latin typeface="Times New Roman" panose="02020603050405020304" pitchFamily="18" charset="0"/>
                <a:cs typeface="Times New Roman" panose="02020603050405020304" pitchFamily="18" charset="0"/>
              </a:rPr>
              <a:t>Fruit</a:t>
            </a:r>
            <a:r>
              <a:rPr lang="en-US" sz="4000" dirty="0">
                <a:latin typeface="Times New Roman" panose="02020603050405020304" pitchFamily="18" charset="0"/>
                <a:cs typeface="Times New Roman" panose="02020603050405020304" pitchFamily="18" charset="0"/>
              </a:rPr>
              <a:t> to a variable of </a:t>
            </a:r>
            <a:r>
              <a:rPr lang="en-US" sz="4000" b="1" dirty="0">
                <a:latin typeface="Times New Roman" panose="02020603050405020304" pitchFamily="18" charset="0"/>
                <a:cs typeface="Times New Roman" panose="02020603050405020304" pitchFamily="18" charset="0"/>
              </a:rPr>
              <a:t>Apple</a:t>
            </a:r>
            <a:r>
              <a:rPr lang="en-US" sz="4000" dirty="0">
                <a:latin typeface="Times New Roman" panose="02020603050405020304" pitchFamily="18" charset="0"/>
                <a:cs typeface="Times New Roman" panose="02020603050405020304" pitchFamily="18" charset="0"/>
              </a:rPr>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Effect transition="in" filter="slide(fromBottom)">
                                      <p:cBhvr>
                                        <p:cTn id="7" dur="500"/>
                                        <p:tgtEl>
                                          <p:spTgt spid="757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5780">
                                            <p:txEl>
                                              <p:pRg st="1" end="1"/>
                                            </p:txEl>
                                          </p:spTgt>
                                        </p:tgtEl>
                                        <p:attrNameLst>
                                          <p:attrName>style.visibility</p:attrName>
                                        </p:attrNameLst>
                                      </p:cBhvr>
                                      <p:to>
                                        <p:strVal val="visible"/>
                                      </p:to>
                                    </p:set>
                                    <p:anim calcmode="lin" valueType="num">
                                      <p:cBhvr additive="base">
                                        <p:cTn id="12"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nodeType="clickEffect">
                                  <p:stCondLst>
                                    <p:cond delay="0"/>
                                  </p:stCondLst>
                                  <p:childTnLst>
                                    <p:set>
                                      <p:cBhvr>
                                        <p:cTn id="17" dur="1" fill="hold">
                                          <p:stCondLst>
                                            <p:cond delay="0"/>
                                          </p:stCondLst>
                                        </p:cTn>
                                        <p:tgtEl>
                                          <p:spTgt spid="75780">
                                            <p:txEl>
                                              <p:pRg st="2" end="2"/>
                                            </p:txEl>
                                          </p:spTgt>
                                        </p:tgtEl>
                                        <p:attrNameLst>
                                          <p:attrName>style.visibility</p:attrName>
                                        </p:attrNameLst>
                                      </p:cBhvr>
                                      <p:to>
                                        <p:strVal val="visible"/>
                                      </p:to>
                                    </p:set>
                                    <p:anim calcmode="lin" valueType="num">
                                      <p:cBhvr>
                                        <p:cTn id="18" dur="500" fill="hold"/>
                                        <p:tgtEl>
                                          <p:spTgt spid="75780">
                                            <p:txEl>
                                              <p:pRg st="2" end="2"/>
                                            </p:txEl>
                                          </p:spTgt>
                                        </p:tgtEl>
                                        <p:attrNameLst>
                                          <p:attrName>ppt_w</p:attrName>
                                        </p:attrNameLst>
                                      </p:cBhvr>
                                      <p:tavLst>
                                        <p:tav tm="0">
                                          <p:val>
                                            <p:fltVal val="0"/>
                                          </p:val>
                                        </p:tav>
                                        <p:tav tm="100000">
                                          <p:val>
                                            <p:strVal val="#ppt_w"/>
                                          </p:val>
                                        </p:tav>
                                      </p:tavLst>
                                    </p:anim>
                                    <p:anim calcmode="lin" valueType="num">
                                      <p:cBhvr>
                                        <p:cTn id="19" dur="500" fill="hold"/>
                                        <p:tgtEl>
                                          <p:spTgt spid="75780">
                                            <p:txEl>
                                              <p:pRg st="2" end="2"/>
                                            </p:txEl>
                                          </p:spTgt>
                                        </p:tgtEl>
                                        <p:attrNameLst>
                                          <p:attrName>ppt_h</p:attrName>
                                        </p:attrNameLst>
                                      </p:cBhvr>
                                      <p:tavLst>
                                        <p:tav tm="0">
                                          <p:val>
                                            <p:fltVal val="0"/>
                                          </p:val>
                                        </p:tav>
                                        <p:tav tm="100000">
                                          <p:val>
                                            <p:strVal val="#ppt_h"/>
                                          </p:val>
                                        </p:tav>
                                      </p:tavLst>
                                    </p:anim>
                                    <p:animEffect transition="in" filter="fade">
                                      <p:cBhvr>
                                        <p:cTn id="20" dur="500"/>
                                        <p:tgtEl>
                                          <p:spTgt spid="757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368107" y="500063"/>
            <a:ext cx="11628914" cy="1800225"/>
          </a:xfrm>
        </p:spPr>
        <p:txBody>
          <a:bodyPr lIns="129607" tIns="64804" rIns="129607" bIns="64804"/>
          <a:lstStyle/>
          <a:p>
            <a:pPr algn="ctr"/>
            <a:r>
              <a:rPr lang="en-US" altLang="en-US" b="1" dirty="0">
                <a:solidFill>
                  <a:schemeClr val="tx1"/>
                </a:solidFill>
                <a:latin typeface="Times New Roman" panose="02020603050405020304" pitchFamily="18" charset="0"/>
                <a:cs typeface="Times New Roman" panose="02020603050405020304" pitchFamily="18" charset="0"/>
              </a:rPr>
              <a:t>Example: Demonstrating Polymorphism and Casting</a:t>
            </a:r>
          </a:p>
        </p:txBody>
      </p:sp>
      <p:sp>
        <p:nvSpPr>
          <p:cNvPr id="43012" name="Rectangle 3"/>
          <p:cNvSpPr>
            <a:spLocks noGrp="1" noChangeArrowheads="1"/>
          </p:cNvSpPr>
          <p:nvPr>
            <p:ph type="body" idx="1"/>
          </p:nvPr>
        </p:nvSpPr>
        <p:spPr>
          <a:xfrm>
            <a:off x="342027" y="2600325"/>
            <a:ext cx="12997021" cy="4500563"/>
          </a:xfrm>
        </p:spPr>
        <p:txBody>
          <a:bodyPr/>
          <a:lstStyle/>
          <a:p>
            <a:pPr marL="0" indent="0" algn="just">
              <a:buNone/>
            </a:pPr>
            <a:r>
              <a:rPr lang="en-US" altLang="en-US" sz="4800" dirty="0">
                <a:latin typeface="Times New Roman" panose="02020603050405020304" pitchFamily="18" charset="0"/>
                <a:cs typeface="Times New Roman" panose="02020603050405020304" pitchFamily="18" charset="0"/>
              </a:rPr>
              <a:t>This example creates two geometric objects: a circle, and a rectangle, invokes the </a:t>
            </a:r>
            <a:r>
              <a:rPr lang="en-US" altLang="en-US" sz="4800" dirty="0" err="1">
                <a:latin typeface="Times New Roman" panose="02020603050405020304" pitchFamily="18" charset="0"/>
                <a:cs typeface="Times New Roman" panose="02020603050405020304" pitchFamily="18" charset="0"/>
              </a:rPr>
              <a:t>displayGeometricObject</a:t>
            </a:r>
            <a:r>
              <a:rPr lang="en-US" altLang="en-US" sz="4800" dirty="0">
                <a:latin typeface="Times New Roman" panose="02020603050405020304" pitchFamily="18" charset="0"/>
                <a:cs typeface="Times New Roman" panose="02020603050405020304" pitchFamily="18" charset="0"/>
              </a:rPr>
              <a:t> method to display the objects. The </a:t>
            </a:r>
            <a:r>
              <a:rPr lang="en-US" altLang="en-US" sz="4800" dirty="0" err="1">
                <a:latin typeface="Times New Roman" panose="02020603050405020304" pitchFamily="18" charset="0"/>
                <a:cs typeface="Times New Roman" panose="02020603050405020304" pitchFamily="18" charset="0"/>
              </a:rPr>
              <a:t>displayGeometricObject</a:t>
            </a:r>
            <a:r>
              <a:rPr lang="en-US" altLang="en-US" sz="4800" dirty="0">
                <a:latin typeface="Times New Roman" panose="02020603050405020304" pitchFamily="18" charset="0"/>
                <a:cs typeface="Times New Roman" panose="02020603050405020304" pitchFamily="18" charset="0"/>
              </a:rPr>
              <a:t> displays the area and diameter if the object is a circle, and displays area if the object is a rectangle. </a:t>
            </a:r>
          </a:p>
        </p:txBody>
      </p:sp>
      <p:sp>
        <p:nvSpPr>
          <p:cNvPr id="43013" name="AutoShape 10">
            <a:hlinkClick r:id="rId2" action="ppaction://program" highlightClick="1"/>
          </p:cNvPr>
          <p:cNvSpPr>
            <a:spLocks noChangeArrowheads="1"/>
          </p:cNvSpPr>
          <p:nvPr/>
        </p:nvSpPr>
        <p:spPr bwMode="auto">
          <a:xfrm>
            <a:off x="11346267" y="7338418"/>
            <a:ext cx="10450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43014" name="Rectangle 8">
            <a:hlinkClick r:id="rId3"/>
          </p:cNvPr>
          <p:cNvSpPr>
            <a:spLocks noChangeArrowheads="1"/>
          </p:cNvSpPr>
          <p:nvPr/>
        </p:nvSpPr>
        <p:spPr bwMode="auto">
          <a:xfrm>
            <a:off x="8496044" y="7311331"/>
            <a:ext cx="257707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CastingDemo</a:t>
            </a:r>
          </a:p>
        </p:txBody>
      </p:sp>
    </p:spTree>
    <p:extLst>
      <p:ext uri="{BB962C8B-B14F-4D97-AF65-F5344CB8AC3E}">
        <p14:creationId xmlns:p14="http://schemas.microsoft.com/office/powerpoint/2010/main" val="3249952994"/>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1025525" y="106363"/>
            <a:ext cx="11630025" cy="900112"/>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Courier New" panose="02070309020205020404" pitchFamily="49" charset="0"/>
                <a:cs typeface="Courier New" panose="02070309020205020404" pitchFamily="49" charset="0"/>
              </a:rPr>
              <a:t>equals</a:t>
            </a:r>
            <a:r>
              <a:rPr lang="en-US" b="1" dirty="0">
                <a:solidFill>
                  <a:schemeClr val="tx1"/>
                </a:solidFill>
                <a:latin typeface="Times New Roman" panose="02020603050405020304" pitchFamily="18" charset="0"/>
                <a:cs typeface="Times New Roman" panose="02020603050405020304" pitchFamily="18" charset="0"/>
              </a:rPr>
              <a:t> Method</a:t>
            </a:r>
          </a:p>
        </p:txBody>
      </p:sp>
      <p:sp>
        <p:nvSpPr>
          <p:cNvPr id="93188" name="Rectangle 3"/>
          <p:cNvSpPr>
            <a:spLocks noGrp="1" noChangeArrowheads="1"/>
          </p:cNvSpPr>
          <p:nvPr>
            <p:ph type="body" idx="1"/>
          </p:nvPr>
        </p:nvSpPr>
        <p:spPr>
          <a:xfrm>
            <a:off x="287338" y="1400175"/>
            <a:ext cx="13225462" cy="2000250"/>
          </a:xfrm>
        </p:spPr>
        <p:txBody>
          <a:bodyPr/>
          <a:lstStyle/>
          <a:p>
            <a:pPr marL="0" indent="0">
              <a:spcBef>
                <a:spcPct val="75000"/>
              </a:spcBef>
              <a:buFont typeface="Monotype Sorts" pitchFamily="2" charset="2"/>
              <a:buNone/>
            </a:pPr>
            <a:r>
              <a:rPr lang="en-US" sz="4000" dirty="0">
                <a:latin typeface="Times New Roman" panose="02020603050405020304" pitchFamily="18" charset="0"/>
                <a:cs typeface="Times New Roman" panose="02020603050405020304" pitchFamily="18" charset="0"/>
              </a:rPr>
              <a:t>The </a:t>
            </a:r>
            <a:r>
              <a:rPr lang="en-US" sz="4000" b="1" dirty="0">
                <a:latin typeface="Times New Roman" panose="02020603050405020304" pitchFamily="18" charset="0"/>
                <a:cs typeface="Times New Roman" panose="02020603050405020304" pitchFamily="18" charset="0"/>
              </a:rPr>
              <a:t>equals() </a:t>
            </a:r>
            <a:r>
              <a:rPr lang="en-US" sz="4000" dirty="0">
                <a:latin typeface="Times New Roman" panose="02020603050405020304" pitchFamily="18" charset="0"/>
                <a:cs typeface="Times New Roman" panose="02020603050405020304" pitchFamily="18" charset="0"/>
              </a:rPr>
              <a:t>method compares the contents of two objects. The default implementation of the equals method in the Object class is as follows:</a:t>
            </a:r>
          </a:p>
        </p:txBody>
      </p:sp>
      <p:sp>
        <p:nvSpPr>
          <p:cNvPr id="93189" name="Rectangle 4"/>
          <p:cNvSpPr>
            <a:spLocks noChangeArrowheads="1"/>
          </p:cNvSpPr>
          <p:nvPr/>
        </p:nvSpPr>
        <p:spPr bwMode="auto">
          <a:xfrm>
            <a:off x="1709738" y="3400425"/>
            <a:ext cx="9918700" cy="1900238"/>
          </a:xfrm>
          <a:prstGeom prst="rect">
            <a:avLst/>
          </a:prstGeom>
          <a:noFill/>
          <a:ln w="9525">
            <a:noFill/>
            <a:miter lim="800000"/>
            <a:headEnd/>
            <a:tailEnd/>
          </a:ln>
        </p:spPr>
        <p:txBody>
          <a:bodyPr lIns="130421" tIns="65212" rIns="130421" bIns="65212"/>
          <a:lstStyle/>
          <a:p>
            <a:pPr>
              <a:spcBef>
                <a:spcPct val="75000"/>
              </a:spcBef>
              <a:buClr>
                <a:schemeClr val="tx2"/>
              </a:buClr>
              <a:buSzPct val="75000"/>
              <a:buFont typeface="Monotype Sorts" pitchFamily="2" charset="2"/>
              <a:buNone/>
            </a:pPr>
            <a:r>
              <a:rPr lang="en-US" sz="2800" dirty="0">
                <a:latin typeface="Courier New" pitchFamily="49" charset="0"/>
                <a:cs typeface="Times New Roman" pitchFamily="18" charset="0"/>
              </a:rPr>
              <a:t>public </a:t>
            </a:r>
            <a:r>
              <a:rPr lang="en-US" sz="2800" dirty="0" err="1">
                <a:latin typeface="Courier New" pitchFamily="49" charset="0"/>
                <a:cs typeface="Times New Roman" pitchFamily="18" charset="0"/>
              </a:rPr>
              <a:t>boolean</a:t>
            </a:r>
            <a:r>
              <a:rPr lang="en-US" sz="2800" dirty="0">
                <a:latin typeface="Courier New" pitchFamily="49" charset="0"/>
                <a:cs typeface="Times New Roman" pitchFamily="18" charset="0"/>
              </a:rPr>
              <a:t> equals(Object </a:t>
            </a:r>
            <a:r>
              <a:rPr lang="en-US" sz="2800" dirty="0" err="1">
                <a:latin typeface="Courier New" pitchFamily="49" charset="0"/>
                <a:cs typeface="Times New Roman" pitchFamily="18" charset="0"/>
              </a:rPr>
              <a:t>obj</a:t>
            </a:r>
            <a:r>
              <a:rPr lang="en-US" sz="2800" dirty="0">
                <a:latin typeface="Courier New" pitchFamily="49" charset="0"/>
                <a:cs typeface="Times New Roman" pitchFamily="18" charset="0"/>
              </a:rPr>
              <a:t>) {</a:t>
            </a:r>
          </a:p>
          <a:p>
            <a:pPr>
              <a:lnSpc>
                <a:spcPct val="0"/>
              </a:lnSpc>
              <a:spcBef>
                <a:spcPct val="75000"/>
              </a:spcBef>
              <a:buClr>
                <a:schemeClr val="tx2"/>
              </a:buClr>
              <a:buSzPct val="75000"/>
              <a:buFont typeface="Monotype Sorts" pitchFamily="2" charset="2"/>
              <a:buNone/>
            </a:pPr>
            <a:r>
              <a:rPr lang="en-US" sz="2800" dirty="0">
                <a:latin typeface="Courier New" pitchFamily="49" charset="0"/>
                <a:cs typeface="Times New Roman" pitchFamily="18" charset="0"/>
              </a:rPr>
              <a:t>  return (this == </a:t>
            </a:r>
            <a:r>
              <a:rPr lang="en-US" sz="2800" dirty="0" err="1">
                <a:latin typeface="Courier New" pitchFamily="49" charset="0"/>
                <a:cs typeface="Times New Roman" pitchFamily="18" charset="0"/>
              </a:rPr>
              <a:t>obj</a:t>
            </a:r>
            <a:r>
              <a:rPr lang="en-US" sz="2800" dirty="0">
                <a:latin typeface="Courier New" pitchFamily="49" charset="0"/>
                <a:cs typeface="Times New Roman" pitchFamily="18" charset="0"/>
              </a:rPr>
              <a:t>);</a:t>
            </a:r>
          </a:p>
          <a:p>
            <a:pPr>
              <a:lnSpc>
                <a:spcPct val="0"/>
              </a:lnSpc>
              <a:spcBef>
                <a:spcPct val="75000"/>
              </a:spcBef>
              <a:buClr>
                <a:schemeClr val="tx2"/>
              </a:buClr>
              <a:buSzPct val="75000"/>
              <a:buFont typeface="Monotype Sorts" pitchFamily="2" charset="2"/>
              <a:buNone/>
            </a:pPr>
            <a:r>
              <a:rPr lang="en-US" sz="2800" dirty="0">
                <a:latin typeface="Courier New" pitchFamily="49" charset="0"/>
                <a:cs typeface="Times New Roman" pitchFamily="18" charset="0"/>
              </a:rPr>
              <a:t>}</a:t>
            </a:r>
          </a:p>
        </p:txBody>
      </p:sp>
      <p:sp>
        <p:nvSpPr>
          <p:cNvPr id="93190" name="Rectangle 6"/>
          <p:cNvSpPr>
            <a:spLocks noChangeArrowheads="1"/>
          </p:cNvSpPr>
          <p:nvPr/>
        </p:nvSpPr>
        <p:spPr bwMode="auto">
          <a:xfrm>
            <a:off x="684213" y="5100638"/>
            <a:ext cx="4103687" cy="2400300"/>
          </a:xfrm>
          <a:prstGeom prst="rect">
            <a:avLst/>
          </a:prstGeom>
          <a:noFill/>
          <a:ln w="9525">
            <a:noFill/>
            <a:miter lim="800000"/>
            <a:headEnd/>
            <a:tailEnd/>
          </a:ln>
        </p:spPr>
        <p:txBody>
          <a:bodyPr lIns="130421" tIns="65212" rIns="130421" bIns="65212"/>
          <a:lstStyle/>
          <a:p>
            <a:pPr>
              <a:buClr>
                <a:schemeClr val="tx2"/>
              </a:buClr>
              <a:buSzPct val="75000"/>
              <a:buFont typeface="Monotype Sorts" pitchFamily="2" charset="2"/>
              <a:buNone/>
            </a:pPr>
            <a:r>
              <a:rPr lang="en-US" sz="2800" dirty="0">
                <a:latin typeface="Times New Roman" panose="02020603050405020304" pitchFamily="18" charset="0"/>
                <a:cs typeface="Times New Roman" panose="02020603050405020304" pitchFamily="18" charset="0"/>
              </a:rPr>
              <a:t>For example, the equals method is overridden in the Circle class.</a:t>
            </a:r>
          </a:p>
        </p:txBody>
      </p:sp>
      <p:sp>
        <p:nvSpPr>
          <p:cNvPr id="93191" name="Rectangle 7"/>
          <p:cNvSpPr>
            <a:spLocks noChangeArrowheads="1"/>
          </p:cNvSpPr>
          <p:nvPr/>
        </p:nvSpPr>
        <p:spPr bwMode="auto">
          <a:xfrm>
            <a:off x="5130800" y="4805363"/>
            <a:ext cx="7980363" cy="3657600"/>
          </a:xfrm>
          <a:prstGeom prst="rect">
            <a:avLst/>
          </a:prstGeom>
          <a:noFill/>
          <a:ln w="9525">
            <a:noFill/>
            <a:miter lim="800000"/>
            <a:headEnd/>
            <a:tailEnd/>
          </a:ln>
        </p:spPr>
        <p:txBody>
          <a:bodyPr lIns="130421" tIns="65212" rIns="130421" bIns="65212"/>
          <a:lstStyle/>
          <a:p>
            <a:pPr>
              <a:buClr>
                <a:schemeClr val="tx2"/>
              </a:buClr>
              <a:buSzPct val="75000"/>
              <a:buFont typeface="Monotype Sorts" pitchFamily="2" charset="2"/>
              <a:buNone/>
            </a:pPr>
            <a:r>
              <a:rPr lang="en-US" sz="2800" dirty="0">
                <a:latin typeface="Courier New" pitchFamily="49" charset="0"/>
                <a:cs typeface="Courier New" pitchFamily="49" charset="0"/>
              </a:rPr>
              <a:t>public </a:t>
            </a:r>
            <a:r>
              <a:rPr lang="en-US" sz="2800" dirty="0" err="1">
                <a:latin typeface="Courier New" pitchFamily="49" charset="0"/>
                <a:cs typeface="Courier New" pitchFamily="49" charset="0"/>
              </a:rPr>
              <a:t>boolean</a:t>
            </a:r>
            <a:r>
              <a:rPr lang="en-US" sz="2800" dirty="0">
                <a:latin typeface="Courier New" pitchFamily="49" charset="0"/>
                <a:cs typeface="Courier New" pitchFamily="49" charset="0"/>
              </a:rPr>
              <a:t> equals(Object o) {</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Courier New" pitchFamily="49" charset="0"/>
              </a:rPr>
              <a:t>  if (o </a:t>
            </a:r>
            <a:r>
              <a:rPr lang="en-US" sz="2800" dirty="0" err="1">
                <a:latin typeface="Courier New" pitchFamily="49" charset="0"/>
                <a:cs typeface="Courier New" pitchFamily="49" charset="0"/>
              </a:rPr>
              <a:t>instanceof</a:t>
            </a:r>
            <a:r>
              <a:rPr lang="en-US" sz="2800" dirty="0">
                <a:latin typeface="Courier New" pitchFamily="49" charset="0"/>
                <a:cs typeface="Courier New" pitchFamily="49" charset="0"/>
              </a:rPr>
              <a:t> Circle) {</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Courier New" pitchFamily="49" charset="0"/>
              </a:rPr>
              <a:t>    return radius == ((Circle)o).radius;</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Courier New" pitchFamily="49" charset="0"/>
              </a:rPr>
              <a:t>  }</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Courier New" pitchFamily="49" charset="0"/>
              </a:rPr>
              <a:t>  else</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Courier New" pitchFamily="49" charset="0"/>
              </a:rPr>
              <a:t>    return false;</a:t>
            </a:r>
            <a:endParaRPr lang="en-US" sz="2800" dirty="0">
              <a:latin typeface="Courier New" pitchFamily="49" charset="0"/>
              <a:cs typeface="Times New Roman" pitchFamily="18" charset="0"/>
            </a:endParaRPr>
          </a:p>
          <a:p>
            <a:pPr>
              <a:buClr>
                <a:schemeClr val="tx2"/>
              </a:buClr>
              <a:buSzPct val="75000"/>
              <a:buFont typeface="Monotype Sorts" pitchFamily="2" charset="2"/>
              <a:buNone/>
            </a:pPr>
            <a:r>
              <a:rPr lang="en-US" sz="2800" dirty="0">
                <a:latin typeface="Courier New" pitchFamily="49" charset="0"/>
                <a:cs typeface="Times New Roman" pitchFamily="18" charset="0"/>
              </a:rPr>
              <a:t>}</a:t>
            </a:r>
            <a:r>
              <a:rPr lang="en-US" sz="2800" dirty="0">
                <a:latin typeface="Courier New" pitchFamily="49" charset="0"/>
                <a:cs typeface="Courier New" pitchFamily="49" charset="0"/>
              </a:rPr>
              <a:t> </a:t>
            </a:r>
          </a:p>
        </p:txBody>
      </p:sp>
    </p:spTree>
    <p:extLst>
      <p:ext uri="{BB962C8B-B14F-4D97-AF65-F5344CB8AC3E}">
        <p14:creationId xmlns:p14="http://schemas.microsoft.com/office/powerpoint/2010/main" val="36435183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3188">
                                            <p:txEl>
                                              <p:pRg st="0" end="0"/>
                                            </p:txEl>
                                          </p:spTgt>
                                        </p:tgtEl>
                                        <p:attrNameLst>
                                          <p:attrName>style.visibility</p:attrName>
                                        </p:attrNameLst>
                                      </p:cBhvr>
                                      <p:to>
                                        <p:strVal val="visible"/>
                                      </p:to>
                                    </p:set>
                                    <p:animEffect transition="in" filter="strips(downLeft)">
                                      <p:cBhvr>
                                        <p:cTn id="7" dur="500"/>
                                        <p:tgtEl>
                                          <p:spTgt spid="931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93189"/>
                                        </p:tgtEl>
                                        <p:attrNameLst>
                                          <p:attrName>style.visibility</p:attrName>
                                        </p:attrNameLst>
                                      </p:cBhvr>
                                      <p:to>
                                        <p:strVal val="visible"/>
                                      </p:to>
                                    </p:set>
                                    <p:anim calcmode="lin" valueType="num">
                                      <p:cBhvr>
                                        <p:cTn id="12" dur="500" fill="hold"/>
                                        <p:tgtEl>
                                          <p:spTgt spid="93189"/>
                                        </p:tgtEl>
                                        <p:attrNameLst>
                                          <p:attrName>ppt_w</p:attrName>
                                        </p:attrNameLst>
                                      </p:cBhvr>
                                      <p:tavLst>
                                        <p:tav tm="0">
                                          <p:val>
                                            <p:fltVal val="0"/>
                                          </p:val>
                                        </p:tav>
                                        <p:tav tm="100000">
                                          <p:val>
                                            <p:strVal val="#ppt_w"/>
                                          </p:val>
                                        </p:tav>
                                      </p:tavLst>
                                    </p:anim>
                                    <p:anim calcmode="lin" valueType="num">
                                      <p:cBhvr>
                                        <p:cTn id="13" dur="500" fill="hold"/>
                                        <p:tgtEl>
                                          <p:spTgt spid="93189"/>
                                        </p:tgtEl>
                                        <p:attrNameLst>
                                          <p:attrName>ppt_h</p:attrName>
                                        </p:attrNameLst>
                                      </p:cBhvr>
                                      <p:tavLst>
                                        <p:tav tm="0">
                                          <p:val>
                                            <p:fltVal val="0"/>
                                          </p:val>
                                        </p:tav>
                                        <p:tav tm="100000">
                                          <p:val>
                                            <p:strVal val="#ppt_h"/>
                                          </p:val>
                                        </p:tav>
                                      </p:tavLst>
                                    </p:anim>
                                    <p:animEffect transition="in" filter="fade">
                                      <p:cBhvr>
                                        <p:cTn id="14" dur="500"/>
                                        <p:tgtEl>
                                          <p:spTgt spid="93189"/>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6" fill="hold" grpId="0" nodeType="clickEffect">
                                  <p:stCondLst>
                                    <p:cond delay="0"/>
                                  </p:stCondLst>
                                  <p:childTnLst>
                                    <p:set>
                                      <p:cBhvr>
                                        <p:cTn id="18" dur="1" fill="hold">
                                          <p:stCondLst>
                                            <p:cond delay="0"/>
                                          </p:stCondLst>
                                        </p:cTn>
                                        <p:tgtEl>
                                          <p:spTgt spid="93190"/>
                                        </p:tgtEl>
                                        <p:attrNameLst>
                                          <p:attrName>style.visibility</p:attrName>
                                        </p:attrNameLst>
                                      </p:cBhvr>
                                      <p:to>
                                        <p:strVal val="visible"/>
                                      </p:to>
                                    </p:set>
                                    <p:animEffect transition="in" filter="barn(inHorizontal)">
                                      <p:cBhvr>
                                        <p:cTn id="19" dur="500"/>
                                        <p:tgtEl>
                                          <p:spTgt spid="93190"/>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93191"/>
                                        </p:tgtEl>
                                        <p:attrNameLst>
                                          <p:attrName>style.visibility</p:attrName>
                                        </p:attrNameLst>
                                      </p:cBhvr>
                                      <p:to>
                                        <p:strVal val="visible"/>
                                      </p:to>
                                    </p:set>
                                    <p:animEffect transition="in" filter="slide(fromBottom)">
                                      <p:cBhvr>
                                        <p:cTn id="24" dur="5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build="p"/>
      <p:bldP spid="93189" grpId="0"/>
      <p:bldP spid="93190" grpId="0"/>
      <p:bldP spid="9319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a:xfrm>
            <a:off x="1025525" y="4763"/>
            <a:ext cx="11630025" cy="900112"/>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NOTE</a:t>
            </a:r>
          </a:p>
        </p:txBody>
      </p:sp>
      <p:sp>
        <p:nvSpPr>
          <p:cNvPr id="94212" name="Text Box 3"/>
          <p:cNvSpPr txBox="1">
            <a:spLocks noChangeArrowheads="1"/>
          </p:cNvSpPr>
          <p:nvPr/>
        </p:nvSpPr>
        <p:spPr bwMode="auto">
          <a:xfrm>
            <a:off x="134938" y="919163"/>
            <a:ext cx="13452475" cy="5947770"/>
          </a:xfrm>
          <a:prstGeom prst="rect">
            <a:avLst/>
          </a:prstGeom>
          <a:noFill/>
          <a:ln w="12700">
            <a:noFill/>
            <a:miter lim="800000"/>
            <a:headEnd type="none" w="sm" len="sm"/>
            <a:tailEnd type="none" w="sm" len="sm"/>
          </a:ln>
        </p:spPr>
        <p:txBody>
          <a:bodyPr lIns="129522" tIns="64764" rIns="129522" bIns="64764">
            <a:spAutoFit/>
          </a:bodyPr>
          <a:lstStyle/>
          <a:p>
            <a:pPr marL="627063" indent="-538163">
              <a:buFont typeface="Wingdings" pitchFamily="2" charset="2"/>
              <a:buChar char="ü"/>
            </a:pPr>
            <a:r>
              <a:rPr lang="en-US" sz="4200" dirty="0">
                <a:latin typeface="Times New Roman" panose="02020603050405020304" pitchFamily="18" charset="0"/>
                <a:cs typeface="Times New Roman" panose="02020603050405020304" pitchFamily="18" charset="0"/>
              </a:rPr>
              <a:t>The </a:t>
            </a:r>
            <a:r>
              <a:rPr lang="en-US" sz="4200" b="1" dirty="0">
                <a:latin typeface="Times New Roman" panose="02020603050405020304" pitchFamily="18" charset="0"/>
                <a:cs typeface="Times New Roman" panose="02020603050405020304" pitchFamily="18" charset="0"/>
              </a:rPr>
              <a:t>==</a:t>
            </a:r>
            <a:r>
              <a:rPr lang="en-US" sz="4200" dirty="0">
                <a:latin typeface="Times New Roman" panose="02020603050405020304" pitchFamily="18" charset="0"/>
                <a:cs typeface="Times New Roman" panose="02020603050405020304" pitchFamily="18" charset="0"/>
              </a:rPr>
              <a:t> comparison operator is used for comparing two primitive data type values or for determining whether two objects have the same references. </a:t>
            </a:r>
          </a:p>
          <a:p>
            <a:pPr marL="627063" indent="-538163">
              <a:buFont typeface="Wingdings" pitchFamily="2" charset="2"/>
              <a:buChar char="ü"/>
            </a:pPr>
            <a:r>
              <a:rPr lang="en-US" sz="4200" dirty="0">
                <a:latin typeface="Times New Roman" panose="02020603050405020304" pitchFamily="18" charset="0"/>
                <a:cs typeface="Times New Roman" panose="02020603050405020304" pitchFamily="18" charset="0"/>
              </a:rPr>
              <a:t>The </a:t>
            </a:r>
            <a:r>
              <a:rPr lang="en-US" sz="4200" b="1" dirty="0">
                <a:latin typeface="Times New Roman" panose="02020603050405020304" pitchFamily="18" charset="0"/>
                <a:cs typeface="Times New Roman" panose="02020603050405020304" pitchFamily="18" charset="0"/>
              </a:rPr>
              <a:t>equals</a:t>
            </a:r>
            <a:r>
              <a:rPr lang="en-US" sz="4200" dirty="0">
                <a:latin typeface="Times New Roman" panose="02020603050405020304" pitchFamily="18" charset="0"/>
                <a:cs typeface="Times New Roman" panose="02020603050405020304" pitchFamily="18" charset="0"/>
              </a:rPr>
              <a:t> method is intended to test whether two objects have the same contents, provided that the method is modified in the defining class of the objects. </a:t>
            </a:r>
          </a:p>
          <a:p>
            <a:pPr marL="627063" indent="-538163">
              <a:buFont typeface="Wingdings" pitchFamily="2" charset="2"/>
              <a:buChar char="ü"/>
            </a:pPr>
            <a:r>
              <a:rPr lang="en-US" sz="4200" dirty="0">
                <a:latin typeface="Times New Roman" panose="02020603050405020304" pitchFamily="18" charset="0"/>
                <a:cs typeface="Times New Roman" panose="02020603050405020304" pitchFamily="18" charset="0"/>
              </a:rPr>
              <a:t>The </a:t>
            </a:r>
            <a:r>
              <a:rPr lang="en-US" sz="4200" b="1" dirty="0">
                <a:latin typeface="Times New Roman" panose="02020603050405020304" pitchFamily="18" charset="0"/>
                <a:cs typeface="Times New Roman" panose="02020603050405020304" pitchFamily="18" charset="0"/>
              </a:rPr>
              <a:t>==</a:t>
            </a:r>
            <a:r>
              <a:rPr lang="en-US" sz="4200" dirty="0">
                <a:latin typeface="Times New Roman" panose="02020603050405020304" pitchFamily="18" charset="0"/>
                <a:cs typeface="Times New Roman" panose="02020603050405020304" pitchFamily="18" charset="0"/>
              </a:rPr>
              <a:t> operator is stronger than the </a:t>
            </a:r>
            <a:r>
              <a:rPr lang="en-US" sz="4200" b="1" dirty="0">
                <a:latin typeface="Times New Roman" panose="02020603050405020304" pitchFamily="18" charset="0"/>
                <a:cs typeface="Times New Roman" panose="02020603050405020304" pitchFamily="18" charset="0"/>
              </a:rPr>
              <a:t>equals</a:t>
            </a:r>
            <a:r>
              <a:rPr lang="en-US" sz="4200" dirty="0">
                <a:latin typeface="Times New Roman" panose="02020603050405020304" pitchFamily="18" charset="0"/>
                <a:cs typeface="Times New Roman" panose="02020603050405020304" pitchFamily="18" charset="0"/>
              </a:rPr>
              <a:t> method, in that the </a:t>
            </a:r>
            <a:r>
              <a:rPr lang="en-US" sz="4200" b="1" dirty="0">
                <a:latin typeface="Times New Roman" panose="02020603050405020304" pitchFamily="18" charset="0"/>
                <a:cs typeface="Times New Roman" panose="02020603050405020304" pitchFamily="18" charset="0"/>
              </a:rPr>
              <a:t>==</a:t>
            </a:r>
            <a:r>
              <a:rPr lang="en-US" sz="4200" dirty="0">
                <a:latin typeface="Times New Roman" panose="02020603050405020304" pitchFamily="18" charset="0"/>
                <a:cs typeface="Times New Roman" panose="02020603050405020304" pitchFamily="18" charset="0"/>
              </a:rPr>
              <a:t> operator checks whether the two reference variables refer to the same object.</a:t>
            </a:r>
          </a:p>
        </p:txBody>
      </p:sp>
    </p:spTree>
    <p:extLst>
      <p:ext uri="{BB962C8B-B14F-4D97-AF65-F5344CB8AC3E}">
        <p14:creationId xmlns:p14="http://schemas.microsoft.com/office/powerpoint/2010/main" val="91728941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12">
                                            <p:txEl>
                                              <p:pRg st="0" end="0"/>
                                            </p:txEl>
                                          </p:spTgt>
                                        </p:tgtEl>
                                        <p:attrNameLst>
                                          <p:attrName>style.visibility</p:attrName>
                                        </p:attrNameLst>
                                      </p:cBhvr>
                                      <p:to>
                                        <p:strVal val="visible"/>
                                      </p:to>
                                    </p:set>
                                    <p:anim calcmode="lin" valueType="num">
                                      <p:cBhvr additive="base">
                                        <p:cTn id="7" dur="500" fill="hold"/>
                                        <p:tgtEl>
                                          <p:spTgt spid="942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2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4212">
                                            <p:txEl>
                                              <p:pRg st="1" end="1"/>
                                            </p:txEl>
                                          </p:spTgt>
                                        </p:tgtEl>
                                        <p:attrNameLst>
                                          <p:attrName>style.visibility</p:attrName>
                                        </p:attrNameLst>
                                      </p:cBhvr>
                                      <p:to>
                                        <p:strVal val="visible"/>
                                      </p:to>
                                    </p:set>
                                    <p:animEffect transition="in" filter="slide(fromBottom)">
                                      <p:cBhvr>
                                        <p:cTn id="13" dur="500"/>
                                        <p:tgtEl>
                                          <p:spTgt spid="94212">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94212">
                                            <p:txEl>
                                              <p:pRg st="2" end="2"/>
                                            </p:txEl>
                                          </p:spTgt>
                                        </p:tgtEl>
                                        <p:attrNameLst>
                                          <p:attrName>style.visibility</p:attrName>
                                        </p:attrNameLst>
                                      </p:cBhvr>
                                      <p:to>
                                        <p:strVal val="visible"/>
                                      </p:to>
                                    </p:set>
                                    <p:animEffect transition="in" filter="barn(inHorizontal)">
                                      <p:cBhvr>
                                        <p:cTn id="18" dur="500"/>
                                        <p:tgtEl>
                                          <p:spTgt spid="942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t>
            </a:r>
            <a:r>
              <a:rPr lang="en-US" altLang="en-US" sz="4800" b="1" u="sng" dirty="0" err="1">
                <a:solidFill>
                  <a:schemeClr val="tx1"/>
                </a:solidFill>
                <a:latin typeface="Times New Roman" panose="02020603050405020304" pitchFamily="18" charset="0"/>
                <a:cs typeface="Times New Roman" panose="02020603050405020304" pitchFamily="18" charset="0"/>
              </a:rPr>
              <a:t>ArrayList</a:t>
            </a:r>
            <a:r>
              <a:rPr lang="en-US" altLang="en-US" sz="4800" b="1" dirty="0">
                <a:solidFill>
                  <a:schemeClr val="tx1"/>
                </a:solidFill>
                <a:latin typeface="Times New Roman" panose="02020603050405020304" pitchFamily="18" charset="0"/>
                <a:cs typeface="Times New Roman" panose="02020603050405020304" pitchFamily="18" charset="0"/>
              </a:rPr>
              <a:t> Class</a:t>
            </a:r>
          </a:p>
        </p:txBody>
      </p:sp>
      <p:sp>
        <p:nvSpPr>
          <p:cNvPr id="46084" name="Rectangle 3"/>
          <p:cNvSpPr>
            <a:spLocks noGrp="1" noChangeArrowheads="1"/>
          </p:cNvSpPr>
          <p:nvPr>
            <p:ph type="body" idx="1"/>
          </p:nvPr>
        </p:nvSpPr>
        <p:spPr>
          <a:xfrm>
            <a:off x="342027" y="1300163"/>
            <a:ext cx="12883012" cy="1600200"/>
          </a:xfrm>
        </p:spPr>
        <p:txBody>
          <a:bodyPr/>
          <a:lstStyle/>
          <a:p>
            <a:pPr marL="0" indent="0">
              <a:spcAft>
                <a:spcPts val="1701"/>
              </a:spcAft>
              <a:buNone/>
            </a:pPr>
            <a:r>
              <a:rPr lang="en-US" altLang="en-US" sz="3400" dirty="0">
                <a:latin typeface="Times New Roman" panose="02020603050405020304" pitchFamily="18" charset="0"/>
                <a:cs typeface="Times New Roman" panose="02020603050405020304" pitchFamily="18" charset="0"/>
              </a:rPr>
              <a:t>You can create an array to store objects. But the array’s size is fixed once the array is created. Java provides the </a:t>
            </a:r>
            <a:r>
              <a:rPr lang="en-US" altLang="en-US" sz="3400" dirty="0" err="1">
                <a:latin typeface="Times New Roman" panose="02020603050405020304" pitchFamily="18" charset="0"/>
                <a:cs typeface="Times New Roman" panose="02020603050405020304" pitchFamily="18" charset="0"/>
              </a:rPr>
              <a:t>ArrayList</a:t>
            </a:r>
            <a:r>
              <a:rPr lang="en-US" altLang="en-US" sz="3400" dirty="0">
                <a:latin typeface="Times New Roman" panose="02020603050405020304" pitchFamily="18" charset="0"/>
                <a:cs typeface="Times New Roman" panose="02020603050405020304" pitchFamily="18" charset="0"/>
              </a:rPr>
              <a:t> class that can be used to store an unlimited number of objects. </a:t>
            </a:r>
          </a:p>
        </p:txBody>
      </p:sp>
      <p:sp>
        <p:nvSpPr>
          <p:cNvPr id="46085" name="Rectangle 5"/>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6086" name="Rectangle 7"/>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6087" name="Rectangle 9"/>
          <p:cNvSpPr>
            <a:spLocks noChangeArrowheads="1"/>
          </p:cNvSpPr>
          <p:nvPr/>
        </p:nvSpPr>
        <p:spPr bwMode="auto">
          <a:xfrm>
            <a:off x="0" y="2579567"/>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46088" name="Object 8"/>
          <p:cNvGraphicFramePr>
            <a:graphicFrameLocks noChangeAspect="1"/>
          </p:cNvGraphicFramePr>
          <p:nvPr/>
        </p:nvGraphicFramePr>
        <p:xfrm>
          <a:off x="1710134" y="2906615"/>
          <a:ext cx="11058869" cy="5521523"/>
        </p:xfrm>
        <a:graphic>
          <a:graphicData uri="http://schemas.openxmlformats.org/presentationml/2006/ole">
            <mc:AlternateContent xmlns:mc="http://schemas.openxmlformats.org/markup-compatibility/2006">
              <mc:Choice xmlns:v="urn:schemas-microsoft-com:vml" Requires="v">
                <p:oleObj spid="_x0000_s8205" name="Picture" r:id="rId2" imgW="4267200" imgH="2425700" progId="Word.Picture.8">
                  <p:embed/>
                </p:oleObj>
              </mc:Choice>
              <mc:Fallback>
                <p:oleObj name="Picture" r:id="rId2" imgW="4267200" imgH="2425700" progId="Word.Picture.8">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134" y="2906615"/>
                        <a:ext cx="11058869" cy="55215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26866227"/>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Generic Type </a:t>
            </a:r>
          </a:p>
        </p:txBody>
      </p:sp>
      <p:sp>
        <p:nvSpPr>
          <p:cNvPr id="47108" name="Rectangle 3"/>
          <p:cNvSpPr>
            <a:spLocks noGrp="1" noChangeArrowheads="1"/>
          </p:cNvSpPr>
          <p:nvPr>
            <p:ph type="body" idx="1"/>
          </p:nvPr>
        </p:nvSpPr>
        <p:spPr>
          <a:xfrm>
            <a:off x="228018" y="1300162"/>
            <a:ext cx="13225039" cy="3900488"/>
          </a:xfrm>
        </p:spPr>
        <p:txBody>
          <a:bodyPr/>
          <a:lstStyle/>
          <a:p>
            <a:pPr marL="0" indent="0">
              <a:spcBef>
                <a:spcPct val="40000"/>
              </a:spcBef>
              <a:spcAft>
                <a:spcPts val="1701"/>
              </a:spcAft>
              <a:buNone/>
            </a:pPr>
            <a:r>
              <a:rPr lang="en-US" altLang="en-US" dirty="0" err="1">
                <a:latin typeface="Times New Roman" panose="02020603050405020304" pitchFamily="18" charset="0"/>
                <a:cs typeface="Times New Roman" panose="02020603050405020304" pitchFamily="18" charset="0"/>
              </a:rPr>
              <a:t>ArrayList</a:t>
            </a:r>
            <a:r>
              <a:rPr lang="en-US" altLang="en-US" dirty="0">
                <a:latin typeface="Times New Roman" panose="02020603050405020304" pitchFamily="18" charset="0"/>
                <a:cs typeface="Times New Roman" panose="02020603050405020304" pitchFamily="18" charset="0"/>
              </a:rPr>
              <a:t> is known as a generic class with a generic type E. You can specify a concrete type to replace E when creating an </a:t>
            </a:r>
            <a:r>
              <a:rPr lang="en-US" altLang="en-US" dirty="0" err="1">
                <a:latin typeface="Times New Roman" panose="02020603050405020304" pitchFamily="18" charset="0"/>
                <a:cs typeface="Times New Roman" panose="02020603050405020304" pitchFamily="18" charset="0"/>
              </a:rPr>
              <a:t>ArrayList</a:t>
            </a:r>
            <a:r>
              <a:rPr lang="en-US" altLang="en-US" dirty="0">
                <a:latin typeface="Times New Roman" panose="02020603050405020304" pitchFamily="18" charset="0"/>
                <a:cs typeface="Times New Roman" panose="02020603050405020304" pitchFamily="18" charset="0"/>
              </a:rPr>
              <a:t>. For example, the following statement creates an </a:t>
            </a:r>
            <a:r>
              <a:rPr lang="en-US" altLang="en-US" dirty="0" err="1">
                <a:latin typeface="Times New Roman" panose="02020603050405020304" pitchFamily="18" charset="0"/>
                <a:cs typeface="Times New Roman" panose="02020603050405020304" pitchFamily="18" charset="0"/>
              </a:rPr>
              <a:t>ArrayList</a:t>
            </a:r>
            <a:r>
              <a:rPr lang="en-US" altLang="en-US" dirty="0">
                <a:latin typeface="Times New Roman" panose="02020603050405020304" pitchFamily="18" charset="0"/>
                <a:cs typeface="Times New Roman" panose="02020603050405020304" pitchFamily="18" charset="0"/>
              </a:rPr>
              <a:t> and assigns its reference to variable </a:t>
            </a:r>
            <a:r>
              <a:rPr lang="en-US" altLang="en-US" dirty="0">
                <a:latin typeface="Courier New" panose="02070309020205020404" pitchFamily="49" charset="0"/>
                <a:cs typeface="Courier New" panose="02070309020205020404" pitchFamily="49" charset="0"/>
              </a:rPr>
              <a:t>cities</a:t>
            </a:r>
            <a:r>
              <a:rPr lang="en-US" altLang="en-US" dirty="0">
                <a:latin typeface="Times New Roman" panose="02020603050405020304" pitchFamily="18" charset="0"/>
                <a:cs typeface="Times New Roman" panose="02020603050405020304" pitchFamily="18" charset="0"/>
              </a:rPr>
              <a:t>. This </a:t>
            </a:r>
            <a:r>
              <a:rPr lang="en-US" altLang="en-US" dirty="0" err="1">
                <a:latin typeface="Times New Roman" panose="02020603050405020304" pitchFamily="18" charset="0"/>
                <a:cs typeface="Times New Roman" panose="02020603050405020304" pitchFamily="18" charset="0"/>
              </a:rPr>
              <a:t>ArrayList</a:t>
            </a:r>
            <a:r>
              <a:rPr lang="en-US" altLang="en-US" dirty="0">
                <a:latin typeface="Times New Roman" panose="02020603050405020304" pitchFamily="18" charset="0"/>
                <a:cs typeface="Times New Roman" panose="02020603050405020304" pitchFamily="18" charset="0"/>
              </a:rPr>
              <a:t> object can be used to store strings.</a:t>
            </a:r>
          </a:p>
        </p:txBody>
      </p:sp>
      <p:sp>
        <p:nvSpPr>
          <p:cNvPr id="47109"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7110"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7111" name="Rectangle 9"/>
          <p:cNvSpPr>
            <a:spLocks noChangeArrowheads="1"/>
          </p:cNvSpPr>
          <p:nvPr/>
        </p:nvSpPr>
        <p:spPr bwMode="auto">
          <a:xfrm>
            <a:off x="-1" y="5300661"/>
            <a:ext cx="13225039"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40000"/>
              </a:spcBef>
              <a:spcAft>
                <a:spcPts val="1701"/>
              </a:spcAft>
              <a:buNone/>
            </a:pPr>
            <a:r>
              <a:rPr lang="en-US" altLang="en-US" dirty="0" err="1">
                <a:latin typeface="Courier New" panose="02070309020205020404" pitchFamily="49" charset="0"/>
                <a:cs typeface="Courier New" panose="02070309020205020404" pitchFamily="49" charset="0"/>
              </a:rPr>
              <a:t>ArrayList</a:t>
            </a:r>
            <a:r>
              <a:rPr lang="en-US" altLang="en-US" dirty="0">
                <a:latin typeface="Courier New" panose="02070309020205020404" pitchFamily="49" charset="0"/>
                <a:cs typeface="Courier New" panose="02070309020205020404" pitchFamily="49" charset="0"/>
              </a:rPr>
              <a:t>&lt;String&gt; cities = </a:t>
            </a:r>
            <a:r>
              <a:rPr lang="en-US" altLang="en-US" b="1" dirty="0">
                <a:latin typeface="Courier New" panose="02070309020205020404" pitchFamily="49" charset="0"/>
                <a:cs typeface="Courier New" panose="02070309020205020404" pitchFamily="49" charset="0"/>
              </a:rPr>
              <a:t>new</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ArrayList</a:t>
            </a:r>
            <a:r>
              <a:rPr lang="en-US" altLang="en-US" dirty="0">
                <a:latin typeface="Courier New" panose="02070309020205020404" pitchFamily="49" charset="0"/>
                <a:cs typeface="Courier New" panose="02070309020205020404" pitchFamily="49" charset="0"/>
              </a:rPr>
              <a:t>&lt;String&gt;();</a:t>
            </a:r>
          </a:p>
        </p:txBody>
      </p:sp>
      <p:sp>
        <p:nvSpPr>
          <p:cNvPr id="47112" name="Rectangle 11"/>
          <p:cNvSpPr>
            <a:spLocks noChangeArrowheads="1"/>
          </p:cNvSpPr>
          <p:nvPr/>
        </p:nvSpPr>
        <p:spPr bwMode="auto">
          <a:xfrm>
            <a:off x="0" y="6600825"/>
            <a:ext cx="13225039"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40000"/>
              </a:spcBef>
              <a:spcAft>
                <a:spcPts val="1701"/>
              </a:spcAft>
              <a:buNone/>
            </a:pPr>
            <a:r>
              <a:rPr lang="en-US" altLang="en-US">
                <a:latin typeface="Courier New" panose="02070309020205020404" pitchFamily="49" charset="0"/>
                <a:cs typeface="Courier New" panose="02070309020205020404" pitchFamily="49" charset="0"/>
              </a:rPr>
              <a:t>ArrayList&lt;String&gt; cities = </a:t>
            </a:r>
            <a:r>
              <a:rPr lang="en-US" altLang="en-US" b="1">
                <a:latin typeface="Courier New" panose="02070309020205020404" pitchFamily="49" charset="0"/>
                <a:cs typeface="Courier New" panose="02070309020205020404" pitchFamily="49" charset="0"/>
              </a:rPr>
              <a:t>new</a:t>
            </a:r>
            <a:r>
              <a:rPr lang="en-US" altLang="en-US">
                <a:latin typeface="Courier New" panose="02070309020205020404" pitchFamily="49" charset="0"/>
                <a:cs typeface="Courier New" panose="02070309020205020404" pitchFamily="49" charset="0"/>
              </a:rPr>
              <a:t> ArrayList&lt;&gt;();</a:t>
            </a:r>
          </a:p>
        </p:txBody>
      </p:sp>
      <p:sp>
        <p:nvSpPr>
          <p:cNvPr id="47113" name="AutoShape 10">
            <a:hlinkClick r:id="rId2" action="ppaction://program" highlightClick="1"/>
          </p:cNvPr>
          <p:cNvSpPr>
            <a:spLocks noChangeArrowheads="1"/>
          </p:cNvSpPr>
          <p:nvPr/>
        </p:nvSpPr>
        <p:spPr bwMode="auto">
          <a:xfrm>
            <a:off x="11400896" y="7700963"/>
            <a:ext cx="10450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47114" name="Rectangle 12">
            <a:hlinkClick r:id="rId3"/>
          </p:cNvPr>
          <p:cNvSpPr>
            <a:spLocks noChangeArrowheads="1"/>
          </p:cNvSpPr>
          <p:nvPr/>
        </p:nvSpPr>
        <p:spPr bwMode="auto">
          <a:xfrm>
            <a:off x="7807239" y="7673876"/>
            <a:ext cx="332288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TestArrayList</a:t>
            </a:r>
          </a:p>
        </p:txBody>
      </p:sp>
    </p:spTree>
    <p:extLst>
      <p:ext uri="{BB962C8B-B14F-4D97-AF65-F5344CB8AC3E}">
        <p14:creationId xmlns:p14="http://schemas.microsoft.com/office/powerpoint/2010/main" val="635564152"/>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Generic </a:t>
            </a:r>
            <a:r>
              <a:rPr lang="en-US" altLang="en-US" sz="4800" b="1" dirty="0" err="1">
                <a:solidFill>
                  <a:schemeClr val="tx1"/>
                </a:solidFill>
                <a:latin typeface="Times New Roman" panose="02020603050405020304" pitchFamily="18" charset="0"/>
                <a:cs typeface="Times New Roman" panose="02020603050405020304" pitchFamily="18" charset="0"/>
              </a:rPr>
              <a:t>ArrayList</a:t>
            </a:r>
            <a:r>
              <a:rPr lang="en-US" altLang="en-US" sz="4800" b="1" dirty="0">
                <a:solidFill>
                  <a:schemeClr val="tx1"/>
                </a:solidFill>
                <a:latin typeface="Times New Roman" panose="02020603050405020304" pitchFamily="18" charset="0"/>
                <a:cs typeface="Times New Roman" panose="02020603050405020304" pitchFamily="18" charset="0"/>
              </a:rPr>
              <a:t> in JDK 1.5</a:t>
            </a:r>
          </a:p>
        </p:txBody>
      </p:sp>
      <p:sp>
        <p:nvSpPr>
          <p:cNvPr id="17412" name="Rectangle 8"/>
          <p:cNvSpPr>
            <a:spLocks noChangeArrowheads="1"/>
          </p:cNvSpPr>
          <p:nvPr/>
        </p:nvSpPr>
        <p:spPr bwMode="auto">
          <a:xfrm>
            <a:off x="1710134" y="2735759"/>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17413" name="Rectangle 10"/>
          <p:cNvSpPr>
            <a:spLocks noChangeArrowheads="1"/>
          </p:cNvSpPr>
          <p:nvPr/>
        </p:nvSpPr>
        <p:spPr bwMode="auto">
          <a:xfrm>
            <a:off x="2736215" y="3181648"/>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17414" name="Rectangle 12"/>
          <p:cNvSpPr>
            <a:spLocks noChangeArrowheads="1"/>
          </p:cNvSpPr>
          <p:nvPr/>
        </p:nvSpPr>
        <p:spPr bwMode="auto">
          <a:xfrm>
            <a:off x="0" y="2519142"/>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17415"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036" y="1500188"/>
            <a:ext cx="12837884" cy="560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203418689"/>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026081" y="400050"/>
            <a:ext cx="11628914" cy="1100138"/>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No Casting Needed</a:t>
            </a:r>
          </a:p>
        </p:txBody>
      </p:sp>
      <p:sp>
        <p:nvSpPr>
          <p:cNvPr id="19460" name="Rectangle 3"/>
          <p:cNvSpPr>
            <a:spLocks noGrp="1" noChangeArrowheads="1"/>
          </p:cNvSpPr>
          <p:nvPr>
            <p:ph type="body" idx="1"/>
          </p:nvPr>
        </p:nvSpPr>
        <p:spPr>
          <a:xfrm>
            <a:off x="342027" y="1800225"/>
            <a:ext cx="12540985" cy="2800350"/>
          </a:xfrm>
        </p:spPr>
        <p:txBody>
          <a:bodyPr/>
          <a:lstStyle/>
          <a:p>
            <a:pPr>
              <a:lnSpc>
                <a:spcPct val="90000"/>
              </a:lnSpc>
              <a:buFont typeface="Monotype Sorts"/>
              <a:buNone/>
            </a:pPr>
            <a:r>
              <a:rPr lang="en-US" altLang="en-US" sz="3400" dirty="0" err="1">
                <a:latin typeface="Courier New" panose="02070309020205020404" pitchFamily="49" charset="0"/>
                <a:cs typeface="Courier New" panose="02070309020205020404" pitchFamily="49" charset="0"/>
              </a:rPr>
              <a:t>ArrayList</a:t>
            </a:r>
            <a:r>
              <a:rPr lang="en-US" altLang="en-US" sz="3400" dirty="0">
                <a:latin typeface="Courier New" panose="02070309020205020404" pitchFamily="49" charset="0"/>
                <a:cs typeface="Courier New" panose="02070309020205020404" pitchFamily="49" charset="0"/>
              </a:rPr>
              <a:t>&lt;Double&gt; list = new </a:t>
            </a:r>
            <a:r>
              <a:rPr lang="en-US" altLang="en-US" sz="3400" dirty="0" err="1">
                <a:latin typeface="Courier New" panose="02070309020205020404" pitchFamily="49" charset="0"/>
                <a:cs typeface="Courier New" panose="02070309020205020404" pitchFamily="49" charset="0"/>
              </a:rPr>
              <a:t>ArrayList</a:t>
            </a:r>
            <a:r>
              <a:rPr lang="en-US" altLang="en-US" sz="3400" dirty="0">
                <a:latin typeface="Courier New" panose="02070309020205020404" pitchFamily="49" charset="0"/>
                <a:cs typeface="Courier New" panose="02070309020205020404" pitchFamily="49" charset="0"/>
              </a:rPr>
              <a:t>&lt;&gt;();</a:t>
            </a:r>
          </a:p>
          <a:p>
            <a:pPr>
              <a:lnSpc>
                <a:spcPct val="90000"/>
              </a:lnSpc>
              <a:buFont typeface="Monotype Sorts"/>
              <a:buNone/>
            </a:pPr>
            <a:r>
              <a:rPr lang="en-US" altLang="en-US" sz="3400" dirty="0" err="1">
                <a:latin typeface="Courier New" panose="02070309020205020404" pitchFamily="49" charset="0"/>
                <a:cs typeface="Courier New" panose="02070309020205020404" pitchFamily="49" charset="0"/>
              </a:rPr>
              <a:t>list.add</a:t>
            </a:r>
            <a:r>
              <a:rPr lang="en-US" altLang="en-US" sz="3400" dirty="0">
                <a:latin typeface="Courier New" panose="02070309020205020404" pitchFamily="49" charset="0"/>
                <a:cs typeface="Courier New" panose="02070309020205020404" pitchFamily="49" charset="0"/>
              </a:rPr>
              <a:t>(5.5); // 5.5 is automatically converted to new Double(5.5)</a:t>
            </a:r>
          </a:p>
          <a:p>
            <a:pPr>
              <a:lnSpc>
                <a:spcPct val="90000"/>
              </a:lnSpc>
              <a:buFont typeface="Monotype Sorts"/>
              <a:buNone/>
            </a:pPr>
            <a:r>
              <a:rPr lang="en-US" altLang="en-US" sz="3400" dirty="0" err="1">
                <a:latin typeface="Courier New" panose="02070309020205020404" pitchFamily="49" charset="0"/>
                <a:cs typeface="Courier New" panose="02070309020205020404" pitchFamily="49" charset="0"/>
              </a:rPr>
              <a:t>list.add</a:t>
            </a:r>
            <a:r>
              <a:rPr lang="en-US" altLang="en-US" sz="3400" dirty="0">
                <a:latin typeface="Courier New" panose="02070309020205020404" pitchFamily="49" charset="0"/>
                <a:cs typeface="Courier New" panose="02070309020205020404" pitchFamily="49" charset="0"/>
              </a:rPr>
              <a:t>(3.0); // 3.0 is automatically converted to new Double(3.0)</a:t>
            </a:r>
          </a:p>
          <a:p>
            <a:pPr>
              <a:lnSpc>
                <a:spcPct val="90000"/>
              </a:lnSpc>
              <a:buFont typeface="Monotype Sorts"/>
              <a:buNone/>
            </a:pPr>
            <a:r>
              <a:rPr lang="en-US" altLang="en-US" sz="3400" dirty="0">
                <a:latin typeface="Courier New" panose="02070309020205020404" pitchFamily="49" charset="0"/>
                <a:cs typeface="Courier New" panose="02070309020205020404" pitchFamily="49" charset="0"/>
              </a:rPr>
              <a:t>Double </a:t>
            </a:r>
            <a:r>
              <a:rPr lang="en-US" altLang="en-US" sz="3400" dirty="0" err="1">
                <a:latin typeface="Courier New" panose="02070309020205020404" pitchFamily="49" charset="0"/>
                <a:cs typeface="Courier New" panose="02070309020205020404" pitchFamily="49" charset="0"/>
              </a:rPr>
              <a:t>doubleObject</a:t>
            </a:r>
            <a:r>
              <a:rPr lang="en-US" altLang="en-US" sz="3400" dirty="0">
                <a:latin typeface="Courier New" panose="02070309020205020404" pitchFamily="49" charset="0"/>
                <a:cs typeface="Courier New" panose="02070309020205020404" pitchFamily="49" charset="0"/>
              </a:rPr>
              <a:t> = </a:t>
            </a:r>
            <a:r>
              <a:rPr lang="en-US" altLang="en-US" sz="3400" dirty="0" err="1">
                <a:latin typeface="Courier New" panose="02070309020205020404" pitchFamily="49" charset="0"/>
                <a:cs typeface="Courier New" panose="02070309020205020404" pitchFamily="49" charset="0"/>
              </a:rPr>
              <a:t>list.get</a:t>
            </a:r>
            <a:r>
              <a:rPr lang="en-US" altLang="en-US" sz="3400" dirty="0">
                <a:latin typeface="Courier New" panose="02070309020205020404" pitchFamily="49" charset="0"/>
                <a:cs typeface="Courier New" panose="02070309020205020404" pitchFamily="49" charset="0"/>
              </a:rPr>
              <a:t>(0); // No casting is needed</a:t>
            </a:r>
          </a:p>
          <a:p>
            <a:pPr>
              <a:lnSpc>
                <a:spcPct val="90000"/>
              </a:lnSpc>
              <a:buFont typeface="Monotype Sorts"/>
              <a:buNone/>
            </a:pPr>
            <a:r>
              <a:rPr lang="en-US" altLang="en-US" sz="3400" dirty="0">
                <a:latin typeface="Courier New" panose="02070309020205020404" pitchFamily="49" charset="0"/>
                <a:cs typeface="Courier New" panose="02070309020205020404" pitchFamily="49" charset="0"/>
              </a:rPr>
              <a:t>double d = </a:t>
            </a:r>
            <a:r>
              <a:rPr lang="en-US" altLang="en-US" sz="3400" dirty="0" err="1">
                <a:latin typeface="Courier New" panose="02070309020205020404" pitchFamily="49" charset="0"/>
                <a:cs typeface="Courier New" panose="02070309020205020404" pitchFamily="49" charset="0"/>
              </a:rPr>
              <a:t>list.get</a:t>
            </a:r>
            <a:r>
              <a:rPr lang="en-US" altLang="en-US" sz="3400" dirty="0">
                <a:latin typeface="Courier New" panose="02070309020205020404" pitchFamily="49" charset="0"/>
                <a:cs typeface="Courier New" panose="02070309020205020404" pitchFamily="49" charset="0"/>
              </a:rPr>
              <a:t>(1); // Automatically converted to double</a:t>
            </a:r>
          </a:p>
        </p:txBody>
      </p:sp>
      <p:sp>
        <p:nvSpPr>
          <p:cNvPr id="19461" name="Rectangle 5"/>
          <p:cNvSpPr>
            <a:spLocks noChangeArrowheads="1"/>
          </p:cNvSpPr>
          <p:nvPr/>
        </p:nvSpPr>
        <p:spPr bwMode="auto">
          <a:xfrm>
            <a:off x="2166170" y="5900737"/>
            <a:ext cx="11058869"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buFont typeface="Monotype Sorts"/>
              <a:buNone/>
            </a:pPr>
            <a:endParaRPr lang="en-US" altLang="en-US" sz="4000"/>
          </a:p>
        </p:txBody>
      </p:sp>
    </p:spTree>
    <p:extLst>
      <p:ext uri="{BB962C8B-B14F-4D97-AF65-F5344CB8AC3E}">
        <p14:creationId xmlns:p14="http://schemas.microsoft.com/office/powerpoint/2010/main" val="2592174985"/>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456036" y="600075"/>
            <a:ext cx="12883012" cy="900113"/>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Differences and Similarities between arrays and </a:t>
            </a:r>
            <a:r>
              <a:rPr lang="en-US" altLang="en-US" sz="4800" b="1" dirty="0" err="1">
                <a:solidFill>
                  <a:schemeClr val="tx1"/>
                </a:solidFill>
                <a:latin typeface="Times New Roman" panose="02020603050405020304" pitchFamily="18" charset="0"/>
                <a:cs typeface="Times New Roman" panose="02020603050405020304" pitchFamily="18" charset="0"/>
              </a:rPr>
              <a:t>ArrayList</a:t>
            </a:r>
            <a:endParaRPr lang="en-US" altLang="en-US" sz="4800" b="1" dirty="0">
              <a:solidFill>
                <a:schemeClr val="tx1"/>
              </a:solidFill>
              <a:latin typeface="Times New Roman" panose="02020603050405020304" pitchFamily="18" charset="0"/>
              <a:cs typeface="Times New Roman" panose="02020603050405020304" pitchFamily="18" charset="0"/>
            </a:endParaRPr>
          </a:p>
        </p:txBody>
      </p:sp>
      <p:sp>
        <p:nvSpPr>
          <p:cNvPr id="48132"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3"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4" name="Rectangle 6"/>
          <p:cNvSpPr>
            <a:spLocks noChangeArrowheads="1"/>
          </p:cNvSpPr>
          <p:nvPr/>
        </p:nvSpPr>
        <p:spPr bwMode="auto">
          <a:xfrm>
            <a:off x="0" y="313588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5" name="Rectangle 10"/>
          <p:cNvSpPr>
            <a:spLocks noChangeArrowheads="1"/>
          </p:cNvSpPr>
          <p:nvPr/>
        </p:nvSpPr>
        <p:spPr bwMode="auto">
          <a:xfrm>
            <a:off x="0" y="313588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6" name="Rectangle 12"/>
          <p:cNvSpPr>
            <a:spLocks noChangeArrowheads="1"/>
          </p:cNvSpPr>
          <p:nvPr/>
        </p:nvSpPr>
        <p:spPr bwMode="auto">
          <a:xfrm>
            <a:off x="0" y="288585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48137" name="Object 11"/>
          <p:cNvGraphicFramePr>
            <a:graphicFrameLocks noChangeAspect="1"/>
          </p:cNvGraphicFramePr>
          <p:nvPr>
            <p:extLst>
              <p:ext uri="{D42A27DB-BD31-4B8C-83A1-F6EECF244321}">
                <p14:modId xmlns:p14="http://schemas.microsoft.com/office/powerpoint/2010/main" val="376656290"/>
              </p:ext>
            </p:extLst>
          </p:nvPr>
        </p:nvGraphicFramePr>
        <p:xfrm>
          <a:off x="236538" y="2205038"/>
          <a:ext cx="13322300" cy="4095750"/>
        </p:xfrm>
        <a:graphic>
          <a:graphicData uri="http://schemas.openxmlformats.org/presentationml/2006/ole">
            <mc:AlternateContent xmlns:mc="http://schemas.openxmlformats.org/markup-compatibility/2006">
              <mc:Choice xmlns:v="urn:schemas-microsoft-com:vml" Requires="v">
                <p:oleObj spid="_x0000_s9230" name="Picture" r:id="rId2" imgW="5594400" imgH="1963440" progId="Word.Picture.8">
                  <p:embed/>
                </p:oleObj>
              </mc:Choice>
              <mc:Fallback>
                <p:oleObj name="Picture" r:id="rId2" imgW="5594400" imgH="1963440" progId="Word.Picture.8">
                  <p:embed/>
                  <p:pic>
                    <p:nvPicPr>
                      <p:cNvPr id="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8" y="2205038"/>
                        <a:ext cx="13322300" cy="409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8" name="Rectangle 13"/>
          <p:cNvSpPr>
            <a:spLocks noChangeArrowheads="1"/>
          </p:cNvSpPr>
          <p:nvPr/>
        </p:nvSpPr>
        <p:spPr bwMode="auto">
          <a:xfrm>
            <a:off x="6709633" y="-542490"/>
            <a:ext cx="261809" cy="1084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9pPr>
          </a:lstStyle>
          <a:p>
            <a:pPr algn="ctr">
              <a:spcBef>
                <a:spcPct val="0"/>
              </a:spcBef>
              <a:buClrTx/>
              <a:buSzTx/>
              <a:buFontTx/>
              <a:buNone/>
            </a:pPr>
            <a:endParaRPr lang="en-US" altLang="en-US" sz="6200">
              <a:solidFill>
                <a:schemeClr val="tx2"/>
              </a:solidFill>
            </a:endParaRPr>
          </a:p>
        </p:txBody>
      </p:sp>
      <p:sp>
        <p:nvSpPr>
          <p:cNvPr id="48139" name="Rectangle 14"/>
          <p:cNvSpPr>
            <a:spLocks noChangeArrowheads="1"/>
          </p:cNvSpPr>
          <p:nvPr/>
        </p:nvSpPr>
        <p:spPr bwMode="auto">
          <a:xfrm>
            <a:off x="6709633" y="-542490"/>
            <a:ext cx="261809" cy="1084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9pPr>
          </a:lstStyle>
          <a:p>
            <a:pPr algn="ctr">
              <a:spcBef>
                <a:spcPct val="0"/>
              </a:spcBef>
              <a:buClrTx/>
              <a:buSzTx/>
              <a:buFontTx/>
              <a:buNone/>
            </a:pPr>
            <a:endParaRPr lang="en-US" altLang="en-US" sz="6200">
              <a:solidFill>
                <a:schemeClr val="tx2"/>
              </a:solidFill>
            </a:endParaRPr>
          </a:p>
        </p:txBody>
      </p:sp>
      <p:sp>
        <p:nvSpPr>
          <p:cNvPr id="48140" name="Rectangle 15"/>
          <p:cNvSpPr>
            <a:spLocks noChangeArrowheads="1"/>
          </p:cNvSpPr>
          <p:nvPr/>
        </p:nvSpPr>
        <p:spPr bwMode="auto">
          <a:xfrm>
            <a:off x="6709633" y="-542490"/>
            <a:ext cx="261809" cy="1084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tabLst>
                <a:tab pos="2286000" algn="l"/>
                <a:tab pos="3943350" algn="l"/>
              </a:tabLst>
              <a:defRPr sz="3200">
                <a:solidFill>
                  <a:schemeClr val="tx1"/>
                </a:solidFill>
                <a:latin typeface="Times New Roman" pitchFamily="18" charset="0"/>
              </a:defRPr>
            </a:lvl1pPr>
            <a:lvl2pPr marL="742950" indent="-285750">
              <a:spcBef>
                <a:spcPct val="20000"/>
              </a:spcBef>
              <a:buClr>
                <a:schemeClr val="tx1"/>
              </a:buClr>
              <a:buChar char="–"/>
              <a:tabLst>
                <a:tab pos="2286000" algn="l"/>
                <a:tab pos="3943350" algn="l"/>
              </a:tabLst>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tabLst>
                <a:tab pos="2286000" algn="l"/>
                <a:tab pos="3943350" algn="l"/>
              </a:tabLst>
              <a:defRPr sz="2400">
                <a:solidFill>
                  <a:schemeClr val="tx1"/>
                </a:solidFill>
                <a:latin typeface="Times New Roman" pitchFamily="18" charset="0"/>
              </a:defRPr>
            </a:lvl3pPr>
            <a:lvl4pPr marL="1600200" indent="-228600">
              <a:spcBef>
                <a:spcPct val="20000"/>
              </a:spcBef>
              <a:buClr>
                <a:schemeClr val="tx1"/>
              </a:buClr>
              <a:buChar char="–"/>
              <a:tabLst>
                <a:tab pos="2286000" algn="l"/>
                <a:tab pos="3943350" algn="l"/>
              </a:tabLst>
              <a:defRPr sz="2000">
                <a:solidFill>
                  <a:schemeClr val="tx1"/>
                </a:solidFill>
                <a:latin typeface="Times New Roman" pitchFamily="18" charset="0"/>
              </a:defRPr>
            </a:lvl4pPr>
            <a:lvl5pPr marL="2057400" indent="-228600">
              <a:spcBef>
                <a:spcPct val="20000"/>
              </a:spcBef>
              <a:buClr>
                <a:schemeClr val="tx2"/>
              </a:buClr>
              <a:buChar char="•"/>
              <a:tabLst>
                <a:tab pos="2286000" algn="l"/>
                <a:tab pos="3943350" algn="l"/>
              </a:tabLst>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tabLst>
                <a:tab pos="2286000" algn="l"/>
                <a:tab pos="3943350" algn="l"/>
              </a:tabLst>
              <a:defRPr sz="2000">
                <a:solidFill>
                  <a:schemeClr val="tx1"/>
                </a:solidFill>
                <a:latin typeface="Times New Roman" pitchFamily="18" charset="0"/>
              </a:defRPr>
            </a:lvl9pPr>
          </a:lstStyle>
          <a:p>
            <a:pPr algn="ctr">
              <a:spcBef>
                <a:spcPct val="0"/>
              </a:spcBef>
              <a:buClrTx/>
              <a:buSzTx/>
              <a:buFontTx/>
              <a:buNone/>
            </a:pPr>
            <a:endParaRPr lang="en-US" altLang="en-US" sz="6200">
              <a:solidFill>
                <a:schemeClr val="tx2"/>
              </a:solidFill>
            </a:endParaRPr>
          </a:p>
        </p:txBody>
      </p:sp>
      <p:sp>
        <p:nvSpPr>
          <p:cNvPr id="48141" name="AutoShape 10">
            <a:hlinkClick r:id="rId4" action="ppaction://program" highlightClick="1"/>
          </p:cNvPr>
          <p:cNvSpPr>
            <a:spLocks noChangeArrowheads="1"/>
          </p:cNvSpPr>
          <p:nvPr/>
        </p:nvSpPr>
        <p:spPr bwMode="auto">
          <a:xfrm>
            <a:off x="9294106" y="6827938"/>
            <a:ext cx="10450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48142" name="Rectangle 16">
            <a:hlinkClick r:id="rId5"/>
          </p:cNvPr>
          <p:cNvSpPr>
            <a:spLocks noChangeArrowheads="1"/>
          </p:cNvSpPr>
          <p:nvPr/>
        </p:nvSpPr>
        <p:spPr bwMode="auto">
          <a:xfrm>
            <a:off x="5700449" y="6800850"/>
            <a:ext cx="332051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DistinctNumbers</a:t>
            </a:r>
          </a:p>
        </p:txBody>
      </p:sp>
    </p:spTree>
    <p:extLst>
      <p:ext uri="{BB962C8B-B14F-4D97-AF65-F5344CB8AC3E}">
        <p14:creationId xmlns:p14="http://schemas.microsoft.com/office/powerpoint/2010/main" val="206031201"/>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b="1" dirty="0" err="1">
                <a:solidFill>
                  <a:schemeClr val="tx1"/>
                </a:solidFill>
                <a:latin typeface="Times New Roman" panose="02020603050405020304" pitchFamily="18" charset="0"/>
                <a:cs typeface="Times New Roman" panose="02020603050405020304" pitchFamily="18" charset="0"/>
              </a:rPr>
              <a:t>ArrayLists</a:t>
            </a:r>
            <a:r>
              <a:rPr lang="en-US" altLang="en-US" b="1" dirty="0">
                <a:solidFill>
                  <a:schemeClr val="tx1"/>
                </a:solidFill>
                <a:latin typeface="Times New Roman" panose="02020603050405020304" pitchFamily="18" charset="0"/>
                <a:cs typeface="Times New Roman" panose="02020603050405020304" pitchFamily="18" charset="0"/>
              </a:rPr>
              <a:t> from/to arrays</a:t>
            </a:r>
          </a:p>
        </p:txBody>
      </p:sp>
      <p:sp>
        <p:nvSpPr>
          <p:cNvPr id="49156" name="Rectangle 3"/>
          <p:cNvSpPr>
            <a:spLocks noGrp="1" noChangeArrowheads="1"/>
          </p:cNvSpPr>
          <p:nvPr>
            <p:ph type="body" idx="1"/>
          </p:nvPr>
        </p:nvSpPr>
        <p:spPr>
          <a:xfrm>
            <a:off x="228018" y="1300162"/>
            <a:ext cx="13225039" cy="3300413"/>
          </a:xfrm>
        </p:spPr>
        <p:txBody>
          <a:bodyPr/>
          <a:lstStyle/>
          <a:p>
            <a:pPr marL="0" indent="0">
              <a:spcBef>
                <a:spcPct val="40000"/>
              </a:spcBef>
              <a:spcAft>
                <a:spcPts val="1701"/>
              </a:spcAft>
              <a:buNone/>
            </a:pPr>
            <a:r>
              <a:rPr lang="en-US" altLang="en-US" dirty="0">
                <a:latin typeface="Times New Roman" panose="02020603050405020304" pitchFamily="18" charset="0"/>
                <a:cs typeface="Times New Roman" panose="02020603050405020304" pitchFamily="18" charset="0"/>
              </a:rPr>
              <a:t>Creating an </a:t>
            </a:r>
            <a:r>
              <a:rPr lang="en-US" altLang="en-US" dirty="0" err="1">
                <a:latin typeface="Times New Roman" panose="02020603050405020304" pitchFamily="18" charset="0"/>
                <a:cs typeface="Times New Roman" panose="02020603050405020304" pitchFamily="18" charset="0"/>
              </a:rPr>
              <a:t>ArrayList</a:t>
            </a:r>
            <a:r>
              <a:rPr lang="en-US" altLang="en-US" dirty="0">
                <a:latin typeface="Times New Roman" panose="02020603050405020304" pitchFamily="18" charset="0"/>
                <a:cs typeface="Times New Roman" panose="02020603050405020304" pitchFamily="18" charset="0"/>
              </a:rPr>
              <a:t> from an array of objects:</a:t>
            </a:r>
          </a:p>
          <a:p>
            <a:pPr marL="0" indent="0">
              <a:buNone/>
            </a:pPr>
            <a:r>
              <a:rPr lang="en-US" altLang="en-US" dirty="0">
                <a:latin typeface="Times New Roman" panose="02020603050405020304" pitchFamily="18" charset="0"/>
                <a:cs typeface="Times New Roman" panose="02020603050405020304" pitchFamily="18" charset="0"/>
              </a:rPr>
              <a:t>  </a:t>
            </a:r>
            <a:r>
              <a:rPr lang="en-US" altLang="en-US" sz="3600" dirty="0">
                <a:latin typeface="Courier New" panose="02070309020205020404" pitchFamily="49" charset="0"/>
                <a:cs typeface="Courier New" panose="02070309020205020404" pitchFamily="49" charset="0"/>
              </a:rPr>
              <a:t>String[] array = {</a:t>
            </a:r>
            <a:r>
              <a:rPr lang="en-US" altLang="en-US" sz="3600" b="1" dirty="0">
                <a:latin typeface="Courier New" panose="02070309020205020404" pitchFamily="49" charset="0"/>
                <a:cs typeface="Courier New" panose="02070309020205020404" pitchFamily="49" charset="0"/>
              </a:rPr>
              <a:t>"red"</a:t>
            </a:r>
            <a:r>
              <a:rPr lang="en-US" altLang="en-US" sz="3600" dirty="0">
                <a:latin typeface="Courier New" panose="02070309020205020404" pitchFamily="49" charset="0"/>
                <a:cs typeface="Courier New" panose="02070309020205020404" pitchFamily="49" charset="0"/>
              </a:rPr>
              <a:t>, </a:t>
            </a:r>
            <a:r>
              <a:rPr lang="en-US" altLang="en-US" sz="3600" b="1" dirty="0">
                <a:latin typeface="Courier New" panose="02070309020205020404" pitchFamily="49" charset="0"/>
                <a:cs typeface="Courier New" panose="02070309020205020404" pitchFamily="49" charset="0"/>
              </a:rPr>
              <a:t>"green", "blue"</a:t>
            </a:r>
            <a:r>
              <a:rPr lang="en-US" altLang="en-US" sz="3600" dirty="0">
                <a:latin typeface="Courier New" panose="02070309020205020404" pitchFamily="49" charset="0"/>
                <a:cs typeface="Courier New" panose="02070309020205020404" pitchFamily="49" charset="0"/>
              </a:rPr>
              <a:t>};</a:t>
            </a:r>
          </a:p>
          <a:p>
            <a:pPr marL="0" indent="0">
              <a:buNone/>
            </a:pPr>
            <a:r>
              <a:rPr lang="en-US" altLang="en-US" sz="3600" dirty="0">
                <a:latin typeface="Courier New" panose="02070309020205020404" pitchFamily="49" charset="0"/>
                <a:cs typeface="Courier New" panose="02070309020205020404" pitchFamily="49" charset="0"/>
              </a:rPr>
              <a:t> </a:t>
            </a:r>
            <a:r>
              <a:rPr lang="en-US" altLang="en-US" sz="3600" dirty="0" err="1">
                <a:latin typeface="Courier New" panose="02070309020205020404" pitchFamily="49" charset="0"/>
                <a:cs typeface="Courier New" panose="02070309020205020404" pitchFamily="49" charset="0"/>
              </a:rPr>
              <a:t>ArrayList</a:t>
            </a:r>
            <a:r>
              <a:rPr lang="en-US" altLang="en-US" sz="3600" dirty="0">
                <a:latin typeface="Courier New" panose="02070309020205020404" pitchFamily="49" charset="0"/>
                <a:cs typeface="Courier New" panose="02070309020205020404" pitchFamily="49" charset="0"/>
              </a:rPr>
              <a:t>&lt;String&gt; list = </a:t>
            </a:r>
            <a:r>
              <a:rPr lang="en-US" altLang="en-US" sz="3600" b="1" dirty="0">
                <a:latin typeface="Courier New" panose="02070309020205020404" pitchFamily="49" charset="0"/>
                <a:cs typeface="Courier New" panose="02070309020205020404" pitchFamily="49" charset="0"/>
              </a:rPr>
              <a:t>new</a:t>
            </a:r>
            <a:r>
              <a:rPr lang="en-US" altLang="en-US" sz="3600" dirty="0">
                <a:latin typeface="Courier New" panose="02070309020205020404" pitchFamily="49" charset="0"/>
                <a:cs typeface="Courier New" panose="02070309020205020404" pitchFamily="49" charset="0"/>
              </a:rPr>
              <a:t>  </a:t>
            </a:r>
          </a:p>
          <a:p>
            <a:pPr marL="0" indent="0">
              <a:buNone/>
            </a:pPr>
            <a:r>
              <a:rPr lang="en-US" altLang="en-US" sz="3600" dirty="0">
                <a:latin typeface="Courier New" panose="02070309020205020404" pitchFamily="49" charset="0"/>
                <a:cs typeface="Courier New" panose="02070309020205020404" pitchFamily="49" charset="0"/>
              </a:rPr>
              <a:t>     </a:t>
            </a:r>
            <a:r>
              <a:rPr lang="en-US" altLang="en-US" sz="3600" dirty="0" err="1">
                <a:latin typeface="Courier New" panose="02070309020205020404" pitchFamily="49" charset="0"/>
                <a:cs typeface="Courier New" panose="02070309020205020404" pitchFamily="49" charset="0"/>
              </a:rPr>
              <a:t>ArrayList</a:t>
            </a:r>
            <a:r>
              <a:rPr lang="en-US" altLang="en-US" sz="3600" dirty="0">
                <a:latin typeface="Courier New" panose="02070309020205020404" pitchFamily="49" charset="0"/>
                <a:cs typeface="Courier New" panose="02070309020205020404" pitchFamily="49" charset="0"/>
              </a:rPr>
              <a:t>&lt;&gt;(</a:t>
            </a:r>
            <a:r>
              <a:rPr lang="en-US" altLang="en-US" sz="3600" dirty="0" err="1">
                <a:latin typeface="Courier New" panose="02070309020205020404" pitchFamily="49" charset="0"/>
                <a:cs typeface="Courier New" panose="02070309020205020404" pitchFamily="49" charset="0"/>
              </a:rPr>
              <a:t>Arrays.asList</a:t>
            </a:r>
            <a:r>
              <a:rPr lang="en-US" altLang="en-US" sz="3600" dirty="0">
                <a:latin typeface="Courier New" panose="02070309020205020404" pitchFamily="49" charset="0"/>
                <a:cs typeface="Courier New" panose="02070309020205020404" pitchFamily="49" charset="0"/>
              </a:rPr>
              <a:t>(array));</a:t>
            </a:r>
          </a:p>
        </p:txBody>
      </p:sp>
      <p:sp>
        <p:nvSpPr>
          <p:cNvPr id="49157"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9158"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9159" name="Rectangle 3"/>
          <p:cNvSpPr txBox="1">
            <a:spLocks noChangeArrowheads="1"/>
          </p:cNvSpPr>
          <p:nvPr/>
        </p:nvSpPr>
        <p:spPr bwMode="auto">
          <a:xfrm>
            <a:off x="228018" y="4900612"/>
            <a:ext cx="13225039" cy="330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40000"/>
              </a:spcBef>
              <a:spcAft>
                <a:spcPts val="1701"/>
              </a:spcAft>
              <a:buNone/>
            </a:pPr>
            <a:r>
              <a:rPr lang="en-US" altLang="en-US" sz="3600" dirty="0"/>
              <a:t>Creating an array of objects from an </a:t>
            </a:r>
            <a:r>
              <a:rPr lang="en-US" altLang="en-US" sz="3600" dirty="0" err="1"/>
              <a:t>ArrayList</a:t>
            </a:r>
            <a:r>
              <a:rPr lang="en-US" altLang="en-US" sz="3600" dirty="0"/>
              <a:t>:</a:t>
            </a:r>
          </a:p>
          <a:p>
            <a:pPr>
              <a:buFont typeface="Monotype Sorts"/>
              <a:buNone/>
            </a:pPr>
            <a:r>
              <a:rPr lang="en-US" altLang="en-US" sz="3600" dirty="0"/>
              <a:t>   </a:t>
            </a:r>
            <a:r>
              <a:rPr lang="en-US" altLang="en-US" sz="3600" dirty="0">
                <a:latin typeface="Courier New" panose="02070309020205020404" pitchFamily="49" charset="0"/>
                <a:cs typeface="Courier New" panose="02070309020205020404" pitchFamily="49" charset="0"/>
              </a:rPr>
              <a:t>String[] array1 = </a:t>
            </a:r>
            <a:r>
              <a:rPr lang="en-US" altLang="en-US" sz="3600" b="1" dirty="0">
                <a:latin typeface="Courier New" panose="02070309020205020404" pitchFamily="49" charset="0"/>
                <a:cs typeface="Courier New" panose="02070309020205020404" pitchFamily="49" charset="0"/>
              </a:rPr>
              <a:t>new</a:t>
            </a:r>
            <a:r>
              <a:rPr lang="en-US" altLang="en-US" sz="3600" dirty="0">
                <a:latin typeface="Courier New" panose="02070309020205020404" pitchFamily="49" charset="0"/>
                <a:cs typeface="Courier New" panose="02070309020205020404" pitchFamily="49" charset="0"/>
              </a:rPr>
              <a:t> String[</a:t>
            </a:r>
            <a:r>
              <a:rPr lang="en-US" altLang="en-US" sz="3600" dirty="0" err="1">
                <a:latin typeface="Courier New" panose="02070309020205020404" pitchFamily="49" charset="0"/>
                <a:cs typeface="Courier New" panose="02070309020205020404" pitchFamily="49" charset="0"/>
              </a:rPr>
              <a:t>list.size</a:t>
            </a:r>
            <a:r>
              <a:rPr lang="en-US" altLang="en-US" sz="3600" dirty="0">
                <a:latin typeface="Courier New" panose="02070309020205020404" pitchFamily="49" charset="0"/>
                <a:cs typeface="Courier New" panose="02070309020205020404" pitchFamily="49" charset="0"/>
              </a:rPr>
              <a:t>()];</a:t>
            </a:r>
          </a:p>
          <a:p>
            <a:pPr>
              <a:buFont typeface="Monotype Sorts"/>
              <a:buNone/>
            </a:pPr>
            <a:r>
              <a:rPr lang="en-US" altLang="en-US" sz="3600" dirty="0">
                <a:latin typeface="Courier New" panose="02070309020205020404" pitchFamily="49" charset="0"/>
                <a:cs typeface="Courier New" panose="02070309020205020404" pitchFamily="49" charset="0"/>
              </a:rPr>
              <a:t> </a:t>
            </a:r>
            <a:r>
              <a:rPr lang="en-US" altLang="en-US" sz="3600" dirty="0" err="1">
                <a:latin typeface="Courier New" panose="02070309020205020404" pitchFamily="49" charset="0"/>
                <a:cs typeface="Courier New" panose="02070309020205020404" pitchFamily="49" charset="0"/>
              </a:rPr>
              <a:t>list.toArray</a:t>
            </a:r>
            <a:r>
              <a:rPr lang="en-US" altLang="en-US" sz="3600" dirty="0">
                <a:latin typeface="Courier New" panose="02070309020205020404" pitchFamily="49" charset="0"/>
                <a:cs typeface="Courier New" panose="02070309020205020404" pitchFamily="49" charset="0"/>
              </a:rPr>
              <a:t>(array1);</a:t>
            </a:r>
          </a:p>
        </p:txBody>
      </p:sp>
    </p:spTree>
    <p:extLst>
      <p:ext uri="{BB962C8B-B14F-4D97-AF65-F5344CB8AC3E}">
        <p14:creationId xmlns:p14="http://schemas.microsoft.com/office/powerpoint/2010/main" val="16887196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max and min in an </a:t>
            </a:r>
            <a:r>
              <a:rPr lang="en-US" altLang="en-US" sz="4800" b="1" dirty="0" err="1">
                <a:solidFill>
                  <a:schemeClr val="tx1"/>
                </a:solidFill>
                <a:latin typeface="Times New Roman" panose="02020603050405020304" pitchFamily="18" charset="0"/>
                <a:cs typeface="Times New Roman" panose="02020603050405020304" pitchFamily="18" charset="0"/>
              </a:rPr>
              <a:t>ArrayList</a:t>
            </a:r>
            <a:endParaRPr lang="en-US" altLang="en-US" sz="4800" b="1" dirty="0">
              <a:solidFill>
                <a:schemeClr val="tx1"/>
              </a:solidFill>
              <a:latin typeface="Times New Roman" panose="02020603050405020304" pitchFamily="18" charset="0"/>
              <a:cs typeface="Times New Roman" panose="02020603050405020304" pitchFamily="18" charset="0"/>
            </a:endParaRPr>
          </a:p>
        </p:txBody>
      </p:sp>
      <p:sp>
        <p:nvSpPr>
          <p:cNvPr id="50180" name="Rectangle 3"/>
          <p:cNvSpPr>
            <a:spLocks noGrp="1" noChangeArrowheads="1"/>
          </p:cNvSpPr>
          <p:nvPr>
            <p:ph type="body" idx="1"/>
          </p:nvPr>
        </p:nvSpPr>
        <p:spPr>
          <a:xfrm>
            <a:off x="228018" y="1500188"/>
            <a:ext cx="13453057" cy="2000250"/>
          </a:xfrm>
        </p:spPr>
        <p:txBody>
          <a:bodyPr/>
          <a:lstStyle/>
          <a:p>
            <a:pPr marL="0" indent="0">
              <a:spcBef>
                <a:spcPct val="40000"/>
              </a:spcBef>
              <a:spcAft>
                <a:spcPts val="1701"/>
              </a:spcAft>
              <a:buNone/>
            </a:pPr>
            <a:r>
              <a:rPr lang="en-US" altLang="en-US" sz="3600" dirty="0">
                <a:latin typeface="Courier New" panose="02070309020205020404" pitchFamily="49" charset="0"/>
                <a:cs typeface="Courier New" panose="02070309020205020404" pitchFamily="49" charset="0"/>
              </a:rPr>
              <a:t>String[] array = {</a:t>
            </a:r>
            <a:r>
              <a:rPr lang="en-US" altLang="en-US" sz="3600" b="1" dirty="0">
                <a:latin typeface="Courier New" panose="02070309020205020404" pitchFamily="49" charset="0"/>
                <a:cs typeface="Courier New" panose="02070309020205020404" pitchFamily="49" charset="0"/>
              </a:rPr>
              <a:t>"red"</a:t>
            </a:r>
            <a:r>
              <a:rPr lang="en-US" altLang="en-US" sz="3600" dirty="0">
                <a:latin typeface="Courier New" panose="02070309020205020404" pitchFamily="49" charset="0"/>
                <a:cs typeface="Courier New" panose="02070309020205020404" pitchFamily="49" charset="0"/>
              </a:rPr>
              <a:t>, </a:t>
            </a:r>
            <a:r>
              <a:rPr lang="en-US" altLang="en-US" sz="3600" b="1" dirty="0">
                <a:latin typeface="Courier New" panose="02070309020205020404" pitchFamily="49" charset="0"/>
                <a:cs typeface="Courier New" panose="02070309020205020404" pitchFamily="49" charset="0"/>
              </a:rPr>
              <a:t>"green", "blue"</a:t>
            </a:r>
            <a:r>
              <a:rPr lang="en-US" altLang="en-US" sz="3600" dirty="0">
                <a:latin typeface="Courier New" panose="02070309020205020404" pitchFamily="49" charset="0"/>
                <a:cs typeface="Courier New" panose="02070309020205020404" pitchFamily="49" charset="0"/>
              </a:rPr>
              <a:t>};</a:t>
            </a:r>
          </a:p>
          <a:p>
            <a:pPr marL="0" indent="0">
              <a:buNone/>
            </a:pPr>
            <a:r>
              <a:rPr lang="en-US" altLang="en-US" sz="3600" dirty="0" err="1">
                <a:latin typeface="Courier New" panose="02070309020205020404" pitchFamily="49" charset="0"/>
                <a:cs typeface="Courier New" panose="02070309020205020404" pitchFamily="49" charset="0"/>
              </a:rPr>
              <a:t>System.out.pritnln</a:t>
            </a:r>
            <a:r>
              <a:rPr lang="en-US" altLang="en-US" sz="3600" dirty="0">
                <a:latin typeface="Courier New" panose="02070309020205020404" pitchFamily="49" charset="0"/>
                <a:cs typeface="Courier New" panose="02070309020205020404" pitchFamily="49" charset="0"/>
              </a:rPr>
              <a:t>(</a:t>
            </a:r>
            <a:r>
              <a:rPr lang="en-US" altLang="en-US" sz="3600" dirty="0" err="1">
                <a:latin typeface="Courier New" panose="02070309020205020404" pitchFamily="49" charset="0"/>
                <a:cs typeface="Courier New" panose="02070309020205020404" pitchFamily="49" charset="0"/>
              </a:rPr>
              <a:t>java.util.Collections.max</a:t>
            </a:r>
            <a:r>
              <a:rPr lang="en-US" altLang="en-US" sz="3600" dirty="0">
                <a:latin typeface="Courier New" panose="02070309020205020404" pitchFamily="49" charset="0"/>
                <a:cs typeface="Courier New" panose="02070309020205020404" pitchFamily="49" charset="0"/>
              </a:rPr>
              <a:t>(</a:t>
            </a:r>
          </a:p>
          <a:p>
            <a:pPr marL="0" indent="0">
              <a:buNone/>
            </a:pPr>
            <a:r>
              <a:rPr lang="en-US" altLang="en-US" sz="3600" dirty="0">
                <a:latin typeface="Courier New" panose="02070309020205020404" pitchFamily="49" charset="0"/>
                <a:cs typeface="Courier New" panose="02070309020205020404" pitchFamily="49" charset="0"/>
              </a:rPr>
              <a:t>   new </a:t>
            </a:r>
            <a:r>
              <a:rPr lang="en-US" altLang="en-US" sz="3600" dirty="0" err="1">
                <a:latin typeface="Courier New" panose="02070309020205020404" pitchFamily="49" charset="0"/>
                <a:cs typeface="Courier New" panose="02070309020205020404" pitchFamily="49" charset="0"/>
              </a:rPr>
              <a:t>ArrayList</a:t>
            </a:r>
            <a:r>
              <a:rPr lang="en-US" altLang="en-US" sz="3600" dirty="0">
                <a:latin typeface="Courier New" panose="02070309020205020404" pitchFamily="49" charset="0"/>
                <a:cs typeface="Courier New" panose="02070309020205020404" pitchFamily="49" charset="0"/>
              </a:rPr>
              <a:t>&lt;String&gt;(</a:t>
            </a:r>
            <a:r>
              <a:rPr lang="en-US" altLang="en-US" sz="3600" dirty="0" err="1">
                <a:latin typeface="Courier New" panose="02070309020205020404" pitchFamily="49" charset="0"/>
                <a:cs typeface="Courier New" panose="02070309020205020404" pitchFamily="49" charset="0"/>
              </a:rPr>
              <a:t>Arrays.asList</a:t>
            </a:r>
            <a:r>
              <a:rPr lang="en-US" altLang="en-US" sz="3600" dirty="0">
                <a:latin typeface="Courier New" panose="02070309020205020404" pitchFamily="49" charset="0"/>
                <a:cs typeface="Courier New" panose="02070309020205020404" pitchFamily="49" charset="0"/>
              </a:rPr>
              <a:t>(array)));</a:t>
            </a:r>
          </a:p>
        </p:txBody>
      </p:sp>
      <p:sp>
        <p:nvSpPr>
          <p:cNvPr id="50181"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0182"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0183" name="Rectangle 3"/>
          <p:cNvSpPr txBox="1">
            <a:spLocks noChangeArrowheads="1"/>
          </p:cNvSpPr>
          <p:nvPr/>
        </p:nvSpPr>
        <p:spPr bwMode="auto">
          <a:xfrm>
            <a:off x="228018" y="4900612"/>
            <a:ext cx="13225039" cy="330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40000"/>
              </a:spcBef>
              <a:spcAft>
                <a:spcPts val="1701"/>
              </a:spcAft>
              <a:buNone/>
            </a:pPr>
            <a:r>
              <a:rPr lang="en-US" altLang="en-US" sz="3600" dirty="0">
                <a:latin typeface="Courier New" panose="02070309020205020404" pitchFamily="49" charset="0"/>
                <a:cs typeface="Courier New" panose="02070309020205020404" pitchFamily="49" charset="0"/>
              </a:rPr>
              <a:t>String[] array = {</a:t>
            </a:r>
            <a:r>
              <a:rPr lang="en-US" altLang="en-US" sz="3600" b="1" dirty="0">
                <a:latin typeface="Courier New" panose="02070309020205020404" pitchFamily="49" charset="0"/>
                <a:cs typeface="Courier New" panose="02070309020205020404" pitchFamily="49" charset="0"/>
              </a:rPr>
              <a:t>"red"</a:t>
            </a:r>
            <a:r>
              <a:rPr lang="en-US" altLang="en-US" sz="3600" dirty="0">
                <a:latin typeface="Courier New" panose="02070309020205020404" pitchFamily="49" charset="0"/>
                <a:cs typeface="Courier New" panose="02070309020205020404" pitchFamily="49" charset="0"/>
              </a:rPr>
              <a:t>, </a:t>
            </a:r>
            <a:r>
              <a:rPr lang="en-US" altLang="en-US" sz="3600" b="1" dirty="0">
                <a:latin typeface="Courier New" panose="02070309020205020404" pitchFamily="49" charset="0"/>
                <a:cs typeface="Courier New" panose="02070309020205020404" pitchFamily="49" charset="0"/>
              </a:rPr>
              <a:t>"green", "blue"</a:t>
            </a:r>
            <a:r>
              <a:rPr lang="en-US" altLang="en-US" sz="3600" dirty="0">
                <a:latin typeface="Courier New" panose="02070309020205020404" pitchFamily="49" charset="0"/>
                <a:cs typeface="Courier New" panose="02070309020205020404" pitchFamily="49" charset="0"/>
              </a:rPr>
              <a:t>};</a:t>
            </a:r>
          </a:p>
          <a:p>
            <a:pPr>
              <a:buFont typeface="Monotype Sorts"/>
              <a:buNone/>
            </a:pPr>
            <a:r>
              <a:rPr lang="en-US" altLang="en-US" sz="3600" dirty="0" err="1">
                <a:latin typeface="Courier New" panose="02070309020205020404" pitchFamily="49" charset="0"/>
                <a:cs typeface="Courier New" panose="02070309020205020404" pitchFamily="49" charset="0"/>
              </a:rPr>
              <a:t>System.out.pritnln</a:t>
            </a:r>
            <a:r>
              <a:rPr lang="en-US" altLang="en-US" sz="3600" dirty="0">
                <a:latin typeface="Courier New" panose="02070309020205020404" pitchFamily="49" charset="0"/>
                <a:cs typeface="Courier New" panose="02070309020205020404" pitchFamily="49" charset="0"/>
              </a:rPr>
              <a:t>(</a:t>
            </a:r>
            <a:r>
              <a:rPr lang="en-US" altLang="en-US" sz="3600" dirty="0" err="1">
                <a:latin typeface="Courier New" panose="02070309020205020404" pitchFamily="49" charset="0"/>
                <a:cs typeface="Courier New" panose="02070309020205020404" pitchFamily="49" charset="0"/>
              </a:rPr>
              <a:t>java.util.Collections.min</a:t>
            </a:r>
            <a:r>
              <a:rPr lang="en-US" altLang="en-US" sz="3600" dirty="0">
                <a:latin typeface="Courier New" panose="02070309020205020404" pitchFamily="49" charset="0"/>
                <a:cs typeface="Courier New" panose="02070309020205020404" pitchFamily="49" charset="0"/>
              </a:rPr>
              <a:t>(</a:t>
            </a:r>
          </a:p>
          <a:p>
            <a:pPr>
              <a:buFont typeface="Monotype Sorts"/>
              <a:buNone/>
            </a:pPr>
            <a:r>
              <a:rPr lang="en-US" altLang="en-US" sz="3600" dirty="0">
                <a:latin typeface="Courier New" panose="02070309020205020404" pitchFamily="49" charset="0"/>
                <a:cs typeface="Courier New" panose="02070309020205020404" pitchFamily="49" charset="0"/>
              </a:rPr>
              <a:t>  new </a:t>
            </a:r>
            <a:r>
              <a:rPr lang="en-US" altLang="en-US" sz="3600" dirty="0" err="1">
                <a:latin typeface="Courier New" panose="02070309020205020404" pitchFamily="49" charset="0"/>
                <a:cs typeface="Courier New" panose="02070309020205020404" pitchFamily="49" charset="0"/>
              </a:rPr>
              <a:t>ArrayList</a:t>
            </a:r>
            <a:r>
              <a:rPr lang="en-US" altLang="en-US" sz="3600" dirty="0">
                <a:latin typeface="Courier New" panose="02070309020205020404" pitchFamily="49" charset="0"/>
                <a:cs typeface="Courier New" panose="02070309020205020404" pitchFamily="49" charset="0"/>
              </a:rPr>
              <a:t>&lt;String&gt;(</a:t>
            </a:r>
            <a:r>
              <a:rPr lang="en-US" altLang="en-US" sz="3600" dirty="0" err="1">
                <a:latin typeface="Courier New" panose="02070309020205020404" pitchFamily="49" charset="0"/>
                <a:cs typeface="Courier New" panose="02070309020205020404" pitchFamily="49" charset="0"/>
              </a:rPr>
              <a:t>Arrays.asList</a:t>
            </a:r>
            <a:r>
              <a:rPr lang="en-US" altLang="en-US" sz="3600" dirty="0">
                <a:latin typeface="Courier New" panose="02070309020205020404" pitchFamily="49" charset="0"/>
                <a:cs typeface="Courier New" panose="02070309020205020404" pitchFamily="49" charset="0"/>
              </a:rPr>
              <a:t>(array)));</a:t>
            </a:r>
          </a:p>
        </p:txBody>
      </p:sp>
    </p:spTree>
    <p:extLst>
      <p:ext uri="{BB962C8B-B14F-4D97-AF65-F5344CB8AC3E}">
        <p14:creationId xmlns:p14="http://schemas.microsoft.com/office/powerpoint/2010/main" val="2756280403"/>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Shuffling an </a:t>
            </a:r>
            <a:r>
              <a:rPr lang="en-US" altLang="en-US" sz="4800" b="1" dirty="0" err="1">
                <a:solidFill>
                  <a:schemeClr val="tx1"/>
                </a:solidFill>
                <a:latin typeface="Times New Roman" panose="02020603050405020304" pitchFamily="18" charset="0"/>
                <a:cs typeface="Times New Roman" panose="02020603050405020304" pitchFamily="18" charset="0"/>
              </a:rPr>
              <a:t>ArrayList</a:t>
            </a:r>
            <a:endParaRPr lang="en-US" altLang="en-US" sz="4800" b="1" dirty="0">
              <a:solidFill>
                <a:schemeClr val="tx1"/>
              </a:solidFill>
              <a:latin typeface="Times New Roman" panose="02020603050405020304" pitchFamily="18" charset="0"/>
              <a:cs typeface="Times New Roman" panose="02020603050405020304" pitchFamily="18" charset="0"/>
            </a:endParaRPr>
          </a:p>
        </p:txBody>
      </p:sp>
      <p:sp>
        <p:nvSpPr>
          <p:cNvPr id="51204" name="Rectangle 3"/>
          <p:cNvSpPr>
            <a:spLocks noGrp="1" noChangeArrowheads="1"/>
          </p:cNvSpPr>
          <p:nvPr>
            <p:ph type="body" idx="1"/>
          </p:nvPr>
        </p:nvSpPr>
        <p:spPr>
          <a:xfrm>
            <a:off x="228018" y="1500187"/>
            <a:ext cx="13225039" cy="5700713"/>
          </a:xfrm>
        </p:spPr>
        <p:txBody>
          <a:bodyPr/>
          <a:lstStyle/>
          <a:p>
            <a:pPr marL="0" indent="0">
              <a:buNone/>
            </a:pPr>
            <a:r>
              <a:rPr lang="en-US" altLang="en-US" dirty="0">
                <a:latin typeface="Courier New" panose="02070309020205020404" pitchFamily="49" charset="0"/>
                <a:cs typeface="Courier New" panose="02070309020205020404" pitchFamily="49" charset="0"/>
              </a:rPr>
              <a:t>Integer[] array = {</a:t>
            </a:r>
            <a:r>
              <a:rPr lang="en-US" altLang="en-US" b="1" dirty="0">
                <a:latin typeface="Courier New" panose="02070309020205020404" pitchFamily="49" charset="0"/>
                <a:cs typeface="Courier New" panose="02070309020205020404" pitchFamily="49" charset="0"/>
              </a:rPr>
              <a:t>3</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5</a:t>
            </a:r>
            <a:r>
              <a:rPr lang="en-US" altLang="en-US" dirty="0">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95</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4</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15</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34</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3</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6</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5</a:t>
            </a:r>
            <a:r>
              <a:rPr lang="en-US" altLang="en-US" dirty="0">
                <a:latin typeface="Courier New" panose="02070309020205020404" pitchFamily="49" charset="0"/>
                <a:cs typeface="Courier New" panose="02070309020205020404" pitchFamily="49" charset="0"/>
              </a:rPr>
              <a:t>};</a:t>
            </a:r>
          </a:p>
          <a:p>
            <a:pPr marL="0" indent="0">
              <a:buNone/>
            </a:pPr>
            <a:r>
              <a:rPr lang="en-US" altLang="en-US" dirty="0" err="1">
                <a:latin typeface="Courier New" panose="02070309020205020404" pitchFamily="49" charset="0"/>
                <a:cs typeface="Courier New" panose="02070309020205020404" pitchFamily="49" charset="0"/>
              </a:rPr>
              <a:t>ArrayList</a:t>
            </a:r>
            <a:r>
              <a:rPr lang="en-US" altLang="en-US" dirty="0">
                <a:latin typeface="Courier New" panose="02070309020205020404" pitchFamily="49" charset="0"/>
                <a:cs typeface="Courier New" panose="02070309020205020404" pitchFamily="49" charset="0"/>
              </a:rPr>
              <a:t>&lt;Integer&gt; list = </a:t>
            </a:r>
            <a:r>
              <a:rPr lang="en-US" altLang="en-US" b="1" dirty="0">
                <a:latin typeface="Courier New" panose="02070309020205020404" pitchFamily="49" charset="0"/>
                <a:cs typeface="Courier New" panose="02070309020205020404" pitchFamily="49" charset="0"/>
              </a:rPr>
              <a:t>new</a:t>
            </a:r>
            <a:r>
              <a:rPr lang="en-US" altLang="en-US" dirty="0">
                <a:latin typeface="Courier New" panose="02070309020205020404" pitchFamily="49" charset="0"/>
                <a:cs typeface="Courier New" panose="02070309020205020404" pitchFamily="49" charset="0"/>
              </a:rPr>
              <a:t>   </a:t>
            </a:r>
          </a:p>
          <a:p>
            <a:pPr marL="0" indent="0">
              <a:buNone/>
            </a:pP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ArrayList</a:t>
            </a:r>
            <a:r>
              <a:rPr lang="en-US" altLang="en-US" dirty="0">
                <a:latin typeface="Courier New" panose="02070309020205020404" pitchFamily="49" charset="0"/>
                <a:cs typeface="Courier New" panose="02070309020205020404" pitchFamily="49" charset="0"/>
              </a:rPr>
              <a:t>&lt;&gt;(</a:t>
            </a:r>
            <a:r>
              <a:rPr lang="en-US" altLang="en-US" dirty="0" err="1">
                <a:latin typeface="Courier New" panose="02070309020205020404" pitchFamily="49" charset="0"/>
                <a:cs typeface="Courier New" panose="02070309020205020404" pitchFamily="49" charset="0"/>
              </a:rPr>
              <a:t>Arrays.asList</a:t>
            </a:r>
            <a:r>
              <a:rPr lang="en-US" altLang="en-US" dirty="0">
                <a:latin typeface="Courier New" panose="02070309020205020404" pitchFamily="49" charset="0"/>
                <a:cs typeface="Courier New" panose="02070309020205020404" pitchFamily="49" charset="0"/>
              </a:rPr>
              <a:t>(array));</a:t>
            </a:r>
          </a:p>
          <a:p>
            <a:pPr marL="0" indent="0">
              <a:buNone/>
            </a:pPr>
            <a:r>
              <a:rPr lang="en-US" altLang="en-US" dirty="0" err="1">
                <a:latin typeface="Courier New" panose="02070309020205020404" pitchFamily="49" charset="0"/>
                <a:cs typeface="Courier New" panose="02070309020205020404" pitchFamily="49" charset="0"/>
              </a:rPr>
              <a:t>java.util.Collections.shuffle</a:t>
            </a:r>
            <a:r>
              <a:rPr lang="en-US" altLang="en-US" dirty="0">
                <a:latin typeface="Courier New" panose="02070309020205020404" pitchFamily="49" charset="0"/>
                <a:cs typeface="Courier New" panose="02070309020205020404" pitchFamily="49" charset="0"/>
              </a:rPr>
              <a:t>(list);</a:t>
            </a:r>
          </a:p>
          <a:p>
            <a:pPr marL="0" indent="0">
              <a:buNone/>
            </a:pPr>
            <a:r>
              <a:rPr lang="en-US" altLang="en-US" dirty="0" err="1">
                <a:latin typeface="Courier New" panose="02070309020205020404" pitchFamily="49" charset="0"/>
                <a:cs typeface="Courier New" panose="02070309020205020404" pitchFamily="49" charset="0"/>
              </a:rPr>
              <a:t>System.out.println</a:t>
            </a:r>
            <a:r>
              <a:rPr lang="en-US" altLang="en-US" dirty="0">
                <a:latin typeface="Courier New" panose="02070309020205020404" pitchFamily="49" charset="0"/>
                <a:cs typeface="Courier New" panose="02070309020205020404" pitchFamily="49" charset="0"/>
              </a:rPr>
              <a:t>(list);</a:t>
            </a:r>
          </a:p>
        </p:txBody>
      </p:sp>
      <p:sp>
        <p:nvSpPr>
          <p:cNvPr id="51205"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1206"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Tree>
    <p:extLst>
      <p:ext uri="{BB962C8B-B14F-4D97-AF65-F5344CB8AC3E}">
        <p14:creationId xmlns:p14="http://schemas.microsoft.com/office/powerpoint/2010/main" val="1121104214"/>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484539" y="389632"/>
            <a:ext cx="12956644" cy="700088"/>
          </a:xfrm>
        </p:spPr>
        <p:txBody>
          <a:bodyPr lIns="129607" tIns="64804" rIns="129607" bIns="64804"/>
          <a:lstStyle/>
          <a:p>
            <a:pPr algn="ctr"/>
            <a:r>
              <a:rPr lang="en-US" altLang="en-US" sz="4400" b="1" dirty="0">
                <a:solidFill>
                  <a:schemeClr val="tx1"/>
                </a:solidFill>
                <a:latin typeface="Times New Roman" panose="02020603050405020304" pitchFamily="18" charset="0"/>
                <a:cs typeface="Times New Roman" panose="02020603050405020304" pitchFamily="18" charset="0"/>
              </a:rPr>
              <a:t>Stack Animation</a:t>
            </a:r>
          </a:p>
        </p:txBody>
      </p:sp>
      <p:sp>
        <p:nvSpPr>
          <p:cNvPr id="52228" name="Rectangle 3"/>
          <p:cNvSpPr>
            <a:spLocks noChangeArrowheads="1"/>
          </p:cNvSpPr>
          <p:nvPr/>
        </p:nvSpPr>
        <p:spPr bwMode="auto">
          <a:xfrm>
            <a:off x="2605580" y="2735759"/>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2229" name="Rectangle 4"/>
          <p:cNvSpPr>
            <a:spLocks noChangeArrowheads="1"/>
          </p:cNvSpPr>
          <p:nvPr/>
        </p:nvSpPr>
        <p:spPr bwMode="auto">
          <a:xfrm>
            <a:off x="3192251" y="318998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2230" name="Rectangle 5"/>
          <p:cNvSpPr>
            <a:spLocks noChangeArrowheads="1"/>
          </p:cNvSpPr>
          <p:nvPr/>
        </p:nvSpPr>
        <p:spPr bwMode="auto">
          <a:xfrm>
            <a:off x="5180283" y="4063008"/>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2231" name="Rectangle 6"/>
          <p:cNvSpPr>
            <a:spLocks noChangeArrowheads="1"/>
          </p:cNvSpPr>
          <p:nvPr/>
        </p:nvSpPr>
        <p:spPr bwMode="auto">
          <a:xfrm>
            <a:off x="3505775" y="2156520"/>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2232" name="AutoShape 19">
            <a:hlinkClick r:id="rId2" highlightClick="1"/>
          </p:cNvPr>
          <p:cNvSpPr>
            <a:spLocks noChangeArrowheads="1"/>
          </p:cNvSpPr>
          <p:nvPr/>
        </p:nvSpPr>
        <p:spPr bwMode="auto">
          <a:xfrm>
            <a:off x="684054" y="1833563"/>
            <a:ext cx="700681" cy="756345"/>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2233" name="Rectangle 2"/>
          <p:cNvSpPr txBox="1">
            <a:spLocks noChangeArrowheads="1"/>
          </p:cNvSpPr>
          <p:nvPr/>
        </p:nvSpPr>
        <p:spPr bwMode="auto">
          <a:xfrm>
            <a:off x="228018" y="1160562"/>
            <a:ext cx="13225039"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3400" dirty="0"/>
              <a:t>https://liveexample.pearsoncmg.com/dsanimation/StackeBook.html</a:t>
            </a:r>
          </a:p>
        </p:txBody>
      </p:sp>
      <p:pic>
        <p:nvPicPr>
          <p:cNvPr id="52234"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793" y="2894113"/>
            <a:ext cx="12728626" cy="5386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1728775432"/>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1026081" y="200025"/>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t>
            </a:r>
            <a:r>
              <a:rPr lang="en-US" altLang="en-US" sz="4800" b="1" u="sng" dirty="0" err="1">
                <a:solidFill>
                  <a:schemeClr val="tx1"/>
                </a:solidFill>
                <a:latin typeface="Times New Roman" panose="02020603050405020304" pitchFamily="18" charset="0"/>
                <a:cs typeface="Times New Roman" panose="02020603050405020304" pitchFamily="18" charset="0"/>
              </a:rPr>
              <a:t>MyStack</a:t>
            </a:r>
            <a:r>
              <a:rPr lang="en-US" altLang="en-US" sz="4800" b="1" dirty="0">
                <a:solidFill>
                  <a:schemeClr val="tx1"/>
                </a:solidFill>
                <a:latin typeface="Times New Roman" panose="02020603050405020304" pitchFamily="18" charset="0"/>
                <a:cs typeface="Times New Roman" panose="02020603050405020304" pitchFamily="18" charset="0"/>
              </a:rPr>
              <a:t> Classes </a:t>
            </a:r>
          </a:p>
        </p:txBody>
      </p:sp>
      <p:sp>
        <p:nvSpPr>
          <p:cNvPr id="53252" name="Rectangle 3"/>
          <p:cNvSpPr>
            <a:spLocks noGrp="1" noChangeArrowheads="1"/>
          </p:cNvSpPr>
          <p:nvPr>
            <p:ph type="body" idx="1"/>
          </p:nvPr>
        </p:nvSpPr>
        <p:spPr>
          <a:xfrm>
            <a:off x="342027" y="1500188"/>
            <a:ext cx="12883012" cy="1600200"/>
          </a:xfrm>
        </p:spPr>
        <p:txBody>
          <a:bodyPr/>
          <a:lstStyle/>
          <a:p>
            <a:pPr marL="0" indent="0">
              <a:lnSpc>
                <a:spcPct val="80000"/>
              </a:lnSpc>
              <a:spcAft>
                <a:spcPts val="1701"/>
              </a:spcAft>
              <a:buNone/>
            </a:pPr>
            <a:r>
              <a:rPr lang="en-US" altLang="en-US" sz="3400" dirty="0">
                <a:latin typeface="Times New Roman" panose="02020603050405020304" pitchFamily="18" charset="0"/>
                <a:cs typeface="Times New Roman" panose="02020603050405020304" pitchFamily="18" charset="0"/>
              </a:rPr>
              <a:t>A stack to hold objects.</a:t>
            </a:r>
          </a:p>
        </p:txBody>
      </p:sp>
      <p:sp>
        <p:nvSpPr>
          <p:cNvPr id="53253" name="Rectangle 4"/>
          <p:cNvSpPr>
            <a:spLocks noChangeArrowheads="1"/>
          </p:cNvSpPr>
          <p:nvPr/>
        </p:nvSpPr>
        <p:spPr bwMode="auto">
          <a:xfrm>
            <a:off x="2458319" y="4019253"/>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3254" name="Rectangle 5"/>
          <p:cNvSpPr>
            <a:spLocks noChangeArrowheads="1"/>
          </p:cNvSpPr>
          <p:nvPr/>
        </p:nvSpPr>
        <p:spPr bwMode="auto">
          <a:xfrm>
            <a:off x="0" y="264207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3255" name="Rectangle 6"/>
          <p:cNvSpPr>
            <a:spLocks noChangeArrowheads="1"/>
          </p:cNvSpPr>
          <p:nvPr/>
        </p:nvSpPr>
        <p:spPr bwMode="auto">
          <a:xfrm>
            <a:off x="0" y="313588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3256" name="Rectangle 8"/>
          <p:cNvSpPr>
            <a:spLocks noChangeArrowheads="1"/>
          </p:cNvSpPr>
          <p:nvPr/>
        </p:nvSpPr>
        <p:spPr bwMode="auto">
          <a:xfrm>
            <a:off x="0" y="313588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53257" name="Object 9"/>
          <p:cNvGraphicFramePr>
            <a:graphicFrameLocks noChangeAspect="1"/>
          </p:cNvGraphicFramePr>
          <p:nvPr/>
        </p:nvGraphicFramePr>
        <p:xfrm>
          <a:off x="342027" y="3200400"/>
          <a:ext cx="12883012" cy="4886028"/>
        </p:xfrm>
        <a:graphic>
          <a:graphicData uri="http://schemas.openxmlformats.org/presentationml/2006/ole">
            <mc:AlternateContent xmlns:mc="http://schemas.openxmlformats.org/markup-compatibility/2006">
              <mc:Choice xmlns:v="urn:schemas-microsoft-com:vml" Requires="v">
                <p:oleObj spid="_x0000_s10253" name="Picture" r:id="rId2" imgW="3846786" imgH="1387366" progId="Word.Picture.8">
                  <p:embed/>
                </p:oleObj>
              </mc:Choice>
              <mc:Fallback>
                <p:oleObj name="Picture" r:id="rId2" imgW="3846786" imgH="1387366" progId="Word.Picture.8">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027" y="3200400"/>
                        <a:ext cx="12883012" cy="48860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8" name="Rectangle 12">
            <a:hlinkClick r:id="rId4"/>
          </p:cNvPr>
          <p:cNvSpPr>
            <a:spLocks noChangeArrowheads="1"/>
          </p:cNvSpPr>
          <p:nvPr/>
        </p:nvSpPr>
        <p:spPr bwMode="auto">
          <a:xfrm>
            <a:off x="570046" y="2400300"/>
            <a:ext cx="2066412"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MyStack</a:t>
            </a:r>
          </a:p>
        </p:txBody>
      </p:sp>
    </p:spTree>
    <p:extLst>
      <p:ext uri="{BB962C8B-B14F-4D97-AF65-F5344CB8AC3E}">
        <p14:creationId xmlns:p14="http://schemas.microsoft.com/office/powerpoint/2010/main" val="2993058846"/>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1025525" y="1"/>
            <a:ext cx="11630025" cy="863600"/>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The </a:t>
            </a:r>
            <a:r>
              <a:rPr lang="en-US" sz="4800" b="1" dirty="0">
                <a:solidFill>
                  <a:schemeClr val="tx1"/>
                </a:solidFill>
                <a:latin typeface="Courier New" panose="02070309020205020404" pitchFamily="49" charset="0"/>
                <a:cs typeface="Courier New" panose="02070309020205020404" pitchFamily="49" charset="0"/>
              </a:rPr>
              <a:t>protected</a:t>
            </a:r>
            <a:r>
              <a:rPr lang="en-US" sz="4800" b="1" dirty="0">
                <a:solidFill>
                  <a:schemeClr val="tx1"/>
                </a:solidFill>
                <a:latin typeface="Times New Roman" panose="02020603050405020304" pitchFamily="18" charset="0"/>
                <a:cs typeface="Times New Roman" panose="02020603050405020304" pitchFamily="18" charset="0"/>
              </a:rPr>
              <a:t> Modifier</a:t>
            </a:r>
          </a:p>
        </p:txBody>
      </p:sp>
      <p:sp>
        <p:nvSpPr>
          <p:cNvPr id="7173" name="Rectangle 3"/>
          <p:cNvSpPr>
            <a:spLocks noGrp="1" noChangeArrowheads="1"/>
          </p:cNvSpPr>
          <p:nvPr>
            <p:ph type="body" idx="1"/>
          </p:nvPr>
        </p:nvSpPr>
        <p:spPr>
          <a:xfrm>
            <a:off x="287338" y="1033463"/>
            <a:ext cx="13111162" cy="4381500"/>
          </a:xfrm>
          <a:noFill/>
        </p:spPr>
        <p:txBody>
          <a:bodyPr/>
          <a:lstStyle/>
          <a:p>
            <a:pPr>
              <a:lnSpc>
                <a:spcPct val="90000"/>
              </a:lnSpc>
              <a:spcBef>
                <a:spcPct val="0"/>
              </a:spcBef>
            </a:pPr>
            <a:r>
              <a:rPr lang="en-US" sz="3600" dirty="0">
                <a:latin typeface="Times New Roman" panose="02020603050405020304" pitchFamily="18" charset="0"/>
                <a:cs typeface="Times New Roman" panose="02020603050405020304" pitchFamily="18" charset="0"/>
              </a:rPr>
              <a:t>The </a:t>
            </a:r>
            <a:r>
              <a:rPr lang="en-US" sz="3600" b="1" dirty="0">
                <a:latin typeface="Courier New" panose="02070309020205020404" pitchFamily="49" charset="0"/>
                <a:cs typeface="Courier New" panose="02070309020205020404" pitchFamily="49" charset="0"/>
              </a:rPr>
              <a:t>protected</a:t>
            </a:r>
            <a:r>
              <a:rPr lang="en-US" sz="3600" dirty="0">
                <a:latin typeface="Times New Roman" panose="02020603050405020304" pitchFamily="18" charset="0"/>
                <a:cs typeface="Times New Roman" panose="02020603050405020304" pitchFamily="18" charset="0"/>
              </a:rPr>
              <a:t> modifier can be applied on data and methods in a class. </a:t>
            </a:r>
          </a:p>
          <a:p>
            <a:pPr>
              <a:lnSpc>
                <a:spcPct val="90000"/>
              </a:lnSpc>
              <a:spcBef>
                <a:spcPct val="0"/>
              </a:spcBef>
            </a:pPr>
            <a:r>
              <a:rPr lang="en-US" sz="3600" dirty="0">
                <a:latin typeface="Times New Roman" panose="02020603050405020304" pitchFamily="18" charset="0"/>
                <a:cs typeface="Times New Roman" panose="02020603050405020304" pitchFamily="18" charset="0"/>
              </a:rPr>
              <a:t>A protected data or a protected method in a public class can be accessed by </a:t>
            </a:r>
          </a:p>
          <a:p>
            <a:pPr lvl="1">
              <a:lnSpc>
                <a:spcPct val="90000"/>
              </a:lnSpc>
              <a:spcBef>
                <a:spcPct val="0"/>
              </a:spcBef>
            </a:pPr>
            <a:r>
              <a:rPr lang="en-US" sz="3600" dirty="0">
                <a:latin typeface="Times New Roman" panose="02020603050405020304" pitchFamily="18" charset="0"/>
                <a:cs typeface="Times New Roman" panose="02020603050405020304" pitchFamily="18" charset="0"/>
              </a:rPr>
              <a:t>any class in the same package or </a:t>
            </a:r>
          </a:p>
          <a:p>
            <a:pPr lvl="1">
              <a:lnSpc>
                <a:spcPct val="90000"/>
              </a:lnSpc>
              <a:spcBef>
                <a:spcPct val="0"/>
              </a:spcBef>
            </a:pPr>
            <a:r>
              <a:rPr lang="en-US" sz="3600" dirty="0">
                <a:latin typeface="Times New Roman" panose="02020603050405020304" pitchFamily="18" charset="0"/>
                <a:cs typeface="Times New Roman" panose="02020603050405020304" pitchFamily="18" charset="0"/>
              </a:rPr>
              <a:t>its subclasses, even if the subclasses are in a different package. </a:t>
            </a:r>
          </a:p>
          <a:p>
            <a:pPr>
              <a:lnSpc>
                <a:spcPct val="90000"/>
              </a:lnSpc>
              <a:spcBef>
                <a:spcPct val="0"/>
              </a:spcBef>
            </a:pPr>
            <a:r>
              <a:rPr lang="en-US" sz="3600" dirty="0">
                <a:latin typeface="Times New Roman" panose="02020603050405020304" pitchFamily="18" charset="0"/>
                <a:cs typeface="Times New Roman" panose="02020603050405020304" pitchFamily="18" charset="0"/>
              </a:rPr>
              <a:t>private, default, protected, public</a:t>
            </a:r>
          </a:p>
        </p:txBody>
      </p:sp>
      <p:sp>
        <p:nvSpPr>
          <p:cNvPr id="7174" name="Rectangle 4"/>
          <p:cNvSpPr>
            <a:spLocks noChangeArrowheads="1"/>
          </p:cNvSpPr>
          <p:nvPr/>
        </p:nvSpPr>
        <p:spPr bwMode="auto">
          <a:xfrm>
            <a:off x="2459038" y="4019550"/>
            <a:ext cx="13681075" cy="654050"/>
          </a:xfrm>
          <a:prstGeom prst="rect">
            <a:avLst/>
          </a:prstGeom>
          <a:noFill/>
          <a:ln w="12700">
            <a:noFill/>
            <a:miter lim="800000"/>
            <a:headEnd type="none" w="sm" len="sm"/>
            <a:tailEnd type="none" w="sm" len="sm"/>
          </a:ln>
        </p:spPr>
        <p:txBody>
          <a:bodyPr lIns="129522" tIns="64764" rIns="129522" bIns="64764">
            <a:spAutoFit/>
          </a:bodyPr>
          <a:lstStyle/>
          <a:p>
            <a:endParaRPr lang="en-GB"/>
          </a:p>
        </p:txBody>
      </p:sp>
      <p:pic>
        <p:nvPicPr>
          <p:cNvPr id="4099" name="Picture 3"/>
          <p:cNvPicPr>
            <a:picLocks noChangeAspect="1" noChangeArrowheads="1"/>
          </p:cNvPicPr>
          <p:nvPr/>
        </p:nvPicPr>
        <p:blipFill>
          <a:blip r:embed="rId3" cstate="print">
            <a:lum bright="-18000"/>
          </a:blip>
          <a:srcRect/>
          <a:stretch>
            <a:fillRect/>
          </a:stretch>
        </p:blipFill>
        <p:spPr bwMode="auto">
          <a:xfrm>
            <a:off x="1228530" y="5329238"/>
            <a:ext cx="11525508" cy="2366962"/>
          </a:xfrm>
          <a:prstGeom prst="rect">
            <a:avLst/>
          </a:prstGeom>
          <a:ln>
            <a:noFill/>
          </a:ln>
          <a:effectLst>
            <a:softEdge rad="112500"/>
          </a:effec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animEffect transition="in" filter="slide(fromBottom)">
                                      <p:cBhvr>
                                        <p:cTn id="7" dur="500"/>
                                        <p:tgtEl>
                                          <p:spTgt spid="71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173">
                                            <p:txEl>
                                              <p:pRg st="1" end="1"/>
                                            </p:txEl>
                                          </p:spTgt>
                                        </p:tgtEl>
                                        <p:attrNameLst>
                                          <p:attrName>style.visibility</p:attrName>
                                        </p:attrNameLst>
                                      </p:cBhvr>
                                      <p:to>
                                        <p:strVal val="visible"/>
                                      </p:to>
                                    </p:set>
                                    <p:anim calcmode="lin" valueType="num">
                                      <p:cBhvr additive="base">
                                        <p:cTn id="12" dur="500" fill="hold"/>
                                        <p:tgtEl>
                                          <p:spTgt spid="717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1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nodeType="clickEffect">
                                  <p:stCondLst>
                                    <p:cond delay="0"/>
                                  </p:stCondLst>
                                  <p:childTnLst>
                                    <p:set>
                                      <p:cBhvr>
                                        <p:cTn id="17" dur="1" fill="hold">
                                          <p:stCondLst>
                                            <p:cond delay="0"/>
                                          </p:stCondLst>
                                        </p:cTn>
                                        <p:tgtEl>
                                          <p:spTgt spid="7173">
                                            <p:txEl>
                                              <p:pRg st="2" end="2"/>
                                            </p:txEl>
                                          </p:spTgt>
                                        </p:tgtEl>
                                        <p:attrNameLst>
                                          <p:attrName>style.visibility</p:attrName>
                                        </p:attrNameLst>
                                      </p:cBhvr>
                                      <p:to>
                                        <p:strVal val="visible"/>
                                      </p:to>
                                    </p:set>
                                    <p:anim calcmode="lin" valueType="num">
                                      <p:cBhvr>
                                        <p:cTn id="18" dur="500" fill="hold"/>
                                        <p:tgtEl>
                                          <p:spTgt spid="7173">
                                            <p:txEl>
                                              <p:pRg st="2" end="2"/>
                                            </p:txEl>
                                          </p:spTgt>
                                        </p:tgtEl>
                                        <p:attrNameLst>
                                          <p:attrName>ppt_w</p:attrName>
                                        </p:attrNameLst>
                                      </p:cBhvr>
                                      <p:tavLst>
                                        <p:tav tm="0">
                                          <p:val>
                                            <p:fltVal val="0"/>
                                          </p:val>
                                        </p:tav>
                                        <p:tav tm="100000">
                                          <p:val>
                                            <p:strVal val="#ppt_w"/>
                                          </p:val>
                                        </p:tav>
                                      </p:tavLst>
                                    </p:anim>
                                    <p:anim calcmode="lin" valueType="num">
                                      <p:cBhvr>
                                        <p:cTn id="19" dur="500" fill="hold"/>
                                        <p:tgtEl>
                                          <p:spTgt spid="7173">
                                            <p:txEl>
                                              <p:pRg st="2" end="2"/>
                                            </p:txEl>
                                          </p:spTgt>
                                        </p:tgtEl>
                                        <p:attrNameLst>
                                          <p:attrName>ppt_h</p:attrName>
                                        </p:attrNameLst>
                                      </p:cBhvr>
                                      <p:tavLst>
                                        <p:tav tm="0">
                                          <p:val>
                                            <p:fltVal val="0"/>
                                          </p:val>
                                        </p:tav>
                                        <p:tav tm="100000">
                                          <p:val>
                                            <p:strVal val="#ppt_h"/>
                                          </p:val>
                                        </p:tav>
                                      </p:tavLst>
                                    </p:anim>
                                    <p:animEffect transition="in" filter="fade">
                                      <p:cBhvr>
                                        <p:cTn id="20" dur="500"/>
                                        <p:tgtEl>
                                          <p:spTgt spid="7173">
                                            <p:txEl>
                                              <p:pRg st="2" end="2"/>
                                            </p:txEl>
                                          </p:spTgt>
                                        </p:tgtEl>
                                      </p:cBhvr>
                                    </p:animEffect>
                                  </p:childTnLst>
                                </p:cTn>
                              </p:par>
                              <p:par>
                                <p:cTn id="21" presetID="53" presetClass="entr" presetSubtype="0" fill="hold" nodeType="withEffect">
                                  <p:stCondLst>
                                    <p:cond delay="0"/>
                                  </p:stCondLst>
                                  <p:childTnLst>
                                    <p:set>
                                      <p:cBhvr>
                                        <p:cTn id="22" dur="1" fill="hold">
                                          <p:stCondLst>
                                            <p:cond delay="0"/>
                                          </p:stCondLst>
                                        </p:cTn>
                                        <p:tgtEl>
                                          <p:spTgt spid="7173">
                                            <p:txEl>
                                              <p:pRg st="3" end="3"/>
                                            </p:txEl>
                                          </p:spTgt>
                                        </p:tgtEl>
                                        <p:attrNameLst>
                                          <p:attrName>style.visibility</p:attrName>
                                        </p:attrNameLst>
                                      </p:cBhvr>
                                      <p:to>
                                        <p:strVal val="visible"/>
                                      </p:to>
                                    </p:set>
                                    <p:anim calcmode="lin" valueType="num">
                                      <p:cBhvr>
                                        <p:cTn id="23" dur="500" fill="hold"/>
                                        <p:tgtEl>
                                          <p:spTgt spid="7173">
                                            <p:txEl>
                                              <p:pRg st="3" end="3"/>
                                            </p:txEl>
                                          </p:spTgt>
                                        </p:tgtEl>
                                        <p:attrNameLst>
                                          <p:attrName>ppt_w</p:attrName>
                                        </p:attrNameLst>
                                      </p:cBhvr>
                                      <p:tavLst>
                                        <p:tav tm="0">
                                          <p:val>
                                            <p:fltVal val="0"/>
                                          </p:val>
                                        </p:tav>
                                        <p:tav tm="100000">
                                          <p:val>
                                            <p:strVal val="#ppt_w"/>
                                          </p:val>
                                        </p:tav>
                                      </p:tavLst>
                                    </p:anim>
                                    <p:anim calcmode="lin" valueType="num">
                                      <p:cBhvr>
                                        <p:cTn id="24" dur="500" fill="hold"/>
                                        <p:tgtEl>
                                          <p:spTgt spid="7173">
                                            <p:txEl>
                                              <p:pRg st="3" end="3"/>
                                            </p:txEl>
                                          </p:spTgt>
                                        </p:tgtEl>
                                        <p:attrNameLst>
                                          <p:attrName>ppt_h</p:attrName>
                                        </p:attrNameLst>
                                      </p:cBhvr>
                                      <p:tavLst>
                                        <p:tav tm="0">
                                          <p:val>
                                            <p:fltVal val="0"/>
                                          </p:val>
                                        </p:tav>
                                        <p:tav tm="100000">
                                          <p:val>
                                            <p:strVal val="#ppt_h"/>
                                          </p:val>
                                        </p:tav>
                                      </p:tavLst>
                                    </p:anim>
                                    <p:animEffect transition="in" filter="fade">
                                      <p:cBhvr>
                                        <p:cTn id="25" dur="500"/>
                                        <p:tgtEl>
                                          <p:spTgt spid="717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nodeType="clickEffect">
                                  <p:stCondLst>
                                    <p:cond delay="0"/>
                                  </p:stCondLst>
                                  <p:childTnLst>
                                    <p:set>
                                      <p:cBhvr>
                                        <p:cTn id="29" dur="1" fill="hold">
                                          <p:stCondLst>
                                            <p:cond delay="0"/>
                                          </p:stCondLst>
                                        </p:cTn>
                                        <p:tgtEl>
                                          <p:spTgt spid="7173">
                                            <p:txEl>
                                              <p:pRg st="4" end="4"/>
                                            </p:txEl>
                                          </p:spTgt>
                                        </p:tgtEl>
                                        <p:attrNameLst>
                                          <p:attrName>style.visibility</p:attrName>
                                        </p:attrNameLst>
                                      </p:cBhvr>
                                      <p:to>
                                        <p:strVal val="visible"/>
                                      </p:to>
                                    </p:set>
                                    <p:animEffect transition="in" filter="barn(inHorizontal)">
                                      <p:cBhvr>
                                        <p:cTn id="30" dur="500"/>
                                        <p:tgtEl>
                                          <p:spTgt spid="717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1025525" y="1"/>
            <a:ext cx="11630025" cy="914400"/>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Accessibility Summary</a:t>
            </a:r>
          </a:p>
        </p:txBody>
      </p:sp>
      <p:sp>
        <p:nvSpPr>
          <p:cNvPr id="8197" name="Rectangle 4"/>
          <p:cNvSpPr>
            <a:spLocks noChangeArrowheads="1"/>
          </p:cNvSpPr>
          <p:nvPr/>
        </p:nvSpPr>
        <p:spPr bwMode="auto">
          <a:xfrm>
            <a:off x="2459038" y="4019550"/>
            <a:ext cx="13681075" cy="654050"/>
          </a:xfrm>
          <a:prstGeom prst="rect">
            <a:avLst/>
          </a:prstGeom>
          <a:noFill/>
          <a:ln w="12700">
            <a:noFill/>
            <a:miter lim="800000"/>
            <a:headEnd type="none" w="sm" len="sm"/>
            <a:tailEnd type="none" w="sm" len="sm"/>
          </a:ln>
        </p:spPr>
        <p:txBody>
          <a:bodyPr lIns="129522" tIns="64764" rIns="129522" bIns="64764">
            <a:spAutoFit/>
          </a:bodyPr>
          <a:lstStyle/>
          <a:p>
            <a:endParaRPr lang="en-GB"/>
          </a:p>
        </p:txBody>
      </p:sp>
      <p:sp>
        <p:nvSpPr>
          <p:cNvPr id="8198" name="Rectangle 8"/>
          <p:cNvSpPr>
            <a:spLocks noChangeArrowheads="1"/>
          </p:cNvSpPr>
          <p:nvPr/>
        </p:nvSpPr>
        <p:spPr bwMode="auto">
          <a:xfrm>
            <a:off x="3363913" y="3151188"/>
            <a:ext cx="13681075" cy="654050"/>
          </a:xfrm>
          <a:prstGeom prst="rect">
            <a:avLst/>
          </a:prstGeom>
          <a:noFill/>
          <a:ln w="12700">
            <a:noFill/>
            <a:miter lim="800000"/>
            <a:headEnd type="none" w="sm" len="sm"/>
            <a:tailEnd type="none" w="sm" len="sm"/>
          </a:ln>
        </p:spPr>
        <p:txBody>
          <a:bodyPr lIns="129522" tIns="64764" rIns="129522" bIns="64764">
            <a:spAutoFit/>
          </a:bodyPr>
          <a:lstStyle/>
          <a:p>
            <a:endParaRPr lang="en-GB"/>
          </a:p>
        </p:txBody>
      </p:sp>
      <p:sp>
        <p:nvSpPr>
          <p:cNvPr id="8199" name="Text Box 3"/>
          <p:cNvSpPr txBox="1">
            <a:spLocks noChangeArrowheads="1"/>
          </p:cNvSpPr>
          <p:nvPr/>
        </p:nvSpPr>
        <p:spPr bwMode="auto">
          <a:xfrm>
            <a:off x="592138" y="6354763"/>
            <a:ext cx="12725400" cy="1746250"/>
          </a:xfrm>
          <a:prstGeom prst="rect">
            <a:avLst/>
          </a:prstGeom>
          <a:noFill/>
          <a:ln w="12700">
            <a:noFill/>
            <a:miter lim="800000"/>
            <a:headEnd type="none" w="sm" len="sm"/>
            <a:tailEnd type="none" w="sm" len="sm"/>
          </a:ln>
        </p:spPr>
        <p:txBody>
          <a:bodyPr lIns="129522" tIns="64764" rIns="129522" bIns="64764">
            <a:spAutoFit/>
          </a:bodyPr>
          <a:lstStyle/>
          <a:p>
            <a:r>
              <a:rPr lang="en-US" sz="3500" dirty="0">
                <a:cs typeface="Times New Roman" pitchFamily="18" charset="0"/>
              </a:rPr>
              <a:t>A field or method that is not declares as public, private, or protected can be accessed by all classes in the same package, which is usually not desirable</a:t>
            </a:r>
          </a:p>
        </p:txBody>
      </p:sp>
      <p:pic>
        <p:nvPicPr>
          <p:cNvPr id="5123" name="Picture 3"/>
          <p:cNvPicPr>
            <a:picLocks noChangeAspect="1" noChangeArrowheads="1"/>
          </p:cNvPicPr>
          <p:nvPr/>
        </p:nvPicPr>
        <p:blipFill>
          <a:blip r:embed="rId3" cstate="print">
            <a:lum bright="-18000"/>
          </a:blip>
          <a:srcRect/>
          <a:stretch>
            <a:fillRect/>
          </a:stretch>
        </p:blipFill>
        <p:spPr bwMode="auto">
          <a:xfrm>
            <a:off x="563563" y="1147763"/>
            <a:ext cx="12553950" cy="4876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026081" y="400050"/>
            <a:ext cx="11628914" cy="975122"/>
          </a:xfrm>
        </p:spPr>
        <p:txBody>
          <a:bodyPr lIns="129607" tIns="64804" rIns="129607" bIns="64804"/>
          <a:lstStyle/>
          <a:p>
            <a:pPr algn="ctr"/>
            <a:r>
              <a:rPr lang="en-US" altLang="en-US" b="1" dirty="0">
                <a:solidFill>
                  <a:schemeClr val="tx1"/>
                </a:solidFill>
                <a:latin typeface="Times New Roman" panose="02020603050405020304" pitchFamily="18" charset="0"/>
                <a:cs typeface="Times New Roman" panose="02020603050405020304" pitchFamily="18" charset="0"/>
              </a:rPr>
              <a:t>Visibility Modifiers </a:t>
            </a:r>
          </a:p>
        </p:txBody>
      </p:sp>
      <p:sp>
        <p:nvSpPr>
          <p:cNvPr id="56324" name="Rectangle 5"/>
          <p:cNvSpPr>
            <a:spLocks noChangeArrowheads="1"/>
          </p:cNvSpPr>
          <p:nvPr/>
        </p:nvSpPr>
        <p:spPr bwMode="auto">
          <a:xfrm>
            <a:off x="2520074" y="3525441"/>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6325" name="Rectangle 7"/>
          <p:cNvSpPr>
            <a:spLocks noChangeArrowheads="1"/>
          </p:cNvSpPr>
          <p:nvPr/>
        </p:nvSpPr>
        <p:spPr bwMode="auto">
          <a:xfrm>
            <a:off x="2864475" y="2512814"/>
            <a:ext cx="13681075"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56326" name="Rectangle 9"/>
          <p:cNvSpPr>
            <a:spLocks noChangeArrowheads="1"/>
          </p:cNvSpPr>
          <p:nvPr/>
        </p:nvSpPr>
        <p:spPr bwMode="auto">
          <a:xfrm>
            <a:off x="0" y="2183684"/>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56327" name="Object 8"/>
          <p:cNvGraphicFramePr>
            <a:graphicFrameLocks noChangeAspect="1"/>
          </p:cNvGraphicFramePr>
          <p:nvPr/>
        </p:nvGraphicFramePr>
        <p:xfrm>
          <a:off x="0" y="1600201"/>
          <a:ext cx="13225039" cy="6615411"/>
        </p:xfrm>
        <a:graphic>
          <a:graphicData uri="http://schemas.openxmlformats.org/presentationml/2006/ole">
            <mc:AlternateContent xmlns:mc="http://schemas.openxmlformats.org/markup-compatibility/2006">
              <mc:Choice xmlns:v="urn:schemas-microsoft-com:vml" Requires="v">
                <p:oleObj spid="_x0000_s11277" name="Picture" r:id="rId2" imgW="5321808" imgH="3026664" progId="Word.Picture.8">
                  <p:embed/>
                </p:oleObj>
              </mc:Choice>
              <mc:Fallback>
                <p:oleObj name="Picture" r:id="rId2" imgW="5321808" imgH="3026664" progId="Word.Picture.8">
                  <p:embed/>
                  <p:pic>
                    <p:nvPicPr>
                      <p:cNvPr id="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0201"/>
                        <a:ext cx="13225039" cy="66154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6810603"/>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a:xfrm>
            <a:off x="341313" y="4763"/>
            <a:ext cx="12884150" cy="900112"/>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A Subclass Cannot Weaken the Accessibility</a:t>
            </a:r>
          </a:p>
        </p:txBody>
      </p:sp>
      <p:sp>
        <p:nvSpPr>
          <p:cNvPr id="89092" name="Text Box 3"/>
          <p:cNvSpPr txBox="1">
            <a:spLocks noChangeArrowheads="1"/>
          </p:cNvSpPr>
          <p:nvPr/>
        </p:nvSpPr>
        <p:spPr bwMode="auto">
          <a:xfrm>
            <a:off x="134938" y="1440840"/>
            <a:ext cx="13393737" cy="4439665"/>
          </a:xfrm>
          <a:prstGeom prst="rect">
            <a:avLst/>
          </a:prstGeom>
          <a:noFill/>
          <a:ln w="12700">
            <a:noFill/>
            <a:miter lim="800000"/>
            <a:headEnd type="none" w="sm" len="sm"/>
            <a:tailEnd type="none" w="sm" len="sm"/>
          </a:ln>
        </p:spPr>
        <p:txBody>
          <a:bodyPr lIns="129522" tIns="64764" rIns="129522" bIns="64764">
            <a:spAutoFit/>
          </a:bodyPr>
          <a:lstStyle/>
          <a:p>
            <a:pPr marL="627063" indent="-538163">
              <a:buFont typeface="Wingdings" pitchFamily="2" charset="2"/>
              <a:buChar char="ü"/>
            </a:pPr>
            <a:r>
              <a:rPr lang="en-US" sz="4000" dirty="0">
                <a:latin typeface="Times New Roman" panose="02020603050405020304" pitchFamily="18" charset="0"/>
                <a:cs typeface="Times New Roman" panose="02020603050405020304" pitchFamily="18" charset="0"/>
              </a:rPr>
              <a:t>A subclass may override a protected method in its </a:t>
            </a:r>
            <a:r>
              <a:rPr lang="en-US" sz="4000" dirty="0" err="1">
                <a:latin typeface="Times New Roman" panose="02020603050405020304" pitchFamily="18" charset="0"/>
                <a:cs typeface="Times New Roman" panose="02020603050405020304" pitchFamily="18" charset="0"/>
              </a:rPr>
              <a:t>superclass</a:t>
            </a:r>
            <a:r>
              <a:rPr lang="en-US" sz="4000" dirty="0">
                <a:latin typeface="Times New Roman" panose="02020603050405020304" pitchFamily="18" charset="0"/>
                <a:cs typeface="Times New Roman" panose="02020603050405020304" pitchFamily="18" charset="0"/>
              </a:rPr>
              <a:t> and change its visibility to public. </a:t>
            </a:r>
          </a:p>
          <a:p>
            <a:pPr marL="627063" indent="-538163">
              <a:buFont typeface="Wingdings" pitchFamily="2" charset="2"/>
              <a:buChar char="ü"/>
            </a:pPr>
            <a:r>
              <a:rPr lang="en-US" sz="4000" dirty="0">
                <a:latin typeface="Times New Roman" panose="02020603050405020304" pitchFamily="18" charset="0"/>
                <a:cs typeface="Times New Roman" panose="02020603050405020304" pitchFamily="18" charset="0"/>
              </a:rPr>
              <a:t>However, a subclass cannot weaken the accessibility of a method defined in the </a:t>
            </a:r>
            <a:r>
              <a:rPr lang="en-US" sz="4000" dirty="0" err="1">
                <a:latin typeface="Times New Roman" panose="02020603050405020304" pitchFamily="18" charset="0"/>
                <a:cs typeface="Times New Roman" panose="02020603050405020304" pitchFamily="18" charset="0"/>
              </a:rPr>
              <a:t>superclass</a:t>
            </a:r>
            <a:r>
              <a:rPr lang="en-US" sz="4000" dirty="0">
                <a:latin typeface="Times New Roman" panose="02020603050405020304" pitchFamily="18" charset="0"/>
                <a:cs typeface="Times New Roman" panose="02020603050405020304" pitchFamily="18" charset="0"/>
              </a:rPr>
              <a:t>. </a:t>
            </a:r>
          </a:p>
          <a:p>
            <a:pPr marL="627063" indent="-538163">
              <a:buFont typeface="Wingdings" pitchFamily="2" charset="2"/>
              <a:buChar char="ü"/>
            </a:pPr>
            <a:r>
              <a:rPr lang="en-US" sz="4000" dirty="0">
                <a:latin typeface="Times New Roman" panose="02020603050405020304" pitchFamily="18" charset="0"/>
                <a:cs typeface="Times New Roman" panose="02020603050405020304" pitchFamily="18" charset="0"/>
              </a:rPr>
              <a:t>For example, </a:t>
            </a:r>
          </a:p>
          <a:p>
            <a:pPr marL="1274763" lvl="1" indent="-538163">
              <a:buFont typeface="Wingdings" pitchFamily="2" charset="2"/>
              <a:buChar char="ü"/>
            </a:pPr>
            <a:r>
              <a:rPr lang="en-US" sz="4000" dirty="0">
                <a:latin typeface="Times New Roman" panose="02020603050405020304" pitchFamily="18" charset="0"/>
                <a:cs typeface="Times New Roman" panose="02020603050405020304" pitchFamily="18" charset="0"/>
              </a:rPr>
              <a:t>if a method is defined as public in the </a:t>
            </a:r>
            <a:r>
              <a:rPr lang="en-US" sz="4000" dirty="0" err="1">
                <a:latin typeface="Times New Roman" panose="02020603050405020304" pitchFamily="18" charset="0"/>
                <a:cs typeface="Times New Roman" panose="02020603050405020304" pitchFamily="18" charset="0"/>
              </a:rPr>
              <a:t>superclass</a:t>
            </a:r>
            <a:r>
              <a:rPr lang="en-US" sz="4000" dirty="0">
                <a:latin typeface="Times New Roman" panose="02020603050405020304" pitchFamily="18" charset="0"/>
                <a:cs typeface="Times New Roman" panose="02020603050405020304" pitchFamily="18" charset="0"/>
              </a:rPr>
              <a:t>, it must be defined as public in the subclass.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9092">
                                            <p:txEl>
                                              <p:pRg st="0" end="0"/>
                                            </p:txEl>
                                          </p:spTgt>
                                        </p:tgtEl>
                                        <p:attrNameLst>
                                          <p:attrName>style.visibility</p:attrName>
                                        </p:attrNameLst>
                                      </p:cBhvr>
                                      <p:to>
                                        <p:strVal val="visible"/>
                                      </p:to>
                                    </p:set>
                                    <p:animEffect transition="in" filter="barn(inHorizontal)">
                                      <p:cBhvr>
                                        <p:cTn id="7" dur="500"/>
                                        <p:tgtEl>
                                          <p:spTgt spid="890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9092">
                                            <p:txEl>
                                              <p:pRg st="1" end="1"/>
                                            </p:txEl>
                                          </p:spTgt>
                                        </p:tgtEl>
                                        <p:attrNameLst>
                                          <p:attrName>style.visibility</p:attrName>
                                        </p:attrNameLst>
                                      </p:cBhvr>
                                      <p:to>
                                        <p:strVal val="visible"/>
                                      </p:to>
                                    </p:set>
                                    <p:anim calcmode="lin" valueType="num">
                                      <p:cBhvr additive="base">
                                        <p:cTn id="12" dur="500" fill="hold"/>
                                        <p:tgtEl>
                                          <p:spTgt spid="8909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90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89092">
                                            <p:txEl>
                                              <p:pRg st="2" end="2"/>
                                            </p:txEl>
                                          </p:spTgt>
                                        </p:tgtEl>
                                        <p:attrNameLst>
                                          <p:attrName>style.visibility</p:attrName>
                                        </p:attrNameLst>
                                      </p:cBhvr>
                                      <p:to>
                                        <p:strVal val="visible"/>
                                      </p:to>
                                    </p:set>
                                    <p:animEffect transition="in" filter="barn(inHorizontal)">
                                      <p:cBhvr>
                                        <p:cTn id="18" dur="500"/>
                                        <p:tgtEl>
                                          <p:spTgt spid="8909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89092">
                                            <p:txEl>
                                              <p:pRg st="3" end="3"/>
                                            </p:txEl>
                                          </p:spTgt>
                                        </p:tgtEl>
                                        <p:attrNameLst>
                                          <p:attrName>style.visibility</p:attrName>
                                        </p:attrNameLst>
                                      </p:cBhvr>
                                      <p:to>
                                        <p:strVal val="visible"/>
                                      </p:to>
                                    </p:set>
                                    <p:animEffect transition="in" filter="strips(downLeft)">
                                      <p:cBhvr>
                                        <p:cTn id="23" dur="500"/>
                                        <p:tgtEl>
                                          <p:spTgt spid="8909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ChangeArrowheads="1"/>
          </p:cNvSpPr>
          <p:nvPr>
            <p:ph type="title"/>
          </p:nvPr>
        </p:nvSpPr>
        <p:spPr>
          <a:xfrm>
            <a:off x="1025525" y="300038"/>
            <a:ext cx="11630025" cy="900112"/>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NOTE</a:t>
            </a:r>
          </a:p>
        </p:txBody>
      </p:sp>
      <p:sp>
        <p:nvSpPr>
          <p:cNvPr id="90116" name="Text Box 3"/>
          <p:cNvSpPr txBox="1">
            <a:spLocks noChangeArrowheads="1"/>
          </p:cNvSpPr>
          <p:nvPr/>
        </p:nvSpPr>
        <p:spPr bwMode="auto">
          <a:xfrm>
            <a:off x="134938" y="1700213"/>
            <a:ext cx="13393737" cy="3824112"/>
          </a:xfrm>
          <a:prstGeom prst="rect">
            <a:avLst/>
          </a:prstGeom>
          <a:noFill/>
          <a:ln w="12700">
            <a:noFill/>
            <a:miter lim="800000"/>
            <a:headEnd type="none" w="sm" len="sm"/>
            <a:tailEnd type="none" w="sm" len="sm"/>
          </a:ln>
        </p:spPr>
        <p:txBody>
          <a:bodyPr lIns="129522" tIns="64764" rIns="129522" bIns="64764">
            <a:spAutoFit/>
          </a:bodyPr>
          <a:lstStyle/>
          <a:p>
            <a:pPr marL="627063" indent="-538163" algn="just">
              <a:buFont typeface="Wingdings" pitchFamily="2" charset="2"/>
              <a:buChar char="ü"/>
            </a:pPr>
            <a:r>
              <a:rPr lang="en-US" sz="4800" dirty="0">
                <a:latin typeface="Times New Roman" panose="02020603050405020304" pitchFamily="18" charset="0"/>
                <a:cs typeface="Times New Roman" panose="02020603050405020304" pitchFamily="18" charset="0"/>
              </a:rPr>
              <a:t>The modifiers are used on classes and class members (data and methods), except that the </a:t>
            </a:r>
            <a:r>
              <a:rPr lang="en-US" sz="4800" b="1" dirty="0">
                <a:latin typeface="Times New Roman" panose="02020603050405020304" pitchFamily="18" charset="0"/>
                <a:cs typeface="Times New Roman" panose="02020603050405020304" pitchFamily="18" charset="0"/>
              </a:rPr>
              <a:t>final</a:t>
            </a:r>
            <a:r>
              <a:rPr lang="en-US" sz="4800" dirty="0">
                <a:latin typeface="Times New Roman" panose="02020603050405020304" pitchFamily="18" charset="0"/>
                <a:cs typeface="Times New Roman" panose="02020603050405020304" pitchFamily="18" charset="0"/>
              </a:rPr>
              <a:t> modifier can also be used on local variables in a method. </a:t>
            </a:r>
          </a:p>
          <a:p>
            <a:pPr marL="627063" indent="-538163" algn="just">
              <a:buFont typeface="Wingdings" pitchFamily="2" charset="2"/>
              <a:buChar char="ü"/>
            </a:pPr>
            <a:r>
              <a:rPr lang="en-US" sz="4800" dirty="0">
                <a:latin typeface="Times New Roman" panose="02020603050405020304" pitchFamily="18" charset="0"/>
                <a:cs typeface="Times New Roman" panose="02020603050405020304" pitchFamily="18" charset="0"/>
              </a:rPr>
              <a:t>A final local variable is a constant inside a method.</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0116">
                                            <p:txEl>
                                              <p:pRg st="0" end="0"/>
                                            </p:txEl>
                                          </p:spTgt>
                                        </p:tgtEl>
                                        <p:attrNameLst>
                                          <p:attrName>style.visibility</p:attrName>
                                        </p:attrNameLst>
                                      </p:cBhvr>
                                      <p:to>
                                        <p:strVal val="visible"/>
                                      </p:to>
                                    </p:set>
                                    <p:animEffect transition="in" filter="strips(downLeft)">
                                      <p:cBhvr>
                                        <p:cTn id="7" dur="500"/>
                                        <p:tgtEl>
                                          <p:spTgt spid="901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90116">
                                            <p:txEl>
                                              <p:pRg st="1" end="1"/>
                                            </p:txEl>
                                          </p:spTgt>
                                        </p:tgtEl>
                                        <p:attrNameLst>
                                          <p:attrName>style.visibility</p:attrName>
                                        </p:attrNameLst>
                                      </p:cBhvr>
                                      <p:to>
                                        <p:strVal val="visible"/>
                                      </p:to>
                                    </p:set>
                                    <p:animEffect transition="in" filter="slide(fromBottom)">
                                      <p:cBhvr>
                                        <p:cTn id="12" dur="500"/>
                                        <p:tgtEl>
                                          <p:spTgt spid="901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1025525" y="76201"/>
            <a:ext cx="11630025" cy="1016000"/>
          </a:xfrm>
          <a:noFill/>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Courier New" panose="02070309020205020404" pitchFamily="49" charset="0"/>
                <a:cs typeface="Courier New" panose="02070309020205020404" pitchFamily="49" charset="0"/>
              </a:rPr>
              <a:t>final</a:t>
            </a:r>
            <a:r>
              <a:rPr lang="en-US" b="1" dirty="0">
                <a:solidFill>
                  <a:schemeClr val="tx1"/>
                </a:solidFill>
                <a:latin typeface="Times New Roman" panose="02020603050405020304" pitchFamily="18" charset="0"/>
                <a:cs typeface="Times New Roman" panose="02020603050405020304" pitchFamily="18" charset="0"/>
              </a:rPr>
              <a:t> Modifier</a:t>
            </a:r>
          </a:p>
        </p:txBody>
      </p:sp>
      <p:sp>
        <p:nvSpPr>
          <p:cNvPr id="91140" name="Rectangle 3"/>
          <p:cNvSpPr>
            <a:spLocks noGrp="1" noChangeArrowheads="1"/>
          </p:cNvSpPr>
          <p:nvPr>
            <p:ph type="body" idx="1"/>
          </p:nvPr>
        </p:nvSpPr>
        <p:spPr>
          <a:xfrm>
            <a:off x="287338" y="1452563"/>
            <a:ext cx="13241337" cy="6705600"/>
          </a:xfrm>
          <a:noFill/>
        </p:spPr>
        <p:txBody>
          <a:bodyPr/>
          <a:lstStyle/>
          <a:p>
            <a:pPr>
              <a:lnSpc>
                <a:spcPct val="90000"/>
              </a:lnSpc>
            </a:pPr>
            <a:r>
              <a:rPr lang="en-US" sz="4000" dirty="0">
                <a:latin typeface="Times New Roman" panose="02020603050405020304" pitchFamily="18" charset="0"/>
                <a:cs typeface="Times New Roman" panose="02020603050405020304" pitchFamily="18" charset="0"/>
              </a:rPr>
              <a:t>The </a:t>
            </a:r>
            <a:r>
              <a:rPr lang="en-US" sz="4000" dirty="0">
                <a:latin typeface="Courier New" panose="02070309020205020404" pitchFamily="49" charset="0"/>
                <a:cs typeface="Courier New" panose="02070309020205020404" pitchFamily="49" charset="0"/>
              </a:rPr>
              <a:t>final</a:t>
            </a:r>
            <a:r>
              <a:rPr lang="en-US" sz="4000" dirty="0">
                <a:latin typeface="Times New Roman" panose="02020603050405020304" pitchFamily="18" charset="0"/>
                <a:cs typeface="Times New Roman" panose="02020603050405020304" pitchFamily="18" charset="0"/>
              </a:rPr>
              <a:t> class cannot be extended:</a:t>
            </a:r>
          </a:p>
          <a:p>
            <a:pPr>
              <a:lnSpc>
                <a:spcPct val="90000"/>
              </a:lnSpc>
              <a:buFont typeface="Monotype Sorts" pitchFamily="2" charset="2"/>
              <a:buNone/>
            </a:pPr>
            <a:r>
              <a:rPr lang="en-US" sz="4000" dirty="0">
                <a:latin typeface="Courier New" panose="02070309020205020404" pitchFamily="49" charset="0"/>
                <a:cs typeface="Courier New" panose="02070309020205020404" pitchFamily="49" charset="0"/>
              </a:rPr>
              <a:t>       final class Math {</a:t>
            </a:r>
          </a:p>
          <a:p>
            <a:pPr>
              <a:lnSpc>
                <a:spcPct val="90000"/>
              </a:lnSpc>
              <a:buFont typeface="Monotype Sorts" pitchFamily="2" charset="2"/>
              <a:buNone/>
            </a:pPr>
            <a:r>
              <a:rPr lang="en-US" sz="4000" dirty="0">
                <a:latin typeface="Courier New" panose="02070309020205020404" pitchFamily="49" charset="0"/>
                <a:cs typeface="Courier New" panose="02070309020205020404" pitchFamily="49" charset="0"/>
              </a:rPr>
              <a:t>     		...</a:t>
            </a:r>
          </a:p>
          <a:p>
            <a:pPr>
              <a:lnSpc>
                <a:spcPct val="90000"/>
              </a:lnSpc>
              <a:buFont typeface="Monotype Sorts" pitchFamily="2" charset="2"/>
              <a:buNone/>
            </a:pPr>
            <a:r>
              <a:rPr lang="en-US" sz="4000" dirty="0">
                <a:latin typeface="Courier New" panose="02070309020205020404" pitchFamily="49" charset="0"/>
                <a:cs typeface="Courier New" panose="02070309020205020404" pitchFamily="49" charset="0"/>
              </a:rPr>
              <a:t>      }</a:t>
            </a:r>
          </a:p>
          <a:p>
            <a:pPr>
              <a:lnSpc>
                <a:spcPct val="90000"/>
              </a:lnSpc>
              <a:spcBef>
                <a:spcPct val="100000"/>
              </a:spcBef>
            </a:pPr>
            <a:r>
              <a:rPr lang="en-US" sz="4000" dirty="0">
                <a:latin typeface="Times New Roman" panose="02020603050405020304" pitchFamily="18" charset="0"/>
                <a:cs typeface="Times New Roman" panose="02020603050405020304" pitchFamily="18" charset="0"/>
              </a:rPr>
              <a:t>The </a:t>
            </a:r>
            <a:r>
              <a:rPr lang="en-US" sz="4000" dirty="0">
                <a:latin typeface="Courier New" panose="02070309020205020404" pitchFamily="49" charset="0"/>
                <a:cs typeface="Courier New" panose="02070309020205020404" pitchFamily="49" charset="0"/>
              </a:rPr>
              <a:t>final</a:t>
            </a:r>
            <a:r>
              <a:rPr lang="en-US" sz="4000" dirty="0">
                <a:latin typeface="Times New Roman" panose="02020603050405020304" pitchFamily="18" charset="0"/>
                <a:cs typeface="Times New Roman" panose="02020603050405020304" pitchFamily="18" charset="0"/>
              </a:rPr>
              <a:t> variable is a constant:</a:t>
            </a:r>
          </a:p>
          <a:p>
            <a:pPr>
              <a:lnSpc>
                <a:spcPct val="90000"/>
              </a:lnSpc>
              <a:buFont typeface="Monotype Sorts" pitchFamily="2" charset="2"/>
              <a:buNone/>
            </a:pPr>
            <a:r>
              <a:rPr lang="en-US" sz="4000" dirty="0">
                <a:latin typeface="Times New Roman" panose="02020603050405020304" pitchFamily="18" charset="0"/>
                <a:cs typeface="Times New Roman" panose="02020603050405020304" pitchFamily="18" charset="0"/>
              </a:rPr>
              <a:t>       </a:t>
            </a:r>
            <a:r>
              <a:rPr lang="en-US" sz="4000" dirty="0">
                <a:latin typeface="Courier New" panose="02070309020205020404" pitchFamily="49" charset="0"/>
                <a:cs typeface="Courier New" panose="02070309020205020404" pitchFamily="49" charset="0"/>
              </a:rPr>
              <a:t>final static double PI = 3.14159;</a:t>
            </a:r>
          </a:p>
          <a:p>
            <a:pPr>
              <a:lnSpc>
                <a:spcPct val="90000"/>
              </a:lnSpc>
              <a:spcBef>
                <a:spcPct val="100000"/>
              </a:spcBef>
            </a:pPr>
            <a:r>
              <a:rPr lang="en-US" sz="4000" dirty="0">
                <a:latin typeface="Times New Roman" panose="02020603050405020304" pitchFamily="18" charset="0"/>
                <a:cs typeface="Times New Roman" panose="02020603050405020304" pitchFamily="18" charset="0"/>
              </a:rPr>
              <a:t>The </a:t>
            </a:r>
            <a:r>
              <a:rPr lang="en-US" sz="4000" dirty="0">
                <a:latin typeface="Courier New" panose="02070309020205020404" pitchFamily="49" charset="0"/>
                <a:cs typeface="Courier New" panose="02070309020205020404" pitchFamily="49" charset="0"/>
              </a:rPr>
              <a:t>final</a:t>
            </a:r>
            <a:r>
              <a:rPr lang="en-US" sz="4000" dirty="0">
                <a:latin typeface="Times New Roman" panose="02020603050405020304" pitchFamily="18" charset="0"/>
                <a:cs typeface="Times New Roman" panose="02020603050405020304" pitchFamily="18" charset="0"/>
              </a:rPr>
              <a:t> method cannot be overridden by its subclasses.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1140">
                                            <p:txEl>
                                              <p:pRg st="0" end="0"/>
                                            </p:txEl>
                                          </p:spTgt>
                                        </p:tgtEl>
                                        <p:attrNameLst>
                                          <p:attrName>style.visibility</p:attrName>
                                        </p:attrNameLst>
                                      </p:cBhvr>
                                      <p:to>
                                        <p:strVal val="visible"/>
                                      </p:to>
                                    </p:set>
                                    <p:animEffect transition="in" filter="slide(fromBottom)">
                                      <p:cBhvr>
                                        <p:cTn id="7" dur="500"/>
                                        <p:tgtEl>
                                          <p:spTgt spid="91140">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91140">
                                            <p:txEl>
                                              <p:pRg st="1" end="1"/>
                                            </p:txEl>
                                          </p:spTgt>
                                        </p:tgtEl>
                                        <p:attrNameLst>
                                          <p:attrName>style.visibility</p:attrName>
                                        </p:attrNameLst>
                                      </p:cBhvr>
                                      <p:to>
                                        <p:strVal val="visible"/>
                                      </p:to>
                                    </p:set>
                                    <p:animEffect transition="in" filter="slide(fromBottom)">
                                      <p:cBhvr>
                                        <p:cTn id="10" dur="500"/>
                                        <p:tgtEl>
                                          <p:spTgt spid="91140">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91140">
                                            <p:txEl>
                                              <p:pRg st="2" end="2"/>
                                            </p:txEl>
                                          </p:spTgt>
                                        </p:tgtEl>
                                        <p:attrNameLst>
                                          <p:attrName>style.visibility</p:attrName>
                                        </p:attrNameLst>
                                      </p:cBhvr>
                                      <p:to>
                                        <p:strVal val="visible"/>
                                      </p:to>
                                    </p:set>
                                    <p:animEffect transition="in" filter="slide(fromBottom)">
                                      <p:cBhvr>
                                        <p:cTn id="13" dur="500"/>
                                        <p:tgtEl>
                                          <p:spTgt spid="91140">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91140">
                                            <p:txEl>
                                              <p:pRg st="3" end="3"/>
                                            </p:txEl>
                                          </p:spTgt>
                                        </p:tgtEl>
                                        <p:attrNameLst>
                                          <p:attrName>style.visibility</p:attrName>
                                        </p:attrNameLst>
                                      </p:cBhvr>
                                      <p:to>
                                        <p:strVal val="visible"/>
                                      </p:to>
                                    </p:set>
                                    <p:animEffect transition="in" filter="slide(fromBottom)">
                                      <p:cBhvr>
                                        <p:cTn id="16" dur="500"/>
                                        <p:tgtEl>
                                          <p:spTgt spid="9114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nodeType="clickEffect">
                                  <p:stCondLst>
                                    <p:cond delay="0"/>
                                  </p:stCondLst>
                                  <p:childTnLst>
                                    <p:set>
                                      <p:cBhvr>
                                        <p:cTn id="20" dur="1" fill="hold">
                                          <p:stCondLst>
                                            <p:cond delay="0"/>
                                          </p:stCondLst>
                                        </p:cTn>
                                        <p:tgtEl>
                                          <p:spTgt spid="91140">
                                            <p:txEl>
                                              <p:pRg st="4" end="4"/>
                                            </p:txEl>
                                          </p:spTgt>
                                        </p:tgtEl>
                                        <p:attrNameLst>
                                          <p:attrName>style.visibility</p:attrName>
                                        </p:attrNameLst>
                                      </p:cBhvr>
                                      <p:to>
                                        <p:strVal val="visible"/>
                                      </p:to>
                                    </p:set>
                                    <p:animEffect transition="in" filter="strips(downLeft)">
                                      <p:cBhvr>
                                        <p:cTn id="21" dur="500"/>
                                        <p:tgtEl>
                                          <p:spTgt spid="91140">
                                            <p:txEl>
                                              <p:pRg st="4" end="4"/>
                                            </p:txEl>
                                          </p:spTgt>
                                        </p:tgtEl>
                                      </p:cBhvr>
                                    </p:animEffect>
                                  </p:childTnLst>
                                </p:cTn>
                              </p:par>
                              <p:par>
                                <p:cTn id="22" presetID="18" presetClass="entr" presetSubtype="12" fill="hold" nodeType="withEffect">
                                  <p:stCondLst>
                                    <p:cond delay="0"/>
                                  </p:stCondLst>
                                  <p:childTnLst>
                                    <p:set>
                                      <p:cBhvr>
                                        <p:cTn id="23" dur="1" fill="hold">
                                          <p:stCondLst>
                                            <p:cond delay="0"/>
                                          </p:stCondLst>
                                        </p:cTn>
                                        <p:tgtEl>
                                          <p:spTgt spid="91140">
                                            <p:txEl>
                                              <p:pRg st="5" end="5"/>
                                            </p:txEl>
                                          </p:spTgt>
                                        </p:tgtEl>
                                        <p:attrNameLst>
                                          <p:attrName>style.visibility</p:attrName>
                                        </p:attrNameLst>
                                      </p:cBhvr>
                                      <p:to>
                                        <p:strVal val="visible"/>
                                      </p:to>
                                    </p:set>
                                    <p:animEffect transition="in" filter="strips(downLeft)">
                                      <p:cBhvr>
                                        <p:cTn id="24" dur="500"/>
                                        <p:tgtEl>
                                          <p:spTgt spid="91140">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6" fill="hold" nodeType="clickEffect">
                                  <p:stCondLst>
                                    <p:cond delay="0"/>
                                  </p:stCondLst>
                                  <p:childTnLst>
                                    <p:set>
                                      <p:cBhvr>
                                        <p:cTn id="28" dur="1" fill="hold">
                                          <p:stCondLst>
                                            <p:cond delay="0"/>
                                          </p:stCondLst>
                                        </p:cTn>
                                        <p:tgtEl>
                                          <p:spTgt spid="91140">
                                            <p:txEl>
                                              <p:pRg st="6" end="6"/>
                                            </p:txEl>
                                          </p:spTgt>
                                        </p:tgtEl>
                                        <p:attrNameLst>
                                          <p:attrName>style.visibility</p:attrName>
                                        </p:attrNameLst>
                                      </p:cBhvr>
                                      <p:to>
                                        <p:strVal val="visible"/>
                                      </p:to>
                                    </p:set>
                                    <p:animEffect transition="in" filter="barn(inHorizontal)">
                                      <p:cBhvr>
                                        <p:cTn id="29" dur="500"/>
                                        <p:tgtEl>
                                          <p:spTgt spid="9114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0" y="0"/>
            <a:ext cx="13681075" cy="995363"/>
          </a:xfrm>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Preventing Extending and Overriding</a:t>
            </a:r>
          </a:p>
        </p:txBody>
      </p:sp>
      <p:sp>
        <p:nvSpPr>
          <p:cNvPr id="97284" name="Rectangle 3"/>
          <p:cNvSpPr>
            <a:spLocks noGrp="1" noChangeArrowheads="1"/>
          </p:cNvSpPr>
          <p:nvPr>
            <p:ph type="body" idx="1"/>
          </p:nvPr>
        </p:nvSpPr>
        <p:spPr>
          <a:xfrm>
            <a:off x="263892" y="1178465"/>
            <a:ext cx="13225462" cy="7077075"/>
          </a:xfrm>
        </p:spPr>
        <p:txBody>
          <a:bodyPr/>
          <a:lstStyle/>
          <a:p>
            <a:pPr marL="627063" indent="-538163">
              <a:spcBef>
                <a:spcPct val="0"/>
              </a:spcBef>
            </a:pPr>
            <a:r>
              <a:rPr lang="en-US" sz="4000" dirty="0">
                <a:latin typeface="Times New Roman" panose="02020603050405020304" pitchFamily="18" charset="0"/>
                <a:cs typeface="Times New Roman" panose="02020603050405020304" pitchFamily="18" charset="0"/>
              </a:rPr>
              <a:t>Use </a:t>
            </a:r>
            <a:r>
              <a:rPr lang="en-US" sz="4000" dirty="0">
                <a:latin typeface="Courier New" panose="02070309020205020404" pitchFamily="49" charset="0"/>
                <a:cs typeface="Courier New" panose="02070309020205020404" pitchFamily="49" charset="0"/>
              </a:rPr>
              <a:t>final</a:t>
            </a:r>
            <a:r>
              <a:rPr lang="en-US" sz="4000" dirty="0">
                <a:latin typeface="Times New Roman" panose="02020603050405020304" pitchFamily="18" charset="0"/>
                <a:cs typeface="Times New Roman" panose="02020603050405020304" pitchFamily="18" charset="0"/>
              </a:rPr>
              <a:t> modifier to indicate a class is final and cannot be a parent class.</a:t>
            </a:r>
          </a:p>
          <a:p>
            <a:pPr marL="627063" indent="-538163">
              <a:spcBef>
                <a:spcPct val="0"/>
              </a:spcBef>
            </a:pPr>
            <a:r>
              <a:rPr lang="en-US" sz="4000" dirty="0">
                <a:latin typeface="Courier New" panose="02070309020205020404" pitchFamily="49" charset="0"/>
                <a:cs typeface="Courier New" panose="02070309020205020404" pitchFamily="49" charset="0"/>
              </a:rPr>
              <a:t>Math</a:t>
            </a:r>
            <a:r>
              <a:rPr lang="en-US" sz="4000" dirty="0">
                <a:latin typeface="Times New Roman" panose="02020603050405020304" pitchFamily="18" charset="0"/>
                <a:cs typeface="Times New Roman" panose="02020603050405020304" pitchFamily="18" charset="0"/>
              </a:rPr>
              <a:t> class is an example of final class.</a:t>
            </a:r>
          </a:p>
          <a:p>
            <a:pPr marL="627063" indent="-538163">
              <a:spcBef>
                <a:spcPct val="0"/>
              </a:spcBef>
            </a:pPr>
            <a:r>
              <a:rPr lang="en-US" sz="4000" dirty="0">
                <a:latin typeface="Courier New" panose="02070309020205020404" pitchFamily="49" charset="0"/>
                <a:cs typeface="Courier New" panose="02070309020205020404" pitchFamily="49" charset="0"/>
              </a:rPr>
              <a:t>String</a:t>
            </a:r>
            <a:r>
              <a:rPr lang="en-US" sz="4000" dirty="0">
                <a:latin typeface="Times New Roman" panose="02020603050405020304" pitchFamily="18" charset="0"/>
                <a:cs typeface="Times New Roman" panose="02020603050405020304" pitchFamily="18" charset="0"/>
              </a:rPr>
              <a:t>, </a:t>
            </a:r>
            <a:r>
              <a:rPr lang="en-US" sz="4000" dirty="0" err="1">
                <a:latin typeface="Courier New" panose="02070309020205020404" pitchFamily="49" charset="0"/>
                <a:cs typeface="Courier New" panose="02070309020205020404" pitchFamily="49" charset="0"/>
              </a:rPr>
              <a:t>StringBuilder</a:t>
            </a:r>
            <a:r>
              <a:rPr lang="en-US" sz="4000" dirty="0">
                <a:latin typeface="Times New Roman" panose="02020603050405020304" pitchFamily="18" charset="0"/>
                <a:cs typeface="Times New Roman" panose="02020603050405020304" pitchFamily="18" charset="0"/>
              </a:rPr>
              <a:t>, and </a:t>
            </a:r>
            <a:r>
              <a:rPr lang="en-US" sz="4000" dirty="0" err="1">
                <a:latin typeface="Courier New" panose="02070309020205020404" pitchFamily="49" charset="0"/>
                <a:cs typeface="Courier New" panose="02070309020205020404" pitchFamily="49" charset="0"/>
              </a:rPr>
              <a:t>StringBuffer</a:t>
            </a:r>
            <a:r>
              <a:rPr lang="en-US" sz="4000" dirty="0">
                <a:latin typeface="Times New Roman" panose="02020603050405020304" pitchFamily="18" charset="0"/>
                <a:cs typeface="Times New Roman" panose="02020603050405020304" pitchFamily="18" charset="0"/>
              </a:rPr>
              <a:t> and all wrapper classes for primitive data types are also final classes.</a:t>
            </a:r>
          </a:p>
          <a:p>
            <a:pPr marL="1760538" lvl="2" indent="-538163">
              <a:spcBef>
                <a:spcPct val="0"/>
              </a:spcBef>
            </a:pPr>
            <a:endParaRPr lang="en-US" sz="4000" dirty="0">
              <a:latin typeface="Times New Roman" panose="02020603050405020304" pitchFamily="18" charset="0"/>
              <a:cs typeface="Times New Roman" panose="02020603050405020304" pitchFamily="18" charset="0"/>
            </a:endParaRPr>
          </a:p>
          <a:p>
            <a:pPr marL="1760538" lvl="2" indent="-538163">
              <a:spcBef>
                <a:spcPct val="0"/>
              </a:spcBef>
            </a:pPr>
            <a:endParaRPr lang="en-US" sz="4000" dirty="0">
              <a:latin typeface="Times New Roman" panose="02020603050405020304" pitchFamily="18" charset="0"/>
              <a:cs typeface="Times New Roman" panose="02020603050405020304" pitchFamily="18" charset="0"/>
            </a:endParaRPr>
          </a:p>
          <a:p>
            <a:pPr marL="1222375" lvl="2" indent="0">
              <a:spcBef>
                <a:spcPct val="0"/>
              </a:spcBef>
              <a:buNone/>
            </a:pPr>
            <a:endParaRPr lang="en-US" sz="4000" dirty="0">
              <a:latin typeface="Times New Roman" panose="02020603050405020304" pitchFamily="18" charset="0"/>
              <a:cs typeface="Times New Roman" panose="02020603050405020304" pitchFamily="18" charset="0"/>
            </a:endParaRPr>
          </a:p>
        </p:txBody>
      </p:sp>
      <p:sp>
        <p:nvSpPr>
          <p:cNvPr id="2" name="Rectangle 1"/>
          <p:cNvSpPr/>
          <p:nvPr/>
        </p:nvSpPr>
        <p:spPr>
          <a:xfrm>
            <a:off x="3421063" y="4267423"/>
            <a:ext cx="8935060" cy="3194721"/>
          </a:xfrm>
          <a:prstGeom prst="rect">
            <a:avLst/>
          </a:prstGeom>
        </p:spPr>
        <p:txBody>
          <a:bodyPr wrap="square">
            <a:spAutoFit/>
          </a:bodyPr>
          <a:lstStyle/>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public class Test{</a:t>
            </a:r>
          </a:p>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     		...</a:t>
            </a:r>
          </a:p>
          <a:p>
            <a:pPr>
              <a:lnSpc>
                <a:spcPct val="90000"/>
              </a:lnSpc>
              <a:buFont typeface="Monotype Sorts" pitchFamily="2" charset="2"/>
              <a:buNone/>
            </a:pPr>
            <a:endParaRPr lang="en-US" sz="2800" dirty="0">
              <a:latin typeface="Courier New" panose="02070309020205020404" pitchFamily="49" charset="0"/>
              <a:cs typeface="Courier New" panose="02070309020205020404" pitchFamily="49" charset="0"/>
            </a:endParaRPr>
          </a:p>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public final void m(){</a:t>
            </a:r>
          </a:p>
          <a:p>
            <a:pPr>
              <a:lnSpc>
                <a:spcPct val="90000"/>
              </a:lnSpc>
              <a:buFont typeface="Monotype Sorts" pitchFamily="2" charset="2"/>
              <a:buNone/>
            </a:pPr>
            <a:endParaRPr lang="en-US" sz="2800" dirty="0">
              <a:latin typeface="Courier New" panose="02070309020205020404" pitchFamily="49" charset="0"/>
              <a:cs typeface="Courier New" panose="02070309020205020404" pitchFamily="49" charset="0"/>
            </a:endParaRPr>
          </a:p>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a:t>
            </a:r>
          </a:p>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	}</a:t>
            </a:r>
          </a:p>
          <a:p>
            <a:pPr>
              <a:lnSpc>
                <a:spcPct val="90000"/>
              </a:lnSpc>
              <a:buFont typeface="Monotype Sorts" pitchFamily="2" charset="2"/>
              <a:buNone/>
            </a:pPr>
            <a:r>
              <a:rPr lang="en-US" sz="2800" dirty="0">
                <a:latin typeface="Courier New" panose="02070309020205020404" pitchFamily="49" charset="0"/>
                <a:cs typeface="Courier New" panose="02070309020205020404" pitchFamily="49" charset="0"/>
              </a:rPr>
              <a:t> }</a:t>
            </a:r>
          </a:p>
        </p:txBody>
      </p:sp>
      <p:sp>
        <p:nvSpPr>
          <p:cNvPr id="3" name="TextBox 2"/>
          <p:cNvSpPr txBox="1"/>
          <p:nvPr/>
        </p:nvSpPr>
        <p:spPr>
          <a:xfrm>
            <a:off x="9811177" y="4478215"/>
            <a:ext cx="3412453"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Method m is final and cannot be overridden by its subclasses</a:t>
            </a:r>
            <a:endParaRPr lang="en-MY" sz="2400"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bwMode="auto">
          <a:xfrm flipH="1">
            <a:off x="8464062" y="5078379"/>
            <a:ext cx="1148861" cy="600165"/>
          </a:xfrm>
          <a:prstGeom prst="straightConnector1">
            <a:avLst/>
          </a:prstGeom>
          <a:solidFill>
            <a:schemeClr val="accent1"/>
          </a:solidFill>
          <a:ln w="12700" cap="sq" cmpd="sng" algn="ctr">
            <a:solidFill>
              <a:schemeClr val="tx1"/>
            </a:solidFill>
            <a:prstDash val="solid"/>
            <a:round/>
            <a:headEnd type="none" w="sm" len="sm"/>
            <a:tailEnd type="arrow"/>
          </a:ln>
          <a:effectLst/>
        </p:spPr>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97284">
                                            <p:txEl>
                                              <p:pRg st="0" end="0"/>
                                            </p:txEl>
                                          </p:spTgt>
                                        </p:tgtEl>
                                        <p:attrNameLst>
                                          <p:attrName>style.visibility</p:attrName>
                                        </p:attrNameLst>
                                      </p:cBhvr>
                                      <p:to>
                                        <p:strVal val="visible"/>
                                      </p:to>
                                    </p:set>
                                    <p:anim calcmode="lin" valueType="num">
                                      <p:cBhvr>
                                        <p:cTn id="7" dur="500" fill="hold"/>
                                        <p:tgtEl>
                                          <p:spTgt spid="9728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728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728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97284">
                                            <p:txEl>
                                              <p:pRg st="1" end="1"/>
                                            </p:txEl>
                                          </p:spTgt>
                                        </p:tgtEl>
                                        <p:attrNameLst>
                                          <p:attrName>style.visibility</p:attrName>
                                        </p:attrNameLst>
                                      </p:cBhvr>
                                      <p:to>
                                        <p:strVal val="visible"/>
                                      </p:to>
                                    </p:set>
                                    <p:anim calcmode="lin" valueType="num">
                                      <p:cBhvr>
                                        <p:cTn id="14" dur="500" fill="hold"/>
                                        <p:tgtEl>
                                          <p:spTgt spid="9728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728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728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97284">
                                            <p:txEl>
                                              <p:pRg st="2" end="2"/>
                                            </p:txEl>
                                          </p:spTgt>
                                        </p:tgtEl>
                                        <p:attrNameLst>
                                          <p:attrName>style.visibility</p:attrName>
                                        </p:attrNameLst>
                                      </p:cBhvr>
                                      <p:to>
                                        <p:strVal val="visible"/>
                                      </p:to>
                                    </p:set>
                                    <p:anim calcmode="lin" valueType="num">
                                      <p:cBhvr>
                                        <p:cTn id="21" dur="500" fill="hold"/>
                                        <p:tgtEl>
                                          <p:spTgt spid="9728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9728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972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455613" y="80963"/>
            <a:ext cx="12884150" cy="800100"/>
          </a:xfrm>
        </p:spPr>
        <p:txBody>
          <a:bodyPr/>
          <a:lstStyle/>
          <a:p>
            <a:pPr algn="ctr"/>
            <a:r>
              <a:rPr lang="en-US" b="1" dirty="0">
                <a:solidFill>
                  <a:srgbClr val="0000FF"/>
                </a:solidFill>
              </a:rPr>
              <a:t>Summary</a:t>
            </a:r>
            <a:endParaRPr lang="en-US" b="1" u="sng" dirty="0">
              <a:solidFill>
                <a:srgbClr val="0000FF"/>
              </a:solidFill>
              <a:latin typeface="Book Antiqua" pitchFamily="18" charset="0"/>
            </a:endParaRPr>
          </a:p>
        </p:txBody>
      </p:sp>
      <p:sp>
        <p:nvSpPr>
          <p:cNvPr id="49156" name="Rectangle 3"/>
          <p:cNvSpPr>
            <a:spLocks noGrp="1" noChangeArrowheads="1"/>
          </p:cNvSpPr>
          <p:nvPr>
            <p:ph type="body" idx="1"/>
          </p:nvPr>
        </p:nvSpPr>
        <p:spPr>
          <a:xfrm>
            <a:off x="134938" y="1376363"/>
            <a:ext cx="13393737" cy="6962775"/>
          </a:xfrm>
        </p:spPr>
        <p:txBody>
          <a:bodyPr/>
          <a:lstStyle/>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Polymorphism</a:t>
            </a: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Dynamic binding</a:t>
            </a: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Generic types</a:t>
            </a: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Casting &amp; </a:t>
            </a:r>
            <a:r>
              <a:rPr lang="en-US" sz="4000" dirty="0" err="1">
                <a:latin typeface="Times New Roman" panose="02020603050405020304" pitchFamily="18" charset="0"/>
                <a:cs typeface="Times New Roman" panose="02020603050405020304" pitchFamily="18" charset="0"/>
              </a:rPr>
              <a:t>instanceof</a:t>
            </a:r>
            <a:endParaRPr lang="en-US" sz="40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Difference between == and equals()</a:t>
            </a:r>
          </a:p>
          <a:p>
            <a:pPr marL="611188" indent="-457200">
              <a:spcBef>
                <a:spcPct val="0"/>
              </a:spcBef>
              <a:buFont typeface="Wingdings" pitchFamily="2" charset="2"/>
              <a:buChar char="Ø"/>
            </a:pPr>
            <a:r>
              <a:rPr lang="en-US" sz="4000" dirty="0" err="1">
                <a:latin typeface="Times New Roman" panose="02020603050405020304" pitchFamily="18" charset="0"/>
                <a:cs typeface="Times New Roman" panose="02020603050405020304" pitchFamily="18" charset="0"/>
              </a:rPr>
              <a:t>ArrayList</a:t>
            </a:r>
            <a:endParaRPr lang="en-US" sz="40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protected, final</a:t>
            </a: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709738" y="2200275"/>
            <a:ext cx="10450512" cy="1700213"/>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4</a:t>
            </a:r>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3.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21384</TotalTime>
  <Words>2556</Words>
  <Application>Microsoft Office PowerPoint</Application>
  <PresentationFormat>Custom</PresentationFormat>
  <Paragraphs>278</Paragraphs>
  <Slides>38</Slides>
  <Notes>24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9" baseType="lpstr">
      <vt:lpstr>Agency FB</vt:lpstr>
      <vt:lpstr>Arial</vt:lpstr>
      <vt:lpstr>Book Antiqua</vt:lpstr>
      <vt:lpstr>Courier New</vt:lpstr>
      <vt:lpstr>Monotype Sorts</vt:lpstr>
      <vt:lpstr>Tahoma</vt:lpstr>
      <vt:lpstr>Times New Roman</vt:lpstr>
      <vt:lpstr>Tw Cen MT Condensed Extra Bold</vt:lpstr>
      <vt:lpstr>Wingdings</vt:lpstr>
      <vt:lpstr>Blends</vt:lpstr>
      <vt:lpstr>Picture</vt:lpstr>
      <vt:lpstr>PowerPoint Presentation</vt:lpstr>
      <vt:lpstr>Learning Objectives</vt:lpstr>
      <vt:lpstr>Polymorphism</vt:lpstr>
      <vt:lpstr>Polymorphism, Dynamic Binding and Generic Programming</vt:lpstr>
      <vt:lpstr>Dynamic Binding</vt:lpstr>
      <vt:lpstr>Method Matching vs. Binding</vt:lpstr>
      <vt:lpstr>Generic Programming</vt:lpstr>
      <vt:lpstr>What is Generics? </vt:lpstr>
      <vt:lpstr>Why Generics? </vt:lpstr>
      <vt:lpstr>Generic Type</vt:lpstr>
      <vt:lpstr>Casting Objects</vt:lpstr>
      <vt:lpstr>Why Casting Is Necessary?</vt:lpstr>
      <vt:lpstr>Casting from Superclass to Subclass</vt:lpstr>
      <vt:lpstr>The instanceof Operator</vt:lpstr>
      <vt:lpstr>PowerPoint Presentation</vt:lpstr>
      <vt:lpstr>TIP</vt:lpstr>
      <vt:lpstr>Example: Demonstrating Polymorphism and Casting</vt:lpstr>
      <vt:lpstr>The   equals Method</vt:lpstr>
      <vt:lpstr>NOTE</vt:lpstr>
      <vt:lpstr>The ArrayList Class</vt:lpstr>
      <vt:lpstr>Generic Type </vt:lpstr>
      <vt:lpstr>Generic ArrayList in JDK 1.5</vt:lpstr>
      <vt:lpstr>No Casting Needed</vt:lpstr>
      <vt:lpstr>Differences and Similarities between arrays and ArrayList</vt:lpstr>
      <vt:lpstr>ArrayLists from/to arrays</vt:lpstr>
      <vt:lpstr>max and min in an ArrayList</vt:lpstr>
      <vt:lpstr>Shuffling an ArrayList</vt:lpstr>
      <vt:lpstr>Stack Animation</vt:lpstr>
      <vt:lpstr>The MyStack Classes </vt:lpstr>
      <vt:lpstr>The protected Modifier</vt:lpstr>
      <vt:lpstr>Accessibility Summary</vt:lpstr>
      <vt:lpstr>Visibility Modifiers </vt:lpstr>
      <vt:lpstr>A Subclass Cannot Weaken the Accessibility</vt:lpstr>
      <vt:lpstr>NOTE</vt:lpstr>
      <vt:lpstr>The final Modifier</vt:lpstr>
      <vt:lpstr>Preventing Extending and Overriding</vt:lpstr>
      <vt:lpstr>Summary</vt:lpstr>
      <vt:lpstr>End of Chapter 4</vt:lpstr>
    </vt:vector>
  </TitlesOfParts>
  <Company>Minotaur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Computer System</dc:title>
  <dc:subject>SAK 3100 Computer Programming</dc:subject>
  <dc:creator>Mohd Taufik Abdullah</dc:creator>
  <cp:lastModifiedBy>KHAIRUL AZHAR BIN KASMIRAN</cp:lastModifiedBy>
  <cp:revision>4023</cp:revision>
  <cp:lastPrinted>2014-03-13T03:50:07Z</cp:lastPrinted>
  <dcterms:created xsi:type="dcterms:W3CDTF">2003-01-02T20:11:59Z</dcterms:created>
  <dcterms:modified xsi:type="dcterms:W3CDTF">2025-04-15T03:17:25Z</dcterms:modified>
</cp:coreProperties>
</file>