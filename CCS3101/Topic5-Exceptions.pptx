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7"/>
  </p:notesMasterIdLst>
  <p:handoutMasterIdLst>
    <p:handoutMasterId r:id="rId48"/>
  </p:handoutMasterIdLst>
  <p:sldIdLst>
    <p:sldId id="1132" r:id="rId2"/>
    <p:sldId id="1205" r:id="rId3"/>
    <p:sldId id="493" r:id="rId4"/>
    <p:sldId id="1378" r:id="rId5"/>
    <p:sldId id="464" r:id="rId6"/>
    <p:sldId id="494" r:id="rId7"/>
    <p:sldId id="499" r:id="rId8"/>
    <p:sldId id="403" r:id="rId9"/>
    <p:sldId id="495" r:id="rId10"/>
    <p:sldId id="496" r:id="rId11"/>
    <p:sldId id="497" r:id="rId12"/>
    <p:sldId id="472" r:id="rId13"/>
    <p:sldId id="1444" r:id="rId14"/>
    <p:sldId id="498" r:id="rId15"/>
    <p:sldId id="451" r:id="rId16"/>
    <p:sldId id="447" r:id="rId17"/>
    <p:sldId id="405" r:id="rId18"/>
    <p:sldId id="406" r:id="rId19"/>
    <p:sldId id="407" r:id="rId20"/>
    <p:sldId id="448" r:id="rId21"/>
    <p:sldId id="477" r:id="rId22"/>
    <p:sldId id="513" r:id="rId23"/>
    <p:sldId id="444" r:id="rId24"/>
    <p:sldId id="410" r:id="rId25"/>
    <p:sldId id="411" r:id="rId26"/>
    <p:sldId id="479" r:id="rId27"/>
    <p:sldId id="480" r:id="rId28"/>
    <p:sldId id="481" r:id="rId29"/>
    <p:sldId id="482" r:id="rId30"/>
    <p:sldId id="486" r:id="rId31"/>
    <p:sldId id="487" r:id="rId32"/>
    <p:sldId id="488" r:id="rId33"/>
    <p:sldId id="489" r:id="rId34"/>
    <p:sldId id="490" r:id="rId35"/>
    <p:sldId id="492" r:id="rId36"/>
    <p:sldId id="491" r:id="rId37"/>
    <p:sldId id="446" r:id="rId38"/>
    <p:sldId id="468" r:id="rId39"/>
    <p:sldId id="469" r:id="rId40"/>
    <p:sldId id="470" r:id="rId41"/>
    <p:sldId id="449" r:id="rId42"/>
    <p:sldId id="450" r:id="rId43"/>
    <p:sldId id="1443" r:id="rId44"/>
    <p:sldId id="1445" r:id="rId45"/>
    <p:sldId id="1154" r:id="rId46"/>
  </p:sldIdLst>
  <p:sldSz cx="13681075" cy="9001125"/>
  <p:notesSz cx="6834188" cy="9979025"/>
  <p:defaultTextStyle>
    <a:defPPr>
      <a:defRPr lang="en-US"/>
    </a:defPPr>
    <a:lvl1pPr algn="l" rtl="0" eaLnBrk="0" fontAlgn="base" hangingPunct="0">
      <a:spcBef>
        <a:spcPct val="0"/>
      </a:spcBef>
      <a:spcAft>
        <a:spcPct val="0"/>
      </a:spcAft>
      <a:defRPr sz="900" kern="1200">
        <a:solidFill>
          <a:schemeClr val="tx1"/>
        </a:solidFill>
        <a:latin typeface="Tahoma" pitchFamily="34" charset="0"/>
        <a:ea typeface="+mn-ea"/>
        <a:cs typeface="+mn-cs"/>
      </a:defRPr>
    </a:lvl1pPr>
    <a:lvl2pPr marL="523700" indent="-66653" algn="l" rtl="0" eaLnBrk="0" fontAlgn="base" hangingPunct="0">
      <a:spcBef>
        <a:spcPct val="0"/>
      </a:spcBef>
      <a:spcAft>
        <a:spcPct val="0"/>
      </a:spcAft>
      <a:defRPr sz="900" kern="1200">
        <a:solidFill>
          <a:schemeClr val="tx1"/>
        </a:solidFill>
        <a:latin typeface="Tahoma" pitchFamily="34" charset="0"/>
        <a:ea typeface="+mn-ea"/>
        <a:cs typeface="+mn-cs"/>
      </a:defRPr>
    </a:lvl2pPr>
    <a:lvl3pPr marL="1047402" indent="-133306" algn="l" rtl="0" eaLnBrk="0" fontAlgn="base" hangingPunct="0">
      <a:spcBef>
        <a:spcPct val="0"/>
      </a:spcBef>
      <a:spcAft>
        <a:spcPct val="0"/>
      </a:spcAft>
      <a:defRPr sz="900" kern="1200">
        <a:solidFill>
          <a:schemeClr val="tx1"/>
        </a:solidFill>
        <a:latin typeface="Tahoma" pitchFamily="34" charset="0"/>
        <a:ea typeface="+mn-ea"/>
        <a:cs typeface="+mn-cs"/>
      </a:defRPr>
    </a:lvl3pPr>
    <a:lvl4pPr marL="1572690" indent="-201547" algn="l" rtl="0" eaLnBrk="0" fontAlgn="base" hangingPunct="0">
      <a:spcBef>
        <a:spcPct val="0"/>
      </a:spcBef>
      <a:spcAft>
        <a:spcPct val="0"/>
      </a:spcAft>
      <a:defRPr sz="900" kern="1200">
        <a:solidFill>
          <a:schemeClr val="tx1"/>
        </a:solidFill>
        <a:latin typeface="Tahoma" pitchFamily="34" charset="0"/>
        <a:ea typeface="+mn-ea"/>
        <a:cs typeface="+mn-cs"/>
      </a:defRPr>
    </a:lvl4pPr>
    <a:lvl5pPr marL="2096391" indent="-268199" algn="l" rtl="0" eaLnBrk="0" fontAlgn="base" hangingPunct="0">
      <a:spcBef>
        <a:spcPct val="0"/>
      </a:spcBef>
      <a:spcAft>
        <a:spcPct val="0"/>
      </a:spcAft>
      <a:defRPr sz="900" kern="1200">
        <a:solidFill>
          <a:schemeClr val="tx1"/>
        </a:solidFill>
        <a:latin typeface="Tahoma" pitchFamily="34" charset="0"/>
        <a:ea typeface="+mn-ea"/>
        <a:cs typeface="+mn-cs"/>
      </a:defRPr>
    </a:lvl5pPr>
    <a:lvl6pPr marL="2285240" algn="l" defTabSz="914097" rtl="0" eaLnBrk="1" latinLnBrk="0" hangingPunct="1">
      <a:defRPr sz="900" kern="1200">
        <a:solidFill>
          <a:schemeClr val="tx1"/>
        </a:solidFill>
        <a:latin typeface="Tahoma" pitchFamily="34" charset="0"/>
        <a:ea typeface="+mn-ea"/>
        <a:cs typeface="+mn-cs"/>
      </a:defRPr>
    </a:lvl6pPr>
    <a:lvl7pPr marL="2742289" algn="l" defTabSz="914097" rtl="0" eaLnBrk="1" latinLnBrk="0" hangingPunct="1">
      <a:defRPr sz="900" kern="1200">
        <a:solidFill>
          <a:schemeClr val="tx1"/>
        </a:solidFill>
        <a:latin typeface="Tahoma" pitchFamily="34" charset="0"/>
        <a:ea typeface="+mn-ea"/>
        <a:cs typeface="+mn-cs"/>
      </a:defRPr>
    </a:lvl7pPr>
    <a:lvl8pPr marL="3199337" algn="l" defTabSz="914097" rtl="0" eaLnBrk="1" latinLnBrk="0" hangingPunct="1">
      <a:defRPr sz="900" kern="1200">
        <a:solidFill>
          <a:schemeClr val="tx1"/>
        </a:solidFill>
        <a:latin typeface="Tahoma" pitchFamily="34" charset="0"/>
        <a:ea typeface="+mn-ea"/>
        <a:cs typeface="+mn-cs"/>
      </a:defRPr>
    </a:lvl8pPr>
    <a:lvl9pPr marL="3656386" algn="l" defTabSz="914097" rtl="0" eaLnBrk="1" latinLnBrk="0" hangingPunct="1">
      <a:defRPr sz="9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835">
          <p15:clr>
            <a:srgbClr val="A4A3A4"/>
          </p15:clr>
        </p15:guide>
        <p15:guide id="2" pos="4310">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FF00"/>
    <a:srgbClr val="00CC00"/>
    <a:srgbClr val="FF0000"/>
    <a:srgbClr val="969696"/>
    <a:srgbClr val="77777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22446" autoAdjust="0"/>
    <p:restoredTop sz="94396" autoAdjust="0"/>
  </p:normalViewPr>
  <p:slideViewPr>
    <p:cSldViewPr snapToGrid="0">
      <p:cViewPr varScale="1">
        <p:scale>
          <a:sx n="60" d="100"/>
          <a:sy n="60" d="100"/>
        </p:scale>
        <p:origin x="1613" y="62"/>
      </p:cViewPr>
      <p:guideLst>
        <p:guide orient="horz" pos="2835"/>
        <p:guide pos="431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65" d="100"/>
          <a:sy n="65" d="100"/>
        </p:scale>
        <p:origin x="-3138" y="-108"/>
      </p:cViewPr>
      <p:guideLst>
        <p:guide orient="horz" pos="3143"/>
        <p:guide pos="215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0688" cy="498475"/>
          </a:xfrm>
          <a:prstGeom prst="rect">
            <a:avLst/>
          </a:prstGeom>
        </p:spPr>
        <p:txBody>
          <a:bodyPr vert="horz" lIns="91440" tIns="45720" rIns="91440" bIns="45720" rtlCol="0"/>
          <a:lstStyle>
            <a:lvl1pPr algn="l">
              <a:defRPr sz="1200">
                <a:latin typeface="Tahoma" pitchFamily="34" charset="0"/>
              </a:defRPr>
            </a:lvl1pPr>
          </a:lstStyle>
          <a:p>
            <a:pPr>
              <a:defRPr/>
            </a:pPr>
            <a:endParaRPr lang="en-GB"/>
          </a:p>
        </p:txBody>
      </p:sp>
      <p:sp>
        <p:nvSpPr>
          <p:cNvPr id="3" name="Date Placeholder 2"/>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a:defRPr sz="1200">
                <a:latin typeface="Tahoma" pitchFamily="34" charset="0"/>
              </a:defRPr>
            </a:lvl1pPr>
          </a:lstStyle>
          <a:p>
            <a:pPr>
              <a:defRPr/>
            </a:pPr>
            <a:fld id="{1795414F-D476-4DD2-856E-DFC31EE8148D}" type="datetimeFigureOut">
              <a:rPr lang="en-US"/>
              <a:pPr>
                <a:defRPr/>
              </a:pPr>
              <a:t>4/29/2025</a:t>
            </a:fld>
            <a:endParaRPr lang="en-GB"/>
          </a:p>
        </p:txBody>
      </p:sp>
      <p:sp>
        <p:nvSpPr>
          <p:cNvPr id="4" name="Footer Placeholder 3"/>
          <p:cNvSpPr>
            <a:spLocks noGrp="1"/>
          </p:cNvSpPr>
          <p:nvPr>
            <p:ph type="ftr" sz="quarter" idx="2"/>
          </p:nvPr>
        </p:nvSpPr>
        <p:spPr>
          <a:xfrm>
            <a:off x="0" y="9478963"/>
            <a:ext cx="2960688" cy="498475"/>
          </a:xfrm>
          <a:prstGeom prst="rect">
            <a:avLst/>
          </a:prstGeom>
        </p:spPr>
        <p:txBody>
          <a:bodyPr vert="horz" lIns="91440" tIns="45720" rIns="91440" bIns="45720" rtlCol="0" anchor="b"/>
          <a:lstStyle>
            <a:lvl1pPr algn="l">
              <a:defRPr sz="1200">
                <a:latin typeface="Tahoma" pitchFamily="34" charset="0"/>
              </a:defRPr>
            </a:lvl1pPr>
          </a:lstStyle>
          <a:p>
            <a:pPr>
              <a:defRPr/>
            </a:pPr>
            <a:endParaRPr lang="en-GB"/>
          </a:p>
        </p:txBody>
      </p:sp>
      <p:sp>
        <p:nvSpPr>
          <p:cNvPr id="5" name="Slide Number Placeholder 4"/>
          <p:cNvSpPr>
            <a:spLocks noGrp="1"/>
          </p:cNvSpPr>
          <p:nvPr>
            <p:ph type="sldNum" sz="quarter" idx="3"/>
          </p:nvPr>
        </p:nvSpPr>
        <p:spPr>
          <a:xfrm>
            <a:off x="3871913" y="9478963"/>
            <a:ext cx="2960687" cy="498475"/>
          </a:xfrm>
          <a:prstGeom prst="rect">
            <a:avLst/>
          </a:prstGeom>
        </p:spPr>
        <p:txBody>
          <a:bodyPr vert="horz" lIns="91440" tIns="45720" rIns="91440" bIns="45720" rtlCol="0" anchor="b"/>
          <a:lstStyle>
            <a:lvl1pPr algn="r">
              <a:defRPr sz="1200">
                <a:latin typeface="Tahoma" pitchFamily="34" charset="0"/>
              </a:defRPr>
            </a:lvl1pPr>
          </a:lstStyle>
          <a:p>
            <a:pPr>
              <a:defRPr/>
            </a:pPr>
            <a:fld id="{E9D598F7-2133-4013-82D1-4B3B491A4AC3}" type="slidenum">
              <a:rPr lang="en-GB"/>
              <a:pPr>
                <a:defRPr/>
              </a:pPr>
              <a:t>‹#›</a:t>
            </a:fld>
            <a:endParaRPr lang="en-GB"/>
          </a:p>
        </p:txBody>
      </p:sp>
    </p:spTree>
    <p:extLst>
      <p:ext uri="{BB962C8B-B14F-4D97-AF65-F5344CB8AC3E}">
        <p14:creationId xmlns:p14="http://schemas.microsoft.com/office/powerpoint/2010/main" val="95848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7350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eaLnBrk="1" hangingPunct="1">
              <a:defRPr sz="120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574675" y="749300"/>
            <a:ext cx="5684838" cy="3741738"/>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911225" y="4740275"/>
            <a:ext cx="5011738" cy="44894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7350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eaLnBrk="1" hangingPunct="1">
              <a:defRPr sz="1200">
                <a:latin typeface="Times New Roman" pitchFamily="18" charset="0"/>
              </a:defRPr>
            </a:lvl1pPr>
          </a:lstStyle>
          <a:p>
            <a:pPr>
              <a:defRPr/>
            </a:pPr>
            <a:fld id="{5872934B-F198-4075-B02D-4E5D2B891C00}" type="slidenum">
              <a:rPr lang="en-US"/>
              <a:pPr>
                <a:defRPr/>
              </a:pPr>
              <a:t>‹#›</a:t>
            </a:fld>
            <a:endParaRPr lang="en-US"/>
          </a:p>
        </p:txBody>
      </p:sp>
    </p:spTree>
    <p:extLst>
      <p:ext uri="{BB962C8B-B14F-4D97-AF65-F5344CB8AC3E}">
        <p14:creationId xmlns:p14="http://schemas.microsoft.com/office/powerpoint/2010/main" val="16809658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523700" algn="l"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1047402" algn="l"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572690" algn="l"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2096391" algn="l"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622315" algn="l" defTabSz="1048926" rtl="0" eaLnBrk="1" latinLnBrk="0" hangingPunct="1">
      <a:defRPr sz="1400" kern="1200">
        <a:solidFill>
          <a:schemeClr val="tx1"/>
        </a:solidFill>
        <a:latin typeface="+mn-lt"/>
        <a:ea typeface="+mn-ea"/>
        <a:cs typeface="+mn-cs"/>
      </a:defRPr>
    </a:lvl6pPr>
    <a:lvl7pPr marL="3146777" algn="l" defTabSz="1048926" rtl="0" eaLnBrk="1" latinLnBrk="0" hangingPunct="1">
      <a:defRPr sz="1400" kern="1200">
        <a:solidFill>
          <a:schemeClr val="tx1"/>
        </a:solidFill>
        <a:latin typeface="+mn-lt"/>
        <a:ea typeface="+mn-ea"/>
        <a:cs typeface="+mn-cs"/>
      </a:defRPr>
    </a:lvl7pPr>
    <a:lvl8pPr marL="3671240" algn="l" defTabSz="1048926" rtl="0" eaLnBrk="1" latinLnBrk="0" hangingPunct="1">
      <a:defRPr sz="1400" kern="1200">
        <a:solidFill>
          <a:schemeClr val="tx1"/>
        </a:solidFill>
        <a:latin typeface="+mn-lt"/>
        <a:ea typeface="+mn-ea"/>
        <a:cs typeface="+mn-cs"/>
      </a:defRPr>
    </a:lvl8pPr>
    <a:lvl9pPr marL="4195704" algn="l" defTabSz="104892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06FD5A2-23F0-49C0-ADD6-9D6095AD17FB}" type="slidenum">
              <a:rPr lang="en-US" smtClean="0"/>
              <a:pPr/>
              <a:t>1</a:t>
            </a:fld>
            <a:endParaRPr lang="en-US"/>
          </a:p>
        </p:txBody>
      </p:sp>
      <p:sp>
        <p:nvSpPr>
          <p:cNvPr id="73731" name="Rectangle 2"/>
          <p:cNvSpPr>
            <a:spLocks noGrp="1" noRot="1" noChangeAspect="1" noChangeArrowheads="1" noTextEdit="1"/>
          </p:cNvSpPr>
          <p:nvPr>
            <p:ph type="sldImg"/>
          </p:nvPr>
        </p:nvSpPr>
        <p:spPr>
          <a:xfrm>
            <a:off x="574675" y="749300"/>
            <a:ext cx="5684838" cy="3741738"/>
          </a:xfrm>
          <a:ln/>
        </p:spPr>
      </p:sp>
      <p:sp>
        <p:nvSpPr>
          <p:cNvPr id="73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42E2159F-B7BA-494B-8339-B5CEB89A0CF4}" type="slidenum">
              <a:rPr lang="en-US" smtClean="0"/>
              <a:pPr/>
              <a:t>2</a:t>
            </a:fld>
            <a:endParaRPr lang="en-US"/>
          </a:p>
        </p:txBody>
      </p:sp>
      <p:sp>
        <p:nvSpPr>
          <p:cNvPr id="74755" name="Rectangle 2"/>
          <p:cNvSpPr>
            <a:spLocks noGrp="1" noRot="1" noChangeAspect="1" noChangeArrowheads="1" noTextEdit="1"/>
          </p:cNvSpPr>
          <p:nvPr>
            <p:ph type="sldImg"/>
          </p:nvPr>
        </p:nvSpPr>
        <p:spPr>
          <a:xfrm>
            <a:off x="574675" y="749300"/>
            <a:ext cx="5684838" cy="3741738"/>
          </a:xfrm>
          <a:ln/>
        </p:spPr>
      </p:sp>
      <p:sp>
        <p:nvSpPr>
          <p:cNvPr id="74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7626FD6E-9B91-42EF-AA25-A195E36CB277}" type="slidenum">
              <a:rPr lang="en-US" smtClean="0"/>
              <a:pPr/>
              <a:t>4</a:t>
            </a:fld>
            <a:endParaRPr lang="en-US"/>
          </a:p>
        </p:txBody>
      </p:sp>
      <p:sp>
        <p:nvSpPr>
          <p:cNvPr id="72707" name="Rectangle 2"/>
          <p:cNvSpPr>
            <a:spLocks noGrp="1" noRot="1" noChangeAspect="1" noChangeArrowheads="1" noTextEdit="1"/>
          </p:cNvSpPr>
          <p:nvPr>
            <p:ph type="sldImg"/>
          </p:nvPr>
        </p:nvSpPr>
        <p:spPr>
          <a:xfrm>
            <a:off x="585788" y="755650"/>
            <a:ext cx="5662612" cy="3727450"/>
          </a:xfrm>
          <a:ln/>
        </p:spPr>
      </p:sp>
      <p:sp>
        <p:nvSpPr>
          <p:cNvPr id="72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E9CB1C81-5CD8-8148-A21C-28B6FD7D77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C24839A1-C85E-1144-ABEB-31EA4BB2C41D}" type="slidenum">
              <a:rPr lang="en-US" altLang="en-US" sz="1000"/>
              <a:pPr/>
              <a:t>5</a:t>
            </a:fld>
            <a:endParaRPr lang="en-US" altLang="en-US" sz="1000"/>
          </a:p>
        </p:txBody>
      </p:sp>
      <p:sp>
        <p:nvSpPr>
          <p:cNvPr id="71683" name="Rectangle 2">
            <a:extLst>
              <a:ext uri="{FF2B5EF4-FFF2-40B4-BE49-F238E27FC236}">
                <a16:creationId xmlns:a16="http://schemas.microsoft.com/office/drawing/2014/main" id="{DBBE744C-90E1-2B4F-B8EA-71B310CF88AA}"/>
              </a:ext>
            </a:extLst>
          </p:cNvPr>
          <p:cNvSpPr>
            <a:spLocks noGrp="1" noRot="1" noChangeAspect="1" noChangeArrowheads="1" noTextEdit="1"/>
          </p:cNvSpPr>
          <p:nvPr>
            <p:ph type="sldImg"/>
          </p:nvPr>
        </p:nvSpPr>
        <p:spPr>
          <a:xfrm>
            <a:off x="833438" y="692150"/>
            <a:ext cx="5191125" cy="3416300"/>
          </a:xfrm>
          <a:ln/>
        </p:spPr>
      </p:sp>
      <p:sp>
        <p:nvSpPr>
          <p:cNvPr id="71684" name="Rectangle 3">
            <a:extLst>
              <a:ext uri="{FF2B5EF4-FFF2-40B4-BE49-F238E27FC236}">
                <a16:creationId xmlns:a16="http://schemas.microsoft.com/office/drawing/2014/main" id="{80FF98BF-B5F7-7043-8C0C-895990A0EF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37674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9679C3D-6AF4-6B40-AE91-7FE27D5290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1B37D8A2-701F-7A4B-8F84-2AFD3C59DE62}" type="slidenum">
              <a:rPr lang="en-US" altLang="en-US" sz="1000"/>
              <a:pPr/>
              <a:t>6</a:t>
            </a:fld>
            <a:endParaRPr lang="en-US" altLang="en-US" sz="1000"/>
          </a:p>
        </p:txBody>
      </p:sp>
      <p:sp>
        <p:nvSpPr>
          <p:cNvPr id="72707" name="Rectangle 2">
            <a:extLst>
              <a:ext uri="{FF2B5EF4-FFF2-40B4-BE49-F238E27FC236}">
                <a16:creationId xmlns:a16="http://schemas.microsoft.com/office/drawing/2014/main" id="{746024D6-D51D-1047-B478-5EA5F6819CB1}"/>
              </a:ext>
            </a:extLst>
          </p:cNvPr>
          <p:cNvSpPr>
            <a:spLocks noGrp="1" noRot="1" noChangeAspect="1" noChangeArrowheads="1" noTextEdit="1"/>
          </p:cNvSpPr>
          <p:nvPr>
            <p:ph type="sldImg"/>
          </p:nvPr>
        </p:nvSpPr>
        <p:spPr>
          <a:xfrm>
            <a:off x="833438" y="692150"/>
            <a:ext cx="5191125" cy="3416300"/>
          </a:xfrm>
          <a:ln/>
        </p:spPr>
      </p:sp>
      <p:sp>
        <p:nvSpPr>
          <p:cNvPr id="72708" name="Rectangle 3">
            <a:extLst>
              <a:ext uri="{FF2B5EF4-FFF2-40B4-BE49-F238E27FC236}">
                <a16:creationId xmlns:a16="http://schemas.microsoft.com/office/drawing/2014/main" id="{FD99742C-A0B5-3746-9D3E-033377DFDF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09846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9B038208-D323-3A43-B713-59DCC488D9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C0DF7CB1-E785-9346-9C77-2DF791B9E949}" type="slidenum">
              <a:rPr lang="en-US" altLang="en-US" sz="1000"/>
              <a:pPr/>
              <a:t>7</a:t>
            </a:fld>
            <a:endParaRPr lang="en-US" altLang="en-US" sz="1000"/>
          </a:p>
        </p:txBody>
      </p:sp>
      <p:sp>
        <p:nvSpPr>
          <p:cNvPr id="73731" name="Rectangle 2">
            <a:extLst>
              <a:ext uri="{FF2B5EF4-FFF2-40B4-BE49-F238E27FC236}">
                <a16:creationId xmlns:a16="http://schemas.microsoft.com/office/drawing/2014/main" id="{89F8AA97-80BD-9C4D-B0A9-C447FD0CB565}"/>
              </a:ext>
            </a:extLst>
          </p:cNvPr>
          <p:cNvSpPr>
            <a:spLocks noGrp="1" noRot="1" noChangeAspect="1" noChangeArrowheads="1" noTextEdit="1"/>
          </p:cNvSpPr>
          <p:nvPr>
            <p:ph type="sldImg"/>
          </p:nvPr>
        </p:nvSpPr>
        <p:spPr>
          <a:xfrm>
            <a:off x="833438" y="692150"/>
            <a:ext cx="5191125" cy="3416300"/>
          </a:xfrm>
          <a:ln/>
        </p:spPr>
      </p:sp>
      <p:sp>
        <p:nvSpPr>
          <p:cNvPr id="73732" name="Rectangle 3">
            <a:extLst>
              <a:ext uri="{FF2B5EF4-FFF2-40B4-BE49-F238E27FC236}">
                <a16:creationId xmlns:a16="http://schemas.microsoft.com/office/drawing/2014/main" id="{6F3FCFFB-53C8-F847-B3AD-98D678D843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81735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3652A13D-BDE0-4F80-A936-F4978D783881}" type="slidenum">
              <a:rPr lang="en-US" smtClean="0"/>
              <a:pPr/>
              <a:t>43</a:t>
            </a:fld>
            <a:endParaRPr lang="en-US"/>
          </a:p>
        </p:txBody>
      </p:sp>
      <p:sp>
        <p:nvSpPr>
          <p:cNvPr id="135171" name="Rectangle 2"/>
          <p:cNvSpPr>
            <a:spLocks noGrp="1" noRot="1" noChangeAspect="1" noChangeArrowheads="1" noTextEdit="1"/>
          </p:cNvSpPr>
          <p:nvPr>
            <p:ph type="sldImg"/>
          </p:nvPr>
        </p:nvSpPr>
        <p:spPr>
          <a:xfrm>
            <a:off x="585788" y="755650"/>
            <a:ext cx="5662612" cy="3727450"/>
          </a:xfrm>
          <a:ln/>
        </p:spPr>
      </p:sp>
      <p:sp>
        <p:nvSpPr>
          <p:cNvPr id="1351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D932D71D-7CDE-4C8F-A986-FC7858E0C9D5}" type="slidenum">
              <a:rPr lang="en-US" smtClean="0">
                <a:latin typeface="Times New Roman" charset="0"/>
              </a:rPr>
              <a:pPr/>
              <a:t>44</a:t>
            </a:fld>
            <a:endParaRPr lang="en-US">
              <a:latin typeface="Times New Roman" charset="0"/>
            </a:endParaRPr>
          </a:p>
        </p:txBody>
      </p:sp>
      <p:sp>
        <p:nvSpPr>
          <p:cNvPr id="120835" name="Rectangle 2"/>
          <p:cNvSpPr>
            <a:spLocks noGrp="1" noRot="1" noChangeAspect="1" noChangeArrowheads="1" noTextEdit="1"/>
          </p:cNvSpPr>
          <p:nvPr>
            <p:ph type="sldImg"/>
          </p:nvPr>
        </p:nvSpPr>
        <p:spPr>
          <a:solidFill>
            <a:srgbClr val="FFFFFF"/>
          </a:solidFill>
          <a:ln/>
        </p:spPr>
      </p:sp>
      <p:sp>
        <p:nvSpPr>
          <p:cNvPr id="120836" name="Rectangle 3"/>
          <p:cNvSpPr>
            <a:spLocks noGrp="1" noChangeArrowheads="1"/>
          </p:cNvSpPr>
          <p:nvPr>
            <p:ph type="body" idx="1"/>
          </p:nvPr>
        </p:nvSpPr>
        <p:spPr>
          <a:solidFill>
            <a:srgbClr val="FFFFFF"/>
          </a:solidFill>
          <a:ln>
            <a:solidFill>
              <a:srgbClr val="000000"/>
            </a:solidFill>
          </a:ln>
        </p:spPr>
        <p:txBody>
          <a:bodyPr/>
          <a:lstStyle/>
          <a:p>
            <a:endParaRPr lang="en-US">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45</a:t>
            </a:fld>
            <a:endParaRPr lang="en-US"/>
          </a:p>
        </p:txBody>
      </p:sp>
      <p:sp>
        <p:nvSpPr>
          <p:cNvPr id="141315" name="Rectangle 2"/>
          <p:cNvSpPr>
            <a:spLocks noGrp="1" noRot="1" noChangeAspect="1" noChangeArrowheads="1" noTextEdit="1"/>
          </p:cNvSpPr>
          <p:nvPr>
            <p:ph type="sldImg"/>
          </p:nvPr>
        </p:nvSpPr>
        <p:spPr>
          <a:xfrm>
            <a:off x="574675" y="749300"/>
            <a:ext cx="5684838" cy="3741738"/>
          </a:xfrm>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201613" y="3200400"/>
            <a:ext cx="13479462" cy="1381125"/>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230412" name="Rectangle 12"/>
          <p:cNvSpPr>
            <a:spLocks noGrp="1" noChangeArrowheads="1"/>
          </p:cNvSpPr>
          <p:nvPr>
            <p:ph type="ctrTitle"/>
          </p:nvPr>
        </p:nvSpPr>
        <p:spPr bwMode="auto">
          <a:xfrm>
            <a:off x="1710135" y="2200278"/>
            <a:ext cx="11628914" cy="1700213"/>
          </a:xfrm>
          <a:prstGeom prst="rect">
            <a:avLst/>
          </a:prstGeom>
          <a:noFill/>
          <a:ln>
            <a:miter lim="800000"/>
            <a:headEnd/>
            <a:tailEnd/>
          </a:ln>
        </p:spPr>
        <p:txBody>
          <a:bodyPr vert="horz" wrap="square" lIns="104927" tIns="52464" rIns="104927" bIns="52464"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912072" y="4600578"/>
            <a:ext cx="12769003" cy="4100513"/>
          </a:xfrm>
        </p:spPr>
        <p:txBody>
          <a:bodyPr/>
          <a:lstStyle>
            <a:lvl1pPr marL="0" indent="0" algn="ctr">
              <a:buFont typeface="Wingdings" pitchFamily="2" charset="2"/>
              <a:buNone/>
              <a:defRPr/>
            </a:lvl1pPr>
          </a:lstStyle>
          <a:p>
            <a:r>
              <a:rPr lang="en-US"/>
              <a:t>Click to edit Master subtitle style</a:t>
            </a:r>
          </a:p>
        </p:txBody>
      </p:sp>
      <p:sp>
        <p:nvSpPr>
          <p:cNvPr id="14" name="Rectangle 28"/>
          <p:cNvSpPr>
            <a:spLocks noGrp="1" noChangeArrowheads="1"/>
          </p:cNvSpPr>
          <p:nvPr>
            <p:ph type="sldNum" sz="quarter" idx="10"/>
          </p:nvPr>
        </p:nvSpPr>
        <p:spPr bwMode="auto">
          <a:xfrm>
            <a:off x="11857038" y="8701088"/>
            <a:ext cx="1824037" cy="300037"/>
          </a:xfrm>
          <a:prstGeom prst="rect">
            <a:avLst/>
          </a:prstGeom>
          <a:ln>
            <a:miter lim="800000"/>
            <a:headEnd/>
            <a:tailEnd/>
          </a:ln>
        </p:spPr>
        <p:txBody>
          <a:bodyPr vert="horz" wrap="square" lIns="104927" tIns="52464" rIns="104927" bIns="52464" numCol="1" anchor="b" anchorCtr="0" compatLnSpc="1">
            <a:prstTxWarp prst="textNoShape">
              <a:avLst/>
            </a:prstTxWarp>
          </a:bodyPr>
          <a:lstStyle>
            <a:lvl1pPr algn="r" eaLnBrk="1" hangingPunct="1">
              <a:defRPr sz="1600">
                <a:latin typeface="Tahoma" pitchFamily="34" charset="0"/>
              </a:defRPr>
            </a:lvl1pPr>
          </a:lstStyle>
          <a:p>
            <a:pPr>
              <a:defRPr/>
            </a:pPr>
            <a:fld id="{24F378D1-C07B-407C-9B5D-F14AE7CD8C13}" type="slidenum">
              <a:rPr lang="en-US"/>
              <a:pPr>
                <a:defRPr/>
              </a:pPr>
              <a:t>‹#›</a:t>
            </a:fld>
            <a:endParaRPr lang="en-US"/>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0713" y="5784060"/>
            <a:ext cx="11628914" cy="1787723"/>
          </a:xfrm>
          <a:prstGeom prst="rect">
            <a:avLst/>
          </a:prstGeom>
        </p:spPr>
        <p:txBody>
          <a:bodyPr lIns="104927" tIns="52464" rIns="104927" bIns="52464" anchor="t"/>
          <a:lstStyle>
            <a:lvl1pPr algn="l">
              <a:defRPr sz="4600" b="1" cap="all"/>
            </a:lvl1pPr>
          </a:lstStyle>
          <a:p>
            <a:r>
              <a:rPr lang="en-US"/>
              <a:t>Click to edit Master title style</a:t>
            </a:r>
            <a:endParaRPr lang="en-GB"/>
          </a:p>
        </p:txBody>
      </p:sp>
      <p:sp>
        <p:nvSpPr>
          <p:cNvPr id="3" name="Text Placeholder 2"/>
          <p:cNvSpPr>
            <a:spLocks noGrp="1"/>
          </p:cNvSpPr>
          <p:nvPr>
            <p:ph type="body" idx="1"/>
          </p:nvPr>
        </p:nvSpPr>
        <p:spPr>
          <a:xfrm>
            <a:off x="1080713" y="3815065"/>
            <a:ext cx="11628914" cy="1968995"/>
          </a:xfrm>
        </p:spPr>
        <p:txBody>
          <a:bodyPr anchor="b"/>
          <a:lstStyle>
            <a:lvl1pPr marL="0" indent="0">
              <a:buNone/>
              <a:defRPr sz="2300"/>
            </a:lvl1pPr>
            <a:lvl2pPr marL="524637" indent="0">
              <a:buNone/>
              <a:defRPr sz="2100"/>
            </a:lvl2pPr>
            <a:lvl3pPr marL="1049274" indent="0">
              <a:buNone/>
              <a:defRPr sz="1800"/>
            </a:lvl3pPr>
            <a:lvl4pPr marL="1573911" indent="0">
              <a:buNone/>
              <a:defRPr sz="1600"/>
            </a:lvl4pPr>
            <a:lvl5pPr marL="2098548" indent="0">
              <a:buNone/>
              <a:defRPr sz="1600"/>
            </a:lvl5pPr>
            <a:lvl6pPr marL="2623185" indent="0">
              <a:buNone/>
              <a:defRPr sz="1600"/>
            </a:lvl6pPr>
            <a:lvl7pPr marL="3147822" indent="0">
              <a:buNone/>
              <a:defRPr sz="1600"/>
            </a:lvl7pPr>
            <a:lvl8pPr marL="3672459" indent="0">
              <a:buNone/>
              <a:defRPr sz="1600"/>
            </a:lvl8pPr>
            <a:lvl9pPr marL="4197096" indent="0">
              <a:buNone/>
              <a:defRPr sz="1600"/>
            </a:lvl9pPr>
          </a:lstStyle>
          <a:p>
            <a:pPr lvl="0"/>
            <a:r>
              <a:rPr lang="en-US"/>
              <a:t>Click to edit Master text styles</a:t>
            </a: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4054" y="360462"/>
            <a:ext cx="12312967" cy="1500188"/>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192915" y="-1903620"/>
            <a:ext cx="12533312" cy="8569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588963" y="44450"/>
            <a:ext cx="12533312" cy="8569325"/>
          </a:xfrm>
          <a:prstGeom prst="rect">
            <a:avLst/>
          </a:prstGeom>
          <a:noFill/>
          <a:ln w="9525">
            <a:noFill/>
            <a:miter lim="800000"/>
            <a:headEnd/>
            <a:tailEnd/>
          </a:ln>
        </p:spPr>
        <p:txBody>
          <a:bodyPr vert="horz" wrap="square" lIns="104927" tIns="52464" rIns="104927" bIns="5246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a:t>Fifth level</a:t>
            </a:r>
          </a:p>
        </p:txBody>
      </p:sp>
      <p:sp>
        <p:nvSpPr>
          <p:cNvPr id="229393" name="Rectangle 17"/>
          <p:cNvSpPr>
            <a:spLocks noChangeArrowheads="1"/>
          </p:cNvSpPr>
          <p:nvPr/>
        </p:nvSpPr>
        <p:spPr bwMode="auto">
          <a:xfrm>
            <a:off x="0" y="8378748"/>
            <a:ext cx="2849563" cy="600075"/>
          </a:xfrm>
          <a:prstGeom prst="rect">
            <a:avLst/>
          </a:prstGeom>
          <a:noFill/>
          <a:ln w="12700" cap="sq">
            <a:noFill/>
            <a:miter lim="800000"/>
            <a:headEnd type="none" w="sm" len="sm"/>
            <a:tailEnd type="none" w="sm" len="sm"/>
          </a:ln>
          <a:effectLst/>
        </p:spPr>
        <p:txBody>
          <a:bodyPr lIns="104927" tIns="52464" rIns="104927" bIns="52464" anchor="b"/>
          <a:lstStyle/>
          <a:p>
            <a:pPr eaLnBrk="1" hangingPunct="1">
              <a:defRPr/>
            </a:pPr>
            <a:fld id="{A489F54B-69BB-4115-9FC9-7565FFDEE19E}" type="slidenum">
              <a:rPr lang="en-US" sz="1600">
                <a:solidFill>
                  <a:srgbClr val="080808"/>
                </a:solidFill>
                <a:latin typeface="Times New Roman" pitchFamily="18" charset="0"/>
              </a:rPr>
              <a:pPr eaLnBrk="1" hangingPunct="1">
                <a:defRPr/>
              </a:pPr>
              <a:t>‹#›</a:t>
            </a:fld>
            <a:endParaRPr lang="en-US" sz="1600" dirty="0">
              <a:solidFill>
                <a:srgbClr val="080808"/>
              </a:solidFill>
              <a:latin typeface="Times New Roman" pitchFamily="18" charset="0"/>
            </a:endParaRPr>
          </a:p>
        </p:txBody>
      </p:sp>
      <p:sp>
        <p:nvSpPr>
          <p:cNvPr id="229396" name="Rectangle 20"/>
          <p:cNvSpPr>
            <a:spLocks noChangeArrowheads="1"/>
          </p:cNvSpPr>
          <p:nvPr userDrawn="1"/>
        </p:nvSpPr>
        <p:spPr bwMode="ltGray">
          <a:xfrm>
            <a:off x="12018963" y="7761288"/>
            <a:ext cx="490537" cy="622300"/>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0" name="Rectangle 24"/>
          <p:cNvSpPr>
            <a:spLocks noChangeArrowheads="1"/>
          </p:cNvSpPr>
          <p:nvPr userDrawn="1"/>
        </p:nvSpPr>
        <p:spPr bwMode="ltGray">
          <a:xfrm flipH="1">
            <a:off x="11790363" y="8315325"/>
            <a:ext cx="550862" cy="623888"/>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8" name="Rectangle 22"/>
          <p:cNvSpPr>
            <a:spLocks noChangeArrowheads="1"/>
          </p:cNvSpPr>
          <p:nvPr userDrawn="1"/>
        </p:nvSpPr>
        <p:spPr bwMode="ltGray">
          <a:xfrm>
            <a:off x="12498388" y="7761288"/>
            <a:ext cx="655637" cy="622300"/>
          </a:xfrm>
          <a:prstGeom prst="rect">
            <a:avLst/>
          </a:prstGeom>
          <a:solidFill>
            <a:schemeClr val="accent2"/>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9" name="Rectangle 23"/>
          <p:cNvSpPr>
            <a:spLocks noChangeArrowheads="1"/>
          </p:cNvSpPr>
          <p:nvPr userDrawn="1"/>
        </p:nvSpPr>
        <p:spPr bwMode="ltGray">
          <a:xfrm flipH="1">
            <a:off x="12336463" y="8315325"/>
            <a:ext cx="631825" cy="623888"/>
          </a:xfrm>
          <a:prstGeom prst="rect">
            <a:avLst/>
          </a:prstGeom>
          <a:solidFill>
            <a:schemeClr val="folHlink"/>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1" name="Rectangle 25"/>
          <p:cNvSpPr>
            <a:spLocks noChangeArrowheads="1"/>
          </p:cNvSpPr>
          <p:nvPr userDrawn="1"/>
        </p:nvSpPr>
        <p:spPr bwMode="ltGray">
          <a:xfrm flipH="1">
            <a:off x="12749213" y="8220075"/>
            <a:ext cx="839787" cy="554038"/>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84" name="Rectangle 8"/>
          <p:cNvSpPr>
            <a:spLocks noChangeArrowheads="1"/>
          </p:cNvSpPr>
          <p:nvPr userDrawn="1"/>
        </p:nvSpPr>
        <p:spPr bwMode="gray">
          <a:xfrm>
            <a:off x="822325" y="8656638"/>
            <a:ext cx="12307888" cy="42862"/>
          </a:xfrm>
          <a:prstGeom prst="rect">
            <a:avLst/>
          </a:prstGeom>
          <a:gradFill rotWithShape="0">
            <a:gsLst>
              <a:gs pos="0">
                <a:schemeClr val="bg1"/>
              </a:gs>
              <a:gs pos="100000">
                <a:schemeClr val="tx1"/>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11" name="Text Box 40"/>
          <p:cNvSpPr txBox="1">
            <a:spLocks noChangeArrowheads="1"/>
          </p:cNvSpPr>
          <p:nvPr userDrawn="1"/>
        </p:nvSpPr>
        <p:spPr bwMode="auto">
          <a:xfrm>
            <a:off x="565150" y="8661477"/>
            <a:ext cx="12558713" cy="321396"/>
          </a:xfrm>
          <a:prstGeom prst="rect">
            <a:avLst/>
          </a:prstGeom>
          <a:noFill/>
          <a:ln w="12700" cap="sq">
            <a:noFill/>
            <a:miter lim="800000"/>
            <a:headEnd type="none" w="sm" len="sm"/>
            <a:tailEnd type="none" w="sm" len="sm"/>
          </a:ln>
          <a:effectLst/>
        </p:spPr>
        <p:txBody>
          <a:bodyPr lIns="104927" tIns="52464" rIns="104927" bIns="52464">
            <a:spAutoFit/>
          </a:bodyPr>
          <a:lstStyle/>
          <a:p>
            <a:pPr algn="l">
              <a:spcBef>
                <a:spcPct val="50000"/>
              </a:spcBef>
              <a:defRPr/>
            </a:pPr>
            <a:r>
              <a:rPr lang="en-US" sz="1400" dirty="0"/>
              <a:t>Topic</a:t>
            </a:r>
            <a:r>
              <a:rPr lang="en-US" sz="1400" baseline="0" dirty="0"/>
              <a:t> 5</a:t>
            </a:r>
            <a:r>
              <a:rPr lang="en-US" sz="1400" dirty="0"/>
              <a:t> Exceptions</a:t>
            </a:r>
            <a:r>
              <a:rPr lang="en-US" sz="1400" baseline="0" dirty="0"/>
              <a:t>                                                                                                                                            CCS</a:t>
            </a:r>
            <a:r>
              <a:rPr lang="en-US" sz="1400" dirty="0"/>
              <a:t>3101 Object-oriented Programming</a:t>
            </a:r>
          </a:p>
        </p:txBody>
      </p:sp>
    </p:spTree>
  </p:cSld>
  <p:clrMap bg1="lt1" tx1="dk1" bg2="lt2" tx2="dk2" accent1="accent1" accent2="accent2" accent3="accent3" accent4="accent4" accent5="accent5" accent6="accent6" hlink="hlink" folHlink="folHlink"/>
  <p:sldLayoutIdLst>
    <p:sldLayoutId id="2147484208" r:id="rId1"/>
    <p:sldLayoutId id="2147484198" r:id="rId2"/>
    <p:sldLayoutId id="2147484199" r:id="rId3"/>
    <p:sldLayoutId id="2147484200" r:id="rId4"/>
    <p:sldLayoutId id="2147484209" r:id="rId5"/>
  </p:sldLayoutIdLst>
  <p:transition>
    <p:random/>
  </p:transition>
  <p:hf hdr="0" dt="0"/>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Tahoma" pitchFamily="34" charset="0"/>
        </a:defRPr>
      </a:lvl2pPr>
      <a:lvl3pPr algn="l" rtl="0" eaLnBrk="0" fontAlgn="base" hangingPunct="0">
        <a:spcBef>
          <a:spcPct val="0"/>
        </a:spcBef>
        <a:spcAft>
          <a:spcPct val="0"/>
        </a:spcAft>
        <a:defRPr sz="5000">
          <a:solidFill>
            <a:schemeClr val="tx2"/>
          </a:solidFill>
          <a:latin typeface="Tahoma" pitchFamily="34" charset="0"/>
        </a:defRPr>
      </a:lvl3pPr>
      <a:lvl4pPr algn="l" rtl="0" eaLnBrk="0" fontAlgn="base" hangingPunct="0">
        <a:spcBef>
          <a:spcPct val="0"/>
        </a:spcBef>
        <a:spcAft>
          <a:spcPct val="0"/>
        </a:spcAft>
        <a:defRPr sz="5000">
          <a:solidFill>
            <a:schemeClr val="tx2"/>
          </a:solidFill>
          <a:latin typeface="Tahoma" pitchFamily="34" charset="0"/>
        </a:defRPr>
      </a:lvl4pPr>
      <a:lvl5pPr algn="l" rtl="0" eaLnBrk="0" fontAlgn="base" hangingPunct="0">
        <a:spcBef>
          <a:spcPct val="0"/>
        </a:spcBef>
        <a:spcAft>
          <a:spcPct val="0"/>
        </a:spcAft>
        <a:defRPr sz="5000">
          <a:solidFill>
            <a:schemeClr val="tx2"/>
          </a:solidFill>
          <a:latin typeface="Tahoma" pitchFamily="34" charset="0"/>
        </a:defRPr>
      </a:lvl5pPr>
      <a:lvl6pPr marL="524637" algn="l" rtl="0" fontAlgn="base">
        <a:spcBef>
          <a:spcPct val="0"/>
        </a:spcBef>
        <a:spcAft>
          <a:spcPct val="0"/>
        </a:spcAft>
        <a:defRPr sz="5000">
          <a:solidFill>
            <a:schemeClr val="tx2"/>
          </a:solidFill>
          <a:latin typeface="Tahoma" pitchFamily="34" charset="0"/>
        </a:defRPr>
      </a:lvl6pPr>
      <a:lvl7pPr marL="1049274" algn="l" rtl="0" fontAlgn="base">
        <a:spcBef>
          <a:spcPct val="0"/>
        </a:spcBef>
        <a:spcAft>
          <a:spcPct val="0"/>
        </a:spcAft>
        <a:defRPr sz="5000">
          <a:solidFill>
            <a:schemeClr val="tx2"/>
          </a:solidFill>
          <a:latin typeface="Tahoma" pitchFamily="34" charset="0"/>
        </a:defRPr>
      </a:lvl7pPr>
      <a:lvl8pPr marL="1573911" algn="l" rtl="0" fontAlgn="base">
        <a:spcBef>
          <a:spcPct val="0"/>
        </a:spcBef>
        <a:spcAft>
          <a:spcPct val="0"/>
        </a:spcAft>
        <a:defRPr sz="5000">
          <a:solidFill>
            <a:schemeClr val="tx2"/>
          </a:solidFill>
          <a:latin typeface="Tahoma" pitchFamily="34" charset="0"/>
        </a:defRPr>
      </a:lvl8pPr>
      <a:lvl9pPr marL="2098548" algn="l" rtl="0" fontAlgn="base">
        <a:spcBef>
          <a:spcPct val="0"/>
        </a:spcBef>
        <a:spcAft>
          <a:spcPct val="0"/>
        </a:spcAft>
        <a:defRPr sz="5000">
          <a:solidFill>
            <a:schemeClr val="tx2"/>
          </a:solidFill>
          <a:latin typeface="Tahoma" pitchFamily="34" charset="0"/>
        </a:defRPr>
      </a:lvl9pPr>
    </p:titleStyle>
    <p:bodyStyle>
      <a:lvl1pPr marL="392113" indent="-392113" algn="l" rtl="0" eaLnBrk="0" fontAlgn="base" hangingPunct="0">
        <a:spcBef>
          <a:spcPct val="20000"/>
        </a:spcBef>
        <a:spcAft>
          <a:spcPct val="0"/>
        </a:spcAft>
        <a:buClr>
          <a:schemeClr val="folHlink"/>
        </a:buClr>
        <a:buSzPct val="60000"/>
        <a:buFont typeface="Wingdings" pitchFamily="2" charset="2"/>
        <a:buChar char="n"/>
        <a:defRPr sz="3700">
          <a:solidFill>
            <a:schemeClr val="tx1"/>
          </a:solidFill>
          <a:latin typeface="+mn-lt"/>
          <a:ea typeface="+mn-ea"/>
          <a:cs typeface="+mn-cs"/>
        </a:defRPr>
      </a:lvl1pPr>
      <a:lvl2pPr marL="852488" indent="-327025" algn="l" rtl="0" eaLnBrk="0" fontAlgn="base" hangingPunct="0">
        <a:spcBef>
          <a:spcPct val="20000"/>
        </a:spcBef>
        <a:spcAft>
          <a:spcPct val="0"/>
        </a:spcAft>
        <a:buClr>
          <a:schemeClr val="hlink"/>
        </a:buClr>
        <a:buSzPct val="55000"/>
        <a:buFont typeface="Wingdings" pitchFamily="2" charset="2"/>
        <a:buChar char="n"/>
        <a:defRPr sz="3200">
          <a:solidFill>
            <a:schemeClr val="tx1"/>
          </a:solidFill>
          <a:latin typeface="+mn-lt"/>
        </a:defRPr>
      </a:lvl2pPr>
      <a:lvl3pPr marL="1311275" indent="-261938"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latin typeface="+mn-lt"/>
        </a:defRPr>
      </a:lvl3pPr>
      <a:lvl4pPr marL="1835150" indent="-261938" algn="l" rtl="0" eaLnBrk="0" fontAlgn="base" hangingPunct="0">
        <a:spcBef>
          <a:spcPct val="20000"/>
        </a:spcBef>
        <a:spcAft>
          <a:spcPct val="0"/>
        </a:spcAft>
        <a:buClr>
          <a:schemeClr val="accent2"/>
        </a:buClr>
        <a:buSzPct val="55000"/>
        <a:buFont typeface="Wingdings" pitchFamily="2" charset="2"/>
        <a:buChar char="n"/>
        <a:defRPr sz="2300">
          <a:solidFill>
            <a:schemeClr val="tx1"/>
          </a:solidFill>
          <a:latin typeface="+mn-lt"/>
        </a:defRPr>
      </a:lvl4pPr>
      <a:lvl5pPr marL="2360613" indent="-261938" algn="l" rtl="0" eaLnBrk="0" fontAlgn="base" hangingPunct="0">
        <a:spcBef>
          <a:spcPct val="20000"/>
        </a:spcBef>
        <a:spcAft>
          <a:spcPct val="0"/>
        </a:spcAft>
        <a:buClr>
          <a:schemeClr val="accent1"/>
        </a:buClr>
        <a:buSzPct val="50000"/>
        <a:buFont typeface="Wingdings" pitchFamily="2" charset="2"/>
        <a:buChar char="n"/>
        <a:defRPr sz="2300">
          <a:solidFill>
            <a:schemeClr val="tx1"/>
          </a:solidFill>
          <a:latin typeface="+mn-lt"/>
        </a:defRPr>
      </a:lvl5pPr>
      <a:lvl6pPr marL="2885504"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6pPr>
      <a:lvl7pPr marL="3410141"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7pPr>
      <a:lvl8pPr marL="3934778"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8pPr>
      <a:lvl9pPr marL="4459415"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9pPr>
    </p:bodyStyle>
    <p:otherStyle>
      <a:defPPr>
        <a:defRPr lang="en-US"/>
      </a:defPPr>
      <a:lvl1pPr marL="0" algn="l" defTabSz="1049274" rtl="0" eaLnBrk="1" latinLnBrk="0" hangingPunct="1">
        <a:defRPr sz="2100" kern="1200">
          <a:solidFill>
            <a:schemeClr val="tx1"/>
          </a:solidFill>
          <a:latin typeface="+mn-lt"/>
          <a:ea typeface="+mn-ea"/>
          <a:cs typeface="+mn-cs"/>
        </a:defRPr>
      </a:lvl1pPr>
      <a:lvl2pPr marL="524637" algn="l" defTabSz="1049274" rtl="0" eaLnBrk="1" latinLnBrk="0" hangingPunct="1">
        <a:defRPr sz="2100" kern="1200">
          <a:solidFill>
            <a:schemeClr val="tx1"/>
          </a:solidFill>
          <a:latin typeface="+mn-lt"/>
          <a:ea typeface="+mn-ea"/>
          <a:cs typeface="+mn-cs"/>
        </a:defRPr>
      </a:lvl2pPr>
      <a:lvl3pPr marL="1049274" algn="l" defTabSz="1049274" rtl="0" eaLnBrk="1" latinLnBrk="0" hangingPunct="1">
        <a:defRPr sz="2100" kern="1200">
          <a:solidFill>
            <a:schemeClr val="tx1"/>
          </a:solidFill>
          <a:latin typeface="+mn-lt"/>
          <a:ea typeface="+mn-ea"/>
          <a:cs typeface="+mn-cs"/>
        </a:defRPr>
      </a:lvl3pPr>
      <a:lvl4pPr marL="1573911" algn="l" defTabSz="1049274" rtl="0" eaLnBrk="1" latinLnBrk="0" hangingPunct="1">
        <a:defRPr sz="2100" kern="1200">
          <a:solidFill>
            <a:schemeClr val="tx1"/>
          </a:solidFill>
          <a:latin typeface="+mn-lt"/>
          <a:ea typeface="+mn-ea"/>
          <a:cs typeface="+mn-cs"/>
        </a:defRPr>
      </a:lvl4pPr>
      <a:lvl5pPr marL="2098548" algn="l" defTabSz="1049274" rtl="0" eaLnBrk="1" latinLnBrk="0" hangingPunct="1">
        <a:defRPr sz="2100" kern="1200">
          <a:solidFill>
            <a:schemeClr val="tx1"/>
          </a:solidFill>
          <a:latin typeface="+mn-lt"/>
          <a:ea typeface="+mn-ea"/>
          <a:cs typeface="+mn-cs"/>
        </a:defRPr>
      </a:lvl5pPr>
      <a:lvl6pPr marL="2623185" algn="l" defTabSz="1049274" rtl="0" eaLnBrk="1" latinLnBrk="0" hangingPunct="1">
        <a:defRPr sz="2100" kern="1200">
          <a:solidFill>
            <a:schemeClr val="tx1"/>
          </a:solidFill>
          <a:latin typeface="+mn-lt"/>
          <a:ea typeface="+mn-ea"/>
          <a:cs typeface="+mn-cs"/>
        </a:defRPr>
      </a:lvl6pPr>
      <a:lvl7pPr marL="3147822" algn="l" defTabSz="1049274" rtl="0" eaLnBrk="1" latinLnBrk="0" hangingPunct="1">
        <a:defRPr sz="2100" kern="1200">
          <a:solidFill>
            <a:schemeClr val="tx1"/>
          </a:solidFill>
          <a:latin typeface="+mn-lt"/>
          <a:ea typeface="+mn-ea"/>
          <a:cs typeface="+mn-cs"/>
        </a:defRPr>
      </a:lvl7pPr>
      <a:lvl8pPr marL="3672459" algn="l" defTabSz="1049274" rtl="0" eaLnBrk="1" latinLnBrk="0" hangingPunct="1">
        <a:defRPr sz="2100" kern="1200">
          <a:solidFill>
            <a:schemeClr val="tx1"/>
          </a:solidFill>
          <a:latin typeface="+mn-lt"/>
          <a:ea typeface="+mn-ea"/>
          <a:cs typeface="+mn-cs"/>
        </a:defRPr>
      </a:lvl8pPr>
      <a:lvl9pPr marL="4197096" algn="l" defTabSz="1049274"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hyperlink" Target="https://liveexample.pearsoncmg.com/html/QuotientWithMethod.html" TargetMode="External"/><Relationship Id="rId3" Type="http://schemas.openxmlformats.org/officeDocument/2006/relationships/hyperlink" Target="html/Quotient.bat" TargetMode="External"/><Relationship Id="rId7" Type="http://schemas.openxmlformats.org/officeDocument/2006/relationships/hyperlink" Target="html/QuotientWithMethod.bat"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hyperlink" Target="https://liveexample.pearsoncmg.com/html/QuotientWithIf.html" TargetMode="External"/><Relationship Id="rId5" Type="http://schemas.openxmlformats.org/officeDocument/2006/relationships/hyperlink" Target="html/QuotientWithIf.bat" TargetMode="External"/><Relationship Id="rId4" Type="http://schemas.openxmlformats.org/officeDocument/2006/relationships/hyperlink" Target="https://liveexample.pearsoncmg.com/html/Quotient.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ml/QuotientWithException.bat"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liveexample.pearsoncmg.com/html/QuotientWithException.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ml/InputMismatchExceptionDemo.bat"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s://liveexample.pearsoncmg.com/html/InputMismatchExceptionDemo.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3.bin"/><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5.bin"/><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6.bin"/><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7.bin"/><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8.bin"/><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9.bin"/><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liveexample.pearsoncmg.com/html/TestCircleWithException.html" TargetMode="External"/><Relationship Id="rId2" Type="http://schemas.openxmlformats.org/officeDocument/2006/relationships/hyperlink" Target="html/TestCircleWithException.bat" TargetMode="External"/><Relationship Id="rId1" Type="http://schemas.openxmlformats.org/officeDocument/2006/relationships/slideLayout" Target="../slideLayouts/slideLayout5.xml"/><Relationship Id="rId4" Type="http://schemas.openxmlformats.org/officeDocument/2006/relationships/hyperlink" Target="https://liveexample.pearsoncmg.com/html/CircleWithException.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s://liveexample.pearsoncmg.com/html/TestCircleWithRadiusException.html" TargetMode="External"/><Relationship Id="rId2" Type="http://schemas.openxmlformats.org/officeDocument/2006/relationships/hyperlink" Target="html/TestCircleWithRadiusException.bat" TargetMode="External"/><Relationship Id="rId1" Type="http://schemas.openxmlformats.org/officeDocument/2006/relationships/slideLayout" Target="../slideLayouts/slideLayout5.xml"/><Relationship Id="rId5" Type="http://schemas.openxmlformats.org/officeDocument/2006/relationships/hyperlink" Target="https://liveexample.pearsoncmg.com/html/InvalidRadiusException.html" TargetMode="External"/><Relationship Id="rId4" Type="http://schemas.openxmlformats.org/officeDocument/2006/relationships/hyperlink" Target="https://liveexample.pearsoncmg.com/html/CircleWithRadiusException.html"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1539875" y="1932471"/>
            <a:ext cx="11791950" cy="1708151"/>
          </a:xfrm>
          <a:prstGeom prst="rect">
            <a:avLst/>
          </a:prstGeom>
          <a:noFill/>
          <a:ln w="12700" cap="sq">
            <a:noFill/>
            <a:miter lim="800000"/>
            <a:headEnd type="none" w="sm" len="sm"/>
            <a:tailEnd type="none" w="sm" len="sm"/>
          </a:ln>
        </p:spPr>
        <p:txBody>
          <a:bodyPr lIns="104893" tIns="52447" rIns="104893" bIns="52447" anchor="ctr"/>
          <a:lstStyle/>
          <a:p>
            <a:pPr eaLnBrk="1" hangingPunct="1"/>
            <a:r>
              <a:rPr lang="en-US" sz="5000" b="1" dirty="0">
                <a:latin typeface="Times New Roman" panose="02020603050405020304" pitchFamily="18" charset="0"/>
                <a:cs typeface="Times New Roman" panose="02020603050405020304" pitchFamily="18" charset="0"/>
              </a:rPr>
              <a:t>CCS3101 </a:t>
            </a:r>
          </a:p>
          <a:p>
            <a:pPr eaLnBrk="1" hangingPunct="1"/>
            <a:r>
              <a:rPr lang="en-US" sz="5000" b="1" dirty="0">
                <a:latin typeface="Times New Roman" panose="02020603050405020304" pitchFamily="18" charset="0"/>
                <a:cs typeface="Times New Roman" panose="02020603050405020304" pitchFamily="18" charset="0"/>
              </a:rPr>
              <a:t>OBJECT-ORIENTED PROGRAMMING </a:t>
            </a:r>
            <a:br>
              <a:rPr lang="pl-PL" sz="5000" b="1" dirty="0">
                <a:latin typeface="Times New Roman" panose="02020603050405020304" pitchFamily="18" charset="0"/>
                <a:cs typeface="Times New Roman" panose="02020603050405020304" pitchFamily="18" charset="0"/>
              </a:rPr>
            </a:br>
            <a:r>
              <a:rPr lang="en-US" sz="5000" b="1" dirty="0">
                <a:latin typeface="Times New Roman" panose="02020603050405020304" pitchFamily="18" charset="0"/>
                <a:cs typeface="Times New Roman" panose="02020603050405020304" pitchFamily="18" charset="0"/>
              </a:rPr>
              <a:t>Topic 5 Exceptions</a:t>
            </a:r>
          </a:p>
        </p:txBody>
      </p:sp>
      <p:sp>
        <p:nvSpPr>
          <p:cNvPr id="4" name="Slide Number Placeholder 3"/>
          <p:cNvSpPr>
            <a:spLocks noGrp="1"/>
          </p:cNvSpPr>
          <p:nvPr>
            <p:ph type="sldNum" sz="quarter" idx="10"/>
          </p:nvPr>
        </p:nvSpPr>
        <p:spPr/>
        <p:txBody>
          <a:bodyPr/>
          <a:lstStyle/>
          <a:p>
            <a:pPr>
              <a:defRPr/>
            </a:pPr>
            <a:fld id="{24F378D1-C07B-407C-9B5D-F14AE7CD8C13}" type="slidenum">
              <a:rPr lang="en-US" smtClean="0"/>
              <a:pPr>
                <a:defRPr/>
              </a:pPr>
              <a:t>1</a:t>
            </a:fld>
            <a:endParaRPr lang="en-US"/>
          </a:p>
        </p:txBody>
      </p:sp>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bwMode="auto">
          <a:xfrm>
            <a:off x="0" y="4764"/>
            <a:ext cx="13681075" cy="1033463"/>
          </a:xfrm>
          <a:prstGeom prst="rect">
            <a:avLst/>
          </a:prstGeom>
          <a:solidFill>
            <a:srgbClr val="FFFFFF"/>
          </a:solidFill>
          <a:ln>
            <a:miter lim="800000"/>
            <a:headEnd/>
            <a:tailEnd/>
          </a:ln>
        </p:spPr>
        <p:txBody>
          <a:bodyPr lIns="104893" tIns="52447" rIns="104893" bIns="52447" anchor="ctr"/>
          <a:lstStyle/>
          <a:p>
            <a:pPr algn="ctr" eaLnBrk="1" hangingPunct="1"/>
            <a:r>
              <a:rPr lang="en-US" sz="5400" b="1" dirty="0">
                <a:solidFill>
                  <a:schemeClr val="tx1"/>
                </a:solidFill>
                <a:latin typeface="Times New Roman" panose="02020603050405020304" pitchFamily="18" charset="0"/>
                <a:cs typeface="Times New Roman" panose="02020603050405020304" pitchFamily="18" charset="0"/>
              </a:rPr>
              <a:t>Learning Objectives</a:t>
            </a:r>
          </a:p>
        </p:txBody>
      </p:sp>
      <p:sp>
        <p:nvSpPr>
          <p:cNvPr id="3" name="Rectangle 2"/>
          <p:cNvSpPr txBox="1">
            <a:spLocks noChangeArrowheads="1"/>
          </p:cNvSpPr>
          <p:nvPr/>
        </p:nvSpPr>
        <p:spPr bwMode="auto">
          <a:xfrm>
            <a:off x="0" y="1147763"/>
            <a:ext cx="13681075" cy="6075362"/>
          </a:xfrm>
          <a:prstGeom prst="rect">
            <a:avLst/>
          </a:prstGeom>
          <a:solidFill>
            <a:srgbClr val="FFFFFF"/>
          </a:solidFill>
          <a:ln>
            <a:miter lim="800000"/>
            <a:headEnd/>
            <a:tailEnd/>
          </a:ln>
        </p:spPr>
        <p:txBody>
          <a:bodyPr lIns="104893" tIns="52447" rIns="104893" bIns="52447"/>
          <a:lstStyle/>
          <a:p>
            <a:pPr marL="412964" indent="-412964" eaLnBrk="1" hangingPunct="1">
              <a:buFont typeface="Arial" pitchFamily="34" charset="0"/>
              <a:buChar char="•"/>
              <a:defRPr/>
            </a:pPr>
            <a:r>
              <a:rPr lang="en-US" sz="4400" kern="0" dirty="0">
                <a:latin typeface="Times New Roman" panose="02020603050405020304" pitchFamily="18" charset="0"/>
                <a:ea typeface="+mj-ea"/>
                <a:cs typeface="Times New Roman" panose="02020603050405020304" pitchFamily="18" charset="0"/>
              </a:rPr>
              <a:t>At the end of this chapter, you will be able to:</a:t>
            </a:r>
          </a:p>
          <a:p>
            <a:pPr marL="1053750" lvl="1" indent="-530049">
              <a:buFont typeface="Arial" pitchFamily="34" charset="0"/>
              <a:buChar char="•"/>
              <a:defRPr/>
            </a:pPr>
            <a:r>
              <a:rPr lang="ms-MY" sz="4400" dirty="0" err="1">
                <a:latin typeface="Times New Roman" panose="02020603050405020304" pitchFamily="18" charset="0"/>
                <a:cs typeface="Times New Roman" panose="02020603050405020304" pitchFamily="18" charset="0"/>
              </a:rPr>
              <a:t>Explain</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exception</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concepts</a:t>
            </a:r>
            <a:r>
              <a:rPr lang="ms-MY" sz="4400" dirty="0">
                <a:latin typeface="Times New Roman" panose="02020603050405020304" pitchFamily="18" charset="0"/>
                <a:cs typeface="Times New Roman" panose="02020603050405020304" pitchFamily="18" charset="0"/>
              </a:rPr>
              <a:t> (A1)</a:t>
            </a:r>
          </a:p>
          <a:p>
            <a:pPr marL="1053750" lvl="1" indent="-530049">
              <a:buFont typeface="Arial" pitchFamily="34" charset="0"/>
              <a:buChar char="•"/>
              <a:defRPr/>
            </a:pPr>
            <a:r>
              <a:rPr lang="ms-MY" sz="4400" dirty="0" err="1">
                <a:latin typeface="Times New Roman" panose="02020603050405020304" pitchFamily="18" charset="0"/>
                <a:cs typeface="Times New Roman" panose="02020603050405020304" pitchFamily="18" charset="0"/>
              </a:rPr>
              <a:t>Analyze</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and</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solve</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problems</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using</a:t>
            </a:r>
            <a:r>
              <a:rPr lang="ms-MY" sz="4400" dirty="0">
                <a:latin typeface="Times New Roman" panose="02020603050405020304" pitchFamily="18" charset="0"/>
                <a:cs typeface="Times New Roman" panose="02020603050405020304" pitchFamily="18" charset="0"/>
              </a:rPr>
              <a:t> </a:t>
            </a:r>
            <a:r>
              <a:rPr lang="ms-MY" sz="4400" dirty="0" err="1">
                <a:latin typeface="Times New Roman" panose="02020603050405020304" pitchFamily="18" charset="0"/>
                <a:cs typeface="Times New Roman" panose="02020603050405020304" pitchFamily="18" charset="0"/>
              </a:rPr>
              <a:t>exceptions</a:t>
            </a:r>
            <a:r>
              <a:rPr lang="ms-MY" sz="4400" dirty="0">
                <a:latin typeface="Times New Roman" panose="02020603050405020304" pitchFamily="18" charset="0"/>
                <a:cs typeface="Times New Roman" panose="02020603050405020304" pitchFamily="18" charset="0"/>
              </a:rPr>
              <a:t> </a:t>
            </a:r>
            <a:r>
              <a:rPr lang="ms-MY" sz="4400">
                <a:latin typeface="Times New Roman" panose="02020603050405020304" pitchFamily="18" charset="0"/>
                <a:cs typeface="Times New Roman" panose="02020603050405020304" pitchFamily="18" charset="0"/>
              </a:rPr>
              <a:t>(P4, </a:t>
            </a:r>
            <a:r>
              <a:rPr lang="ms-MY" sz="4400" dirty="0">
                <a:latin typeface="Times New Roman" panose="02020603050405020304" pitchFamily="18" charset="0"/>
                <a:cs typeface="Times New Roman" panose="02020603050405020304" pitchFamily="18" charset="0"/>
              </a:rPr>
              <a:t>CTPS)</a:t>
            </a:r>
          </a:p>
        </p:txBody>
      </p:sp>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1B0B6E40-4B55-7943-9376-FFF18E8BA17C}"/>
              </a:ext>
            </a:extLst>
          </p:cNvPr>
          <p:cNvSpPr>
            <a:spLocks noGrp="1" noChangeArrowheads="1"/>
          </p:cNvSpPr>
          <p:nvPr>
            <p:ph type="title"/>
          </p:nvPr>
        </p:nvSpPr>
        <p:spPr>
          <a:xfrm>
            <a:off x="1039813" y="300039"/>
            <a:ext cx="11501438" cy="1400175"/>
          </a:xfrm>
        </p:spPr>
        <p:txBody>
          <a:bodyPr/>
          <a:lstStyle/>
          <a:p>
            <a:pPr algn="ctr"/>
            <a:r>
              <a:rPr lang="en-US" altLang="en-US" sz="5400" b="1" dirty="0">
                <a:solidFill>
                  <a:schemeClr val="tx1"/>
                </a:solidFill>
                <a:latin typeface="Times New Roman" panose="02020603050405020304" pitchFamily="18" charset="0"/>
                <a:cs typeface="Times New Roman" panose="02020603050405020304" pitchFamily="18" charset="0"/>
              </a:rPr>
              <a:t>Motivations</a:t>
            </a:r>
          </a:p>
        </p:txBody>
      </p:sp>
      <p:sp>
        <p:nvSpPr>
          <p:cNvPr id="16388" name="Rectangle 3">
            <a:extLst>
              <a:ext uri="{FF2B5EF4-FFF2-40B4-BE49-F238E27FC236}">
                <a16:creationId xmlns:a16="http://schemas.microsoft.com/office/drawing/2014/main" id="{54FE41F3-DAF1-7749-9E94-2A33A453C4C9}"/>
              </a:ext>
            </a:extLst>
          </p:cNvPr>
          <p:cNvSpPr>
            <a:spLocks noGrp="1" noChangeArrowheads="1"/>
          </p:cNvSpPr>
          <p:nvPr>
            <p:ph type="body" idx="1"/>
          </p:nvPr>
        </p:nvSpPr>
        <p:spPr>
          <a:xfrm>
            <a:off x="1239839" y="1800225"/>
            <a:ext cx="11301413" cy="4200525"/>
          </a:xfrm>
        </p:spPr>
        <p:txBody>
          <a:bodyPr/>
          <a:lstStyle/>
          <a:p>
            <a:pPr marL="0" indent="0" algn="just">
              <a:lnSpc>
                <a:spcPct val="95000"/>
              </a:lnSpc>
              <a:buNone/>
            </a:pPr>
            <a:r>
              <a:rPr lang="en-US" altLang="en-US" dirty="0">
                <a:latin typeface="Times New Roman" panose="02020603050405020304" pitchFamily="18" charset="0"/>
                <a:cs typeface="Times New Roman" panose="02020603050405020304" pitchFamily="18" charset="0"/>
              </a:rPr>
              <a:t>When a program runs into a runtime error, the program terminates abnormally. How can you handle the runtime error so that the program can continue to run or terminate gracefully? This is the subject we will introduce in this chapter.</a:t>
            </a:r>
          </a:p>
        </p:txBody>
      </p:sp>
      <p:sp>
        <p:nvSpPr>
          <p:cNvPr id="16389" name="Rectangle 7">
            <a:extLst>
              <a:ext uri="{FF2B5EF4-FFF2-40B4-BE49-F238E27FC236}">
                <a16:creationId xmlns:a16="http://schemas.microsoft.com/office/drawing/2014/main" id="{0BDC5D3D-CFD0-2E46-9BA1-6BDF2EE42FF2}"/>
              </a:ext>
            </a:extLst>
          </p:cNvPr>
          <p:cNvSpPr>
            <a:spLocks noChangeArrowheads="1"/>
          </p:cNvSpPr>
          <p:nvPr/>
        </p:nvSpPr>
        <p:spPr bwMode="auto">
          <a:xfrm>
            <a:off x="839788" y="-284676"/>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16390" name="Rectangle 8">
            <a:extLst>
              <a:ext uri="{FF2B5EF4-FFF2-40B4-BE49-F238E27FC236}">
                <a16:creationId xmlns:a16="http://schemas.microsoft.com/office/drawing/2014/main" id="{B721CF51-A227-8042-B3A0-511DE6491C0E}"/>
              </a:ext>
            </a:extLst>
          </p:cNvPr>
          <p:cNvSpPr>
            <a:spLocks noChangeArrowheads="1"/>
          </p:cNvSpPr>
          <p:nvPr/>
        </p:nvSpPr>
        <p:spPr bwMode="auto">
          <a:xfrm>
            <a:off x="839787" y="1203992"/>
            <a:ext cx="383378" cy="292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300"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3100">
              <a:ea typeface="Times New Roman" panose="02020603050405020304" pitchFamily="18" charset="0"/>
              <a:cs typeface="Courier New" panose="02070309020205020404" pitchFamily="49" charset="0"/>
            </a:endParaRPr>
          </a:p>
        </p:txBody>
      </p:sp>
      <p:sp>
        <p:nvSpPr>
          <p:cNvPr id="16391" name="Rectangle 9">
            <a:extLst>
              <a:ext uri="{FF2B5EF4-FFF2-40B4-BE49-F238E27FC236}">
                <a16:creationId xmlns:a16="http://schemas.microsoft.com/office/drawing/2014/main" id="{9A88E681-E7FA-5249-A147-B8696EF13029}"/>
              </a:ext>
            </a:extLst>
          </p:cNvPr>
          <p:cNvSpPr>
            <a:spLocks noChangeArrowheads="1"/>
          </p:cNvSpPr>
          <p:nvPr/>
        </p:nvSpPr>
        <p:spPr bwMode="auto">
          <a:xfrm>
            <a:off x="839787" y="2725016"/>
            <a:ext cx="383378" cy="292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300">
                <a:latin typeface="Courier New" panose="02070309020205020404" pitchFamily="49" charset="0"/>
                <a:ea typeface="Times New Roman" panose="02020603050405020304" pitchFamily="18" charset="0"/>
                <a:cs typeface="Courier New" panose="02070309020205020404" pitchFamily="49" charset="0"/>
              </a:rPr>
              <a:t>  </a:t>
            </a:r>
            <a:endParaRPr lang="en-US" altLang="en-US" sz="3100">
              <a:ea typeface="Times New Roman" panose="02020603050405020304" pitchFamily="18" charset="0"/>
              <a:cs typeface="Courier New" panose="02070309020205020404" pitchFamily="49" charset="0"/>
            </a:endParaRPr>
          </a:p>
        </p:txBody>
      </p:sp>
      <p:sp>
        <p:nvSpPr>
          <p:cNvPr id="16392" name="Rectangle 10">
            <a:extLst>
              <a:ext uri="{FF2B5EF4-FFF2-40B4-BE49-F238E27FC236}">
                <a16:creationId xmlns:a16="http://schemas.microsoft.com/office/drawing/2014/main" id="{005AE2F5-DB89-9744-8FBB-4AEE8169C8D9}"/>
              </a:ext>
            </a:extLst>
          </p:cNvPr>
          <p:cNvSpPr>
            <a:spLocks noChangeArrowheads="1"/>
          </p:cNvSpPr>
          <p:nvPr/>
        </p:nvSpPr>
        <p:spPr bwMode="auto">
          <a:xfrm>
            <a:off x="839787" y="4235620"/>
            <a:ext cx="383378" cy="292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300"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3100">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2085522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0" y="4"/>
            <a:ext cx="13681075" cy="1159725"/>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Syntax Errors, Runtime Errors, and Logic Errors</a:t>
            </a:r>
          </a:p>
        </p:txBody>
      </p:sp>
      <p:sp>
        <p:nvSpPr>
          <p:cNvPr id="15364" name="Rectangle 3"/>
          <p:cNvSpPr>
            <a:spLocks noGrp="1" noChangeArrowheads="1"/>
          </p:cNvSpPr>
          <p:nvPr>
            <p:ph idx="1"/>
          </p:nvPr>
        </p:nvSpPr>
        <p:spPr>
          <a:xfrm>
            <a:off x="109823" y="1071568"/>
            <a:ext cx="13339241" cy="7429499"/>
          </a:xfrm>
          <a:noFill/>
        </p:spPr>
        <p:txBody>
          <a:bodyPr/>
          <a:lstStyle/>
          <a:p>
            <a:pPr marL="539498" indent="-456987">
              <a:spcBef>
                <a:spcPct val="0"/>
              </a:spcBef>
              <a:buFont typeface="Wingdings" pitchFamily="2" charset="2"/>
              <a:buChar char="ü"/>
            </a:pPr>
            <a:r>
              <a:rPr lang="en-US" sz="3500" dirty="0">
                <a:latin typeface="Times New Roman" panose="02020603050405020304" pitchFamily="18" charset="0"/>
                <a:cs typeface="Times New Roman" panose="02020603050405020304" pitchFamily="18" charset="0"/>
              </a:rPr>
              <a:t>You learned that there are three categories of errors: </a:t>
            </a:r>
          </a:p>
          <a:p>
            <a:pPr marL="1115492" lvl="1" indent="-456987">
              <a:spcBef>
                <a:spcPct val="0"/>
              </a:spcBef>
              <a:buFont typeface="Wingdings" pitchFamily="2" charset="2"/>
              <a:buChar char="ü"/>
            </a:pPr>
            <a:r>
              <a:rPr lang="en-US" sz="3500" dirty="0">
                <a:latin typeface="Times New Roman" panose="02020603050405020304" pitchFamily="18" charset="0"/>
                <a:cs typeface="Times New Roman" panose="02020603050405020304" pitchFamily="18" charset="0"/>
              </a:rPr>
              <a:t>syntax errors, </a:t>
            </a:r>
          </a:p>
          <a:p>
            <a:pPr marL="1115492" lvl="1" indent="-456987">
              <a:spcBef>
                <a:spcPct val="0"/>
              </a:spcBef>
              <a:buFont typeface="Wingdings" pitchFamily="2" charset="2"/>
              <a:buChar char="ü"/>
            </a:pPr>
            <a:r>
              <a:rPr lang="en-US" sz="3500" dirty="0">
                <a:latin typeface="Times New Roman" panose="02020603050405020304" pitchFamily="18" charset="0"/>
                <a:cs typeface="Times New Roman" panose="02020603050405020304" pitchFamily="18" charset="0"/>
              </a:rPr>
              <a:t>runtime errors, and </a:t>
            </a:r>
          </a:p>
          <a:p>
            <a:pPr marL="1115492" lvl="1" indent="-456987">
              <a:spcBef>
                <a:spcPct val="0"/>
              </a:spcBef>
              <a:buFont typeface="Wingdings" pitchFamily="2" charset="2"/>
              <a:buChar char="ü"/>
            </a:pPr>
            <a:r>
              <a:rPr lang="en-US" sz="3500" dirty="0">
                <a:latin typeface="Times New Roman" panose="02020603050405020304" pitchFamily="18" charset="0"/>
                <a:cs typeface="Times New Roman" panose="02020603050405020304" pitchFamily="18" charset="0"/>
              </a:rPr>
              <a:t>logic errors. </a:t>
            </a:r>
          </a:p>
          <a:p>
            <a:pPr marL="658506" lvl="1" indent="0">
              <a:spcBef>
                <a:spcPct val="0"/>
              </a:spcBef>
              <a:buNone/>
            </a:pPr>
            <a:endParaRPr lang="en-US" sz="3500" dirty="0">
              <a:latin typeface="Times New Roman" panose="02020603050405020304" pitchFamily="18" charset="0"/>
              <a:cs typeface="Times New Roman" panose="02020603050405020304" pitchFamily="18" charset="0"/>
            </a:endParaRPr>
          </a:p>
          <a:p>
            <a:pPr marL="539498" indent="-456987">
              <a:spcBef>
                <a:spcPct val="0"/>
              </a:spcBef>
              <a:buFont typeface="Wingdings" pitchFamily="2" charset="2"/>
              <a:buChar char="ü"/>
            </a:pPr>
            <a:r>
              <a:rPr lang="en-US" sz="3500" i="1" dirty="0">
                <a:latin typeface="Times New Roman" panose="02020603050405020304" pitchFamily="18" charset="0"/>
                <a:cs typeface="Times New Roman" panose="02020603050405020304" pitchFamily="18" charset="0"/>
              </a:rPr>
              <a:t>Syntax</a:t>
            </a:r>
            <a:r>
              <a:rPr lang="en-US" sz="3500" dirty="0">
                <a:latin typeface="Times New Roman" panose="02020603050405020304" pitchFamily="18" charset="0"/>
                <a:cs typeface="Times New Roman" panose="02020603050405020304" pitchFamily="18" charset="0"/>
              </a:rPr>
              <a:t> </a:t>
            </a:r>
            <a:r>
              <a:rPr lang="en-US" sz="3500" i="1" dirty="0">
                <a:latin typeface="Times New Roman" panose="02020603050405020304" pitchFamily="18" charset="0"/>
                <a:cs typeface="Times New Roman" panose="02020603050405020304" pitchFamily="18" charset="0"/>
              </a:rPr>
              <a:t>errors</a:t>
            </a:r>
            <a:r>
              <a:rPr lang="en-US" sz="3500" dirty="0">
                <a:latin typeface="Times New Roman" panose="02020603050405020304" pitchFamily="18" charset="0"/>
                <a:cs typeface="Times New Roman" panose="02020603050405020304" pitchFamily="18" charset="0"/>
              </a:rPr>
              <a:t> arise because the rules of the language have not been followed. They are detected by the compiler. </a:t>
            </a:r>
          </a:p>
          <a:p>
            <a:pPr marL="539498" indent="-456987">
              <a:spcBef>
                <a:spcPct val="0"/>
              </a:spcBef>
              <a:buFont typeface="Wingdings" pitchFamily="2" charset="2"/>
              <a:buChar char="ü"/>
            </a:pPr>
            <a:r>
              <a:rPr lang="en-US" sz="3500" i="1" dirty="0">
                <a:latin typeface="Times New Roman" panose="02020603050405020304" pitchFamily="18" charset="0"/>
                <a:cs typeface="Times New Roman" panose="02020603050405020304" pitchFamily="18" charset="0"/>
              </a:rPr>
              <a:t>Runtime errors</a:t>
            </a:r>
            <a:r>
              <a:rPr lang="en-US" sz="3500" dirty="0">
                <a:latin typeface="Times New Roman" panose="02020603050405020304" pitchFamily="18" charset="0"/>
                <a:cs typeface="Times New Roman" panose="02020603050405020304" pitchFamily="18" charset="0"/>
              </a:rPr>
              <a:t> occur while the program is running if the environment detects an operation that is impossible to carry out. </a:t>
            </a:r>
          </a:p>
          <a:p>
            <a:pPr marL="539498" indent="-456987">
              <a:spcBef>
                <a:spcPct val="0"/>
              </a:spcBef>
              <a:buFont typeface="Wingdings" pitchFamily="2" charset="2"/>
              <a:buChar char="ü"/>
            </a:pPr>
            <a:r>
              <a:rPr lang="en-US" sz="3500" i="1" dirty="0">
                <a:latin typeface="Times New Roman" panose="02020603050405020304" pitchFamily="18" charset="0"/>
                <a:cs typeface="Times New Roman" panose="02020603050405020304" pitchFamily="18" charset="0"/>
              </a:rPr>
              <a:t>Logic errors</a:t>
            </a:r>
            <a:r>
              <a:rPr lang="en-US" sz="3500" dirty="0">
                <a:latin typeface="Times New Roman" panose="02020603050405020304" pitchFamily="18" charset="0"/>
                <a:cs typeface="Times New Roman" panose="02020603050405020304" pitchFamily="18" charset="0"/>
              </a:rPr>
              <a:t> occur when a program doesn't perform the way it was intended to.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15364">
                                            <p:txEl>
                                              <p:pRg st="5" end="5"/>
                                            </p:txEl>
                                          </p:spTgt>
                                        </p:tgtEl>
                                        <p:attrNameLst>
                                          <p:attrName>style.visibility</p:attrName>
                                        </p:attrNameLst>
                                      </p:cBhvr>
                                      <p:to>
                                        <p:strVal val="visible"/>
                                      </p:to>
                                    </p:set>
                                    <p:anim calcmode="lin" valueType="num">
                                      <p:cBhvr>
                                        <p:cTn id="7" dur="500" fill="hold"/>
                                        <p:tgtEl>
                                          <p:spTgt spid="15364">
                                            <p:txEl>
                                              <p:pRg st="5" end="5"/>
                                            </p:txEl>
                                          </p:spTgt>
                                        </p:tgtEl>
                                        <p:attrNameLst>
                                          <p:attrName>ppt_w</p:attrName>
                                        </p:attrNameLst>
                                      </p:cBhvr>
                                      <p:tavLst>
                                        <p:tav tm="0">
                                          <p:val>
                                            <p:fltVal val="0"/>
                                          </p:val>
                                        </p:tav>
                                        <p:tav tm="100000">
                                          <p:val>
                                            <p:strVal val="#ppt_w"/>
                                          </p:val>
                                        </p:tav>
                                      </p:tavLst>
                                    </p:anim>
                                    <p:anim calcmode="lin" valueType="num">
                                      <p:cBhvr>
                                        <p:cTn id="8" dur="500" fill="hold"/>
                                        <p:tgtEl>
                                          <p:spTgt spid="15364">
                                            <p:txEl>
                                              <p:pRg st="5" end="5"/>
                                            </p:txEl>
                                          </p:spTgt>
                                        </p:tgtEl>
                                        <p:attrNameLst>
                                          <p:attrName>ppt_h</p:attrName>
                                        </p:attrNameLst>
                                      </p:cBhvr>
                                      <p:tavLst>
                                        <p:tav tm="0">
                                          <p:val>
                                            <p:fltVal val="0"/>
                                          </p:val>
                                        </p:tav>
                                        <p:tav tm="100000">
                                          <p:val>
                                            <p:strVal val="#ppt_h"/>
                                          </p:val>
                                        </p:tav>
                                      </p:tavLst>
                                    </p:anim>
                                    <p:animEffect transition="in" filter="fade">
                                      <p:cBhvr>
                                        <p:cTn id="9" dur="500"/>
                                        <p:tgtEl>
                                          <p:spTgt spid="15364">
                                            <p:txEl>
                                              <p:pRg st="5" end="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nodeType="clickEffect">
                                  <p:stCondLst>
                                    <p:cond delay="0"/>
                                  </p:stCondLst>
                                  <p:childTnLst>
                                    <p:set>
                                      <p:cBhvr>
                                        <p:cTn id="13" dur="1" fill="hold">
                                          <p:stCondLst>
                                            <p:cond delay="0"/>
                                          </p:stCondLst>
                                        </p:cTn>
                                        <p:tgtEl>
                                          <p:spTgt spid="15364">
                                            <p:txEl>
                                              <p:pRg st="6" end="6"/>
                                            </p:txEl>
                                          </p:spTgt>
                                        </p:tgtEl>
                                        <p:attrNameLst>
                                          <p:attrName>style.visibility</p:attrName>
                                        </p:attrNameLst>
                                      </p:cBhvr>
                                      <p:to>
                                        <p:strVal val="visible"/>
                                      </p:to>
                                    </p:set>
                                    <p:animEffect transition="in" filter="slide(fromBottom)">
                                      <p:cBhvr>
                                        <p:cTn id="14" dur="500"/>
                                        <p:tgtEl>
                                          <p:spTgt spid="15364">
                                            <p:txEl>
                                              <p:pRg st="6" end="6"/>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5364">
                                            <p:txEl>
                                              <p:pRg st="7" end="7"/>
                                            </p:txEl>
                                          </p:spTgt>
                                        </p:tgtEl>
                                        <p:attrNameLst>
                                          <p:attrName>style.visibility</p:attrName>
                                        </p:attrNameLst>
                                      </p:cBhvr>
                                      <p:to>
                                        <p:strVal val="visible"/>
                                      </p:to>
                                    </p:set>
                                    <p:animEffect transition="in" filter="slide(fromBottom)">
                                      <p:cBhvr>
                                        <p:cTn id="19" dur="500"/>
                                        <p:tgtEl>
                                          <p:spTgt spid="1536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5A7D854A-235C-3E4A-8977-DD64FE46157B}"/>
              </a:ext>
            </a:extLst>
          </p:cNvPr>
          <p:cNvSpPr>
            <a:spLocks noGrp="1" noChangeArrowheads="1"/>
          </p:cNvSpPr>
          <p:nvPr>
            <p:ph type="title"/>
          </p:nvPr>
        </p:nvSpPr>
        <p:spPr>
          <a:xfrm>
            <a:off x="1239839" y="500063"/>
            <a:ext cx="11201400" cy="800100"/>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Exception-Handling Overview </a:t>
            </a:r>
          </a:p>
        </p:txBody>
      </p:sp>
      <p:sp>
        <p:nvSpPr>
          <p:cNvPr id="18436" name="Text Box 11">
            <a:extLst>
              <a:ext uri="{FF2B5EF4-FFF2-40B4-BE49-F238E27FC236}">
                <a16:creationId xmlns:a16="http://schemas.microsoft.com/office/drawing/2014/main" id="{3C28EF20-F0BF-F745-AACC-B9E73E9D55D4}"/>
              </a:ext>
            </a:extLst>
          </p:cNvPr>
          <p:cNvSpPr txBox="1">
            <a:spLocks noChangeArrowheads="1"/>
          </p:cNvSpPr>
          <p:nvPr/>
        </p:nvSpPr>
        <p:spPr bwMode="auto">
          <a:xfrm>
            <a:off x="1339851" y="1700214"/>
            <a:ext cx="11201400" cy="76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4400"/>
              <a:t>Show runtime error</a:t>
            </a:r>
          </a:p>
        </p:txBody>
      </p:sp>
      <p:sp>
        <p:nvSpPr>
          <p:cNvPr id="18437" name="Text Box 12">
            <a:extLst>
              <a:ext uri="{FF2B5EF4-FFF2-40B4-BE49-F238E27FC236}">
                <a16:creationId xmlns:a16="http://schemas.microsoft.com/office/drawing/2014/main" id="{B452FE2C-454B-134D-8577-2A2D4586D8DC}"/>
              </a:ext>
            </a:extLst>
          </p:cNvPr>
          <p:cNvSpPr txBox="1">
            <a:spLocks noChangeArrowheads="1"/>
          </p:cNvSpPr>
          <p:nvPr/>
        </p:nvSpPr>
        <p:spPr bwMode="auto">
          <a:xfrm>
            <a:off x="1339851" y="3700464"/>
            <a:ext cx="11201400" cy="76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4400"/>
              <a:t>Fix it using an if statement</a:t>
            </a:r>
          </a:p>
        </p:txBody>
      </p:sp>
      <p:sp>
        <p:nvSpPr>
          <p:cNvPr id="18438" name="Text Box 13">
            <a:extLst>
              <a:ext uri="{FF2B5EF4-FFF2-40B4-BE49-F238E27FC236}">
                <a16:creationId xmlns:a16="http://schemas.microsoft.com/office/drawing/2014/main" id="{97A8B382-ACCE-DB42-817B-122525BEC418}"/>
              </a:ext>
            </a:extLst>
          </p:cNvPr>
          <p:cNvSpPr txBox="1">
            <a:spLocks noChangeArrowheads="1"/>
          </p:cNvSpPr>
          <p:nvPr/>
        </p:nvSpPr>
        <p:spPr bwMode="auto">
          <a:xfrm>
            <a:off x="1339851" y="5800726"/>
            <a:ext cx="11201400" cy="76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4400" dirty="0"/>
              <a:t>With a method</a:t>
            </a:r>
          </a:p>
        </p:txBody>
      </p:sp>
      <p:sp>
        <p:nvSpPr>
          <p:cNvPr id="18439" name="AutoShape 10">
            <a:hlinkClick r:id="rId3" action="ppaction://program" highlightClick="1"/>
            <a:extLst>
              <a:ext uri="{FF2B5EF4-FFF2-40B4-BE49-F238E27FC236}">
                <a16:creationId xmlns:a16="http://schemas.microsoft.com/office/drawing/2014/main" id="{6908664F-495F-B144-A09A-49AE8B629CC9}"/>
              </a:ext>
            </a:extLst>
          </p:cNvPr>
          <p:cNvSpPr>
            <a:spLocks noChangeArrowheads="1"/>
          </p:cNvSpPr>
          <p:nvPr/>
        </p:nvSpPr>
        <p:spPr bwMode="auto">
          <a:xfrm>
            <a:off x="5040312" y="2700341"/>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18440" name="Rectangle 16">
            <a:hlinkClick r:id="rId4"/>
            <a:extLst>
              <a:ext uri="{FF2B5EF4-FFF2-40B4-BE49-F238E27FC236}">
                <a16:creationId xmlns:a16="http://schemas.microsoft.com/office/drawing/2014/main" id="{185EAE93-06B4-6144-AA47-317630D468B3}"/>
              </a:ext>
            </a:extLst>
          </p:cNvPr>
          <p:cNvSpPr>
            <a:spLocks noChangeArrowheads="1"/>
          </p:cNvSpPr>
          <p:nvPr/>
        </p:nvSpPr>
        <p:spPr bwMode="auto">
          <a:xfrm>
            <a:off x="1887838" y="2673251"/>
            <a:ext cx="291494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Quotient</a:t>
            </a:r>
          </a:p>
        </p:txBody>
      </p:sp>
      <p:sp>
        <p:nvSpPr>
          <p:cNvPr id="18441" name="AutoShape 10">
            <a:hlinkClick r:id="rId5" action="ppaction://program" highlightClick="1"/>
            <a:extLst>
              <a:ext uri="{FF2B5EF4-FFF2-40B4-BE49-F238E27FC236}">
                <a16:creationId xmlns:a16="http://schemas.microsoft.com/office/drawing/2014/main" id="{9F4D5601-35C2-5247-A35A-F639882AE0CB}"/>
              </a:ext>
            </a:extLst>
          </p:cNvPr>
          <p:cNvSpPr>
            <a:spLocks noChangeArrowheads="1"/>
          </p:cNvSpPr>
          <p:nvPr/>
        </p:nvSpPr>
        <p:spPr bwMode="auto">
          <a:xfrm>
            <a:off x="5040312" y="4600577"/>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18442" name="Rectangle 18">
            <a:hlinkClick r:id="rId6"/>
            <a:extLst>
              <a:ext uri="{FF2B5EF4-FFF2-40B4-BE49-F238E27FC236}">
                <a16:creationId xmlns:a16="http://schemas.microsoft.com/office/drawing/2014/main" id="{DDDCC307-2A4C-4040-9167-3E46DF9A2550}"/>
              </a:ext>
            </a:extLst>
          </p:cNvPr>
          <p:cNvSpPr>
            <a:spLocks noChangeArrowheads="1"/>
          </p:cNvSpPr>
          <p:nvPr/>
        </p:nvSpPr>
        <p:spPr bwMode="auto">
          <a:xfrm>
            <a:off x="1887838" y="4573490"/>
            <a:ext cx="291494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QuotientWithIf</a:t>
            </a:r>
          </a:p>
        </p:txBody>
      </p:sp>
      <p:sp>
        <p:nvSpPr>
          <p:cNvPr id="18443" name="AutoShape 10">
            <a:hlinkClick r:id="rId7" action="ppaction://program" highlightClick="1"/>
            <a:extLst>
              <a:ext uri="{FF2B5EF4-FFF2-40B4-BE49-F238E27FC236}">
                <a16:creationId xmlns:a16="http://schemas.microsoft.com/office/drawing/2014/main" id="{730E919D-1D5D-7142-B35E-9C24E2C81DAE}"/>
              </a:ext>
            </a:extLst>
          </p:cNvPr>
          <p:cNvSpPr>
            <a:spLocks noChangeArrowheads="1"/>
          </p:cNvSpPr>
          <p:nvPr/>
        </p:nvSpPr>
        <p:spPr bwMode="auto">
          <a:xfrm>
            <a:off x="5471617" y="6800852"/>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18444" name="Rectangle 20">
            <a:hlinkClick r:id="rId8"/>
            <a:extLst>
              <a:ext uri="{FF2B5EF4-FFF2-40B4-BE49-F238E27FC236}">
                <a16:creationId xmlns:a16="http://schemas.microsoft.com/office/drawing/2014/main" id="{6FD5EA4C-3114-2C45-ACD5-DB1CD3EBD3B9}"/>
              </a:ext>
            </a:extLst>
          </p:cNvPr>
          <p:cNvSpPr>
            <a:spLocks noChangeArrowheads="1"/>
          </p:cNvSpPr>
          <p:nvPr/>
        </p:nvSpPr>
        <p:spPr bwMode="auto">
          <a:xfrm>
            <a:off x="1883669" y="6773765"/>
            <a:ext cx="3350420"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QuotientWithMethod</a:t>
            </a:r>
          </a:p>
        </p:txBody>
      </p:sp>
    </p:spTree>
    <p:extLst>
      <p:ext uri="{BB962C8B-B14F-4D97-AF65-F5344CB8AC3E}">
        <p14:creationId xmlns:p14="http://schemas.microsoft.com/office/powerpoint/2010/main" val="3071478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DD68639A-AAB0-E144-9E95-F34F56AAF075}"/>
              </a:ext>
            </a:extLst>
          </p:cNvPr>
          <p:cNvSpPr>
            <a:spLocks noGrp="1" noChangeArrowheads="1"/>
          </p:cNvSpPr>
          <p:nvPr>
            <p:ph type="title"/>
          </p:nvPr>
        </p:nvSpPr>
        <p:spPr>
          <a:xfrm>
            <a:off x="1239839" y="500063"/>
            <a:ext cx="11201400" cy="800100"/>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Exception Advantages</a:t>
            </a:r>
          </a:p>
        </p:txBody>
      </p:sp>
      <p:sp>
        <p:nvSpPr>
          <p:cNvPr id="19460" name="Text Box 9">
            <a:extLst>
              <a:ext uri="{FF2B5EF4-FFF2-40B4-BE49-F238E27FC236}">
                <a16:creationId xmlns:a16="http://schemas.microsoft.com/office/drawing/2014/main" id="{769598C9-CF8F-104B-9BBB-79C6EB3465B0}"/>
              </a:ext>
            </a:extLst>
          </p:cNvPr>
          <p:cNvSpPr txBox="1">
            <a:spLocks noChangeArrowheads="1"/>
          </p:cNvSpPr>
          <p:nvPr/>
        </p:nvSpPr>
        <p:spPr bwMode="auto">
          <a:xfrm>
            <a:off x="1239839" y="3700464"/>
            <a:ext cx="11201400" cy="255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spcBef>
                <a:spcPct val="50000"/>
              </a:spcBef>
            </a:pPr>
            <a:r>
              <a:rPr lang="en-US" altLang="en-US" sz="4000" dirty="0"/>
              <a:t>Now you see the </a:t>
            </a:r>
            <a:r>
              <a:rPr lang="en-US" altLang="en-US" sz="4000" i="1" dirty="0"/>
              <a:t>advantages</a:t>
            </a:r>
            <a:r>
              <a:rPr lang="en-US" altLang="en-US" sz="4000" dirty="0"/>
              <a:t> of using exception handling. It enables a method to throw an exception to its caller. Without this capability, a method must handle the exception or terminate the program.</a:t>
            </a:r>
          </a:p>
        </p:txBody>
      </p:sp>
      <p:sp>
        <p:nvSpPr>
          <p:cNvPr id="19461" name="AutoShape 10">
            <a:hlinkClick r:id="rId3" action="ppaction://program" highlightClick="1"/>
            <a:extLst>
              <a:ext uri="{FF2B5EF4-FFF2-40B4-BE49-F238E27FC236}">
                <a16:creationId xmlns:a16="http://schemas.microsoft.com/office/drawing/2014/main" id="{6F48C897-DB1C-3A42-BDCC-3DC733859D30}"/>
              </a:ext>
            </a:extLst>
          </p:cNvPr>
          <p:cNvSpPr>
            <a:spLocks noChangeArrowheads="1"/>
          </p:cNvSpPr>
          <p:nvPr/>
        </p:nvSpPr>
        <p:spPr bwMode="auto">
          <a:xfrm>
            <a:off x="6240463" y="2400302"/>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19462" name="Rectangle 8">
            <a:hlinkClick r:id="rId4"/>
            <a:extLst>
              <a:ext uri="{FF2B5EF4-FFF2-40B4-BE49-F238E27FC236}">
                <a16:creationId xmlns:a16="http://schemas.microsoft.com/office/drawing/2014/main" id="{3A5EF83A-CAAC-4F42-97F0-FFEF628148E4}"/>
              </a:ext>
            </a:extLst>
          </p:cNvPr>
          <p:cNvSpPr>
            <a:spLocks noChangeArrowheads="1"/>
          </p:cNvSpPr>
          <p:nvPr/>
        </p:nvSpPr>
        <p:spPr bwMode="auto">
          <a:xfrm>
            <a:off x="2108698" y="2373215"/>
            <a:ext cx="3894236"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QuotientWithException</a:t>
            </a:r>
          </a:p>
        </p:txBody>
      </p:sp>
    </p:spTree>
    <p:extLst>
      <p:ext uri="{BB962C8B-B14F-4D97-AF65-F5344CB8AC3E}">
        <p14:creationId xmlns:p14="http://schemas.microsoft.com/office/powerpoint/2010/main" val="1699813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4AC4D748-7461-D043-A0AE-D44A1D115455}"/>
              </a:ext>
            </a:extLst>
          </p:cNvPr>
          <p:cNvSpPr>
            <a:spLocks noGrp="1" noChangeArrowheads="1"/>
          </p:cNvSpPr>
          <p:nvPr>
            <p:ph type="title"/>
          </p:nvPr>
        </p:nvSpPr>
        <p:spPr>
          <a:xfrm>
            <a:off x="1239839" y="500063"/>
            <a:ext cx="11201400" cy="800100"/>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Handling </a:t>
            </a:r>
            <a:r>
              <a:rPr lang="en-US" altLang="en-US" b="1" dirty="0" err="1">
                <a:solidFill>
                  <a:schemeClr val="tx1"/>
                </a:solidFill>
                <a:latin typeface="Times New Roman" panose="02020603050405020304" pitchFamily="18" charset="0"/>
                <a:cs typeface="Times New Roman" panose="02020603050405020304" pitchFamily="18" charset="0"/>
              </a:rPr>
              <a:t>InputMismatchException</a:t>
            </a:r>
            <a:endParaRPr lang="en-US" altLang="en-US" b="1" dirty="0">
              <a:solidFill>
                <a:schemeClr val="tx1"/>
              </a:solidFill>
              <a:latin typeface="Times New Roman" panose="02020603050405020304" pitchFamily="18" charset="0"/>
              <a:cs typeface="Times New Roman" panose="02020603050405020304" pitchFamily="18" charset="0"/>
            </a:endParaRPr>
          </a:p>
        </p:txBody>
      </p:sp>
      <p:sp>
        <p:nvSpPr>
          <p:cNvPr id="20484" name="Text Box 5">
            <a:extLst>
              <a:ext uri="{FF2B5EF4-FFF2-40B4-BE49-F238E27FC236}">
                <a16:creationId xmlns:a16="http://schemas.microsoft.com/office/drawing/2014/main" id="{02BB387B-BB34-174E-A70B-22852A4D60D1}"/>
              </a:ext>
            </a:extLst>
          </p:cNvPr>
          <p:cNvSpPr txBox="1">
            <a:spLocks noChangeArrowheads="1"/>
          </p:cNvSpPr>
          <p:nvPr/>
        </p:nvSpPr>
        <p:spPr bwMode="auto">
          <a:xfrm>
            <a:off x="1239839" y="3700466"/>
            <a:ext cx="11201400" cy="1323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4000" dirty="0"/>
              <a:t>By handling </a:t>
            </a:r>
            <a:r>
              <a:rPr lang="en-US" altLang="en-US" sz="4000" dirty="0" err="1"/>
              <a:t>InputMismatchException</a:t>
            </a:r>
            <a:r>
              <a:rPr lang="en-US" altLang="en-US" sz="4000" dirty="0"/>
              <a:t>, your program will continuously read an input until it is correct.</a:t>
            </a:r>
          </a:p>
        </p:txBody>
      </p:sp>
      <p:sp>
        <p:nvSpPr>
          <p:cNvPr id="20485" name="AutoShape 10">
            <a:hlinkClick r:id="rId3" action="ppaction://program" highlightClick="1"/>
            <a:extLst>
              <a:ext uri="{FF2B5EF4-FFF2-40B4-BE49-F238E27FC236}">
                <a16:creationId xmlns:a16="http://schemas.microsoft.com/office/drawing/2014/main" id="{6FDDA352-2619-D041-8305-0F8B14BD58B4}"/>
              </a:ext>
            </a:extLst>
          </p:cNvPr>
          <p:cNvSpPr>
            <a:spLocks noChangeArrowheads="1"/>
          </p:cNvSpPr>
          <p:nvPr/>
        </p:nvSpPr>
        <p:spPr bwMode="auto">
          <a:xfrm>
            <a:off x="7419776" y="2400302"/>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20486" name="Rectangle 8">
            <a:hlinkClick r:id="rId4"/>
            <a:extLst>
              <a:ext uri="{FF2B5EF4-FFF2-40B4-BE49-F238E27FC236}">
                <a16:creationId xmlns:a16="http://schemas.microsoft.com/office/drawing/2014/main" id="{3293AA1D-4ADF-664A-9E64-2B28F4E6394E}"/>
              </a:ext>
            </a:extLst>
          </p:cNvPr>
          <p:cNvSpPr>
            <a:spLocks noChangeArrowheads="1"/>
          </p:cNvSpPr>
          <p:nvPr/>
        </p:nvSpPr>
        <p:spPr bwMode="auto">
          <a:xfrm>
            <a:off x="2665018" y="2373215"/>
            <a:ext cx="451723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InputMismatchExceptionDemo</a:t>
            </a:r>
          </a:p>
        </p:txBody>
      </p:sp>
    </p:spTree>
    <p:extLst>
      <p:ext uri="{BB962C8B-B14F-4D97-AF65-F5344CB8AC3E}">
        <p14:creationId xmlns:p14="http://schemas.microsoft.com/office/powerpoint/2010/main" val="2988803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a:extLst>
              <a:ext uri="{FF2B5EF4-FFF2-40B4-BE49-F238E27FC236}">
                <a16:creationId xmlns:a16="http://schemas.microsoft.com/office/drawing/2014/main" id="{C0ECB285-253E-5843-BBF5-480C256072DC}"/>
              </a:ext>
            </a:extLst>
          </p:cNvPr>
          <p:cNvSpPr>
            <a:spLocks noGrp="1" noChangeArrowheads="1"/>
          </p:cNvSpPr>
          <p:nvPr>
            <p:ph type="title"/>
          </p:nvPr>
        </p:nvSpPr>
        <p:spPr>
          <a:xfrm>
            <a:off x="1739903" y="300036"/>
            <a:ext cx="10201275" cy="10751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Exception Types</a:t>
            </a:r>
          </a:p>
        </p:txBody>
      </p:sp>
      <p:sp>
        <p:nvSpPr>
          <p:cNvPr id="1029" name="Rectangle 10">
            <a:extLst>
              <a:ext uri="{FF2B5EF4-FFF2-40B4-BE49-F238E27FC236}">
                <a16:creationId xmlns:a16="http://schemas.microsoft.com/office/drawing/2014/main" id="{C3EC0DCA-8C5C-B748-9C43-12A0299BDF1B}"/>
              </a:ext>
            </a:extLst>
          </p:cNvPr>
          <p:cNvSpPr>
            <a:spLocks noChangeArrowheads="1"/>
          </p:cNvSpPr>
          <p:nvPr/>
        </p:nvSpPr>
        <p:spPr bwMode="auto">
          <a:xfrm>
            <a:off x="839788" y="2340652"/>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1026" name="Object 9">
            <a:extLst>
              <a:ext uri="{FF2B5EF4-FFF2-40B4-BE49-F238E27FC236}">
                <a16:creationId xmlns:a16="http://schemas.microsoft.com/office/drawing/2014/main" id="{93740F81-9758-4146-B570-40B32B62114A}"/>
              </a:ext>
            </a:extLst>
          </p:cNvPr>
          <p:cNvGraphicFramePr>
            <a:graphicFrameLocks noChangeAspect="1"/>
          </p:cNvGraphicFramePr>
          <p:nvPr>
            <p:extLst>
              <p:ext uri="{D42A27DB-BD31-4B8C-83A1-F6EECF244321}">
                <p14:modId xmlns:p14="http://schemas.microsoft.com/office/powerpoint/2010/main" val="301787954"/>
              </p:ext>
            </p:extLst>
          </p:nvPr>
        </p:nvGraphicFramePr>
        <p:xfrm>
          <a:off x="1039813" y="1820104"/>
          <a:ext cx="11601450" cy="5919491"/>
        </p:xfrm>
        <a:graphic>
          <a:graphicData uri="http://schemas.openxmlformats.org/presentationml/2006/ole">
            <mc:AlternateContent xmlns:mc="http://schemas.openxmlformats.org/markup-compatibility/2006">
              <mc:Choice xmlns:v="urn:schemas-microsoft-com:vml" Requires="v">
                <p:oleObj spid="_x0000_s20497" name="Picture" r:id="rId2" imgW="5608452" imgH="2853594" progId="Word.Picture.8">
                  <p:embed/>
                </p:oleObj>
              </mc:Choice>
              <mc:Fallback>
                <p:oleObj name="Picture" r:id="rId2" imgW="5608452" imgH="2853594" progId="Word.Picture.8">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13" y="1820104"/>
                        <a:ext cx="11601450" cy="591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71010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41B9D5E3-AE4E-8648-AA87-BD0253B5C2F8}"/>
              </a:ext>
            </a:extLst>
          </p:cNvPr>
          <p:cNvSpPr>
            <a:spLocks noGrp="1" noChangeArrowheads="1"/>
          </p:cNvSpPr>
          <p:nvPr>
            <p:ph type="title"/>
          </p:nvPr>
        </p:nvSpPr>
        <p:spPr>
          <a:xfrm>
            <a:off x="1739903" y="300036"/>
            <a:ext cx="10201275" cy="10751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System Errors</a:t>
            </a:r>
          </a:p>
        </p:txBody>
      </p:sp>
      <p:sp>
        <p:nvSpPr>
          <p:cNvPr id="2053" name="Rectangle 3">
            <a:extLst>
              <a:ext uri="{FF2B5EF4-FFF2-40B4-BE49-F238E27FC236}">
                <a16:creationId xmlns:a16="http://schemas.microsoft.com/office/drawing/2014/main" id="{8B675F83-2D95-8642-BFE7-07839744F31C}"/>
              </a:ext>
            </a:extLst>
          </p:cNvPr>
          <p:cNvSpPr>
            <a:spLocks noChangeArrowheads="1"/>
          </p:cNvSpPr>
          <p:nvPr/>
        </p:nvSpPr>
        <p:spPr bwMode="auto">
          <a:xfrm>
            <a:off x="839788" y="2340652"/>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2050" name="Object 4">
            <a:extLst>
              <a:ext uri="{FF2B5EF4-FFF2-40B4-BE49-F238E27FC236}">
                <a16:creationId xmlns:a16="http://schemas.microsoft.com/office/drawing/2014/main" id="{B5683827-70A0-A247-A39F-0210F500947C}"/>
              </a:ext>
            </a:extLst>
          </p:cNvPr>
          <p:cNvGraphicFramePr>
            <a:graphicFrameLocks noChangeAspect="1"/>
          </p:cNvGraphicFramePr>
          <p:nvPr>
            <p:extLst>
              <p:ext uri="{D42A27DB-BD31-4B8C-83A1-F6EECF244321}">
                <p14:modId xmlns:p14="http://schemas.microsoft.com/office/powerpoint/2010/main" val="1533511759"/>
              </p:ext>
            </p:extLst>
          </p:nvPr>
        </p:nvGraphicFramePr>
        <p:xfrm>
          <a:off x="1239837" y="1820104"/>
          <a:ext cx="11601450" cy="5919491"/>
        </p:xfrm>
        <a:graphic>
          <a:graphicData uri="http://schemas.openxmlformats.org/presentationml/2006/ole">
            <mc:AlternateContent xmlns:mc="http://schemas.openxmlformats.org/markup-compatibility/2006">
              <mc:Choice xmlns:v="urn:schemas-microsoft-com:vml" Requires="v">
                <p:oleObj spid="_x0000_s21521" name="Picture" r:id="rId2" imgW="5608452" imgH="2853594" progId="Word.Picture.8">
                  <p:embed/>
                </p:oleObj>
              </mc:Choice>
              <mc:Fallback>
                <p:oleObj name="Picture" r:id="rId2" imgW="5608452" imgH="2853594" progId="Word.Picture.8">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837" y="1820104"/>
                        <a:ext cx="11601450" cy="591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277" name="Rectangle 5">
            <a:extLst>
              <a:ext uri="{FF2B5EF4-FFF2-40B4-BE49-F238E27FC236}">
                <a16:creationId xmlns:a16="http://schemas.microsoft.com/office/drawing/2014/main" id="{725875EA-2474-EF46-B858-50DEF2F597F3}"/>
              </a:ext>
            </a:extLst>
          </p:cNvPr>
          <p:cNvSpPr>
            <a:spLocks noChangeArrowheads="1"/>
          </p:cNvSpPr>
          <p:nvPr/>
        </p:nvSpPr>
        <p:spPr bwMode="auto">
          <a:xfrm>
            <a:off x="4740276" y="5300663"/>
            <a:ext cx="4192192" cy="2400300"/>
          </a:xfrm>
          <a:prstGeom prst="rect">
            <a:avLst/>
          </a:prstGeom>
          <a:solidFill>
            <a:schemeClr val="bg1">
              <a:lumMod val="65000"/>
              <a:alpha val="18823"/>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310278" name="Text Box 6">
            <a:extLst>
              <a:ext uri="{FF2B5EF4-FFF2-40B4-BE49-F238E27FC236}">
                <a16:creationId xmlns:a16="http://schemas.microsoft.com/office/drawing/2014/main" id="{79695E2A-70D9-874F-80D1-9C819E43B509}"/>
              </a:ext>
            </a:extLst>
          </p:cNvPr>
          <p:cNvSpPr txBox="1">
            <a:spLocks noChangeArrowheads="1"/>
          </p:cNvSpPr>
          <p:nvPr/>
        </p:nvSpPr>
        <p:spPr bwMode="auto">
          <a:xfrm>
            <a:off x="890273" y="5414341"/>
            <a:ext cx="3900487" cy="267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2100" i="1" dirty="0">
                <a:cs typeface="Times New Roman" panose="02020603050405020304" pitchFamily="18" charset="0"/>
              </a:rPr>
              <a:t>System errors</a:t>
            </a:r>
            <a:r>
              <a:rPr lang="en-US" altLang="en-US" sz="2100" dirty="0">
                <a:cs typeface="Times New Roman" panose="02020603050405020304" pitchFamily="18" charset="0"/>
              </a:rPr>
              <a:t> are thrown by JVM and represented in the </a:t>
            </a:r>
            <a:r>
              <a:rPr lang="en-US" altLang="en-US" sz="2100" u="sng" dirty="0">
                <a:cs typeface="Times New Roman" panose="02020603050405020304" pitchFamily="18" charset="0"/>
              </a:rPr>
              <a:t>Error</a:t>
            </a:r>
            <a:r>
              <a:rPr lang="en-US" altLang="en-US" sz="2100" dirty="0">
                <a:cs typeface="Times New Roman" panose="02020603050405020304" pitchFamily="18" charset="0"/>
              </a:rPr>
              <a:t> class. The </a:t>
            </a:r>
            <a:r>
              <a:rPr lang="en-US" altLang="en-US" sz="2100" u="sng" dirty="0">
                <a:cs typeface="Times New Roman" panose="02020603050405020304" pitchFamily="18" charset="0"/>
              </a:rPr>
              <a:t>Error</a:t>
            </a:r>
            <a:r>
              <a:rPr lang="en-US" altLang="en-US" sz="2100" dirty="0">
                <a:cs typeface="Times New Roman" panose="02020603050405020304" pitchFamily="18" charset="0"/>
              </a:rPr>
              <a:t> class describes internal system errors. Such errors rarely occur. If one does, there is little you can do beyond notifying the user and trying to terminate the program gracefully. </a:t>
            </a:r>
            <a:endParaRPr lang="en-US" altLang="en-US" sz="2100" dirty="0"/>
          </a:p>
        </p:txBody>
      </p:sp>
    </p:spTree>
    <p:extLst>
      <p:ext uri="{BB962C8B-B14F-4D97-AF65-F5344CB8AC3E}">
        <p14:creationId xmlns:p14="http://schemas.microsoft.com/office/powerpoint/2010/main" val="3265960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10278"/>
                                        </p:tgtEl>
                                        <p:attrNameLst>
                                          <p:attrName>style.visibility</p:attrName>
                                        </p:attrNameLst>
                                      </p:cBhvr>
                                      <p:to>
                                        <p:strVal val="visible"/>
                                      </p:to>
                                    </p:set>
                                    <p:anim calcmode="lin" valueType="num">
                                      <p:cBhvr additive="base">
                                        <p:cTn id="7" dur="500" fill="hold"/>
                                        <p:tgtEl>
                                          <p:spTgt spid="310278"/>
                                        </p:tgtEl>
                                        <p:attrNameLst>
                                          <p:attrName>ppt_x</p:attrName>
                                        </p:attrNameLst>
                                      </p:cBhvr>
                                      <p:tavLst>
                                        <p:tav tm="0">
                                          <p:val>
                                            <p:strVal val="0-#ppt_w/2"/>
                                          </p:val>
                                        </p:tav>
                                        <p:tav tm="100000">
                                          <p:val>
                                            <p:strVal val="#ppt_x"/>
                                          </p:val>
                                        </p:tav>
                                      </p:tavLst>
                                    </p:anim>
                                    <p:anim calcmode="lin" valueType="num">
                                      <p:cBhvr additive="base">
                                        <p:cTn id="8" dur="500" fill="hold"/>
                                        <p:tgtEl>
                                          <p:spTgt spid="31027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0277"/>
                                        </p:tgtEl>
                                        <p:attrNameLst>
                                          <p:attrName>style.visibility</p:attrName>
                                        </p:attrNameLst>
                                      </p:cBhvr>
                                      <p:to>
                                        <p:strVal val="visible"/>
                                      </p:to>
                                    </p:set>
                                    <p:anim calcmode="lin" valueType="num">
                                      <p:cBhvr additive="base">
                                        <p:cTn id="11" dur="500" fill="hold"/>
                                        <p:tgtEl>
                                          <p:spTgt spid="310277"/>
                                        </p:tgtEl>
                                        <p:attrNameLst>
                                          <p:attrName>ppt_x</p:attrName>
                                        </p:attrNameLst>
                                      </p:cBhvr>
                                      <p:tavLst>
                                        <p:tav tm="0">
                                          <p:val>
                                            <p:strVal val="0-#ppt_w/2"/>
                                          </p:val>
                                        </p:tav>
                                        <p:tav tm="100000">
                                          <p:val>
                                            <p:strVal val="#ppt_x"/>
                                          </p:val>
                                        </p:tav>
                                      </p:tavLst>
                                    </p:anim>
                                    <p:anim calcmode="lin" valueType="num">
                                      <p:cBhvr additive="base">
                                        <p:cTn id="12" dur="500" fill="hold"/>
                                        <p:tgtEl>
                                          <p:spTgt spid="3102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7" grpId="0" animBg="1"/>
      <p:bldP spid="31027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a:extLst>
              <a:ext uri="{FF2B5EF4-FFF2-40B4-BE49-F238E27FC236}">
                <a16:creationId xmlns:a16="http://schemas.microsoft.com/office/drawing/2014/main" id="{BF210606-9814-DD41-AF8B-2D389A25EA86}"/>
              </a:ext>
            </a:extLst>
          </p:cNvPr>
          <p:cNvSpPr>
            <a:spLocks noGrp="1" noChangeArrowheads="1"/>
          </p:cNvSpPr>
          <p:nvPr>
            <p:ph type="title"/>
          </p:nvPr>
        </p:nvSpPr>
        <p:spPr>
          <a:xfrm>
            <a:off x="1739903" y="300036"/>
            <a:ext cx="10201275" cy="10751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Exceptions</a:t>
            </a:r>
          </a:p>
        </p:txBody>
      </p:sp>
      <p:sp>
        <p:nvSpPr>
          <p:cNvPr id="3077" name="Rectangle 3">
            <a:extLst>
              <a:ext uri="{FF2B5EF4-FFF2-40B4-BE49-F238E27FC236}">
                <a16:creationId xmlns:a16="http://schemas.microsoft.com/office/drawing/2014/main" id="{E039A254-27F9-824F-8E64-D51D98BD1532}"/>
              </a:ext>
            </a:extLst>
          </p:cNvPr>
          <p:cNvSpPr>
            <a:spLocks noChangeArrowheads="1"/>
          </p:cNvSpPr>
          <p:nvPr/>
        </p:nvSpPr>
        <p:spPr bwMode="auto">
          <a:xfrm>
            <a:off x="839788" y="2340652"/>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3074" name="Object 4">
            <a:extLst>
              <a:ext uri="{FF2B5EF4-FFF2-40B4-BE49-F238E27FC236}">
                <a16:creationId xmlns:a16="http://schemas.microsoft.com/office/drawing/2014/main" id="{85C96DA6-589D-4A4C-86B6-A39AE576DE2F}"/>
              </a:ext>
            </a:extLst>
          </p:cNvPr>
          <p:cNvGraphicFramePr>
            <a:graphicFrameLocks noChangeAspect="1"/>
          </p:cNvGraphicFramePr>
          <p:nvPr/>
        </p:nvGraphicFramePr>
        <p:xfrm>
          <a:off x="1039813" y="1800226"/>
          <a:ext cx="11601450" cy="5919491"/>
        </p:xfrm>
        <a:graphic>
          <a:graphicData uri="http://schemas.openxmlformats.org/presentationml/2006/ole">
            <mc:AlternateContent xmlns:mc="http://schemas.openxmlformats.org/markup-compatibility/2006">
              <mc:Choice xmlns:v="urn:schemas-microsoft-com:vml" Requires="v">
                <p:oleObj spid="_x0000_s22545" name="Picture" r:id="rId2" imgW="5608452" imgH="2853594" progId="Word.Picture.8">
                  <p:embed/>
                </p:oleObj>
              </mc:Choice>
              <mc:Fallback>
                <p:oleObj name="Picture" r:id="rId2" imgW="5608452" imgH="2853594" progId="Word.Picture.8">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13" y="1800226"/>
                        <a:ext cx="11601450" cy="591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1301" name="Text Box 5">
            <a:extLst>
              <a:ext uri="{FF2B5EF4-FFF2-40B4-BE49-F238E27FC236}">
                <a16:creationId xmlns:a16="http://schemas.microsoft.com/office/drawing/2014/main" id="{E5AE05D4-FFEB-E345-8C16-4FA88B5765FD}"/>
              </a:ext>
            </a:extLst>
          </p:cNvPr>
          <p:cNvSpPr txBox="1">
            <a:spLocks noChangeArrowheads="1"/>
          </p:cNvSpPr>
          <p:nvPr/>
        </p:nvSpPr>
        <p:spPr bwMode="auto">
          <a:xfrm>
            <a:off x="839789" y="1600199"/>
            <a:ext cx="3500439" cy="2308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u="sng" dirty="0">
                <a:cs typeface="Times New Roman" panose="02020603050405020304" pitchFamily="18" charset="0"/>
              </a:rPr>
              <a:t>Exception</a:t>
            </a:r>
            <a:r>
              <a:rPr lang="en-US" altLang="en-US" dirty="0">
                <a:cs typeface="Times New Roman" panose="02020603050405020304" pitchFamily="18" charset="0"/>
              </a:rPr>
              <a:t> describes errors caused by your program and external circumstances. These errors can be caught and handled by your program</a:t>
            </a:r>
            <a:r>
              <a:rPr lang="en-US" altLang="en-US" dirty="0">
                <a:solidFill>
                  <a:schemeClr val="bg2"/>
                </a:solidFill>
                <a:cs typeface="Times New Roman" panose="02020603050405020304" pitchFamily="18" charset="0"/>
              </a:rPr>
              <a:t>. </a:t>
            </a:r>
            <a:endParaRPr lang="en-US" altLang="en-US" dirty="0">
              <a:solidFill>
                <a:schemeClr val="bg2"/>
              </a:solidFill>
            </a:endParaRPr>
          </a:p>
        </p:txBody>
      </p:sp>
      <p:sp>
        <p:nvSpPr>
          <p:cNvPr id="311302" name="Rectangle 6">
            <a:extLst>
              <a:ext uri="{FF2B5EF4-FFF2-40B4-BE49-F238E27FC236}">
                <a16:creationId xmlns:a16="http://schemas.microsoft.com/office/drawing/2014/main" id="{BF2FAFAC-AD14-0E42-953F-ADAFD15C2A99}"/>
              </a:ext>
            </a:extLst>
          </p:cNvPr>
          <p:cNvSpPr>
            <a:spLocks noChangeArrowheads="1"/>
          </p:cNvSpPr>
          <p:nvPr/>
        </p:nvSpPr>
        <p:spPr bwMode="auto">
          <a:xfrm>
            <a:off x="4440237" y="1900239"/>
            <a:ext cx="8101013" cy="3800475"/>
          </a:xfrm>
          <a:prstGeom prst="rect">
            <a:avLst/>
          </a:prstGeom>
          <a:solidFill>
            <a:schemeClr val="bg1">
              <a:lumMod val="65000"/>
              <a:alpha val="18823"/>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2925794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11301"/>
                                        </p:tgtEl>
                                        <p:attrNameLst>
                                          <p:attrName>style.visibility</p:attrName>
                                        </p:attrNameLst>
                                      </p:cBhvr>
                                      <p:to>
                                        <p:strVal val="visible"/>
                                      </p:to>
                                    </p:set>
                                    <p:anim calcmode="lin" valueType="num">
                                      <p:cBhvr additive="base">
                                        <p:cTn id="7" dur="500" fill="hold"/>
                                        <p:tgtEl>
                                          <p:spTgt spid="311301"/>
                                        </p:tgtEl>
                                        <p:attrNameLst>
                                          <p:attrName>ppt_x</p:attrName>
                                        </p:attrNameLst>
                                      </p:cBhvr>
                                      <p:tavLst>
                                        <p:tav tm="0">
                                          <p:val>
                                            <p:strVal val="0-#ppt_w/2"/>
                                          </p:val>
                                        </p:tav>
                                        <p:tav tm="100000">
                                          <p:val>
                                            <p:strVal val="#ppt_x"/>
                                          </p:val>
                                        </p:tav>
                                      </p:tavLst>
                                    </p:anim>
                                    <p:anim calcmode="lin" valueType="num">
                                      <p:cBhvr additive="base">
                                        <p:cTn id="8" dur="500" fill="hold"/>
                                        <p:tgtEl>
                                          <p:spTgt spid="31130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1302"/>
                                        </p:tgtEl>
                                        <p:attrNameLst>
                                          <p:attrName>style.visibility</p:attrName>
                                        </p:attrNameLst>
                                      </p:cBhvr>
                                      <p:to>
                                        <p:strVal val="visible"/>
                                      </p:to>
                                    </p:set>
                                    <p:anim calcmode="lin" valueType="num">
                                      <p:cBhvr additive="base">
                                        <p:cTn id="11" dur="500" fill="hold"/>
                                        <p:tgtEl>
                                          <p:spTgt spid="311302"/>
                                        </p:tgtEl>
                                        <p:attrNameLst>
                                          <p:attrName>ppt_x</p:attrName>
                                        </p:attrNameLst>
                                      </p:cBhvr>
                                      <p:tavLst>
                                        <p:tav tm="0">
                                          <p:val>
                                            <p:strVal val="0-#ppt_w/2"/>
                                          </p:val>
                                        </p:tav>
                                        <p:tav tm="100000">
                                          <p:val>
                                            <p:strVal val="#ppt_x"/>
                                          </p:val>
                                        </p:tav>
                                      </p:tavLst>
                                    </p:anim>
                                    <p:anim calcmode="lin" valueType="num">
                                      <p:cBhvr additive="base">
                                        <p:cTn id="12" dur="500" fill="hold"/>
                                        <p:tgtEl>
                                          <p:spTgt spid="3113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01" grpId="0"/>
      <p:bldP spid="31130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a:extLst>
              <a:ext uri="{FF2B5EF4-FFF2-40B4-BE49-F238E27FC236}">
                <a16:creationId xmlns:a16="http://schemas.microsoft.com/office/drawing/2014/main" id="{0F33F781-A42D-B84F-BBDF-2CA209B961CC}"/>
              </a:ext>
            </a:extLst>
          </p:cNvPr>
          <p:cNvSpPr>
            <a:spLocks noGrp="1" noChangeArrowheads="1"/>
          </p:cNvSpPr>
          <p:nvPr>
            <p:ph type="title"/>
          </p:nvPr>
        </p:nvSpPr>
        <p:spPr>
          <a:xfrm>
            <a:off x="1739903" y="300036"/>
            <a:ext cx="10201275" cy="1075134"/>
          </a:xfrm>
        </p:spPr>
        <p:txBody>
          <a:bodyPr/>
          <a:lstStyle/>
          <a:p>
            <a:pPr algn="ctr"/>
            <a:r>
              <a:rPr lang="en-US" altLang="en-US" b="1">
                <a:solidFill>
                  <a:schemeClr val="tx1"/>
                </a:solidFill>
                <a:latin typeface="Times New Roman" panose="02020603050405020304" pitchFamily="18" charset="0"/>
                <a:cs typeface="Times New Roman" panose="02020603050405020304" pitchFamily="18" charset="0"/>
              </a:rPr>
              <a:t>Runtime Exceptions</a:t>
            </a:r>
          </a:p>
        </p:txBody>
      </p:sp>
      <p:sp>
        <p:nvSpPr>
          <p:cNvPr id="4101" name="Rectangle 3">
            <a:extLst>
              <a:ext uri="{FF2B5EF4-FFF2-40B4-BE49-F238E27FC236}">
                <a16:creationId xmlns:a16="http://schemas.microsoft.com/office/drawing/2014/main" id="{0D02A6BB-5DF4-7D4E-B7AE-533A693F9A48}"/>
              </a:ext>
            </a:extLst>
          </p:cNvPr>
          <p:cNvSpPr>
            <a:spLocks noChangeArrowheads="1"/>
          </p:cNvSpPr>
          <p:nvPr/>
        </p:nvSpPr>
        <p:spPr bwMode="auto">
          <a:xfrm>
            <a:off x="839788" y="2340652"/>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4098" name="Object 4">
            <a:extLst>
              <a:ext uri="{FF2B5EF4-FFF2-40B4-BE49-F238E27FC236}">
                <a16:creationId xmlns:a16="http://schemas.microsoft.com/office/drawing/2014/main" id="{E63E555E-CF06-1249-A128-7D74347E3978}"/>
              </a:ext>
            </a:extLst>
          </p:cNvPr>
          <p:cNvGraphicFramePr>
            <a:graphicFrameLocks noChangeAspect="1"/>
          </p:cNvGraphicFramePr>
          <p:nvPr/>
        </p:nvGraphicFramePr>
        <p:xfrm>
          <a:off x="1039813" y="1800226"/>
          <a:ext cx="11601450" cy="5919491"/>
        </p:xfrm>
        <a:graphic>
          <a:graphicData uri="http://schemas.openxmlformats.org/presentationml/2006/ole">
            <mc:AlternateContent xmlns:mc="http://schemas.openxmlformats.org/markup-compatibility/2006">
              <mc:Choice xmlns:v="urn:schemas-microsoft-com:vml" Requires="v">
                <p:oleObj spid="_x0000_s23570" name="Picture" r:id="rId2" imgW="5608452" imgH="2853594" progId="Word.Picture.8">
                  <p:embed/>
                </p:oleObj>
              </mc:Choice>
              <mc:Fallback>
                <p:oleObj name="Picture" r:id="rId2" imgW="5608452" imgH="2853594" progId="Word.Picture.8">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13" y="1800226"/>
                        <a:ext cx="11601450" cy="591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2325" name="Text Box 5">
            <a:extLst>
              <a:ext uri="{FF2B5EF4-FFF2-40B4-BE49-F238E27FC236}">
                <a16:creationId xmlns:a16="http://schemas.microsoft.com/office/drawing/2014/main" id="{2FFBDF91-A435-6C4B-B480-DD23BFFE0959}"/>
              </a:ext>
            </a:extLst>
          </p:cNvPr>
          <p:cNvSpPr txBox="1">
            <a:spLocks noChangeArrowheads="1"/>
          </p:cNvSpPr>
          <p:nvPr/>
        </p:nvSpPr>
        <p:spPr bwMode="auto">
          <a:xfrm>
            <a:off x="8940803" y="6000749"/>
            <a:ext cx="3600449" cy="120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1800" dirty="0" err="1"/>
              <a:t>RuntimeException</a:t>
            </a:r>
            <a:r>
              <a:rPr lang="en-US" altLang="en-US" sz="1800" dirty="0"/>
              <a:t> is caused by programming errors, such as bad casting, accessing an array out-of-bounds, and numeric errors.</a:t>
            </a:r>
          </a:p>
        </p:txBody>
      </p:sp>
      <p:sp>
        <p:nvSpPr>
          <p:cNvPr id="312326" name="Rectangle 6">
            <a:extLst>
              <a:ext uri="{FF2B5EF4-FFF2-40B4-BE49-F238E27FC236}">
                <a16:creationId xmlns:a16="http://schemas.microsoft.com/office/drawing/2014/main" id="{9D7D9E37-C6BD-044C-ADC5-839A760187D5}"/>
              </a:ext>
            </a:extLst>
          </p:cNvPr>
          <p:cNvSpPr>
            <a:spLocks noChangeArrowheads="1"/>
          </p:cNvSpPr>
          <p:nvPr/>
        </p:nvSpPr>
        <p:spPr bwMode="auto">
          <a:xfrm>
            <a:off x="8640765" y="2500313"/>
            <a:ext cx="3600449" cy="3200400"/>
          </a:xfrm>
          <a:prstGeom prst="rect">
            <a:avLst/>
          </a:prstGeom>
          <a:solidFill>
            <a:schemeClr val="bg1">
              <a:lumMod val="65000"/>
              <a:alpha val="18823"/>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312327" name="Rectangle 7">
            <a:extLst>
              <a:ext uri="{FF2B5EF4-FFF2-40B4-BE49-F238E27FC236}">
                <a16:creationId xmlns:a16="http://schemas.microsoft.com/office/drawing/2014/main" id="{361D4FD4-9C44-814D-AFE8-BC7DC8F46075}"/>
              </a:ext>
            </a:extLst>
          </p:cNvPr>
          <p:cNvSpPr>
            <a:spLocks noChangeArrowheads="1"/>
          </p:cNvSpPr>
          <p:nvPr/>
        </p:nvSpPr>
        <p:spPr bwMode="auto">
          <a:xfrm>
            <a:off x="6440489" y="3600448"/>
            <a:ext cx="2200276" cy="700088"/>
          </a:xfrm>
          <a:prstGeom prst="rect">
            <a:avLst/>
          </a:prstGeom>
          <a:solidFill>
            <a:schemeClr val="bg1">
              <a:lumMod val="65000"/>
              <a:alpha val="18823"/>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2504575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12325"/>
                                        </p:tgtEl>
                                        <p:attrNameLst>
                                          <p:attrName>style.visibility</p:attrName>
                                        </p:attrNameLst>
                                      </p:cBhvr>
                                      <p:to>
                                        <p:strVal val="visible"/>
                                      </p:to>
                                    </p:set>
                                    <p:anim calcmode="lin" valueType="num">
                                      <p:cBhvr additive="base">
                                        <p:cTn id="7" dur="500" fill="hold"/>
                                        <p:tgtEl>
                                          <p:spTgt spid="312325"/>
                                        </p:tgtEl>
                                        <p:attrNameLst>
                                          <p:attrName>ppt_x</p:attrName>
                                        </p:attrNameLst>
                                      </p:cBhvr>
                                      <p:tavLst>
                                        <p:tav tm="0">
                                          <p:val>
                                            <p:strVal val="0-#ppt_w/2"/>
                                          </p:val>
                                        </p:tav>
                                        <p:tav tm="100000">
                                          <p:val>
                                            <p:strVal val="#ppt_x"/>
                                          </p:val>
                                        </p:tav>
                                      </p:tavLst>
                                    </p:anim>
                                    <p:anim calcmode="lin" valueType="num">
                                      <p:cBhvr additive="base">
                                        <p:cTn id="8" dur="500" fill="hold"/>
                                        <p:tgtEl>
                                          <p:spTgt spid="31232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2326"/>
                                        </p:tgtEl>
                                        <p:attrNameLst>
                                          <p:attrName>style.visibility</p:attrName>
                                        </p:attrNameLst>
                                      </p:cBhvr>
                                      <p:to>
                                        <p:strVal val="visible"/>
                                      </p:to>
                                    </p:set>
                                    <p:anim calcmode="lin" valueType="num">
                                      <p:cBhvr additive="base">
                                        <p:cTn id="11" dur="500" fill="hold"/>
                                        <p:tgtEl>
                                          <p:spTgt spid="312326"/>
                                        </p:tgtEl>
                                        <p:attrNameLst>
                                          <p:attrName>ppt_x</p:attrName>
                                        </p:attrNameLst>
                                      </p:cBhvr>
                                      <p:tavLst>
                                        <p:tav tm="0">
                                          <p:val>
                                            <p:strVal val="0-#ppt_w/2"/>
                                          </p:val>
                                        </p:tav>
                                        <p:tav tm="100000">
                                          <p:val>
                                            <p:strVal val="#ppt_x"/>
                                          </p:val>
                                        </p:tav>
                                      </p:tavLst>
                                    </p:anim>
                                    <p:anim calcmode="lin" valueType="num">
                                      <p:cBhvr additive="base">
                                        <p:cTn id="12" dur="500" fill="hold"/>
                                        <p:tgtEl>
                                          <p:spTgt spid="312326"/>
                                        </p:tgtEl>
                                        <p:attrNameLst>
                                          <p:attrName>ppt_y</p:attrName>
                                        </p:attrNameLst>
                                      </p:cBhvr>
                                      <p:tavLst>
                                        <p:tav tm="0">
                                          <p:val>
                                            <p:strVal val="#ppt_y"/>
                                          </p:val>
                                        </p:tav>
                                        <p:tav tm="100000">
                                          <p:val>
                                            <p:strVal val="#ppt_y"/>
                                          </p:val>
                                        </p:tav>
                                      </p:tavLst>
                                    </p:anim>
                                  </p:childTnLst>
                                </p:cTn>
                              </p:par>
                              <p:par>
                                <p:cTn id="13" presetID="2" presetClass="entr" presetSubtype="8" fill="hold" grpId="1" nodeType="withEffect">
                                  <p:stCondLst>
                                    <p:cond delay="0"/>
                                  </p:stCondLst>
                                  <p:childTnLst>
                                    <p:set>
                                      <p:cBhvr>
                                        <p:cTn id="14" dur="1" fill="hold">
                                          <p:stCondLst>
                                            <p:cond delay="0"/>
                                          </p:stCondLst>
                                        </p:cTn>
                                        <p:tgtEl>
                                          <p:spTgt spid="312325"/>
                                        </p:tgtEl>
                                        <p:attrNameLst>
                                          <p:attrName>style.visibility</p:attrName>
                                        </p:attrNameLst>
                                      </p:cBhvr>
                                      <p:to>
                                        <p:strVal val="visible"/>
                                      </p:to>
                                    </p:set>
                                    <p:anim calcmode="lin" valueType="num">
                                      <p:cBhvr additive="base">
                                        <p:cTn id="15" dur="500" fill="hold"/>
                                        <p:tgtEl>
                                          <p:spTgt spid="312325"/>
                                        </p:tgtEl>
                                        <p:attrNameLst>
                                          <p:attrName>ppt_x</p:attrName>
                                        </p:attrNameLst>
                                      </p:cBhvr>
                                      <p:tavLst>
                                        <p:tav tm="0">
                                          <p:val>
                                            <p:strVal val="0-#ppt_w/2"/>
                                          </p:val>
                                        </p:tav>
                                        <p:tav tm="100000">
                                          <p:val>
                                            <p:strVal val="#ppt_x"/>
                                          </p:val>
                                        </p:tav>
                                      </p:tavLst>
                                    </p:anim>
                                    <p:anim calcmode="lin" valueType="num">
                                      <p:cBhvr additive="base">
                                        <p:cTn id="16" dur="500" fill="hold"/>
                                        <p:tgtEl>
                                          <p:spTgt spid="31232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12327"/>
                                        </p:tgtEl>
                                        <p:attrNameLst>
                                          <p:attrName>style.visibility</p:attrName>
                                        </p:attrNameLst>
                                      </p:cBhvr>
                                      <p:to>
                                        <p:strVal val="visible"/>
                                      </p:to>
                                    </p:set>
                                    <p:anim calcmode="lin" valueType="num">
                                      <p:cBhvr additive="base">
                                        <p:cTn id="19" dur="500" fill="hold"/>
                                        <p:tgtEl>
                                          <p:spTgt spid="312327"/>
                                        </p:tgtEl>
                                        <p:attrNameLst>
                                          <p:attrName>ppt_x</p:attrName>
                                        </p:attrNameLst>
                                      </p:cBhvr>
                                      <p:tavLst>
                                        <p:tav tm="0">
                                          <p:val>
                                            <p:strVal val="0-#ppt_w/2"/>
                                          </p:val>
                                        </p:tav>
                                        <p:tav tm="100000">
                                          <p:val>
                                            <p:strVal val="#ppt_x"/>
                                          </p:val>
                                        </p:tav>
                                      </p:tavLst>
                                    </p:anim>
                                    <p:anim calcmode="lin" valueType="num">
                                      <p:cBhvr additive="base">
                                        <p:cTn id="20" dur="500" fill="hold"/>
                                        <p:tgtEl>
                                          <p:spTgt spid="3123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5" grpId="0"/>
      <p:bldP spid="312325" grpId="1"/>
      <p:bldP spid="312326" grpId="0" animBg="1"/>
      <p:bldP spid="3123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1AFEDE19-1BB5-2B42-AD78-43C5D1056974}"/>
              </a:ext>
            </a:extLst>
          </p:cNvPr>
          <p:cNvSpPr>
            <a:spLocks noGrp="1" noChangeArrowheads="1"/>
          </p:cNvSpPr>
          <p:nvPr>
            <p:ph type="title"/>
          </p:nvPr>
        </p:nvSpPr>
        <p:spPr>
          <a:xfrm>
            <a:off x="1739903" y="0"/>
            <a:ext cx="10201275" cy="18752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Checked Exceptions vs. Unchecked Exceptions</a:t>
            </a:r>
          </a:p>
        </p:txBody>
      </p:sp>
      <p:sp>
        <p:nvSpPr>
          <p:cNvPr id="21508" name="Rectangle 3">
            <a:extLst>
              <a:ext uri="{FF2B5EF4-FFF2-40B4-BE49-F238E27FC236}">
                <a16:creationId xmlns:a16="http://schemas.microsoft.com/office/drawing/2014/main" id="{1B5A8E98-657A-214D-8701-6EBE8AC75BB8}"/>
              </a:ext>
            </a:extLst>
          </p:cNvPr>
          <p:cNvSpPr>
            <a:spLocks noChangeArrowheads="1"/>
          </p:cNvSpPr>
          <p:nvPr/>
        </p:nvSpPr>
        <p:spPr bwMode="auto">
          <a:xfrm>
            <a:off x="3465116" y="3375422"/>
            <a:ext cx="1200150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21509" name="Text Box 4">
            <a:extLst>
              <a:ext uri="{FF2B5EF4-FFF2-40B4-BE49-F238E27FC236}">
                <a16:creationId xmlns:a16="http://schemas.microsoft.com/office/drawing/2014/main" id="{57B65190-71B8-2049-8009-E7BAE8B59E3E}"/>
              </a:ext>
            </a:extLst>
          </p:cNvPr>
          <p:cNvSpPr txBox="1">
            <a:spLocks noChangeArrowheads="1"/>
          </p:cNvSpPr>
          <p:nvPr/>
        </p:nvSpPr>
        <p:spPr bwMode="auto">
          <a:xfrm>
            <a:off x="1339851" y="2600326"/>
            <a:ext cx="11201400" cy="340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spcBef>
                <a:spcPct val="50000"/>
              </a:spcBef>
            </a:pPr>
            <a:r>
              <a:rPr lang="en-US" altLang="en-US" sz="4300" u="sng" dirty="0" err="1">
                <a:cs typeface="Times New Roman" panose="02020603050405020304" pitchFamily="18" charset="0"/>
              </a:rPr>
              <a:t>RuntimeException</a:t>
            </a:r>
            <a:r>
              <a:rPr lang="en-US" altLang="en-US" sz="4300" dirty="0">
                <a:cs typeface="Times New Roman" panose="02020603050405020304" pitchFamily="18" charset="0"/>
              </a:rPr>
              <a:t>, </a:t>
            </a:r>
            <a:r>
              <a:rPr lang="en-US" altLang="en-US" sz="4300" u="sng" dirty="0">
                <a:cs typeface="Times New Roman" panose="02020603050405020304" pitchFamily="18" charset="0"/>
              </a:rPr>
              <a:t>Error</a:t>
            </a:r>
            <a:r>
              <a:rPr lang="en-US" altLang="en-US" sz="4300" dirty="0">
                <a:cs typeface="Times New Roman" panose="02020603050405020304" pitchFamily="18" charset="0"/>
              </a:rPr>
              <a:t> and their subclasses are known as </a:t>
            </a:r>
            <a:r>
              <a:rPr lang="en-US" altLang="en-US" sz="4300" i="1" dirty="0">
                <a:cs typeface="Times New Roman" panose="02020603050405020304" pitchFamily="18" charset="0"/>
              </a:rPr>
              <a:t>unchecked</a:t>
            </a:r>
            <a:r>
              <a:rPr lang="en-US" altLang="en-US" sz="4300" dirty="0">
                <a:cs typeface="Times New Roman" panose="02020603050405020304" pitchFamily="18" charset="0"/>
              </a:rPr>
              <a:t> </a:t>
            </a:r>
            <a:r>
              <a:rPr lang="en-US" altLang="en-US" sz="4300" i="1" dirty="0">
                <a:cs typeface="Times New Roman" panose="02020603050405020304" pitchFamily="18" charset="0"/>
              </a:rPr>
              <a:t>exceptions</a:t>
            </a:r>
            <a:r>
              <a:rPr lang="en-US" altLang="en-US" sz="4300" dirty="0">
                <a:cs typeface="Times New Roman" panose="02020603050405020304" pitchFamily="18" charset="0"/>
              </a:rPr>
              <a:t>. All other exceptions are known as </a:t>
            </a:r>
            <a:r>
              <a:rPr lang="en-US" altLang="en-US" sz="4300" i="1" dirty="0">
                <a:cs typeface="Times New Roman" panose="02020603050405020304" pitchFamily="18" charset="0"/>
              </a:rPr>
              <a:t>checked exceptions</a:t>
            </a:r>
            <a:r>
              <a:rPr lang="en-US" altLang="en-US" sz="4300" dirty="0">
                <a:cs typeface="Times New Roman" panose="02020603050405020304" pitchFamily="18" charset="0"/>
              </a:rPr>
              <a:t>, meaning that the compiler forces the programmer to check and deal with the exceptions. </a:t>
            </a:r>
          </a:p>
        </p:txBody>
      </p:sp>
    </p:spTree>
    <p:extLst>
      <p:ext uri="{BB962C8B-B14F-4D97-AF65-F5344CB8AC3E}">
        <p14:creationId xmlns:p14="http://schemas.microsoft.com/office/powerpoint/2010/main" val="185507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28877A2-6109-7641-86F5-BFB084D9C51A}"/>
              </a:ext>
            </a:extLst>
          </p:cNvPr>
          <p:cNvSpPr>
            <a:spLocks noGrp="1" noChangeArrowheads="1"/>
          </p:cNvSpPr>
          <p:nvPr>
            <p:ph type="title"/>
          </p:nvPr>
        </p:nvSpPr>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Unchecked Exceptions</a:t>
            </a:r>
          </a:p>
        </p:txBody>
      </p:sp>
      <p:sp>
        <p:nvSpPr>
          <p:cNvPr id="5" name="Text Box 4">
            <a:extLst>
              <a:ext uri="{FF2B5EF4-FFF2-40B4-BE49-F238E27FC236}">
                <a16:creationId xmlns:a16="http://schemas.microsoft.com/office/drawing/2014/main" id="{C3ABAA4B-EDAA-5D4B-BF8E-DE6D384858A4}"/>
              </a:ext>
            </a:extLst>
          </p:cNvPr>
          <p:cNvSpPr txBox="1">
            <a:spLocks noChangeArrowheads="1"/>
          </p:cNvSpPr>
          <p:nvPr/>
        </p:nvSpPr>
        <p:spPr bwMode="auto">
          <a:xfrm>
            <a:off x="1239839" y="1400175"/>
            <a:ext cx="11301413" cy="638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spcBef>
                <a:spcPct val="50000"/>
              </a:spcBef>
            </a:pPr>
            <a:r>
              <a:rPr lang="en-US" altLang="en-US" sz="3600" dirty="0">
                <a:cs typeface="Times New Roman" panose="02020603050405020304" pitchFamily="18" charset="0"/>
              </a:rPr>
              <a:t>In most cases, unchecked exceptions reflect programming logic errors that are not recoverable. For example, a </a:t>
            </a:r>
            <a:r>
              <a:rPr lang="en-US" altLang="en-US" sz="3600" u="sng" dirty="0" err="1">
                <a:cs typeface="Times New Roman" panose="02020603050405020304" pitchFamily="18" charset="0"/>
              </a:rPr>
              <a:t>NullPointerException</a:t>
            </a:r>
            <a:r>
              <a:rPr lang="en-US" altLang="en-US" sz="3600" dirty="0">
                <a:cs typeface="Times New Roman" panose="02020603050405020304" pitchFamily="18" charset="0"/>
              </a:rPr>
              <a:t> is thrown if you access an object through a reference variable before an object is assigned to it; an </a:t>
            </a:r>
            <a:r>
              <a:rPr lang="en-US" altLang="en-US" sz="3600" u="sng" dirty="0" err="1">
                <a:cs typeface="Times New Roman" panose="02020603050405020304" pitchFamily="18" charset="0"/>
              </a:rPr>
              <a:t>IndexOutOfBoundsException</a:t>
            </a:r>
            <a:r>
              <a:rPr lang="en-US" altLang="en-US" sz="3600" dirty="0">
                <a:cs typeface="Times New Roman" panose="02020603050405020304" pitchFamily="18" charset="0"/>
              </a:rPr>
              <a:t> is thrown if you access an element in an array outside the bounds of the array. These are the logic errors that should be corrected in the program. Unchecked exceptions can occur anywhere in the program. To avoid cumbersome overuse of try-catch blocks, Java does not mandate you to write code to catch unchecked exceptions.</a:t>
            </a:r>
          </a:p>
        </p:txBody>
      </p:sp>
    </p:spTree>
    <p:extLst>
      <p:ext uri="{BB962C8B-B14F-4D97-AF65-F5344CB8AC3E}">
        <p14:creationId xmlns:p14="http://schemas.microsoft.com/office/powerpoint/2010/main" val="3889315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FB324717-C2AC-D74A-B564-3B5E7C27D133}"/>
              </a:ext>
            </a:extLst>
          </p:cNvPr>
          <p:cNvSpPr>
            <a:spLocks noGrp="1" noChangeArrowheads="1"/>
          </p:cNvSpPr>
          <p:nvPr>
            <p:ph type="title"/>
          </p:nvPr>
        </p:nvSpPr>
        <p:spPr>
          <a:xfrm>
            <a:off x="1739903" y="300036"/>
            <a:ext cx="10201275" cy="10751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Unchecked Exceptions</a:t>
            </a:r>
          </a:p>
        </p:txBody>
      </p:sp>
      <p:sp>
        <p:nvSpPr>
          <p:cNvPr id="5125" name="Rectangle 3">
            <a:extLst>
              <a:ext uri="{FF2B5EF4-FFF2-40B4-BE49-F238E27FC236}">
                <a16:creationId xmlns:a16="http://schemas.microsoft.com/office/drawing/2014/main" id="{771985ED-8E42-544A-B22B-27B89AF4480F}"/>
              </a:ext>
            </a:extLst>
          </p:cNvPr>
          <p:cNvSpPr>
            <a:spLocks noChangeArrowheads="1"/>
          </p:cNvSpPr>
          <p:nvPr/>
        </p:nvSpPr>
        <p:spPr bwMode="auto">
          <a:xfrm>
            <a:off x="839788" y="2340652"/>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5122" name="Object 4">
            <a:extLst>
              <a:ext uri="{FF2B5EF4-FFF2-40B4-BE49-F238E27FC236}">
                <a16:creationId xmlns:a16="http://schemas.microsoft.com/office/drawing/2014/main" id="{6BF00B14-BE1C-1B46-BDD0-79D8EE8393B7}"/>
              </a:ext>
            </a:extLst>
          </p:cNvPr>
          <p:cNvGraphicFramePr>
            <a:graphicFrameLocks noChangeAspect="1"/>
          </p:cNvGraphicFramePr>
          <p:nvPr/>
        </p:nvGraphicFramePr>
        <p:xfrm>
          <a:off x="1039813" y="1800226"/>
          <a:ext cx="11601450" cy="5919491"/>
        </p:xfrm>
        <a:graphic>
          <a:graphicData uri="http://schemas.openxmlformats.org/presentationml/2006/ole">
            <mc:AlternateContent xmlns:mc="http://schemas.openxmlformats.org/markup-compatibility/2006">
              <mc:Choice xmlns:v="urn:schemas-microsoft-com:vml" Requires="v">
                <p:oleObj spid="_x0000_s26641" name="Picture" r:id="rId2" imgW="5608452" imgH="2853594" progId="Word.Picture.8">
                  <p:embed/>
                </p:oleObj>
              </mc:Choice>
              <mc:Fallback>
                <p:oleObj name="Picture" r:id="rId2" imgW="5608452" imgH="2853594" progId="Word.Picture.8">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13" y="1800226"/>
                        <a:ext cx="11601450" cy="591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3349" name="Text Box 5">
            <a:extLst>
              <a:ext uri="{FF2B5EF4-FFF2-40B4-BE49-F238E27FC236}">
                <a16:creationId xmlns:a16="http://schemas.microsoft.com/office/drawing/2014/main" id="{52600035-2662-8B4B-9608-DDF7CD027701}"/>
              </a:ext>
            </a:extLst>
          </p:cNvPr>
          <p:cNvSpPr txBox="1">
            <a:spLocks noChangeArrowheads="1"/>
          </p:cNvSpPr>
          <p:nvPr/>
        </p:nvSpPr>
        <p:spPr bwMode="auto">
          <a:xfrm>
            <a:off x="9740902" y="6400802"/>
            <a:ext cx="2200276" cy="6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1800">
                <a:solidFill>
                  <a:schemeClr val="bg2"/>
                </a:solidFill>
              </a:rPr>
              <a:t>Unchecked exception.</a:t>
            </a:r>
          </a:p>
        </p:txBody>
      </p:sp>
      <p:sp>
        <p:nvSpPr>
          <p:cNvPr id="313350" name="Rectangle 6">
            <a:extLst>
              <a:ext uri="{FF2B5EF4-FFF2-40B4-BE49-F238E27FC236}">
                <a16:creationId xmlns:a16="http://schemas.microsoft.com/office/drawing/2014/main" id="{AF13EE9B-2C8F-8340-9B12-98139F79958B}"/>
              </a:ext>
            </a:extLst>
          </p:cNvPr>
          <p:cNvSpPr>
            <a:spLocks noChangeArrowheads="1"/>
          </p:cNvSpPr>
          <p:nvPr/>
        </p:nvSpPr>
        <p:spPr bwMode="auto">
          <a:xfrm>
            <a:off x="6240465" y="3600448"/>
            <a:ext cx="2900362" cy="700088"/>
          </a:xfrm>
          <a:prstGeom prst="rect">
            <a:avLst/>
          </a:prstGeom>
          <a:solidFill>
            <a:schemeClr val="bg1">
              <a:lumMod val="65000"/>
              <a:alpha val="18823"/>
            </a:schemeClr>
          </a:solidFill>
          <a:ln w="12700">
            <a:solidFill>
              <a:schemeClr val="accent1">
                <a:lumMod val="60000"/>
                <a:lumOff val="40000"/>
              </a:schemeClr>
            </a:solidFill>
            <a:miter lim="800000"/>
            <a:headEnd type="none" w="sm" len="sm"/>
            <a:tailEnd type="none" w="sm" len="sm"/>
          </a:ln>
          <a:effectLst/>
        </p:spPr>
        <p:txBody>
          <a:bodyPr wrap="none" lIns="91410" tIns="45705" rIns="91410" bIns="45705" anchor="ctr"/>
          <a:lstStyle/>
          <a:p>
            <a:pPr>
              <a:defRPr/>
            </a:pPr>
            <a:endParaRPr lang="en-US" altLang="en-US" sz="1100"/>
          </a:p>
        </p:txBody>
      </p:sp>
      <p:sp>
        <p:nvSpPr>
          <p:cNvPr id="313351" name="Rectangle 7">
            <a:extLst>
              <a:ext uri="{FF2B5EF4-FFF2-40B4-BE49-F238E27FC236}">
                <a16:creationId xmlns:a16="http://schemas.microsoft.com/office/drawing/2014/main" id="{3CCA9A19-1105-1342-96F9-75527401DDB9}"/>
              </a:ext>
            </a:extLst>
          </p:cNvPr>
          <p:cNvSpPr>
            <a:spLocks noChangeArrowheads="1"/>
          </p:cNvSpPr>
          <p:nvPr/>
        </p:nvSpPr>
        <p:spPr bwMode="auto">
          <a:xfrm>
            <a:off x="9040813" y="2500312"/>
            <a:ext cx="3300413" cy="3300413"/>
          </a:xfrm>
          <a:prstGeom prst="rect">
            <a:avLst/>
          </a:prstGeom>
          <a:solidFill>
            <a:schemeClr val="bg1">
              <a:lumMod val="65000"/>
              <a:alpha val="18823"/>
            </a:schemeClr>
          </a:solidFill>
          <a:ln w="12700">
            <a:solidFill>
              <a:schemeClr val="accent2">
                <a:lumMod val="20000"/>
                <a:lumOff val="80000"/>
              </a:schemeClr>
            </a:solidFill>
            <a:miter lim="800000"/>
            <a:headEnd type="none" w="sm" len="sm"/>
            <a:tailEnd type="none" w="sm" len="sm"/>
          </a:ln>
          <a:effectLst/>
        </p:spPr>
        <p:txBody>
          <a:bodyPr wrap="none" lIns="91410" tIns="45705" rIns="91410" bIns="45705" anchor="ctr"/>
          <a:lstStyle/>
          <a:p>
            <a:pPr>
              <a:defRPr/>
            </a:pPr>
            <a:endParaRPr lang="en-US" altLang="en-US" sz="1100"/>
          </a:p>
        </p:txBody>
      </p:sp>
      <p:sp>
        <p:nvSpPr>
          <p:cNvPr id="313352" name="Rectangle 8">
            <a:extLst>
              <a:ext uri="{FF2B5EF4-FFF2-40B4-BE49-F238E27FC236}">
                <a16:creationId xmlns:a16="http://schemas.microsoft.com/office/drawing/2014/main" id="{496B7BAC-E858-0F41-974B-F36B96FCCEF7}"/>
              </a:ext>
            </a:extLst>
          </p:cNvPr>
          <p:cNvSpPr>
            <a:spLocks noChangeArrowheads="1"/>
          </p:cNvSpPr>
          <p:nvPr/>
        </p:nvSpPr>
        <p:spPr bwMode="auto">
          <a:xfrm>
            <a:off x="4440238" y="5220528"/>
            <a:ext cx="4700588" cy="2400300"/>
          </a:xfrm>
          <a:prstGeom prst="rect">
            <a:avLst/>
          </a:prstGeom>
          <a:solidFill>
            <a:schemeClr val="bg1">
              <a:lumMod val="65000"/>
              <a:alpha val="18823"/>
            </a:schemeClr>
          </a:solidFill>
          <a:ln w="12700">
            <a:solidFill>
              <a:schemeClr val="accent1">
                <a:lumMod val="40000"/>
                <a:lumOff val="60000"/>
              </a:schemeClr>
            </a:solidFill>
            <a:miter lim="800000"/>
            <a:headEnd type="none" w="sm" len="sm"/>
            <a:tailEnd type="none" w="sm" len="sm"/>
          </a:ln>
          <a:effectLst/>
        </p:spPr>
        <p:txBody>
          <a:bodyPr wrap="none" lIns="91410" tIns="45705" rIns="91410" bIns="45705" anchor="ctr"/>
          <a:lstStyle/>
          <a:p>
            <a:pPr>
              <a:defRPr/>
            </a:pPr>
            <a:endParaRPr lang="en-US" altLang="en-US" sz="1100"/>
          </a:p>
        </p:txBody>
      </p:sp>
    </p:spTree>
    <p:extLst>
      <p:ext uri="{BB962C8B-B14F-4D97-AF65-F5344CB8AC3E}">
        <p14:creationId xmlns:p14="http://schemas.microsoft.com/office/powerpoint/2010/main" val="1373713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13349"/>
                                        </p:tgtEl>
                                        <p:attrNameLst>
                                          <p:attrName>style.visibility</p:attrName>
                                        </p:attrNameLst>
                                      </p:cBhvr>
                                      <p:to>
                                        <p:strVal val="visible"/>
                                      </p:to>
                                    </p:set>
                                    <p:anim calcmode="lin" valueType="num">
                                      <p:cBhvr additive="base">
                                        <p:cTn id="7" dur="500" fill="hold"/>
                                        <p:tgtEl>
                                          <p:spTgt spid="313349"/>
                                        </p:tgtEl>
                                        <p:attrNameLst>
                                          <p:attrName>ppt_x</p:attrName>
                                        </p:attrNameLst>
                                      </p:cBhvr>
                                      <p:tavLst>
                                        <p:tav tm="0">
                                          <p:val>
                                            <p:strVal val="0-#ppt_w/2"/>
                                          </p:val>
                                        </p:tav>
                                        <p:tav tm="100000">
                                          <p:val>
                                            <p:strVal val="#ppt_x"/>
                                          </p:val>
                                        </p:tav>
                                      </p:tavLst>
                                    </p:anim>
                                    <p:anim calcmode="lin" valueType="num">
                                      <p:cBhvr additive="base">
                                        <p:cTn id="8" dur="500" fill="hold"/>
                                        <p:tgtEl>
                                          <p:spTgt spid="31334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13351"/>
                                        </p:tgtEl>
                                        <p:attrNameLst>
                                          <p:attrName>style.visibility</p:attrName>
                                        </p:attrNameLst>
                                      </p:cBhvr>
                                      <p:to>
                                        <p:strVal val="visible"/>
                                      </p:to>
                                    </p:set>
                                    <p:anim calcmode="lin" valueType="num">
                                      <p:cBhvr additive="base">
                                        <p:cTn id="11" dur="500" fill="hold"/>
                                        <p:tgtEl>
                                          <p:spTgt spid="313351"/>
                                        </p:tgtEl>
                                        <p:attrNameLst>
                                          <p:attrName>ppt_x</p:attrName>
                                        </p:attrNameLst>
                                      </p:cBhvr>
                                      <p:tavLst>
                                        <p:tav tm="0">
                                          <p:val>
                                            <p:strVal val="0-#ppt_w/2"/>
                                          </p:val>
                                        </p:tav>
                                        <p:tav tm="100000">
                                          <p:val>
                                            <p:strVal val="#ppt_x"/>
                                          </p:val>
                                        </p:tav>
                                      </p:tavLst>
                                    </p:anim>
                                    <p:anim calcmode="lin" valueType="num">
                                      <p:cBhvr additive="base">
                                        <p:cTn id="12" dur="500" fill="hold"/>
                                        <p:tgtEl>
                                          <p:spTgt spid="31335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13350"/>
                                        </p:tgtEl>
                                        <p:attrNameLst>
                                          <p:attrName>style.visibility</p:attrName>
                                        </p:attrNameLst>
                                      </p:cBhvr>
                                      <p:to>
                                        <p:strVal val="visible"/>
                                      </p:to>
                                    </p:set>
                                    <p:anim calcmode="lin" valueType="num">
                                      <p:cBhvr additive="base">
                                        <p:cTn id="15" dur="500" fill="hold"/>
                                        <p:tgtEl>
                                          <p:spTgt spid="313350"/>
                                        </p:tgtEl>
                                        <p:attrNameLst>
                                          <p:attrName>ppt_x</p:attrName>
                                        </p:attrNameLst>
                                      </p:cBhvr>
                                      <p:tavLst>
                                        <p:tav tm="0">
                                          <p:val>
                                            <p:strVal val="0-#ppt_w/2"/>
                                          </p:val>
                                        </p:tav>
                                        <p:tav tm="100000">
                                          <p:val>
                                            <p:strVal val="#ppt_x"/>
                                          </p:val>
                                        </p:tav>
                                      </p:tavLst>
                                    </p:anim>
                                    <p:anim calcmode="lin" valueType="num">
                                      <p:cBhvr additive="base">
                                        <p:cTn id="16" dur="500" fill="hold"/>
                                        <p:tgtEl>
                                          <p:spTgt spid="31335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13352"/>
                                        </p:tgtEl>
                                        <p:attrNameLst>
                                          <p:attrName>style.visibility</p:attrName>
                                        </p:attrNameLst>
                                      </p:cBhvr>
                                      <p:to>
                                        <p:strVal val="visible"/>
                                      </p:to>
                                    </p:set>
                                    <p:anim calcmode="lin" valueType="num">
                                      <p:cBhvr additive="base">
                                        <p:cTn id="19" dur="500" fill="hold"/>
                                        <p:tgtEl>
                                          <p:spTgt spid="313352"/>
                                        </p:tgtEl>
                                        <p:attrNameLst>
                                          <p:attrName>ppt_x</p:attrName>
                                        </p:attrNameLst>
                                      </p:cBhvr>
                                      <p:tavLst>
                                        <p:tav tm="0">
                                          <p:val>
                                            <p:strVal val="0-#ppt_w/2"/>
                                          </p:val>
                                        </p:tav>
                                        <p:tav tm="100000">
                                          <p:val>
                                            <p:strVal val="#ppt_x"/>
                                          </p:val>
                                        </p:tav>
                                      </p:tavLst>
                                    </p:anim>
                                    <p:anim calcmode="lin" valueType="num">
                                      <p:cBhvr additive="base">
                                        <p:cTn id="20" dur="500" fill="hold"/>
                                        <p:tgtEl>
                                          <p:spTgt spid="3133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9" grpId="0"/>
      <p:bldP spid="313350" grpId="0" animBg="1"/>
      <p:bldP spid="313351" grpId="0" animBg="1"/>
      <p:bldP spid="31335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B3EF65F4-17BD-054D-B089-88F999A2D20C}"/>
              </a:ext>
            </a:extLst>
          </p:cNvPr>
          <p:cNvSpPr>
            <a:spLocks noGrp="1" noChangeArrowheads="1"/>
          </p:cNvSpPr>
          <p:nvPr>
            <p:ph type="title"/>
          </p:nvPr>
        </p:nvSpPr>
        <p:spPr>
          <a:xfrm>
            <a:off x="1739903" y="0"/>
            <a:ext cx="10201275" cy="18752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Declaring, Throwing, and Catching Exceptions</a:t>
            </a:r>
          </a:p>
        </p:txBody>
      </p:sp>
      <p:sp>
        <p:nvSpPr>
          <p:cNvPr id="6149" name="Rectangle 3">
            <a:extLst>
              <a:ext uri="{FF2B5EF4-FFF2-40B4-BE49-F238E27FC236}">
                <a16:creationId xmlns:a16="http://schemas.microsoft.com/office/drawing/2014/main" id="{81AB6AF3-99F7-C449-9395-BCCDAF035D69}"/>
              </a:ext>
            </a:extLst>
          </p:cNvPr>
          <p:cNvSpPr>
            <a:spLocks noChangeArrowheads="1"/>
          </p:cNvSpPr>
          <p:nvPr/>
        </p:nvSpPr>
        <p:spPr bwMode="auto">
          <a:xfrm>
            <a:off x="3465116" y="3375422"/>
            <a:ext cx="1200150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6146" name="Object 4">
            <a:extLst>
              <a:ext uri="{FF2B5EF4-FFF2-40B4-BE49-F238E27FC236}">
                <a16:creationId xmlns:a16="http://schemas.microsoft.com/office/drawing/2014/main" id="{1E85E905-72DA-3842-BCBD-E49F66C8850B}"/>
              </a:ext>
            </a:extLst>
          </p:cNvPr>
          <p:cNvGraphicFramePr>
            <a:graphicFrameLocks noChangeAspect="1"/>
          </p:cNvGraphicFramePr>
          <p:nvPr/>
        </p:nvGraphicFramePr>
        <p:xfrm>
          <a:off x="631428" y="3300413"/>
          <a:ext cx="12209860" cy="2914948"/>
        </p:xfrm>
        <a:graphic>
          <a:graphicData uri="http://schemas.openxmlformats.org/presentationml/2006/ole">
            <mc:AlternateContent xmlns:mc="http://schemas.openxmlformats.org/markup-compatibility/2006">
              <mc:Choice xmlns:v="urn:schemas-microsoft-com:vml" Requires="v">
                <p:oleObj spid="_x0000_s27665" name="Picture" r:id="rId2" imgW="30645100" imgH="7315200" progId="Word.Picture.8">
                  <p:embed/>
                </p:oleObj>
              </mc:Choice>
              <mc:Fallback>
                <p:oleObj name="Picture" r:id="rId2" imgW="30645100" imgH="7315200" progId="Word.Picture.8">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28" y="3300413"/>
                        <a:ext cx="12209860" cy="2914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4934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F2827BCF-E505-504C-B00A-42C1BD53D4E4}"/>
              </a:ext>
            </a:extLst>
          </p:cNvPr>
          <p:cNvSpPr>
            <a:spLocks noGrp="1" noChangeArrowheads="1"/>
          </p:cNvSpPr>
          <p:nvPr>
            <p:ph type="title"/>
          </p:nvPr>
        </p:nvSpPr>
        <p:spPr>
          <a:xfrm>
            <a:off x="1739903" y="318052"/>
            <a:ext cx="10201275" cy="1557182"/>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Declaring Exceptions</a:t>
            </a:r>
          </a:p>
        </p:txBody>
      </p:sp>
      <p:sp>
        <p:nvSpPr>
          <p:cNvPr id="23556" name="Rectangle 3">
            <a:extLst>
              <a:ext uri="{FF2B5EF4-FFF2-40B4-BE49-F238E27FC236}">
                <a16:creationId xmlns:a16="http://schemas.microsoft.com/office/drawing/2014/main" id="{9C1EF8EA-612A-DC48-9F29-54B4749EB105}"/>
              </a:ext>
            </a:extLst>
          </p:cNvPr>
          <p:cNvSpPr>
            <a:spLocks noGrp="1" noChangeArrowheads="1"/>
          </p:cNvSpPr>
          <p:nvPr>
            <p:ph type="body" idx="1"/>
          </p:nvPr>
        </p:nvSpPr>
        <p:spPr>
          <a:xfrm>
            <a:off x="1739901" y="1800226"/>
            <a:ext cx="10601325" cy="5700713"/>
          </a:xfrm>
        </p:spPr>
        <p:txBody>
          <a:bodyPr/>
          <a:lstStyle/>
          <a:p>
            <a:pPr marL="0" indent="0" algn="just">
              <a:spcBef>
                <a:spcPct val="0"/>
              </a:spcBef>
              <a:buNone/>
            </a:pPr>
            <a:r>
              <a:rPr lang="en-US" altLang="en-US" dirty="0">
                <a:latin typeface="Times New Roman" panose="02020603050405020304" pitchFamily="18" charset="0"/>
                <a:cs typeface="Times New Roman" panose="02020603050405020304" pitchFamily="18" charset="0"/>
              </a:rPr>
              <a:t>Every method must state the types of checked exceptions it might throw. This is known as </a:t>
            </a:r>
            <a:r>
              <a:rPr lang="en-US" altLang="en-US" i="1" dirty="0">
                <a:latin typeface="Times New Roman" panose="02020603050405020304" pitchFamily="18" charset="0"/>
                <a:cs typeface="Times New Roman" panose="02020603050405020304" pitchFamily="18" charset="0"/>
              </a:rPr>
              <a:t>declaring exceptions</a:t>
            </a:r>
            <a:r>
              <a:rPr lang="en-US" altLang="en-US" dirty="0">
                <a:latin typeface="Times New Roman" panose="02020603050405020304" pitchFamily="18" charset="0"/>
                <a:cs typeface="Times New Roman" panose="02020603050405020304" pitchFamily="18" charset="0"/>
              </a:rPr>
              <a:t>. </a:t>
            </a:r>
          </a:p>
          <a:p>
            <a:pPr marL="0" indent="0" algn="just">
              <a:spcBef>
                <a:spcPct val="0"/>
              </a:spcBef>
              <a:buNone/>
            </a:pPr>
            <a:endParaRPr lang="en-US" altLang="en-US" dirty="0">
              <a:latin typeface="Times New Roman" panose="02020603050405020304" pitchFamily="18" charset="0"/>
              <a:cs typeface="Times New Roman" panose="02020603050405020304" pitchFamily="18" charset="0"/>
            </a:endParaRPr>
          </a:p>
          <a:p>
            <a:pPr marL="0" indent="0" algn="just">
              <a:spcBef>
                <a:spcPct val="0"/>
              </a:spcBef>
              <a:buNone/>
            </a:pPr>
            <a:r>
              <a:rPr lang="en-US" altLang="en-US" sz="4000" dirty="0">
                <a:latin typeface="Times New Roman" panose="02020603050405020304" pitchFamily="18" charset="0"/>
                <a:cs typeface="Times New Roman" panose="02020603050405020304" pitchFamily="18" charset="0"/>
              </a:rPr>
              <a:t>public void </a:t>
            </a:r>
            <a:r>
              <a:rPr lang="en-US" altLang="en-US" sz="4000" dirty="0" err="1">
                <a:latin typeface="Times New Roman" panose="02020603050405020304" pitchFamily="18" charset="0"/>
                <a:cs typeface="Times New Roman" panose="02020603050405020304" pitchFamily="18" charset="0"/>
              </a:rPr>
              <a:t>myMethod</a:t>
            </a:r>
            <a:r>
              <a:rPr lang="en-US" altLang="en-US" sz="4000" dirty="0">
                <a:latin typeface="Times New Roman" panose="02020603050405020304" pitchFamily="18" charset="0"/>
                <a:cs typeface="Times New Roman" panose="02020603050405020304" pitchFamily="18" charset="0"/>
              </a:rPr>
              <a:t>()</a:t>
            </a:r>
          </a:p>
          <a:p>
            <a:pPr marL="0" indent="0" algn="just">
              <a:spcBef>
                <a:spcPct val="0"/>
              </a:spcBef>
              <a:buNone/>
            </a:pPr>
            <a:r>
              <a:rPr lang="en-US" altLang="en-US" sz="4000" dirty="0">
                <a:latin typeface="Times New Roman" panose="02020603050405020304" pitchFamily="18" charset="0"/>
                <a:cs typeface="Times New Roman" panose="02020603050405020304" pitchFamily="18" charset="0"/>
              </a:rPr>
              <a:t>   throws </a:t>
            </a:r>
            <a:r>
              <a:rPr lang="en-US" altLang="en-US" sz="4000" dirty="0" err="1">
                <a:latin typeface="Times New Roman" panose="02020603050405020304" pitchFamily="18" charset="0"/>
                <a:cs typeface="Times New Roman" panose="02020603050405020304" pitchFamily="18" charset="0"/>
              </a:rPr>
              <a:t>IOException</a:t>
            </a:r>
            <a:endParaRPr lang="en-US" altLang="en-US" sz="4000" dirty="0">
              <a:latin typeface="Times New Roman" panose="02020603050405020304" pitchFamily="18" charset="0"/>
              <a:cs typeface="Times New Roman" panose="02020603050405020304" pitchFamily="18" charset="0"/>
            </a:endParaRPr>
          </a:p>
          <a:p>
            <a:pPr marL="0" indent="0" algn="just">
              <a:spcBef>
                <a:spcPct val="100000"/>
              </a:spcBef>
              <a:buNone/>
            </a:pPr>
            <a:r>
              <a:rPr lang="en-US" altLang="en-US" sz="4000" dirty="0">
                <a:latin typeface="Times New Roman" panose="02020603050405020304" pitchFamily="18" charset="0"/>
                <a:cs typeface="Times New Roman" panose="02020603050405020304" pitchFamily="18" charset="0"/>
              </a:rPr>
              <a:t>public void </a:t>
            </a:r>
            <a:r>
              <a:rPr lang="en-US" altLang="en-US" sz="4000" dirty="0" err="1">
                <a:latin typeface="Times New Roman" panose="02020603050405020304" pitchFamily="18" charset="0"/>
                <a:cs typeface="Times New Roman" panose="02020603050405020304" pitchFamily="18" charset="0"/>
              </a:rPr>
              <a:t>myMethod</a:t>
            </a:r>
            <a:r>
              <a:rPr lang="en-US" altLang="en-US" sz="4000" dirty="0">
                <a:latin typeface="Times New Roman" panose="02020603050405020304" pitchFamily="18" charset="0"/>
                <a:cs typeface="Times New Roman" panose="02020603050405020304" pitchFamily="18" charset="0"/>
              </a:rPr>
              <a:t>()</a:t>
            </a:r>
          </a:p>
          <a:p>
            <a:pPr marL="0" indent="0" algn="just">
              <a:spcBef>
                <a:spcPct val="0"/>
              </a:spcBef>
              <a:buNone/>
            </a:pPr>
            <a:r>
              <a:rPr lang="en-US" altLang="en-US" sz="4000" dirty="0">
                <a:latin typeface="Times New Roman" panose="02020603050405020304" pitchFamily="18" charset="0"/>
                <a:cs typeface="Times New Roman" panose="02020603050405020304" pitchFamily="18" charset="0"/>
              </a:rPr>
              <a:t>   throws </a:t>
            </a:r>
            <a:r>
              <a:rPr lang="en-US" altLang="en-US" sz="4000" dirty="0" err="1">
                <a:latin typeface="Times New Roman" panose="02020603050405020304" pitchFamily="18" charset="0"/>
                <a:cs typeface="Times New Roman" panose="02020603050405020304" pitchFamily="18" charset="0"/>
              </a:rPr>
              <a:t>IOException</a:t>
            </a:r>
            <a:r>
              <a:rPr lang="en-US" altLang="en-US" sz="4000" dirty="0">
                <a:latin typeface="Times New Roman" panose="02020603050405020304" pitchFamily="18" charset="0"/>
                <a:cs typeface="Times New Roman" panose="02020603050405020304" pitchFamily="18" charset="0"/>
              </a:rPr>
              <a:t>, </a:t>
            </a:r>
            <a:r>
              <a:rPr lang="en-US" altLang="en-US" sz="4000" dirty="0" err="1">
                <a:latin typeface="Times New Roman" panose="02020603050405020304" pitchFamily="18" charset="0"/>
                <a:cs typeface="Times New Roman" panose="02020603050405020304" pitchFamily="18" charset="0"/>
              </a:rPr>
              <a:t>OtherException</a:t>
            </a:r>
            <a:endParaRPr lang="en-US"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272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D8AEBA2D-CDEB-CA46-BF7E-5FAABC60BB25}"/>
              </a:ext>
            </a:extLst>
          </p:cNvPr>
          <p:cNvSpPr>
            <a:spLocks noGrp="1" noChangeArrowheads="1"/>
          </p:cNvSpPr>
          <p:nvPr>
            <p:ph type="title"/>
          </p:nvPr>
        </p:nvSpPr>
        <p:spPr>
          <a:xfrm>
            <a:off x="1739903" y="198782"/>
            <a:ext cx="10201275" cy="1676451"/>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Throwing Exceptions</a:t>
            </a:r>
          </a:p>
        </p:txBody>
      </p:sp>
      <p:sp>
        <p:nvSpPr>
          <p:cNvPr id="24580" name="Rectangle 3">
            <a:extLst>
              <a:ext uri="{FF2B5EF4-FFF2-40B4-BE49-F238E27FC236}">
                <a16:creationId xmlns:a16="http://schemas.microsoft.com/office/drawing/2014/main" id="{1FC1852E-8F87-F547-A85F-94BB02A909E5}"/>
              </a:ext>
            </a:extLst>
          </p:cNvPr>
          <p:cNvSpPr>
            <a:spLocks noGrp="1" noChangeArrowheads="1"/>
          </p:cNvSpPr>
          <p:nvPr>
            <p:ph type="body" idx="1"/>
          </p:nvPr>
        </p:nvSpPr>
        <p:spPr>
          <a:xfrm>
            <a:off x="1439865" y="1800223"/>
            <a:ext cx="11001375" cy="5500688"/>
          </a:xfrm>
        </p:spPr>
        <p:txBody>
          <a:bodyPr/>
          <a:lstStyle/>
          <a:p>
            <a:pPr marL="0" indent="0">
              <a:lnSpc>
                <a:spcPct val="90000"/>
              </a:lnSpc>
              <a:buNone/>
            </a:pPr>
            <a:r>
              <a:rPr lang="en-US" altLang="en-US" dirty="0">
                <a:latin typeface="Times New Roman" panose="02020603050405020304" pitchFamily="18" charset="0"/>
                <a:cs typeface="Times New Roman" panose="02020603050405020304" pitchFamily="18" charset="0"/>
              </a:rPr>
              <a:t>When the program detects an error, the program can create an instance of an appropriate exception type and throw it. This is known as </a:t>
            </a:r>
            <a:r>
              <a:rPr lang="en-US" altLang="en-US" i="1" dirty="0">
                <a:latin typeface="Times New Roman" panose="02020603050405020304" pitchFamily="18" charset="0"/>
                <a:cs typeface="Times New Roman" panose="02020603050405020304" pitchFamily="18" charset="0"/>
              </a:rPr>
              <a:t>throwing an exception</a:t>
            </a:r>
            <a:r>
              <a:rPr lang="en-US" altLang="en-US" dirty="0">
                <a:latin typeface="Times New Roman" panose="02020603050405020304" pitchFamily="18" charset="0"/>
                <a:cs typeface="Times New Roman" panose="02020603050405020304" pitchFamily="18" charset="0"/>
              </a:rPr>
              <a:t>. Here is an example, </a:t>
            </a:r>
          </a:p>
          <a:p>
            <a:pPr marL="0" indent="0">
              <a:lnSpc>
                <a:spcPct val="90000"/>
              </a:lnSpc>
              <a:buNone/>
            </a:pPr>
            <a:endParaRPr lang="en-US" altLang="en-US" dirty="0">
              <a:latin typeface="Times New Roman" panose="02020603050405020304" pitchFamily="18" charset="0"/>
              <a:cs typeface="Times New Roman" panose="02020603050405020304" pitchFamily="18" charset="0"/>
            </a:endParaRPr>
          </a:p>
          <a:p>
            <a:pPr marL="0" indent="0">
              <a:lnSpc>
                <a:spcPct val="90000"/>
              </a:lnSpc>
              <a:buNone/>
            </a:pPr>
            <a:r>
              <a:rPr lang="en-US" altLang="en-US" sz="4000" dirty="0">
                <a:latin typeface="Times New Roman" panose="02020603050405020304" pitchFamily="18" charset="0"/>
                <a:cs typeface="Times New Roman" panose="02020603050405020304" pitchFamily="18" charset="0"/>
              </a:rPr>
              <a:t>throw new </a:t>
            </a:r>
            <a:r>
              <a:rPr lang="en-US" altLang="en-US" sz="4000" dirty="0" err="1">
                <a:latin typeface="Times New Roman" panose="02020603050405020304" pitchFamily="18" charset="0"/>
                <a:cs typeface="Times New Roman" panose="02020603050405020304" pitchFamily="18" charset="0"/>
              </a:rPr>
              <a:t>TheException</a:t>
            </a:r>
            <a:r>
              <a:rPr lang="en-US" altLang="en-US" sz="4000" dirty="0">
                <a:latin typeface="Times New Roman" panose="02020603050405020304" pitchFamily="18" charset="0"/>
                <a:cs typeface="Times New Roman" panose="02020603050405020304" pitchFamily="18" charset="0"/>
              </a:rPr>
              <a:t>(); </a:t>
            </a:r>
          </a:p>
          <a:p>
            <a:pPr marL="0" indent="0">
              <a:lnSpc>
                <a:spcPct val="90000"/>
              </a:lnSpc>
              <a:spcBef>
                <a:spcPct val="100000"/>
              </a:spcBef>
              <a:buNone/>
            </a:pPr>
            <a:r>
              <a:rPr lang="en-US" altLang="en-US" sz="4000" dirty="0" err="1">
                <a:latin typeface="Times New Roman" panose="02020603050405020304" pitchFamily="18" charset="0"/>
                <a:cs typeface="Times New Roman" panose="02020603050405020304" pitchFamily="18" charset="0"/>
              </a:rPr>
              <a:t>TheException</a:t>
            </a:r>
            <a:r>
              <a:rPr lang="en-US" altLang="en-US" sz="4000" dirty="0">
                <a:latin typeface="Times New Roman" panose="02020603050405020304" pitchFamily="18" charset="0"/>
                <a:cs typeface="Times New Roman" panose="02020603050405020304" pitchFamily="18" charset="0"/>
              </a:rPr>
              <a:t> ex = new </a:t>
            </a:r>
            <a:r>
              <a:rPr lang="en-US" altLang="en-US" sz="4000" dirty="0" err="1">
                <a:latin typeface="Times New Roman" panose="02020603050405020304" pitchFamily="18" charset="0"/>
                <a:cs typeface="Times New Roman" panose="02020603050405020304" pitchFamily="18" charset="0"/>
              </a:rPr>
              <a:t>TheException</a:t>
            </a:r>
            <a:r>
              <a:rPr lang="en-US" altLang="en-US" sz="4000" dirty="0">
                <a:latin typeface="Times New Roman" panose="02020603050405020304" pitchFamily="18" charset="0"/>
                <a:cs typeface="Times New Roman" panose="02020603050405020304" pitchFamily="18" charset="0"/>
              </a:rPr>
              <a:t>();</a:t>
            </a:r>
            <a:br>
              <a:rPr lang="en-US" altLang="en-US" sz="4000" dirty="0">
                <a:latin typeface="Times New Roman" panose="02020603050405020304" pitchFamily="18" charset="0"/>
                <a:cs typeface="Times New Roman" panose="02020603050405020304" pitchFamily="18" charset="0"/>
              </a:rPr>
            </a:br>
            <a:r>
              <a:rPr lang="en-US" altLang="en-US" sz="4000" dirty="0">
                <a:latin typeface="Times New Roman" panose="02020603050405020304" pitchFamily="18" charset="0"/>
                <a:cs typeface="Times New Roman" panose="02020603050405020304" pitchFamily="18" charset="0"/>
              </a:rPr>
              <a:t>throw ex;</a:t>
            </a:r>
          </a:p>
        </p:txBody>
      </p:sp>
    </p:spTree>
    <p:extLst>
      <p:ext uri="{BB962C8B-B14F-4D97-AF65-F5344CB8AC3E}">
        <p14:creationId xmlns:p14="http://schemas.microsoft.com/office/powerpoint/2010/main" val="2381507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707371AE-4301-7D41-AEB9-E8C7DB32F81C}"/>
              </a:ext>
            </a:extLst>
          </p:cNvPr>
          <p:cNvSpPr>
            <a:spLocks noGrp="1" noChangeArrowheads="1"/>
          </p:cNvSpPr>
          <p:nvPr>
            <p:ph type="title"/>
          </p:nvPr>
        </p:nvSpPr>
        <p:spPr>
          <a:xfrm>
            <a:off x="1739903" y="198781"/>
            <a:ext cx="10201275" cy="1900238"/>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Throwing Exceptions Example</a:t>
            </a:r>
          </a:p>
        </p:txBody>
      </p:sp>
      <p:sp>
        <p:nvSpPr>
          <p:cNvPr id="152579" name="Rectangle 3">
            <a:extLst>
              <a:ext uri="{FF2B5EF4-FFF2-40B4-BE49-F238E27FC236}">
                <a16:creationId xmlns:a16="http://schemas.microsoft.com/office/drawing/2014/main" id="{EB932F64-1B58-7446-B256-45FA0009C6B5}"/>
              </a:ext>
            </a:extLst>
          </p:cNvPr>
          <p:cNvSpPr>
            <a:spLocks noGrp="1" noChangeArrowheads="1"/>
          </p:cNvSpPr>
          <p:nvPr>
            <p:ph type="body" idx="1"/>
          </p:nvPr>
        </p:nvSpPr>
        <p:spPr>
          <a:xfrm>
            <a:off x="1139825" y="1900237"/>
            <a:ext cx="11401425" cy="5900738"/>
          </a:xfrm>
        </p:spPr>
        <p:txBody>
          <a:bodyPr/>
          <a:lstStyle/>
          <a:p>
            <a:pPr>
              <a:spcBef>
                <a:spcPct val="0"/>
              </a:spcBef>
              <a:buFont typeface="Monotype Sorts" pitchFamily="2" charset="2"/>
              <a:buNone/>
              <a:defRPr/>
            </a:pPr>
            <a:r>
              <a:rPr lang="en-US" dirty="0">
                <a:solidFill>
                  <a:schemeClr val="bg2"/>
                </a:solidFill>
                <a:latin typeface="Courier New" panose="02070309020205020404" pitchFamily="49" charset="0"/>
                <a:cs typeface="Courier New" panose="02070309020205020404" pitchFamily="49" charset="0"/>
              </a:rPr>
              <a:t>   </a:t>
            </a:r>
            <a:r>
              <a:rPr lang="en-US" sz="2700" dirty="0">
                <a:solidFill>
                  <a:schemeClr val="bg2"/>
                </a:solidFill>
                <a:latin typeface="Courier New" panose="02070309020205020404" pitchFamily="49" charset="0"/>
                <a:cs typeface="Courier New" panose="02070309020205020404" pitchFamily="49" charset="0"/>
              </a:rPr>
              <a:t>/** Set a new radius */</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public void </a:t>
            </a:r>
            <a:r>
              <a:rPr lang="en-US" sz="2700" dirty="0" err="1">
                <a:solidFill>
                  <a:schemeClr val="bg2"/>
                </a:solidFill>
                <a:latin typeface="Courier New" panose="02070309020205020404" pitchFamily="49" charset="0"/>
                <a:cs typeface="Courier New" panose="02070309020205020404" pitchFamily="49" charset="0"/>
              </a:rPr>
              <a:t>setRadius</a:t>
            </a:r>
            <a:r>
              <a:rPr lang="en-US" sz="2700" dirty="0">
                <a:solidFill>
                  <a:schemeClr val="bg2"/>
                </a:solidFill>
                <a:latin typeface="Courier New" panose="02070309020205020404" pitchFamily="49" charset="0"/>
                <a:cs typeface="Courier New" panose="02070309020205020404" pitchFamily="49" charset="0"/>
              </a:rPr>
              <a:t>(double </a:t>
            </a:r>
            <a:r>
              <a:rPr lang="en-US" sz="2700" dirty="0" err="1">
                <a:solidFill>
                  <a:schemeClr val="bg2"/>
                </a:solidFill>
                <a:latin typeface="Courier New" panose="02070309020205020404" pitchFamily="49" charset="0"/>
                <a:cs typeface="Courier New" panose="02070309020205020404" pitchFamily="49" charset="0"/>
              </a:rPr>
              <a:t>newRadius</a:t>
            </a:r>
            <a:r>
              <a:rPr lang="en-US" sz="27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a:t>
            </a:r>
            <a:r>
              <a:rPr lang="en-US" sz="2700" dirty="0">
                <a:solidFill>
                  <a:srgbClr val="FF3300"/>
                </a:solidFill>
                <a:effectLst>
                  <a:outerShdw blurRad="38100" dist="38100" dir="2700000" algn="tl">
                    <a:srgbClr val="C0C0C0"/>
                  </a:outerShdw>
                </a:effectLst>
                <a:latin typeface="Courier New" panose="02070309020205020404" pitchFamily="49" charset="0"/>
                <a:cs typeface="Courier New" panose="02070309020205020404" pitchFamily="49" charset="0"/>
              </a:rPr>
              <a:t>throws </a:t>
            </a:r>
            <a:r>
              <a:rPr lang="en-US" sz="2700" dirty="0" err="1">
                <a:solidFill>
                  <a:srgbClr val="FF3300"/>
                </a:solidFill>
                <a:effectLst>
                  <a:outerShdw blurRad="38100" dist="38100" dir="2700000" algn="tl">
                    <a:srgbClr val="C0C0C0"/>
                  </a:outerShdw>
                </a:effectLst>
                <a:latin typeface="Courier New" panose="02070309020205020404" pitchFamily="49" charset="0"/>
                <a:cs typeface="Courier New" panose="02070309020205020404" pitchFamily="49" charset="0"/>
              </a:rPr>
              <a:t>IllegalArgumentException</a:t>
            </a:r>
            <a:r>
              <a:rPr lang="en-US" sz="27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if (</a:t>
            </a:r>
            <a:r>
              <a:rPr lang="en-US" sz="2700" dirty="0" err="1">
                <a:solidFill>
                  <a:schemeClr val="bg2"/>
                </a:solidFill>
                <a:latin typeface="Courier New" panose="02070309020205020404" pitchFamily="49" charset="0"/>
                <a:cs typeface="Courier New" panose="02070309020205020404" pitchFamily="49" charset="0"/>
              </a:rPr>
              <a:t>newRadius</a:t>
            </a:r>
            <a:r>
              <a:rPr lang="en-US" sz="2700" dirty="0">
                <a:solidFill>
                  <a:schemeClr val="bg2"/>
                </a:solidFill>
                <a:latin typeface="Courier New" panose="02070309020205020404" pitchFamily="49" charset="0"/>
                <a:cs typeface="Courier New" panose="02070309020205020404" pitchFamily="49" charset="0"/>
              </a:rPr>
              <a:t> &gt;= 0)</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radius =  </a:t>
            </a:r>
            <a:r>
              <a:rPr lang="en-US" sz="2700" dirty="0" err="1">
                <a:solidFill>
                  <a:schemeClr val="bg2"/>
                </a:solidFill>
                <a:latin typeface="Courier New" panose="02070309020205020404" pitchFamily="49" charset="0"/>
                <a:cs typeface="Courier New" panose="02070309020205020404" pitchFamily="49" charset="0"/>
              </a:rPr>
              <a:t>newRadius</a:t>
            </a:r>
            <a:r>
              <a:rPr lang="en-US" sz="27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else</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a:t>
            </a:r>
            <a:r>
              <a:rPr lang="en-US" sz="2700" dirty="0">
                <a:solidFill>
                  <a:srgbClr val="FF3300"/>
                </a:solidFill>
                <a:latin typeface="Courier New" panose="02070309020205020404" pitchFamily="49" charset="0"/>
                <a:cs typeface="Courier New" panose="02070309020205020404" pitchFamily="49" charset="0"/>
              </a:rPr>
              <a:t>throw new </a:t>
            </a:r>
            <a:r>
              <a:rPr lang="en-US" sz="2700" dirty="0" err="1">
                <a:solidFill>
                  <a:srgbClr val="FF3300"/>
                </a:solidFill>
                <a:latin typeface="Courier New" panose="02070309020205020404" pitchFamily="49" charset="0"/>
                <a:cs typeface="Courier New" panose="02070309020205020404" pitchFamily="49" charset="0"/>
              </a:rPr>
              <a:t>IllegalArgumentException</a:t>
            </a:r>
            <a:r>
              <a:rPr lang="en-US" sz="2700" dirty="0">
                <a:solidFill>
                  <a:srgbClr val="FF3300"/>
                </a:solidFill>
                <a:latin typeface="Courier New" panose="02070309020205020404" pitchFamily="49" charset="0"/>
                <a:cs typeface="Courier New" panose="02070309020205020404" pitchFamily="49" charset="0"/>
              </a:rPr>
              <a:t>(</a:t>
            </a:r>
          </a:p>
          <a:p>
            <a:pPr>
              <a:spcBef>
                <a:spcPct val="0"/>
              </a:spcBef>
              <a:buFont typeface="Monotype Sorts" pitchFamily="2" charset="2"/>
              <a:buNone/>
              <a:defRPr/>
            </a:pPr>
            <a:r>
              <a:rPr lang="en-US" sz="2700" dirty="0">
                <a:solidFill>
                  <a:srgbClr val="FF3300"/>
                </a:solidFill>
                <a:latin typeface="Courier New" panose="02070309020205020404" pitchFamily="49" charset="0"/>
                <a:cs typeface="Courier New" panose="02070309020205020404" pitchFamily="49" charset="0"/>
              </a:rPr>
              <a:t>        "Radius cannot be negative");</a:t>
            </a:r>
          </a:p>
          <a:p>
            <a:pPr>
              <a:spcBef>
                <a:spcPct val="0"/>
              </a:spcBef>
              <a:buFont typeface="Monotype Sorts" pitchFamily="2" charset="2"/>
              <a:buNone/>
              <a:defRPr/>
            </a:pPr>
            <a:r>
              <a:rPr lang="en-US" sz="2700" dirty="0">
                <a:solidFill>
                  <a:schemeClr val="bg2"/>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985702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7DF03115-D349-304E-8AF0-417930791DA7}"/>
              </a:ext>
            </a:extLst>
          </p:cNvPr>
          <p:cNvSpPr>
            <a:spLocks noGrp="1" noChangeArrowheads="1"/>
          </p:cNvSpPr>
          <p:nvPr>
            <p:ph type="title"/>
          </p:nvPr>
        </p:nvSpPr>
        <p:spPr>
          <a:xfrm>
            <a:off x="1739903" y="400050"/>
            <a:ext cx="10201275" cy="800100"/>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Catching Exceptions</a:t>
            </a:r>
          </a:p>
        </p:txBody>
      </p:sp>
      <p:sp>
        <p:nvSpPr>
          <p:cNvPr id="26628" name="Rectangle 3">
            <a:extLst>
              <a:ext uri="{FF2B5EF4-FFF2-40B4-BE49-F238E27FC236}">
                <a16:creationId xmlns:a16="http://schemas.microsoft.com/office/drawing/2014/main" id="{1CB83D57-FBA2-2A4F-9182-BD227423B7F9}"/>
              </a:ext>
            </a:extLst>
          </p:cNvPr>
          <p:cNvSpPr>
            <a:spLocks noGrp="1" noChangeArrowheads="1"/>
          </p:cNvSpPr>
          <p:nvPr>
            <p:ph type="body" idx="1"/>
          </p:nvPr>
        </p:nvSpPr>
        <p:spPr>
          <a:xfrm>
            <a:off x="1239839" y="1700214"/>
            <a:ext cx="11847511" cy="6600825"/>
          </a:xfrm>
        </p:spPr>
        <p:txBody>
          <a:bodyPr/>
          <a:lstStyle/>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try {</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  statements;  // Statements that may throw exceptions</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catch (Exception1 exVar1) {</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  handler for exception1;</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catch (Exception2 exVar2) { </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  handler for exception2;</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catch (</a:t>
            </a:r>
            <a:r>
              <a:rPr lang="en-US" altLang="en-US" sz="2800" dirty="0" err="1">
                <a:latin typeface="Courier New" panose="02070309020205020404" pitchFamily="49" charset="0"/>
                <a:cs typeface="Times New Roman" panose="02020603050405020304" pitchFamily="18" charset="0"/>
              </a:rPr>
              <a:t>ExceptionN</a:t>
            </a:r>
            <a:r>
              <a:rPr lang="en-US" altLang="en-US" sz="2800" dirty="0">
                <a:latin typeface="Courier New" panose="02070309020205020404" pitchFamily="49" charset="0"/>
                <a:cs typeface="Times New Roman" panose="02020603050405020304" pitchFamily="18" charset="0"/>
              </a:rPr>
              <a:t> exVar3) {</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  handler for </a:t>
            </a:r>
            <a:r>
              <a:rPr lang="en-US" altLang="en-US" sz="2800" dirty="0" err="1">
                <a:latin typeface="Courier New" panose="02070309020205020404" pitchFamily="49" charset="0"/>
                <a:cs typeface="Times New Roman" panose="02020603050405020304" pitchFamily="18" charset="0"/>
              </a:rPr>
              <a:t>exceptionN</a:t>
            </a:r>
            <a:r>
              <a:rPr lang="en-US" altLang="en-US" sz="2800" dirty="0">
                <a:latin typeface="Courier New" panose="02070309020205020404" pitchFamily="49" charset="0"/>
                <a:cs typeface="Times New Roman" panose="02020603050405020304" pitchFamily="18" charset="0"/>
              </a:rPr>
              <a:t>;</a:t>
            </a:r>
          </a:p>
          <a:p>
            <a:pPr algn="just">
              <a:lnSpc>
                <a:spcPct val="90000"/>
              </a:lnSpc>
              <a:spcBef>
                <a:spcPct val="0"/>
              </a:spcBef>
              <a:buFont typeface="Monotype Sorts" pitchFamily="2" charset="2"/>
              <a:buNone/>
            </a:pPr>
            <a:r>
              <a:rPr lang="en-US" altLang="en-US" sz="2800" dirty="0">
                <a:latin typeface="Courier New" panose="02070309020205020404" pitchFamily="49" charset="0"/>
                <a:cs typeface="Times New Roman" panose="02020603050405020304" pitchFamily="18" charset="0"/>
              </a:rPr>
              <a:t>}</a:t>
            </a:r>
            <a:r>
              <a:rPr lang="en-US" altLang="en-US" sz="2800" dirty="0">
                <a:latin typeface="Courier New" panose="02070309020205020404" pitchFamily="49" charset="0"/>
              </a:rPr>
              <a:t> </a:t>
            </a:r>
          </a:p>
        </p:txBody>
      </p:sp>
    </p:spTree>
    <p:extLst>
      <p:ext uri="{BB962C8B-B14F-4D97-AF65-F5344CB8AC3E}">
        <p14:creationId xmlns:p14="http://schemas.microsoft.com/office/powerpoint/2010/main" val="203027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a:extLst>
              <a:ext uri="{FF2B5EF4-FFF2-40B4-BE49-F238E27FC236}">
                <a16:creationId xmlns:a16="http://schemas.microsoft.com/office/drawing/2014/main" id="{B141FD34-8D65-AF4F-9570-51E2634D4C80}"/>
              </a:ext>
            </a:extLst>
          </p:cNvPr>
          <p:cNvSpPr>
            <a:spLocks noGrp="1" noChangeArrowheads="1"/>
          </p:cNvSpPr>
          <p:nvPr>
            <p:ph type="title"/>
          </p:nvPr>
        </p:nvSpPr>
        <p:spPr>
          <a:xfrm>
            <a:off x="1739903" y="290944"/>
            <a:ext cx="10201275" cy="1609291"/>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Catching Exceptions</a:t>
            </a:r>
          </a:p>
        </p:txBody>
      </p:sp>
      <p:sp>
        <p:nvSpPr>
          <p:cNvPr id="7173" name="Rectangle 7">
            <a:extLst>
              <a:ext uri="{FF2B5EF4-FFF2-40B4-BE49-F238E27FC236}">
                <a16:creationId xmlns:a16="http://schemas.microsoft.com/office/drawing/2014/main" id="{581B4CC8-D04C-1549-A6EC-89C93A907C9F}"/>
              </a:ext>
            </a:extLst>
          </p:cNvPr>
          <p:cNvSpPr>
            <a:spLocks noChangeArrowheads="1"/>
          </p:cNvSpPr>
          <p:nvPr/>
        </p:nvSpPr>
        <p:spPr bwMode="auto">
          <a:xfrm>
            <a:off x="3540127" y="3375422"/>
            <a:ext cx="1200150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7174" name="Rectangle 9">
            <a:extLst>
              <a:ext uri="{FF2B5EF4-FFF2-40B4-BE49-F238E27FC236}">
                <a16:creationId xmlns:a16="http://schemas.microsoft.com/office/drawing/2014/main" id="{19ABCB58-B5CF-134A-A002-2F56484C52B3}"/>
              </a:ext>
            </a:extLst>
          </p:cNvPr>
          <p:cNvSpPr>
            <a:spLocks noChangeArrowheads="1"/>
          </p:cNvSpPr>
          <p:nvPr/>
        </p:nvSpPr>
        <p:spPr bwMode="auto">
          <a:xfrm>
            <a:off x="3315097" y="3600450"/>
            <a:ext cx="1200150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7175" name="Rectangle 11">
            <a:extLst>
              <a:ext uri="{FF2B5EF4-FFF2-40B4-BE49-F238E27FC236}">
                <a16:creationId xmlns:a16="http://schemas.microsoft.com/office/drawing/2014/main" id="{D83D6B47-9CF7-4444-8480-73B2877201A0}"/>
              </a:ext>
            </a:extLst>
          </p:cNvPr>
          <p:cNvSpPr>
            <a:spLocks noChangeArrowheads="1"/>
          </p:cNvSpPr>
          <p:nvPr/>
        </p:nvSpPr>
        <p:spPr bwMode="auto">
          <a:xfrm>
            <a:off x="839788" y="2676113"/>
            <a:ext cx="18467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1410" tIns="45705" rIns="91410" bIns="45705"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7170" name="Object 10">
            <a:extLst>
              <a:ext uri="{FF2B5EF4-FFF2-40B4-BE49-F238E27FC236}">
                <a16:creationId xmlns:a16="http://schemas.microsoft.com/office/drawing/2014/main" id="{7B6ADDCD-6388-1342-BCAC-A3B3E675E6DF}"/>
              </a:ext>
            </a:extLst>
          </p:cNvPr>
          <p:cNvGraphicFramePr>
            <a:graphicFrameLocks noChangeAspect="1"/>
          </p:cNvGraphicFramePr>
          <p:nvPr/>
        </p:nvGraphicFramePr>
        <p:xfrm>
          <a:off x="839789" y="1700212"/>
          <a:ext cx="12001500" cy="5242322"/>
        </p:xfrm>
        <a:graphic>
          <a:graphicData uri="http://schemas.openxmlformats.org/presentationml/2006/ole">
            <mc:AlternateContent xmlns:mc="http://schemas.openxmlformats.org/markup-compatibility/2006">
              <mc:Choice xmlns:v="urn:schemas-microsoft-com:vml" Requires="v">
                <p:oleObj spid="_x0000_s32786" name="Picture" r:id="rId2" imgW="32245300" imgH="14046200" progId="Word.Picture.8">
                  <p:embed/>
                </p:oleObj>
              </mc:Choice>
              <mc:Fallback>
                <p:oleObj name="Picture" r:id="rId2" imgW="32245300" imgH="14046200" progId="Word.Picture.8">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89" y="1700212"/>
                        <a:ext cx="12001500" cy="52423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39397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4979EB1F-1229-D448-A86C-1AC8A1BF4AA4}"/>
              </a:ext>
            </a:extLst>
          </p:cNvPr>
          <p:cNvSpPr>
            <a:spLocks noGrp="1" noChangeArrowheads="1"/>
          </p:cNvSpPr>
          <p:nvPr>
            <p:ph type="title"/>
          </p:nvPr>
        </p:nvSpPr>
        <p:spPr>
          <a:xfrm>
            <a:off x="1339849" y="200026"/>
            <a:ext cx="11101387" cy="900113"/>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Catch or Declare Checked Exceptions</a:t>
            </a:r>
          </a:p>
        </p:txBody>
      </p:sp>
      <p:sp>
        <p:nvSpPr>
          <p:cNvPr id="8197" name="Rectangle 3">
            <a:extLst>
              <a:ext uri="{FF2B5EF4-FFF2-40B4-BE49-F238E27FC236}">
                <a16:creationId xmlns:a16="http://schemas.microsoft.com/office/drawing/2014/main" id="{08FF8663-B7AE-BA40-9E77-567C4FBA8349}"/>
              </a:ext>
            </a:extLst>
          </p:cNvPr>
          <p:cNvSpPr>
            <a:spLocks noGrp="1" noChangeArrowheads="1"/>
          </p:cNvSpPr>
          <p:nvPr>
            <p:ph type="body" idx="1"/>
          </p:nvPr>
        </p:nvSpPr>
        <p:spPr>
          <a:xfrm>
            <a:off x="1139825" y="1400175"/>
            <a:ext cx="11501438" cy="3000375"/>
          </a:xfrm>
        </p:spPr>
        <p:txBody>
          <a:bodyPr/>
          <a:lstStyle/>
          <a:p>
            <a:pPr marL="0" indent="0">
              <a:buNone/>
            </a:pPr>
            <a:r>
              <a:rPr lang="en-US" altLang="en-US" dirty="0">
                <a:latin typeface="Times New Roman" panose="02020603050405020304" pitchFamily="18" charset="0"/>
                <a:cs typeface="Times New Roman" panose="02020603050405020304" pitchFamily="18" charset="0"/>
              </a:rPr>
              <a:t>Suppose p2 is defined as follows:</a:t>
            </a:r>
          </a:p>
        </p:txBody>
      </p:sp>
      <p:sp>
        <p:nvSpPr>
          <p:cNvPr id="8198" name="Rectangle 8">
            <a:extLst>
              <a:ext uri="{FF2B5EF4-FFF2-40B4-BE49-F238E27FC236}">
                <a16:creationId xmlns:a16="http://schemas.microsoft.com/office/drawing/2014/main" id="{64DDC18F-0C05-9544-A8F9-45CA70427663}"/>
              </a:ext>
            </a:extLst>
          </p:cNvPr>
          <p:cNvSpPr>
            <a:spLocks noChangeArrowheads="1"/>
          </p:cNvSpPr>
          <p:nvPr/>
        </p:nvSpPr>
        <p:spPr bwMode="auto">
          <a:xfrm>
            <a:off x="3940177" y="3606704"/>
            <a:ext cx="1200150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8194" name="Object 7">
            <a:extLst>
              <a:ext uri="{FF2B5EF4-FFF2-40B4-BE49-F238E27FC236}">
                <a16:creationId xmlns:a16="http://schemas.microsoft.com/office/drawing/2014/main" id="{A8C2502B-805C-9047-9601-7C21D0207300}"/>
              </a:ext>
            </a:extLst>
          </p:cNvPr>
          <p:cNvGraphicFramePr>
            <a:graphicFrameLocks noChangeAspect="1"/>
          </p:cNvGraphicFramePr>
          <p:nvPr/>
        </p:nvGraphicFramePr>
        <p:xfrm>
          <a:off x="2464992" y="4600577"/>
          <a:ext cx="8448973" cy="3421261"/>
        </p:xfrm>
        <a:graphic>
          <a:graphicData uri="http://schemas.openxmlformats.org/presentationml/2006/ole">
            <mc:AlternateContent xmlns:mc="http://schemas.openxmlformats.org/markup-compatibility/2006">
              <mc:Choice xmlns:v="urn:schemas-microsoft-com:vml" Requires="v">
                <p:oleObj spid="_x0000_s33810" name="Picture" r:id="rId2" imgW="20294600" imgH="8178800" progId="Word.Picture.8">
                  <p:embed/>
                </p:oleObj>
              </mc:Choice>
              <mc:Fallback>
                <p:oleObj name="Picture" r:id="rId2" imgW="20294600" imgH="8178800" progId="Word.Picture.8">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4992" y="4600577"/>
                        <a:ext cx="8448973" cy="3421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3657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a16="http://schemas.microsoft.com/office/drawing/2014/main" id="{D171A14C-9818-D14C-8453-DC8C76C3E3F9}"/>
              </a:ext>
            </a:extLst>
          </p:cNvPr>
          <p:cNvSpPr>
            <a:spLocks noGrp="1" noChangeArrowheads="1"/>
          </p:cNvSpPr>
          <p:nvPr>
            <p:ph type="title"/>
          </p:nvPr>
        </p:nvSpPr>
        <p:spPr>
          <a:xfrm>
            <a:off x="1339849" y="200026"/>
            <a:ext cx="11101387" cy="900113"/>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Catch or Declare Checked Exceptions</a:t>
            </a:r>
          </a:p>
        </p:txBody>
      </p:sp>
      <p:sp>
        <p:nvSpPr>
          <p:cNvPr id="9221" name="Rectangle 3">
            <a:extLst>
              <a:ext uri="{FF2B5EF4-FFF2-40B4-BE49-F238E27FC236}">
                <a16:creationId xmlns:a16="http://schemas.microsoft.com/office/drawing/2014/main" id="{3538E2D4-13A5-904B-B9C1-7616D9E8B8AD}"/>
              </a:ext>
            </a:extLst>
          </p:cNvPr>
          <p:cNvSpPr>
            <a:spLocks noGrp="1" noChangeArrowheads="1"/>
          </p:cNvSpPr>
          <p:nvPr>
            <p:ph type="body" idx="1"/>
          </p:nvPr>
        </p:nvSpPr>
        <p:spPr>
          <a:xfrm>
            <a:off x="1139825" y="1400175"/>
            <a:ext cx="11501438" cy="3000375"/>
          </a:xfrm>
        </p:spPr>
        <p:txBody>
          <a:bodyPr/>
          <a:lstStyle/>
          <a:p>
            <a:pPr marL="0" indent="0" algn="just">
              <a:buNone/>
            </a:pPr>
            <a:r>
              <a:rPr lang="en-US" altLang="en-US" sz="2800" dirty="0">
                <a:latin typeface="Times New Roman" panose="02020603050405020304" pitchFamily="18" charset="0"/>
                <a:cs typeface="Times New Roman" panose="02020603050405020304" pitchFamily="18" charset="0"/>
              </a:rPr>
              <a:t>Java forces you to deal with checked exceptions. If a method declares a checked exception (i.e., an exception other than </a:t>
            </a:r>
            <a:r>
              <a:rPr lang="en-US" altLang="en-US" sz="2800" u="sng" dirty="0">
                <a:latin typeface="Times New Roman" panose="02020603050405020304" pitchFamily="18" charset="0"/>
                <a:cs typeface="Times New Roman" panose="02020603050405020304" pitchFamily="18" charset="0"/>
              </a:rPr>
              <a:t>Error</a:t>
            </a:r>
            <a:r>
              <a:rPr lang="en-US" altLang="en-US" sz="2800" dirty="0">
                <a:latin typeface="Times New Roman" panose="02020603050405020304" pitchFamily="18" charset="0"/>
                <a:cs typeface="Times New Roman" panose="02020603050405020304" pitchFamily="18" charset="0"/>
              </a:rPr>
              <a:t> or </a:t>
            </a:r>
            <a:r>
              <a:rPr lang="en-US" altLang="en-US" sz="2800" u="sng" dirty="0" err="1">
                <a:latin typeface="Times New Roman" panose="02020603050405020304" pitchFamily="18" charset="0"/>
                <a:cs typeface="Times New Roman" panose="02020603050405020304" pitchFamily="18" charset="0"/>
              </a:rPr>
              <a:t>RuntimeException</a:t>
            </a:r>
            <a:r>
              <a:rPr lang="en-US" altLang="en-US" sz="2800" dirty="0">
                <a:latin typeface="Times New Roman" panose="02020603050405020304" pitchFamily="18" charset="0"/>
                <a:cs typeface="Times New Roman" panose="02020603050405020304" pitchFamily="18" charset="0"/>
              </a:rPr>
              <a:t>), you must invoke it in a </a:t>
            </a:r>
            <a:r>
              <a:rPr lang="en-US" altLang="en-US" sz="2800" u="sng" dirty="0">
                <a:latin typeface="Times New Roman" panose="02020603050405020304" pitchFamily="18" charset="0"/>
                <a:cs typeface="Times New Roman" panose="02020603050405020304" pitchFamily="18" charset="0"/>
              </a:rPr>
              <a:t>try-catch</a:t>
            </a:r>
            <a:r>
              <a:rPr lang="en-US" altLang="en-US" sz="2800" dirty="0">
                <a:latin typeface="Times New Roman" panose="02020603050405020304" pitchFamily="18" charset="0"/>
                <a:cs typeface="Times New Roman" panose="02020603050405020304" pitchFamily="18" charset="0"/>
              </a:rPr>
              <a:t> block or declare to throw the exception in the calling method. For example, suppose that method </a:t>
            </a:r>
            <a:r>
              <a:rPr lang="en-US" altLang="en-US" sz="2800" u="sng" dirty="0">
                <a:latin typeface="Times New Roman" panose="02020603050405020304" pitchFamily="18" charset="0"/>
                <a:cs typeface="Times New Roman" panose="02020603050405020304" pitchFamily="18" charset="0"/>
              </a:rPr>
              <a:t>p1</a:t>
            </a:r>
            <a:r>
              <a:rPr lang="en-US" altLang="en-US" sz="2800" dirty="0">
                <a:latin typeface="Times New Roman" panose="02020603050405020304" pitchFamily="18" charset="0"/>
                <a:cs typeface="Times New Roman" panose="02020603050405020304" pitchFamily="18" charset="0"/>
              </a:rPr>
              <a:t> invokes method </a:t>
            </a:r>
            <a:r>
              <a:rPr lang="en-US" altLang="en-US" sz="2800" u="sng" dirty="0">
                <a:latin typeface="Times New Roman" panose="02020603050405020304" pitchFamily="18" charset="0"/>
                <a:cs typeface="Times New Roman" panose="02020603050405020304" pitchFamily="18" charset="0"/>
              </a:rPr>
              <a:t>p2</a:t>
            </a:r>
            <a:r>
              <a:rPr lang="en-US" altLang="en-US" sz="2800" dirty="0">
                <a:latin typeface="Times New Roman" panose="02020603050405020304" pitchFamily="18" charset="0"/>
                <a:cs typeface="Times New Roman" panose="02020603050405020304" pitchFamily="18" charset="0"/>
              </a:rPr>
              <a:t> and </a:t>
            </a:r>
            <a:r>
              <a:rPr lang="en-US" altLang="en-US" sz="2800" u="sng" dirty="0">
                <a:latin typeface="Times New Roman" panose="02020603050405020304" pitchFamily="18" charset="0"/>
                <a:cs typeface="Times New Roman" panose="02020603050405020304" pitchFamily="18" charset="0"/>
              </a:rPr>
              <a:t>p2</a:t>
            </a:r>
            <a:r>
              <a:rPr lang="en-US" altLang="en-US" sz="2800" dirty="0">
                <a:latin typeface="Times New Roman" panose="02020603050405020304" pitchFamily="18" charset="0"/>
                <a:cs typeface="Times New Roman" panose="02020603050405020304" pitchFamily="18" charset="0"/>
              </a:rPr>
              <a:t> may throw a checked exception (e.g., </a:t>
            </a:r>
            <a:r>
              <a:rPr lang="en-US" altLang="en-US" sz="2800" u="sng" dirty="0" err="1">
                <a:latin typeface="Times New Roman" panose="02020603050405020304" pitchFamily="18" charset="0"/>
                <a:cs typeface="Times New Roman" panose="02020603050405020304" pitchFamily="18" charset="0"/>
              </a:rPr>
              <a:t>IOException</a:t>
            </a:r>
            <a:r>
              <a:rPr lang="en-US" altLang="en-US" sz="2800" dirty="0">
                <a:latin typeface="Times New Roman" panose="02020603050405020304" pitchFamily="18" charset="0"/>
                <a:cs typeface="Times New Roman" panose="02020603050405020304" pitchFamily="18" charset="0"/>
              </a:rPr>
              <a:t>), you have to write the code as shown in (a) or (b).</a:t>
            </a:r>
          </a:p>
        </p:txBody>
      </p:sp>
      <p:sp>
        <p:nvSpPr>
          <p:cNvPr id="9222" name="Rectangle 4">
            <a:extLst>
              <a:ext uri="{FF2B5EF4-FFF2-40B4-BE49-F238E27FC236}">
                <a16:creationId xmlns:a16="http://schemas.microsoft.com/office/drawing/2014/main" id="{64BD7A78-5CEB-CE45-B642-558773BE36F9}"/>
              </a:ext>
            </a:extLst>
          </p:cNvPr>
          <p:cNvSpPr>
            <a:spLocks noChangeArrowheads="1"/>
          </p:cNvSpPr>
          <p:nvPr/>
        </p:nvSpPr>
        <p:spPr bwMode="auto">
          <a:xfrm>
            <a:off x="3940177" y="3606704"/>
            <a:ext cx="12001500" cy="56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graphicFrame>
        <p:nvGraphicFramePr>
          <p:cNvPr id="9218" name="Object 5">
            <a:extLst>
              <a:ext uri="{FF2B5EF4-FFF2-40B4-BE49-F238E27FC236}">
                <a16:creationId xmlns:a16="http://schemas.microsoft.com/office/drawing/2014/main" id="{553F386F-4004-264A-9B74-38A517787EDA}"/>
              </a:ext>
            </a:extLst>
          </p:cNvPr>
          <p:cNvGraphicFramePr>
            <a:graphicFrameLocks noChangeAspect="1"/>
          </p:cNvGraphicFramePr>
          <p:nvPr/>
        </p:nvGraphicFramePr>
        <p:xfrm>
          <a:off x="1143991" y="4598492"/>
          <a:ext cx="11093054" cy="3425428"/>
        </p:xfrm>
        <a:graphic>
          <a:graphicData uri="http://schemas.openxmlformats.org/presentationml/2006/ole">
            <mc:AlternateContent xmlns:mc="http://schemas.openxmlformats.org/markup-compatibility/2006">
              <mc:Choice xmlns:v="urn:schemas-microsoft-com:vml" Requires="v">
                <p:oleObj spid="_x0000_s34834" name="Picture" r:id="rId2" imgW="26606500" imgH="8178800" progId="Word.Picture.8">
                  <p:embed/>
                </p:oleObj>
              </mc:Choice>
              <mc:Fallback>
                <p:oleObj name="Picture" r:id="rId2" imgW="26606500" imgH="8178800" progId="Word.Picture.8">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991" y="4598492"/>
                        <a:ext cx="11093054" cy="34254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3" name="Line 6">
            <a:extLst>
              <a:ext uri="{FF2B5EF4-FFF2-40B4-BE49-F238E27FC236}">
                <a16:creationId xmlns:a16="http://schemas.microsoft.com/office/drawing/2014/main" id="{AB74E2E1-1203-2C4D-905A-F53978C5DFFA}"/>
              </a:ext>
            </a:extLst>
          </p:cNvPr>
          <p:cNvSpPr>
            <a:spLocks noChangeShapeType="1"/>
          </p:cNvSpPr>
          <p:nvPr/>
        </p:nvSpPr>
        <p:spPr bwMode="auto">
          <a:xfrm flipH="1">
            <a:off x="3429000" y="2700337"/>
            <a:ext cx="2078182" cy="2800351"/>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lIns="91410" tIns="45705" rIns="91410" bIns="45705"/>
          <a:lstStyle/>
          <a:p>
            <a:endParaRPr lang="en-US" sz="1100"/>
          </a:p>
        </p:txBody>
      </p:sp>
      <p:sp>
        <p:nvSpPr>
          <p:cNvPr id="9224" name="Line 7">
            <a:extLst>
              <a:ext uri="{FF2B5EF4-FFF2-40B4-BE49-F238E27FC236}">
                <a16:creationId xmlns:a16="http://schemas.microsoft.com/office/drawing/2014/main" id="{9DB9C73D-CA67-7646-BFD3-9B2C414069EC}"/>
              </a:ext>
            </a:extLst>
          </p:cNvPr>
          <p:cNvSpPr>
            <a:spLocks noChangeShapeType="1"/>
          </p:cNvSpPr>
          <p:nvPr/>
        </p:nvSpPr>
        <p:spPr bwMode="auto">
          <a:xfrm>
            <a:off x="8208818" y="2700337"/>
            <a:ext cx="1432070" cy="2300288"/>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lIns="91410" tIns="45705" rIns="91410" bIns="45705"/>
          <a:lstStyle/>
          <a:p>
            <a:endParaRPr lang="en-US" sz="1100"/>
          </a:p>
        </p:txBody>
      </p:sp>
    </p:spTree>
    <p:extLst>
      <p:ext uri="{BB962C8B-B14F-4D97-AF65-F5344CB8AC3E}">
        <p14:creationId xmlns:p14="http://schemas.microsoft.com/office/powerpoint/2010/main" val="1512412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FEE14D2A-6575-6545-BF66-A9B7D1448A03}"/>
              </a:ext>
            </a:extLst>
          </p:cNvPr>
          <p:cNvSpPr>
            <a:spLocks noGrp="1" noChangeArrowheads="1"/>
          </p:cNvSpPr>
          <p:nvPr>
            <p:ph type="title"/>
          </p:nvPr>
        </p:nvSpPr>
        <p:spPr>
          <a:xfrm>
            <a:off x="1739903" y="600073"/>
            <a:ext cx="10201275" cy="15001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Example: Declaring, Throwing, and Catching Exceptions</a:t>
            </a:r>
          </a:p>
        </p:txBody>
      </p:sp>
      <p:sp>
        <p:nvSpPr>
          <p:cNvPr id="27652" name="Rectangle 3">
            <a:extLst>
              <a:ext uri="{FF2B5EF4-FFF2-40B4-BE49-F238E27FC236}">
                <a16:creationId xmlns:a16="http://schemas.microsoft.com/office/drawing/2014/main" id="{9AC7078E-9731-DE40-99F8-0A3505BAA7B2}"/>
              </a:ext>
            </a:extLst>
          </p:cNvPr>
          <p:cNvSpPr>
            <a:spLocks noGrp="1" noChangeArrowheads="1"/>
          </p:cNvSpPr>
          <p:nvPr>
            <p:ph type="body" idx="1"/>
          </p:nvPr>
        </p:nvSpPr>
        <p:spPr>
          <a:xfrm>
            <a:off x="1139825" y="2400298"/>
            <a:ext cx="11201400" cy="3900488"/>
          </a:xfrm>
        </p:spPr>
        <p:txBody>
          <a:bodyPr/>
          <a:lstStyle/>
          <a:p>
            <a:pPr algn="just">
              <a:lnSpc>
                <a:spcPct val="90000"/>
              </a:lnSpc>
            </a:pPr>
            <a:r>
              <a:rPr lang="en-US" altLang="en-US" sz="3600" dirty="0">
                <a:latin typeface="Times New Roman" panose="02020603050405020304" pitchFamily="18" charset="0"/>
                <a:cs typeface="Times New Roman" panose="02020603050405020304" pitchFamily="18" charset="0"/>
              </a:rPr>
              <a:t>Objective: This example demonstrates declaring, throwing, and catching exceptions by modifying the </a:t>
            </a:r>
            <a:r>
              <a:rPr lang="en-US" altLang="en-US" sz="3600" u="sng" dirty="0" err="1">
                <a:latin typeface="Times New Roman" panose="02020603050405020304" pitchFamily="18" charset="0"/>
                <a:cs typeface="Times New Roman" panose="02020603050405020304" pitchFamily="18" charset="0"/>
              </a:rPr>
              <a:t>setRadius</a:t>
            </a:r>
            <a:r>
              <a:rPr lang="en-US" altLang="en-US" sz="3600" dirty="0">
                <a:latin typeface="Times New Roman" panose="02020603050405020304" pitchFamily="18" charset="0"/>
                <a:cs typeface="Times New Roman" panose="02020603050405020304" pitchFamily="18" charset="0"/>
              </a:rPr>
              <a:t> method in the </a:t>
            </a:r>
            <a:r>
              <a:rPr lang="en-US" altLang="en-US" sz="3600" u="sng" dirty="0">
                <a:latin typeface="Times New Roman" panose="02020603050405020304" pitchFamily="18" charset="0"/>
                <a:cs typeface="Times New Roman" panose="02020603050405020304" pitchFamily="18" charset="0"/>
              </a:rPr>
              <a:t>Circle</a:t>
            </a:r>
            <a:r>
              <a:rPr lang="en-US" altLang="en-US" sz="3600" dirty="0">
                <a:latin typeface="Times New Roman" panose="02020603050405020304" pitchFamily="18" charset="0"/>
                <a:cs typeface="Times New Roman" panose="02020603050405020304" pitchFamily="18" charset="0"/>
              </a:rPr>
              <a:t> class defined in Chapter 9. The new </a:t>
            </a:r>
            <a:r>
              <a:rPr lang="en-US" altLang="en-US" sz="3600" u="sng" dirty="0" err="1">
                <a:latin typeface="Times New Roman" panose="02020603050405020304" pitchFamily="18" charset="0"/>
                <a:cs typeface="Times New Roman" panose="02020603050405020304" pitchFamily="18" charset="0"/>
              </a:rPr>
              <a:t>setRadius</a:t>
            </a:r>
            <a:r>
              <a:rPr lang="en-US" altLang="en-US" sz="3600" dirty="0">
                <a:latin typeface="Times New Roman" panose="02020603050405020304" pitchFamily="18" charset="0"/>
                <a:cs typeface="Times New Roman" panose="02020603050405020304" pitchFamily="18" charset="0"/>
              </a:rPr>
              <a:t> method throws an exception if radius is negative.</a:t>
            </a:r>
          </a:p>
        </p:txBody>
      </p:sp>
      <p:sp>
        <p:nvSpPr>
          <p:cNvPr id="27653" name="AutoShape 10">
            <a:hlinkClick r:id="rId2" action="ppaction://program" highlightClick="1"/>
            <a:extLst>
              <a:ext uri="{FF2B5EF4-FFF2-40B4-BE49-F238E27FC236}">
                <a16:creationId xmlns:a16="http://schemas.microsoft.com/office/drawing/2014/main" id="{6FCC089B-FAE5-4643-AC5F-6BD29C12D37F}"/>
              </a:ext>
            </a:extLst>
          </p:cNvPr>
          <p:cNvSpPr>
            <a:spLocks noChangeArrowheads="1"/>
          </p:cNvSpPr>
          <p:nvPr/>
        </p:nvSpPr>
        <p:spPr bwMode="auto">
          <a:xfrm>
            <a:off x="7182247" y="7600952"/>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27654" name="Rectangle 10">
            <a:hlinkClick r:id="rId3"/>
            <a:extLst>
              <a:ext uri="{FF2B5EF4-FFF2-40B4-BE49-F238E27FC236}">
                <a16:creationId xmlns:a16="http://schemas.microsoft.com/office/drawing/2014/main" id="{EA57F581-1382-264E-A9B2-C814FD3DE882}"/>
              </a:ext>
            </a:extLst>
          </p:cNvPr>
          <p:cNvSpPr>
            <a:spLocks noChangeArrowheads="1"/>
          </p:cNvSpPr>
          <p:nvPr/>
        </p:nvSpPr>
        <p:spPr bwMode="auto">
          <a:xfrm>
            <a:off x="3202584" y="7573865"/>
            <a:ext cx="3740050"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TestCircleWithException</a:t>
            </a:r>
          </a:p>
        </p:txBody>
      </p:sp>
      <p:sp>
        <p:nvSpPr>
          <p:cNvPr id="27655" name="Rectangle 11">
            <a:hlinkClick r:id="rId4"/>
            <a:extLst>
              <a:ext uri="{FF2B5EF4-FFF2-40B4-BE49-F238E27FC236}">
                <a16:creationId xmlns:a16="http://schemas.microsoft.com/office/drawing/2014/main" id="{BFE7E409-6812-AF47-8444-CFD53E312E67}"/>
              </a:ext>
            </a:extLst>
          </p:cNvPr>
          <p:cNvSpPr>
            <a:spLocks noChangeArrowheads="1"/>
          </p:cNvSpPr>
          <p:nvPr/>
        </p:nvSpPr>
        <p:spPr bwMode="auto">
          <a:xfrm>
            <a:off x="3202584" y="6800851"/>
            <a:ext cx="3740050"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CircleWithException</a:t>
            </a:r>
          </a:p>
        </p:txBody>
      </p:sp>
    </p:spTree>
    <p:extLst>
      <p:ext uri="{BB962C8B-B14F-4D97-AF65-F5344CB8AC3E}">
        <p14:creationId xmlns:p14="http://schemas.microsoft.com/office/powerpoint/2010/main" val="246279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952A3A86-5790-3B4F-A818-73B910027A70}"/>
              </a:ext>
            </a:extLst>
          </p:cNvPr>
          <p:cNvSpPr>
            <a:spLocks noGrp="1" noChangeArrowheads="1"/>
          </p:cNvSpPr>
          <p:nvPr>
            <p:ph type="title"/>
          </p:nvPr>
        </p:nvSpPr>
        <p:spPr>
          <a:xfrm>
            <a:off x="1700146" y="218660"/>
            <a:ext cx="10201275" cy="1656573"/>
          </a:xfrm>
        </p:spPr>
        <p:txBody>
          <a:bodyPr/>
          <a:lstStyle/>
          <a:p>
            <a:pPr algn="ctr"/>
            <a:r>
              <a:rPr lang="en-US" altLang="en-US" b="1" dirty="0" err="1">
                <a:solidFill>
                  <a:schemeClr val="tx1"/>
                </a:solidFill>
                <a:latin typeface="Times New Roman" panose="02020603050405020304" pitchFamily="18" charset="0"/>
                <a:cs typeface="Times New Roman" panose="02020603050405020304" pitchFamily="18" charset="0"/>
              </a:rPr>
              <a:t>Rethrowing</a:t>
            </a:r>
            <a:r>
              <a:rPr lang="en-US" altLang="en-US" b="1" dirty="0">
                <a:solidFill>
                  <a:schemeClr val="tx1"/>
                </a:solidFill>
                <a:latin typeface="Times New Roman" panose="02020603050405020304" pitchFamily="18" charset="0"/>
                <a:cs typeface="Times New Roman" panose="02020603050405020304" pitchFamily="18" charset="0"/>
              </a:rPr>
              <a:t> Exceptions</a:t>
            </a:r>
          </a:p>
        </p:txBody>
      </p:sp>
      <p:sp>
        <p:nvSpPr>
          <p:cNvPr id="28676" name="Rectangle 3">
            <a:extLst>
              <a:ext uri="{FF2B5EF4-FFF2-40B4-BE49-F238E27FC236}">
                <a16:creationId xmlns:a16="http://schemas.microsoft.com/office/drawing/2014/main" id="{39F1A07D-3BD8-CD48-B3EC-9E3C40C9D7F7}"/>
              </a:ext>
            </a:extLst>
          </p:cNvPr>
          <p:cNvSpPr>
            <a:spLocks noGrp="1" noChangeArrowheads="1"/>
          </p:cNvSpPr>
          <p:nvPr>
            <p:ph type="body" idx="1"/>
          </p:nvPr>
        </p:nvSpPr>
        <p:spPr>
          <a:xfrm>
            <a:off x="1139825" y="1800226"/>
            <a:ext cx="11101387" cy="4900613"/>
          </a:xfrm>
        </p:spPr>
        <p:txBody>
          <a:bodyPr/>
          <a:lstStyle/>
          <a:p>
            <a:pPr>
              <a:buFont typeface="Monotype Sorts" pitchFamily="2" charset="2"/>
              <a:buNone/>
            </a:pPr>
            <a:r>
              <a:rPr lang="en-US" altLang="en-US" sz="3600" dirty="0">
                <a:latin typeface="Courier New" panose="02070309020205020404" pitchFamily="49" charset="0"/>
              </a:rPr>
              <a:t>try {  </a:t>
            </a:r>
          </a:p>
          <a:p>
            <a:pPr>
              <a:spcBef>
                <a:spcPct val="0"/>
              </a:spcBef>
              <a:buFont typeface="Monotype Sorts" pitchFamily="2" charset="2"/>
              <a:buNone/>
            </a:pPr>
            <a:r>
              <a:rPr lang="en-US" altLang="en-US" sz="3600" dirty="0">
                <a:latin typeface="Courier New" panose="02070309020205020404" pitchFamily="49" charset="0"/>
              </a:rPr>
              <a:t>  statements;</a:t>
            </a:r>
          </a:p>
          <a:p>
            <a:pPr>
              <a:spcBef>
                <a:spcPct val="0"/>
              </a:spcBef>
              <a:buFont typeface="Monotype Sorts" pitchFamily="2" charset="2"/>
              <a:buNone/>
            </a:pPr>
            <a:r>
              <a:rPr lang="en-US" altLang="en-US" sz="3600" dirty="0">
                <a:latin typeface="Courier New" panose="02070309020205020404" pitchFamily="49" charset="0"/>
              </a:rPr>
              <a:t>}</a:t>
            </a:r>
          </a:p>
          <a:p>
            <a:pPr>
              <a:spcBef>
                <a:spcPct val="0"/>
              </a:spcBef>
              <a:buFont typeface="Monotype Sorts" pitchFamily="2" charset="2"/>
              <a:buNone/>
            </a:pPr>
            <a:r>
              <a:rPr lang="en-US" altLang="en-US" sz="3600" dirty="0">
                <a:latin typeface="Courier New" panose="02070309020205020404" pitchFamily="49" charset="0"/>
              </a:rPr>
              <a:t>catch(</a:t>
            </a:r>
            <a:r>
              <a:rPr lang="en-US" altLang="en-US" sz="3600" dirty="0" err="1">
                <a:latin typeface="Courier New" panose="02070309020205020404" pitchFamily="49" charset="0"/>
              </a:rPr>
              <a:t>TheException</a:t>
            </a:r>
            <a:r>
              <a:rPr lang="en-US" altLang="en-US" sz="3600" dirty="0">
                <a:latin typeface="Courier New" panose="02070309020205020404" pitchFamily="49" charset="0"/>
              </a:rPr>
              <a:t> ex) { </a:t>
            </a:r>
          </a:p>
          <a:p>
            <a:pPr>
              <a:spcBef>
                <a:spcPct val="0"/>
              </a:spcBef>
              <a:buFont typeface="Monotype Sorts" pitchFamily="2" charset="2"/>
              <a:buNone/>
            </a:pPr>
            <a:r>
              <a:rPr lang="en-US" altLang="en-US" sz="3600" dirty="0">
                <a:latin typeface="Courier New" panose="02070309020205020404" pitchFamily="49" charset="0"/>
              </a:rPr>
              <a:t>  perform operations before exits;</a:t>
            </a:r>
          </a:p>
          <a:p>
            <a:pPr>
              <a:spcBef>
                <a:spcPct val="0"/>
              </a:spcBef>
              <a:buFont typeface="Monotype Sorts" pitchFamily="2" charset="2"/>
              <a:buNone/>
            </a:pPr>
            <a:r>
              <a:rPr lang="en-US" altLang="en-US" sz="3600" dirty="0">
                <a:latin typeface="Courier New" panose="02070309020205020404" pitchFamily="49" charset="0"/>
              </a:rPr>
              <a:t>  throw ex;</a:t>
            </a:r>
          </a:p>
          <a:p>
            <a:pPr>
              <a:spcBef>
                <a:spcPct val="0"/>
              </a:spcBef>
              <a:buFont typeface="Monotype Sorts" pitchFamily="2" charset="2"/>
              <a:buNone/>
            </a:pPr>
            <a:r>
              <a:rPr lang="en-US" altLang="en-US" sz="3600" dirty="0">
                <a:latin typeface="Courier New" panose="02070309020205020404" pitchFamily="49" charset="0"/>
              </a:rPr>
              <a:t>}</a:t>
            </a:r>
          </a:p>
        </p:txBody>
      </p:sp>
    </p:spTree>
    <p:extLst>
      <p:ext uri="{BB962C8B-B14F-4D97-AF65-F5344CB8AC3E}">
        <p14:creationId xmlns:p14="http://schemas.microsoft.com/office/powerpoint/2010/main" val="4180219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8B5C41DF-105A-6D42-AEE9-841290F156F2}"/>
              </a:ext>
            </a:extLst>
          </p:cNvPr>
          <p:cNvSpPr>
            <a:spLocks noGrp="1" noChangeArrowheads="1"/>
          </p:cNvSpPr>
          <p:nvPr>
            <p:ph type="title"/>
          </p:nvPr>
        </p:nvSpPr>
        <p:spPr>
          <a:xfrm>
            <a:off x="1739903" y="0"/>
            <a:ext cx="10201275" cy="1875234"/>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The </a:t>
            </a:r>
            <a:r>
              <a:rPr lang="en-US" altLang="en-US" sz="4800" b="1" dirty="0">
                <a:solidFill>
                  <a:schemeClr val="tx1"/>
                </a:solidFill>
                <a:latin typeface="Courier New" panose="02070309020205020404" pitchFamily="49" charset="0"/>
                <a:cs typeface="Courier New" panose="02070309020205020404" pitchFamily="49" charset="0"/>
              </a:rPr>
              <a:t>finally</a:t>
            </a:r>
            <a:r>
              <a:rPr lang="en-US" altLang="en-US" b="1" dirty="0">
                <a:solidFill>
                  <a:schemeClr val="tx1"/>
                </a:solidFill>
                <a:latin typeface="Times New Roman" panose="02020603050405020304" pitchFamily="18" charset="0"/>
                <a:cs typeface="Times New Roman" panose="02020603050405020304" pitchFamily="18" charset="0"/>
              </a:rPr>
              <a:t> Clause</a:t>
            </a:r>
          </a:p>
        </p:txBody>
      </p:sp>
      <p:sp>
        <p:nvSpPr>
          <p:cNvPr id="29700" name="Rectangle 3">
            <a:extLst>
              <a:ext uri="{FF2B5EF4-FFF2-40B4-BE49-F238E27FC236}">
                <a16:creationId xmlns:a16="http://schemas.microsoft.com/office/drawing/2014/main" id="{DAEEE13C-39B1-6A49-B3A6-B0D91055BA58}"/>
              </a:ext>
            </a:extLst>
          </p:cNvPr>
          <p:cNvSpPr>
            <a:spLocks noGrp="1" noChangeArrowheads="1"/>
          </p:cNvSpPr>
          <p:nvPr>
            <p:ph type="body" idx="1"/>
          </p:nvPr>
        </p:nvSpPr>
        <p:spPr>
          <a:xfrm>
            <a:off x="2039937" y="1800223"/>
            <a:ext cx="10101263" cy="5500688"/>
          </a:xfrm>
        </p:spPr>
        <p:txBody>
          <a:bodyPr/>
          <a:lstStyle/>
          <a:p>
            <a:pPr algn="just">
              <a:lnSpc>
                <a:spcPct val="90000"/>
              </a:lnSpc>
              <a:buFont typeface="Monotype Sorts" pitchFamily="2" charset="2"/>
              <a:buNone/>
            </a:pPr>
            <a:r>
              <a:rPr lang="en-US" altLang="en-US" sz="3600" dirty="0">
                <a:latin typeface="Courier New" panose="02070309020205020404" pitchFamily="49" charset="0"/>
              </a:rPr>
              <a:t>try {  </a:t>
            </a:r>
          </a:p>
          <a:p>
            <a:pPr algn="just">
              <a:lnSpc>
                <a:spcPct val="90000"/>
              </a:lnSpc>
              <a:spcBef>
                <a:spcPct val="0"/>
              </a:spcBef>
              <a:buFont typeface="Monotype Sorts" pitchFamily="2" charset="2"/>
              <a:buNone/>
            </a:pPr>
            <a:r>
              <a:rPr lang="en-US" altLang="en-US" sz="3600" dirty="0">
                <a:latin typeface="Courier New" panose="02070309020205020404" pitchFamily="49" charset="0"/>
              </a:rPr>
              <a:t>  statements;</a:t>
            </a:r>
          </a:p>
          <a:p>
            <a:pPr algn="just">
              <a:lnSpc>
                <a:spcPct val="90000"/>
              </a:lnSpc>
              <a:spcBef>
                <a:spcPct val="0"/>
              </a:spcBef>
              <a:buFont typeface="Monotype Sorts" pitchFamily="2" charset="2"/>
              <a:buNone/>
            </a:pPr>
            <a:r>
              <a:rPr lang="en-US" altLang="en-US" sz="3600" dirty="0">
                <a:latin typeface="Courier New" panose="02070309020205020404" pitchFamily="49" charset="0"/>
              </a:rPr>
              <a:t>}</a:t>
            </a:r>
          </a:p>
          <a:p>
            <a:pPr algn="just">
              <a:lnSpc>
                <a:spcPct val="90000"/>
              </a:lnSpc>
              <a:spcBef>
                <a:spcPct val="0"/>
              </a:spcBef>
              <a:buFont typeface="Monotype Sorts" pitchFamily="2" charset="2"/>
              <a:buNone/>
            </a:pPr>
            <a:r>
              <a:rPr lang="en-US" altLang="en-US" sz="3600" dirty="0">
                <a:latin typeface="Courier New" panose="02070309020205020404" pitchFamily="49" charset="0"/>
              </a:rPr>
              <a:t>catch(</a:t>
            </a:r>
            <a:r>
              <a:rPr lang="en-US" altLang="en-US" sz="3600" dirty="0" err="1">
                <a:latin typeface="Courier New" panose="02070309020205020404" pitchFamily="49" charset="0"/>
              </a:rPr>
              <a:t>TheException</a:t>
            </a:r>
            <a:r>
              <a:rPr lang="en-US" altLang="en-US" sz="3600" dirty="0">
                <a:latin typeface="Courier New" panose="02070309020205020404" pitchFamily="49" charset="0"/>
              </a:rPr>
              <a:t> ex) { </a:t>
            </a:r>
          </a:p>
          <a:p>
            <a:pPr algn="just">
              <a:lnSpc>
                <a:spcPct val="90000"/>
              </a:lnSpc>
              <a:spcBef>
                <a:spcPct val="0"/>
              </a:spcBef>
              <a:buFont typeface="Monotype Sorts" pitchFamily="2" charset="2"/>
              <a:buNone/>
            </a:pPr>
            <a:r>
              <a:rPr lang="en-US" altLang="en-US" sz="3600" dirty="0">
                <a:latin typeface="Courier New" panose="02070309020205020404" pitchFamily="49" charset="0"/>
              </a:rPr>
              <a:t>  handling ex; </a:t>
            </a:r>
          </a:p>
          <a:p>
            <a:pPr algn="just">
              <a:lnSpc>
                <a:spcPct val="90000"/>
              </a:lnSpc>
              <a:spcBef>
                <a:spcPct val="0"/>
              </a:spcBef>
              <a:buFont typeface="Monotype Sorts" pitchFamily="2" charset="2"/>
              <a:buNone/>
            </a:pPr>
            <a:r>
              <a:rPr lang="en-US" altLang="en-US" sz="3600" dirty="0">
                <a:latin typeface="Courier New" panose="02070309020205020404" pitchFamily="49" charset="0"/>
              </a:rPr>
              <a:t>}</a:t>
            </a:r>
          </a:p>
          <a:p>
            <a:pPr algn="just">
              <a:lnSpc>
                <a:spcPct val="90000"/>
              </a:lnSpc>
              <a:spcBef>
                <a:spcPct val="0"/>
              </a:spcBef>
              <a:buFont typeface="Monotype Sorts" pitchFamily="2" charset="2"/>
              <a:buNone/>
            </a:pPr>
            <a:r>
              <a:rPr lang="en-US" altLang="en-US" sz="3600" dirty="0">
                <a:latin typeface="Courier New" panose="02070309020205020404" pitchFamily="49" charset="0"/>
              </a:rPr>
              <a:t>finally { </a:t>
            </a:r>
          </a:p>
          <a:p>
            <a:pPr algn="just">
              <a:lnSpc>
                <a:spcPct val="90000"/>
              </a:lnSpc>
              <a:spcBef>
                <a:spcPct val="0"/>
              </a:spcBef>
              <a:buFont typeface="Monotype Sorts" pitchFamily="2" charset="2"/>
              <a:buNone/>
            </a:pPr>
            <a:r>
              <a:rPr lang="en-US" altLang="en-US" sz="3600" dirty="0">
                <a:latin typeface="Courier New" panose="02070309020205020404" pitchFamily="49" charset="0"/>
              </a:rPr>
              <a:t>  </a:t>
            </a:r>
            <a:r>
              <a:rPr lang="en-US" altLang="en-US" sz="3600" dirty="0" err="1">
                <a:latin typeface="Courier New" panose="02070309020205020404" pitchFamily="49" charset="0"/>
              </a:rPr>
              <a:t>finalStatements</a:t>
            </a:r>
            <a:r>
              <a:rPr lang="en-US" altLang="en-US" sz="3600" dirty="0">
                <a:latin typeface="Courier New" panose="02070309020205020404" pitchFamily="49" charset="0"/>
              </a:rPr>
              <a:t>; </a:t>
            </a:r>
          </a:p>
          <a:p>
            <a:pPr algn="just">
              <a:lnSpc>
                <a:spcPct val="90000"/>
              </a:lnSpc>
              <a:spcBef>
                <a:spcPct val="0"/>
              </a:spcBef>
              <a:buFont typeface="Monotype Sorts" pitchFamily="2" charset="2"/>
              <a:buNone/>
            </a:pPr>
            <a:r>
              <a:rPr lang="en-US" altLang="en-US" sz="3600" dirty="0">
                <a:latin typeface="Courier New" panose="02070309020205020404" pitchFamily="49" charset="0"/>
              </a:rPr>
              <a:t>}</a:t>
            </a:r>
            <a:endParaRPr lang="en-US" altLang="en-US" sz="3600" dirty="0"/>
          </a:p>
        </p:txBody>
      </p:sp>
    </p:spTree>
    <p:extLst>
      <p:ext uri="{BB962C8B-B14F-4D97-AF65-F5344CB8AC3E}">
        <p14:creationId xmlns:p14="http://schemas.microsoft.com/office/powerpoint/2010/main" val="3772225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B1046FE4-3FD9-634A-AB82-2E3BD22AB61E}"/>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0724" name="Rectangle 8">
            <a:extLst>
              <a:ext uri="{FF2B5EF4-FFF2-40B4-BE49-F238E27FC236}">
                <a16:creationId xmlns:a16="http://schemas.microsoft.com/office/drawing/2014/main" id="{602CB205-E927-1E43-AF3F-3FA8CBFA21B1}"/>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0725" name="Rectangle 10">
            <a:extLst>
              <a:ext uri="{FF2B5EF4-FFF2-40B4-BE49-F238E27FC236}">
                <a16:creationId xmlns:a16="http://schemas.microsoft.com/office/drawing/2014/main" id="{65AC41D2-61CD-EC42-8DD3-D24D190E312F}"/>
              </a:ext>
            </a:extLst>
          </p:cNvPr>
          <p:cNvSpPr>
            <a:spLocks noGrp="1" noChangeArrowheads="1"/>
          </p:cNvSpPr>
          <p:nvPr>
            <p:ph type="body" idx="1"/>
          </p:nvPr>
        </p:nvSpPr>
        <p:spPr>
          <a:xfrm>
            <a:off x="1239837" y="2500312"/>
            <a:ext cx="6100763" cy="5300663"/>
          </a:xfrm>
        </p:spPr>
        <p:txBody>
          <a:bodyPr/>
          <a:lstStyle/>
          <a:p>
            <a:pPr>
              <a:lnSpc>
                <a:spcPct val="80000"/>
              </a:lnSpc>
              <a:buFont typeface="Monotype Sorts" pitchFamily="2" charset="2"/>
              <a:buNone/>
            </a:pPr>
            <a:r>
              <a:rPr lang="en-US" altLang="en-US" sz="3100">
                <a:latin typeface="Courier New" panose="02070309020205020404" pitchFamily="49" charset="0"/>
              </a:rPr>
              <a:t>try {  </a:t>
            </a:r>
          </a:p>
          <a:p>
            <a:pPr>
              <a:lnSpc>
                <a:spcPct val="80000"/>
              </a:lnSpc>
              <a:buFont typeface="Monotype Sorts" pitchFamily="2" charset="2"/>
              <a:buNone/>
            </a:pPr>
            <a:r>
              <a:rPr lang="en-US" altLang="en-US" sz="3100">
                <a:latin typeface="Courier New" panose="02070309020205020404" pitchFamily="49" charset="0"/>
              </a:rPr>
              <a:t>  statements;</a:t>
            </a:r>
          </a:p>
          <a:p>
            <a:pPr>
              <a:lnSpc>
                <a:spcPct val="80000"/>
              </a:lnSpc>
              <a:buFont typeface="Monotype Sorts" pitchFamily="2" charset="2"/>
              <a:buNone/>
            </a:pPr>
            <a:r>
              <a:rPr lang="en-US" altLang="en-US" sz="3100">
                <a:latin typeface="Courier New" panose="02070309020205020404" pitchFamily="49" charset="0"/>
              </a:rPr>
              <a:t>}</a:t>
            </a:r>
          </a:p>
          <a:p>
            <a:pPr>
              <a:lnSpc>
                <a:spcPct val="80000"/>
              </a:lnSpc>
              <a:buFont typeface="Monotype Sorts" pitchFamily="2" charset="2"/>
              <a:buNone/>
            </a:pPr>
            <a:r>
              <a:rPr lang="en-US" altLang="en-US" sz="3100">
                <a:latin typeface="Courier New" panose="02070309020205020404" pitchFamily="49" charset="0"/>
              </a:rPr>
              <a:t>catch(TheException ex) { </a:t>
            </a:r>
          </a:p>
          <a:p>
            <a:pPr>
              <a:lnSpc>
                <a:spcPct val="80000"/>
              </a:lnSpc>
              <a:buFont typeface="Monotype Sorts" pitchFamily="2" charset="2"/>
              <a:buNone/>
            </a:pPr>
            <a:r>
              <a:rPr lang="en-US" altLang="en-US" sz="3100">
                <a:latin typeface="Courier New" panose="02070309020205020404" pitchFamily="49" charset="0"/>
              </a:rPr>
              <a:t>  handling ex; </a:t>
            </a:r>
          </a:p>
          <a:p>
            <a:pPr>
              <a:lnSpc>
                <a:spcPct val="80000"/>
              </a:lnSpc>
              <a:buFont typeface="Monotype Sorts" pitchFamily="2" charset="2"/>
              <a:buNone/>
            </a:pPr>
            <a:r>
              <a:rPr lang="en-US" altLang="en-US" sz="3100">
                <a:latin typeface="Courier New" panose="02070309020205020404" pitchFamily="49" charset="0"/>
              </a:rPr>
              <a:t>}</a:t>
            </a:r>
          </a:p>
          <a:p>
            <a:pPr>
              <a:lnSpc>
                <a:spcPct val="80000"/>
              </a:lnSpc>
              <a:buFont typeface="Monotype Sorts" pitchFamily="2" charset="2"/>
              <a:buNone/>
            </a:pPr>
            <a:r>
              <a:rPr lang="en-US" altLang="en-US" sz="3100">
                <a:latin typeface="Courier New" panose="02070309020205020404" pitchFamily="49" charset="0"/>
              </a:rPr>
              <a:t>finally { </a:t>
            </a:r>
          </a:p>
          <a:p>
            <a:pPr>
              <a:lnSpc>
                <a:spcPct val="80000"/>
              </a:lnSpc>
              <a:buFont typeface="Monotype Sorts" pitchFamily="2" charset="2"/>
              <a:buNone/>
            </a:pPr>
            <a:r>
              <a:rPr lang="en-US" altLang="en-US" sz="3100">
                <a:latin typeface="Courier New" panose="02070309020205020404" pitchFamily="49" charset="0"/>
              </a:rPr>
              <a:t>  finalStatements; </a:t>
            </a:r>
          </a:p>
          <a:p>
            <a:pPr>
              <a:lnSpc>
                <a:spcPct val="80000"/>
              </a:lnSpc>
              <a:buFont typeface="Monotype Sorts" pitchFamily="2" charset="2"/>
              <a:buNone/>
            </a:pPr>
            <a:r>
              <a:rPr lang="en-US" altLang="en-US" sz="3100">
                <a:latin typeface="Courier New" panose="02070309020205020404" pitchFamily="49" charset="0"/>
              </a:rPr>
              <a:t>}</a:t>
            </a:r>
          </a:p>
          <a:p>
            <a:pPr>
              <a:lnSpc>
                <a:spcPct val="80000"/>
              </a:lnSpc>
              <a:buFont typeface="Monotype Sorts" pitchFamily="2" charset="2"/>
              <a:buNone/>
            </a:pPr>
            <a:endParaRPr lang="en-US" altLang="en-US" sz="3100">
              <a:latin typeface="Courier New" panose="02070309020205020404" pitchFamily="49" charset="0"/>
            </a:endParaRPr>
          </a:p>
          <a:p>
            <a:pPr>
              <a:lnSpc>
                <a:spcPct val="80000"/>
              </a:lnSpc>
              <a:buFont typeface="Monotype Sorts" pitchFamily="2" charset="2"/>
              <a:buNone/>
            </a:pPr>
            <a:r>
              <a:rPr lang="en-US" altLang="en-US" sz="3100">
                <a:latin typeface="Courier New" panose="02070309020205020404" pitchFamily="49" charset="0"/>
              </a:rPr>
              <a:t>Next statement;</a:t>
            </a:r>
          </a:p>
        </p:txBody>
      </p:sp>
      <p:sp>
        <p:nvSpPr>
          <p:cNvPr id="30726" name="Rectangle 6">
            <a:extLst>
              <a:ext uri="{FF2B5EF4-FFF2-40B4-BE49-F238E27FC236}">
                <a16:creationId xmlns:a16="http://schemas.microsoft.com/office/drawing/2014/main" id="{032F1D64-A508-504E-8BFD-1E69D35F064F}"/>
              </a:ext>
            </a:extLst>
          </p:cNvPr>
          <p:cNvSpPr>
            <a:spLocks noChangeArrowheads="1"/>
          </p:cNvSpPr>
          <p:nvPr/>
        </p:nvSpPr>
        <p:spPr bwMode="auto">
          <a:xfrm>
            <a:off x="1639889" y="3000375"/>
            <a:ext cx="370046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291847" name="AutoShape 7">
            <a:extLst>
              <a:ext uri="{FF2B5EF4-FFF2-40B4-BE49-F238E27FC236}">
                <a16:creationId xmlns:a16="http://schemas.microsoft.com/office/drawing/2014/main" id="{10BB26AA-2B2E-F744-B2BF-0C25503402A8}"/>
              </a:ext>
            </a:extLst>
          </p:cNvPr>
          <p:cNvSpPr>
            <a:spLocks noChangeArrowheads="1"/>
          </p:cNvSpPr>
          <p:nvPr/>
        </p:nvSpPr>
        <p:spPr bwMode="auto">
          <a:xfrm>
            <a:off x="8340726" y="1173066"/>
            <a:ext cx="3842147" cy="1427261"/>
          </a:xfrm>
          <a:prstGeom prst="wedgeRoundRectCallout">
            <a:avLst>
              <a:gd name="adj1" fmla="val -145120"/>
              <a:gd name="adj2" fmla="val 88833"/>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Suppose no exceptions in the statements</a:t>
            </a:r>
          </a:p>
        </p:txBody>
      </p:sp>
    </p:spTree>
    <p:extLst>
      <p:ext uri="{BB962C8B-B14F-4D97-AF65-F5344CB8AC3E}">
        <p14:creationId xmlns:p14="http://schemas.microsoft.com/office/powerpoint/2010/main" val="19458775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1847"/>
                                        </p:tgtEl>
                                        <p:attrNameLst>
                                          <p:attrName>style.visibility</p:attrName>
                                        </p:attrNameLst>
                                      </p:cBhvr>
                                      <p:to>
                                        <p:strVal val="visible"/>
                                      </p:to>
                                    </p:set>
                                    <p:anim calcmode="lin" valueType="num">
                                      <p:cBhvr additive="base">
                                        <p:cTn id="7" dur="500" fill="hold"/>
                                        <p:tgtEl>
                                          <p:spTgt spid="291847"/>
                                        </p:tgtEl>
                                        <p:attrNameLst>
                                          <p:attrName>ppt_x</p:attrName>
                                        </p:attrNameLst>
                                      </p:cBhvr>
                                      <p:tavLst>
                                        <p:tav tm="0">
                                          <p:val>
                                            <p:strVal val="0-#ppt_w/2"/>
                                          </p:val>
                                        </p:tav>
                                        <p:tav tm="100000">
                                          <p:val>
                                            <p:strVal val="#ppt_x"/>
                                          </p:val>
                                        </p:tav>
                                      </p:tavLst>
                                    </p:anim>
                                    <p:anim calcmode="lin" valueType="num">
                                      <p:cBhvr additive="base">
                                        <p:cTn id="8" dur="500" fill="hold"/>
                                        <p:tgtEl>
                                          <p:spTgt spid="291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0FA736EE-262B-714A-B4B4-25EB5C5495BE}"/>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1748" name="Rectangle 3">
            <a:extLst>
              <a:ext uri="{FF2B5EF4-FFF2-40B4-BE49-F238E27FC236}">
                <a16:creationId xmlns:a16="http://schemas.microsoft.com/office/drawing/2014/main" id="{5F518105-6225-964F-BDBE-B03D001816FD}"/>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1749" name="Rectangle 4">
            <a:extLst>
              <a:ext uri="{FF2B5EF4-FFF2-40B4-BE49-F238E27FC236}">
                <a16:creationId xmlns:a16="http://schemas.microsoft.com/office/drawing/2014/main" id="{BC8FCB17-3308-F145-B2D5-09759D4A7356}"/>
              </a:ext>
            </a:extLst>
          </p:cNvPr>
          <p:cNvSpPr>
            <a:spLocks noGrp="1" noChangeArrowheads="1"/>
          </p:cNvSpPr>
          <p:nvPr>
            <p:ph type="body" idx="1"/>
          </p:nvPr>
        </p:nvSpPr>
        <p:spPr>
          <a:xfrm>
            <a:off x="1239837" y="2500312"/>
            <a:ext cx="6100763" cy="5300663"/>
          </a:xfrm>
        </p:spPr>
        <p:txBody>
          <a:bodyPr/>
          <a:lstStyle/>
          <a:p>
            <a:pPr>
              <a:lnSpc>
                <a:spcPct val="80000"/>
              </a:lnSpc>
              <a:buFont typeface="Monotype Sorts" pitchFamily="2" charset="2"/>
              <a:buNone/>
            </a:pPr>
            <a:r>
              <a:rPr lang="en-US" altLang="en-US" sz="3200" dirty="0">
                <a:latin typeface="Courier New" panose="02070309020205020404" pitchFamily="49" charset="0"/>
              </a:rPr>
              <a:t>try {  </a:t>
            </a:r>
          </a:p>
          <a:p>
            <a:pPr>
              <a:lnSpc>
                <a:spcPct val="80000"/>
              </a:lnSpc>
              <a:buFont typeface="Monotype Sorts" pitchFamily="2" charset="2"/>
              <a:buNone/>
            </a:pPr>
            <a:r>
              <a:rPr lang="en-US" altLang="en-US" sz="3200" dirty="0">
                <a:latin typeface="Courier New" panose="02070309020205020404" pitchFamily="49" charset="0"/>
              </a:rPr>
              <a:t>  statements;</a:t>
            </a:r>
          </a:p>
          <a:p>
            <a:pPr>
              <a:lnSpc>
                <a:spcPct val="80000"/>
              </a:lnSpc>
              <a:buFont typeface="Monotype Sorts" pitchFamily="2" charset="2"/>
              <a:buNone/>
            </a:pPr>
            <a:r>
              <a:rPr lang="en-US" altLang="en-US" sz="3200" dirty="0">
                <a:latin typeface="Courier New" panose="02070309020205020404" pitchFamily="49" charset="0"/>
              </a:rPr>
              <a:t>}</a:t>
            </a:r>
          </a:p>
          <a:p>
            <a:pPr>
              <a:lnSpc>
                <a:spcPct val="80000"/>
              </a:lnSpc>
              <a:buFont typeface="Monotype Sorts" pitchFamily="2" charset="2"/>
              <a:buNone/>
            </a:pPr>
            <a:r>
              <a:rPr lang="en-US" altLang="en-US" sz="3200" dirty="0">
                <a:latin typeface="Courier New" panose="02070309020205020404" pitchFamily="49" charset="0"/>
              </a:rPr>
              <a:t>catch(</a:t>
            </a:r>
            <a:r>
              <a:rPr lang="en-US" altLang="en-US" sz="3200" dirty="0" err="1">
                <a:latin typeface="Courier New" panose="02070309020205020404" pitchFamily="49" charset="0"/>
              </a:rPr>
              <a:t>TheException</a:t>
            </a:r>
            <a:r>
              <a:rPr lang="en-US" altLang="en-US" sz="3200" dirty="0">
                <a:latin typeface="Courier New" panose="02070309020205020404" pitchFamily="49" charset="0"/>
              </a:rPr>
              <a:t> ex) { </a:t>
            </a:r>
          </a:p>
          <a:p>
            <a:pPr>
              <a:lnSpc>
                <a:spcPct val="80000"/>
              </a:lnSpc>
              <a:buFont typeface="Monotype Sorts" pitchFamily="2" charset="2"/>
              <a:buNone/>
            </a:pPr>
            <a:r>
              <a:rPr lang="en-US" altLang="en-US" sz="3200" dirty="0">
                <a:latin typeface="Courier New" panose="02070309020205020404" pitchFamily="49" charset="0"/>
              </a:rPr>
              <a:t>  handling ex; </a:t>
            </a:r>
          </a:p>
          <a:p>
            <a:pPr>
              <a:lnSpc>
                <a:spcPct val="80000"/>
              </a:lnSpc>
              <a:buFont typeface="Monotype Sorts" pitchFamily="2" charset="2"/>
              <a:buNone/>
            </a:pPr>
            <a:r>
              <a:rPr lang="en-US" altLang="en-US" sz="3200" dirty="0">
                <a:latin typeface="Courier New" panose="02070309020205020404" pitchFamily="49" charset="0"/>
              </a:rPr>
              <a:t>}</a:t>
            </a:r>
          </a:p>
          <a:p>
            <a:pPr>
              <a:lnSpc>
                <a:spcPct val="80000"/>
              </a:lnSpc>
              <a:buFont typeface="Monotype Sorts" pitchFamily="2" charset="2"/>
              <a:buNone/>
            </a:pPr>
            <a:r>
              <a:rPr lang="en-US" altLang="en-US" sz="3200" dirty="0">
                <a:latin typeface="Courier New" panose="02070309020205020404" pitchFamily="49" charset="0"/>
              </a:rPr>
              <a:t>finally { </a:t>
            </a:r>
          </a:p>
          <a:p>
            <a:pPr>
              <a:lnSpc>
                <a:spcPct val="80000"/>
              </a:lnSpc>
              <a:buFont typeface="Monotype Sorts" pitchFamily="2" charset="2"/>
              <a:buNone/>
            </a:pPr>
            <a:r>
              <a:rPr lang="en-US" altLang="en-US" sz="3200" dirty="0">
                <a:latin typeface="Courier New" panose="02070309020205020404" pitchFamily="49" charset="0"/>
              </a:rPr>
              <a:t>  </a:t>
            </a:r>
            <a:r>
              <a:rPr lang="en-US" altLang="en-US" sz="3200" dirty="0" err="1">
                <a:latin typeface="Courier New" panose="02070309020205020404" pitchFamily="49" charset="0"/>
              </a:rPr>
              <a:t>finalStatements</a:t>
            </a:r>
            <a:r>
              <a:rPr lang="en-US" altLang="en-US" sz="3200" dirty="0">
                <a:latin typeface="Courier New" panose="02070309020205020404" pitchFamily="49" charset="0"/>
              </a:rPr>
              <a:t>; </a:t>
            </a:r>
          </a:p>
          <a:p>
            <a:pPr>
              <a:lnSpc>
                <a:spcPct val="80000"/>
              </a:lnSpc>
              <a:buFont typeface="Monotype Sorts" pitchFamily="2" charset="2"/>
              <a:buNone/>
            </a:pPr>
            <a:r>
              <a:rPr lang="en-US" altLang="en-US" sz="3200" dirty="0">
                <a:latin typeface="Courier New" panose="02070309020205020404" pitchFamily="49" charset="0"/>
              </a:rPr>
              <a:t>}</a:t>
            </a:r>
          </a:p>
          <a:p>
            <a:pPr>
              <a:lnSpc>
                <a:spcPct val="80000"/>
              </a:lnSpc>
              <a:buFont typeface="Monotype Sorts" pitchFamily="2" charset="2"/>
              <a:buNone/>
            </a:pPr>
            <a:endParaRPr lang="en-US" altLang="en-US" sz="3200" dirty="0">
              <a:latin typeface="Courier New" panose="02070309020205020404" pitchFamily="49" charset="0"/>
            </a:endParaRPr>
          </a:p>
          <a:p>
            <a:pPr>
              <a:lnSpc>
                <a:spcPct val="80000"/>
              </a:lnSpc>
              <a:buFont typeface="Monotype Sorts" pitchFamily="2" charset="2"/>
              <a:buNone/>
            </a:pPr>
            <a:r>
              <a:rPr lang="en-US" altLang="en-US" sz="3200" dirty="0">
                <a:latin typeface="Courier New" panose="02070309020205020404" pitchFamily="49" charset="0"/>
              </a:rPr>
              <a:t>Next statement;</a:t>
            </a:r>
          </a:p>
        </p:txBody>
      </p:sp>
      <p:sp>
        <p:nvSpPr>
          <p:cNvPr id="292870" name="AutoShape 6">
            <a:extLst>
              <a:ext uri="{FF2B5EF4-FFF2-40B4-BE49-F238E27FC236}">
                <a16:creationId xmlns:a16="http://schemas.microsoft.com/office/drawing/2014/main" id="{495A308C-4734-0E45-BCC1-9D86DBD01ED5}"/>
              </a:ext>
            </a:extLst>
          </p:cNvPr>
          <p:cNvSpPr>
            <a:spLocks noChangeArrowheads="1"/>
          </p:cNvSpPr>
          <p:nvPr/>
        </p:nvSpPr>
        <p:spPr bwMode="auto">
          <a:xfrm>
            <a:off x="8340726" y="1900236"/>
            <a:ext cx="3842147" cy="1427262"/>
          </a:xfrm>
          <a:prstGeom prst="wedgeRoundRectCallout">
            <a:avLst>
              <a:gd name="adj1" fmla="val -124185"/>
              <a:gd name="adj2" fmla="val 234671"/>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The final block is always executed</a:t>
            </a:r>
          </a:p>
        </p:txBody>
      </p:sp>
      <p:sp>
        <p:nvSpPr>
          <p:cNvPr id="31751" name="Rectangle 7">
            <a:extLst>
              <a:ext uri="{FF2B5EF4-FFF2-40B4-BE49-F238E27FC236}">
                <a16:creationId xmlns:a16="http://schemas.microsoft.com/office/drawing/2014/main" id="{C399FBAB-BCB5-FC49-B7B5-923863F6CE08}"/>
              </a:ext>
            </a:extLst>
          </p:cNvPr>
          <p:cNvSpPr>
            <a:spLocks noChangeArrowheads="1"/>
          </p:cNvSpPr>
          <p:nvPr/>
        </p:nvSpPr>
        <p:spPr bwMode="auto">
          <a:xfrm>
            <a:off x="1839913" y="5900738"/>
            <a:ext cx="410051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2226408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2870"/>
                                        </p:tgtEl>
                                        <p:attrNameLst>
                                          <p:attrName>style.visibility</p:attrName>
                                        </p:attrNameLst>
                                      </p:cBhvr>
                                      <p:to>
                                        <p:strVal val="visible"/>
                                      </p:to>
                                    </p:set>
                                    <p:anim calcmode="lin" valueType="num">
                                      <p:cBhvr additive="base">
                                        <p:cTn id="7" dur="500" fill="hold"/>
                                        <p:tgtEl>
                                          <p:spTgt spid="292870"/>
                                        </p:tgtEl>
                                        <p:attrNameLst>
                                          <p:attrName>ppt_x</p:attrName>
                                        </p:attrNameLst>
                                      </p:cBhvr>
                                      <p:tavLst>
                                        <p:tav tm="0">
                                          <p:val>
                                            <p:strVal val="0-#ppt_w/2"/>
                                          </p:val>
                                        </p:tav>
                                        <p:tav tm="100000">
                                          <p:val>
                                            <p:strVal val="#ppt_x"/>
                                          </p:val>
                                        </p:tav>
                                      </p:tavLst>
                                    </p:anim>
                                    <p:anim calcmode="lin" valueType="num">
                                      <p:cBhvr additive="base">
                                        <p:cTn id="8" dur="500" fill="hold"/>
                                        <p:tgtEl>
                                          <p:spTgt spid="2928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7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149ED0D9-0948-944F-A7D7-78EBC44AC3AC}"/>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2772" name="Rectangle 3">
            <a:extLst>
              <a:ext uri="{FF2B5EF4-FFF2-40B4-BE49-F238E27FC236}">
                <a16:creationId xmlns:a16="http://schemas.microsoft.com/office/drawing/2014/main" id="{ABEB2FCB-D541-A141-97AB-7C7769550102}"/>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2773" name="Rectangle 4">
            <a:extLst>
              <a:ext uri="{FF2B5EF4-FFF2-40B4-BE49-F238E27FC236}">
                <a16:creationId xmlns:a16="http://schemas.microsoft.com/office/drawing/2014/main" id="{43AA3FA1-F747-C546-9333-0848F26A20E7}"/>
              </a:ext>
            </a:extLst>
          </p:cNvPr>
          <p:cNvSpPr>
            <a:spLocks noGrp="1" noChangeArrowheads="1"/>
          </p:cNvSpPr>
          <p:nvPr>
            <p:ph type="body" idx="1"/>
          </p:nvPr>
        </p:nvSpPr>
        <p:spPr>
          <a:xfrm>
            <a:off x="1239837" y="2480434"/>
            <a:ext cx="6100763" cy="5300663"/>
          </a:xfrm>
        </p:spPr>
        <p:txBody>
          <a:bodyPr/>
          <a:lstStyle/>
          <a:p>
            <a:pPr>
              <a:lnSpc>
                <a:spcPct val="80000"/>
              </a:lnSpc>
              <a:buFont typeface="Monotype Sorts" pitchFamily="2" charset="2"/>
              <a:buNone/>
            </a:pPr>
            <a:r>
              <a:rPr lang="en-US" altLang="en-US" sz="3200" b="1" dirty="0">
                <a:latin typeface="Courier New" panose="02070309020205020404" pitchFamily="49" charset="0"/>
              </a:rPr>
              <a:t>try {  </a:t>
            </a:r>
          </a:p>
          <a:p>
            <a:pPr>
              <a:lnSpc>
                <a:spcPct val="80000"/>
              </a:lnSpc>
              <a:buFont typeface="Monotype Sorts" pitchFamily="2" charset="2"/>
              <a:buNone/>
            </a:pPr>
            <a:r>
              <a:rPr lang="en-US" altLang="en-US" sz="3200" b="1" dirty="0">
                <a:latin typeface="Courier New" panose="02070309020205020404" pitchFamily="49" charset="0"/>
              </a:rPr>
              <a:t>  statements;</a:t>
            </a:r>
          </a:p>
          <a:p>
            <a:pPr>
              <a:lnSpc>
                <a:spcPct val="80000"/>
              </a:lnSpc>
              <a:buFont typeface="Monotype Sorts" pitchFamily="2" charset="2"/>
              <a:buNone/>
            </a:pPr>
            <a:r>
              <a:rPr lang="en-US" altLang="en-US" sz="3200" b="1" dirty="0">
                <a:latin typeface="Courier New" panose="02070309020205020404" pitchFamily="49" charset="0"/>
              </a:rPr>
              <a:t>}</a:t>
            </a:r>
          </a:p>
          <a:p>
            <a:pPr>
              <a:lnSpc>
                <a:spcPct val="80000"/>
              </a:lnSpc>
              <a:buFont typeface="Monotype Sorts" pitchFamily="2" charset="2"/>
              <a:buNone/>
            </a:pPr>
            <a:r>
              <a:rPr lang="en-US" altLang="en-US" sz="3200" b="1" dirty="0">
                <a:latin typeface="Courier New" panose="02070309020205020404" pitchFamily="49" charset="0"/>
              </a:rPr>
              <a:t>catch(</a:t>
            </a:r>
            <a:r>
              <a:rPr lang="en-US" altLang="en-US" sz="3200" b="1" dirty="0" err="1">
                <a:latin typeface="Courier New" panose="02070309020205020404" pitchFamily="49" charset="0"/>
              </a:rPr>
              <a:t>TheException</a:t>
            </a:r>
            <a:r>
              <a:rPr lang="en-US" altLang="en-US" sz="3200" b="1" dirty="0">
                <a:latin typeface="Courier New" panose="02070309020205020404" pitchFamily="49" charset="0"/>
              </a:rPr>
              <a:t> ex) { </a:t>
            </a:r>
          </a:p>
          <a:p>
            <a:pPr>
              <a:lnSpc>
                <a:spcPct val="80000"/>
              </a:lnSpc>
              <a:buFont typeface="Monotype Sorts" pitchFamily="2" charset="2"/>
              <a:buNone/>
            </a:pPr>
            <a:r>
              <a:rPr lang="en-US" altLang="en-US" sz="3200" b="1" dirty="0">
                <a:latin typeface="Courier New" panose="02070309020205020404" pitchFamily="49" charset="0"/>
              </a:rPr>
              <a:t>  handling ex; </a:t>
            </a:r>
          </a:p>
          <a:p>
            <a:pPr>
              <a:lnSpc>
                <a:spcPct val="80000"/>
              </a:lnSpc>
              <a:buFont typeface="Monotype Sorts" pitchFamily="2" charset="2"/>
              <a:buNone/>
            </a:pPr>
            <a:r>
              <a:rPr lang="en-US" altLang="en-US" sz="3200" b="1" dirty="0">
                <a:latin typeface="Courier New" panose="02070309020205020404" pitchFamily="49" charset="0"/>
              </a:rPr>
              <a:t>}</a:t>
            </a:r>
          </a:p>
          <a:p>
            <a:pPr>
              <a:lnSpc>
                <a:spcPct val="80000"/>
              </a:lnSpc>
              <a:buFont typeface="Monotype Sorts" pitchFamily="2" charset="2"/>
              <a:buNone/>
            </a:pPr>
            <a:r>
              <a:rPr lang="en-US" altLang="en-US" sz="3200" b="1" dirty="0">
                <a:latin typeface="Courier New" panose="02070309020205020404" pitchFamily="49" charset="0"/>
              </a:rPr>
              <a:t>finally { </a:t>
            </a:r>
          </a:p>
          <a:p>
            <a:pPr>
              <a:lnSpc>
                <a:spcPct val="80000"/>
              </a:lnSpc>
              <a:buFont typeface="Monotype Sorts" pitchFamily="2" charset="2"/>
              <a:buNone/>
            </a:pPr>
            <a:r>
              <a:rPr lang="en-US" altLang="en-US" sz="3200" b="1" dirty="0">
                <a:latin typeface="Courier New" panose="02070309020205020404" pitchFamily="49" charset="0"/>
              </a:rPr>
              <a:t>  </a:t>
            </a:r>
            <a:r>
              <a:rPr lang="en-US" altLang="en-US" sz="3200" b="1" dirty="0" err="1">
                <a:latin typeface="Courier New" panose="02070309020205020404" pitchFamily="49" charset="0"/>
              </a:rPr>
              <a:t>finalStatements</a:t>
            </a:r>
            <a:r>
              <a:rPr lang="en-US" altLang="en-US" sz="3200" b="1" dirty="0">
                <a:latin typeface="Courier New" panose="02070309020205020404" pitchFamily="49" charset="0"/>
              </a:rPr>
              <a:t>; </a:t>
            </a:r>
          </a:p>
          <a:p>
            <a:pPr>
              <a:lnSpc>
                <a:spcPct val="80000"/>
              </a:lnSpc>
              <a:buFont typeface="Monotype Sorts" pitchFamily="2" charset="2"/>
              <a:buNone/>
            </a:pPr>
            <a:r>
              <a:rPr lang="en-US" altLang="en-US" sz="3200" b="1" dirty="0">
                <a:latin typeface="Courier New" panose="02070309020205020404" pitchFamily="49" charset="0"/>
              </a:rPr>
              <a:t>}</a:t>
            </a:r>
          </a:p>
          <a:p>
            <a:pPr>
              <a:lnSpc>
                <a:spcPct val="80000"/>
              </a:lnSpc>
              <a:buFont typeface="Monotype Sorts" pitchFamily="2" charset="2"/>
              <a:buNone/>
            </a:pPr>
            <a:endParaRPr lang="en-US" altLang="en-US" sz="3200" b="1" dirty="0">
              <a:latin typeface="Courier New" panose="02070309020205020404" pitchFamily="49" charset="0"/>
            </a:endParaRPr>
          </a:p>
          <a:p>
            <a:pPr>
              <a:lnSpc>
                <a:spcPct val="80000"/>
              </a:lnSpc>
              <a:buFont typeface="Monotype Sorts" pitchFamily="2" charset="2"/>
              <a:buNone/>
            </a:pPr>
            <a:r>
              <a:rPr lang="en-US" altLang="en-US" sz="3200" b="1" dirty="0">
                <a:latin typeface="Courier New" panose="02070309020205020404" pitchFamily="49" charset="0"/>
              </a:rPr>
              <a:t>Next statement;</a:t>
            </a:r>
          </a:p>
        </p:txBody>
      </p:sp>
      <p:sp>
        <p:nvSpPr>
          <p:cNvPr id="293893" name="AutoShape 5">
            <a:extLst>
              <a:ext uri="{FF2B5EF4-FFF2-40B4-BE49-F238E27FC236}">
                <a16:creationId xmlns:a16="http://schemas.microsoft.com/office/drawing/2014/main" id="{C91FF3C0-5B7D-B24F-8AD7-15A60F879ADB}"/>
              </a:ext>
            </a:extLst>
          </p:cNvPr>
          <p:cNvSpPr>
            <a:spLocks noChangeArrowheads="1"/>
          </p:cNvSpPr>
          <p:nvPr/>
        </p:nvSpPr>
        <p:spPr bwMode="auto">
          <a:xfrm>
            <a:off x="8340726" y="1900236"/>
            <a:ext cx="3842147" cy="1427262"/>
          </a:xfrm>
          <a:prstGeom prst="wedgeRoundRectCallout">
            <a:avLst>
              <a:gd name="adj1" fmla="val -127171"/>
              <a:gd name="adj2" fmla="val 325912"/>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Next statement in the method is executed</a:t>
            </a:r>
          </a:p>
        </p:txBody>
      </p:sp>
      <p:sp>
        <p:nvSpPr>
          <p:cNvPr id="32775" name="Rectangle 6">
            <a:extLst>
              <a:ext uri="{FF2B5EF4-FFF2-40B4-BE49-F238E27FC236}">
                <a16:creationId xmlns:a16="http://schemas.microsoft.com/office/drawing/2014/main" id="{102B04BC-54DA-5E48-AB97-C6271B7CB237}"/>
              </a:ext>
            </a:extLst>
          </p:cNvPr>
          <p:cNvSpPr>
            <a:spLocks noChangeArrowheads="1"/>
          </p:cNvSpPr>
          <p:nvPr/>
        </p:nvSpPr>
        <p:spPr bwMode="auto">
          <a:xfrm>
            <a:off x="1339849" y="7300913"/>
            <a:ext cx="410051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31971964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3893"/>
                                        </p:tgtEl>
                                        <p:attrNameLst>
                                          <p:attrName>style.visibility</p:attrName>
                                        </p:attrNameLst>
                                      </p:cBhvr>
                                      <p:to>
                                        <p:strVal val="visible"/>
                                      </p:to>
                                    </p:set>
                                    <p:anim calcmode="lin" valueType="num">
                                      <p:cBhvr additive="base">
                                        <p:cTn id="7" dur="500" fill="hold"/>
                                        <p:tgtEl>
                                          <p:spTgt spid="293893"/>
                                        </p:tgtEl>
                                        <p:attrNameLst>
                                          <p:attrName>ppt_x</p:attrName>
                                        </p:attrNameLst>
                                      </p:cBhvr>
                                      <p:tavLst>
                                        <p:tav tm="0">
                                          <p:val>
                                            <p:strVal val="0-#ppt_w/2"/>
                                          </p:val>
                                        </p:tav>
                                        <p:tav tm="100000">
                                          <p:val>
                                            <p:strVal val="#ppt_x"/>
                                          </p:val>
                                        </p:tav>
                                      </p:tavLst>
                                    </p:anim>
                                    <p:anim calcmode="lin" valueType="num">
                                      <p:cBhvr additive="base">
                                        <p:cTn id="8" dur="500" fill="hold"/>
                                        <p:tgtEl>
                                          <p:spTgt spid="2938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CF774474-1A2E-B248-BCAF-856C994E32F9}"/>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3796" name="Rectangle 3">
            <a:extLst>
              <a:ext uri="{FF2B5EF4-FFF2-40B4-BE49-F238E27FC236}">
                <a16:creationId xmlns:a16="http://schemas.microsoft.com/office/drawing/2014/main" id="{4003E8C0-0B5E-6347-9549-B44E7ACBFCFD}"/>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3797" name="Rectangle 4">
            <a:extLst>
              <a:ext uri="{FF2B5EF4-FFF2-40B4-BE49-F238E27FC236}">
                <a16:creationId xmlns:a16="http://schemas.microsoft.com/office/drawing/2014/main" id="{F88ADD83-92B6-204F-8318-D43DC486F717}"/>
              </a:ext>
            </a:extLst>
          </p:cNvPr>
          <p:cNvSpPr>
            <a:spLocks noGrp="1" noChangeArrowheads="1"/>
          </p:cNvSpPr>
          <p:nvPr>
            <p:ph type="body" idx="1"/>
          </p:nvPr>
        </p:nvSpPr>
        <p:spPr>
          <a:xfrm>
            <a:off x="1239837" y="1900237"/>
            <a:ext cx="6100763" cy="5900738"/>
          </a:xfrm>
        </p:spPr>
        <p:txBody>
          <a:bodyPr/>
          <a:lstStyle/>
          <a:p>
            <a:pPr>
              <a:lnSpc>
                <a:spcPct val="80000"/>
              </a:lnSpc>
              <a:buFont typeface="Monotype Sorts" pitchFamily="2" charset="2"/>
              <a:buNone/>
            </a:pPr>
            <a:r>
              <a:rPr lang="en-US" altLang="en-US" sz="2700" dirty="0">
                <a:latin typeface="Courier New" panose="02070309020205020404" pitchFamily="49" charset="0"/>
              </a:rPr>
              <a:t>try {  </a:t>
            </a:r>
          </a:p>
          <a:p>
            <a:pPr>
              <a:lnSpc>
                <a:spcPct val="80000"/>
              </a:lnSpc>
              <a:buFont typeface="Monotype Sorts" pitchFamily="2" charset="2"/>
              <a:buNone/>
            </a:pPr>
            <a:r>
              <a:rPr lang="en-US" altLang="en-US" sz="2700" dirty="0">
                <a:latin typeface="Courier New" panose="02070309020205020404" pitchFamily="49" charset="0"/>
              </a:rPr>
              <a:t>  statement1;</a:t>
            </a:r>
          </a:p>
          <a:p>
            <a:pPr>
              <a:lnSpc>
                <a:spcPct val="80000"/>
              </a:lnSpc>
              <a:buFont typeface="Monotype Sorts" pitchFamily="2" charset="2"/>
              <a:buNone/>
            </a:pPr>
            <a:r>
              <a:rPr lang="en-US" altLang="en-US" sz="2700" dirty="0">
                <a:latin typeface="Courier New" panose="02070309020205020404" pitchFamily="49" charset="0"/>
              </a:rPr>
              <a:t>  statement2;</a:t>
            </a:r>
          </a:p>
          <a:p>
            <a:pPr>
              <a:lnSpc>
                <a:spcPct val="80000"/>
              </a:lnSpc>
              <a:buFont typeface="Monotype Sorts" pitchFamily="2" charset="2"/>
              <a:buNone/>
            </a:pPr>
            <a:r>
              <a:rPr lang="en-US" altLang="en-US" sz="2700" dirty="0">
                <a:latin typeface="Courier New" panose="02070309020205020404" pitchFamily="49" charset="0"/>
              </a:rPr>
              <a:t>  statement3;</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catch(Exception1 ex) { </a:t>
            </a:r>
          </a:p>
          <a:p>
            <a:pPr>
              <a:lnSpc>
                <a:spcPct val="80000"/>
              </a:lnSpc>
              <a:buFont typeface="Monotype Sorts" pitchFamily="2" charset="2"/>
              <a:buNone/>
            </a:pPr>
            <a:r>
              <a:rPr lang="en-US" altLang="en-US" sz="2700" dirty="0">
                <a:latin typeface="Courier New" panose="02070309020205020404" pitchFamily="49" charset="0"/>
              </a:rPr>
              <a:t>  handling ex;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finally { </a:t>
            </a:r>
          </a:p>
          <a:p>
            <a:pPr>
              <a:lnSpc>
                <a:spcPct val="80000"/>
              </a:lnSpc>
              <a:buFont typeface="Monotype Sorts" pitchFamily="2" charset="2"/>
              <a:buNone/>
            </a:pPr>
            <a:r>
              <a:rPr lang="en-US" altLang="en-US" sz="2700" dirty="0">
                <a:latin typeface="Courier New" panose="02070309020205020404" pitchFamily="49" charset="0"/>
              </a:rPr>
              <a:t>  </a:t>
            </a:r>
            <a:r>
              <a:rPr lang="en-US" altLang="en-US" sz="2700" dirty="0" err="1">
                <a:latin typeface="Courier New" panose="02070309020205020404" pitchFamily="49" charset="0"/>
              </a:rPr>
              <a:t>finalStatements</a:t>
            </a:r>
            <a:r>
              <a:rPr lang="en-US" altLang="en-US" sz="2700" dirty="0">
                <a:latin typeface="Courier New" panose="02070309020205020404" pitchFamily="49" charset="0"/>
              </a:rPr>
              <a:t>;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endParaRPr lang="en-US" altLang="en-US" sz="2700" dirty="0">
              <a:latin typeface="Courier New" panose="02070309020205020404" pitchFamily="49" charset="0"/>
            </a:endParaRPr>
          </a:p>
          <a:p>
            <a:pPr>
              <a:lnSpc>
                <a:spcPct val="80000"/>
              </a:lnSpc>
              <a:buFont typeface="Monotype Sorts" pitchFamily="2" charset="2"/>
              <a:buNone/>
            </a:pPr>
            <a:r>
              <a:rPr lang="en-US" altLang="en-US" sz="2700" dirty="0">
                <a:latin typeface="Courier New" panose="02070309020205020404" pitchFamily="49" charset="0"/>
              </a:rPr>
              <a:t>Next statement;</a:t>
            </a:r>
          </a:p>
        </p:txBody>
      </p:sp>
      <p:sp>
        <p:nvSpPr>
          <p:cNvPr id="33798" name="Rectangle 5">
            <a:extLst>
              <a:ext uri="{FF2B5EF4-FFF2-40B4-BE49-F238E27FC236}">
                <a16:creationId xmlns:a16="http://schemas.microsoft.com/office/drawing/2014/main" id="{18CF5F03-E5C6-B54A-B518-DB8F091B22FD}"/>
              </a:ext>
            </a:extLst>
          </p:cNvPr>
          <p:cNvSpPr>
            <a:spLocks noChangeArrowheads="1"/>
          </p:cNvSpPr>
          <p:nvPr/>
        </p:nvSpPr>
        <p:spPr bwMode="auto">
          <a:xfrm>
            <a:off x="1639889" y="2700338"/>
            <a:ext cx="370046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294918" name="AutoShape 6">
            <a:extLst>
              <a:ext uri="{FF2B5EF4-FFF2-40B4-BE49-F238E27FC236}">
                <a16:creationId xmlns:a16="http://schemas.microsoft.com/office/drawing/2014/main" id="{2D9ADA66-68FF-8C4D-A5BB-043D5C2C7AFB}"/>
              </a:ext>
            </a:extLst>
          </p:cNvPr>
          <p:cNvSpPr>
            <a:spLocks noChangeArrowheads="1"/>
          </p:cNvSpPr>
          <p:nvPr/>
        </p:nvSpPr>
        <p:spPr bwMode="auto">
          <a:xfrm>
            <a:off x="8340727" y="1800223"/>
            <a:ext cx="4200525" cy="1500188"/>
          </a:xfrm>
          <a:prstGeom prst="wedgeRoundRectCallout">
            <a:avLst>
              <a:gd name="adj1" fmla="val -138245"/>
              <a:gd name="adj2" fmla="val 22361"/>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Suppose an exception of type Exception1 is thrown in statement2</a:t>
            </a:r>
          </a:p>
        </p:txBody>
      </p:sp>
    </p:spTree>
    <p:extLst>
      <p:ext uri="{BB962C8B-B14F-4D97-AF65-F5344CB8AC3E}">
        <p14:creationId xmlns:p14="http://schemas.microsoft.com/office/powerpoint/2010/main" val="39835742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4918"/>
                                        </p:tgtEl>
                                        <p:attrNameLst>
                                          <p:attrName>style.visibility</p:attrName>
                                        </p:attrNameLst>
                                      </p:cBhvr>
                                      <p:to>
                                        <p:strVal val="visible"/>
                                      </p:to>
                                    </p:set>
                                    <p:anim calcmode="lin" valueType="num">
                                      <p:cBhvr additive="base">
                                        <p:cTn id="7" dur="500" fill="hold"/>
                                        <p:tgtEl>
                                          <p:spTgt spid="294918"/>
                                        </p:tgtEl>
                                        <p:attrNameLst>
                                          <p:attrName>ppt_x</p:attrName>
                                        </p:attrNameLst>
                                      </p:cBhvr>
                                      <p:tavLst>
                                        <p:tav tm="0">
                                          <p:val>
                                            <p:strVal val="0-#ppt_w/2"/>
                                          </p:val>
                                        </p:tav>
                                        <p:tav tm="100000">
                                          <p:val>
                                            <p:strVal val="#ppt_x"/>
                                          </p:val>
                                        </p:tav>
                                      </p:tavLst>
                                    </p:anim>
                                    <p:anim calcmode="lin" valueType="num">
                                      <p:cBhvr additive="base">
                                        <p:cTn id="8" dur="500" fill="hold"/>
                                        <p:tgtEl>
                                          <p:spTgt spid="2949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947DBD2B-800A-3A4D-893C-FBFA4BFAB04E}"/>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4820" name="Rectangle 3">
            <a:extLst>
              <a:ext uri="{FF2B5EF4-FFF2-40B4-BE49-F238E27FC236}">
                <a16:creationId xmlns:a16="http://schemas.microsoft.com/office/drawing/2014/main" id="{EF289AA5-FED6-754C-B72C-57C99183F61A}"/>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4821" name="Rectangle 4">
            <a:extLst>
              <a:ext uri="{FF2B5EF4-FFF2-40B4-BE49-F238E27FC236}">
                <a16:creationId xmlns:a16="http://schemas.microsoft.com/office/drawing/2014/main" id="{31DEB972-7264-BB49-AE84-5ADFF83FC164}"/>
              </a:ext>
            </a:extLst>
          </p:cNvPr>
          <p:cNvSpPr>
            <a:spLocks noGrp="1" noChangeArrowheads="1"/>
          </p:cNvSpPr>
          <p:nvPr>
            <p:ph type="body" idx="1"/>
          </p:nvPr>
        </p:nvSpPr>
        <p:spPr>
          <a:xfrm>
            <a:off x="1239837" y="1900237"/>
            <a:ext cx="6100763" cy="5900738"/>
          </a:xfrm>
        </p:spPr>
        <p:txBody>
          <a:bodyPr/>
          <a:lstStyle/>
          <a:p>
            <a:pPr>
              <a:lnSpc>
                <a:spcPct val="80000"/>
              </a:lnSpc>
              <a:buFont typeface="Monotype Sorts" pitchFamily="2" charset="2"/>
              <a:buNone/>
            </a:pPr>
            <a:r>
              <a:rPr lang="en-US" altLang="en-US" sz="2700" dirty="0">
                <a:latin typeface="Courier New" panose="02070309020205020404" pitchFamily="49" charset="0"/>
              </a:rPr>
              <a:t>try {  </a:t>
            </a:r>
          </a:p>
          <a:p>
            <a:pPr>
              <a:lnSpc>
                <a:spcPct val="80000"/>
              </a:lnSpc>
              <a:buFont typeface="Monotype Sorts" pitchFamily="2" charset="2"/>
              <a:buNone/>
            </a:pPr>
            <a:r>
              <a:rPr lang="en-US" altLang="en-US" sz="2700" dirty="0">
                <a:latin typeface="Courier New" panose="02070309020205020404" pitchFamily="49" charset="0"/>
              </a:rPr>
              <a:t>  statement1;</a:t>
            </a:r>
          </a:p>
          <a:p>
            <a:pPr>
              <a:lnSpc>
                <a:spcPct val="80000"/>
              </a:lnSpc>
              <a:buFont typeface="Monotype Sorts" pitchFamily="2" charset="2"/>
              <a:buNone/>
            </a:pPr>
            <a:r>
              <a:rPr lang="en-US" altLang="en-US" sz="2700" dirty="0">
                <a:latin typeface="Courier New" panose="02070309020205020404" pitchFamily="49" charset="0"/>
              </a:rPr>
              <a:t>  statement2;</a:t>
            </a:r>
          </a:p>
          <a:p>
            <a:pPr>
              <a:lnSpc>
                <a:spcPct val="80000"/>
              </a:lnSpc>
              <a:buFont typeface="Monotype Sorts" pitchFamily="2" charset="2"/>
              <a:buNone/>
            </a:pPr>
            <a:r>
              <a:rPr lang="en-US" altLang="en-US" sz="2700" dirty="0">
                <a:latin typeface="Courier New" panose="02070309020205020404" pitchFamily="49" charset="0"/>
              </a:rPr>
              <a:t>  statement3;</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catch(Exception1 ex) { </a:t>
            </a:r>
          </a:p>
          <a:p>
            <a:pPr>
              <a:lnSpc>
                <a:spcPct val="80000"/>
              </a:lnSpc>
              <a:buFont typeface="Monotype Sorts" pitchFamily="2" charset="2"/>
              <a:buNone/>
            </a:pPr>
            <a:r>
              <a:rPr lang="en-US" altLang="en-US" sz="2700" dirty="0">
                <a:latin typeface="Courier New" panose="02070309020205020404" pitchFamily="49" charset="0"/>
              </a:rPr>
              <a:t>  handling ex;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finally { </a:t>
            </a:r>
          </a:p>
          <a:p>
            <a:pPr>
              <a:lnSpc>
                <a:spcPct val="80000"/>
              </a:lnSpc>
              <a:buFont typeface="Monotype Sorts" pitchFamily="2" charset="2"/>
              <a:buNone/>
            </a:pPr>
            <a:r>
              <a:rPr lang="en-US" altLang="en-US" sz="2700" dirty="0">
                <a:latin typeface="Courier New" panose="02070309020205020404" pitchFamily="49" charset="0"/>
              </a:rPr>
              <a:t>  </a:t>
            </a:r>
            <a:r>
              <a:rPr lang="en-US" altLang="en-US" sz="2700" dirty="0" err="1">
                <a:latin typeface="Courier New" panose="02070309020205020404" pitchFamily="49" charset="0"/>
              </a:rPr>
              <a:t>finalStatements</a:t>
            </a:r>
            <a:r>
              <a:rPr lang="en-US" altLang="en-US" sz="2700" dirty="0">
                <a:latin typeface="Courier New" panose="02070309020205020404" pitchFamily="49" charset="0"/>
              </a:rPr>
              <a:t>;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endParaRPr lang="en-US" altLang="en-US" sz="2700" dirty="0">
              <a:latin typeface="Courier New" panose="02070309020205020404" pitchFamily="49" charset="0"/>
            </a:endParaRPr>
          </a:p>
          <a:p>
            <a:pPr>
              <a:lnSpc>
                <a:spcPct val="80000"/>
              </a:lnSpc>
              <a:buFont typeface="Monotype Sorts" pitchFamily="2" charset="2"/>
              <a:buNone/>
            </a:pPr>
            <a:r>
              <a:rPr lang="en-US" altLang="en-US" sz="2700" dirty="0">
                <a:latin typeface="Courier New" panose="02070309020205020404" pitchFamily="49" charset="0"/>
              </a:rPr>
              <a:t>Next statement;</a:t>
            </a:r>
          </a:p>
        </p:txBody>
      </p:sp>
      <p:sp>
        <p:nvSpPr>
          <p:cNvPr id="34822" name="Rectangle 5">
            <a:extLst>
              <a:ext uri="{FF2B5EF4-FFF2-40B4-BE49-F238E27FC236}">
                <a16:creationId xmlns:a16="http://schemas.microsoft.com/office/drawing/2014/main" id="{2A1E595A-BF18-1B4C-9849-0C37E16DE3BA}"/>
              </a:ext>
            </a:extLst>
          </p:cNvPr>
          <p:cNvSpPr>
            <a:spLocks noChangeArrowheads="1"/>
          </p:cNvSpPr>
          <p:nvPr/>
        </p:nvSpPr>
        <p:spPr bwMode="auto">
          <a:xfrm>
            <a:off x="1639889" y="4280038"/>
            <a:ext cx="3700463" cy="500063"/>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299014" name="AutoShape 6">
            <a:extLst>
              <a:ext uri="{FF2B5EF4-FFF2-40B4-BE49-F238E27FC236}">
                <a16:creationId xmlns:a16="http://schemas.microsoft.com/office/drawing/2014/main" id="{FC66E500-1A89-F64E-A088-A490151F8692}"/>
              </a:ext>
            </a:extLst>
          </p:cNvPr>
          <p:cNvSpPr>
            <a:spLocks noChangeArrowheads="1"/>
          </p:cNvSpPr>
          <p:nvPr/>
        </p:nvSpPr>
        <p:spPr bwMode="auto">
          <a:xfrm>
            <a:off x="8340727" y="1800223"/>
            <a:ext cx="4200525" cy="1500188"/>
          </a:xfrm>
          <a:prstGeom prst="wedgeRoundRectCallout">
            <a:avLst>
              <a:gd name="adj1" fmla="val -134574"/>
              <a:gd name="adj2" fmla="val 123611"/>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The exception is handled.</a:t>
            </a:r>
          </a:p>
        </p:txBody>
      </p:sp>
    </p:spTree>
    <p:extLst>
      <p:ext uri="{BB962C8B-B14F-4D97-AF65-F5344CB8AC3E}">
        <p14:creationId xmlns:p14="http://schemas.microsoft.com/office/powerpoint/2010/main" val="19091229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9014"/>
                                        </p:tgtEl>
                                        <p:attrNameLst>
                                          <p:attrName>style.visibility</p:attrName>
                                        </p:attrNameLst>
                                      </p:cBhvr>
                                      <p:to>
                                        <p:strVal val="visible"/>
                                      </p:to>
                                    </p:set>
                                    <p:anim calcmode="lin" valueType="num">
                                      <p:cBhvr additive="base">
                                        <p:cTn id="7" dur="500" fill="hold"/>
                                        <p:tgtEl>
                                          <p:spTgt spid="299014"/>
                                        </p:tgtEl>
                                        <p:attrNameLst>
                                          <p:attrName>ppt_x</p:attrName>
                                        </p:attrNameLst>
                                      </p:cBhvr>
                                      <p:tavLst>
                                        <p:tav tm="0">
                                          <p:val>
                                            <p:strVal val="0-#ppt_w/2"/>
                                          </p:val>
                                        </p:tav>
                                        <p:tav tm="100000">
                                          <p:val>
                                            <p:strVal val="#ppt_x"/>
                                          </p:val>
                                        </p:tav>
                                      </p:tavLst>
                                    </p:anim>
                                    <p:anim calcmode="lin" valueType="num">
                                      <p:cBhvr additive="base">
                                        <p:cTn id="8" dur="500" fill="hold"/>
                                        <p:tgtEl>
                                          <p:spTgt spid="2990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6C899F2C-F5E5-714E-9F30-BD712406EB07}"/>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5844" name="Rectangle 3">
            <a:extLst>
              <a:ext uri="{FF2B5EF4-FFF2-40B4-BE49-F238E27FC236}">
                <a16:creationId xmlns:a16="http://schemas.microsoft.com/office/drawing/2014/main" id="{05101080-0D42-6B4A-BBDB-2A972BF9F312}"/>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5845" name="Rectangle 4">
            <a:extLst>
              <a:ext uri="{FF2B5EF4-FFF2-40B4-BE49-F238E27FC236}">
                <a16:creationId xmlns:a16="http://schemas.microsoft.com/office/drawing/2014/main" id="{521AB7B4-F59D-C243-8BD5-BCF2A82900F8}"/>
              </a:ext>
            </a:extLst>
          </p:cNvPr>
          <p:cNvSpPr>
            <a:spLocks noGrp="1" noChangeArrowheads="1"/>
          </p:cNvSpPr>
          <p:nvPr>
            <p:ph type="body" idx="1"/>
          </p:nvPr>
        </p:nvSpPr>
        <p:spPr>
          <a:xfrm>
            <a:off x="1239837" y="1900237"/>
            <a:ext cx="6100763" cy="5900738"/>
          </a:xfrm>
        </p:spPr>
        <p:txBody>
          <a:bodyPr/>
          <a:lstStyle/>
          <a:p>
            <a:pPr>
              <a:lnSpc>
                <a:spcPct val="80000"/>
              </a:lnSpc>
              <a:buFont typeface="Monotype Sorts" pitchFamily="2" charset="2"/>
              <a:buNone/>
            </a:pPr>
            <a:r>
              <a:rPr lang="en-US" altLang="en-US" sz="2700" dirty="0">
                <a:latin typeface="Courier New" panose="02070309020205020404" pitchFamily="49" charset="0"/>
              </a:rPr>
              <a:t>try {  </a:t>
            </a:r>
          </a:p>
          <a:p>
            <a:pPr>
              <a:lnSpc>
                <a:spcPct val="80000"/>
              </a:lnSpc>
              <a:buFont typeface="Monotype Sorts" pitchFamily="2" charset="2"/>
              <a:buNone/>
            </a:pPr>
            <a:r>
              <a:rPr lang="en-US" altLang="en-US" sz="2700" dirty="0">
                <a:latin typeface="Courier New" panose="02070309020205020404" pitchFamily="49" charset="0"/>
              </a:rPr>
              <a:t>  statement1;</a:t>
            </a:r>
          </a:p>
          <a:p>
            <a:pPr>
              <a:lnSpc>
                <a:spcPct val="80000"/>
              </a:lnSpc>
              <a:buFont typeface="Monotype Sorts" pitchFamily="2" charset="2"/>
              <a:buNone/>
            </a:pPr>
            <a:r>
              <a:rPr lang="en-US" altLang="en-US" sz="2700" dirty="0">
                <a:latin typeface="Courier New" panose="02070309020205020404" pitchFamily="49" charset="0"/>
              </a:rPr>
              <a:t>  statement2;</a:t>
            </a:r>
          </a:p>
          <a:p>
            <a:pPr>
              <a:lnSpc>
                <a:spcPct val="80000"/>
              </a:lnSpc>
              <a:buFont typeface="Monotype Sorts" pitchFamily="2" charset="2"/>
              <a:buNone/>
            </a:pPr>
            <a:r>
              <a:rPr lang="en-US" altLang="en-US" sz="2700" dirty="0">
                <a:latin typeface="Courier New" panose="02070309020205020404" pitchFamily="49" charset="0"/>
              </a:rPr>
              <a:t>  statement3;</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catch(Exception1 ex) { </a:t>
            </a:r>
          </a:p>
          <a:p>
            <a:pPr>
              <a:lnSpc>
                <a:spcPct val="80000"/>
              </a:lnSpc>
              <a:buFont typeface="Monotype Sorts" pitchFamily="2" charset="2"/>
              <a:buNone/>
            </a:pPr>
            <a:r>
              <a:rPr lang="en-US" altLang="en-US" sz="2700" dirty="0">
                <a:latin typeface="Courier New" panose="02070309020205020404" pitchFamily="49" charset="0"/>
              </a:rPr>
              <a:t>  handling ex;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finally { </a:t>
            </a:r>
          </a:p>
          <a:p>
            <a:pPr>
              <a:lnSpc>
                <a:spcPct val="80000"/>
              </a:lnSpc>
              <a:buFont typeface="Monotype Sorts" pitchFamily="2" charset="2"/>
              <a:buNone/>
            </a:pPr>
            <a:r>
              <a:rPr lang="en-US" altLang="en-US" sz="2700" dirty="0">
                <a:latin typeface="Courier New" panose="02070309020205020404" pitchFamily="49" charset="0"/>
              </a:rPr>
              <a:t>  </a:t>
            </a:r>
            <a:r>
              <a:rPr lang="en-US" altLang="en-US" sz="2700" dirty="0" err="1">
                <a:latin typeface="Courier New" panose="02070309020205020404" pitchFamily="49" charset="0"/>
              </a:rPr>
              <a:t>finalStatements</a:t>
            </a:r>
            <a:r>
              <a:rPr lang="en-US" altLang="en-US" sz="2700" dirty="0">
                <a:latin typeface="Courier New" panose="02070309020205020404" pitchFamily="49" charset="0"/>
              </a:rPr>
              <a:t>;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endParaRPr lang="en-US" altLang="en-US" sz="2700" dirty="0">
              <a:latin typeface="Courier New" panose="02070309020205020404" pitchFamily="49" charset="0"/>
            </a:endParaRPr>
          </a:p>
          <a:p>
            <a:pPr>
              <a:lnSpc>
                <a:spcPct val="80000"/>
              </a:lnSpc>
              <a:buFont typeface="Monotype Sorts" pitchFamily="2" charset="2"/>
              <a:buNone/>
            </a:pPr>
            <a:r>
              <a:rPr lang="en-US" altLang="en-US" sz="2700" dirty="0">
                <a:latin typeface="Courier New" panose="02070309020205020404" pitchFamily="49" charset="0"/>
              </a:rPr>
              <a:t>Next statement;</a:t>
            </a:r>
          </a:p>
        </p:txBody>
      </p:sp>
      <p:sp>
        <p:nvSpPr>
          <p:cNvPr id="35846" name="Rectangle 5">
            <a:extLst>
              <a:ext uri="{FF2B5EF4-FFF2-40B4-BE49-F238E27FC236}">
                <a16:creationId xmlns:a16="http://schemas.microsoft.com/office/drawing/2014/main" id="{6682F306-FA69-714D-A5EF-8FC7884C19F1}"/>
              </a:ext>
            </a:extLst>
          </p:cNvPr>
          <p:cNvSpPr>
            <a:spLocks noChangeArrowheads="1"/>
          </p:cNvSpPr>
          <p:nvPr/>
        </p:nvSpPr>
        <p:spPr bwMode="auto">
          <a:xfrm>
            <a:off x="1739902" y="5500687"/>
            <a:ext cx="3700463" cy="500063"/>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300038" name="AutoShape 6">
            <a:extLst>
              <a:ext uri="{FF2B5EF4-FFF2-40B4-BE49-F238E27FC236}">
                <a16:creationId xmlns:a16="http://schemas.microsoft.com/office/drawing/2014/main" id="{E31EF2C7-39FC-5541-A564-DE1E48BC6BBC}"/>
              </a:ext>
            </a:extLst>
          </p:cNvPr>
          <p:cNvSpPr>
            <a:spLocks noChangeArrowheads="1"/>
          </p:cNvSpPr>
          <p:nvPr/>
        </p:nvSpPr>
        <p:spPr bwMode="auto">
          <a:xfrm>
            <a:off x="8340727" y="1800223"/>
            <a:ext cx="4200525" cy="1500188"/>
          </a:xfrm>
          <a:prstGeom prst="wedgeRoundRectCallout">
            <a:avLst>
              <a:gd name="adj1" fmla="val -124801"/>
              <a:gd name="adj2" fmla="val 208750"/>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The final block is always executed.</a:t>
            </a:r>
          </a:p>
        </p:txBody>
      </p:sp>
    </p:spTree>
    <p:extLst>
      <p:ext uri="{BB962C8B-B14F-4D97-AF65-F5344CB8AC3E}">
        <p14:creationId xmlns:p14="http://schemas.microsoft.com/office/powerpoint/2010/main" val="30617877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0038"/>
                                        </p:tgtEl>
                                        <p:attrNameLst>
                                          <p:attrName>style.visibility</p:attrName>
                                        </p:attrNameLst>
                                      </p:cBhvr>
                                      <p:to>
                                        <p:strVal val="visible"/>
                                      </p:to>
                                    </p:set>
                                    <p:anim calcmode="lin" valueType="num">
                                      <p:cBhvr additive="base">
                                        <p:cTn id="7" dur="500" fill="hold"/>
                                        <p:tgtEl>
                                          <p:spTgt spid="300038"/>
                                        </p:tgtEl>
                                        <p:attrNameLst>
                                          <p:attrName>ppt_x</p:attrName>
                                        </p:attrNameLst>
                                      </p:cBhvr>
                                      <p:tavLst>
                                        <p:tav tm="0">
                                          <p:val>
                                            <p:strVal val="0-#ppt_w/2"/>
                                          </p:val>
                                        </p:tav>
                                        <p:tav tm="100000">
                                          <p:val>
                                            <p:strVal val="#ppt_x"/>
                                          </p:val>
                                        </p:tav>
                                      </p:tavLst>
                                    </p:anim>
                                    <p:anim calcmode="lin" valueType="num">
                                      <p:cBhvr additive="base">
                                        <p:cTn id="8" dur="500" fill="hold"/>
                                        <p:tgtEl>
                                          <p:spTgt spid="3000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76803A69-03DF-9C45-82F9-11F9209595C8}"/>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6868" name="Rectangle 3">
            <a:extLst>
              <a:ext uri="{FF2B5EF4-FFF2-40B4-BE49-F238E27FC236}">
                <a16:creationId xmlns:a16="http://schemas.microsoft.com/office/drawing/2014/main" id="{23F558A9-4DAA-B948-BDB3-188E95132AE3}"/>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6869" name="Rectangle 4">
            <a:extLst>
              <a:ext uri="{FF2B5EF4-FFF2-40B4-BE49-F238E27FC236}">
                <a16:creationId xmlns:a16="http://schemas.microsoft.com/office/drawing/2014/main" id="{C6B78143-5496-8142-8E94-A80B4160333E}"/>
              </a:ext>
            </a:extLst>
          </p:cNvPr>
          <p:cNvSpPr>
            <a:spLocks noGrp="1" noChangeArrowheads="1"/>
          </p:cNvSpPr>
          <p:nvPr>
            <p:ph type="body" idx="1"/>
          </p:nvPr>
        </p:nvSpPr>
        <p:spPr>
          <a:xfrm>
            <a:off x="1239837" y="1900237"/>
            <a:ext cx="6100763" cy="5900738"/>
          </a:xfrm>
        </p:spPr>
        <p:txBody>
          <a:bodyPr/>
          <a:lstStyle/>
          <a:p>
            <a:pPr>
              <a:lnSpc>
                <a:spcPct val="80000"/>
              </a:lnSpc>
              <a:buFont typeface="Monotype Sorts" pitchFamily="2" charset="2"/>
              <a:buNone/>
            </a:pPr>
            <a:r>
              <a:rPr lang="en-US" altLang="en-US" sz="2700" dirty="0">
                <a:latin typeface="Courier New" panose="02070309020205020404" pitchFamily="49" charset="0"/>
              </a:rPr>
              <a:t>try {  </a:t>
            </a:r>
          </a:p>
          <a:p>
            <a:pPr>
              <a:lnSpc>
                <a:spcPct val="80000"/>
              </a:lnSpc>
              <a:buFont typeface="Monotype Sorts" pitchFamily="2" charset="2"/>
              <a:buNone/>
            </a:pPr>
            <a:r>
              <a:rPr lang="en-US" altLang="en-US" sz="2700" dirty="0">
                <a:latin typeface="Courier New" panose="02070309020205020404" pitchFamily="49" charset="0"/>
              </a:rPr>
              <a:t>  statement1;</a:t>
            </a:r>
          </a:p>
          <a:p>
            <a:pPr>
              <a:lnSpc>
                <a:spcPct val="80000"/>
              </a:lnSpc>
              <a:buFont typeface="Monotype Sorts" pitchFamily="2" charset="2"/>
              <a:buNone/>
            </a:pPr>
            <a:r>
              <a:rPr lang="en-US" altLang="en-US" sz="2700" dirty="0">
                <a:latin typeface="Courier New" panose="02070309020205020404" pitchFamily="49" charset="0"/>
              </a:rPr>
              <a:t>  statement2;</a:t>
            </a:r>
          </a:p>
          <a:p>
            <a:pPr>
              <a:lnSpc>
                <a:spcPct val="80000"/>
              </a:lnSpc>
              <a:buFont typeface="Monotype Sorts" pitchFamily="2" charset="2"/>
              <a:buNone/>
            </a:pPr>
            <a:r>
              <a:rPr lang="en-US" altLang="en-US" sz="2700" dirty="0">
                <a:latin typeface="Courier New" panose="02070309020205020404" pitchFamily="49" charset="0"/>
              </a:rPr>
              <a:t>  statement3;</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catch(Exception1 ex) { </a:t>
            </a:r>
          </a:p>
          <a:p>
            <a:pPr>
              <a:lnSpc>
                <a:spcPct val="80000"/>
              </a:lnSpc>
              <a:buFont typeface="Monotype Sorts" pitchFamily="2" charset="2"/>
              <a:buNone/>
            </a:pPr>
            <a:r>
              <a:rPr lang="en-US" altLang="en-US" sz="2700" dirty="0">
                <a:latin typeface="Courier New" panose="02070309020205020404" pitchFamily="49" charset="0"/>
              </a:rPr>
              <a:t>  handling ex;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r>
              <a:rPr lang="en-US" altLang="en-US" sz="2700" dirty="0">
                <a:latin typeface="Courier New" panose="02070309020205020404" pitchFamily="49" charset="0"/>
              </a:rPr>
              <a:t>finally { </a:t>
            </a:r>
          </a:p>
          <a:p>
            <a:pPr>
              <a:lnSpc>
                <a:spcPct val="80000"/>
              </a:lnSpc>
              <a:buFont typeface="Monotype Sorts" pitchFamily="2" charset="2"/>
              <a:buNone/>
            </a:pPr>
            <a:r>
              <a:rPr lang="en-US" altLang="en-US" sz="2700" dirty="0">
                <a:latin typeface="Courier New" panose="02070309020205020404" pitchFamily="49" charset="0"/>
              </a:rPr>
              <a:t>  </a:t>
            </a:r>
            <a:r>
              <a:rPr lang="en-US" altLang="en-US" sz="2700" dirty="0" err="1">
                <a:latin typeface="Courier New" panose="02070309020205020404" pitchFamily="49" charset="0"/>
              </a:rPr>
              <a:t>finalStatements</a:t>
            </a:r>
            <a:r>
              <a:rPr lang="en-US" altLang="en-US" sz="2700" dirty="0">
                <a:latin typeface="Courier New" panose="02070309020205020404" pitchFamily="49" charset="0"/>
              </a:rPr>
              <a:t>; </a:t>
            </a:r>
          </a:p>
          <a:p>
            <a:pPr>
              <a:lnSpc>
                <a:spcPct val="80000"/>
              </a:lnSpc>
              <a:buFont typeface="Monotype Sorts" pitchFamily="2" charset="2"/>
              <a:buNone/>
            </a:pPr>
            <a:r>
              <a:rPr lang="en-US" altLang="en-US" sz="2700" dirty="0">
                <a:latin typeface="Courier New" panose="02070309020205020404" pitchFamily="49" charset="0"/>
              </a:rPr>
              <a:t>}</a:t>
            </a:r>
          </a:p>
          <a:p>
            <a:pPr>
              <a:lnSpc>
                <a:spcPct val="80000"/>
              </a:lnSpc>
              <a:buFont typeface="Monotype Sorts" pitchFamily="2" charset="2"/>
              <a:buNone/>
            </a:pPr>
            <a:endParaRPr lang="en-US" altLang="en-US" sz="2700" dirty="0">
              <a:latin typeface="Courier New" panose="02070309020205020404" pitchFamily="49" charset="0"/>
            </a:endParaRPr>
          </a:p>
          <a:p>
            <a:pPr>
              <a:lnSpc>
                <a:spcPct val="80000"/>
              </a:lnSpc>
              <a:buFont typeface="Monotype Sorts" pitchFamily="2" charset="2"/>
              <a:buNone/>
            </a:pPr>
            <a:r>
              <a:rPr lang="en-US" altLang="en-US" sz="2700" dirty="0">
                <a:latin typeface="Courier New" panose="02070309020205020404" pitchFamily="49" charset="0"/>
              </a:rPr>
              <a:t>Next statement;</a:t>
            </a:r>
          </a:p>
        </p:txBody>
      </p:sp>
      <p:sp>
        <p:nvSpPr>
          <p:cNvPr id="36870" name="Rectangle 5">
            <a:extLst>
              <a:ext uri="{FF2B5EF4-FFF2-40B4-BE49-F238E27FC236}">
                <a16:creationId xmlns:a16="http://schemas.microsoft.com/office/drawing/2014/main" id="{D2ED0AEA-114F-D949-8064-583B2CDF7745}"/>
              </a:ext>
            </a:extLst>
          </p:cNvPr>
          <p:cNvSpPr>
            <a:spLocks noChangeArrowheads="1"/>
          </p:cNvSpPr>
          <p:nvPr/>
        </p:nvSpPr>
        <p:spPr bwMode="auto">
          <a:xfrm>
            <a:off x="1339851" y="6700216"/>
            <a:ext cx="3700463" cy="500063"/>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301062" name="AutoShape 6">
            <a:extLst>
              <a:ext uri="{FF2B5EF4-FFF2-40B4-BE49-F238E27FC236}">
                <a16:creationId xmlns:a16="http://schemas.microsoft.com/office/drawing/2014/main" id="{23EC9C4C-F3AF-B944-AD71-AC0307AA9943}"/>
              </a:ext>
            </a:extLst>
          </p:cNvPr>
          <p:cNvSpPr>
            <a:spLocks noChangeArrowheads="1"/>
          </p:cNvSpPr>
          <p:nvPr/>
        </p:nvSpPr>
        <p:spPr bwMode="auto">
          <a:xfrm>
            <a:off x="8340727" y="1800223"/>
            <a:ext cx="4200525" cy="1500188"/>
          </a:xfrm>
          <a:prstGeom prst="wedgeRoundRectCallout">
            <a:avLst>
              <a:gd name="adj1" fmla="val -133333"/>
              <a:gd name="adj2" fmla="val 282778"/>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The next statement in the method is now executed.</a:t>
            </a:r>
          </a:p>
        </p:txBody>
      </p:sp>
    </p:spTree>
    <p:extLst>
      <p:ext uri="{BB962C8B-B14F-4D97-AF65-F5344CB8AC3E}">
        <p14:creationId xmlns:p14="http://schemas.microsoft.com/office/powerpoint/2010/main" val="6099429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1062"/>
                                        </p:tgtEl>
                                        <p:attrNameLst>
                                          <p:attrName>style.visibility</p:attrName>
                                        </p:attrNameLst>
                                      </p:cBhvr>
                                      <p:to>
                                        <p:strVal val="visible"/>
                                      </p:to>
                                    </p:set>
                                    <p:anim calcmode="lin" valueType="num">
                                      <p:cBhvr additive="base">
                                        <p:cTn id="7" dur="500" fill="hold"/>
                                        <p:tgtEl>
                                          <p:spTgt spid="301062"/>
                                        </p:tgtEl>
                                        <p:attrNameLst>
                                          <p:attrName>ppt_x</p:attrName>
                                        </p:attrNameLst>
                                      </p:cBhvr>
                                      <p:tavLst>
                                        <p:tav tm="0">
                                          <p:val>
                                            <p:strVal val="0-#ppt_w/2"/>
                                          </p:val>
                                        </p:tav>
                                        <p:tav tm="100000">
                                          <p:val>
                                            <p:strVal val="#ppt_x"/>
                                          </p:val>
                                        </p:tav>
                                      </p:tavLst>
                                    </p:anim>
                                    <p:anim calcmode="lin" valueType="num">
                                      <p:cBhvr additive="base">
                                        <p:cTn id="8" dur="500" fill="hold"/>
                                        <p:tgtEl>
                                          <p:spTgt spid="3010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00CE93E8-79F2-144E-A640-FAC46464FB11}"/>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7892" name="Rectangle 3">
            <a:extLst>
              <a:ext uri="{FF2B5EF4-FFF2-40B4-BE49-F238E27FC236}">
                <a16:creationId xmlns:a16="http://schemas.microsoft.com/office/drawing/2014/main" id="{11BD0F2C-C06E-5C4F-BA00-158438E47AE1}"/>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7893" name="Rectangle 4">
            <a:extLst>
              <a:ext uri="{FF2B5EF4-FFF2-40B4-BE49-F238E27FC236}">
                <a16:creationId xmlns:a16="http://schemas.microsoft.com/office/drawing/2014/main" id="{C79C0196-0E77-C649-9E28-2BCD836EE02D}"/>
              </a:ext>
            </a:extLst>
          </p:cNvPr>
          <p:cNvSpPr>
            <a:spLocks noGrp="1" noChangeArrowheads="1"/>
          </p:cNvSpPr>
          <p:nvPr>
            <p:ph type="body" idx="1"/>
          </p:nvPr>
        </p:nvSpPr>
        <p:spPr>
          <a:xfrm>
            <a:off x="1239837" y="1500187"/>
            <a:ext cx="6100763" cy="6700838"/>
          </a:xfrm>
        </p:spPr>
        <p:txBody>
          <a:bodyPr/>
          <a:lstStyle/>
          <a:p>
            <a:pPr>
              <a:lnSpc>
                <a:spcPct val="80000"/>
              </a:lnSpc>
              <a:buFont typeface="Monotype Sorts" pitchFamily="2" charset="2"/>
              <a:buNone/>
            </a:pPr>
            <a:r>
              <a:rPr lang="en-US" altLang="en-US" sz="2400" b="1" dirty="0">
                <a:latin typeface="Courier New" panose="02070309020205020404" pitchFamily="49" charset="0"/>
              </a:rPr>
              <a:t>try {  </a:t>
            </a:r>
          </a:p>
          <a:p>
            <a:pPr>
              <a:lnSpc>
                <a:spcPct val="80000"/>
              </a:lnSpc>
              <a:buFont typeface="Monotype Sorts" pitchFamily="2" charset="2"/>
              <a:buNone/>
            </a:pPr>
            <a:r>
              <a:rPr lang="en-US" altLang="en-US" sz="2400" b="1" dirty="0">
                <a:latin typeface="Courier New" panose="02070309020205020404" pitchFamily="49" charset="0"/>
              </a:rPr>
              <a:t>  statement1;</a:t>
            </a:r>
          </a:p>
          <a:p>
            <a:pPr>
              <a:lnSpc>
                <a:spcPct val="80000"/>
              </a:lnSpc>
              <a:buFont typeface="Monotype Sorts" pitchFamily="2" charset="2"/>
              <a:buNone/>
            </a:pPr>
            <a:r>
              <a:rPr lang="en-US" altLang="en-US" sz="2400" b="1" dirty="0">
                <a:latin typeface="Courier New" panose="02070309020205020404" pitchFamily="49" charset="0"/>
              </a:rPr>
              <a:t>  statement2;</a:t>
            </a:r>
          </a:p>
          <a:p>
            <a:pPr>
              <a:lnSpc>
                <a:spcPct val="80000"/>
              </a:lnSpc>
              <a:buFont typeface="Monotype Sorts" pitchFamily="2" charset="2"/>
              <a:buNone/>
            </a:pPr>
            <a:r>
              <a:rPr lang="en-US" altLang="en-US" sz="2400" b="1" dirty="0">
                <a:latin typeface="Courier New" panose="02070309020205020404" pitchFamily="49" charset="0"/>
              </a:rPr>
              <a:t>  statement3;</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catch(Exception1 ex) { </a:t>
            </a:r>
          </a:p>
          <a:p>
            <a:pPr>
              <a:lnSpc>
                <a:spcPct val="80000"/>
              </a:lnSpc>
              <a:buFont typeface="Monotype Sorts" pitchFamily="2" charset="2"/>
              <a:buNone/>
            </a:pPr>
            <a:r>
              <a:rPr lang="en-US" altLang="en-US" sz="2400" b="1" dirty="0">
                <a:latin typeface="Courier New" panose="02070309020205020404" pitchFamily="49" charset="0"/>
              </a:rPr>
              <a:t>  handling ex; </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catch(Exception2 ex) { </a:t>
            </a:r>
          </a:p>
          <a:p>
            <a:pPr>
              <a:lnSpc>
                <a:spcPct val="80000"/>
              </a:lnSpc>
              <a:buFont typeface="Monotype Sorts" pitchFamily="2" charset="2"/>
              <a:buNone/>
            </a:pPr>
            <a:r>
              <a:rPr lang="en-US" altLang="en-US" sz="2400" b="1" dirty="0">
                <a:latin typeface="Courier New" panose="02070309020205020404" pitchFamily="49" charset="0"/>
              </a:rPr>
              <a:t>  handling ex; </a:t>
            </a:r>
          </a:p>
          <a:p>
            <a:pPr>
              <a:lnSpc>
                <a:spcPct val="80000"/>
              </a:lnSpc>
              <a:buFont typeface="Monotype Sorts" pitchFamily="2" charset="2"/>
              <a:buNone/>
            </a:pPr>
            <a:r>
              <a:rPr lang="en-US" altLang="en-US" sz="2400" b="1" dirty="0">
                <a:latin typeface="Courier New" panose="02070309020205020404" pitchFamily="49" charset="0"/>
              </a:rPr>
              <a:t>  throw ex;</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finally { </a:t>
            </a:r>
          </a:p>
          <a:p>
            <a:pPr>
              <a:lnSpc>
                <a:spcPct val="80000"/>
              </a:lnSpc>
              <a:buFont typeface="Monotype Sorts" pitchFamily="2" charset="2"/>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finalStatements</a:t>
            </a:r>
            <a:r>
              <a:rPr lang="en-US" altLang="en-US" sz="2400" b="1" dirty="0">
                <a:latin typeface="Courier New" panose="02070309020205020404" pitchFamily="49" charset="0"/>
              </a:rPr>
              <a:t>; </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endParaRPr lang="en-US" altLang="en-US" sz="2400" b="1" dirty="0">
              <a:latin typeface="Courier New" panose="02070309020205020404" pitchFamily="49" charset="0"/>
            </a:endParaRPr>
          </a:p>
          <a:p>
            <a:pPr>
              <a:lnSpc>
                <a:spcPct val="80000"/>
              </a:lnSpc>
              <a:buFont typeface="Monotype Sorts" pitchFamily="2" charset="2"/>
              <a:buNone/>
            </a:pPr>
            <a:r>
              <a:rPr lang="en-US" altLang="en-US" sz="2400" b="1" dirty="0">
                <a:latin typeface="Courier New" panose="02070309020205020404" pitchFamily="49" charset="0"/>
              </a:rPr>
              <a:t>Next statement;</a:t>
            </a:r>
          </a:p>
        </p:txBody>
      </p:sp>
      <p:sp>
        <p:nvSpPr>
          <p:cNvPr id="37894" name="Rectangle 5">
            <a:extLst>
              <a:ext uri="{FF2B5EF4-FFF2-40B4-BE49-F238E27FC236}">
                <a16:creationId xmlns:a16="http://schemas.microsoft.com/office/drawing/2014/main" id="{8C81FB1B-4481-8844-ADD4-73FC53AD7026}"/>
              </a:ext>
            </a:extLst>
          </p:cNvPr>
          <p:cNvSpPr>
            <a:spLocks noChangeArrowheads="1"/>
          </p:cNvSpPr>
          <p:nvPr/>
        </p:nvSpPr>
        <p:spPr bwMode="auto">
          <a:xfrm>
            <a:off x="1339851" y="2200275"/>
            <a:ext cx="370046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
        <p:nvSpPr>
          <p:cNvPr id="302086" name="AutoShape 6">
            <a:extLst>
              <a:ext uri="{FF2B5EF4-FFF2-40B4-BE49-F238E27FC236}">
                <a16:creationId xmlns:a16="http://schemas.microsoft.com/office/drawing/2014/main" id="{345822AC-AA0A-C349-BE34-B4C252551DF4}"/>
              </a:ext>
            </a:extLst>
          </p:cNvPr>
          <p:cNvSpPr>
            <a:spLocks noChangeArrowheads="1"/>
          </p:cNvSpPr>
          <p:nvPr/>
        </p:nvSpPr>
        <p:spPr bwMode="auto">
          <a:xfrm>
            <a:off x="8340727" y="1800223"/>
            <a:ext cx="4200525" cy="1500188"/>
          </a:xfrm>
          <a:prstGeom prst="wedgeRoundRectCallout">
            <a:avLst>
              <a:gd name="adj1" fmla="val -142162"/>
              <a:gd name="adj2" fmla="val -4861"/>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dirty="0"/>
              <a:t>statement2 throws an exception of type Exception2.</a:t>
            </a:r>
          </a:p>
        </p:txBody>
      </p:sp>
    </p:spTree>
    <p:extLst>
      <p:ext uri="{BB962C8B-B14F-4D97-AF65-F5344CB8AC3E}">
        <p14:creationId xmlns:p14="http://schemas.microsoft.com/office/powerpoint/2010/main" val="11175562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2086"/>
                                        </p:tgtEl>
                                        <p:attrNameLst>
                                          <p:attrName>style.visibility</p:attrName>
                                        </p:attrNameLst>
                                      </p:cBhvr>
                                      <p:to>
                                        <p:strVal val="visible"/>
                                      </p:to>
                                    </p:set>
                                    <p:anim calcmode="lin" valueType="num">
                                      <p:cBhvr additive="base">
                                        <p:cTn id="7" dur="500" fill="hold"/>
                                        <p:tgtEl>
                                          <p:spTgt spid="302086"/>
                                        </p:tgtEl>
                                        <p:attrNameLst>
                                          <p:attrName>ppt_x</p:attrName>
                                        </p:attrNameLst>
                                      </p:cBhvr>
                                      <p:tavLst>
                                        <p:tav tm="0">
                                          <p:val>
                                            <p:strVal val="0-#ppt_w/2"/>
                                          </p:val>
                                        </p:tav>
                                        <p:tav tm="100000">
                                          <p:val>
                                            <p:strVal val="#ppt_x"/>
                                          </p:val>
                                        </p:tav>
                                      </p:tavLst>
                                    </p:anim>
                                    <p:anim calcmode="lin" valueType="num">
                                      <p:cBhvr additive="base">
                                        <p:cTn id="8" dur="500" fill="hold"/>
                                        <p:tgtEl>
                                          <p:spTgt spid="3020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3233E96F-DF9F-664F-8692-E1520C064F56}"/>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8916" name="Rectangle 3">
            <a:extLst>
              <a:ext uri="{FF2B5EF4-FFF2-40B4-BE49-F238E27FC236}">
                <a16:creationId xmlns:a16="http://schemas.microsoft.com/office/drawing/2014/main" id="{D5175837-D38F-064F-AC79-E75E3B634559}"/>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8917" name="Rectangle 4">
            <a:extLst>
              <a:ext uri="{FF2B5EF4-FFF2-40B4-BE49-F238E27FC236}">
                <a16:creationId xmlns:a16="http://schemas.microsoft.com/office/drawing/2014/main" id="{0C6AF9D4-9FBA-744A-9057-0A33F3FF239B}"/>
              </a:ext>
            </a:extLst>
          </p:cNvPr>
          <p:cNvSpPr>
            <a:spLocks noGrp="1" noChangeArrowheads="1"/>
          </p:cNvSpPr>
          <p:nvPr>
            <p:ph type="body" idx="1"/>
          </p:nvPr>
        </p:nvSpPr>
        <p:spPr>
          <a:xfrm>
            <a:off x="1239837" y="1500187"/>
            <a:ext cx="6100763" cy="6700838"/>
          </a:xfrm>
        </p:spPr>
        <p:txBody>
          <a:bodyPr/>
          <a:lstStyle/>
          <a:p>
            <a:pPr>
              <a:lnSpc>
                <a:spcPct val="80000"/>
              </a:lnSpc>
              <a:buFont typeface="Monotype Sorts" pitchFamily="2" charset="2"/>
              <a:buNone/>
            </a:pPr>
            <a:r>
              <a:rPr lang="en-US" altLang="en-US" sz="2400" b="1" dirty="0">
                <a:latin typeface="Courier New" panose="02070309020205020404" pitchFamily="49" charset="0"/>
              </a:rPr>
              <a:t>try {  </a:t>
            </a:r>
          </a:p>
          <a:p>
            <a:pPr>
              <a:lnSpc>
                <a:spcPct val="80000"/>
              </a:lnSpc>
              <a:buFont typeface="Monotype Sorts" pitchFamily="2" charset="2"/>
              <a:buNone/>
            </a:pPr>
            <a:r>
              <a:rPr lang="en-US" altLang="en-US" sz="2400" b="1" dirty="0">
                <a:latin typeface="Courier New" panose="02070309020205020404" pitchFamily="49" charset="0"/>
              </a:rPr>
              <a:t>  statement1;</a:t>
            </a:r>
          </a:p>
          <a:p>
            <a:pPr>
              <a:lnSpc>
                <a:spcPct val="80000"/>
              </a:lnSpc>
              <a:buFont typeface="Monotype Sorts" pitchFamily="2" charset="2"/>
              <a:buNone/>
            </a:pPr>
            <a:r>
              <a:rPr lang="en-US" altLang="en-US" sz="2400" b="1" dirty="0">
                <a:latin typeface="Courier New" panose="02070309020205020404" pitchFamily="49" charset="0"/>
              </a:rPr>
              <a:t>  statement2;</a:t>
            </a:r>
          </a:p>
          <a:p>
            <a:pPr>
              <a:lnSpc>
                <a:spcPct val="80000"/>
              </a:lnSpc>
              <a:buFont typeface="Monotype Sorts" pitchFamily="2" charset="2"/>
              <a:buNone/>
            </a:pPr>
            <a:r>
              <a:rPr lang="en-US" altLang="en-US" sz="2400" b="1" dirty="0">
                <a:latin typeface="Courier New" panose="02070309020205020404" pitchFamily="49" charset="0"/>
              </a:rPr>
              <a:t>  statement3;</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catch(Exception1 ex) { </a:t>
            </a:r>
          </a:p>
          <a:p>
            <a:pPr>
              <a:lnSpc>
                <a:spcPct val="80000"/>
              </a:lnSpc>
              <a:buFont typeface="Monotype Sorts" pitchFamily="2" charset="2"/>
              <a:buNone/>
            </a:pPr>
            <a:r>
              <a:rPr lang="en-US" altLang="en-US" sz="2400" b="1" dirty="0">
                <a:latin typeface="Courier New" panose="02070309020205020404" pitchFamily="49" charset="0"/>
              </a:rPr>
              <a:t>  handling ex; </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catch(Exception2 ex) { </a:t>
            </a:r>
          </a:p>
          <a:p>
            <a:pPr>
              <a:lnSpc>
                <a:spcPct val="80000"/>
              </a:lnSpc>
              <a:buFont typeface="Monotype Sorts" pitchFamily="2" charset="2"/>
              <a:buNone/>
            </a:pPr>
            <a:r>
              <a:rPr lang="en-US" altLang="en-US" sz="2400" b="1" dirty="0">
                <a:latin typeface="Courier New" panose="02070309020205020404" pitchFamily="49" charset="0"/>
              </a:rPr>
              <a:t>  handling ex; </a:t>
            </a:r>
          </a:p>
          <a:p>
            <a:pPr>
              <a:lnSpc>
                <a:spcPct val="80000"/>
              </a:lnSpc>
              <a:buFont typeface="Monotype Sorts" pitchFamily="2" charset="2"/>
              <a:buNone/>
            </a:pPr>
            <a:r>
              <a:rPr lang="en-US" altLang="en-US" sz="2400" b="1" dirty="0">
                <a:latin typeface="Courier New" panose="02070309020205020404" pitchFamily="49" charset="0"/>
              </a:rPr>
              <a:t>  throw ex;</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finally { </a:t>
            </a:r>
          </a:p>
          <a:p>
            <a:pPr>
              <a:lnSpc>
                <a:spcPct val="80000"/>
              </a:lnSpc>
              <a:buFont typeface="Monotype Sorts" pitchFamily="2" charset="2"/>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finalStatements</a:t>
            </a:r>
            <a:r>
              <a:rPr lang="en-US" altLang="en-US" sz="2400" b="1" dirty="0">
                <a:latin typeface="Courier New" panose="02070309020205020404" pitchFamily="49" charset="0"/>
              </a:rPr>
              <a:t>; </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endParaRPr lang="en-US" altLang="en-US" sz="2400" b="1" dirty="0">
              <a:latin typeface="Courier New" panose="02070309020205020404" pitchFamily="49" charset="0"/>
            </a:endParaRPr>
          </a:p>
          <a:p>
            <a:pPr>
              <a:lnSpc>
                <a:spcPct val="80000"/>
              </a:lnSpc>
              <a:buFont typeface="Monotype Sorts" pitchFamily="2" charset="2"/>
              <a:buNone/>
            </a:pPr>
            <a:r>
              <a:rPr lang="en-US" altLang="en-US" sz="2400" b="1" dirty="0">
                <a:latin typeface="Courier New" panose="02070309020205020404" pitchFamily="49" charset="0"/>
              </a:rPr>
              <a:t>Next statement;</a:t>
            </a:r>
          </a:p>
        </p:txBody>
      </p:sp>
      <p:sp>
        <p:nvSpPr>
          <p:cNvPr id="303110" name="AutoShape 6">
            <a:extLst>
              <a:ext uri="{FF2B5EF4-FFF2-40B4-BE49-F238E27FC236}">
                <a16:creationId xmlns:a16="http://schemas.microsoft.com/office/drawing/2014/main" id="{B3AF0DD9-0AC9-9548-A2E0-EB724CF7E590}"/>
              </a:ext>
            </a:extLst>
          </p:cNvPr>
          <p:cNvSpPr>
            <a:spLocks noChangeArrowheads="1"/>
          </p:cNvSpPr>
          <p:nvPr/>
        </p:nvSpPr>
        <p:spPr bwMode="auto">
          <a:xfrm>
            <a:off x="8340727" y="1800225"/>
            <a:ext cx="4200525" cy="800100"/>
          </a:xfrm>
          <a:prstGeom prst="wedgeRoundRectCallout">
            <a:avLst>
              <a:gd name="adj1" fmla="val -136407"/>
              <a:gd name="adj2" fmla="val 337759"/>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Handling exception</a:t>
            </a:r>
          </a:p>
        </p:txBody>
      </p:sp>
      <p:sp>
        <p:nvSpPr>
          <p:cNvPr id="38919" name="Rectangle 7">
            <a:extLst>
              <a:ext uri="{FF2B5EF4-FFF2-40B4-BE49-F238E27FC236}">
                <a16:creationId xmlns:a16="http://schemas.microsoft.com/office/drawing/2014/main" id="{13B995A0-05D9-F442-8312-7F105799EE4D}"/>
              </a:ext>
            </a:extLst>
          </p:cNvPr>
          <p:cNvSpPr>
            <a:spLocks noChangeArrowheads="1"/>
          </p:cNvSpPr>
          <p:nvPr/>
        </p:nvSpPr>
        <p:spPr bwMode="auto">
          <a:xfrm>
            <a:off x="1339851" y="4740344"/>
            <a:ext cx="370046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34531996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3110"/>
                                        </p:tgtEl>
                                        <p:attrNameLst>
                                          <p:attrName>style.visibility</p:attrName>
                                        </p:attrNameLst>
                                      </p:cBhvr>
                                      <p:to>
                                        <p:strVal val="visible"/>
                                      </p:to>
                                    </p:set>
                                    <p:anim calcmode="lin" valueType="num">
                                      <p:cBhvr additive="base">
                                        <p:cTn id="7" dur="500" fill="hold"/>
                                        <p:tgtEl>
                                          <p:spTgt spid="303110"/>
                                        </p:tgtEl>
                                        <p:attrNameLst>
                                          <p:attrName>ppt_x</p:attrName>
                                        </p:attrNameLst>
                                      </p:cBhvr>
                                      <p:tavLst>
                                        <p:tav tm="0">
                                          <p:val>
                                            <p:strVal val="0-#ppt_w/2"/>
                                          </p:val>
                                        </p:tav>
                                        <p:tav tm="100000">
                                          <p:val>
                                            <p:strVal val="#ppt_x"/>
                                          </p:val>
                                        </p:tav>
                                      </p:tavLst>
                                    </p:anim>
                                    <p:anim calcmode="lin" valueType="num">
                                      <p:cBhvr additive="base">
                                        <p:cTn id="8" dur="500" fill="hold"/>
                                        <p:tgtEl>
                                          <p:spTgt spid="3031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89796DFC-003C-4941-8670-25E216F4A9F2}"/>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39940" name="Rectangle 3">
            <a:extLst>
              <a:ext uri="{FF2B5EF4-FFF2-40B4-BE49-F238E27FC236}">
                <a16:creationId xmlns:a16="http://schemas.microsoft.com/office/drawing/2014/main" id="{1D85980A-8FF4-9742-B482-9EC1F7A6509C}"/>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39941" name="Rectangle 4">
            <a:extLst>
              <a:ext uri="{FF2B5EF4-FFF2-40B4-BE49-F238E27FC236}">
                <a16:creationId xmlns:a16="http://schemas.microsoft.com/office/drawing/2014/main" id="{798CC4C7-A21D-CE47-8C35-ACE23A09FA84}"/>
              </a:ext>
            </a:extLst>
          </p:cNvPr>
          <p:cNvSpPr>
            <a:spLocks noGrp="1" noChangeArrowheads="1"/>
          </p:cNvSpPr>
          <p:nvPr>
            <p:ph type="body" idx="1"/>
          </p:nvPr>
        </p:nvSpPr>
        <p:spPr>
          <a:xfrm>
            <a:off x="1239837" y="1500187"/>
            <a:ext cx="6100763" cy="6700838"/>
          </a:xfrm>
        </p:spPr>
        <p:txBody>
          <a:bodyPr/>
          <a:lstStyle/>
          <a:p>
            <a:pPr>
              <a:lnSpc>
                <a:spcPct val="80000"/>
              </a:lnSpc>
              <a:buFont typeface="Monotype Sorts" pitchFamily="2" charset="2"/>
              <a:buNone/>
            </a:pPr>
            <a:r>
              <a:rPr lang="en-US" altLang="en-US" sz="2400" dirty="0">
                <a:latin typeface="Courier New" panose="02070309020205020404" pitchFamily="49" charset="0"/>
              </a:rPr>
              <a:t>try {  </a:t>
            </a:r>
          </a:p>
          <a:p>
            <a:pPr>
              <a:lnSpc>
                <a:spcPct val="80000"/>
              </a:lnSpc>
              <a:buFont typeface="Monotype Sorts" pitchFamily="2" charset="2"/>
              <a:buNone/>
            </a:pPr>
            <a:r>
              <a:rPr lang="en-US" altLang="en-US" sz="2400" dirty="0">
                <a:latin typeface="Courier New" panose="02070309020205020404" pitchFamily="49" charset="0"/>
              </a:rPr>
              <a:t>  statement1;</a:t>
            </a:r>
          </a:p>
          <a:p>
            <a:pPr>
              <a:lnSpc>
                <a:spcPct val="80000"/>
              </a:lnSpc>
              <a:buFont typeface="Monotype Sorts" pitchFamily="2" charset="2"/>
              <a:buNone/>
            </a:pPr>
            <a:r>
              <a:rPr lang="en-US" altLang="en-US" sz="2400" dirty="0">
                <a:latin typeface="Courier New" panose="02070309020205020404" pitchFamily="49" charset="0"/>
              </a:rPr>
              <a:t>  statement2;</a:t>
            </a:r>
          </a:p>
          <a:p>
            <a:pPr>
              <a:lnSpc>
                <a:spcPct val="80000"/>
              </a:lnSpc>
              <a:buFont typeface="Monotype Sorts" pitchFamily="2" charset="2"/>
              <a:buNone/>
            </a:pPr>
            <a:r>
              <a:rPr lang="en-US" altLang="en-US" sz="2400" dirty="0">
                <a:latin typeface="Courier New" panose="02070309020205020404" pitchFamily="49" charset="0"/>
              </a:rPr>
              <a:t>  statement3;</a:t>
            </a:r>
          </a:p>
          <a:p>
            <a:pPr>
              <a:lnSpc>
                <a:spcPct val="80000"/>
              </a:lnSpc>
              <a:buFont typeface="Monotype Sorts" pitchFamily="2" charset="2"/>
              <a:buNone/>
            </a:pPr>
            <a:r>
              <a:rPr lang="en-US" altLang="en-US" sz="2400" dirty="0">
                <a:latin typeface="Courier New" panose="02070309020205020404" pitchFamily="49" charset="0"/>
              </a:rPr>
              <a:t>}</a:t>
            </a:r>
          </a:p>
          <a:p>
            <a:pPr>
              <a:lnSpc>
                <a:spcPct val="80000"/>
              </a:lnSpc>
              <a:buFont typeface="Monotype Sorts" pitchFamily="2" charset="2"/>
              <a:buNone/>
            </a:pPr>
            <a:r>
              <a:rPr lang="en-US" altLang="en-US" sz="2400" dirty="0">
                <a:latin typeface="Courier New" panose="02070309020205020404" pitchFamily="49" charset="0"/>
              </a:rPr>
              <a:t>catch(Exception1 ex) { </a:t>
            </a:r>
          </a:p>
          <a:p>
            <a:pPr>
              <a:lnSpc>
                <a:spcPct val="80000"/>
              </a:lnSpc>
              <a:buFont typeface="Monotype Sorts" pitchFamily="2" charset="2"/>
              <a:buNone/>
            </a:pPr>
            <a:r>
              <a:rPr lang="en-US" altLang="en-US" sz="2400" dirty="0">
                <a:latin typeface="Courier New" panose="02070309020205020404" pitchFamily="49" charset="0"/>
              </a:rPr>
              <a:t>  handling ex; </a:t>
            </a:r>
          </a:p>
          <a:p>
            <a:pPr>
              <a:lnSpc>
                <a:spcPct val="80000"/>
              </a:lnSpc>
              <a:buFont typeface="Monotype Sorts" pitchFamily="2" charset="2"/>
              <a:buNone/>
            </a:pPr>
            <a:r>
              <a:rPr lang="en-US" altLang="en-US" sz="2400" dirty="0">
                <a:latin typeface="Courier New" panose="02070309020205020404" pitchFamily="49" charset="0"/>
              </a:rPr>
              <a:t>}</a:t>
            </a:r>
          </a:p>
          <a:p>
            <a:pPr>
              <a:lnSpc>
                <a:spcPct val="80000"/>
              </a:lnSpc>
              <a:buFont typeface="Monotype Sorts" pitchFamily="2" charset="2"/>
              <a:buNone/>
            </a:pPr>
            <a:r>
              <a:rPr lang="en-US" altLang="en-US" sz="2400" dirty="0">
                <a:latin typeface="Courier New" panose="02070309020205020404" pitchFamily="49" charset="0"/>
              </a:rPr>
              <a:t>catch(Exception2 ex) { </a:t>
            </a:r>
          </a:p>
          <a:p>
            <a:pPr>
              <a:lnSpc>
                <a:spcPct val="80000"/>
              </a:lnSpc>
              <a:buFont typeface="Monotype Sorts" pitchFamily="2" charset="2"/>
              <a:buNone/>
            </a:pPr>
            <a:r>
              <a:rPr lang="en-US" altLang="en-US" sz="2400" dirty="0">
                <a:latin typeface="Courier New" panose="02070309020205020404" pitchFamily="49" charset="0"/>
              </a:rPr>
              <a:t>  handling ex; </a:t>
            </a:r>
          </a:p>
          <a:p>
            <a:pPr>
              <a:lnSpc>
                <a:spcPct val="80000"/>
              </a:lnSpc>
              <a:buFont typeface="Monotype Sorts" pitchFamily="2" charset="2"/>
              <a:buNone/>
            </a:pPr>
            <a:r>
              <a:rPr lang="en-US" altLang="en-US" sz="2400" dirty="0">
                <a:latin typeface="Courier New" panose="02070309020205020404" pitchFamily="49" charset="0"/>
              </a:rPr>
              <a:t>  throw ex;</a:t>
            </a:r>
          </a:p>
          <a:p>
            <a:pPr>
              <a:lnSpc>
                <a:spcPct val="80000"/>
              </a:lnSpc>
              <a:buFont typeface="Monotype Sorts" pitchFamily="2" charset="2"/>
              <a:buNone/>
            </a:pPr>
            <a:r>
              <a:rPr lang="en-US" altLang="en-US" sz="2400" dirty="0">
                <a:latin typeface="Courier New" panose="02070309020205020404" pitchFamily="49" charset="0"/>
              </a:rPr>
              <a:t>}</a:t>
            </a:r>
          </a:p>
          <a:p>
            <a:pPr>
              <a:lnSpc>
                <a:spcPct val="80000"/>
              </a:lnSpc>
              <a:buFont typeface="Monotype Sorts" pitchFamily="2" charset="2"/>
              <a:buNone/>
            </a:pPr>
            <a:r>
              <a:rPr lang="en-US" altLang="en-US" sz="2400" dirty="0">
                <a:latin typeface="Courier New" panose="02070309020205020404" pitchFamily="49" charset="0"/>
              </a:rPr>
              <a:t>finally { </a:t>
            </a:r>
          </a:p>
          <a:p>
            <a:pPr>
              <a:lnSpc>
                <a:spcPct val="80000"/>
              </a:lnSpc>
              <a:buFont typeface="Monotype Sorts" pitchFamily="2" charset="2"/>
              <a:buNone/>
            </a:pPr>
            <a:r>
              <a:rPr lang="en-US" altLang="en-US" sz="2400" dirty="0">
                <a:latin typeface="Courier New" panose="02070309020205020404" pitchFamily="49" charset="0"/>
              </a:rPr>
              <a:t>  </a:t>
            </a:r>
            <a:r>
              <a:rPr lang="en-US" altLang="en-US" sz="2400" dirty="0" err="1">
                <a:latin typeface="Courier New" panose="02070309020205020404" pitchFamily="49" charset="0"/>
              </a:rPr>
              <a:t>finalStatements</a:t>
            </a:r>
            <a:r>
              <a:rPr lang="en-US" altLang="en-US" sz="2400" dirty="0">
                <a:latin typeface="Courier New" panose="02070309020205020404" pitchFamily="49" charset="0"/>
              </a:rPr>
              <a:t>; </a:t>
            </a:r>
          </a:p>
          <a:p>
            <a:pPr>
              <a:lnSpc>
                <a:spcPct val="80000"/>
              </a:lnSpc>
              <a:buFont typeface="Monotype Sorts" pitchFamily="2" charset="2"/>
              <a:buNone/>
            </a:pPr>
            <a:r>
              <a:rPr lang="en-US" altLang="en-US" sz="2400" dirty="0">
                <a:latin typeface="Courier New" panose="02070309020205020404" pitchFamily="49" charset="0"/>
              </a:rPr>
              <a:t>}</a:t>
            </a:r>
          </a:p>
          <a:p>
            <a:pPr>
              <a:lnSpc>
                <a:spcPct val="80000"/>
              </a:lnSpc>
              <a:buFont typeface="Monotype Sorts" pitchFamily="2" charset="2"/>
              <a:buNone/>
            </a:pPr>
            <a:endParaRPr lang="en-US" altLang="en-US" sz="2400" dirty="0">
              <a:latin typeface="Courier New" panose="02070309020205020404" pitchFamily="49" charset="0"/>
            </a:endParaRPr>
          </a:p>
          <a:p>
            <a:pPr>
              <a:lnSpc>
                <a:spcPct val="80000"/>
              </a:lnSpc>
              <a:buFont typeface="Monotype Sorts" pitchFamily="2" charset="2"/>
              <a:buNone/>
            </a:pPr>
            <a:r>
              <a:rPr lang="en-US" altLang="en-US" sz="2400" dirty="0">
                <a:latin typeface="Courier New" panose="02070309020205020404" pitchFamily="49" charset="0"/>
              </a:rPr>
              <a:t>Next statement;</a:t>
            </a:r>
          </a:p>
        </p:txBody>
      </p:sp>
      <p:sp>
        <p:nvSpPr>
          <p:cNvPr id="305157" name="AutoShape 5">
            <a:extLst>
              <a:ext uri="{FF2B5EF4-FFF2-40B4-BE49-F238E27FC236}">
                <a16:creationId xmlns:a16="http://schemas.microsoft.com/office/drawing/2014/main" id="{427E8B08-0DC1-384C-963F-F08BCA8C4679}"/>
              </a:ext>
            </a:extLst>
          </p:cNvPr>
          <p:cNvSpPr>
            <a:spLocks noChangeArrowheads="1"/>
          </p:cNvSpPr>
          <p:nvPr/>
        </p:nvSpPr>
        <p:spPr bwMode="auto">
          <a:xfrm>
            <a:off x="8340727" y="1800225"/>
            <a:ext cx="4200525" cy="800100"/>
          </a:xfrm>
          <a:prstGeom prst="wedgeRoundRectCallout">
            <a:avLst>
              <a:gd name="adj1" fmla="val -133681"/>
              <a:gd name="adj2" fmla="val 518231"/>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Execute the final block</a:t>
            </a:r>
          </a:p>
        </p:txBody>
      </p:sp>
      <p:sp>
        <p:nvSpPr>
          <p:cNvPr id="39943" name="Rectangle 6">
            <a:extLst>
              <a:ext uri="{FF2B5EF4-FFF2-40B4-BE49-F238E27FC236}">
                <a16:creationId xmlns:a16="http://schemas.microsoft.com/office/drawing/2014/main" id="{17D9AA59-1571-B445-9508-A468B57DDF0D}"/>
              </a:ext>
            </a:extLst>
          </p:cNvPr>
          <p:cNvSpPr>
            <a:spLocks noChangeArrowheads="1"/>
          </p:cNvSpPr>
          <p:nvPr/>
        </p:nvSpPr>
        <p:spPr bwMode="auto">
          <a:xfrm>
            <a:off x="1339851" y="6200775"/>
            <a:ext cx="370046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6815131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5157"/>
                                        </p:tgtEl>
                                        <p:attrNameLst>
                                          <p:attrName>style.visibility</p:attrName>
                                        </p:attrNameLst>
                                      </p:cBhvr>
                                      <p:to>
                                        <p:strVal val="visible"/>
                                      </p:to>
                                    </p:set>
                                    <p:anim calcmode="lin" valueType="num">
                                      <p:cBhvr additive="base">
                                        <p:cTn id="7" dur="500" fill="hold"/>
                                        <p:tgtEl>
                                          <p:spTgt spid="305157"/>
                                        </p:tgtEl>
                                        <p:attrNameLst>
                                          <p:attrName>ppt_x</p:attrName>
                                        </p:attrNameLst>
                                      </p:cBhvr>
                                      <p:tavLst>
                                        <p:tav tm="0">
                                          <p:val>
                                            <p:strVal val="0-#ppt_w/2"/>
                                          </p:val>
                                        </p:tav>
                                        <p:tav tm="100000">
                                          <p:val>
                                            <p:strVal val="#ppt_x"/>
                                          </p:val>
                                        </p:tav>
                                      </p:tavLst>
                                    </p:anim>
                                    <p:anim calcmode="lin" valueType="num">
                                      <p:cBhvr additive="base">
                                        <p:cTn id="8" dur="500" fill="hold"/>
                                        <p:tgtEl>
                                          <p:spTgt spid="305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E0239E9A-14D1-484F-B336-AAE6C07CF4E4}"/>
              </a:ext>
            </a:extLst>
          </p:cNvPr>
          <p:cNvSpPr>
            <a:spLocks noGrp="1" noChangeArrowheads="1"/>
          </p:cNvSpPr>
          <p:nvPr>
            <p:ph type="title"/>
          </p:nvPr>
        </p:nvSpPr>
        <p:spPr>
          <a:xfrm>
            <a:off x="1739903" y="400048"/>
            <a:ext cx="10201275"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Trace a Program Execution</a:t>
            </a:r>
          </a:p>
        </p:txBody>
      </p:sp>
      <p:sp>
        <p:nvSpPr>
          <p:cNvPr id="40964" name="Rectangle 3">
            <a:extLst>
              <a:ext uri="{FF2B5EF4-FFF2-40B4-BE49-F238E27FC236}">
                <a16:creationId xmlns:a16="http://schemas.microsoft.com/office/drawing/2014/main" id="{939CEC31-D0C5-8D47-9C82-029FFDE2E947}"/>
              </a:ext>
            </a:extLst>
          </p:cNvPr>
          <p:cNvSpPr>
            <a:spLocks noChangeArrowheads="1"/>
          </p:cNvSpPr>
          <p:nvPr/>
        </p:nvSpPr>
        <p:spPr bwMode="auto">
          <a:xfrm>
            <a:off x="839787" y="1"/>
            <a:ext cx="2000250" cy="500063"/>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solidFill>
                  <a:schemeClr val="bg2"/>
                </a:solidFill>
                <a:latin typeface="Forte" pitchFamily="66" charset="0"/>
              </a:rPr>
              <a:t>animation</a:t>
            </a:r>
          </a:p>
        </p:txBody>
      </p:sp>
      <p:sp>
        <p:nvSpPr>
          <p:cNvPr id="40965" name="Rectangle 4">
            <a:extLst>
              <a:ext uri="{FF2B5EF4-FFF2-40B4-BE49-F238E27FC236}">
                <a16:creationId xmlns:a16="http://schemas.microsoft.com/office/drawing/2014/main" id="{3BE47D80-514D-5547-905B-DDC1D1E786EF}"/>
              </a:ext>
            </a:extLst>
          </p:cNvPr>
          <p:cNvSpPr>
            <a:spLocks noGrp="1" noChangeArrowheads="1"/>
          </p:cNvSpPr>
          <p:nvPr>
            <p:ph type="body" idx="1"/>
          </p:nvPr>
        </p:nvSpPr>
        <p:spPr>
          <a:xfrm>
            <a:off x="1239837" y="1500187"/>
            <a:ext cx="6100763" cy="6700838"/>
          </a:xfrm>
        </p:spPr>
        <p:txBody>
          <a:bodyPr/>
          <a:lstStyle/>
          <a:p>
            <a:pPr>
              <a:lnSpc>
                <a:spcPct val="80000"/>
              </a:lnSpc>
              <a:buFont typeface="Monotype Sorts" pitchFamily="2" charset="2"/>
              <a:buNone/>
            </a:pPr>
            <a:r>
              <a:rPr lang="en-US" altLang="en-US" sz="2400" b="1" dirty="0">
                <a:latin typeface="Courier New" panose="02070309020205020404" pitchFamily="49" charset="0"/>
              </a:rPr>
              <a:t>try {  </a:t>
            </a:r>
          </a:p>
          <a:p>
            <a:pPr>
              <a:lnSpc>
                <a:spcPct val="80000"/>
              </a:lnSpc>
              <a:buFont typeface="Monotype Sorts" pitchFamily="2" charset="2"/>
              <a:buNone/>
            </a:pPr>
            <a:r>
              <a:rPr lang="en-US" altLang="en-US" sz="2400" b="1" dirty="0">
                <a:latin typeface="Courier New" panose="02070309020205020404" pitchFamily="49" charset="0"/>
              </a:rPr>
              <a:t>  statement1;</a:t>
            </a:r>
          </a:p>
          <a:p>
            <a:pPr>
              <a:lnSpc>
                <a:spcPct val="80000"/>
              </a:lnSpc>
              <a:buFont typeface="Monotype Sorts" pitchFamily="2" charset="2"/>
              <a:buNone/>
            </a:pPr>
            <a:r>
              <a:rPr lang="en-US" altLang="en-US" sz="2400" b="1" dirty="0">
                <a:latin typeface="Courier New" panose="02070309020205020404" pitchFamily="49" charset="0"/>
              </a:rPr>
              <a:t>  statement2;</a:t>
            </a:r>
          </a:p>
          <a:p>
            <a:pPr>
              <a:lnSpc>
                <a:spcPct val="80000"/>
              </a:lnSpc>
              <a:buFont typeface="Monotype Sorts" pitchFamily="2" charset="2"/>
              <a:buNone/>
            </a:pPr>
            <a:r>
              <a:rPr lang="en-US" altLang="en-US" sz="2400" b="1" dirty="0">
                <a:latin typeface="Courier New" panose="02070309020205020404" pitchFamily="49" charset="0"/>
              </a:rPr>
              <a:t>  statement3;</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catch(Exception1 ex) { </a:t>
            </a:r>
          </a:p>
          <a:p>
            <a:pPr>
              <a:lnSpc>
                <a:spcPct val="80000"/>
              </a:lnSpc>
              <a:buFont typeface="Monotype Sorts" pitchFamily="2" charset="2"/>
              <a:buNone/>
            </a:pPr>
            <a:r>
              <a:rPr lang="en-US" altLang="en-US" sz="2400" b="1" dirty="0">
                <a:latin typeface="Courier New" panose="02070309020205020404" pitchFamily="49" charset="0"/>
              </a:rPr>
              <a:t>  handling ex; </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catch(Exception2 ex) { </a:t>
            </a:r>
          </a:p>
          <a:p>
            <a:pPr>
              <a:lnSpc>
                <a:spcPct val="80000"/>
              </a:lnSpc>
              <a:buFont typeface="Monotype Sorts" pitchFamily="2" charset="2"/>
              <a:buNone/>
            </a:pPr>
            <a:r>
              <a:rPr lang="en-US" altLang="en-US" sz="2400" b="1" dirty="0">
                <a:latin typeface="Courier New" panose="02070309020205020404" pitchFamily="49" charset="0"/>
              </a:rPr>
              <a:t>  handling ex; </a:t>
            </a:r>
          </a:p>
          <a:p>
            <a:pPr>
              <a:lnSpc>
                <a:spcPct val="80000"/>
              </a:lnSpc>
              <a:buFont typeface="Monotype Sorts" pitchFamily="2" charset="2"/>
              <a:buNone/>
            </a:pPr>
            <a:r>
              <a:rPr lang="en-US" altLang="en-US" sz="2400" b="1" dirty="0">
                <a:latin typeface="Courier New" panose="02070309020205020404" pitchFamily="49" charset="0"/>
              </a:rPr>
              <a:t>  throw ex;</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r>
              <a:rPr lang="en-US" altLang="en-US" sz="2400" b="1" dirty="0">
                <a:latin typeface="Courier New" panose="02070309020205020404" pitchFamily="49" charset="0"/>
              </a:rPr>
              <a:t>finally { </a:t>
            </a:r>
          </a:p>
          <a:p>
            <a:pPr>
              <a:lnSpc>
                <a:spcPct val="80000"/>
              </a:lnSpc>
              <a:buFont typeface="Monotype Sorts" pitchFamily="2" charset="2"/>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finalStatements</a:t>
            </a:r>
            <a:r>
              <a:rPr lang="en-US" altLang="en-US" sz="2400" b="1" dirty="0">
                <a:latin typeface="Courier New" panose="02070309020205020404" pitchFamily="49" charset="0"/>
              </a:rPr>
              <a:t>; </a:t>
            </a:r>
          </a:p>
          <a:p>
            <a:pPr>
              <a:lnSpc>
                <a:spcPct val="80000"/>
              </a:lnSpc>
              <a:buFont typeface="Monotype Sorts" pitchFamily="2" charset="2"/>
              <a:buNone/>
            </a:pPr>
            <a:r>
              <a:rPr lang="en-US" altLang="en-US" sz="2400" b="1" dirty="0">
                <a:latin typeface="Courier New" panose="02070309020205020404" pitchFamily="49" charset="0"/>
              </a:rPr>
              <a:t>}</a:t>
            </a:r>
          </a:p>
          <a:p>
            <a:pPr>
              <a:lnSpc>
                <a:spcPct val="80000"/>
              </a:lnSpc>
              <a:buFont typeface="Monotype Sorts" pitchFamily="2" charset="2"/>
              <a:buNone/>
            </a:pPr>
            <a:endParaRPr lang="en-US" altLang="en-US" sz="2400" b="1" dirty="0">
              <a:latin typeface="Courier New" panose="02070309020205020404" pitchFamily="49" charset="0"/>
            </a:endParaRPr>
          </a:p>
          <a:p>
            <a:pPr>
              <a:lnSpc>
                <a:spcPct val="80000"/>
              </a:lnSpc>
              <a:buFont typeface="Monotype Sorts" pitchFamily="2" charset="2"/>
              <a:buNone/>
            </a:pPr>
            <a:r>
              <a:rPr lang="en-US" altLang="en-US" sz="2400" b="1" dirty="0">
                <a:latin typeface="Courier New" panose="02070309020205020404" pitchFamily="49" charset="0"/>
              </a:rPr>
              <a:t>Next statement;</a:t>
            </a:r>
          </a:p>
        </p:txBody>
      </p:sp>
      <p:sp>
        <p:nvSpPr>
          <p:cNvPr id="304133" name="AutoShape 5">
            <a:extLst>
              <a:ext uri="{FF2B5EF4-FFF2-40B4-BE49-F238E27FC236}">
                <a16:creationId xmlns:a16="http://schemas.microsoft.com/office/drawing/2014/main" id="{6DFFEFE5-8D5E-3E4B-980F-7B7B054E2044}"/>
              </a:ext>
            </a:extLst>
          </p:cNvPr>
          <p:cNvSpPr>
            <a:spLocks noChangeArrowheads="1"/>
          </p:cNvSpPr>
          <p:nvPr/>
        </p:nvSpPr>
        <p:spPr bwMode="auto">
          <a:xfrm>
            <a:off x="8340725" y="1800223"/>
            <a:ext cx="4300538" cy="1500188"/>
          </a:xfrm>
          <a:prstGeom prst="wedgeRoundRectCallout">
            <a:avLst>
              <a:gd name="adj1" fmla="val -134398"/>
              <a:gd name="adj2" fmla="val 186528"/>
              <a:gd name="adj3" fmla="val 16667"/>
            </a:avLst>
          </a:prstGeom>
          <a:solidFill>
            <a:schemeClr val="accent1"/>
          </a:solidFill>
          <a:ln w="12700">
            <a:solidFill>
              <a:schemeClr val="tx1"/>
            </a:solidFill>
            <a:miter lim="800000"/>
            <a:headEnd type="none" w="sm" len="sm"/>
            <a:tailEnd type="none" w="sm" len="sm"/>
          </a:ln>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80000"/>
              </a:lnSpc>
              <a:spcBef>
                <a:spcPct val="20000"/>
              </a:spcBef>
              <a:buClr>
                <a:schemeClr val="tx2"/>
              </a:buClr>
              <a:buSzPct val="75000"/>
              <a:buFont typeface="Monotype Sorts" pitchFamily="2" charset="2"/>
              <a:buNone/>
            </a:pPr>
            <a:r>
              <a:rPr lang="en-US" altLang="en-US" sz="3100"/>
              <a:t>Rethrow the exception and control is transferred to the caller</a:t>
            </a:r>
          </a:p>
        </p:txBody>
      </p:sp>
      <p:sp>
        <p:nvSpPr>
          <p:cNvPr id="40967" name="Rectangle 6">
            <a:extLst>
              <a:ext uri="{FF2B5EF4-FFF2-40B4-BE49-F238E27FC236}">
                <a16:creationId xmlns:a16="http://schemas.microsoft.com/office/drawing/2014/main" id="{3D096D37-716C-0D4B-B98C-BD52225BE49B}"/>
              </a:ext>
            </a:extLst>
          </p:cNvPr>
          <p:cNvSpPr>
            <a:spLocks noChangeArrowheads="1"/>
          </p:cNvSpPr>
          <p:nvPr/>
        </p:nvSpPr>
        <p:spPr bwMode="auto">
          <a:xfrm>
            <a:off x="1339851" y="5100638"/>
            <a:ext cx="3700463" cy="400050"/>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3100"/>
          </a:p>
        </p:txBody>
      </p:sp>
    </p:spTree>
    <p:extLst>
      <p:ext uri="{BB962C8B-B14F-4D97-AF65-F5344CB8AC3E}">
        <p14:creationId xmlns:p14="http://schemas.microsoft.com/office/powerpoint/2010/main" val="26481058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4133"/>
                                        </p:tgtEl>
                                        <p:attrNameLst>
                                          <p:attrName>style.visibility</p:attrName>
                                        </p:attrNameLst>
                                      </p:cBhvr>
                                      <p:to>
                                        <p:strVal val="visible"/>
                                      </p:to>
                                    </p:set>
                                    <p:anim calcmode="lin" valueType="num">
                                      <p:cBhvr additive="base">
                                        <p:cTn id="7" dur="500" fill="hold"/>
                                        <p:tgtEl>
                                          <p:spTgt spid="304133"/>
                                        </p:tgtEl>
                                        <p:attrNameLst>
                                          <p:attrName>ppt_x</p:attrName>
                                        </p:attrNameLst>
                                      </p:cBhvr>
                                      <p:tavLst>
                                        <p:tav tm="0">
                                          <p:val>
                                            <p:strVal val="0-#ppt_w/2"/>
                                          </p:val>
                                        </p:tav>
                                        <p:tav tm="100000">
                                          <p:val>
                                            <p:strVal val="#ppt_x"/>
                                          </p:val>
                                        </p:tav>
                                      </p:tavLst>
                                    </p:anim>
                                    <p:anim calcmode="lin" valueType="num">
                                      <p:cBhvr additive="base">
                                        <p:cTn id="8" dur="500" fill="hold"/>
                                        <p:tgtEl>
                                          <p:spTgt spid="3041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9E33A1DC-5F88-7042-8137-B77B638E81A6}"/>
              </a:ext>
            </a:extLst>
          </p:cNvPr>
          <p:cNvSpPr>
            <a:spLocks noGrp="1" noChangeArrowheads="1"/>
          </p:cNvSpPr>
          <p:nvPr>
            <p:ph type="title"/>
          </p:nvPr>
        </p:nvSpPr>
        <p:spPr>
          <a:xfrm>
            <a:off x="1739903" y="318052"/>
            <a:ext cx="10201275" cy="1557182"/>
          </a:xfrm>
        </p:spPr>
        <p:txBody>
          <a:bodyPr/>
          <a:lstStyle/>
          <a:p>
            <a:r>
              <a:rPr lang="en-US" altLang="en-US" b="1" dirty="0">
                <a:solidFill>
                  <a:schemeClr val="tx1"/>
                </a:solidFill>
                <a:latin typeface="Times New Roman" panose="02020603050405020304" pitchFamily="18" charset="0"/>
                <a:cs typeface="Times New Roman" panose="02020603050405020304" pitchFamily="18" charset="0"/>
              </a:rPr>
              <a:t>Cautions When Using Exceptions</a:t>
            </a:r>
          </a:p>
        </p:txBody>
      </p:sp>
      <p:sp>
        <p:nvSpPr>
          <p:cNvPr id="41988" name="Rectangle 3">
            <a:extLst>
              <a:ext uri="{FF2B5EF4-FFF2-40B4-BE49-F238E27FC236}">
                <a16:creationId xmlns:a16="http://schemas.microsoft.com/office/drawing/2014/main" id="{9E5AE68A-DAC9-CC42-81F8-56FF21EA9F09}"/>
              </a:ext>
            </a:extLst>
          </p:cNvPr>
          <p:cNvSpPr>
            <a:spLocks noGrp="1" noChangeArrowheads="1"/>
          </p:cNvSpPr>
          <p:nvPr>
            <p:ph type="body" idx="1"/>
          </p:nvPr>
        </p:nvSpPr>
        <p:spPr>
          <a:xfrm>
            <a:off x="1339849" y="1800225"/>
            <a:ext cx="11101387" cy="6200775"/>
          </a:xfrm>
        </p:spPr>
        <p:txBody>
          <a:bodyPr/>
          <a:lstStyle/>
          <a:p>
            <a:pPr algn="just">
              <a:spcAft>
                <a:spcPts val="1575"/>
              </a:spcAft>
            </a:pPr>
            <a:r>
              <a:rPr lang="en-US" altLang="en-US" sz="3600" dirty="0">
                <a:latin typeface="Times New Roman" panose="02020603050405020304" pitchFamily="18" charset="0"/>
                <a:cs typeface="Times New Roman" panose="02020603050405020304" pitchFamily="18" charset="0"/>
              </a:rPr>
              <a:t>Exception handling separates error-handling code from normal programming tasks, thus making programs easier to read and to modify. Be aware, however, that exception handling usually requires more time and resources because it requires instantiating a new exception object, rolling back the call stack, and propagating the errors to the calling methods.</a:t>
            </a:r>
          </a:p>
        </p:txBody>
      </p:sp>
    </p:spTree>
    <p:extLst>
      <p:ext uri="{BB962C8B-B14F-4D97-AF65-F5344CB8AC3E}">
        <p14:creationId xmlns:p14="http://schemas.microsoft.com/office/powerpoint/2010/main" val="3066227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67C54FBB-BB4F-6D45-9619-28431BDFF382}"/>
              </a:ext>
            </a:extLst>
          </p:cNvPr>
          <p:cNvSpPr>
            <a:spLocks noGrp="1" noChangeArrowheads="1"/>
          </p:cNvSpPr>
          <p:nvPr>
            <p:ph type="title"/>
          </p:nvPr>
        </p:nvSpPr>
        <p:spPr>
          <a:xfrm>
            <a:off x="1739903" y="0"/>
            <a:ext cx="10201275" cy="1875234"/>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When to Throw Exceptions</a:t>
            </a:r>
          </a:p>
        </p:txBody>
      </p:sp>
      <p:sp>
        <p:nvSpPr>
          <p:cNvPr id="43012" name="Rectangle 3">
            <a:extLst>
              <a:ext uri="{FF2B5EF4-FFF2-40B4-BE49-F238E27FC236}">
                <a16:creationId xmlns:a16="http://schemas.microsoft.com/office/drawing/2014/main" id="{9C740A0C-3DFC-9042-959B-06235886B9A5}"/>
              </a:ext>
            </a:extLst>
          </p:cNvPr>
          <p:cNvSpPr>
            <a:spLocks noGrp="1" noChangeArrowheads="1"/>
          </p:cNvSpPr>
          <p:nvPr>
            <p:ph type="body" idx="1"/>
          </p:nvPr>
        </p:nvSpPr>
        <p:spPr>
          <a:xfrm>
            <a:off x="1339849" y="1800225"/>
            <a:ext cx="11101387" cy="6200775"/>
          </a:xfrm>
        </p:spPr>
        <p:txBody>
          <a:bodyPr/>
          <a:lstStyle/>
          <a:p>
            <a:pPr algn="just">
              <a:spcAft>
                <a:spcPts val="1575"/>
              </a:spcAft>
            </a:pPr>
            <a:r>
              <a:rPr lang="en-US" altLang="en-US" sz="3600" dirty="0">
                <a:latin typeface="Times New Roman" panose="02020603050405020304" pitchFamily="18" charset="0"/>
                <a:cs typeface="Times New Roman" panose="02020603050405020304" pitchFamily="18" charset="0"/>
              </a:rPr>
              <a:t>An exception occurs in a method. If you want the exception to be processed by its caller, you should create an exception object and throw it. If you can handle the exception in the method where it occurs, there is no need to throw it.</a:t>
            </a:r>
          </a:p>
        </p:txBody>
      </p:sp>
    </p:spTree>
    <p:extLst>
      <p:ext uri="{BB962C8B-B14F-4D97-AF65-F5344CB8AC3E}">
        <p14:creationId xmlns:p14="http://schemas.microsoft.com/office/powerpoint/2010/main" val="614211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1ABD7603-27AD-FD41-A1FE-408DC7BDE9C9}"/>
              </a:ext>
            </a:extLst>
          </p:cNvPr>
          <p:cNvSpPr>
            <a:spLocks noGrp="1" noChangeArrowheads="1"/>
          </p:cNvSpPr>
          <p:nvPr>
            <p:ph type="title"/>
          </p:nvPr>
        </p:nvSpPr>
        <p:spPr>
          <a:xfrm>
            <a:off x="1739903" y="278296"/>
            <a:ext cx="10201275" cy="1470991"/>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When to Use Exceptions</a:t>
            </a:r>
          </a:p>
        </p:txBody>
      </p:sp>
      <p:sp>
        <p:nvSpPr>
          <p:cNvPr id="44036" name="Rectangle 3">
            <a:extLst>
              <a:ext uri="{FF2B5EF4-FFF2-40B4-BE49-F238E27FC236}">
                <a16:creationId xmlns:a16="http://schemas.microsoft.com/office/drawing/2014/main" id="{07C2B823-9CC4-A341-BD5A-59019AFBA5F8}"/>
              </a:ext>
            </a:extLst>
          </p:cNvPr>
          <p:cNvSpPr>
            <a:spLocks noGrp="1" noChangeArrowheads="1"/>
          </p:cNvSpPr>
          <p:nvPr>
            <p:ph type="body" idx="1"/>
          </p:nvPr>
        </p:nvSpPr>
        <p:spPr>
          <a:xfrm>
            <a:off x="1339849" y="1800225"/>
            <a:ext cx="11101387" cy="2200275"/>
          </a:xfrm>
        </p:spPr>
        <p:txBody>
          <a:bodyPr/>
          <a:lstStyle/>
          <a:p>
            <a:pPr marL="0" indent="0" algn="just">
              <a:lnSpc>
                <a:spcPct val="90000"/>
              </a:lnSpc>
              <a:spcAft>
                <a:spcPts val="1575"/>
              </a:spcAft>
              <a:buNone/>
            </a:pPr>
            <a:r>
              <a:rPr lang="en-US" altLang="en-US" sz="3600" dirty="0">
                <a:latin typeface="Times New Roman" panose="02020603050405020304" pitchFamily="18" charset="0"/>
                <a:cs typeface="Times New Roman" panose="02020603050405020304" pitchFamily="18" charset="0"/>
              </a:rPr>
              <a:t>When should you use the try-catch block in the code? You should use it to deal with unexpected error conditions. Do not use it to deal with simple, expected situations. For example, the following code </a:t>
            </a:r>
          </a:p>
        </p:txBody>
      </p:sp>
      <p:sp>
        <p:nvSpPr>
          <p:cNvPr id="44037" name="Rectangle 4">
            <a:extLst>
              <a:ext uri="{FF2B5EF4-FFF2-40B4-BE49-F238E27FC236}">
                <a16:creationId xmlns:a16="http://schemas.microsoft.com/office/drawing/2014/main" id="{13594CA0-8E1B-7142-8F18-D5CA2D2DAF40}"/>
              </a:ext>
            </a:extLst>
          </p:cNvPr>
          <p:cNvSpPr>
            <a:spLocks noChangeArrowheads="1"/>
          </p:cNvSpPr>
          <p:nvPr/>
        </p:nvSpPr>
        <p:spPr bwMode="auto">
          <a:xfrm>
            <a:off x="1339849" y="4200525"/>
            <a:ext cx="11101387"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08" tIns="60405" rIns="120808" bIns="604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try {</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  </a:t>
            </a:r>
            <a:r>
              <a:rPr lang="en-US" altLang="en-US" sz="2800" dirty="0" err="1">
                <a:latin typeface="Courier New" panose="02070309020205020404" pitchFamily="49" charset="0"/>
                <a:cs typeface="Times New Roman" panose="02020603050405020304" pitchFamily="18" charset="0"/>
              </a:rPr>
              <a:t>System.out.println</a:t>
            </a:r>
            <a:r>
              <a:rPr lang="en-US" altLang="en-US" sz="2800" dirty="0">
                <a:latin typeface="Courier New" panose="02070309020205020404" pitchFamily="49" charset="0"/>
                <a:cs typeface="Times New Roman" panose="02020603050405020304" pitchFamily="18" charset="0"/>
              </a:rPr>
              <a:t>(</a:t>
            </a:r>
            <a:r>
              <a:rPr lang="en-US" altLang="en-US" sz="2800" dirty="0" err="1">
                <a:latin typeface="Courier New" panose="02070309020205020404" pitchFamily="49" charset="0"/>
                <a:cs typeface="Times New Roman" panose="02020603050405020304" pitchFamily="18" charset="0"/>
              </a:rPr>
              <a:t>refVar.toString</a:t>
            </a:r>
            <a:r>
              <a:rPr lang="en-US" altLang="en-US" sz="2800" dirty="0">
                <a:latin typeface="Courier New" panose="02070309020205020404" pitchFamily="49" charset="0"/>
                <a:cs typeface="Times New Roman" panose="02020603050405020304" pitchFamily="18" charset="0"/>
              </a:rPr>
              <a:t>());</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catch (</a:t>
            </a:r>
            <a:r>
              <a:rPr lang="en-US" altLang="en-US" sz="2800" dirty="0" err="1">
                <a:latin typeface="Courier New" panose="02070309020205020404" pitchFamily="49" charset="0"/>
                <a:cs typeface="Times New Roman" panose="02020603050405020304" pitchFamily="18" charset="0"/>
              </a:rPr>
              <a:t>NullPointerException</a:t>
            </a:r>
            <a:r>
              <a:rPr lang="en-US" altLang="en-US" sz="2800" dirty="0">
                <a:latin typeface="Courier New" panose="02070309020205020404" pitchFamily="49" charset="0"/>
                <a:cs typeface="Times New Roman" panose="02020603050405020304" pitchFamily="18" charset="0"/>
              </a:rPr>
              <a:t> ex) {</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  </a:t>
            </a:r>
            <a:r>
              <a:rPr lang="en-US" altLang="en-US" sz="2800" dirty="0" err="1">
                <a:latin typeface="Courier New" panose="02070309020205020404" pitchFamily="49" charset="0"/>
                <a:cs typeface="Times New Roman" panose="02020603050405020304" pitchFamily="18" charset="0"/>
              </a:rPr>
              <a:t>System.out.println</a:t>
            </a:r>
            <a:r>
              <a:rPr lang="en-US" altLang="en-US" sz="2800" dirty="0">
                <a:latin typeface="Courier New" panose="02070309020205020404" pitchFamily="49" charset="0"/>
                <a:cs typeface="Times New Roman" panose="02020603050405020304" pitchFamily="18" charset="0"/>
              </a:rPr>
              <a:t>("</a:t>
            </a:r>
            <a:r>
              <a:rPr lang="en-US" altLang="en-US" sz="2800" dirty="0" err="1">
                <a:latin typeface="Courier New" panose="02070309020205020404" pitchFamily="49" charset="0"/>
                <a:cs typeface="Times New Roman" panose="02020603050405020304" pitchFamily="18" charset="0"/>
              </a:rPr>
              <a:t>refVar</a:t>
            </a:r>
            <a:r>
              <a:rPr lang="en-US" altLang="en-US" sz="2800" dirty="0">
                <a:latin typeface="Courier New" panose="02070309020205020404" pitchFamily="49" charset="0"/>
                <a:cs typeface="Times New Roman" panose="02020603050405020304" pitchFamily="18" charset="0"/>
              </a:rPr>
              <a:t> is null");</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3549998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3D55DBBD-57A0-2542-AF3E-E91ECB66E9DC}"/>
              </a:ext>
            </a:extLst>
          </p:cNvPr>
          <p:cNvSpPr>
            <a:spLocks noGrp="1" noChangeArrowheads="1"/>
          </p:cNvSpPr>
          <p:nvPr>
            <p:ph type="title"/>
          </p:nvPr>
        </p:nvSpPr>
        <p:spPr>
          <a:xfrm>
            <a:off x="1739903" y="298174"/>
            <a:ext cx="10201275" cy="1577060"/>
          </a:xfrm>
        </p:spPr>
        <p:txBody>
          <a:bodyPr/>
          <a:lstStyle/>
          <a:p>
            <a:pPr algn="ctr"/>
            <a:r>
              <a:rPr lang="en-US" altLang="en-US" b="1" dirty="0">
                <a:solidFill>
                  <a:schemeClr val="tx1"/>
                </a:solidFill>
                <a:latin typeface="Times New Roman" panose="02020603050405020304" pitchFamily="18" charset="0"/>
                <a:cs typeface="Times New Roman" panose="02020603050405020304" pitchFamily="18" charset="0"/>
              </a:rPr>
              <a:t>When to Use Exceptions</a:t>
            </a:r>
          </a:p>
        </p:txBody>
      </p:sp>
      <p:sp>
        <p:nvSpPr>
          <p:cNvPr id="45060" name="Rectangle 3">
            <a:extLst>
              <a:ext uri="{FF2B5EF4-FFF2-40B4-BE49-F238E27FC236}">
                <a16:creationId xmlns:a16="http://schemas.microsoft.com/office/drawing/2014/main" id="{189B32EF-B915-AB41-9852-DF3D97612223}"/>
              </a:ext>
            </a:extLst>
          </p:cNvPr>
          <p:cNvSpPr>
            <a:spLocks noGrp="1" noChangeArrowheads="1"/>
          </p:cNvSpPr>
          <p:nvPr>
            <p:ph type="body" idx="1"/>
          </p:nvPr>
        </p:nvSpPr>
        <p:spPr>
          <a:xfrm>
            <a:off x="1339849" y="1800225"/>
            <a:ext cx="11101387" cy="800100"/>
          </a:xfrm>
        </p:spPr>
        <p:txBody>
          <a:bodyPr/>
          <a:lstStyle/>
          <a:p>
            <a:pPr marL="0" indent="0">
              <a:spcAft>
                <a:spcPts val="1575"/>
              </a:spcAft>
              <a:buNone/>
            </a:pPr>
            <a:r>
              <a:rPr lang="en-US" altLang="en-US" sz="3600">
                <a:latin typeface="Times New Roman" panose="02020603050405020304" pitchFamily="18" charset="0"/>
                <a:cs typeface="Times New Roman" panose="02020603050405020304" pitchFamily="18" charset="0"/>
              </a:rPr>
              <a:t>is better to be replaced by </a:t>
            </a:r>
          </a:p>
        </p:txBody>
      </p:sp>
      <p:sp>
        <p:nvSpPr>
          <p:cNvPr id="45061" name="Rectangle 4">
            <a:extLst>
              <a:ext uri="{FF2B5EF4-FFF2-40B4-BE49-F238E27FC236}">
                <a16:creationId xmlns:a16="http://schemas.microsoft.com/office/drawing/2014/main" id="{855F95DC-716A-3C40-AC71-289E47AEF271}"/>
              </a:ext>
            </a:extLst>
          </p:cNvPr>
          <p:cNvSpPr>
            <a:spLocks noChangeArrowheads="1"/>
          </p:cNvSpPr>
          <p:nvPr/>
        </p:nvSpPr>
        <p:spPr bwMode="auto">
          <a:xfrm>
            <a:off x="1339851" y="3000375"/>
            <a:ext cx="10801349"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808" tIns="60405" rIns="120808" bIns="604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if (</a:t>
            </a:r>
            <a:r>
              <a:rPr lang="en-US" altLang="en-US" sz="2800" dirty="0" err="1">
                <a:latin typeface="Courier New" panose="02070309020205020404" pitchFamily="49" charset="0"/>
                <a:cs typeface="Times New Roman" panose="02020603050405020304" pitchFamily="18" charset="0"/>
              </a:rPr>
              <a:t>refVar</a:t>
            </a:r>
            <a:r>
              <a:rPr lang="en-US" altLang="en-US" sz="2800" dirty="0">
                <a:latin typeface="Courier New" panose="02070309020205020404" pitchFamily="49" charset="0"/>
                <a:cs typeface="Times New Roman" panose="02020603050405020304" pitchFamily="18" charset="0"/>
              </a:rPr>
              <a:t> != null)</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  </a:t>
            </a:r>
            <a:r>
              <a:rPr lang="en-US" altLang="en-US" sz="2800" dirty="0" err="1">
                <a:latin typeface="Courier New" panose="02070309020205020404" pitchFamily="49" charset="0"/>
                <a:cs typeface="Times New Roman" panose="02020603050405020304" pitchFamily="18" charset="0"/>
              </a:rPr>
              <a:t>System.out.println</a:t>
            </a:r>
            <a:r>
              <a:rPr lang="en-US" altLang="en-US" sz="2800" dirty="0">
                <a:latin typeface="Courier New" panose="02070309020205020404" pitchFamily="49" charset="0"/>
                <a:cs typeface="Times New Roman" panose="02020603050405020304" pitchFamily="18" charset="0"/>
              </a:rPr>
              <a:t>(</a:t>
            </a:r>
            <a:r>
              <a:rPr lang="en-US" altLang="en-US" sz="2800" dirty="0" err="1">
                <a:latin typeface="Courier New" panose="02070309020205020404" pitchFamily="49" charset="0"/>
                <a:cs typeface="Times New Roman" panose="02020603050405020304" pitchFamily="18" charset="0"/>
              </a:rPr>
              <a:t>refVar.toString</a:t>
            </a:r>
            <a:r>
              <a:rPr lang="en-US" altLang="en-US" sz="2800" dirty="0">
                <a:latin typeface="Courier New" panose="02070309020205020404" pitchFamily="49" charset="0"/>
                <a:cs typeface="Times New Roman" panose="02020603050405020304" pitchFamily="18" charset="0"/>
              </a:rPr>
              <a:t>());</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else</a:t>
            </a:r>
          </a:p>
          <a:p>
            <a:pPr>
              <a:lnSpc>
                <a:spcPct val="90000"/>
              </a:lnSpc>
              <a:spcBef>
                <a:spcPct val="20000"/>
              </a:spcBef>
              <a:spcAft>
                <a:spcPts val="1575"/>
              </a:spcAft>
              <a:buClr>
                <a:schemeClr val="tx2"/>
              </a:buClr>
              <a:buSzPct val="75000"/>
            </a:pPr>
            <a:r>
              <a:rPr lang="en-US" altLang="en-US" sz="2800" dirty="0">
                <a:latin typeface="Courier New" panose="02070309020205020404" pitchFamily="49" charset="0"/>
                <a:cs typeface="Times New Roman" panose="02020603050405020304" pitchFamily="18" charset="0"/>
              </a:rPr>
              <a:t>  </a:t>
            </a:r>
            <a:r>
              <a:rPr lang="en-US" altLang="en-US" sz="2800" dirty="0" err="1">
                <a:latin typeface="Courier New" panose="02070309020205020404" pitchFamily="49" charset="0"/>
                <a:cs typeface="Times New Roman" panose="02020603050405020304" pitchFamily="18" charset="0"/>
              </a:rPr>
              <a:t>System.out.println</a:t>
            </a:r>
            <a:r>
              <a:rPr lang="en-US" altLang="en-US" sz="2800" dirty="0">
                <a:latin typeface="Courier New" panose="02070309020205020404" pitchFamily="49" charset="0"/>
                <a:cs typeface="Times New Roman" panose="02020603050405020304" pitchFamily="18" charset="0"/>
              </a:rPr>
              <a:t>("</a:t>
            </a:r>
            <a:r>
              <a:rPr lang="en-US" altLang="en-US" sz="2800" dirty="0" err="1">
                <a:latin typeface="Courier New" panose="02070309020205020404" pitchFamily="49" charset="0"/>
                <a:cs typeface="Times New Roman" panose="02020603050405020304" pitchFamily="18" charset="0"/>
              </a:rPr>
              <a:t>refVar</a:t>
            </a:r>
            <a:r>
              <a:rPr lang="en-US" altLang="en-US" sz="2800" dirty="0">
                <a:latin typeface="Courier New" panose="02070309020205020404" pitchFamily="49" charset="0"/>
                <a:cs typeface="Times New Roman" panose="02020603050405020304" pitchFamily="18" charset="0"/>
              </a:rPr>
              <a:t> is null");</a:t>
            </a:r>
          </a:p>
        </p:txBody>
      </p:sp>
    </p:spTree>
    <p:extLst>
      <p:ext uri="{BB962C8B-B14F-4D97-AF65-F5344CB8AC3E}">
        <p14:creationId xmlns:p14="http://schemas.microsoft.com/office/powerpoint/2010/main" val="2529851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B097047E-2180-294B-B0FB-7624C7DE04CF}"/>
              </a:ext>
            </a:extLst>
          </p:cNvPr>
          <p:cNvSpPr>
            <a:spLocks noGrp="1" noChangeArrowheads="1"/>
          </p:cNvSpPr>
          <p:nvPr>
            <p:ph type="title"/>
          </p:nvPr>
        </p:nvSpPr>
        <p:spPr>
          <a:xfrm>
            <a:off x="1539873" y="300039"/>
            <a:ext cx="10701339" cy="600075"/>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Defining Custom Exception Classes</a:t>
            </a:r>
          </a:p>
        </p:txBody>
      </p:sp>
      <p:sp>
        <p:nvSpPr>
          <p:cNvPr id="46084" name="Text Box 3">
            <a:extLst>
              <a:ext uri="{FF2B5EF4-FFF2-40B4-BE49-F238E27FC236}">
                <a16:creationId xmlns:a16="http://schemas.microsoft.com/office/drawing/2014/main" id="{0450553E-4339-8E4E-B1AC-29F775944D07}"/>
              </a:ext>
            </a:extLst>
          </p:cNvPr>
          <p:cNvSpPr txBox="1">
            <a:spLocks noChangeArrowheads="1"/>
          </p:cNvSpPr>
          <p:nvPr/>
        </p:nvSpPr>
        <p:spPr bwMode="auto">
          <a:xfrm>
            <a:off x="1239838" y="1856133"/>
            <a:ext cx="11301413" cy="350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marL="401638" indent="-401638">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buClr>
                <a:schemeClr val="tx2"/>
              </a:buClr>
              <a:buSzPct val="75000"/>
              <a:buFont typeface="Monotype Sorts" pitchFamily="2" charset="2"/>
              <a:buChar char="F"/>
            </a:pPr>
            <a:r>
              <a:rPr lang="en-US" altLang="en-US" sz="3600" dirty="0"/>
              <a:t>Use the exception classes in the API whenever possible.</a:t>
            </a:r>
          </a:p>
          <a:p>
            <a:pPr>
              <a:spcBef>
                <a:spcPct val="50000"/>
              </a:spcBef>
              <a:buClr>
                <a:schemeClr val="tx2"/>
              </a:buClr>
              <a:buSzPct val="75000"/>
              <a:buFont typeface="Monotype Sorts" pitchFamily="2" charset="2"/>
              <a:buChar char="F"/>
            </a:pPr>
            <a:r>
              <a:rPr lang="en-US" altLang="en-US" sz="3600" dirty="0"/>
              <a:t>Define custom exception classes if the predefined classes are not sufficient.</a:t>
            </a:r>
          </a:p>
          <a:p>
            <a:pPr>
              <a:spcBef>
                <a:spcPct val="50000"/>
              </a:spcBef>
              <a:buClr>
                <a:schemeClr val="tx2"/>
              </a:buClr>
              <a:buSzPct val="75000"/>
              <a:buFont typeface="Monotype Sorts" pitchFamily="2" charset="2"/>
              <a:buChar char="F"/>
            </a:pPr>
            <a:r>
              <a:rPr lang="en-US" altLang="en-US" sz="3600" dirty="0"/>
              <a:t>Define custom exception classes by extending Exception or a subclass of Exception.</a:t>
            </a:r>
          </a:p>
        </p:txBody>
      </p:sp>
    </p:spTree>
    <p:extLst>
      <p:ext uri="{BB962C8B-B14F-4D97-AF65-F5344CB8AC3E}">
        <p14:creationId xmlns:p14="http://schemas.microsoft.com/office/powerpoint/2010/main" val="8290230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620F6C1E-1B70-1346-9EA8-55D0026A485F}"/>
              </a:ext>
            </a:extLst>
          </p:cNvPr>
          <p:cNvSpPr>
            <a:spLocks noGrp="1" noChangeArrowheads="1"/>
          </p:cNvSpPr>
          <p:nvPr>
            <p:ph type="title"/>
          </p:nvPr>
        </p:nvSpPr>
        <p:spPr>
          <a:xfrm>
            <a:off x="1739899" y="400048"/>
            <a:ext cx="10701339" cy="700088"/>
          </a:xfrm>
        </p:spPr>
        <p:txBody>
          <a:bodyPr/>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Custom Exception Class Example</a:t>
            </a:r>
          </a:p>
        </p:txBody>
      </p:sp>
      <p:sp>
        <p:nvSpPr>
          <p:cNvPr id="47108" name="Text Box 9">
            <a:extLst>
              <a:ext uri="{FF2B5EF4-FFF2-40B4-BE49-F238E27FC236}">
                <a16:creationId xmlns:a16="http://schemas.microsoft.com/office/drawing/2014/main" id="{16F7C73C-8FE9-D04D-8FC7-0401048CE7D1}"/>
              </a:ext>
            </a:extLst>
          </p:cNvPr>
          <p:cNvSpPr txBox="1">
            <a:spLocks noChangeArrowheads="1"/>
          </p:cNvSpPr>
          <p:nvPr/>
        </p:nvSpPr>
        <p:spPr bwMode="auto">
          <a:xfrm>
            <a:off x="1239839" y="1600201"/>
            <a:ext cx="11301413" cy="156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1410" tIns="45705" rIns="91410" bIns="45705">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a:spcBef>
                <a:spcPct val="50000"/>
              </a:spcBef>
              <a:buClr>
                <a:schemeClr val="tx2"/>
              </a:buClr>
              <a:buSzPct val="75000"/>
              <a:buFont typeface="Monotype Sorts" pitchFamily="2" charset="2"/>
              <a:buNone/>
            </a:pPr>
            <a:r>
              <a:rPr lang="en-US" altLang="en-US" sz="3200" dirty="0">
                <a:cs typeface="Courier New" panose="02070309020205020404" pitchFamily="49" charset="0"/>
              </a:rPr>
              <a:t>In Listing 13.8, the </a:t>
            </a:r>
            <a:r>
              <a:rPr lang="en-US" altLang="en-US" sz="3200" u="sng" dirty="0" err="1">
                <a:cs typeface="Courier New" panose="02070309020205020404" pitchFamily="49" charset="0"/>
              </a:rPr>
              <a:t>setRadius</a:t>
            </a:r>
            <a:r>
              <a:rPr lang="en-US" altLang="en-US" sz="3200" dirty="0">
                <a:cs typeface="Courier New" panose="02070309020205020404" pitchFamily="49" charset="0"/>
              </a:rPr>
              <a:t> method throws an exception if the radius is negative. Suppose you wish to pass the radius to the handler, you have to create a custom exception class. </a:t>
            </a:r>
          </a:p>
        </p:txBody>
      </p:sp>
      <p:sp>
        <p:nvSpPr>
          <p:cNvPr id="47109" name="AutoShape 10">
            <a:hlinkClick r:id="rId2" action="ppaction://program" highlightClick="1"/>
            <a:extLst>
              <a:ext uri="{FF2B5EF4-FFF2-40B4-BE49-F238E27FC236}">
                <a16:creationId xmlns:a16="http://schemas.microsoft.com/office/drawing/2014/main" id="{2519FE56-1C77-784E-8FC4-BC72B8F0C21F}"/>
              </a:ext>
            </a:extLst>
          </p:cNvPr>
          <p:cNvSpPr>
            <a:spLocks noChangeArrowheads="1"/>
          </p:cNvSpPr>
          <p:nvPr/>
        </p:nvSpPr>
        <p:spPr bwMode="auto">
          <a:xfrm>
            <a:off x="9240837" y="6855027"/>
            <a:ext cx="9167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lIns="91410" tIns="45705" rIns="91410" bIns="45705"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a:latin typeface="Book Antiqua" panose="02040602050305030304" pitchFamily="18" charset="0"/>
              </a:rPr>
              <a:t>Run</a:t>
            </a:r>
            <a:endParaRPr lang="en-US" altLang="en-US"/>
          </a:p>
        </p:txBody>
      </p:sp>
      <p:sp>
        <p:nvSpPr>
          <p:cNvPr id="47110" name="Rectangle 12">
            <a:hlinkClick r:id="rId3"/>
            <a:extLst>
              <a:ext uri="{FF2B5EF4-FFF2-40B4-BE49-F238E27FC236}">
                <a16:creationId xmlns:a16="http://schemas.microsoft.com/office/drawing/2014/main" id="{D1D66657-4DAF-3449-ADC9-AADD4035FA84}"/>
              </a:ext>
            </a:extLst>
          </p:cNvPr>
          <p:cNvSpPr>
            <a:spLocks noChangeArrowheads="1"/>
          </p:cNvSpPr>
          <p:nvPr/>
        </p:nvSpPr>
        <p:spPr bwMode="auto">
          <a:xfrm>
            <a:off x="4198544" y="6827937"/>
            <a:ext cx="480476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TestCircleWithRadiusException</a:t>
            </a:r>
          </a:p>
        </p:txBody>
      </p:sp>
      <p:sp>
        <p:nvSpPr>
          <p:cNvPr id="47111" name="Rectangle 13">
            <a:hlinkClick r:id="rId4"/>
            <a:extLst>
              <a:ext uri="{FF2B5EF4-FFF2-40B4-BE49-F238E27FC236}">
                <a16:creationId xmlns:a16="http://schemas.microsoft.com/office/drawing/2014/main" id="{5ED93681-9335-0E4E-81A0-CA40769A2759}"/>
              </a:ext>
            </a:extLst>
          </p:cNvPr>
          <p:cNvSpPr>
            <a:spLocks noChangeArrowheads="1"/>
          </p:cNvSpPr>
          <p:nvPr/>
        </p:nvSpPr>
        <p:spPr bwMode="auto">
          <a:xfrm>
            <a:off x="4219379" y="6054923"/>
            <a:ext cx="480476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CircleWithRadiusException</a:t>
            </a:r>
          </a:p>
        </p:txBody>
      </p:sp>
      <p:sp>
        <p:nvSpPr>
          <p:cNvPr id="47112" name="Rectangle 14">
            <a:hlinkClick r:id="rId5"/>
            <a:extLst>
              <a:ext uri="{FF2B5EF4-FFF2-40B4-BE49-F238E27FC236}">
                <a16:creationId xmlns:a16="http://schemas.microsoft.com/office/drawing/2014/main" id="{C4569427-E1C2-DC44-AAC8-EDB3D21786CC}"/>
              </a:ext>
            </a:extLst>
          </p:cNvPr>
          <p:cNvSpPr>
            <a:spLocks noChangeArrowheads="1"/>
          </p:cNvSpPr>
          <p:nvPr/>
        </p:nvSpPr>
        <p:spPr bwMode="auto">
          <a:xfrm>
            <a:off x="4219379" y="5254823"/>
            <a:ext cx="480476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91410" tIns="45705" rIns="91410" bIns="45705"/>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2700"/>
              <a:t>InvalidRadiusException</a:t>
            </a:r>
          </a:p>
        </p:txBody>
      </p:sp>
    </p:spTree>
    <p:extLst>
      <p:ext uri="{BB962C8B-B14F-4D97-AF65-F5344CB8AC3E}">
        <p14:creationId xmlns:p14="http://schemas.microsoft.com/office/powerpoint/2010/main" val="9808051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3" y="10114"/>
            <a:ext cx="13681074" cy="900113"/>
          </a:xfrm>
          <a:noFill/>
        </p:spPr>
        <p:txBody>
          <a:bodyP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Possible Errors</a:t>
            </a:r>
          </a:p>
        </p:txBody>
      </p:sp>
      <p:sp>
        <p:nvSpPr>
          <p:cNvPr id="67588" name="Rectangle 3"/>
          <p:cNvSpPr>
            <a:spLocks noGrp="1" noChangeArrowheads="1"/>
          </p:cNvSpPr>
          <p:nvPr>
            <p:ph idx="1"/>
          </p:nvPr>
        </p:nvSpPr>
        <p:spPr>
          <a:xfrm>
            <a:off x="233276" y="1364990"/>
            <a:ext cx="13224780" cy="6800850"/>
          </a:xfrm>
          <a:noFill/>
        </p:spPr>
        <p:txBody>
          <a:bodyPr/>
          <a:lstStyle/>
          <a:p>
            <a:pPr algn="just">
              <a:spcBef>
                <a:spcPct val="0"/>
              </a:spcBef>
              <a:buFont typeface="Wingdings" pitchFamily="2" charset="2"/>
              <a:buChar char="§"/>
            </a:pPr>
            <a:r>
              <a:rPr lang="en-US" sz="3200" dirty="0">
                <a:latin typeface="Times New Roman" panose="02020603050405020304" pitchFamily="18" charset="0"/>
                <a:cs typeface="Times New Roman" panose="02020603050405020304" pitchFamily="18" charset="0"/>
              </a:rPr>
              <a:t>Exception handling enables a method to throw an exception to its caller.</a:t>
            </a:r>
          </a:p>
          <a:p>
            <a:pPr algn="just">
              <a:spcBef>
                <a:spcPct val="0"/>
              </a:spcBef>
              <a:buFont typeface="Wingdings" pitchFamily="2" charset="2"/>
              <a:buChar char="§"/>
            </a:pPr>
            <a:r>
              <a:rPr lang="en-US" sz="3200">
                <a:latin typeface="Times New Roman" panose="02020603050405020304" pitchFamily="18" charset="0"/>
                <a:cs typeface="Times New Roman" panose="02020603050405020304" pitchFamily="18" charset="0"/>
              </a:rPr>
              <a:t>Some possible errors</a:t>
            </a:r>
            <a:r>
              <a:rPr lang="en-US" sz="3200" dirty="0">
                <a:latin typeface="Times New Roman" panose="02020603050405020304" pitchFamily="18" charset="0"/>
                <a:cs typeface="Times New Roman" panose="02020603050405020304" pitchFamily="18" charset="0"/>
              </a:rPr>
              <a:t>:</a:t>
            </a:r>
          </a:p>
          <a:p>
            <a:pPr lvl="1" algn="just">
              <a:spcBef>
                <a:spcPct val="0"/>
              </a:spcBef>
              <a:buFont typeface="Wingdings" pitchFamily="2" charset="2"/>
              <a:buChar char="§"/>
            </a:pPr>
            <a:r>
              <a:rPr lang="en-US" sz="2700" b="1" dirty="0">
                <a:latin typeface="Times New Roman" panose="02020603050405020304" pitchFamily="18" charset="0"/>
                <a:cs typeface="Times New Roman" panose="02020603050405020304" pitchFamily="18" charset="0"/>
              </a:rPr>
              <a:t>Assuming that all statements inside a try block will execute.</a:t>
            </a:r>
            <a:r>
              <a:rPr lang="en-US" sz="2700" dirty="0">
                <a:latin typeface="Times New Roman" panose="02020603050405020304" pitchFamily="18" charset="0"/>
                <a:cs typeface="Times New Roman" panose="02020603050405020304" pitchFamily="18" charset="0"/>
              </a:rPr>
              <a:t> When an exception is thrown, the try block is exited immediately. This means that statements appearing in the try block after the offending statement will not be executed.</a:t>
            </a:r>
          </a:p>
          <a:p>
            <a:pPr lvl="1" algn="just">
              <a:spcBef>
                <a:spcPct val="0"/>
              </a:spcBef>
              <a:buFont typeface="Wingdings" pitchFamily="2" charset="2"/>
              <a:buChar char="§"/>
            </a:pPr>
            <a:r>
              <a:rPr lang="en-US" sz="2700" b="1" dirty="0">
                <a:latin typeface="Times New Roman" panose="02020603050405020304" pitchFamily="18" charset="0"/>
                <a:cs typeface="Times New Roman" panose="02020603050405020304" pitchFamily="18" charset="0"/>
              </a:rPr>
              <a:t>Getting the try, catch, and finally clauses out of order.</a:t>
            </a:r>
            <a:r>
              <a:rPr lang="en-US" sz="2700" dirty="0">
                <a:latin typeface="Times New Roman" panose="02020603050405020304" pitchFamily="18" charset="0"/>
                <a:cs typeface="Times New Roman" panose="02020603050405020304" pitchFamily="18" charset="0"/>
              </a:rPr>
              <a:t> In a try statement, the try clause must appear first, followed by all of the catch clauses, followed by an optional finally clause.</a:t>
            </a:r>
          </a:p>
          <a:p>
            <a:pPr lvl="1" algn="just">
              <a:spcBef>
                <a:spcPct val="0"/>
              </a:spcBef>
              <a:buFont typeface="Wingdings" pitchFamily="2" charset="2"/>
              <a:buChar char="§"/>
            </a:pPr>
            <a:r>
              <a:rPr lang="en-US" sz="2700" b="1" dirty="0">
                <a:latin typeface="Times New Roman" panose="02020603050405020304" pitchFamily="18" charset="0"/>
                <a:cs typeface="Times New Roman" panose="02020603050405020304" pitchFamily="18" charset="0"/>
              </a:rPr>
              <a:t>Writing two catch clauses that handle the same exception in the same try statement.</a:t>
            </a:r>
            <a:r>
              <a:rPr lang="en-US" sz="2700" dirty="0">
                <a:latin typeface="Times New Roman" panose="02020603050405020304" pitchFamily="18" charset="0"/>
                <a:cs typeface="Times New Roman" panose="02020603050405020304" pitchFamily="18" charset="0"/>
              </a:rPr>
              <a:t> You cannot have more than one clause per exception type in the same try statement. </a:t>
            </a:r>
          </a:p>
        </p:txBody>
      </p:sp>
    </p:spTree>
    <p:extLst>
      <p:ext uri="{BB962C8B-B14F-4D97-AF65-F5344CB8AC3E}">
        <p14:creationId xmlns:p14="http://schemas.microsoft.com/office/powerpoint/2010/main" val="3902129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455613" y="80963"/>
            <a:ext cx="12884150" cy="800100"/>
          </a:xfrm>
        </p:spPr>
        <p:txBody>
          <a:bodyPr/>
          <a:lstStyle/>
          <a:p>
            <a:pPr algn="ctr"/>
            <a:r>
              <a:rPr lang="en-US" b="1" dirty="0">
                <a:solidFill>
                  <a:srgbClr val="0000FF"/>
                </a:solidFill>
              </a:rPr>
              <a:t>Summary</a:t>
            </a:r>
            <a:endParaRPr lang="en-US" b="1" u="sng" dirty="0">
              <a:solidFill>
                <a:srgbClr val="0000FF"/>
              </a:solidFill>
              <a:latin typeface="Book Antiqua" pitchFamily="18" charset="0"/>
            </a:endParaRPr>
          </a:p>
        </p:txBody>
      </p:sp>
      <p:sp>
        <p:nvSpPr>
          <p:cNvPr id="49156" name="Rectangle 3"/>
          <p:cNvSpPr>
            <a:spLocks noGrp="1" noChangeArrowheads="1"/>
          </p:cNvSpPr>
          <p:nvPr>
            <p:ph type="body" idx="1"/>
          </p:nvPr>
        </p:nvSpPr>
        <p:spPr>
          <a:xfrm>
            <a:off x="134938" y="1376363"/>
            <a:ext cx="13393737" cy="6962775"/>
          </a:xfrm>
        </p:spPr>
        <p:txBody>
          <a:bodyPr/>
          <a:lstStyle/>
          <a:p>
            <a:pPr marL="611188" indent="-457200">
              <a:spcBef>
                <a:spcPct val="0"/>
              </a:spcBef>
              <a:buFont typeface="Wingdings" pitchFamily="2" charset="2"/>
              <a:buChar char="Ø"/>
            </a:pPr>
            <a:r>
              <a:rPr lang="en-MY" sz="4000" dirty="0">
                <a:latin typeface="Times New Roman" panose="02020603050405020304" pitchFamily="18" charset="0"/>
                <a:cs typeface="Times New Roman" panose="02020603050405020304" pitchFamily="18" charset="0"/>
              </a:rPr>
              <a:t>Runtime errors</a:t>
            </a:r>
            <a:endParaRPr lang="en-US" sz="4000" dirty="0">
              <a:latin typeface="Times New Roman" panose="02020603050405020304" pitchFamily="18" charset="0"/>
              <a:cs typeface="Times New Roman" panose="02020603050405020304" pitchFamily="18" charset="0"/>
            </a:endParaRP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Checked and unchecked exceptions</a:t>
            </a: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Catching exceptions</a:t>
            </a:r>
          </a:p>
          <a:p>
            <a:pPr marL="1071563" lvl="1" indent="-457200">
              <a:spcBef>
                <a:spcPct val="0"/>
              </a:spcBef>
              <a:buFont typeface="Wingdings" pitchFamily="2" charset="2"/>
              <a:buChar char="Ø"/>
            </a:pPr>
            <a:r>
              <a:rPr lang="en-MY" sz="3500" dirty="0">
                <a:latin typeface="Times New Roman" panose="02020603050405020304" pitchFamily="18" charset="0"/>
                <a:cs typeface="Times New Roman" panose="02020603050405020304" pitchFamily="18" charset="0"/>
              </a:rPr>
              <a:t>try – catch …</a:t>
            </a:r>
            <a:endParaRPr lang="en-US" sz="3500" dirty="0">
              <a:latin typeface="Times New Roman" panose="02020603050405020304" pitchFamily="18" charset="0"/>
              <a:cs typeface="Times New Roman" panose="02020603050405020304" pitchFamily="18" charset="0"/>
            </a:endParaRP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Declaring exceptions</a:t>
            </a:r>
          </a:p>
          <a:p>
            <a:pPr marL="1071563" lvl="1" indent="-457200">
              <a:spcBef>
                <a:spcPct val="0"/>
              </a:spcBef>
              <a:buFont typeface="Wingdings" pitchFamily="2" charset="2"/>
              <a:buChar char="Ø"/>
            </a:pPr>
            <a:r>
              <a:rPr lang="en-MY" sz="3500" dirty="0">
                <a:latin typeface="Times New Roman" panose="02020603050405020304" pitchFamily="18" charset="0"/>
                <a:cs typeface="Times New Roman" panose="02020603050405020304" pitchFamily="18" charset="0"/>
              </a:rPr>
              <a:t>throws …</a:t>
            </a:r>
            <a:endParaRPr lang="en-US" sz="3500" dirty="0">
              <a:latin typeface="Times New Roman" panose="02020603050405020304" pitchFamily="18" charset="0"/>
              <a:cs typeface="Times New Roman" panose="02020603050405020304" pitchFamily="18" charset="0"/>
            </a:endParaRP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Throwing exceptions</a:t>
            </a:r>
          </a:p>
          <a:p>
            <a:pPr marL="1071563" lvl="1" indent="-457200">
              <a:spcBef>
                <a:spcPct val="0"/>
              </a:spcBef>
              <a:buFont typeface="Wingdings" pitchFamily="2" charset="2"/>
              <a:buChar char="Ø"/>
            </a:pPr>
            <a:r>
              <a:rPr lang="en-MY" sz="3500" dirty="0">
                <a:latin typeface="Times New Roman" panose="02020603050405020304" pitchFamily="18" charset="0"/>
                <a:cs typeface="Times New Roman" panose="02020603050405020304" pitchFamily="18" charset="0"/>
              </a:rPr>
              <a:t>throw …</a:t>
            </a:r>
            <a:endParaRPr lang="en-US" sz="3500" dirty="0">
              <a:latin typeface="Times New Roman" panose="02020603050405020304" pitchFamily="18" charset="0"/>
              <a:cs typeface="Times New Roman" panose="02020603050405020304" pitchFamily="18" charset="0"/>
            </a:endParaRPr>
          </a:p>
          <a:p>
            <a:pPr marL="611188" indent="-457200">
              <a:spcBef>
                <a:spcPct val="0"/>
              </a:spcBef>
              <a:buFont typeface="Wingdings" pitchFamily="2" charset="2"/>
              <a:buChar char="Ø"/>
            </a:pPr>
            <a:r>
              <a:rPr lang="en-US" sz="4000" dirty="0">
                <a:latin typeface="Times New Roman" panose="02020603050405020304" pitchFamily="18" charset="0"/>
                <a:cs typeface="Times New Roman" panose="02020603050405020304" pitchFamily="18" charset="0"/>
              </a:rPr>
              <a:t>finally</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709740" y="2200276"/>
            <a:ext cx="10450511" cy="1700213"/>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Chapter 5</a:t>
            </a:r>
          </a:p>
        </p:txBody>
      </p:sp>
      <p:sp>
        <p:nvSpPr>
          <p:cNvPr id="4" name="Slide Number Placeholder 3"/>
          <p:cNvSpPr>
            <a:spLocks noGrp="1"/>
          </p:cNvSpPr>
          <p:nvPr>
            <p:ph type="sldNum" sz="quarter" idx="10"/>
          </p:nvPr>
        </p:nvSpPr>
        <p:spPr/>
        <p:txBody>
          <a:bodyPr/>
          <a:lstStyle/>
          <a:p>
            <a:pPr>
              <a:defRPr/>
            </a:pPr>
            <a:fld id="{24F378D1-C07B-407C-9B5D-F14AE7CD8C13}" type="slidenum">
              <a:rPr lang="en-US" smtClean="0"/>
              <a:pPr>
                <a:defRPr/>
              </a:pPr>
              <a:t>45</a:t>
            </a:fld>
            <a:endParaRPr lang="en-US"/>
          </a:p>
        </p:txBody>
      </p:sp>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3.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20608</TotalTime>
  <Words>1914</Words>
  <Application>Microsoft Office PowerPoint</Application>
  <PresentationFormat>Custom</PresentationFormat>
  <Paragraphs>358</Paragraphs>
  <Slides>45</Slides>
  <Notes>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6" baseType="lpstr">
      <vt:lpstr>Arial</vt:lpstr>
      <vt:lpstr>Book Antiqua</vt:lpstr>
      <vt:lpstr>Century Gothic</vt:lpstr>
      <vt:lpstr>Courier New</vt:lpstr>
      <vt:lpstr>Forte</vt:lpstr>
      <vt:lpstr>Monotype Sorts</vt:lpstr>
      <vt:lpstr>Tahoma</vt:lpstr>
      <vt:lpstr>Times New Roman</vt:lpstr>
      <vt:lpstr>Wingdings</vt:lpstr>
      <vt:lpstr>Blends</vt:lpstr>
      <vt:lpstr>Picture</vt:lpstr>
      <vt:lpstr>PowerPoint Presentation</vt:lpstr>
      <vt:lpstr>Learning Objectives</vt:lpstr>
      <vt:lpstr>Motivations</vt:lpstr>
      <vt:lpstr>Syntax Errors, Runtime Errors, and Logic Errors</vt:lpstr>
      <vt:lpstr>Exception-Handling Overview </vt:lpstr>
      <vt:lpstr>Exception Advantages</vt:lpstr>
      <vt:lpstr>Handling InputMismatchException</vt:lpstr>
      <vt:lpstr>Exception Types</vt:lpstr>
      <vt:lpstr>System Errors</vt:lpstr>
      <vt:lpstr>Exceptions</vt:lpstr>
      <vt:lpstr>Runtime Exceptions</vt:lpstr>
      <vt:lpstr>Checked Exceptions vs. Unchecked Exceptions</vt:lpstr>
      <vt:lpstr>Unchecked Exceptions</vt:lpstr>
      <vt:lpstr>Unchecked Exceptions</vt:lpstr>
      <vt:lpstr>Declaring, Throwing, and Catching Exceptions</vt:lpstr>
      <vt:lpstr>Declaring Exceptions</vt:lpstr>
      <vt:lpstr>Throwing Exceptions</vt:lpstr>
      <vt:lpstr>Throwing Exceptions Example</vt:lpstr>
      <vt:lpstr>Catching Exceptions</vt:lpstr>
      <vt:lpstr>Catching Exceptions</vt:lpstr>
      <vt:lpstr>Catch or Declare Checked Exceptions</vt:lpstr>
      <vt:lpstr>Catch or Declare Checked Exceptions</vt:lpstr>
      <vt:lpstr>Example: Declaring, Throwing, and Catching Exceptions</vt:lpstr>
      <vt:lpstr>Rethrowing Exceptions</vt:lpstr>
      <vt:lpstr>The finally Clause</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Trace a Program Execution</vt:lpstr>
      <vt:lpstr>Cautions When Using Exceptions</vt:lpstr>
      <vt:lpstr>When to Throw Exceptions</vt:lpstr>
      <vt:lpstr>When to Use Exceptions</vt:lpstr>
      <vt:lpstr>When to Use Exceptions</vt:lpstr>
      <vt:lpstr>Defining Custom Exception Classes</vt:lpstr>
      <vt:lpstr>Custom Exception Class Example</vt:lpstr>
      <vt:lpstr>Possible Errors</vt:lpstr>
      <vt:lpstr>Summary</vt:lpstr>
      <vt:lpstr>End of Chapter 5</vt:lpstr>
    </vt:vector>
  </TitlesOfParts>
  <Company>Minotaur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Computer System</dc:title>
  <dc:subject>SAK 3100 Computer Programming</dc:subject>
  <dc:creator>Mohd Taufik Abdullah</dc:creator>
  <cp:lastModifiedBy>KHAIRUL AZHAR BIN KASMIRAN</cp:lastModifiedBy>
  <cp:revision>4022</cp:revision>
  <dcterms:created xsi:type="dcterms:W3CDTF">2003-01-02T20:11:59Z</dcterms:created>
  <dcterms:modified xsi:type="dcterms:W3CDTF">2025-04-29T03:51:27Z</dcterms:modified>
</cp:coreProperties>
</file>