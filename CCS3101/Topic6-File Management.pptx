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3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22"/>
  </p:notesMasterIdLst>
  <p:handoutMasterIdLst>
    <p:handoutMasterId r:id="rId23"/>
  </p:handoutMasterIdLst>
  <p:sldIdLst>
    <p:sldId id="1132" r:id="rId2"/>
    <p:sldId id="1205" r:id="rId3"/>
    <p:sldId id="1418" r:id="rId4"/>
    <p:sldId id="272" r:id="rId5"/>
    <p:sldId id="1419" r:id="rId6"/>
    <p:sldId id="1420" r:id="rId7"/>
    <p:sldId id="1421" r:id="rId8"/>
    <p:sldId id="277" r:id="rId9"/>
    <p:sldId id="1422" r:id="rId10"/>
    <p:sldId id="279" r:id="rId11"/>
    <p:sldId id="1423" r:id="rId12"/>
    <p:sldId id="282" r:id="rId13"/>
    <p:sldId id="283" r:id="rId14"/>
    <p:sldId id="1424" r:id="rId15"/>
    <p:sldId id="1425" r:id="rId16"/>
    <p:sldId id="1426" r:id="rId17"/>
    <p:sldId id="1427" r:id="rId18"/>
    <p:sldId id="1428" r:id="rId19"/>
    <p:sldId id="1429" r:id="rId20"/>
    <p:sldId id="1154" r:id="rId21"/>
  </p:sldIdLst>
  <p:sldSz cx="13681075" cy="9001125"/>
  <p:notesSz cx="6834188" cy="99790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523875" indent="-66675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1047750" indent="-133350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573213" indent="-201613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2097088" indent="-268288" algn="l" rtl="0" eaLnBrk="0" fontAlgn="base" hangingPunct="0">
      <a:spcBef>
        <a:spcPct val="0"/>
      </a:spcBef>
      <a:spcAft>
        <a:spcPct val="0"/>
      </a:spcAft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9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35">
          <p15:clr>
            <a:srgbClr val="A4A3A4"/>
          </p15:clr>
        </p15:guide>
        <p15:guide id="2" pos="431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43">
          <p15:clr>
            <a:srgbClr val="A4A3A4"/>
          </p15:clr>
        </p15:guide>
        <p15:guide id="2" pos="2153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0000FF"/>
    <a:srgbClr val="3366FF"/>
    <a:srgbClr val="FFFF00"/>
    <a:srgbClr val="00CC00"/>
    <a:srgbClr val="FF0000"/>
    <a:srgbClr val="969696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22446" autoAdjust="0"/>
    <p:restoredTop sz="94396" autoAdjust="0"/>
  </p:normalViewPr>
  <p:slideViewPr>
    <p:cSldViewPr snapToGrid="0">
      <p:cViewPr varScale="1">
        <p:scale>
          <a:sx n="60" d="100"/>
          <a:sy n="60" d="100"/>
        </p:scale>
        <p:origin x="1613" y="62"/>
      </p:cViewPr>
      <p:guideLst>
        <p:guide orient="horz" pos="2835"/>
        <p:guide pos="43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1640"/>
    </p:cViewPr>
  </p:sorterViewPr>
  <p:notesViewPr>
    <p:cSldViewPr snapToGrid="0">
      <p:cViewPr varScale="1">
        <p:scale>
          <a:sx n="44" d="100"/>
          <a:sy n="44" d="100"/>
        </p:scale>
        <p:origin x="-1542" y="-114"/>
      </p:cViewPr>
      <p:guideLst>
        <p:guide orient="horz" pos="3143"/>
        <p:guide pos="215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60688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71913" y="0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1795414F-D476-4DD2-856E-DFC31EE8148D}" type="datetimeFigureOut">
              <a:rPr lang="en-US"/>
              <a:pPr>
                <a:defRPr/>
              </a:pPr>
              <a:t>5/13/2025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78963"/>
            <a:ext cx="2960688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71913" y="9478963"/>
            <a:ext cx="2960687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itchFamily="34" charset="0"/>
              </a:defRPr>
            </a:lvl1pPr>
          </a:lstStyle>
          <a:p>
            <a:pPr>
              <a:defRPr/>
            </a:pPr>
            <a:fld id="{E9D598F7-2133-4013-82D1-4B3B491A4AC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246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3500" y="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27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74675" y="749300"/>
            <a:ext cx="5684838" cy="37417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97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740275"/>
            <a:ext cx="5011738" cy="448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97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8055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97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3500" y="9480550"/>
            <a:ext cx="2960688" cy="498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5872934B-F198-4075-B02D-4E5D2B891C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575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523875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047750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573213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97088" algn="l" rtl="0" eaLnBrk="0" fontAlgn="base" hangingPunct="0">
      <a:spcBef>
        <a:spcPct val="30000"/>
      </a:spcBef>
      <a:spcAft>
        <a:spcPct val="0"/>
      </a:spcAft>
      <a:defRPr sz="1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623185" algn="l" defTabSz="104927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47822" algn="l" defTabSz="104927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72459" algn="l" defTabSz="104927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97096" algn="l" defTabSz="1049274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6FD5A2-23F0-49C0-ADD6-9D6095AD17F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2E2159F-B7BA-494B-8339-B5CEB89A0CF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758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6758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25268" indent="-278949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15797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62115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08434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54753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1071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47390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93708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AAF11BAD-3693-4A8B-BEB2-5C5710021F02}" type="slidenum">
              <a:rPr lang="en-US" altLang="en-US" sz="1000">
                <a:solidFill>
                  <a:prstClr val="black"/>
                </a:solidFill>
              </a:rPr>
              <a:pPr/>
              <a:t>4</a:t>
            </a:fld>
            <a:endParaRPr lang="en-US" alt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25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270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25268" indent="-278949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15797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62115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08434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54753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1071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47390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93708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43F2EADD-9CCC-4178-AF3E-F0B6ABDF2A35}" type="slidenum">
              <a:rPr lang="en-US" altLang="en-US" sz="1000">
                <a:solidFill>
                  <a:prstClr val="black"/>
                </a:solidFill>
              </a:rPr>
              <a:pPr/>
              <a:t>8</a:t>
            </a:fld>
            <a:endParaRPr lang="en-US" alt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2601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23913" y="684213"/>
            <a:ext cx="5211762" cy="3430587"/>
          </a:xfrm>
          <a:ln/>
        </p:spPr>
      </p:sp>
      <p:sp>
        <p:nvSpPr>
          <p:cNvPr id="747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475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25268" indent="-278949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15797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62115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08434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54753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1071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47390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93708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CBEF9716-0D38-4E82-A7B3-768DD28ADFC0}" type="slidenum">
              <a:rPr lang="en-US" altLang="en-US" sz="1000">
                <a:solidFill>
                  <a:prstClr val="black"/>
                </a:solidFill>
              </a:rPr>
              <a:pPr/>
              <a:t>10</a:t>
            </a:fld>
            <a:endParaRPr lang="en-US" alt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03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25268" indent="-278949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15797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62115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08434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54753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1071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47390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93708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1B82AEA4-58BB-4A3A-8E6F-C05191004CF1}" type="slidenum">
              <a:rPr lang="en-US" altLang="en-US" sz="1000">
                <a:solidFill>
                  <a:prstClr val="black"/>
                </a:solidFill>
              </a:rPr>
              <a:pPr/>
              <a:t>12</a:t>
            </a:fld>
            <a:endParaRPr lang="en-US" alt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2166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885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altLang="en-US"/>
          </a:p>
        </p:txBody>
      </p:sp>
      <p:sp>
        <p:nvSpPr>
          <p:cNvPr id="7885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300">
                <a:solidFill>
                  <a:schemeClr val="tx1"/>
                </a:solidFill>
                <a:latin typeface="Times New Roman" pitchFamily="18" charset="0"/>
              </a:defRPr>
            </a:lvl1pPr>
            <a:lvl2pPr marL="725268" indent="-278949">
              <a:defRPr sz="2300">
                <a:solidFill>
                  <a:schemeClr val="tx1"/>
                </a:solidFill>
                <a:latin typeface="Times New Roman" pitchFamily="18" charset="0"/>
              </a:defRPr>
            </a:lvl2pPr>
            <a:lvl3pPr marL="1115797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3pPr>
            <a:lvl4pPr marL="1562115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4pPr>
            <a:lvl5pPr marL="2008434" indent="-223159">
              <a:defRPr sz="2300">
                <a:solidFill>
                  <a:schemeClr val="tx1"/>
                </a:solidFill>
                <a:latin typeface="Times New Roman" pitchFamily="18" charset="0"/>
              </a:defRPr>
            </a:lvl5pPr>
            <a:lvl6pPr marL="2454753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6pPr>
            <a:lvl7pPr marL="2901071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7pPr>
            <a:lvl8pPr marL="3347390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8pPr>
            <a:lvl9pPr marL="3793708" indent="-223159" eaLnBrk="0" fontAlgn="base" hangingPunct="0">
              <a:spcBef>
                <a:spcPct val="0"/>
              </a:spcBef>
              <a:spcAft>
                <a:spcPct val="0"/>
              </a:spcAft>
              <a:defRPr sz="23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fld id="{7B32B3B2-1D5A-42A3-BC7F-4184C68932D2}" type="slidenum">
              <a:rPr lang="en-US" altLang="en-US" sz="1000">
                <a:solidFill>
                  <a:prstClr val="black"/>
                </a:solidFill>
              </a:rPr>
              <a:pPr/>
              <a:t>13</a:t>
            </a:fld>
            <a:endParaRPr lang="en-US" altLang="en-US" sz="10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40212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5788" y="755650"/>
            <a:ext cx="5662612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BFE9CC-D952-411B-9EBD-7EF48EA6F8F4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802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585788" y="755650"/>
            <a:ext cx="5662612" cy="3727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2BFE9CC-D952-411B-9EBD-7EF48EA6F8F4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980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C48F005-04AC-4296-99F6-03AB785B97CF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8"/>
          <p:cNvGrpSpPr>
            <a:grpSpLocks/>
          </p:cNvGrpSpPr>
          <p:nvPr userDrawn="1"/>
        </p:nvGrpSpPr>
        <p:grpSpPr bwMode="auto">
          <a:xfrm>
            <a:off x="201613" y="3200400"/>
            <a:ext cx="13479462" cy="1381125"/>
            <a:chOff x="0" y="1536"/>
            <a:chExt cx="5675" cy="663"/>
          </a:xfrm>
        </p:grpSpPr>
        <p:grpSp>
          <p:nvGrpSpPr>
            <p:cNvPr id="5" name="Group 19"/>
            <p:cNvGrpSpPr>
              <a:grpSpLocks/>
            </p:cNvGrpSpPr>
            <p:nvPr/>
          </p:nvGrpSpPr>
          <p:grpSpPr bwMode="auto">
            <a:xfrm>
              <a:off x="185" y="1604"/>
              <a:ext cx="449" cy="300"/>
              <a:chOff x="720" y="336"/>
              <a:chExt cx="624" cy="433"/>
            </a:xfrm>
          </p:grpSpPr>
          <p:sp>
            <p:nvSpPr>
              <p:cNvPr id="12" name="Rectangle 20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5" cy="433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3" name="Rectangle 21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3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  <p:grpSp>
          <p:nvGrpSpPr>
            <p:cNvPr id="6" name="Group 22"/>
            <p:cNvGrpSpPr>
              <a:grpSpLocks/>
            </p:cNvGrpSpPr>
            <p:nvPr/>
          </p:nvGrpSpPr>
          <p:grpSpPr bwMode="auto">
            <a:xfrm>
              <a:off x="262" y="1872"/>
              <a:ext cx="466" cy="300"/>
              <a:chOff x="912" y="2640"/>
              <a:chExt cx="673" cy="433"/>
            </a:xfrm>
          </p:grpSpPr>
          <p:sp>
            <p:nvSpPr>
              <p:cNvPr id="10" name="Rectangle 23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3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  <p:sp>
            <p:nvSpPr>
              <p:cNvPr id="11" name="Rectangle 24"/>
              <p:cNvSpPr>
                <a:spLocks noChangeArrowheads="1"/>
              </p:cNvSpPr>
              <p:nvPr/>
            </p:nvSpPr>
            <p:spPr bwMode="auto">
              <a:xfrm>
                <a:off x="1252" y="2640"/>
                <a:ext cx="333" cy="433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GB"/>
              </a:p>
            </p:txBody>
          </p:sp>
        </p:grpSp>
        <p:sp>
          <p:nvSpPr>
            <p:cNvPr id="7" name="Rectangle 25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8" name="Rectangle 26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9" name="Rectangle 27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GB"/>
            </a:p>
          </p:txBody>
        </p:sp>
      </p:grpSp>
      <p:sp>
        <p:nvSpPr>
          <p:cNvPr id="230412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1710135" y="2200278"/>
            <a:ext cx="11628914" cy="170021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104927" tIns="52464" rIns="104927" bIns="52464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04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912072" y="4600578"/>
            <a:ext cx="12769003" cy="4100513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28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11857038" y="8701088"/>
            <a:ext cx="1824037" cy="300037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104927" tIns="52464" rIns="104927" bIns="524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latin typeface="Tahoma" pitchFamily="34" charset="0"/>
              </a:defRPr>
            </a:lvl1pPr>
          </a:lstStyle>
          <a:p>
            <a:pPr>
              <a:defRPr/>
            </a:pPr>
            <a:fld id="{24F378D1-C07B-407C-9B5D-F14AE7CD8C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0713" y="5784060"/>
            <a:ext cx="11628914" cy="1787723"/>
          </a:xfrm>
          <a:prstGeom prst="rect">
            <a:avLst/>
          </a:prstGeom>
        </p:spPr>
        <p:txBody>
          <a:bodyPr lIns="104927" tIns="52464" rIns="104927" bIns="52464" anchor="t"/>
          <a:lstStyle>
            <a:lvl1pPr algn="l">
              <a:defRPr sz="46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0713" y="3815065"/>
            <a:ext cx="11628914" cy="1968995"/>
          </a:xfrm>
        </p:spPr>
        <p:txBody>
          <a:bodyPr anchor="b"/>
          <a:lstStyle>
            <a:lvl1pPr marL="0" indent="0">
              <a:buNone/>
              <a:defRPr sz="2300"/>
            </a:lvl1pPr>
            <a:lvl2pPr marL="524637" indent="0">
              <a:buNone/>
              <a:defRPr sz="2100"/>
            </a:lvl2pPr>
            <a:lvl3pPr marL="1049274" indent="0">
              <a:buNone/>
              <a:defRPr sz="1800"/>
            </a:lvl3pPr>
            <a:lvl4pPr marL="1573911" indent="0">
              <a:buNone/>
              <a:defRPr sz="1600"/>
            </a:lvl4pPr>
            <a:lvl5pPr marL="2098548" indent="0">
              <a:buNone/>
              <a:defRPr sz="1600"/>
            </a:lvl5pPr>
            <a:lvl6pPr marL="2623185" indent="0">
              <a:buNone/>
              <a:defRPr sz="1600"/>
            </a:lvl6pPr>
            <a:lvl7pPr marL="3147822" indent="0">
              <a:buNone/>
              <a:defRPr sz="1600"/>
            </a:lvl7pPr>
            <a:lvl8pPr marL="3672459" indent="0">
              <a:buNone/>
              <a:defRPr sz="1600"/>
            </a:lvl8pPr>
            <a:lvl9pPr marL="4197096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054" y="360462"/>
            <a:ext cx="12312968" cy="150018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54" y="8342710"/>
            <a:ext cx="3192251" cy="47922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674368" y="8342710"/>
            <a:ext cx="4332340" cy="479227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04770" y="8342710"/>
            <a:ext cx="3192251" cy="479227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7CCD32B2-E981-419C-8DFB-06946917963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8963" y="44450"/>
            <a:ext cx="12533312" cy="8569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04927" tIns="52464" rIns="104927" bIns="5246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9393" name="Rectangle 17"/>
          <p:cNvSpPr>
            <a:spLocks noChangeArrowheads="1"/>
          </p:cNvSpPr>
          <p:nvPr/>
        </p:nvSpPr>
        <p:spPr bwMode="auto">
          <a:xfrm>
            <a:off x="0" y="8378748"/>
            <a:ext cx="2849563" cy="600075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104927" tIns="52464" rIns="104927" bIns="52464" anchor="b"/>
          <a:lstStyle/>
          <a:p>
            <a:pPr eaLnBrk="1" hangingPunct="1">
              <a:defRPr/>
            </a:pPr>
            <a:fld id="{A489F54B-69BB-4115-9FC9-7565FFDEE19E}" type="slidenum">
              <a:rPr lang="en-US" sz="1600">
                <a:solidFill>
                  <a:srgbClr val="080808"/>
                </a:solidFill>
                <a:latin typeface="Times New Roman" pitchFamily="18" charset="0"/>
              </a:rPr>
              <a:pPr eaLnBrk="1" hangingPunct="1">
                <a:defRPr/>
              </a:pPr>
              <a:t>‹#›</a:t>
            </a:fld>
            <a:endParaRPr lang="en-US" sz="1600" dirty="0">
              <a:solidFill>
                <a:srgbClr val="080808"/>
              </a:solidFill>
              <a:latin typeface="Times New Roman" pitchFamily="18" charset="0"/>
            </a:endParaRPr>
          </a:p>
        </p:txBody>
      </p:sp>
      <p:sp>
        <p:nvSpPr>
          <p:cNvPr id="229396" name="Rectangle 20"/>
          <p:cNvSpPr>
            <a:spLocks noChangeArrowheads="1"/>
          </p:cNvSpPr>
          <p:nvPr userDrawn="1"/>
        </p:nvSpPr>
        <p:spPr bwMode="ltGray">
          <a:xfrm>
            <a:off x="12018963" y="7761288"/>
            <a:ext cx="490537" cy="62230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4927" tIns="52464" rIns="104927" bIns="52464" anchor="ctr"/>
          <a:lstStyle/>
          <a:p>
            <a:pPr algn="ctr" eaLnBrk="1" hangingPunct="1">
              <a:defRPr/>
            </a:pPr>
            <a:endParaRPr kumimoji="1" lang="en-US" sz="2800" dirty="0"/>
          </a:p>
        </p:txBody>
      </p:sp>
      <p:sp>
        <p:nvSpPr>
          <p:cNvPr id="229400" name="Rectangle 24"/>
          <p:cNvSpPr>
            <a:spLocks noChangeArrowheads="1"/>
          </p:cNvSpPr>
          <p:nvPr userDrawn="1"/>
        </p:nvSpPr>
        <p:spPr bwMode="ltGray">
          <a:xfrm flipH="1">
            <a:off x="11790363" y="8315325"/>
            <a:ext cx="550862" cy="6238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fol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4927" tIns="52464" rIns="104927" bIns="52464" anchor="ctr"/>
          <a:lstStyle/>
          <a:p>
            <a:pPr algn="ctr" eaLnBrk="1" hangingPunct="1">
              <a:defRPr/>
            </a:pPr>
            <a:endParaRPr kumimoji="1" lang="en-US" sz="2800" dirty="0"/>
          </a:p>
        </p:txBody>
      </p:sp>
      <p:sp>
        <p:nvSpPr>
          <p:cNvPr id="229398" name="Rectangle 22"/>
          <p:cNvSpPr>
            <a:spLocks noChangeArrowheads="1"/>
          </p:cNvSpPr>
          <p:nvPr userDrawn="1"/>
        </p:nvSpPr>
        <p:spPr bwMode="ltGray">
          <a:xfrm>
            <a:off x="12498388" y="7761288"/>
            <a:ext cx="655637" cy="62230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927" tIns="52464" rIns="104927" bIns="52464" anchor="ctr"/>
          <a:lstStyle/>
          <a:p>
            <a:pPr algn="ctr" eaLnBrk="1" hangingPunct="1">
              <a:defRPr/>
            </a:pPr>
            <a:endParaRPr kumimoji="1" lang="en-US" sz="2800" dirty="0"/>
          </a:p>
        </p:txBody>
      </p:sp>
      <p:sp>
        <p:nvSpPr>
          <p:cNvPr id="229399" name="Rectangle 23"/>
          <p:cNvSpPr>
            <a:spLocks noChangeArrowheads="1"/>
          </p:cNvSpPr>
          <p:nvPr userDrawn="1"/>
        </p:nvSpPr>
        <p:spPr bwMode="ltGray">
          <a:xfrm flipH="1">
            <a:off x="12336463" y="8315325"/>
            <a:ext cx="631825" cy="623888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4927" tIns="52464" rIns="104927" bIns="52464" anchor="ctr"/>
          <a:lstStyle/>
          <a:p>
            <a:pPr algn="ctr" eaLnBrk="1" hangingPunct="1">
              <a:defRPr/>
            </a:pPr>
            <a:endParaRPr kumimoji="1" lang="en-US" sz="2800" dirty="0"/>
          </a:p>
        </p:txBody>
      </p:sp>
      <p:sp>
        <p:nvSpPr>
          <p:cNvPr id="229401" name="Rectangle 25"/>
          <p:cNvSpPr>
            <a:spLocks noChangeArrowheads="1"/>
          </p:cNvSpPr>
          <p:nvPr userDrawn="1"/>
        </p:nvSpPr>
        <p:spPr bwMode="ltGray">
          <a:xfrm flipH="1">
            <a:off x="12749213" y="8220075"/>
            <a:ext cx="839787" cy="554038"/>
          </a:xfrm>
          <a:prstGeom prst="rect">
            <a:avLst/>
          </a:prstGeom>
          <a:gradFill rotWithShape="0">
            <a:gsLst>
              <a:gs pos="0">
                <a:schemeClr val="hlink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4927" tIns="52464" rIns="104927" bIns="52464" anchor="ctr"/>
          <a:lstStyle/>
          <a:p>
            <a:pPr algn="ctr" eaLnBrk="1" hangingPunct="1">
              <a:defRPr/>
            </a:pPr>
            <a:endParaRPr kumimoji="1" lang="en-US" sz="2800" dirty="0"/>
          </a:p>
        </p:txBody>
      </p:sp>
      <p:sp>
        <p:nvSpPr>
          <p:cNvPr id="229384" name="Rectangle 8"/>
          <p:cNvSpPr>
            <a:spLocks noChangeArrowheads="1"/>
          </p:cNvSpPr>
          <p:nvPr userDrawn="1"/>
        </p:nvSpPr>
        <p:spPr bwMode="gray">
          <a:xfrm>
            <a:off x="822325" y="8656638"/>
            <a:ext cx="12307888" cy="42862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4927" tIns="52464" rIns="104927" bIns="52464" anchor="ctr"/>
          <a:lstStyle/>
          <a:p>
            <a:pPr algn="ctr" eaLnBrk="1" hangingPunct="1">
              <a:defRPr/>
            </a:pPr>
            <a:endParaRPr kumimoji="1" lang="en-US" sz="2800" dirty="0"/>
          </a:p>
        </p:txBody>
      </p:sp>
      <p:sp>
        <p:nvSpPr>
          <p:cNvPr id="11" name="Text Box 40"/>
          <p:cNvSpPr txBox="1">
            <a:spLocks noChangeArrowheads="1"/>
          </p:cNvSpPr>
          <p:nvPr userDrawn="1"/>
        </p:nvSpPr>
        <p:spPr bwMode="auto">
          <a:xfrm>
            <a:off x="565150" y="8661477"/>
            <a:ext cx="12558713" cy="321396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lIns="104927" tIns="52464" rIns="104927" bIns="52464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400" dirty="0"/>
              <a:t>Topic</a:t>
            </a:r>
            <a:r>
              <a:rPr lang="en-US" sz="1400" baseline="0" dirty="0"/>
              <a:t> 6</a:t>
            </a:r>
            <a:r>
              <a:rPr lang="en-US" sz="1400" dirty="0"/>
              <a:t> File Management							                  CCS3101 Object-oriented Programming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08" r:id="rId1"/>
    <p:sldLayoutId id="2147484198" r:id="rId2"/>
    <p:sldLayoutId id="2147484199" r:id="rId3"/>
    <p:sldLayoutId id="2147484200" r:id="rId4"/>
    <p:sldLayoutId id="2147484209" r:id="rId5"/>
  </p:sldLayoutIdLst>
  <p:transition>
    <p:random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5pPr>
      <a:lvl6pPr marL="524637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6pPr>
      <a:lvl7pPr marL="1049274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7pPr>
      <a:lvl8pPr marL="1573911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8pPr>
      <a:lvl9pPr marL="2098548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Tahoma" pitchFamily="34" charset="0"/>
        </a:defRPr>
      </a:lvl9pPr>
    </p:titleStyle>
    <p:bodyStyle>
      <a:lvl1pPr marL="392113" indent="-3921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700">
          <a:solidFill>
            <a:schemeClr val="tx1"/>
          </a:solidFill>
          <a:latin typeface="+mn-lt"/>
          <a:ea typeface="+mn-ea"/>
          <a:cs typeface="+mn-cs"/>
        </a:defRPr>
      </a:lvl1pPr>
      <a:lvl2pPr marL="852488" indent="-327025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3200">
          <a:solidFill>
            <a:schemeClr val="tx1"/>
          </a:solidFill>
          <a:latin typeface="+mn-lt"/>
        </a:defRPr>
      </a:lvl2pPr>
      <a:lvl3pPr marL="1311275" indent="-261938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3pPr>
      <a:lvl4pPr marL="1835150" indent="-2619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4pPr>
      <a:lvl5pPr marL="2360613" indent="-2619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5pPr>
      <a:lvl6pPr marL="2885504" indent="-26231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6pPr>
      <a:lvl7pPr marL="3410141" indent="-26231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7pPr>
      <a:lvl8pPr marL="3934778" indent="-26231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8pPr>
      <a:lvl9pPr marL="4459415" indent="-262319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4637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9274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3911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98548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23185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47822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72459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97096" algn="l" defTabSz="10492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liveexample.pearsoncmg.com/html/TestFileClass.html" TargetMode="External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5.xml"/><Relationship Id="rId6" Type="http://schemas.openxmlformats.org/officeDocument/2006/relationships/hyperlink" Target="html/TestFileClass.bat" TargetMode="External"/><Relationship Id="rId5" Type="http://schemas.openxmlformats.org/officeDocument/2006/relationships/image" Target="../media/image3.png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iveexample.pearsoncmg.com/html/WriteData.html" TargetMode="External"/><Relationship Id="rId4" Type="http://schemas.openxmlformats.org/officeDocument/2006/relationships/hyperlink" Target="html/WriteData.bat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WriteDataWithAutoClose.html" TargetMode="External"/><Relationship Id="rId2" Type="http://schemas.openxmlformats.org/officeDocument/2006/relationships/hyperlink" Target="html/WriteDataWithAutoClose.bat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5.xml"/><Relationship Id="rId5" Type="http://schemas.openxmlformats.org/officeDocument/2006/relationships/hyperlink" Target="https://liveexample.pearsoncmg.com/html/ReadData.html" TargetMode="External"/><Relationship Id="rId4" Type="http://schemas.openxmlformats.org/officeDocument/2006/relationships/hyperlink" Target="html/ReadData.bat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ReplaceText.html" TargetMode="External"/><Relationship Id="rId2" Type="http://schemas.openxmlformats.org/officeDocument/2006/relationships/hyperlink" Target="html/ReplaceText.bat" TargetMode="Externa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liveexample.pearsoncmg.com/html/ReadFileFromURL.html" TargetMode="External"/><Relationship Id="rId2" Type="http://schemas.openxmlformats.org/officeDocument/2006/relationships/hyperlink" Target="html/ReadFileFromURL.bat" TargetMode="Externa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1539875" y="2040233"/>
            <a:ext cx="11791950" cy="17081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04927" tIns="52464" rIns="104927" bIns="52464" anchor="ctr"/>
          <a:lstStyle/>
          <a:p>
            <a:pPr eaLnBrk="1" hangingPunct="1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CCS3101 </a:t>
            </a:r>
          </a:p>
          <a:p>
            <a:pPr eaLnBrk="1" hangingPunct="1"/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OBJECT-ORIENTED PROGRAMMING</a:t>
            </a:r>
            <a:br>
              <a:rPr lang="pl-PL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Topic 6 File Management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798513" y="4900613"/>
            <a:ext cx="11399837" cy="4100512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lIns="104927" tIns="52464" rIns="104927" bIns="52464"/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endParaRPr lang="pl-PL" sz="1600" dirty="0"/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0" y="4763"/>
            <a:ext cx="13681075" cy="1033462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lIns="104927" tIns="52464" rIns="104927" bIns="52464" anchor="ctr"/>
          <a:lstStyle/>
          <a:p>
            <a:pPr algn="ctr" eaLnBrk="1" hangingPunct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Objectives</a:t>
            </a:r>
          </a:p>
        </p:txBody>
      </p:sp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0" y="1436520"/>
            <a:ext cx="13681075" cy="6075362"/>
          </a:xfrm>
          <a:prstGeom prst="rect">
            <a:avLst/>
          </a:prstGeom>
          <a:solidFill>
            <a:srgbClr val="FFFFFF"/>
          </a:solidFill>
          <a:ln>
            <a:miter lim="800000"/>
            <a:headEnd/>
            <a:tailEnd/>
          </a:ln>
        </p:spPr>
        <p:txBody>
          <a:bodyPr lIns="104927" tIns="52464" rIns="104927" bIns="52464"/>
          <a:lstStyle/>
          <a:p>
            <a:pPr marL="413100" indent="-413100" eaLnBrk="1" hangingPunct="1">
              <a:buFont typeface="Arial" pitchFamily="34" charset="0"/>
              <a:buChar char="•"/>
              <a:defRPr/>
            </a:pPr>
            <a:r>
              <a:rPr lang="en-US" sz="4400" kern="0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At the end of this chapter, you should be able to:</a:t>
            </a:r>
          </a:p>
          <a:p>
            <a:pPr eaLnBrk="1" hangingPunct="1">
              <a:defRPr/>
            </a:pPr>
            <a:endParaRPr lang="en-US" sz="4400" kern="0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pPr marL="1054100" lvl="1" indent="-530225">
              <a:buFont typeface="Arial" pitchFamily="34" charset="0"/>
              <a:buChar char="•"/>
              <a:defRPr/>
            </a:pPr>
            <a:r>
              <a:rPr lang="ms-MY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Solve</a:t>
            </a:r>
            <a:r>
              <a:rPr lang="ms-MY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  <a:r>
              <a:rPr lang="ms-MY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ms-MY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ms-MY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ms-MY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input/output </a:t>
            </a:r>
            <a:r>
              <a:rPr lang="ms-MY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ms-MY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(P4, A3)</a:t>
            </a:r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1075134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 Class</a:t>
            </a:r>
          </a:p>
        </p:txBody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70045" y="1500188"/>
            <a:ext cx="12540985" cy="3000375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is intended to provide an abstraction that deals with most of the machine-dependent complexities of files and path names in a machine-independent fashion. The filename is a string. The </a:t>
            </a:r>
            <a:r>
              <a:rPr lang="en-US" alt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is a wrapper class for the file name and its directory path. </a:t>
            </a:r>
          </a:p>
        </p:txBody>
      </p:sp>
    </p:spTree>
    <p:extLst>
      <p:ext uri="{BB962C8B-B14F-4D97-AF65-F5344CB8AC3E}">
        <p14:creationId xmlns:p14="http://schemas.microsoft.com/office/powerpoint/2010/main" val="1345757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/>
          <p:cNvSpPr>
            <a:spLocks noGrp="1"/>
          </p:cNvSpPr>
          <p:nvPr>
            <p:ph type="title"/>
          </p:nvPr>
        </p:nvSpPr>
        <p:spPr>
          <a:xfrm>
            <a:off x="1439862" y="25003"/>
            <a:ext cx="10801350" cy="979289"/>
          </a:xfrm>
        </p:spPr>
        <p:txBody>
          <a:bodyPr/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File class</a:t>
            </a:r>
            <a:endParaRPr lang="en-GB" alt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>
          <a:xfrm>
            <a:off x="983555" y="914699"/>
            <a:ext cx="11701463" cy="7538442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File object</a:t>
            </a:r>
          </a:p>
          <a:p>
            <a:pPr lvl="1">
              <a:spcBef>
                <a:spcPts val="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1156516" lvl="1" indent="0">
              <a:spcBef>
                <a:spcPts val="0"/>
              </a:spcBef>
              <a:buNone/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java.io.File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fileObject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new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java.io.File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(filename);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156516" indent="0">
              <a:spcBef>
                <a:spcPts val="0"/>
              </a:spcBef>
              <a:buNone/>
              <a:defRPr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java.io.File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= new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java.io.File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(“score.txt”);</a:t>
            </a:r>
          </a:p>
          <a:p>
            <a:pPr>
              <a:spcBef>
                <a:spcPts val="0"/>
              </a:spcBef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file already created or not</a:t>
            </a:r>
          </a:p>
          <a:p>
            <a:pPr lvl="1">
              <a:spcBef>
                <a:spcPts val="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pPr marL="1156516" lvl="1" indent="0">
              <a:spcBef>
                <a:spcPts val="0"/>
              </a:spcBef>
              <a:buNone/>
              <a:defRPr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file.exists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spcBef>
                <a:spcPts val="0"/>
              </a:spcBef>
              <a:defRPr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 marL="1156516" indent="0">
              <a:spcBef>
                <a:spcPts val="0"/>
              </a:spcBef>
              <a:buNone/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file.exists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>
              <a:spcBef>
                <a:spcPts val="0"/>
              </a:spcBef>
              <a:buNone/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}</a:t>
            </a:r>
          </a:p>
          <a:p>
            <a:pPr>
              <a:spcBef>
                <a:spcPts val="0"/>
              </a:spcBef>
              <a:defRPr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the file (will return true if the deletion succeed) </a:t>
            </a:r>
          </a:p>
          <a:p>
            <a:pPr marL="1156516" indent="0">
              <a:spcBef>
                <a:spcPts val="0"/>
              </a:spcBef>
              <a:buNone/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file.delete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</a:p>
          <a:p>
            <a:pPr marL="1156516" indent="0">
              <a:spcBef>
                <a:spcPts val="0"/>
              </a:spcBef>
              <a:buNone/>
              <a:defRPr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(“File deleted”);</a:t>
            </a:r>
          </a:p>
          <a:p>
            <a:pPr>
              <a:spcBef>
                <a:spcPts val="0"/>
              </a:spcBef>
              <a:defRPr/>
            </a:pPr>
            <a:endParaRPr lang="en-GB" sz="315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B18385-9FA5-4F46-930E-4A4FC9BC53D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4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64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02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024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24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2"/>
          <p:cNvSpPr>
            <a:spLocks noChangeArrowheads="1"/>
          </p:cNvSpPr>
          <p:nvPr/>
        </p:nvSpPr>
        <p:spPr bwMode="auto">
          <a:xfrm>
            <a:off x="3206502" y="1268909"/>
            <a:ext cx="13681075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9607" tIns="64804" rIns="129607" bIns="64804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title"/>
          </p:nvPr>
        </p:nvSpPr>
        <p:spPr>
          <a:xfrm>
            <a:off x="456036" y="108347"/>
            <a:ext cx="11856932" cy="950432"/>
          </a:xfrm>
        </p:spPr>
        <p:txBody>
          <a:bodyPr lIns="129607" tIns="64804" rIns="129607" bIns="64804"/>
          <a:lstStyle/>
          <a:p>
            <a:pPr algn="l"/>
            <a:r>
              <a:rPr lang="en-US" alt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Obtaining file properties and manipulating file</a:t>
            </a:r>
          </a:p>
        </p:txBody>
      </p:sp>
      <p:sp>
        <p:nvSpPr>
          <p:cNvPr id="62469" name="Rectangle 6"/>
          <p:cNvSpPr>
            <a:spLocks noChangeArrowheads="1"/>
          </p:cNvSpPr>
          <p:nvPr/>
        </p:nvSpPr>
        <p:spPr bwMode="auto">
          <a:xfrm>
            <a:off x="0" y="-27009"/>
            <a:ext cx="261810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9607" tIns="64804" rIns="129607" bIns="64804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pic>
        <p:nvPicPr>
          <p:cNvPr id="62470" name="Picture 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8153" y="627085"/>
            <a:ext cx="10966237" cy="78364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4132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4054" y="300038"/>
            <a:ext cx="11970941" cy="800100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Explore File Properties</a:t>
            </a:r>
          </a:p>
        </p:txBody>
      </p:sp>
      <p:sp>
        <p:nvSpPr>
          <p:cNvPr id="63492" name="Rectangle 5"/>
          <p:cNvSpPr>
            <a:spLocks noChangeArrowheads="1"/>
          </p:cNvSpPr>
          <p:nvPr/>
        </p:nvSpPr>
        <p:spPr bwMode="auto">
          <a:xfrm>
            <a:off x="570045" y="1400175"/>
            <a:ext cx="12654994" cy="2700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30507" tIns="65254" rIns="130507" bIns="6525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600" dirty="0">
                <a:cs typeface="Times New Roman" pitchFamily="18" charset="0"/>
              </a:rPr>
              <a:t>Objective: Write a program that demonstrates how to create files in a platform-independent way and use the methods in the File class to obtain their properties. The following figures show a sample run of the program on Windows and on Unix.</a:t>
            </a:r>
          </a:p>
        </p:txBody>
      </p:sp>
      <p:sp>
        <p:nvSpPr>
          <p:cNvPr id="63493" name="Rectangle 6"/>
          <p:cNvSpPr>
            <a:spLocks noChangeArrowheads="1"/>
          </p:cNvSpPr>
          <p:nvPr/>
        </p:nvSpPr>
        <p:spPr bwMode="auto">
          <a:xfrm>
            <a:off x="3320511" y="2537817"/>
            <a:ext cx="13681075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9607" tIns="64804" rIns="129607" bIns="64804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graphicFrame>
        <p:nvGraphicFramePr>
          <p:cNvPr id="63494" name="Object 7"/>
          <p:cNvGraphicFramePr>
            <a:graphicFrameLocks noChangeAspect="1"/>
          </p:cNvGraphicFramePr>
          <p:nvPr/>
        </p:nvGraphicFramePr>
        <p:xfrm>
          <a:off x="769560" y="4200525"/>
          <a:ext cx="6042475" cy="336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" r:id="rId2" imgW="4709568" imgH="2994920" progId="PBrush">
                  <p:embed/>
                </p:oleObj>
              </mc:Choice>
              <mc:Fallback>
                <p:oleObj r:id="rId2" imgW="4709568" imgH="2994920" progId="PBrush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9560" y="4200525"/>
                        <a:ext cx="6042475" cy="336917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5" name="Rectangle 8"/>
          <p:cNvSpPr>
            <a:spLocks noChangeArrowheads="1"/>
          </p:cNvSpPr>
          <p:nvPr/>
        </p:nvSpPr>
        <p:spPr bwMode="auto">
          <a:xfrm>
            <a:off x="3320511" y="2437805"/>
            <a:ext cx="13681075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9607" tIns="64804" rIns="129607" bIns="64804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graphicFrame>
        <p:nvGraphicFramePr>
          <p:cNvPr id="63496" name="Object 9"/>
          <p:cNvGraphicFramePr>
            <a:graphicFrameLocks noChangeAspect="1"/>
          </p:cNvGraphicFramePr>
          <p:nvPr/>
        </p:nvGraphicFramePr>
        <p:xfrm>
          <a:off x="7182564" y="4200526"/>
          <a:ext cx="5785955" cy="3390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r:id="rId4" imgW="4709568" imgH="3147333" progId="PBrush">
                  <p:embed/>
                </p:oleObj>
              </mc:Choice>
              <mc:Fallback>
                <p:oleObj r:id="rId4" imgW="4709568" imgH="3147333" progId="PBrush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2564" y="4200526"/>
                        <a:ext cx="5785955" cy="33900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AutoShape 10">
            <a:hlinkClick r:id="rId6" action="ppaction://program" highlightClick="1"/>
          </p:cNvPr>
          <p:cNvSpPr>
            <a:spLocks noChangeArrowheads="1"/>
          </p:cNvSpPr>
          <p:nvPr/>
        </p:nvSpPr>
        <p:spPr bwMode="auto">
          <a:xfrm>
            <a:off x="10944860" y="7800976"/>
            <a:ext cx="1045082" cy="445889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29607" tIns="64804" rIns="129607" bIns="6480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Book Antiqua" pitchFamily="18" charset="0"/>
              </a:rPr>
              <a:t>Run</a:t>
            </a:r>
            <a:endParaRPr lang="en-US" altLang="en-US" sz="2600"/>
          </a:p>
        </p:txBody>
      </p:sp>
      <p:sp>
        <p:nvSpPr>
          <p:cNvPr id="63498" name="Rectangle 12">
            <a:hlinkClick r:id="rId7"/>
          </p:cNvPr>
          <p:cNvSpPr>
            <a:spLocks noChangeArrowheads="1"/>
          </p:cNvSpPr>
          <p:nvPr/>
        </p:nvSpPr>
        <p:spPr bwMode="auto">
          <a:xfrm>
            <a:off x="8094637" y="7773889"/>
            <a:ext cx="2579453" cy="50006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129607" tIns="64804" rIns="129607" bIns="64804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TestFileClass</a:t>
            </a:r>
          </a:p>
        </p:txBody>
      </p:sp>
    </p:spTree>
    <p:extLst>
      <p:ext uri="{BB962C8B-B14F-4D97-AF65-F5344CB8AC3E}">
        <p14:creationId xmlns:p14="http://schemas.microsoft.com/office/powerpoint/2010/main" val="855121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1075134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I/O</a:t>
            </a:r>
          </a:p>
        </p:txBody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6036" y="1600200"/>
            <a:ext cx="12883012" cy="5600700"/>
          </a:xfrm>
        </p:spPr>
        <p:txBody>
          <a:bodyPr/>
          <a:lstStyle/>
          <a:p>
            <a:pPr marL="0" indent="0" algn="just">
              <a:lnSpc>
                <a:spcPct val="110000"/>
              </a:lnSpc>
              <a:buNone/>
            </a:pP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encapsulates the properties of a file or a path, but does not contain the methods for reading/writing data from/to a file. In order to perform I/O, you need to create objects using appropriate Java I/O classes. The objects contain the methods for reading/writing data from/to a file. This section introduces how to read/write strings and numeric values from/to a text file using the </a:t>
            </a:r>
            <a:r>
              <a:rPr lang="en-US" altLang="en-US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3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PrintWriter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classes.</a:t>
            </a:r>
          </a:p>
        </p:txBody>
      </p:sp>
    </p:spTree>
    <p:extLst>
      <p:ext uri="{BB962C8B-B14F-4D97-AF65-F5344CB8AC3E}">
        <p14:creationId xmlns:p14="http://schemas.microsoft.com/office/powerpoint/2010/main" val="3475018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>
          <a:xfrm>
            <a:off x="1439862" y="-20836"/>
            <a:ext cx="10801350" cy="710506"/>
          </a:xfrm>
        </p:spPr>
        <p:txBody>
          <a:bodyPr/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to a Text File</a:t>
            </a:r>
            <a:endParaRPr lang="en-GB" alt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1139824" y="1148060"/>
            <a:ext cx="11501438" cy="5400675"/>
          </a:xfrm>
        </p:spPr>
        <p:txBody>
          <a:bodyPr/>
          <a:lstStyle/>
          <a:p>
            <a:pPr algn="just">
              <a:defRPr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PrintWriter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preferred stream class for writing to a text file.</a:t>
            </a:r>
          </a:p>
          <a:p>
            <a:pPr algn="just">
              <a:defRPr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PrinterWriter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methods print and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println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stream to associate the output stream with the file</a:t>
            </a:r>
          </a:p>
          <a:p>
            <a:pPr marL="0" indent="0" algn="just">
              <a:buNone/>
              <a:defRPr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6725" indent="0" algn="just">
              <a:buNone/>
              <a:defRPr/>
            </a:pPr>
            <a:r>
              <a:rPr lang="en-US" sz="2800" dirty="0" err="1">
                <a:latin typeface="Courier" pitchFamily="2" charset="0"/>
                <a:cs typeface="Times New Roman" panose="02020603050405020304" pitchFamily="18" charset="0"/>
              </a:rPr>
              <a:t>java.io.File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  <a:cs typeface="Times New Roman" panose="02020603050405020304" pitchFamily="18" charset="0"/>
              </a:rPr>
              <a:t>file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 = new </a:t>
            </a:r>
            <a:r>
              <a:rPr lang="en-US" sz="2800" dirty="0" err="1">
                <a:latin typeface="Courier" pitchFamily="2" charset="0"/>
                <a:cs typeface="Times New Roman" panose="02020603050405020304" pitchFamily="18" charset="0"/>
              </a:rPr>
              <a:t>java.io.File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(“</a:t>
            </a:r>
            <a:r>
              <a:rPr lang="en-US" sz="2800" dirty="0" err="1">
                <a:latin typeface="Courier" pitchFamily="2" charset="0"/>
                <a:cs typeface="Times New Roman" panose="02020603050405020304" pitchFamily="18" charset="0"/>
              </a:rPr>
              <a:t>score.txt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”);</a:t>
            </a:r>
          </a:p>
          <a:p>
            <a:pPr marL="466725" indent="0" algn="just">
              <a:buNone/>
              <a:defRPr/>
            </a:pPr>
            <a:r>
              <a:rPr lang="en-US" sz="2800" dirty="0" err="1">
                <a:latin typeface="Courier" pitchFamily="2" charset="0"/>
                <a:cs typeface="Times New Roman" panose="02020603050405020304" pitchFamily="18" charset="0"/>
              </a:rPr>
              <a:t>PrintWriter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  <a:cs typeface="Times New Roman" panose="02020603050405020304" pitchFamily="18" charset="0"/>
              </a:rPr>
              <a:t>output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 = new </a:t>
            </a:r>
            <a:r>
              <a:rPr lang="en-US" sz="2800" dirty="0" err="1">
                <a:latin typeface="Courier" pitchFamily="2" charset="0"/>
                <a:cs typeface="Times New Roman" panose="02020603050405020304" pitchFamily="18" charset="0"/>
              </a:rPr>
              <a:t>PrintWriter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(</a:t>
            </a:r>
            <a:r>
              <a:rPr lang="en-US" sz="2800" dirty="0">
                <a:solidFill>
                  <a:srgbClr val="FF0000"/>
                </a:solidFill>
                <a:latin typeface="Courier" pitchFamily="2" charset="0"/>
                <a:cs typeface="Times New Roman" panose="02020603050405020304" pitchFamily="18" charset="0"/>
              </a:rPr>
              <a:t>file</a:t>
            </a:r>
            <a:r>
              <a:rPr lang="en-US" sz="2800" dirty="0">
                <a:latin typeface="Courier" pitchFamily="2" charset="0"/>
                <a:cs typeface="Times New Roman" panose="02020603050405020304" pitchFamily="18" charset="0"/>
              </a:rPr>
              <a:t>);</a:t>
            </a:r>
            <a:endParaRPr lang="en-GB" sz="2800" dirty="0">
              <a:latin typeface="Courier" pitchFamily="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7856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900113"/>
          </a:xfrm>
        </p:spPr>
        <p:txBody>
          <a:bodyPr lIns="129607" tIns="64804" rIns="129607" bIns="64804"/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Data Using </a:t>
            </a:r>
            <a:r>
              <a:rPr lang="en-US" altLang="en-US" sz="4800" b="1" u="sng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PrintWriter</a:t>
            </a:r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5540" name="Rectangle 5"/>
          <p:cNvSpPr>
            <a:spLocks noChangeArrowheads="1"/>
          </p:cNvSpPr>
          <p:nvPr/>
        </p:nvSpPr>
        <p:spPr bwMode="auto">
          <a:xfrm>
            <a:off x="6709633" y="2418297"/>
            <a:ext cx="261809" cy="1084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9607" tIns="64804" rIns="129607" bIns="64804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US" altLang="en-US" sz="6200">
              <a:solidFill>
                <a:schemeClr val="tx2"/>
              </a:solidFill>
            </a:endParaRPr>
          </a:p>
        </p:txBody>
      </p:sp>
      <p:graphicFrame>
        <p:nvGraphicFramePr>
          <p:cNvPr id="65541" name="Object 6"/>
          <p:cNvGraphicFramePr>
            <a:graphicFrameLocks noChangeAspect="1"/>
          </p:cNvGraphicFramePr>
          <p:nvPr/>
        </p:nvGraphicFramePr>
        <p:xfrm>
          <a:off x="465538" y="1100138"/>
          <a:ext cx="12747627" cy="65216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Picture" r:id="rId2" imgW="4032504" imgH="2343912" progId="Word.Picture.8">
                  <p:embed/>
                </p:oleObj>
              </mc:Choice>
              <mc:Fallback>
                <p:oleObj name="Picture" r:id="rId2" imgW="4032504" imgH="2343912" progId="Word.Picture.8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538" y="1100138"/>
                        <a:ext cx="12747627" cy="652164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2" name="AutoShape 10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11514905" y="7894738"/>
            <a:ext cx="1045082" cy="445889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29607" tIns="64804" rIns="129607" bIns="6480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Book Antiqua" pitchFamily="18" charset="0"/>
              </a:rPr>
              <a:t>Run</a:t>
            </a:r>
            <a:endParaRPr lang="en-US" altLang="en-US" sz="2600"/>
          </a:p>
        </p:txBody>
      </p:sp>
      <p:sp>
        <p:nvSpPr>
          <p:cNvPr id="65543" name="Rectangle 9">
            <a:hlinkClick r:id="rId5"/>
          </p:cNvPr>
          <p:cNvSpPr>
            <a:spLocks noChangeArrowheads="1"/>
          </p:cNvSpPr>
          <p:nvPr/>
        </p:nvSpPr>
        <p:spPr bwMode="auto">
          <a:xfrm>
            <a:off x="8664681" y="7867650"/>
            <a:ext cx="2579453" cy="50006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129607" tIns="64804" rIns="129607" bIns="64804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WriteData</a:t>
            </a:r>
          </a:p>
        </p:txBody>
      </p:sp>
    </p:spTree>
    <p:extLst>
      <p:ext uri="{BB962C8B-B14F-4D97-AF65-F5344CB8AC3E}">
        <p14:creationId xmlns:p14="http://schemas.microsoft.com/office/powerpoint/2010/main" val="1205019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9800" y="260449"/>
            <a:ext cx="11801475" cy="8340625"/>
          </a:xfrm>
        </p:spPr>
        <p:txBody>
          <a:bodyPr/>
          <a:lstStyle/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import java.io.*;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import </a:t>
            </a:r>
            <a:r>
              <a:rPr lang="en-US" sz="2000" dirty="0" err="1">
                <a:latin typeface="Courier" pitchFamily="2" charset="0"/>
              </a:rPr>
              <a:t>java.util</a:t>
            </a:r>
            <a:r>
              <a:rPr lang="en-US" sz="2000" dirty="0">
                <a:latin typeface="Courier" pitchFamily="2" charset="0"/>
              </a:rPr>
              <a:t>.*;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public class </a:t>
            </a:r>
            <a:r>
              <a:rPr lang="en-US" sz="2000" dirty="0" err="1">
                <a:latin typeface="Courier" pitchFamily="2" charset="0"/>
              </a:rPr>
              <a:t>WriteDataToFile</a:t>
            </a:r>
            <a:r>
              <a:rPr lang="en-US" sz="2000" dirty="0">
                <a:latin typeface="Courier" pitchFamily="2" charset="0"/>
              </a:rPr>
              <a:t>{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public static void main(String[] </a:t>
            </a:r>
            <a:r>
              <a:rPr lang="en-US" sz="2000" dirty="0" err="1">
                <a:latin typeface="Courier" pitchFamily="2" charset="0"/>
              </a:rPr>
              <a:t>args</a:t>
            </a:r>
            <a:r>
              <a:rPr lang="en-US" sz="2000" dirty="0">
                <a:latin typeface="Courier" pitchFamily="2" charset="0"/>
              </a:rPr>
              <a:t>) </a:t>
            </a: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throws Exception</a:t>
            </a:r>
            <a:r>
              <a:rPr lang="en-US" sz="2000" dirty="0">
                <a:latin typeface="Courier" pitchFamily="2" charset="0"/>
              </a:rPr>
              <a:t>{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String 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fname</a:t>
            </a:r>
            <a:r>
              <a:rPr lang="en-US" sz="2000" dirty="0">
                <a:latin typeface="Courier" pitchFamily="2" charset="0"/>
              </a:rPr>
              <a:t>="phonebook.txt";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File 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file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 = new File(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fname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if(</a:t>
            </a:r>
            <a:r>
              <a:rPr lang="en-US" sz="2000" dirty="0" err="1">
                <a:solidFill>
                  <a:srgbClr val="0070C0"/>
                </a:solidFill>
                <a:latin typeface="Courier" pitchFamily="2" charset="0"/>
              </a:rPr>
              <a:t>file.exists</a:t>
            </a: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()){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			</a:t>
            </a:r>
            <a:r>
              <a:rPr lang="en-US" sz="2000" dirty="0" err="1">
                <a:solidFill>
                  <a:srgbClr val="0070C0"/>
                </a:solidFill>
                <a:latin typeface="Courier" pitchFamily="2" charset="0"/>
              </a:rPr>
              <a:t>System.out.println</a:t>
            </a: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("File "+</a:t>
            </a:r>
            <a:r>
              <a:rPr lang="en-US" sz="2000" dirty="0" err="1">
                <a:solidFill>
                  <a:srgbClr val="0070C0"/>
                </a:solidFill>
                <a:latin typeface="Courier" pitchFamily="2" charset="0"/>
              </a:rPr>
              <a:t>fname</a:t>
            </a: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+" already exists");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			</a:t>
            </a:r>
            <a:r>
              <a:rPr lang="en-US" sz="2000" dirty="0" err="1">
                <a:solidFill>
                  <a:srgbClr val="0070C0"/>
                </a:solidFill>
                <a:latin typeface="Courier" pitchFamily="2" charset="0"/>
              </a:rPr>
              <a:t>System.exit</a:t>
            </a: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(0);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solidFill>
                  <a:srgbClr val="0070C0"/>
                </a:solidFill>
                <a:latin typeface="Courier" pitchFamily="2" charset="0"/>
              </a:rPr>
              <a:t>		}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rPr>
              <a:t>// Create a file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PrintWriter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 output = new 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PrintWriter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(file);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urier" pitchFamily="2" charset="0"/>
              </a:rPr>
              <a:t>// Write formatted output to the file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 err="1">
                <a:latin typeface="Courier" pitchFamily="2" charset="0"/>
              </a:rPr>
              <a:t>output.printf</a:t>
            </a:r>
            <a:r>
              <a:rPr lang="en-US" sz="2000" dirty="0">
                <a:latin typeface="Courier" pitchFamily="2" charset="0"/>
              </a:rPr>
              <a:t>("%-15s %-15s\</a:t>
            </a:r>
            <a:r>
              <a:rPr lang="en-US" sz="2000" dirty="0" err="1">
                <a:latin typeface="Courier" pitchFamily="2" charset="0"/>
              </a:rPr>
              <a:t>n","Name","Phone</a:t>
            </a:r>
            <a:r>
              <a:rPr lang="en-US" sz="2000" dirty="0">
                <a:latin typeface="Courier" pitchFamily="2" charset="0"/>
              </a:rPr>
              <a:t> Number");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 err="1">
                <a:latin typeface="Courier" pitchFamily="2" charset="0"/>
              </a:rPr>
              <a:t>output.printf</a:t>
            </a:r>
            <a:r>
              <a:rPr lang="en-US" sz="2000" dirty="0">
                <a:latin typeface="Courier" pitchFamily="2" charset="0"/>
              </a:rPr>
              <a:t>("%-15s %-15s\</a:t>
            </a:r>
            <a:r>
              <a:rPr lang="en-US" sz="2000" dirty="0" err="1">
                <a:latin typeface="Courier" pitchFamily="2" charset="0"/>
              </a:rPr>
              <a:t>n","Ah</a:t>
            </a:r>
            <a:r>
              <a:rPr lang="en-US" sz="2000" dirty="0">
                <a:latin typeface="Courier" pitchFamily="2" charset="0"/>
              </a:rPr>
              <a:t> Chong","012-2121669");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 err="1">
                <a:latin typeface="Courier" pitchFamily="2" charset="0"/>
              </a:rPr>
              <a:t>output.printf</a:t>
            </a:r>
            <a:r>
              <a:rPr lang="en-US" sz="2000" dirty="0">
                <a:latin typeface="Courier" pitchFamily="2" charset="0"/>
              </a:rPr>
              <a:t>("%-15s %-15s\</a:t>
            </a:r>
            <a:r>
              <a:rPr lang="en-US" sz="2000" dirty="0" err="1">
                <a:latin typeface="Courier" pitchFamily="2" charset="0"/>
              </a:rPr>
              <a:t>n","Ahmad</a:t>
            </a:r>
            <a:r>
              <a:rPr lang="en-US" sz="2000" dirty="0">
                <a:latin typeface="Courier" pitchFamily="2" charset="0"/>
              </a:rPr>
              <a:t> Jais","016-21634340");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	</a:t>
            </a:r>
            <a:r>
              <a:rPr lang="en-US" sz="2000" dirty="0" err="1">
                <a:solidFill>
                  <a:srgbClr val="FF0000"/>
                </a:solidFill>
                <a:latin typeface="Courier" pitchFamily="2" charset="0"/>
              </a:rPr>
              <a:t>output.close</a:t>
            </a:r>
            <a:r>
              <a:rPr lang="en-US" sz="2000" dirty="0">
                <a:solidFill>
                  <a:srgbClr val="FF0000"/>
                </a:solidFill>
                <a:latin typeface="Courier" pitchFamily="2" charset="0"/>
              </a:rPr>
              <a:t>();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	}</a:t>
            </a:r>
          </a:p>
          <a:p>
            <a:pPr marL="798017" indent="-798017">
              <a:lnSpc>
                <a:spcPct val="90000"/>
              </a:lnSpc>
              <a:buClr>
                <a:schemeClr val="bg2"/>
              </a:buClr>
              <a:buFont typeface="Monotype Sorts" pitchFamily="2" charset="2"/>
              <a:buAutoNum type="arabicPeriod"/>
              <a:defRPr/>
            </a:pPr>
            <a:r>
              <a:rPr lang="en-US" sz="2000" dirty="0">
                <a:latin typeface="Courier" pitchFamily="2" charset="0"/>
              </a:rPr>
              <a:t>}</a:t>
            </a:r>
          </a:p>
        </p:txBody>
      </p:sp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3125155" y="1905296"/>
            <a:ext cx="4567647" cy="2485708"/>
            <a:chOff x="2230696" y="1693440"/>
            <a:chExt cx="3480754" cy="1894142"/>
          </a:xfrm>
        </p:grpSpPr>
        <p:sp>
          <p:nvSpPr>
            <p:cNvPr id="12" name="Oval 11"/>
            <p:cNvSpPr/>
            <p:nvPr/>
          </p:nvSpPr>
          <p:spPr>
            <a:xfrm>
              <a:off x="2230696" y="1693440"/>
              <a:ext cx="584308" cy="381055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MY" sz="3150">
                <a:solidFill>
                  <a:srgbClr val="FFFFFF"/>
                </a:solidFill>
              </a:endParaRPr>
            </a:p>
          </p:txBody>
        </p:sp>
        <p:sp>
          <p:nvSpPr>
            <p:cNvPr id="13" name="Oval 12"/>
            <p:cNvSpPr/>
            <p:nvPr/>
          </p:nvSpPr>
          <p:spPr>
            <a:xfrm>
              <a:off x="5044576" y="3206527"/>
              <a:ext cx="666874" cy="381055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MY" sz="3150">
                <a:solidFill>
                  <a:srgbClr val="FFFFFF"/>
                </a:solidFill>
              </a:endParaRPr>
            </a:p>
          </p:txBody>
        </p:sp>
        <p:cxnSp>
          <p:nvCxnSpPr>
            <p:cNvPr id="14" name="Straight Arrow Connector 13"/>
            <p:cNvCxnSpPr>
              <a:stCxn id="12" idx="5"/>
              <a:endCxn id="13" idx="1"/>
            </p:cNvCxnSpPr>
            <p:nvPr/>
          </p:nvCxnSpPr>
          <p:spPr>
            <a:xfrm>
              <a:off x="2729435" y="2018691"/>
              <a:ext cx="2412802" cy="1243640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2762150" y="3883605"/>
            <a:ext cx="2397129" cy="2535950"/>
            <a:chOff x="1866899" y="3553707"/>
            <a:chExt cx="1826386" cy="1932693"/>
          </a:xfrm>
        </p:grpSpPr>
        <p:sp>
          <p:nvSpPr>
            <p:cNvPr id="19" name="Oval 18"/>
            <p:cNvSpPr/>
            <p:nvPr/>
          </p:nvSpPr>
          <p:spPr>
            <a:xfrm>
              <a:off x="2855084" y="3553707"/>
              <a:ext cx="838201" cy="38110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MY" sz="3150">
                <a:solidFill>
                  <a:srgbClr val="FFFFFF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1866899" y="3961973"/>
              <a:ext cx="838200" cy="1524427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MY" sz="3150">
                <a:solidFill>
                  <a:srgbClr val="FFFFFF"/>
                </a:solidFill>
              </a:endParaRPr>
            </a:p>
          </p:txBody>
        </p:sp>
        <p:cxnSp>
          <p:nvCxnSpPr>
            <p:cNvPr id="21" name="Straight Arrow Connector 20"/>
            <p:cNvCxnSpPr>
              <a:stCxn id="19" idx="3"/>
            </p:cNvCxnSpPr>
            <p:nvPr/>
          </p:nvCxnSpPr>
          <p:spPr>
            <a:xfrm flipH="1">
              <a:off x="2550283" y="3879236"/>
              <a:ext cx="427038" cy="497026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272" name="Group 54271"/>
          <p:cNvGrpSpPr>
            <a:grpSpLocks/>
          </p:cNvGrpSpPr>
          <p:nvPr/>
        </p:nvGrpSpPr>
        <p:grpSpPr bwMode="auto">
          <a:xfrm>
            <a:off x="3454552" y="1506243"/>
            <a:ext cx="4226504" cy="1565491"/>
            <a:chOff x="2071050" y="1482160"/>
            <a:chExt cx="3220194" cy="1192467"/>
          </a:xfrm>
        </p:grpSpPr>
        <p:grpSp>
          <p:nvGrpSpPr>
            <p:cNvPr id="54280" name="Group 5"/>
            <p:cNvGrpSpPr>
              <a:grpSpLocks/>
            </p:cNvGrpSpPr>
            <p:nvPr/>
          </p:nvGrpSpPr>
          <p:grpSpPr bwMode="auto">
            <a:xfrm>
              <a:off x="2071050" y="1482160"/>
              <a:ext cx="1891522" cy="657229"/>
              <a:chOff x="2071050" y="1482160"/>
              <a:chExt cx="1891522" cy="657229"/>
            </a:xfrm>
          </p:grpSpPr>
          <p:sp>
            <p:nvSpPr>
              <p:cNvPr id="2" name="Oval 1"/>
              <p:cNvSpPr/>
              <p:nvPr/>
            </p:nvSpPr>
            <p:spPr>
              <a:xfrm>
                <a:off x="2071050" y="1482160"/>
                <a:ext cx="838198" cy="380908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MY" sz="3150">
                  <a:solidFill>
                    <a:srgbClr val="FFFFFF"/>
                  </a:solidFill>
                </a:endParaRPr>
              </a:p>
            </p:txBody>
          </p:sp>
          <p:sp>
            <p:nvSpPr>
              <p:cNvPr id="4" name="Oval 3"/>
              <p:cNvSpPr/>
              <p:nvPr/>
            </p:nvSpPr>
            <p:spPr>
              <a:xfrm>
                <a:off x="3124374" y="1758481"/>
                <a:ext cx="838198" cy="380908"/>
              </a:xfrm>
              <a:prstGeom prst="ellipse">
                <a:avLst/>
              </a:prstGeom>
              <a:noFill/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MY" sz="3150">
                  <a:solidFill>
                    <a:srgbClr val="FFFFFF"/>
                  </a:solidFill>
                </a:endParaRPr>
              </a:p>
            </p:txBody>
          </p:sp>
          <p:cxnSp>
            <p:nvCxnSpPr>
              <p:cNvPr id="5" name="Straight Arrow Connector 4"/>
              <p:cNvCxnSpPr>
                <a:stCxn id="2" idx="5"/>
                <a:endCxn id="4" idx="1"/>
              </p:cNvCxnSpPr>
              <p:nvPr/>
            </p:nvCxnSpPr>
            <p:spPr>
              <a:xfrm>
                <a:off x="2786497" y="1807285"/>
                <a:ext cx="460628" cy="6978"/>
              </a:xfrm>
              <a:prstGeom prst="straightConnector1">
                <a:avLst/>
              </a:prstGeom>
              <a:ln w="28575">
                <a:solidFill>
                  <a:srgbClr val="00B05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Oval 29"/>
            <p:cNvSpPr/>
            <p:nvPr/>
          </p:nvSpPr>
          <p:spPr>
            <a:xfrm>
              <a:off x="4453044" y="2293719"/>
              <a:ext cx="838200" cy="380908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MY" sz="3150">
                <a:solidFill>
                  <a:srgbClr val="FFFFFF"/>
                </a:solidFill>
              </a:endParaRPr>
            </a:p>
          </p:txBody>
        </p:sp>
        <p:cxnSp>
          <p:nvCxnSpPr>
            <p:cNvPr id="31" name="Straight Arrow Connector 30"/>
            <p:cNvCxnSpPr>
              <a:stCxn id="4" idx="6"/>
              <a:endCxn id="30" idx="1"/>
            </p:cNvCxnSpPr>
            <p:nvPr/>
          </p:nvCxnSpPr>
          <p:spPr>
            <a:xfrm>
              <a:off x="3962576" y="1948934"/>
              <a:ext cx="613220" cy="400567"/>
            </a:xfrm>
            <a:prstGeom prst="straightConnector1">
              <a:avLst/>
            </a:prstGeom>
            <a:ln w="28575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569752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1075134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Try-with-resources</a:t>
            </a:r>
          </a:p>
        </p:txBody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027" y="1600200"/>
            <a:ext cx="12997021" cy="4700588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Programmers often forget to close the file. JDK 7 provides the followings new try-with-resources syntax that automatically closes the files. </a:t>
            </a:r>
          </a:p>
          <a:p>
            <a:pPr marL="0" indent="0" algn="just">
              <a:buNone/>
            </a:pPr>
            <a:r>
              <a:rPr lang="en-AU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(declare and create resources) {</a:t>
            </a:r>
          </a:p>
          <a:p>
            <a:pPr marL="0" indent="0" algn="just"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Use the resource to process the file;</a:t>
            </a:r>
          </a:p>
          <a:p>
            <a:pPr marL="0" indent="0" algn="just"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 algn="just">
              <a:buNone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565" name="AutoShape 10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11742923" y="7100888"/>
            <a:ext cx="1045082" cy="445889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29607" tIns="64804" rIns="129607" bIns="6480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Book Antiqua" pitchFamily="18" charset="0"/>
              </a:rPr>
              <a:t>Run</a:t>
            </a:r>
            <a:endParaRPr lang="en-US" altLang="en-US" sz="2600"/>
          </a:p>
        </p:txBody>
      </p:sp>
      <p:sp>
        <p:nvSpPr>
          <p:cNvPr id="66566" name="Rectangle 8">
            <a:hlinkClick r:id="rId3"/>
          </p:cNvPr>
          <p:cNvSpPr>
            <a:spLocks noChangeArrowheads="1"/>
          </p:cNvSpPr>
          <p:nvPr/>
        </p:nvSpPr>
        <p:spPr bwMode="auto">
          <a:xfrm>
            <a:off x="6840538" y="7073801"/>
            <a:ext cx="4631614" cy="50006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129607" tIns="64804" rIns="129607" bIns="64804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WriteDataWithAutoClose</a:t>
            </a:r>
          </a:p>
        </p:txBody>
      </p:sp>
    </p:spTree>
    <p:extLst>
      <p:ext uri="{BB962C8B-B14F-4D97-AF65-F5344CB8AC3E}">
        <p14:creationId xmlns:p14="http://schemas.microsoft.com/office/powerpoint/2010/main" val="177848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439862" y="29171"/>
            <a:ext cx="10801350" cy="737592"/>
          </a:xfrm>
        </p:spPr>
        <p:txBody>
          <a:bodyPr/>
          <a:lstStyle/>
          <a:p>
            <a:pPr algn="ctr"/>
            <a:r>
              <a:rPr lang="en-US" alt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from a Text File</a:t>
            </a:r>
            <a:endParaRPr lang="en-GB" altLang="en-US" sz="4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>
          <a:xfrm>
            <a:off x="958553" y="1233487"/>
            <a:ext cx="12267590" cy="7000875"/>
          </a:xfrm>
        </p:spPr>
        <p:txBody>
          <a:bodyPr/>
          <a:lstStyle/>
          <a:p>
            <a:r>
              <a:rPr lang="en-US" alt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Scanner</a:t>
            </a:r>
          </a:p>
          <a:p>
            <a:pPr lvl="1"/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the argument </a:t>
            </a:r>
            <a:r>
              <a:rPr lang="en-US" altLang="en-US" sz="3600" dirty="0" err="1">
                <a:latin typeface="Consolas" pitchFamily="49" charset="0"/>
                <a:cs typeface="Times New Roman" panose="02020603050405020304" pitchFamily="18" charset="0"/>
              </a:rPr>
              <a:t>System.in</a:t>
            </a:r>
            <a:r>
              <a:rPr lang="en-US" altLang="en-US" sz="3600" dirty="0">
                <a:latin typeface="Courier" pitchFamily="2" charset="0"/>
                <a:cs typeface="Times New Roman" panose="02020603050405020304" pitchFamily="18" charset="0"/>
              </a:rPr>
              <a:t> 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suitable stream that is connected to the text file.</a:t>
            </a:r>
          </a:p>
          <a:p>
            <a:pPr lvl="2">
              <a:buFontTx/>
              <a:buNone/>
            </a:pPr>
            <a:r>
              <a:rPr lang="en-US" altLang="en-US" sz="3200" dirty="0">
                <a:latin typeface="Consolas" pitchFamily="49" charset="0"/>
                <a:cs typeface="Times New Roman" panose="02020603050405020304" pitchFamily="18" charset="0"/>
              </a:rPr>
              <a:t>Scanner input = new Scanner (file);</a:t>
            </a:r>
          </a:p>
          <a:p>
            <a:pPr lvl="2">
              <a:buFontTx/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US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>
              <a:buFontTx/>
              <a:buNone/>
            </a:pPr>
            <a:r>
              <a:rPr lang="en-US" altLang="en-US" sz="3200" dirty="0">
                <a:latin typeface="Consolas" pitchFamily="49" charset="0"/>
                <a:cs typeface="Times New Roman" panose="02020603050405020304" pitchFamily="18" charset="0"/>
              </a:rPr>
              <a:t>Scanner input = new Scanner (</a:t>
            </a:r>
            <a:br>
              <a:rPr lang="en-US" altLang="en-US" sz="3200" dirty="0">
                <a:latin typeface="Consolas" pitchFamily="49" charset="0"/>
                <a:cs typeface="Times New Roman" panose="02020603050405020304" pitchFamily="18" charset="0"/>
              </a:rPr>
            </a:br>
            <a:r>
              <a:rPr lang="en-US" altLang="en-US" sz="3200" dirty="0">
                <a:latin typeface="Consolas" pitchFamily="49" charset="0"/>
                <a:cs typeface="Times New Roman" panose="02020603050405020304" pitchFamily="18" charset="0"/>
              </a:rPr>
              <a:t>new </a:t>
            </a:r>
            <a:r>
              <a:rPr lang="en-US" altLang="en-US" sz="3200" dirty="0" err="1">
                <a:latin typeface="Consolas" pitchFamily="49" charset="0"/>
                <a:cs typeface="Times New Roman" panose="02020603050405020304" pitchFamily="18" charset="0"/>
              </a:rPr>
              <a:t>java.io.File</a:t>
            </a:r>
            <a:r>
              <a:rPr lang="en-US" altLang="en-US" sz="3200" dirty="0">
                <a:latin typeface="Consolas" pitchFamily="49" charset="0"/>
                <a:cs typeface="Times New Roman" panose="02020603050405020304" pitchFamily="18" charset="0"/>
              </a:rPr>
              <a:t>("scores.txt"));</a:t>
            </a:r>
            <a:endParaRPr lang="en-GB" altLang="en-US" sz="3200" dirty="0">
              <a:latin typeface="Consolas" pitchFamily="49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488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Content Placeholder 2"/>
          <p:cNvSpPr>
            <a:spLocks noGrp="1"/>
          </p:cNvSpPr>
          <p:nvPr>
            <p:ph idx="1"/>
          </p:nvPr>
        </p:nvSpPr>
        <p:spPr>
          <a:xfrm>
            <a:off x="927299" y="395883"/>
            <a:ext cx="11816061" cy="7621786"/>
          </a:xfrm>
        </p:spPr>
        <p:txBody>
          <a:bodyPr/>
          <a:lstStyle/>
          <a:p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Throw </a:t>
            </a:r>
            <a:r>
              <a:rPr lang="en-US" altLang="en-US" sz="3200" dirty="0" err="1">
                <a:solidFill>
                  <a:srgbClr val="0070C0"/>
                </a:solidFill>
                <a:latin typeface="Courier" pitchFamily="2" charset="0"/>
                <a:cs typeface="Times New Roman" panose="02020603050405020304" pitchFamily="18" charset="0"/>
              </a:rPr>
              <a:t>FileNotFoundException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the file is failed to open. (you need to import </a:t>
            </a:r>
            <a:r>
              <a:rPr lang="en-US" altLang="en-US" sz="32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java.io.FileNotFoundException</a:t>
            </a:r>
            <a:r>
              <a:rPr lang="en-US" alt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Scanner input = null;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try {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	input = new Scanner(file);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}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catch (</a:t>
            </a:r>
            <a:r>
              <a:rPr lang="en-GB" altLang="en-US" dirty="0" err="1">
                <a:latin typeface="Courier" pitchFamily="2" charset="0"/>
                <a:cs typeface="Times New Roman" panose="02020603050405020304" pitchFamily="18" charset="0"/>
              </a:rPr>
              <a:t>FileNotFoundException</a:t>
            </a: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 e) {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	</a:t>
            </a:r>
            <a:r>
              <a:rPr lang="en-GB" altLang="en-US" dirty="0" err="1">
                <a:latin typeface="Courier" pitchFamily="2" charset="0"/>
                <a:cs typeface="Times New Roman" panose="02020603050405020304" pitchFamily="18" charset="0"/>
              </a:rPr>
              <a:t>System.out.println</a:t>
            </a: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(file + " not found");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	</a:t>
            </a:r>
            <a:r>
              <a:rPr lang="en-GB" altLang="en-US" dirty="0" err="1">
                <a:latin typeface="Courier" pitchFamily="2" charset="0"/>
                <a:cs typeface="Times New Roman" panose="02020603050405020304" pitchFamily="18" charset="0"/>
              </a:rPr>
              <a:t>System.exit</a:t>
            </a: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(0);</a:t>
            </a:r>
          </a:p>
          <a:p>
            <a:pPr lvl="1">
              <a:buFont typeface="Monotype Sorts" pitchFamily="2" charset="2"/>
              <a:buNone/>
            </a:pPr>
            <a:r>
              <a:rPr lang="en-GB" altLang="en-US" dirty="0">
                <a:latin typeface="Courier" pitchFamily="2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5267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400050"/>
            <a:ext cx="11628914" cy="800100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Using </a:t>
            </a:r>
            <a:r>
              <a:rPr lang="en-US" alt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4275336" y="3450431"/>
            <a:ext cx="13681075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9607" tIns="64804" rIns="129607" bIns="64804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4061569" y="3375422"/>
            <a:ext cx="13681075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29607" tIns="64804" rIns="129607" bIns="64804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sp>
        <p:nvSpPr>
          <p:cNvPr id="67590" name="Rectangle 5"/>
          <p:cNvSpPr>
            <a:spLocks noChangeArrowheads="1"/>
          </p:cNvSpPr>
          <p:nvPr/>
        </p:nvSpPr>
        <p:spPr bwMode="auto">
          <a:xfrm>
            <a:off x="0" y="2658744"/>
            <a:ext cx="261810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9607" tIns="64804" rIns="129607" bIns="64804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graphicFrame>
        <p:nvGraphicFramePr>
          <p:cNvPr id="67591" name="Object 6"/>
          <p:cNvGraphicFramePr>
            <a:graphicFrameLocks noChangeAspect="1"/>
          </p:cNvGraphicFramePr>
          <p:nvPr/>
        </p:nvGraphicFramePr>
        <p:xfrm>
          <a:off x="346777" y="1496020"/>
          <a:ext cx="12987521" cy="58423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Picture" r:id="rId2" imgW="4508500" imgH="2311400" progId="Word.Picture.8">
                  <p:embed/>
                </p:oleObj>
              </mc:Choice>
              <mc:Fallback>
                <p:oleObj name="Picture" r:id="rId2" imgW="4508500" imgH="2311400" progId="Word.Picture.8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77" y="1496020"/>
                        <a:ext cx="12987521" cy="58423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592" name="AutoShape 10">
            <a:hlinkClick r:id="rId4" action="ppaction://program" highlightClick="1"/>
          </p:cNvPr>
          <p:cNvSpPr>
            <a:spLocks noChangeArrowheads="1"/>
          </p:cNvSpPr>
          <p:nvPr/>
        </p:nvSpPr>
        <p:spPr bwMode="auto">
          <a:xfrm>
            <a:off x="11472151" y="7611369"/>
            <a:ext cx="1045082" cy="445889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29607" tIns="64804" rIns="129607" bIns="6480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Book Antiqua" pitchFamily="18" charset="0"/>
              </a:rPr>
              <a:t>Run</a:t>
            </a:r>
            <a:endParaRPr lang="en-US" altLang="en-US" sz="2600"/>
          </a:p>
        </p:txBody>
      </p:sp>
      <p:sp>
        <p:nvSpPr>
          <p:cNvPr id="67593" name="Rectangle 11">
            <a:hlinkClick r:id="rId5"/>
          </p:cNvPr>
          <p:cNvSpPr>
            <a:spLocks noChangeArrowheads="1"/>
          </p:cNvSpPr>
          <p:nvPr/>
        </p:nvSpPr>
        <p:spPr bwMode="auto">
          <a:xfrm>
            <a:off x="9191972" y="7584281"/>
            <a:ext cx="2007033" cy="50006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129607" tIns="64804" rIns="129607" bIns="64804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ReadData</a:t>
            </a:r>
          </a:p>
        </p:txBody>
      </p:sp>
    </p:spTree>
    <p:extLst>
      <p:ext uri="{BB962C8B-B14F-4D97-AF65-F5344CB8AC3E}">
        <p14:creationId xmlns:p14="http://schemas.microsoft.com/office/powerpoint/2010/main" val="3638194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1075134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Replacing Text</a:t>
            </a:r>
          </a:p>
        </p:txBody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027" y="1600200"/>
            <a:ext cx="12997021" cy="4700588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class named </a:t>
            </a:r>
            <a:r>
              <a:rPr lang="en-US" alt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ReplaceText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replaces a string in a text file with a new string. The filename and strings are passed as command-line arguments as follows:</a:t>
            </a:r>
            <a:endParaRPr lang="en-US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ReplaceText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sourceFile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targetFile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oldString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newString</a:t>
            </a:r>
            <a:endParaRPr lang="en-US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invoking</a:t>
            </a:r>
            <a:endParaRPr lang="en-US" alt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Tx/>
              <a:buNone/>
            </a:pP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ReplaceText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FormatString.java t.txt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lang="en-US" alt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endParaRPr lang="en-US" altLang="en-US"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all the occurrences of </a:t>
            </a:r>
            <a:r>
              <a:rPr lang="en-US" alt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StringBuilder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altLang="en-US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StringBuffer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FormatString.java and saves the new file in t.txt.</a:t>
            </a:r>
          </a:p>
        </p:txBody>
      </p:sp>
      <p:sp>
        <p:nvSpPr>
          <p:cNvPr id="68613" name="AutoShape 10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11199006" y="7336335"/>
            <a:ext cx="1045082" cy="445889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29607" tIns="64804" rIns="129607" bIns="6480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Book Antiqua" pitchFamily="18" charset="0"/>
              </a:rPr>
              <a:t>Run</a:t>
            </a:r>
            <a:endParaRPr lang="en-US" altLang="en-US" sz="2600"/>
          </a:p>
        </p:txBody>
      </p:sp>
      <p:sp>
        <p:nvSpPr>
          <p:cNvPr id="68614" name="Rectangle 8">
            <a:hlinkClick r:id="rId3"/>
          </p:cNvPr>
          <p:cNvSpPr>
            <a:spLocks noChangeArrowheads="1"/>
          </p:cNvSpPr>
          <p:nvPr/>
        </p:nvSpPr>
        <p:spPr bwMode="auto">
          <a:xfrm>
            <a:off x="8279901" y="7309247"/>
            <a:ext cx="2648334" cy="50006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129607" tIns="64804" rIns="129607" bIns="64804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ReplaceText</a:t>
            </a:r>
          </a:p>
        </p:txBody>
      </p:sp>
    </p:spTree>
    <p:extLst>
      <p:ext uri="{BB962C8B-B14F-4D97-AF65-F5344CB8AC3E}">
        <p14:creationId xmlns:p14="http://schemas.microsoft.com/office/powerpoint/2010/main" val="2736704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1075134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from the Web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027" y="1600200"/>
            <a:ext cx="12997021" cy="1373165"/>
          </a:xfrm>
        </p:spPr>
        <p:txBody>
          <a:bodyPr/>
          <a:lstStyle/>
          <a:p>
            <a:pPr marL="0" indent="0" algn="just">
              <a:lnSpc>
                <a:spcPct val="90000"/>
              </a:lnSpc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like you can read data from a file on your computer, you can read data from a file on the Web.</a:t>
            </a:r>
          </a:p>
        </p:txBody>
      </p:sp>
      <p:sp>
        <p:nvSpPr>
          <p:cNvPr id="69637" name="Rectangle 7"/>
          <p:cNvSpPr>
            <a:spLocks noChangeArrowheads="1"/>
          </p:cNvSpPr>
          <p:nvPr/>
        </p:nvSpPr>
        <p:spPr bwMode="auto">
          <a:xfrm>
            <a:off x="0" y="2973365"/>
            <a:ext cx="261810" cy="654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29607" tIns="64804" rIns="129607" bIns="64804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3400"/>
          </a:p>
        </p:txBody>
      </p:sp>
      <p:pic>
        <p:nvPicPr>
          <p:cNvPr id="69638" name="Picture 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045" y="4000500"/>
            <a:ext cx="12206085" cy="340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40966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>
          <a:xfrm>
            <a:off x="1026081" y="200025"/>
            <a:ext cx="11628914" cy="1075134"/>
          </a:xfrm>
        </p:spPr>
        <p:txBody>
          <a:bodyPr lIns="129607" tIns="64804" rIns="129607" bIns="64804"/>
          <a:lstStyle/>
          <a:p>
            <a:pPr algn="ctr"/>
            <a:r>
              <a:rPr lang="en-US" alt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Data from the Web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42027" y="1600200"/>
            <a:ext cx="12997021" cy="4700588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URL(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"www.google.com/index.html"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is created, you can use the </a:t>
            </a:r>
            <a:r>
              <a:rPr lang="en-US" altLang="en-US" sz="4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openStream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defined in the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class to open an input stream and use this stream to create a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as follows: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Scanner input =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Scanner(</a:t>
            </a:r>
            <a:r>
              <a:rPr lang="en-US" alt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url.openStream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());</a:t>
            </a:r>
          </a:p>
        </p:txBody>
      </p:sp>
      <p:sp>
        <p:nvSpPr>
          <p:cNvPr id="70661" name="AutoShape 10">
            <a:hlinkClick r:id="rId2" action="ppaction://program" highlightClick="1"/>
          </p:cNvPr>
          <p:cNvSpPr>
            <a:spLocks noChangeArrowheads="1"/>
          </p:cNvSpPr>
          <p:nvPr/>
        </p:nvSpPr>
        <p:spPr bwMode="auto">
          <a:xfrm>
            <a:off x="8721685" y="6427888"/>
            <a:ext cx="1045082" cy="445889"/>
          </a:xfrm>
          <a:prstGeom prst="actionButtonBlank">
            <a:avLst/>
          </a:prstGeom>
          <a:solidFill>
            <a:srgbClr val="38A1BA"/>
          </a:solidFill>
          <a:ln>
            <a:noFill/>
          </a:ln>
          <a:effectLst>
            <a:prstShdw prst="shdw17" dist="17961" dir="2700000">
              <a:srgbClr val="226170"/>
            </a:prstShdw>
          </a:effectLst>
          <a:extLs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 lIns="129607" tIns="64804" rIns="129607" bIns="64804" anchor="ctr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latin typeface="Book Antiqua" pitchFamily="18" charset="0"/>
              </a:rPr>
              <a:t>Run</a:t>
            </a:r>
            <a:endParaRPr lang="en-US" altLang="en-US" sz="2600"/>
          </a:p>
        </p:txBody>
      </p:sp>
      <p:sp>
        <p:nvSpPr>
          <p:cNvPr id="70662" name="Rectangle 8">
            <a:hlinkClick r:id="rId3"/>
          </p:cNvPr>
          <p:cNvSpPr>
            <a:spLocks noChangeArrowheads="1"/>
          </p:cNvSpPr>
          <p:nvPr/>
        </p:nvSpPr>
        <p:spPr bwMode="auto">
          <a:xfrm>
            <a:off x="4902386" y="6400800"/>
            <a:ext cx="3548529" cy="500063"/>
          </a:xfrm>
          <a:prstGeom prst="rect">
            <a:avLst/>
          </a:prstGeom>
          <a:solidFill>
            <a:srgbClr val="92D05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round/>
                <a:headEnd type="none" w="sm" len="sm"/>
                <a:tailEnd type="none" w="sm" len="sm"/>
              </a14:hiddenLine>
            </a:ext>
          </a:extLst>
        </p:spPr>
        <p:txBody>
          <a:bodyPr lIns="129607" tIns="64804" rIns="129607" bIns="64804"/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/>
              <a:buChar char="F"/>
              <a:defRPr sz="32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/>
              <a:buChar char="u"/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ReadFileFromURL</a:t>
            </a:r>
          </a:p>
        </p:txBody>
      </p:sp>
    </p:spTree>
    <p:extLst>
      <p:ext uri="{BB962C8B-B14F-4D97-AF65-F5344CB8AC3E}">
        <p14:creationId xmlns:p14="http://schemas.microsoft.com/office/powerpoint/2010/main" val="218439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84054" y="4762"/>
            <a:ext cx="12312968" cy="10668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Exercise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90644" y="1293541"/>
            <a:ext cx="12654995" cy="7025269"/>
          </a:xfrm>
        </p:spPr>
        <p:txBody>
          <a:bodyPr/>
          <a:lstStyle/>
          <a:p>
            <a:r>
              <a:rPr lang="en-US" sz="3500" dirty="0"/>
              <a:t>Write a program that read student’s score from an input file. This file contains </a:t>
            </a:r>
            <a:r>
              <a:rPr lang="en-US" sz="3500" dirty="0">
                <a:solidFill>
                  <a:srgbClr val="0000CC"/>
                </a:solidFill>
              </a:rPr>
              <a:t>the student name (in one line)</a:t>
            </a:r>
            <a:r>
              <a:rPr lang="en-US" sz="3500" dirty="0"/>
              <a:t>, student </a:t>
            </a:r>
            <a:r>
              <a:rPr lang="en-US" sz="3500" dirty="0" err="1"/>
              <a:t>matric</a:t>
            </a:r>
            <a:r>
              <a:rPr lang="en-US" sz="3500" dirty="0"/>
              <a:t> number, scores for first test (20%), second test (20%), lab assignment (20%) and final exam (40%). Your program need to find the total scores for each student and grade based on the total scores. Write in the output file </a:t>
            </a:r>
            <a:r>
              <a:rPr lang="en-US" sz="3500" dirty="0">
                <a:solidFill>
                  <a:srgbClr val="0000CC"/>
                </a:solidFill>
              </a:rPr>
              <a:t>the student name (in </a:t>
            </a:r>
            <a:r>
              <a:rPr lang="en-US" sz="3500">
                <a:solidFill>
                  <a:srgbClr val="0000CC"/>
                </a:solidFill>
              </a:rPr>
              <a:t>one line)</a:t>
            </a:r>
            <a:r>
              <a:rPr lang="en-US" sz="3500"/>
              <a:t>, </a:t>
            </a:r>
            <a:r>
              <a:rPr lang="en-US" sz="3500" dirty="0" err="1"/>
              <a:t>matric</a:t>
            </a:r>
            <a:r>
              <a:rPr lang="en-US" sz="3500" dirty="0"/>
              <a:t> number, total score and grade.</a:t>
            </a:r>
            <a:endParaRPr lang="en-GB" sz="3500" dirty="0"/>
          </a:p>
          <a:p>
            <a:endParaRPr lang="en-GB" sz="3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684054" y="4762"/>
            <a:ext cx="12312968" cy="106680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0000FF"/>
                </a:solidFill>
              </a:rPr>
              <a:t>Summary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>
          <a:xfrm>
            <a:off x="490644" y="1293541"/>
            <a:ext cx="12654995" cy="7025269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sz="3500" dirty="0"/>
              <a:t>Read data from input file.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500" dirty="0"/>
              <a:t>Process data.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3500" dirty="0"/>
              <a:t>Write results to output file.</a:t>
            </a:r>
          </a:p>
          <a:p>
            <a:pPr marL="514350" indent="-514350">
              <a:buFont typeface="+mj-lt"/>
              <a:buAutoNum type="arabicPeriod"/>
            </a:pPr>
            <a:endParaRPr lang="en-GB" sz="3500" dirty="0"/>
          </a:p>
          <a:p>
            <a:pPr marL="514350" indent="-514350"/>
            <a:r>
              <a:rPr lang="en-GB" sz="3500" dirty="0"/>
              <a:t>Makes use of a computer’s ability to process large amounts of data quickly and reliably.</a:t>
            </a:r>
          </a:p>
          <a:p>
            <a:pPr marL="974725" lvl="1" indent="-514350"/>
            <a:endParaRPr lang="en-GB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709738" y="2200275"/>
            <a:ext cx="10450512" cy="1700213"/>
          </a:xfrm>
          <a:noFill/>
        </p:spPr>
        <p:txBody>
          <a:bodyPr/>
          <a:lstStyle/>
          <a:p>
            <a:pPr algn="ctr" eaLnBrk="1" hangingPunct="1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</a:t>
            </a:r>
            <a:r>
              <a:rPr lang="en-US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Chapter 6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ransition>
    <p:rand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TRANSITION" val="DemoPipes.p3d 0"/>
  <p:tag name="POWER3D OPTIONS" val="Medium "/>
  <p:tag name="POWER3D IMAGE0" val="Pwrtrans.tga"/>
  <p:tag name="POWER3D SOUND" val="Pip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TRANSITION" val="DemoPipes.p3d 0"/>
  <p:tag name="POWER3D OPTIONS" val="Medium "/>
  <p:tag name="POWER3D IMAGE0" val="Pwrtrans.tga"/>
  <p:tag name="POWER3D SOUND" val="Pipes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3D TRANSITION" val="DemoPipes.p3d 0"/>
  <p:tag name="POWER3D OPTIONS" val="Medium "/>
  <p:tag name="POWER3D IMAGE0" val="Pwrtrans.tga"/>
  <p:tag name="POWER3D SOUND" val="Pipes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21081</TotalTime>
  <Words>1053</Words>
  <Application>Microsoft Office PowerPoint</Application>
  <PresentationFormat>Custom</PresentationFormat>
  <Paragraphs>123</Paragraphs>
  <Slides>20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Book Antiqua</vt:lpstr>
      <vt:lpstr>Consolas</vt:lpstr>
      <vt:lpstr>Courier</vt:lpstr>
      <vt:lpstr>Monotype Sorts</vt:lpstr>
      <vt:lpstr>Tahoma</vt:lpstr>
      <vt:lpstr>Times New Roman</vt:lpstr>
      <vt:lpstr>Wingdings</vt:lpstr>
      <vt:lpstr>Blends</vt:lpstr>
      <vt:lpstr>PBrush</vt:lpstr>
      <vt:lpstr>Picture</vt:lpstr>
      <vt:lpstr>PowerPoint Presentation</vt:lpstr>
      <vt:lpstr>Learning Objectives</vt:lpstr>
      <vt:lpstr>The File Class</vt:lpstr>
      <vt:lpstr>The File class</vt:lpstr>
      <vt:lpstr>Obtaining file properties and manipulating file</vt:lpstr>
      <vt:lpstr>Problem: Explore File Properties</vt:lpstr>
      <vt:lpstr>Text I/O</vt:lpstr>
      <vt:lpstr>Writing to a Text File</vt:lpstr>
      <vt:lpstr>Writing Data Using PrintWriter </vt:lpstr>
      <vt:lpstr>PowerPoint Presentation</vt:lpstr>
      <vt:lpstr>Try-with-resources</vt:lpstr>
      <vt:lpstr>Reading from a Text File</vt:lpstr>
      <vt:lpstr>PowerPoint Presentation</vt:lpstr>
      <vt:lpstr>Reading Data Using Scanner </vt:lpstr>
      <vt:lpstr>Problem: Replacing Text</vt:lpstr>
      <vt:lpstr>Reading Data from the Web</vt:lpstr>
      <vt:lpstr>Reading Data from the Web</vt:lpstr>
      <vt:lpstr>Exercise</vt:lpstr>
      <vt:lpstr>Summary</vt:lpstr>
      <vt:lpstr>End of Chapter 6</vt:lpstr>
    </vt:vector>
  </TitlesOfParts>
  <Company>Minotaur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Introduction to Computer System</dc:title>
  <dc:subject>SAK 3100 Computer Programming</dc:subject>
  <dc:creator>Mohd Taufik Abdullah</dc:creator>
  <cp:lastModifiedBy>KHAIRUL AZHAR BIN KASMIRAN</cp:lastModifiedBy>
  <cp:revision>4003</cp:revision>
  <dcterms:created xsi:type="dcterms:W3CDTF">2003-01-02T20:11:59Z</dcterms:created>
  <dcterms:modified xsi:type="dcterms:W3CDTF">2025-05-13T03:29:15Z</dcterms:modified>
</cp:coreProperties>
</file>