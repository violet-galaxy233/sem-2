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7" r:id="rId2"/>
    <p:sldId id="315" r:id="rId3"/>
    <p:sldId id="258" r:id="rId4"/>
    <p:sldId id="317" r:id="rId5"/>
    <p:sldId id="262"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327" r:id="rId20"/>
    <p:sldId id="329" r:id="rId21"/>
    <p:sldId id="281" r:id="rId22"/>
    <p:sldId id="310" r:id="rId23"/>
    <p:sldId id="331" r:id="rId24"/>
    <p:sldId id="311" r:id="rId25"/>
    <p:sldId id="312" r:id="rId26"/>
    <p:sldId id="313" r:id="rId27"/>
    <p:sldId id="314" r:id="rId28"/>
    <p:sldId id="332" r:id="rId29"/>
    <p:sldId id="333" r:id="rId30"/>
    <p:sldId id="334" r:id="rId31"/>
    <p:sldId id="318" r:id="rId32"/>
    <p:sldId id="319" r:id="rId33"/>
    <p:sldId id="320" r:id="rId34"/>
    <p:sldId id="321" r:id="rId35"/>
    <p:sldId id="322" r:id="rId36"/>
    <p:sldId id="279" r:id="rId37"/>
    <p:sldId id="280" r:id="rId38"/>
    <p:sldId id="335" r:id="rId39"/>
    <p:sldId id="282" r:id="rId40"/>
    <p:sldId id="285" r:id="rId41"/>
    <p:sldId id="286" r:id="rId42"/>
    <p:sldId id="336" r:id="rId43"/>
    <p:sldId id="32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p:restoredLeft sz="5266"/>
    <p:restoredTop sz="94694"/>
  </p:normalViewPr>
  <p:slideViewPr>
    <p:cSldViewPr snapToGrid="0" snapToObjects="1">
      <p:cViewPr varScale="1">
        <p:scale>
          <a:sx n="121" d="100"/>
          <a:sy n="121" d="100"/>
        </p:scale>
        <p:origin x="1736" y="176"/>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13861-073B-4744-8165-086B81AF9772}" type="datetimeFigureOut">
              <a:rPr lang="en-US" smtClean="0"/>
              <a:pPr/>
              <a:t>4/6/2022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37022-0AF0-E94C-8F3B-DBABDFC5163D}" type="slidenum">
              <a:rPr lang="en-US" smtClean="0"/>
              <a:pPr/>
              <a:t>‹#›</a:t>
            </a:fld>
            <a:endParaRPr lang="en-US"/>
          </a:p>
        </p:txBody>
      </p:sp>
    </p:spTree>
    <p:extLst>
      <p:ext uri="{BB962C8B-B14F-4D97-AF65-F5344CB8AC3E}">
        <p14:creationId xmlns:p14="http://schemas.microsoft.com/office/powerpoint/2010/main" val="417072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A0406F-A965-4B4D-B3AA-D20F470FD358}"/>
              </a:ext>
            </a:extLst>
          </p:cNvPr>
          <p:cNvSpPr>
            <a:spLocks noGrp="1" noChangeArrowheads="1"/>
          </p:cNvSpPr>
          <p:nvPr>
            <p:ph type="sldNum" sz="quarter" idx="5"/>
          </p:nvPr>
        </p:nvSpPr>
        <p:spPr>
          <a:ln/>
        </p:spPr>
        <p:txBody>
          <a:bodyPr/>
          <a:lstStyle/>
          <a:p>
            <a:fld id="{4A3C7D7F-9575-7142-BCC1-7E3D05E183CC}" type="slidenum">
              <a:rPr lang="en-US" altLang="en-US"/>
              <a:pPr/>
              <a:t>5</a:t>
            </a:fld>
            <a:endParaRPr lang="en-US" altLang="en-US"/>
          </a:p>
        </p:txBody>
      </p:sp>
      <p:sp>
        <p:nvSpPr>
          <p:cNvPr id="13314" name="Rectangle 2">
            <a:extLst>
              <a:ext uri="{FF2B5EF4-FFF2-40B4-BE49-F238E27FC236}">
                <a16:creationId xmlns:a16="http://schemas.microsoft.com/office/drawing/2014/main" id="{930FCB70-C4A5-DC4D-A8B6-7CA8240C9EC7}"/>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285E6F47-584D-C948-844C-C21411E8F0B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9090F-AE81-8645-81E7-5A944E8F03EE}"/>
              </a:ext>
            </a:extLst>
          </p:cNvPr>
          <p:cNvSpPr>
            <a:spLocks noGrp="1" noChangeArrowheads="1"/>
          </p:cNvSpPr>
          <p:nvPr>
            <p:ph type="sldNum" sz="quarter" idx="5"/>
          </p:nvPr>
        </p:nvSpPr>
        <p:spPr>
          <a:ln/>
        </p:spPr>
        <p:txBody>
          <a:bodyPr/>
          <a:lstStyle/>
          <a:p>
            <a:fld id="{DFF6E5E0-703E-D94D-9DEF-30000F468FB3}" type="slidenum">
              <a:rPr lang="en-US" altLang="en-US"/>
              <a:pPr/>
              <a:t>6</a:t>
            </a:fld>
            <a:endParaRPr lang="en-US" altLang="en-US"/>
          </a:p>
        </p:txBody>
      </p:sp>
      <p:sp>
        <p:nvSpPr>
          <p:cNvPr id="17410" name="Rectangle 2">
            <a:extLst>
              <a:ext uri="{FF2B5EF4-FFF2-40B4-BE49-F238E27FC236}">
                <a16:creationId xmlns:a16="http://schemas.microsoft.com/office/drawing/2014/main" id="{1A89EB29-3ECD-DF41-8F24-3DE35A4448C2}"/>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15D7244F-6E2F-BB43-A28F-FFEDD8AF6DE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205E6A-7BB0-3F4D-A0EA-C1777B0219BA}"/>
              </a:ext>
            </a:extLst>
          </p:cNvPr>
          <p:cNvSpPr>
            <a:spLocks noGrp="1" noChangeArrowheads="1"/>
          </p:cNvSpPr>
          <p:nvPr>
            <p:ph type="sldNum" sz="quarter" idx="5"/>
          </p:nvPr>
        </p:nvSpPr>
        <p:spPr>
          <a:ln/>
        </p:spPr>
        <p:txBody>
          <a:bodyPr/>
          <a:lstStyle/>
          <a:p>
            <a:fld id="{35DB2113-8E42-C04E-A76C-FB8C9D814457}" type="slidenum">
              <a:rPr lang="en-US" altLang="en-US"/>
              <a:pPr/>
              <a:t>7</a:t>
            </a:fld>
            <a:endParaRPr lang="en-US" altLang="en-US"/>
          </a:p>
        </p:txBody>
      </p:sp>
      <p:sp>
        <p:nvSpPr>
          <p:cNvPr id="19458" name="Rectangle 2">
            <a:extLst>
              <a:ext uri="{FF2B5EF4-FFF2-40B4-BE49-F238E27FC236}">
                <a16:creationId xmlns:a16="http://schemas.microsoft.com/office/drawing/2014/main" id="{4E6969C7-6A77-CA4C-AC52-63D00CE598F4}"/>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0034C78D-BD00-574A-A4F3-D41B81E8EDF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855A37-5E5C-B040-A70B-B38B91A6DD44}"/>
              </a:ext>
            </a:extLst>
          </p:cNvPr>
          <p:cNvSpPr>
            <a:spLocks noGrp="1" noChangeArrowheads="1"/>
          </p:cNvSpPr>
          <p:nvPr>
            <p:ph type="sldNum" sz="quarter" idx="5"/>
          </p:nvPr>
        </p:nvSpPr>
        <p:spPr>
          <a:ln/>
        </p:spPr>
        <p:txBody>
          <a:bodyPr/>
          <a:lstStyle/>
          <a:p>
            <a:fld id="{E514D884-4B09-B944-9681-DA28FC019064}" type="slidenum">
              <a:rPr lang="en-US" altLang="en-US"/>
              <a:pPr/>
              <a:t>8</a:t>
            </a:fld>
            <a:endParaRPr lang="en-US" altLang="en-US"/>
          </a:p>
        </p:txBody>
      </p:sp>
      <p:sp>
        <p:nvSpPr>
          <p:cNvPr id="21506" name="Rectangle 2">
            <a:extLst>
              <a:ext uri="{FF2B5EF4-FFF2-40B4-BE49-F238E27FC236}">
                <a16:creationId xmlns:a16="http://schemas.microsoft.com/office/drawing/2014/main" id="{8A02248B-3316-F84A-93E7-D08C61696E6E}"/>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4CA2A5C-1764-D340-AA74-BBEBB880A2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25C1CF0-8324-E943-9D8C-21FA2E9BCDBF}"/>
              </a:ext>
            </a:extLst>
          </p:cNvPr>
          <p:cNvSpPr>
            <a:spLocks noGrp="1" noChangeArrowheads="1"/>
          </p:cNvSpPr>
          <p:nvPr>
            <p:ph type="sldNum" sz="quarter" idx="5"/>
          </p:nvPr>
        </p:nvSpPr>
        <p:spPr>
          <a:ln/>
        </p:spPr>
        <p:txBody>
          <a:bodyPr/>
          <a:lstStyle/>
          <a:p>
            <a:fld id="{AD131BA1-C095-F44F-B0AA-314C444042D8}" type="slidenum">
              <a:rPr lang="en-US" altLang="en-US"/>
              <a:pPr/>
              <a:t>9</a:t>
            </a:fld>
            <a:endParaRPr lang="en-US" altLang="en-US"/>
          </a:p>
        </p:txBody>
      </p:sp>
      <p:sp>
        <p:nvSpPr>
          <p:cNvPr id="23554" name="Rectangle 2">
            <a:extLst>
              <a:ext uri="{FF2B5EF4-FFF2-40B4-BE49-F238E27FC236}">
                <a16:creationId xmlns:a16="http://schemas.microsoft.com/office/drawing/2014/main" id="{4A757A1B-6AFB-E64C-880A-254B5199DCE8}"/>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6507D6A8-5512-2D48-8EF9-87E8ADCE09A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D71BE4-2C32-FB44-8C4F-00B11B183AB5}"/>
              </a:ext>
            </a:extLst>
          </p:cNvPr>
          <p:cNvSpPr>
            <a:spLocks noGrp="1" noChangeArrowheads="1"/>
          </p:cNvSpPr>
          <p:nvPr>
            <p:ph type="sldNum" sz="quarter" idx="5"/>
          </p:nvPr>
        </p:nvSpPr>
        <p:spPr>
          <a:ln/>
        </p:spPr>
        <p:txBody>
          <a:bodyPr/>
          <a:lstStyle/>
          <a:p>
            <a:fld id="{BADEB2DB-C75C-874C-8A23-D02147E72E48}" type="slidenum">
              <a:rPr lang="en-US" altLang="en-US"/>
              <a:pPr/>
              <a:t>10</a:t>
            </a:fld>
            <a:endParaRPr lang="en-US" altLang="en-US"/>
          </a:p>
        </p:txBody>
      </p:sp>
      <p:sp>
        <p:nvSpPr>
          <p:cNvPr id="25602" name="Rectangle 2">
            <a:extLst>
              <a:ext uri="{FF2B5EF4-FFF2-40B4-BE49-F238E27FC236}">
                <a16:creationId xmlns:a16="http://schemas.microsoft.com/office/drawing/2014/main" id="{8F28EE28-21FF-E140-982B-E67D092485B9}"/>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9850AC02-D283-1847-8E87-0CDDED39171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E1AB9D-94FB-604B-B138-38B2952C2436}"/>
              </a:ext>
            </a:extLst>
          </p:cNvPr>
          <p:cNvSpPr>
            <a:spLocks noGrp="1" noChangeArrowheads="1"/>
          </p:cNvSpPr>
          <p:nvPr>
            <p:ph type="sldNum" sz="quarter" idx="5"/>
          </p:nvPr>
        </p:nvSpPr>
        <p:spPr>
          <a:ln/>
        </p:spPr>
        <p:txBody>
          <a:bodyPr/>
          <a:lstStyle/>
          <a:p>
            <a:fld id="{DAE3BF9C-AC29-2F41-AA64-46054199AA05}" type="slidenum">
              <a:rPr lang="en-US" altLang="en-US"/>
              <a:pPr/>
              <a:t>11</a:t>
            </a:fld>
            <a:endParaRPr lang="en-US" altLang="en-US"/>
          </a:p>
        </p:txBody>
      </p:sp>
      <p:sp>
        <p:nvSpPr>
          <p:cNvPr id="27650" name="Rectangle 2">
            <a:extLst>
              <a:ext uri="{FF2B5EF4-FFF2-40B4-BE49-F238E27FC236}">
                <a16:creationId xmlns:a16="http://schemas.microsoft.com/office/drawing/2014/main" id="{62667F7A-DE56-1A47-9466-693D470687AC}"/>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6F3223C4-FB46-5944-B446-873BF89F58D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0845BE-B2E1-E94C-9EE7-42F3D38E4E09}"/>
              </a:ext>
            </a:extLst>
          </p:cNvPr>
          <p:cNvSpPr>
            <a:spLocks noGrp="1" noChangeArrowheads="1"/>
          </p:cNvSpPr>
          <p:nvPr>
            <p:ph type="sldNum" sz="quarter" idx="5"/>
          </p:nvPr>
        </p:nvSpPr>
        <p:spPr>
          <a:ln/>
        </p:spPr>
        <p:txBody>
          <a:bodyPr/>
          <a:lstStyle/>
          <a:p>
            <a:fld id="{81A6FD75-F78F-7941-8D42-AE5B6DFFAE0F}" type="slidenum">
              <a:rPr lang="en-US" altLang="en-US"/>
              <a:pPr/>
              <a:t>12</a:t>
            </a:fld>
            <a:endParaRPr lang="en-US" altLang="en-US"/>
          </a:p>
        </p:txBody>
      </p:sp>
      <p:sp>
        <p:nvSpPr>
          <p:cNvPr id="29698" name="Rectangle 2">
            <a:extLst>
              <a:ext uri="{FF2B5EF4-FFF2-40B4-BE49-F238E27FC236}">
                <a16:creationId xmlns:a16="http://schemas.microsoft.com/office/drawing/2014/main" id="{2829FFE9-767F-8A42-B618-A24A0FB3F0D6}"/>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57B2C6CA-6958-EB4C-805C-F2AB0D111E4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C8C88E-6772-3940-A5F1-93434EAD8C05}"/>
              </a:ext>
            </a:extLst>
          </p:cNvPr>
          <p:cNvSpPr>
            <a:spLocks noGrp="1" noChangeArrowheads="1"/>
          </p:cNvSpPr>
          <p:nvPr>
            <p:ph type="sldNum" sz="quarter" idx="5"/>
          </p:nvPr>
        </p:nvSpPr>
        <p:spPr>
          <a:ln/>
        </p:spPr>
        <p:txBody>
          <a:bodyPr/>
          <a:lstStyle/>
          <a:p>
            <a:fld id="{652BD818-86CA-5644-AB13-92A013AEA6D8}" type="slidenum">
              <a:rPr lang="en-US" altLang="en-US"/>
              <a:pPr/>
              <a:t>13</a:t>
            </a:fld>
            <a:endParaRPr lang="en-US" altLang="en-US"/>
          </a:p>
        </p:txBody>
      </p:sp>
      <p:sp>
        <p:nvSpPr>
          <p:cNvPr id="31746" name="Rectangle 2">
            <a:extLst>
              <a:ext uri="{FF2B5EF4-FFF2-40B4-BE49-F238E27FC236}">
                <a16:creationId xmlns:a16="http://schemas.microsoft.com/office/drawing/2014/main" id="{B9402935-E1D2-304C-AD22-22A682D3C22A}"/>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A5CC6F97-D337-0D4E-B8AE-2D54DACA4C5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C59D21-77C0-D248-8EB9-9C3291135731}"/>
              </a:ext>
            </a:extLst>
          </p:cNvPr>
          <p:cNvSpPr>
            <a:spLocks noGrp="1" noChangeArrowheads="1"/>
          </p:cNvSpPr>
          <p:nvPr>
            <p:ph type="sldNum" sz="quarter" idx="5"/>
          </p:nvPr>
        </p:nvSpPr>
        <p:spPr>
          <a:ln/>
        </p:spPr>
        <p:txBody>
          <a:bodyPr/>
          <a:lstStyle/>
          <a:p>
            <a:fld id="{E4247D06-3A81-A24A-9A44-805EC4AD6373}" type="slidenum">
              <a:rPr lang="en-US" altLang="en-US"/>
              <a:pPr/>
              <a:t>14</a:t>
            </a:fld>
            <a:endParaRPr lang="en-US" altLang="en-US"/>
          </a:p>
        </p:txBody>
      </p:sp>
      <p:sp>
        <p:nvSpPr>
          <p:cNvPr id="33794" name="Rectangle 2">
            <a:extLst>
              <a:ext uri="{FF2B5EF4-FFF2-40B4-BE49-F238E27FC236}">
                <a16:creationId xmlns:a16="http://schemas.microsoft.com/office/drawing/2014/main" id="{B10BE258-ACCC-8547-BACB-7A0DB78D7FD4}"/>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4BEED6F0-D53E-714F-A708-90B3754624C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2C025D8-2D6B-8042-84D5-E4A8B230E82D}"/>
              </a:ext>
            </a:extLst>
          </p:cNvPr>
          <p:cNvSpPr>
            <a:spLocks noGrp="1" noChangeArrowheads="1"/>
          </p:cNvSpPr>
          <p:nvPr>
            <p:ph type="sldNum" sz="quarter" idx="5"/>
          </p:nvPr>
        </p:nvSpPr>
        <p:spPr>
          <a:ln/>
        </p:spPr>
        <p:txBody>
          <a:bodyPr/>
          <a:lstStyle/>
          <a:p>
            <a:fld id="{8D316FB2-1F69-5449-9301-461FBC85D751}" type="slidenum">
              <a:rPr lang="en-US" altLang="en-US"/>
              <a:pPr/>
              <a:t>15</a:t>
            </a:fld>
            <a:endParaRPr lang="en-US" altLang="en-US"/>
          </a:p>
        </p:txBody>
      </p:sp>
      <p:sp>
        <p:nvSpPr>
          <p:cNvPr id="35842" name="Rectangle 2">
            <a:extLst>
              <a:ext uri="{FF2B5EF4-FFF2-40B4-BE49-F238E27FC236}">
                <a16:creationId xmlns:a16="http://schemas.microsoft.com/office/drawing/2014/main" id="{4C4B66BE-ACCA-D24A-A5CE-2CFBC5E4DABE}"/>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63666314-7815-0C42-87F5-D5BABF4E4B3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E5082E7-4613-E14C-89B0-89C37B99714A}"/>
              </a:ext>
            </a:extLst>
          </p:cNvPr>
          <p:cNvSpPr>
            <a:spLocks noGrp="1" noChangeArrowheads="1"/>
          </p:cNvSpPr>
          <p:nvPr>
            <p:ph type="sldNum" sz="quarter" idx="5"/>
          </p:nvPr>
        </p:nvSpPr>
        <p:spPr>
          <a:ln/>
        </p:spPr>
        <p:txBody>
          <a:bodyPr/>
          <a:lstStyle/>
          <a:p>
            <a:fld id="{6B656DEC-B0CD-CF46-95A4-A102C387112C}" type="slidenum">
              <a:rPr lang="en-US" altLang="en-US"/>
              <a:pPr/>
              <a:t>16</a:t>
            </a:fld>
            <a:endParaRPr lang="en-US" altLang="en-US"/>
          </a:p>
        </p:txBody>
      </p:sp>
      <p:sp>
        <p:nvSpPr>
          <p:cNvPr id="37890" name="Rectangle 2">
            <a:extLst>
              <a:ext uri="{FF2B5EF4-FFF2-40B4-BE49-F238E27FC236}">
                <a16:creationId xmlns:a16="http://schemas.microsoft.com/office/drawing/2014/main" id="{1C896680-A322-AE43-9212-E16BEC3530BC}"/>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17BAAF5F-A6A0-3847-A865-F61D2D3EA37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543D673-4114-9D4B-8734-A4EEFB517E02}"/>
              </a:ext>
            </a:extLst>
          </p:cNvPr>
          <p:cNvSpPr>
            <a:spLocks noGrp="1" noChangeArrowheads="1"/>
          </p:cNvSpPr>
          <p:nvPr>
            <p:ph type="sldNum" sz="quarter" idx="5"/>
          </p:nvPr>
        </p:nvSpPr>
        <p:spPr>
          <a:ln/>
        </p:spPr>
        <p:txBody>
          <a:bodyPr/>
          <a:lstStyle/>
          <a:p>
            <a:fld id="{9B2D0D2E-377E-214A-984D-059CFCC9DCEE}" type="slidenum">
              <a:rPr lang="en-US" altLang="en-US"/>
              <a:pPr/>
              <a:t>17</a:t>
            </a:fld>
            <a:endParaRPr lang="en-US" altLang="en-US"/>
          </a:p>
        </p:txBody>
      </p:sp>
      <p:sp>
        <p:nvSpPr>
          <p:cNvPr id="39938" name="Rectangle 2">
            <a:extLst>
              <a:ext uri="{FF2B5EF4-FFF2-40B4-BE49-F238E27FC236}">
                <a16:creationId xmlns:a16="http://schemas.microsoft.com/office/drawing/2014/main" id="{1783CA8F-D0E1-FD47-BE2C-3AB3104B0DD0}"/>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A9F4BCA2-20D5-0C43-84E2-1BD69B3FF14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E61EC38-9CBA-3649-9832-5F5BC0122D0D}"/>
              </a:ext>
            </a:extLst>
          </p:cNvPr>
          <p:cNvSpPr>
            <a:spLocks noGrp="1" noChangeArrowheads="1"/>
          </p:cNvSpPr>
          <p:nvPr>
            <p:ph type="sldNum" sz="quarter" idx="5"/>
          </p:nvPr>
        </p:nvSpPr>
        <p:spPr>
          <a:ln/>
        </p:spPr>
        <p:txBody>
          <a:bodyPr/>
          <a:lstStyle/>
          <a:p>
            <a:fld id="{8C83600C-478F-C142-AA04-5BA68BAEA000}" type="slidenum">
              <a:rPr lang="en-US" altLang="en-US"/>
              <a:pPr/>
              <a:t>18</a:t>
            </a:fld>
            <a:endParaRPr lang="en-US" altLang="en-US"/>
          </a:p>
        </p:txBody>
      </p:sp>
      <p:sp>
        <p:nvSpPr>
          <p:cNvPr id="41986" name="Rectangle 2">
            <a:extLst>
              <a:ext uri="{FF2B5EF4-FFF2-40B4-BE49-F238E27FC236}">
                <a16:creationId xmlns:a16="http://schemas.microsoft.com/office/drawing/2014/main" id="{BA3CE769-ACA7-634C-844D-D34DABCC2C37}"/>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D499DD5C-8780-3243-B594-DE0693E9330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p:txBody>
          <a:bodyPr/>
          <a:lstStyle/>
          <a:p>
            <a:pPr>
              <a:defRPr/>
            </a:pPr>
            <a:r>
              <a:rPr lang="en-AU"/>
              <a:t>Morgan Kaufmann Publishers</a:t>
            </a:r>
          </a:p>
        </p:txBody>
      </p:sp>
      <p:sp>
        <p:nvSpPr>
          <p:cNvPr id="86019" name="Rectangle 3"/>
          <p:cNvSpPr>
            <a:spLocks noGrp="1" noChangeArrowheads="1"/>
          </p:cNvSpPr>
          <p:nvPr>
            <p:ph type="dt" sz="quarter" idx="1"/>
          </p:nvPr>
        </p:nvSpPr>
        <p:spPr/>
        <p:txBody>
          <a:bodyPr/>
          <a:lstStyle/>
          <a:p>
            <a:pPr>
              <a:defRPr/>
            </a:pPr>
            <a:fld id="{273C6833-6048-4713-8457-C39CB37BDEAA}" type="datetime3">
              <a:rPr lang="en-AU" smtClean="0"/>
              <a:pPr>
                <a:defRPr/>
              </a:pPr>
              <a:t>6 April, 2022</a:t>
            </a:fld>
            <a:endParaRPr lang="en-AU"/>
          </a:p>
        </p:txBody>
      </p:sp>
      <p:sp>
        <p:nvSpPr>
          <p:cNvPr id="86020" name="Rectangle 6"/>
          <p:cNvSpPr>
            <a:spLocks noGrp="1" noChangeArrowheads="1"/>
          </p:cNvSpPr>
          <p:nvPr>
            <p:ph type="ftr" sz="quarter" idx="4"/>
          </p:nvPr>
        </p:nvSpPr>
        <p:spPr/>
        <p:txBody>
          <a:bodyPr/>
          <a:lstStyle/>
          <a:p>
            <a:pPr>
              <a:defRPr/>
            </a:pPr>
            <a:r>
              <a:rPr lang="en-AU"/>
              <a:t>Chapter 7 — Multicores, Multiprocessors, and Clusters</a:t>
            </a:r>
          </a:p>
        </p:txBody>
      </p:sp>
      <p:sp>
        <p:nvSpPr>
          <p:cNvPr id="86021" name="Rectangle 7"/>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AE0621A-AE20-4C10-9008-9C05242A22BD}" type="slidenum">
              <a:rPr lang="en-AU" altLang="en-US">
                <a:latin typeface="Times New Roman" panose="02020603050405020304" pitchFamily="18" charset="0"/>
              </a:rPr>
              <a:pPr/>
              <a:t>23</a:t>
            </a:fld>
            <a:endParaRPr lang="en-AU" altLang="en-US">
              <a:latin typeface="Times New Roman" panose="02020603050405020304" pitchFamily="18" charset="0"/>
            </a:endParaRPr>
          </a:p>
        </p:txBody>
      </p:sp>
      <p:sp>
        <p:nvSpPr>
          <p:cNvPr id="86022" name="Rectangle 2"/>
          <p:cNvSpPr>
            <a:spLocks noGrp="1" noRot="1" noChangeAspect="1" noChangeArrowheads="1" noTextEdit="1"/>
          </p:cNvSpPr>
          <p:nvPr>
            <p:ph type="sldImg"/>
          </p:nvPr>
        </p:nvSpPr>
        <p:spPr>
          <a:ln/>
        </p:spPr>
      </p:sp>
      <p:sp>
        <p:nvSpPr>
          <p:cNvPr id="860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595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p:txBody>
          <a:bodyPr/>
          <a:lstStyle/>
          <a:p>
            <a:pPr>
              <a:defRPr/>
            </a:pPr>
            <a:r>
              <a:rPr lang="en-AU"/>
              <a:t>Morgan Kaufmann Publishers</a:t>
            </a:r>
          </a:p>
        </p:txBody>
      </p:sp>
      <p:sp>
        <p:nvSpPr>
          <p:cNvPr id="87043" name="Rectangle 3"/>
          <p:cNvSpPr>
            <a:spLocks noGrp="1" noChangeArrowheads="1"/>
          </p:cNvSpPr>
          <p:nvPr>
            <p:ph type="dt" sz="quarter" idx="1"/>
          </p:nvPr>
        </p:nvSpPr>
        <p:spPr/>
        <p:txBody>
          <a:bodyPr/>
          <a:lstStyle/>
          <a:p>
            <a:pPr>
              <a:defRPr/>
            </a:pPr>
            <a:fld id="{E6B7C6A8-FC2D-41A1-95F2-56B108B24230}" type="datetime3">
              <a:rPr lang="en-AU" smtClean="0"/>
              <a:pPr>
                <a:defRPr/>
              </a:pPr>
              <a:t>6 April, 2022</a:t>
            </a:fld>
            <a:endParaRPr lang="en-AU"/>
          </a:p>
        </p:txBody>
      </p:sp>
      <p:sp>
        <p:nvSpPr>
          <p:cNvPr id="87044" name="Rectangle 6"/>
          <p:cNvSpPr>
            <a:spLocks noGrp="1" noChangeArrowheads="1"/>
          </p:cNvSpPr>
          <p:nvPr>
            <p:ph type="ftr" sz="quarter" idx="4"/>
          </p:nvPr>
        </p:nvSpPr>
        <p:spPr/>
        <p:txBody>
          <a:bodyPr/>
          <a:lstStyle/>
          <a:p>
            <a:pPr>
              <a:defRPr/>
            </a:pPr>
            <a:r>
              <a:rPr lang="en-AU"/>
              <a:t>Chapter 7 — Multicores, Multiprocessors, and Clusters</a:t>
            </a:r>
          </a:p>
        </p:txBody>
      </p:sp>
      <p:sp>
        <p:nvSpPr>
          <p:cNvPr id="87045" name="Rectangle 7"/>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D62CD69-335E-4E6A-A7C0-329DC1A959B6}" type="slidenum">
              <a:rPr lang="en-AU" altLang="en-US">
                <a:latin typeface="Times New Roman" panose="02020603050405020304" pitchFamily="18" charset="0"/>
              </a:rPr>
              <a:pPr/>
              <a:t>40</a:t>
            </a:fld>
            <a:endParaRPr lang="en-AU" altLang="en-US">
              <a:latin typeface="Times New Roman" panose="02020603050405020304" pitchFamily="18" charset="0"/>
            </a:endParaRPr>
          </a:p>
        </p:txBody>
      </p:sp>
      <p:sp>
        <p:nvSpPr>
          <p:cNvPr id="87046" name="Rectangle 2"/>
          <p:cNvSpPr>
            <a:spLocks noGrp="1" noRot="1" noChangeAspect="1" noChangeArrowheads="1" noTextEdit="1"/>
          </p:cNvSpPr>
          <p:nvPr>
            <p:ph type="sldImg"/>
          </p:nvPr>
        </p:nvSpPr>
        <p:spPr>
          <a:ln/>
        </p:spPr>
      </p:sp>
      <p:sp>
        <p:nvSpPr>
          <p:cNvPr id="870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72544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p:txBody>
          <a:bodyPr/>
          <a:lstStyle/>
          <a:p>
            <a:pPr>
              <a:defRPr/>
            </a:pPr>
            <a:r>
              <a:rPr lang="en-AU"/>
              <a:t>Morgan Kaufmann Publishers</a:t>
            </a:r>
          </a:p>
        </p:txBody>
      </p:sp>
      <p:sp>
        <p:nvSpPr>
          <p:cNvPr id="88067" name="Rectangle 3"/>
          <p:cNvSpPr>
            <a:spLocks noGrp="1" noChangeArrowheads="1"/>
          </p:cNvSpPr>
          <p:nvPr>
            <p:ph type="dt" sz="quarter" idx="1"/>
          </p:nvPr>
        </p:nvSpPr>
        <p:spPr/>
        <p:txBody>
          <a:bodyPr/>
          <a:lstStyle/>
          <a:p>
            <a:pPr>
              <a:defRPr/>
            </a:pPr>
            <a:fld id="{ED237FDD-B277-48F9-9D77-C05E32F3CF61}" type="datetime3">
              <a:rPr lang="en-AU" smtClean="0"/>
              <a:pPr>
                <a:defRPr/>
              </a:pPr>
              <a:t>6 April, 2022</a:t>
            </a:fld>
            <a:endParaRPr lang="en-AU"/>
          </a:p>
        </p:txBody>
      </p:sp>
      <p:sp>
        <p:nvSpPr>
          <p:cNvPr id="88068" name="Rectangle 6"/>
          <p:cNvSpPr>
            <a:spLocks noGrp="1" noChangeArrowheads="1"/>
          </p:cNvSpPr>
          <p:nvPr>
            <p:ph type="ftr" sz="quarter" idx="4"/>
          </p:nvPr>
        </p:nvSpPr>
        <p:spPr/>
        <p:txBody>
          <a:bodyPr/>
          <a:lstStyle/>
          <a:p>
            <a:pPr>
              <a:defRPr/>
            </a:pPr>
            <a:r>
              <a:rPr lang="en-AU"/>
              <a:t>Chapter 7 — Multicores, Multiprocessors, and Clusters</a:t>
            </a:r>
          </a:p>
        </p:txBody>
      </p:sp>
      <p:sp>
        <p:nvSpPr>
          <p:cNvPr id="88069" name="Rectangle 7"/>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B00B45F-09CD-436E-B824-FC639DC07A87}" type="slidenum">
              <a:rPr lang="en-AU" altLang="en-US">
                <a:latin typeface="Times New Roman" panose="02020603050405020304" pitchFamily="18" charset="0"/>
              </a:rPr>
              <a:pPr/>
              <a:t>41</a:t>
            </a:fld>
            <a:endParaRPr lang="en-AU" altLang="en-US">
              <a:latin typeface="Times New Roman" panose="02020603050405020304" pitchFamily="18" charset="0"/>
            </a:endParaRPr>
          </a:p>
        </p:txBody>
      </p:sp>
      <p:sp>
        <p:nvSpPr>
          <p:cNvPr id="88070" name="Rectangle 2"/>
          <p:cNvSpPr>
            <a:spLocks noGrp="1" noRot="1" noChangeAspect="1" noChangeArrowheads="1" noTextEdit="1"/>
          </p:cNvSpPr>
          <p:nvPr>
            <p:ph type="sldImg"/>
          </p:nvPr>
        </p:nvSpPr>
        <p:spPr>
          <a:ln/>
        </p:spPr>
      </p:sp>
      <p:sp>
        <p:nvSpPr>
          <p:cNvPr id="880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1828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64CA-56F5-0F45-AAC6-4951CA1CBF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D89B4AD-733E-AD4B-B418-2511A0F9E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C881C61-DC73-654C-A508-03C122383740}"/>
              </a:ext>
            </a:extLst>
          </p:cNvPr>
          <p:cNvSpPr>
            <a:spLocks noGrp="1"/>
          </p:cNvSpPr>
          <p:nvPr>
            <p:ph type="dt" sz="half" idx="10"/>
          </p:nvPr>
        </p:nvSpPr>
        <p:spPr/>
        <p:txBody>
          <a:bodyPr/>
          <a:lstStyle/>
          <a:p>
            <a:fld id="{82EF33BA-1F0A-1546-9ABC-F82956B33671}" type="datetime1">
              <a:rPr lang="en-MY" smtClean="0"/>
              <a:t>6/4/2022</a:t>
            </a:fld>
            <a:endParaRPr lang="en-US"/>
          </a:p>
        </p:txBody>
      </p:sp>
      <p:sp>
        <p:nvSpPr>
          <p:cNvPr id="5" name="Footer Placeholder 4">
            <a:extLst>
              <a:ext uri="{FF2B5EF4-FFF2-40B4-BE49-F238E27FC236}">
                <a16:creationId xmlns:a16="http://schemas.microsoft.com/office/drawing/2014/main" id="{F6C34AF3-3A2C-E844-B371-CE31AE471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7CE598-B430-3749-B92B-39DD30EA7723}"/>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4048465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D14A-F51F-7C4D-B769-C7637582CF2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6130CF8-6E81-F848-A426-72AAEA60DF9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5C95D0-4151-5F4A-AA56-18BF49743F61}"/>
              </a:ext>
            </a:extLst>
          </p:cNvPr>
          <p:cNvSpPr>
            <a:spLocks noGrp="1"/>
          </p:cNvSpPr>
          <p:nvPr>
            <p:ph type="dt" sz="half" idx="10"/>
          </p:nvPr>
        </p:nvSpPr>
        <p:spPr/>
        <p:txBody>
          <a:bodyPr/>
          <a:lstStyle/>
          <a:p>
            <a:fld id="{E3A18D7B-B687-2245-8639-9D9DE3759E25}" type="datetime1">
              <a:rPr lang="en-MY" smtClean="0"/>
              <a:t>6/4/2022</a:t>
            </a:fld>
            <a:endParaRPr lang="en-US"/>
          </a:p>
        </p:txBody>
      </p:sp>
      <p:sp>
        <p:nvSpPr>
          <p:cNvPr id="5" name="Footer Placeholder 4">
            <a:extLst>
              <a:ext uri="{FF2B5EF4-FFF2-40B4-BE49-F238E27FC236}">
                <a16:creationId xmlns:a16="http://schemas.microsoft.com/office/drawing/2014/main" id="{4277C0B8-8C54-6F4E-8CFE-AD8E630A7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327AC-99A6-8147-B5CD-5A3AC98B0BEA}"/>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132525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689E-7520-0E4A-8AC3-D1AA7EB3FCC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67FCA4F-EBD0-F146-829F-591510981C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D88E15E-A801-4F41-B874-3019FEF618EB}"/>
              </a:ext>
            </a:extLst>
          </p:cNvPr>
          <p:cNvSpPr>
            <a:spLocks noGrp="1"/>
          </p:cNvSpPr>
          <p:nvPr>
            <p:ph type="dt" sz="half" idx="10"/>
          </p:nvPr>
        </p:nvSpPr>
        <p:spPr/>
        <p:txBody>
          <a:bodyPr/>
          <a:lstStyle/>
          <a:p>
            <a:fld id="{F5270F10-6C31-3743-83D3-893CF319B673}" type="datetime1">
              <a:rPr lang="en-MY" smtClean="0"/>
              <a:t>6/4/2022</a:t>
            </a:fld>
            <a:endParaRPr lang="en-US"/>
          </a:p>
        </p:txBody>
      </p:sp>
      <p:sp>
        <p:nvSpPr>
          <p:cNvPr id="5" name="Footer Placeholder 4">
            <a:extLst>
              <a:ext uri="{FF2B5EF4-FFF2-40B4-BE49-F238E27FC236}">
                <a16:creationId xmlns:a16="http://schemas.microsoft.com/office/drawing/2014/main" id="{52264CD4-125A-D74F-A9ED-7D7873F002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18128-1599-1949-A16C-EA47FE979485}"/>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278144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3689-0C58-0045-B82B-2649F9567E1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D28AC2-A214-9247-A190-4BAACEB4632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1257EA1-E457-E445-B67E-FC6AC12049D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3512636-4C44-2749-AB19-DFF56D639B31}"/>
              </a:ext>
            </a:extLst>
          </p:cNvPr>
          <p:cNvSpPr>
            <a:spLocks noGrp="1"/>
          </p:cNvSpPr>
          <p:nvPr>
            <p:ph type="dt" sz="half" idx="10"/>
          </p:nvPr>
        </p:nvSpPr>
        <p:spPr/>
        <p:txBody>
          <a:bodyPr/>
          <a:lstStyle/>
          <a:p>
            <a:fld id="{45F55417-03AD-D345-8D43-C3F1B29954E2}" type="datetime1">
              <a:rPr lang="en-MY" smtClean="0"/>
              <a:t>6/4/2022</a:t>
            </a:fld>
            <a:endParaRPr lang="en-US"/>
          </a:p>
        </p:txBody>
      </p:sp>
      <p:sp>
        <p:nvSpPr>
          <p:cNvPr id="6" name="Footer Placeholder 5">
            <a:extLst>
              <a:ext uri="{FF2B5EF4-FFF2-40B4-BE49-F238E27FC236}">
                <a16:creationId xmlns:a16="http://schemas.microsoft.com/office/drawing/2014/main" id="{33098255-0D6E-684A-A887-B4C7D26F4C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172B1-51D7-D744-96BD-E2C3561A7424}"/>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37811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B802-E3E0-0142-9A29-5779441FADB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4277325-3895-E44F-B4A3-889BE45995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8C9A188-9570-BD45-9D48-514C2DECF3B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42C8D00-5E8C-864D-995F-5C81003C4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5BB44E8-298C-1742-8B89-EF7DC5FB707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8DCA77B-07BD-394F-8F38-D4BC9FE37EBD}"/>
              </a:ext>
            </a:extLst>
          </p:cNvPr>
          <p:cNvSpPr>
            <a:spLocks noGrp="1"/>
          </p:cNvSpPr>
          <p:nvPr>
            <p:ph type="dt" sz="half" idx="10"/>
          </p:nvPr>
        </p:nvSpPr>
        <p:spPr/>
        <p:txBody>
          <a:bodyPr/>
          <a:lstStyle/>
          <a:p>
            <a:fld id="{0AE15ACB-2519-084F-B935-2A2A78AF181F}" type="datetime1">
              <a:rPr lang="en-MY" smtClean="0"/>
              <a:t>6/4/2022</a:t>
            </a:fld>
            <a:endParaRPr lang="en-US"/>
          </a:p>
        </p:txBody>
      </p:sp>
      <p:sp>
        <p:nvSpPr>
          <p:cNvPr id="8" name="Footer Placeholder 7">
            <a:extLst>
              <a:ext uri="{FF2B5EF4-FFF2-40B4-BE49-F238E27FC236}">
                <a16:creationId xmlns:a16="http://schemas.microsoft.com/office/drawing/2014/main" id="{845A4AE0-CD5E-C84B-B97C-F0AA15C1B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2FF45B-18E4-9640-91D5-D32A7182ED92}"/>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962142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551C2-B7D7-CF44-9565-A9FC13ADC1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D2A5F5C-E508-634B-BB48-75394A826605}"/>
              </a:ext>
            </a:extLst>
          </p:cNvPr>
          <p:cNvSpPr>
            <a:spLocks noGrp="1"/>
          </p:cNvSpPr>
          <p:nvPr>
            <p:ph type="dt" sz="half" idx="10"/>
          </p:nvPr>
        </p:nvSpPr>
        <p:spPr/>
        <p:txBody>
          <a:bodyPr/>
          <a:lstStyle/>
          <a:p>
            <a:fld id="{C10A2510-5E14-8047-AB9D-9E7C4C31880E}" type="datetime1">
              <a:rPr lang="en-MY" smtClean="0"/>
              <a:t>6/4/2022</a:t>
            </a:fld>
            <a:endParaRPr lang="en-US"/>
          </a:p>
        </p:txBody>
      </p:sp>
      <p:sp>
        <p:nvSpPr>
          <p:cNvPr id="4" name="Footer Placeholder 3">
            <a:extLst>
              <a:ext uri="{FF2B5EF4-FFF2-40B4-BE49-F238E27FC236}">
                <a16:creationId xmlns:a16="http://schemas.microsoft.com/office/drawing/2014/main" id="{ACA67FD0-7C04-8B42-A047-AB29E76FE5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682032-AEBC-8C44-B798-299770F875DE}"/>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463228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F11400-2E89-2248-A6F8-C6F1013D9EA9}"/>
              </a:ext>
            </a:extLst>
          </p:cNvPr>
          <p:cNvSpPr>
            <a:spLocks noGrp="1"/>
          </p:cNvSpPr>
          <p:nvPr>
            <p:ph type="dt" sz="half" idx="10"/>
          </p:nvPr>
        </p:nvSpPr>
        <p:spPr/>
        <p:txBody>
          <a:bodyPr/>
          <a:lstStyle/>
          <a:p>
            <a:fld id="{40A185DE-063B-8C46-B2FA-DC75C08D2090}" type="datetime1">
              <a:rPr lang="en-MY" smtClean="0"/>
              <a:t>6/4/2022</a:t>
            </a:fld>
            <a:endParaRPr lang="en-US"/>
          </a:p>
        </p:txBody>
      </p:sp>
      <p:sp>
        <p:nvSpPr>
          <p:cNvPr id="3" name="Footer Placeholder 2">
            <a:extLst>
              <a:ext uri="{FF2B5EF4-FFF2-40B4-BE49-F238E27FC236}">
                <a16:creationId xmlns:a16="http://schemas.microsoft.com/office/drawing/2014/main" id="{AA5DE2F3-877A-0E4A-8087-CAE589A448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01294C-BCE1-FA49-89F3-C4471BE0F42A}"/>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4261215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7164-9E18-7C41-9E1F-53E863A535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993624A-E1CD-4F4E-86DF-DAD0DB9DF7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B842075-D094-FE4A-AB97-21615FF16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4F5D4F-C055-5144-9205-92AC7BE7E87D}"/>
              </a:ext>
            </a:extLst>
          </p:cNvPr>
          <p:cNvSpPr>
            <a:spLocks noGrp="1"/>
          </p:cNvSpPr>
          <p:nvPr>
            <p:ph type="dt" sz="half" idx="10"/>
          </p:nvPr>
        </p:nvSpPr>
        <p:spPr/>
        <p:txBody>
          <a:bodyPr/>
          <a:lstStyle/>
          <a:p>
            <a:fld id="{B6C46372-3540-BC4E-8683-7D2B4501B4BF}" type="datetime1">
              <a:rPr lang="en-MY" smtClean="0"/>
              <a:t>6/4/2022</a:t>
            </a:fld>
            <a:endParaRPr lang="en-US"/>
          </a:p>
        </p:txBody>
      </p:sp>
      <p:sp>
        <p:nvSpPr>
          <p:cNvPr id="6" name="Footer Placeholder 5">
            <a:extLst>
              <a:ext uri="{FF2B5EF4-FFF2-40B4-BE49-F238E27FC236}">
                <a16:creationId xmlns:a16="http://schemas.microsoft.com/office/drawing/2014/main" id="{1DA353B9-502E-C440-8728-3193F49014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B5E5E8-E205-4345-97C2-EE4E3A165468}"/>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977413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D0133-135C-7346-8404-ED681D5E84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C1CBF2A-B5FC-BA46-9FFB-45C3298E18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12ACFD-D68B-EF45-9F97-DD41DC1A5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D9E1-8E3B-9E48-9001-2634D3D9499E}"/>
              </a:ext>
            </a:extLst>
          </p:cNvPr>
          <p:cNvSpPr>
            <a:spLocks noGrp="1"/>
          </p:cNvSpPr>
          <p:nvPr>
            <p:ph type="dt" sz="half" idx="10"/>
          </p:nvPr>
        </p:nvSpPr>
        <p:spPr/>
        <p:txBody>
          <a:bodyPr/>
          <a:lstStyle/>
          <a:p>
            <a:fld id="{D10D2B3C-155E-0B4C-A8C6-036E797C649A}" type="datetime1">
              <a:rPr lang="en-MY" smtClean="0"/>
              <a:t>6/4/2022</a:t>
            </a:fld>
            <a:endParaRPr lang="en-US"/>
          </a:p>
        </p:txBody>
      </p:sp>
      <p:sp>
        <p:nvSpPr>
          <p:cNvPr id="6" name="Footer Placeholder 5">
            <a:extLst>
              <a:ext uri="{FF2B5EF4-FFF2-40B4-BE49-F238E27FC236}">
                <a16:creationId xmlns:a16="http://schemas.microsoft.com/office/drawing/2014/main" id="{BC25C8FC-F6EF-0142-861A-7E92537A6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A4C7F-43C1-0343-BC0D-A545FA8AB911}"/>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18283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314E-B59A-734D-94AA-2D8C94309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0D01F40-0287-4D41-BE64-2A317E62BC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B2D018A-5F15-794F-A765-90DB69E33C2B}"/>
              </a:ext>
            </a:extLst>
          </p:cNvPr>
          <p:cNvSpPr>
            <a:spLocks noGrp="1"/>
          </p:cNvSpPr>
          <p:nvPr>
            <p:ph type="dt" sz="half" idx="10"/>
          </p:nvPr>
        </p:nvSpPr>
        <p:spPr/>
        <p:txBody>
          <a:bodyPr/>
          <a:lstStyle/>
          <a:p>
            <a:fld id="{ECA007C5-CFD1-264D-B75F-4E9553678B7F}" type="datetime1">
              <a:rPr lang="en-MY" smtClean="0"/>
              <a:t>6/4/2022</a:t>
            </a:fld>
            <a:endParaRPr lang="en-US"/>
          </a:p>
        </p:txBody>
      </p:sp>
      <p:sp>
        <p:nvSpPr>
          <p:cNvPr id="5" name="Footer Placeholder 4">
            <a:extLst>
              <a:ext uri="{FF2B5EF4-FFF2-40B4-BE49-F238E27FC236}">
                <a16:creationId xmlns:a16="http://schemas.microsoft.com/office/drawing/2014/main" id="{12D7DD55-F319-1D49-A2C0-0B45CE056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16A02-1BBA-8A4A-8967-997EF4F6CCD7}"/>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22676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200FC3-F3B8-A145-B7D4-A0842DAD115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74E4023-694C-8546-B0F4-0C258ED039E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DBF3D6-C0B7-8440-80E7-E84E79044FBF}"/>
              </a:ext>
            </a:extLst>
          </p:cNvPr>
          <p:cNvSpPr>
            <a:spLocks noGrp="1"/>
          </p:cNvSpPr>
          <p:nvPr>
            <p:ph type="dt" sz="half" idx="10"/>
          </p:nvPr>
        </p:nvSpPr>
        <p:spPr/>
        <p:txBody>
          <a:bodyPr/>
          <a:lstStyle/>
          <a:p>
            <a:fld id="{A5F813E0-CFB4-1140-9C02-293C7D346182}" type="datetime1">
              <a:rPr lang="en-MY" smtClean="0"/>
              <a:t>6/4/2022</a:t>
            </a:fld>
            <a:endParaRPr lang="en-US"/>
          </a:p>
        </p:txBody>
      </p:sp>
      <p:sp>
        <p:nvSpPr>
          <p:cNvPr id="5" name="Footer Placeholder 4">
            <a:extLst>
              <a:ext uri="{FF2B5EF4-FFF2-40B4-BE49-F238E27FC236}">
                <a16:creationId xmlns:a16="http://schemas.microsoft.com/office/drawing/2014/main" id="{AEA6A93E-0594-564E-996B-26B4DFAFDC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DC6B7-A6CB-C040-B640-F85716045408}"/>
              </a:ext>
            </a:extLst>
          </p:cNvPr>
          <p:cNvSpPr>
            <a:spLocks noGrp="1"/>
          </p:cNvSpPr>
          <p:nvPr>
            <p:ph type="sldNum" sz="quarter" idx="12"/>
          </p:nvPr>
        </p:nvSpPr>
        <p:spPr/>
        <p:txBody>
          <a:bodyPr/>
          <a:lstStyle/>
          <a:p>
            <a:fld id="{92124849-AE39-1947-AFA1-94AB1ABB4CD1}" type="slidenum">
              <a:rPr lang="en-US" smtClean="0"/>
              <a:pPr/>
              <a:t>‹#›</a:t>
            </a:fld>
            <a:endParaRPr lang="en-US"/>
          </a:p>
        </p:txBody>
      </p:sp>
    </p:spTree>
    <p:extLst>
      <p:ext uri="{BB962C8B-B14F-4D97-AF65-F5344CB8AC3E}">
        <p14:creationId xmlns:p14="http://schemas.microsoft.com/office/powerpoint/2010/main" val="3776648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A24AC-93D0-094C-BFFF-8065C4367C9A}"/>
              </a:ext>
            </a:extLst>
          </p:cNvPr>
          <p:cNvSpPr>
            <a:spLocks noGrp="1"/>
          </p:cNvSpPr>
          <p:nvPr>
            <p:ph type="title"/>
          </p:nvPr>
        </p:nvSpPr>
        <p:spPr>
          <a:xfrm>
            <a:off x="609600" y="457200"/>
            <a:ext cx="10972800" cy="13716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0C2C7D2-2454-564D-B756-A076B3158D9E}"/>
              </a:ext>
            </a:extLst>
          </p:cNvPr>
          <p:cNvSpPr>
            <a:spLocks noGrp="1"/>
          </p:cNvSpPr>
          <p:nvPr>
            <p:ph type="body" sz="half" idx="1"/>
          </p:nvPr>
        </p:nvSpPr>
        <p:spPr>
          <a:xfrm>
            <a:off x="609600" y="1981200"/>
            <a:ext cx="5384800" cy="3886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8E955BC-F922-4A41-9439-D2630785CF30}"/>
              </a:ext>
            </a:extLst>
          </p:cNvPr>
          <p:cNvSpPr>
            <a:spLocks noGrp="1"/>
          </p:cNvSpPr>
          <p:nvPr>
            <p:ph sz="quarter" idx="2"/>
          </p:nvPr>
        </p:nvSpPr>
        <p:spPr>
          <a:xfrm>
            <a:off x="6197600" y="1981200"/>
            <a:ext cx="5384800" cy="18669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4">
            <a:extLst>
              <a:ext uri="{FF2B5EF4-FFF2-40B4-BE49-F238E27FC236}">
                <a16:creationId xmlns:a16="http://schemas.microsoft.com/office/drawing/2014/main" id="{548BF8AD-CC9C-4144-A151-2A3C5FE36A8E}"/>
              </a:ext>
            </a:extLst>
          </p:cNvPr>
          <p:cNvSpPr>
            <a:spLocks noGrp="1"/>
          </p:cNvSpPr>
          <p:nvPr>
            <p:ph sz="quarter" idx="3"/>
          </p:nvPr>
        </p:nvSpPr>
        <p:spPr>
          <a:xfrm>
            <a:off x="6197600" y="4000500"/>
            <a:ext cx="5384800" cy="18669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a:extLst>
              <a:ext uri="{FF2B5EF4-FFF2-40B4-BE49-F238E27FC236}">
                <a16:creationId xmlns:a16="http://schemas.microsoft.com/office/drawing/2014/main" id="{03EA9211-1DA1-5948-A8D5-1CF11047D992}"/>
              </a:ext>
            </a:extLst>
          </p:cNvPr>
          <p:cNvSpPr>
            <a:spLocks noGrp="1"/>
          </p:cNvSpPr>
          <p:nvPr>
            <p:ph type="ftr" sz="quarter" idx="10"/>
          </p:nvPr>
        </p:nvSpPr>
        <p:spPr>
          <a:xfrm>
            <a:off x="4165600" y="6248400"/>
            <a:ext cx="3860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ADAA6747-23D8-9142-AB42-9E3A66AE22D9}"/>
              </a:ext>
            </a:extLst>
          </p:cNvPr>
          <p:cNvSpPr>
            <a:spLocks noGrp="1"/>
          </p:cNvSpPr>
          <p:nvPr>
            <p:ph type="sldNum" sz="quarter" idx="11"/>
          </p:nvPr>
        </p:nvSpPr>
        <p:spPr>
          <a:xfrm>
            <a:off x="8737600" y="6248400"/>
            <a:ext cx="2844800" cy="457200"/>
          </a:xfrm>
        </p:spPr>
        <p:txBody>
          <a:bodyPr/>
          <a:lstStyle>
            <a:lvl1pPr>
              <a:defRPr/>
            </a:lvl1pPr>
          </a:lstStyle>
          <a:p>
            <a:fld id="{D7F9AD23-84A9-E94B-9334-843E469FEE2A}" type="slidenum">
              <a:rPr lang="en-US" altLang="en-US"/>
              <a:pPr/>
              <a:t>‹#›</a:t>
            </a:fld>
            <a:endParaRPr lang="en-US" altLang="en-US"/>
          </a:p>
        </p:txBody>
      </p:sp>
      <p:sp>
        <p:nvSpPr>
          <p:cNvPr id="8" name="Date Placeholder 7">
            <a:extLst>
              <a:ext uri="{FF2B5EF4-FFF2-40B4-BE49-F238E27FC236}">
                <a16:creationId xmlns:a16="http://schemas.microsoft.com/office/drawing/2014/main" id="{070EFFD1-7271-2C44-BF67-967B83FEB664}"/>
              </a:ext>
            </a:extLst>
          </p:cNvPr>
          <p:cNvSpPr>
            <a:spLocks noGrp="1"/>
          </p:cNvSpPr>
          <p:nvPr>
            <p:ph type="dt" sz="half" idx="12"/>
          </p:nvPr>
        </p:nvSpPr>
        <p:spPr>
          <a:xfrm>
            <a:off x="609600" y="6245225"/>
            <a:ext cx="2844800" cy="476250"/>
          </a:xfrm>
        </p:spPr>
        <p:txBody>
          <a:bodyPr/>
          <a:lstStyle>
            <a:lvl1pPr>
              <a:defRPr/>
            </a:lvl1pPr>
          </a:lstStyle>
          <a:p>
            <a:fld id="{BC00BE1B-09FE-D24B-A709-445B8F10ADD2}" type="datetime1">
              <a:rPr lang="en-MY" altLang="en-US" smtClean="0"/>
              <a:t>6/4/2022</a:t>
            </a:fld>
            <a:endParaRPr lang="en-US" altLang="en-US"/>
          </a:p>
        </p:txBody>
      </p:sp>
    </p:spTree>
    <p:extLst>
      <p:ext uri="{BB962C8B-B14F-4D97-AF65-F5344CB8AC3E}">
        <p14:creationId xmlns:p14="http://schemas.microsoft.com/office/powerpoint/2010/main" val="1816814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2982C0-1020-994E-9B01-3038839CCC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ADDDD9-4769-3045-A4DC-325EC40229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92D392-8986-3448-8D09-93BE1F815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893DA9-FD64-4E4C-AAA7-476BD07327AF}" type="datetime1">
              <a:rPr lang="en-MY" smtClean="0"/>
              <a:t>6/4/2022</a:t>
            </a:fld>
            <a:endParaRPr lang="en-US"/>
          </a:p>
        </p:txBody>
      </p:sp>
      <p:sp>
        <p:nvSpPr>
          <p:cNvPr id="5" name="Footer Placeholder 4">
            <a:extLst>
              <a:ext uri="{FF2B5EF4-FFF2-40B4-BE49-F238E27FC236}">
                <a16:creationId xmlns:a16="http://schemas.microsoft.com/office/drawing/2014/main" id="{3CA4A831-EE72-F444-A6C5-8A097890E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9AC48F-A06A-4D43-AC1A-3BD161EF37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124849-AE39-1947-AFA1-94AB1ABB4CD1}" type="slidenum">
              <a:rPr lang="en-US" smtClean="0"/>
              <a:pPr/>
              <a:t>‹#›</a:t>
            </a:fld>
            <a:endParaRPr lang="en-US"/>
          </a:p>
        </p:txBody>
      </p:sp>
    </p:spTree>
    <p:extLst>
      <p:ext uri="{BB962C8B-B14F-4D97-AF65-F5344CB8AC3E}">
        <p14:creationId xmlns:p14="http://schemas.microsoft.com/office/powerpoint/2010/main" val="4276526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png"/><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psc.edu/machines/tcs/lemieux.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png"/><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5">
            <a:extLst>
              <a:ext uri="{FF2B5EF4-FFF2-40B4-BE49-F238E27FC236}">
                <a16:creationId xmlns:a16="http://schemas.microsoft.com/office/drawing/2014/main" id="{0F32B5E6-BB32-084D-AC98-9AD427A05E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5CE823-4B2D-A543-B4CE-5EE95D930A22}" type="slidenum">
              <a:rPr lang="en-GB" altLang="en-US" sz="1400"/>
              <a:pPr>
                <a:spcBef>
                  <a:spcPct val="0"/>
                </a:spcBef>
                <a:buFontTx/>
                <a:buNone/>
              </a:pPr>
              <a:t>1</a:t>
            </a:fld>
            <a:endParaRPr lang="en-GB" altLang="en-US" sz="1400"/>
          </a:p>
        </p:txBody>
      </p:sp>
      <p:sp>
        <p:nvSpPr>
          <p:cNvPr id="15362" name="Rectangle 2">
            <a:extLst>
              <a:ext uri="{FF2B5EF4-FFF2-40B4-BE49-F238E27FC236}">
                <a16:creationId xmlns:a16="http://schemas.microsoft.com/office/drawing/2014/main" id="{B5FB0B00-A17C-494C-AB5E-A548C3A3EF5A}"/>
              </a:ext>
            </a:extLst>
          </p:cNvPr>
          <p:cNvSpPr>
            <a:spLocks noGrp="1" noChangeArrowheads="1"/>
          </p:cNvSpPr>
          <p:nvPr>
            <p:ph type="ctrTitle"/>
          </p:nvPr>
        </p:nvSpPr>
        <p:spPr>
          <a:xfrm>
            <a:off x="2514600" y="1676400"/>
            <a:ext cx="7239000" cy="2743200"/>
          </a:xfrm>
        </p:spPr>
        <p:txBody>
          <a:bodyPr>
            <a:normAutofit fontScale="90000"/>
          </a:bodyPr>
          <a:lstStyle/>
          <a:p>
            <a:pPr eaLnBrk="1" hangingPunct="1"/>
            <a:r>
              <a:rPr lang="en-US" altLang="en-US" b="1" dirty="0">
                <a:cs typeface="Times New Roman" panose="02020603050405020304" pitchFamily="18" charset="0"/>
              </a:rPr>
              <a:t>Chapter 9</a:t>
            </a:r>
            <a:br>
              <a:rPr lang="en-US" altLang="en-US" b="1" dirty="0">
                <a:cs typeface="Times New Roman" panose="02020603050405020304" pitchFamily="18" charset="0"/>
              </a:rPr>
            </a:br>
            <a:br>
              <a:rPr lang="en-US" altLang="en-US" b="1" dirty="0">
                <a:cs typeface="Times New Roman" panose="02020603050405020304" pitchFamily="18" charset="0"/>
              </a:rPr>
            </a:br>
            <a:r>
              <a:rPr lang="en-US" altLang="en-US" b="1" dirty="0">
                <a:cs typeface="Times New Roman" panose="02020603050405020304" pitchFamily="18" charset="0"/>
              </a:rPr>
              <a:t>Multiple Core Computers</a:t>
            </a:r>
            <a:r>
              <a:rPr lang="en-GB" altLang="en-US" dirty="0"/>
              <a:t> </a:t>
            </a:r>
          </a:p>
        </p:txBody>
      </p:sp>
      <p:cxnSp>
        <p:nvCxnSpPr>
          <p:cNvPr id="8" name="Straight Connector 7">
            <a:extLst>
              <a:ext uri="{FF2B5EF4-FFF2-40B4-BE49-F238E27FC236}">
                <a16:creationId xmlns:a16="http://schemas.microsoft.com/office/drawing/2014/main" id="{8703E3A3-70C8-CB40-8225-B8A58B9A409D}"/>
              </a:ext>
            </a:extLst>
          </p:cNvPr>
          <p:cNvCxnSpPr>
            <a:stCxn id="15362" idx="1"/>
            <a:endCxn id="15362" idx="3"/>
          </p:cNvCxnSpPr>
          <p:nvPr/>
        </p:nvCxnSpPr>
        <p:spPr>
          <a:xfrm>
            <a:off x="2514600" y="3048000"/>
            <a:ext cx="7239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4">
            <a:extLst>
              <a:ext uri="{FF2B5EF4-FFF2-40B4-BE49-F238E27FC236}">
                <a16:creationId xmlns:a16="http://schemas.microsoft.com/office/drawing/2014/main" id="{78182A37-0FDE-E143-B8A5-8027407FE5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1E1F966-1290-3D42-944E-6786823B396E}" type="slidenum">
              <a:rPr lang="en-GB" altLang="en-US" sz="1400"/>
              <a:pPr>
                <a:spcBef>
                  <a:spcPct val="0"/>
                </a:spcBef>
                <a:buFontTx/>
                <a:buNone/>
              </a:pPr>
              <a:t>2</a:t>
            </a:fld>
            <a:endParaRPr lang="en-GB" altLang="en-US" sz="1400"/>
          </a:p>
        </p:txBody>
      </p:sp>
      <p:sp>
        <p:nvSpPr>
          <p:cNvPr id="6" name="Rectangle 5">
            <a:extLst>
              <a:ext uri="{FF2B5EF4-FFF2-40B4-BE49-F238E27FC236}">
                <a16:creationId xmlns:a16="http://schemas.microsoft.com/office/drawing/2014/main" id="{A7A62B63-3789-BF42-8D64-686F9DCF6E64}"/>
              </a:ext>
            </a:extLst>
          </p:cNvPr>
          <p:cNvSpPr/>
          <p:nvPr/>
        </p:nvSpPr>
        <p:spPr>
          <a:xfrm>
            <a:off x="1093076" y="0"/>
            <a:ext cx="10026869" cy="4616648"/>
          </a:xfrm>
          <a:prstGeom prst="rect">
            <a:avLst/>
          </a:prstGeom>
        </p:spPr>
        <p:txBody>
          <a:bodyPr wrap="square">
            <a:spAutoFit/>
          </a:bodyPr>
          <a:lstStyle/>
          <a:p>
            <a:pPr marL="582613" indent="-582613" algn="ctr">
              <a:defRPr/>
            </a:pPr>
            <a:endParaRPr lang="en-GB" sz="4400" b="1" dirty="0">
              <a:cs typeface="Times New Roman" pitchFamily="18" charset="0"/>
            </a:endParaRPr>
          </a:p>
          <a:p>
            <a:pPr marL="582613" indent="-582613" algn="ctr">
              <a:defRPr/>
            </a:pPr>
            <a:r>
              <a:rPr lang="en-GB" sz="4400" b="1" dirty="0">
                <a:cs typeface="Times New Roman" pitchFamily="18" charset="0"/>
              </a:rPr>
              <a:t>Topics</a:t>
            </a:r>
          </a:p>
          <a:p>
            <a:pPr marL="582613" indent="-582613">
              <a:defRPr/>
            </a:pPr>
            <a:endParaRPr lang="en-GB" dirty="0">
              <a:cs typeface="Times New Roman" pitchFamily="18" charset="0"/>
            </a:endParaRPr>
          </a:p>
          <a:p>
            <a:pPr marL="582613" indent="-582613">
              <a:defRPr/>
            </a:pPr>
            <a:r>
              <a:rPr lang="en-GB" sz="3200" b="1" dirty="0">
                <a:cs typeface="Times New Roman" pitchFamily="18" charset="0"/>
              </a:rPr>
              <a:t>9.1  	Multiple core organization</a:t>
            </a:r>
          </a:p>
          <a:p>
            <a:pPr marL="582613" indent="-582613">
              <a:defRPr/>
            </a:pPr>
            <a:endParaRPr lang="en-GB" sz="3200" b="1" dirty="0">
              <a:cs typeface="Times New Roman" pitchFamily="18" charset="0"/>
            </a:endParaRPr>
          </a:p>
          <a:p>
            <a:pPr marL="582613" indent="-582613">
              <a:defRPr/>
            </a:pPr>
            <a:r>
              <a:rPr lang="en-GB" sz="3200" b="1" dirty="0">
                <a:cs typeface="Times New Roman" pitchFamily="18" charset="0"/>
              </a:rPr>
              <a:t>9.2  	Graphics Processing Unit (GPU) design</a:t>
            </a:r>
          </a:p>
          <a:p>
            <a:pPr marL="582613" indent="-582613">
              <a:defRPr/>
            </a:pPr>
            <a:endParaRPr lang="en-GB" sz="3200" b="1" dirty="0">
              <a:cs typeface="Times New Roman" pitchFamily="18" charset="0"/>
            </a:endParaRPr>
          </a:p>
          <a:p>
            <a:pPr marL="582613" indent="-582613">
              <a:defRPr/>
            </a:pPr>
            <a:r>
              <a:rPr lang="en-GB" sz="3200" b="1" dirty="0">
                <a:cs typeface="Times New Roman" pitchFamily="18" charset="0"/>
              </a:rPr>
              <a:t>9.3		Usage of GPU as a co-processor</a:t>
            </a:r>
          </a:p>
          <a:p>
            <a:pPr marL="582613" indent="-582613">
              <a:defRPr/>
            </a:pPr>
            <a:endParaRPr lang="en-GB" sz="2800" dirty="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335C7F-846C-4B4A-B198-4C8C55347B8D}"/>
              </a:ext>
            </a:extLst>
          </p:cNvPr>
          <p:cNvSpPr>
            <a:spLocks noGrp="1"/>
          </p:cNvSpPr>
          <p:nvPr>
            <p:ph type="sldNum" sz="quarter" idx="11"/>
          </p:nvPr>
        </p:nvSpPr>
        <p:spPr/>
        <p:txBody>
          <a:bodyPr/>
          <a:lstStyle/>
          <a:p>
            <a:fld id="{36748FC6-5541-174D-AA77-9C6D49EA1457}" type="slidenum">
              <a:rPr lang="en-US" altLang="en-US"/>
              <a:pPr/>
              <a:t>3</a:t>
            </a:fld>
            <a:endParaRPr lang="en-US" altLang="en-US"/>
          </a:p>
        </p:txBody>
      </p:sp>
      <p:sp>
        <p:nvSpPr>
          <p:cNvPr id="6146" name="Rectangle 2">
            <a:extLst>
              <a:ext uri="{FF2B5EF4-FFF2-40B4-BE49-F238E27FC236}">
                <a16:creationId xmlns:a16="http://schemas.microsoft.com/office/drawing/2014/main" id="{9CD72ECD-E2FC-764D-987C-45E16947999E}"/>
              </a:ext>
            </a:extLst>
          </p:cNvPr>
          <p:cNvSpPr>
            <a:spLocks noGrp="1" noChangeArrowheads="1"/>
          </p:cNvSpPr>
          <p:nvPr>
            <p:ph type="title"/>
          </p:nvPr>
        </p:nvSpPr>
        <p:spPr/>
        <p:txBody>
          <a:bodyPr/>
          <a:lstStyle/>
          <a:p>
            <a:pPr marL="582613" indent="-582613">
              <a:defRPr/>
            </a:pPr>
            <a:r>
              <a:rPr lang="en-GB" b="1" dirty="0">
                <a:cs typeface="Times New Roman" pitchFamily="18" charset="0"/>
              </a:rPr>
              <a:t>9.1  	Multiple core organization</a:t>
            </a:r>
          </a:p>
        </p:txBody>
      </p:sp>
      <p:sp>
        <p:nvSpPr>
          <p:cNvPr id="6147" name="Rectangle 3">
            <a:extLst>
              <a:ext uri="{FF2B5EF4-FFF2-40B4-BE49-F238E27FC236}">
                <a16:creationId xmlns:a16="http://schemas.microsoft.com/office/drawing/2014/main" id="{6EDB3E03-37C5-E340-9628-BACE6D77C0C4}"/>
              </a:ext>
            </a:extLst>
          </p:cNvPr>
          <p:cNvSpPr>
            <a:spLocks noGrp="1" noChangeArrowheads="1"/>
          </p:cNvSpPr>
          <p:nvPr>
            <p:ph type="body" idx="1"/>
          </p:nvPr>
        </p:nvSpPr>
        <p:spPr/>
        <p:txBody>
          <a:bodyPr/>
          <a:lstStyle/>
          <a:p>
            <a:pPr algn="just">
              <a:lnSpc>
                <a:spcPct val="80000"/>
              </a:lnSpc>
            </a:pPr>
            <a:r>
              <a:rPr lang="en-US" altLang="en-US" dirty="0"/>
              <a:t>A multiple core or </a:t>
            </a:r>
            <a:r>
              <a:rPr lang="en-US" altLang="en-US" b="1" dirty="0"/>
              <a:t>multi-core</a:t>
            </a:r>
            <a:r>
              <a:rPr lang="en-US" altLang="en-US" dirty="0"/>
              <a:t> organization is one that combines two or more independent processors into a single package, often a single integrated circuit (IC). </a:t>
            </a:r>
          </a:p>
          <a:p>
            <a:pPr algn="just">
              <a:lnSpc>
                <a:spcPct val="80000"/>
              </a:lnSpc>
            </a:pPr>
            <a:r>
              <a:rPr lang="en-US" altLang="en-US" dirty="0"/>
              <a:t>A </a:t>
            </a:r>
            <a:r>
              <a:rPr lang="en-US" altLang="en-US" b="1" dirty="0"/>
              <a:t>dual-core</a:t>
            </a:r>
            <a:r>
              <a:rPr lang="en-US" altLang="en-US" dirty="0"/>
              <a:t> device contains two independent microprocessors. </a:t>
            </a:r>
          </a:p>
          <a:p>
            <a:pPr algn="just">
              <a:lnSpc>
                <a:spcPct val="80000"/>
              </a:lnSpc>
            </a:pPr>
            <a:r>
              <a:rPr lang="en-US" altLang="en-US" dirty="0"/>
              <a:t>In general, multi-core organization allow a computing device to exhibit some form of thread-level parallelism (</a:t>
            </a:r>
            <a:r>
              <a:rPr lang="en-US" altLang="en-US" b="1" dirty="0"/>
              <a:t>TLP</a:t>
            </a:r>
            <a:r>
              <a:rPr lang="en-US" altLang="en-US" dirty="0"/>
              <a:t>) without including multiple microprocessors in separate physical packages. </a:t>
            </a:r>
          </a:p>
          <a:p>
            <a:pPr>
              <a:lnSpc>
                <a:spcPct val="80000"/>
              </a:lnSpc>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11C7576-3318-D645-9F12-134BDF0A52EE}"/>
              </a:ext>
            </a:extLst>
          </p:cNvPr>
          <p:cNvSpPr>
            <a:spLocks noGrp="1"/>
          </p:cNvSpPr>
          <p:nvPr>
            <p:ph type="sldNum" sz="quarter" idx="11"/>
          </p:nvPr>
        </p:nvSpPr>
        <p:spPr/>
        <p:txBody>
          <a:bodyPr/>
          <a:lstStyle/>
          <a:p>
            <a:fld id="{D4DB531A-4AC1-2840-849A-078949C078F0}" type="slidenum">
              <a:rPr lang="en-US" altLang="en-US"/>
              <a:pPr/>
              <a:t>4</a:t>
            </a:fld>
            <a:endParaRPr lang="en-US" altLang="en-US"/>
          </a:p>
        </p:txBody>
      </p:sp>
      <p:sp>
        <p:nvSpPr>
          <p:cNvPr id="5122" name="Rectangle 2">
            <a:extLst>
              <a:ext uri="{FF2B5EF4-FFF2-40B4-BE49-F238E27FC236}">
                <a16:creationId xmlns:a16="http://schemas.microsoft.com/office/drawing/2014/main" id="{5415FC23-32C5-BC40-AAEE-94029C50B5D8}"/>
              </a:ext>
            </a:extLst>
          </p:cNvPr>
          <p:cNvSpPr>
            <a:spLocks noGrp="1" noChangeArrowheads="1"/>
          </p:cNvSpPr>
          <p:nvPr>
            <p:ph type="title"/>
          </p:nvPr>
        </p:nvSpPr>
        <p:spPr/>
        <p:txBody>
          <a:bodyPr/>
          <a:lstStyle/>
          <a:p>
            <a:r>
              <a:rPr lang="en-US" altLang="en-US"/>
              <a:t>Major Technology Providers</a:t>
            </a:r>
          </a:p>
        </p:txBody>
      </p:sp>
      <p:sp>
        <p:nvSpPr>
          <p:cNvPr id="5123" name="Rectangle 3">
            <a:extLst>
              <a:ext uri="{FF2B5EF4-FFF2-40B4-BE49-F238E27FC236}">
                <a16:creationId xmlns:a16="http://schemas.microsoft.com/office/drawing/2014/main" id="{3957B9F5-459F-8A4F-898A-8EA882A91E2D}"/>
              </a:ext>
            </a:extLst>
          </p:cNvPr>
          <p:cNvSpPr>
            <a:spLocks noGrp="1" noChangeArrowheads="1"/>
          </p:cNvSpPr>
          <p:nvPr>
            <p:ph type="body" idx="1"/>
          </p:nvPr>
        </p:nvSpPr>
        <p:spPr/>
        <p:txBody>
          <a:bodyPr/>
          <a:lstStyle/>
          <a:p>
            <a:pPr algn="just">
              <a:lnSpc>
                <a:spcPct val="80000"/>
              </a:lnSpc>
            </a:pPr>
            <a:r>
              <a:rPr lang="en-US" altLang="en-US" sz="1800" dirty="0"/>
              <a:t>The latest versions of many architectures use </a:t>
            </a:r>
            <a:r>
              <a:rPr lang="en-US" altLang="en-US" sz="1800" b="1" dirty="0"/>
              <a:t>multi-core</a:t>
            </a:r>
            <a:r>
              <a:rPr lang="en-US" altLang="en-US" sz="1800" dirty="0"/>
              <a:t>, including PA-RISC (PA-8800), IBM POWER (POWER7), SPARC (UltraSPARC IV), and various processors from Intel and AMD.</a:t>
            </a:r>
          </a:p>
          <a:p>
            <a:pPr algn="just">
              <a:lnSpc>
                <a:spcPct val="80000"/>
              </a:lnSpc>
            </a:pPr>
            <a:r>
              <a:rPr lang="en-US" altLang="en-US" sz="1800" dirty="0"/>
              <a:t>There is some controversy as to whether multiple cores on a chip is the same thing as multiple processors. Major technology providers are divided on this issue. </a:t>
            </a:r>
          </a:p>
          <a:p>
            <a:pPr algn="just">
              <a:lnSpc>
                <a:spcPct val="80000"/>
              </a:lnSpc>
            </a:pPr>
            <a:r>
              <a:rPr lang="en-US" altLang="en-US" sz="1800" dirty="0"/>
              <a:t>IBM considers its dual-core POWER4 and POWER5 to be two processors, just packaged together. </a:t>
            </a:r>
          </a:p>
          <a:p>
            <a:pPr algn="just">
              <a:lnSpc>
                <a:spcPct val="80000"/>
              </a:lnSpc>
            </a:pPr>
            <a:r>
              <a:rPr lang="en-US" altLang="en-US" sz="1800" dirty="0"/>
              <a:t>Sun Microsystems, in contrast, considers its UltraSPARC IV to be a multi-threaded rather than multi-processor chip. </a:t>
            </a:r>
          </a:p>
          <a:p>
            <a:pPr algn="just">
              <a:lnSpc>
                <a:spcPct val="80000"/>
              </a:lnSpc>
            </a:pPr>
            <a:r>
              <a:rPr lang="en-US" altLang="en-US" sz="1800" dirty="0"/>
              <a:t>Intel considers their multi-core designs to be a single processor. </a:t>
            </a:r>
          </a:p>
          <a:p>
            <a:pPr algn="just">
              <a:lnSpc>
                <a:spcPct val="80000"/>
              </a:lnSpc>
            </a:pPr>
            <a:r>
              <a:rPr lang="en-US" altLang="en-US" sz="1800" dirty="0"/>
              <a:t>This is not an idle debate, because software is often more expensive when licensed for more processors.</a:t>
            </a:r>
          </a:p>
          <a:p>
            <a:pPr marL="0" indent="0">
              <a:lnSpc>
                <a:spcPct val="80000"/>
              </a:lnSpc>
              <a:buNone/>
            </a:pPr>
            <a:endParaRPr lang="en-US" alt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14FDEE3C-8065-314D-A57C-D9D23ED726E3}"/>
              </a:ext>
            </a:extLst>
          </p:cNvPr>
          <p:cNvSpPr>
            <a:spLocks noGrp="1"/>
          </p:cNvSpPr>
          <p:nvPr>
            <p:ph type="sldNum" sz="quarter" idx="11"/>
          </p:nvPr>
        </p:nvSpPr>
        <p:spPr/>
        <p:txBody>
          <a:bodyPr/>
          <a:lstStyle/>
          <a:p>
            <a:fld id="{2EDF22A3-2980-3A42-9FFB-5B7DF0B98221}" type="slidenum">
              <a:rPr lang="en-US" altLang="en-US"/>
              <a:pPr/>
              <a:t>5</a:t>
            </a:fld>
            <a:endParaRPr lang="en-US" altLang="en-US"/>
          </a:p>
        </p:txBody>
      </p:sp>
      <p:sp>
        <p:nvSpPr>
          <p:cNvPr id="12290" name="Rectangle 2">
            <a:extLst>
              <a:ext uri="{FF2B5EF4-FFF2-40B4-BE49-F238E27FC236}">
                <a16:creationId xmlns:a16="http://schemas.microsoft.com/office/drawing/2014/main" id="{9DB54211-878A-EA44-99E4-3FD6E19711EC}"/>
              </a:ext>
            </a:extLst>
          </p:cNvPr>
          <p:cNvSpPr>
            <a:spLocks noGrp="1" noChangeArrowheads="1"/>
          </p:cNvSpPr>
          <p:nvPr>
            <p:ph type="title"/>
          </p:nvPr>
        </p:nvSpPr>
        <p:spPr/>
        <p:txBody>
          <a:bodyPr/>
          <a:lstStyle/>
          <a:p>
            <a:r>
              <a:rPr lang="en-US" altLang="en-US"/>
              <a:t>Single-core computer</a:t>
            </a:r>
          </a:p>
        </p:txBody>
      </p:sp>
      <p:graphicFrame>
        <p:nvGraphicFramePr>
          <p:cNvPr id="12291" name="Object 3">
            <a:extLst>
              <a:ext uri="{FF2B5EF4-FFF2-40B4-BE49-F238E27FC236}">
                <a16:creationId xmlns:a16="http://schemas.microsoft.com/office/drawing/2014/main" id="{1EEBCFF5-7276-FD46-9208-0CBE01A73D7A}"/>
              </a:ext>
            </a:extLst>
          </p:cNvPr>
          <p:cNvGraphicFramePr>
            <a:graphicFrameLocks noGrp="1" noChangeAspect="1"/>
          </p:cNvGraphicFramePr>
          <p:nvPr>
            <p:ph idx="1"/>
          </p:nvPr>
        </p:nvGraphicFramePr>
        <p:xfrm>
          <a:off x="2286000" y="1447801"/>
          <a:ext cx="7213600" cy="4525963"/>
        </p:xfrm>
        <a:graphic>
          <a:graphicData uri="http://schemas.openxmlformats.org/presentationml/2006/ole">
            <mc:AlternateContent xmlns:mc="http://schemas.openxmlformats.org/markup-compatibility/2006">
              <mc:Choice xmlns:v="urn:schemas-microsoft-com:vml" Requires="v">
                <p:oleObj spid="_x0000_s7182" name="Paint Shop Pro Image" r:id="rId4" imgW="9687805" imgH="6078049" progId="">
                  <p:embed/>
                </p:oleObj>
              </mc:Choice>
              <mc:Fallback>
                <p:oleObj name="Paint Shop Pro Image" r:id="rId4" imgW="9687805" imgH="6078049"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447801"/>
                        <a:ext cx="7213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2" name="Rectangle 4">
            <a:extLst>
              <a:ext uri="{FF2B5EF4-FFF2-40B4-BE49-F238E27FC236}">
                <a16:creationId xmlns:a16="http://schemas.microsoft.com/office/drawing/2014/main" id="{43911228-CE2C-4E41-BD3A-304755A51554}"/>
              </a:ext>
            </a:extLst>
          </p:cNvPr>
          <p:cNvSpPr>
            <a:spLocks noChangeArrowheads="1"/>
          </p:cNvSpPr>
          <p:nvPr/>
        </p:nvSpPr>
        <p:spPr bwMode="auto">
          <a:xfrm>
            <a:off x="2819400" y="1371600"/>
            <a:ext cx="2819400" cy="23622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21F809DE-8E3B-EA4B-BC10-068CDB04AD17}"/>
              </a:ext>
            </a:extLst>
          </p:cNvPr>
          <p:cNvSpPr>
            <a:spLocks noGrp="1"/>
          </p:cNvSpPr>
          <p:nvPr>
            <p:ph type="sldNum" sz="quarter" idx="11"/>
          </p:nvPr>
        </p:nvSpPr>
        <p:spPr/>
        <p:txBody>
          <a:bodyPr/>
          <a:lstStyle/>
          <a:p>
            <a:fld id="{DDCB9098-8357-4D4A-BEA1-13F87D92528A}" type="slidenum">
              <a:rPr lang="en-US" altLang="en-US"/>
              <a:pPr/>
              <a:t>6</a:t>
            </a:fld>
            <a:endParaRPr lang="en-US" altLang="en-US"/>
          </a:p>
        </p:txBody>
      </p:sp>
      <p:sp>
        <p:nvSpPr>
          <p:cNvPr id="16386" name="Rectangle 2">
            <a:extLst>
              <a:ext uri="{FF2B5EF4-FFF2-40B4-BE49-F238E27FC236}">
                <a16:creationId xmlns:a16="http://schemas.microsoft.com/office/drawing/2014/main" id="{48542714-24B0-7C42-94D9-BF4BEF4C891E}"/>
              </a:ext>
            </a:extLst>
          </p:cNvPr>
          <p:cNvSpPr>
            <a:spLocks noGrp="1" noChangeArrowheads="1"/>
          </p:cNvSpPr>
          <p:nvPr>
            <p:ph type="title"/>
          </p:nvPr>
        </p:nvSpPr>
        <p:spPr>
          <a:xfrm>
            <a:off x="1905000" y="304800"/>
            <a:ext cx="8229600" cy="1143000"/>
          </a:xfrm>
        </p:spPr>
        <p:txBody>
          <a:bodyPr>
            <a:normAutofit fontScale="90000"/>
          </a:bodyPr>
          <a:lstStyle/>
          <a:p>
            <a:br>
              <a:rPr lang="en-US" altLang="en-US" sz="4000"/>
            </a:br>
            <a:r>
              <a:rPr lang="en-US" altLang="en-US" sz="4000"/>
              <a:t>Multi-core architectures</a:t>
            </a:r>
          </a:p>
        </p:txBody>
      </p:sp>
      <p:sp>
        <p:nvSpPr>
          <p:cNvPr id="16387" name="Rectangle 3">
            <a:extLst>
              <a:ext uri="{FF2B5EF4-FFF2-40B4-BE49-F238E27FC236}">
                <a16:creationId xmlns:a16="http://schemas.microsoft.com/office/drawing/2014/main" id="{FC488B62-1608-0947-A5B5-689EF21004A1}"/>
              </a:ext>
            </a:extLst>
          </p:cNvPr>
          <p:cNvSpPr>
            <a:spLocks noGrp="1" noChangeArrowheads="1"/>
          </p:cNvSpPr>
          <p:nvPr>
            <p:ph type="body" idx="1"/>
          </p:nvPr>
        </p:nvSpPr>
        <p:spPr>
          <a:xfrm>
            <a:off x="1981200" y="1371601"/>
            <a:ext cx="8229600" cy="4525963"/>
          </a:xfrm>
        </p:spPr>
        <p:txBody>
          <a:bodyPr/>
          <a:lstStyle/>
          <a:p>
            <a:endParaRPr lang="en-US" altLang="en-US"/>
          </a:p>
          <a:p>
            <a:r>
              <a:rPr lang="en-US" altLang="en-US"/>
              <a:t>Replicate multiple processor cores on a single die.</a:t>
            </a:r>
          </a:p>
          <a:p>
            <a:endParaRPr lang="en-US" altLang="en-US"/>
          </a:p>
        </p:txBody>
      </p:sp>
      <p:graphicFrame>
        <p:nvGraphicFramePr>
          <p:cNvPr id="16388" name="Object 4">
            <a:extLst>
              <a:ext uri="{FF2B5EF4-FFF2-40B4-BE49-F238E27FC236}">
                <a16:creationId xmlns:a16="http://schemas.microsoft.com/office/drawing/2014/main" id="{D009304F-6D19-8D41-88BB-D5587E129CD2}"/>
              </a:ext>
            </a:extLst>
          </p:cNvPr>
          <p:cNvGraphicFramePr>
            <a:graphicFrameLocks noChangeAspect="1"/>
          </p:cNvGraphicFramePr>
          <p:nvPr/>
        </p:nvGraphicFramePr>
        <p:xfrm>
          <a:off x="1981200" y="3657600"/>
          <a:ext cx="8229600" cy="2630488"/>
        </p:xfrm>
        <a:graphic>
          <a:graphicData uri="http://schemas.openxmlformats.org/presentationml/2006/ole">
            <mc:AlternateContent xmlns:mc="http://schemas.openxmlformats.org/markup-compatibility/2006">
              <mc:Choice xmlns:v="urn:schemas-microsoft-com:vml" Requires="v">
                <p:oleObj spid="_x0000_s9230" name="Paint Shop Pro Image" r:id="rId4" imgW="10107317" imgH="2848780" progId="">
                  <p:embed/>
                </p:oleObj>
              </mc:Choice>
              <mc:Fallback>
                <p:oleObj name="Paint Shop Pro Image" r:id="rId4" imgW="10107317" imgH="284878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657600"/>
                        <a:ext cx="8229600" cy="263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Text Box 5">
            <a:extLst>
              <a:ext uri="{FF2B5EF4-FFF2-40B4-BE49-F238E27FC236}">
                <a16:creationId xmlns:a16="http://schemas.microsoft.com/office/drawing/2014/main" id="{540E2A09-D3C9-5749-BC65-5087ACC6E4D1}"/>
              </a:ext>
            </a:extLst>
          </p:cNvPr>
          <p:cNvSpPr txBox="1">
            <a:spLocks noChangeArrowheads="1"/>
          </p:cNvSpPr>
          <p:nvPr/>
        </p:nvSpPr>
        <p:spPr bwMode="auto">
          <a:xfrm>
            <a:off x="2655888" y="3457575"/>
            <a:ext cx="7923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Core 1</a:t>
            </a:r>
          </a:p>
        </p:txBody>
      </p:sp>
      <p:sp>
        <p:nvSpPr>
          <p:cNvPr id="16390" name="Text Box 6">
            <a:extLst>
              <a:ext uri="{FF2B5EF4-FFF2-40B4-BE49-F238E27FC236}">
                <a16:creationId xmlns:a16="http://schemas.microsoft.com/office/drawing/2014/main" id="{3C64F0C0-76CC-A447-943C-01BC97F07B7B}"/>
              </a:ext>
            </a:extLst>
          </p:cNvPr>
          <p:cNvSpPr txBox="1">
            <a:spLocks noChangeArrowheads="1"/>
          </p:cNvSpPr>
          <p:nvPr/>
        </p:nvSpPr>
        <p:spPr bwMode="auto">
          <a:xfrm>
            <a:off x="4408488" y="3457575"/>
            <a:ext cx="7923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Core 2</a:t>
            </a:r>
          </a:p>
        </p:txBody>
      </p:sp>
      <p:sp>
        <p:nvSpPr>
          <p:cNvPr id="16391" name="Text Box 7">
            <a:extLst>
              <a:ext uri="{FF2B5EF4-FFF2-40B4-BE49-F238E27FC236}">
                <a16:creationId xmlns:a16="http://schemas.microsoft.com/office/drawing/2014/main" id="{B0CE991F-3515-7547-B03B-DBE2164D7E64}"/>
              </a:ext>
            </a:extLst>
          </p:cNvPr>
          <p:cNvSpPr txBox="1">
            <a:spLocks noChangeArrowheads="1"/>
          </p:cNvSpPr>
          <p:nvPr/>
        </p:nvSpPr>
        <p:spPr bwMode="auto">
          <a:xfrm>
            <a:off x="6084888" y="3457575"/>
            <a:ext cx="7923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Core 3</a:t>
            </a:r>
          </a:p>
        </p:txBody>
      </p:sp>
      <p:sp>
        <p:nvSpPr>
          <p:cNvPr id="16392" name="Text Box 8">
            <a:extLst>
              <a:ext uri="{FF2B5EF4-FFF2-40B4-BE49-F238E27FC236}">
                <a16:creationId xmlns:a16="http://schemas.microsoft.com/office/drawing/2014/main" id="{20E5ECA5-75B4-A14A-B334-21AD2E89D2E4}"/>
              </a:ext>
            </a:extLst>
          </p:cNvPr>
          <p:cNvSpPr txBox="1">
            <a:spLocks noChangeArrowheads="1"/>
          </p:cNvSpPr>
          <p:nvPr/>
        </p:nvSpPr>
        <p:spPr bwMode="auto">
          <a:xfrm>
            <a:off x="7837488" y="3457575"/>
            <a:ext cx="7923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Core 4</a:t>
            </a:r>
          </a:p>
        </p:txBody>
      </p:sp>
      <p:sp>
        <p:nvSpPr>
          <p:cNvPr id="16393" name="Text Box 9">
            <a:extLst>
              <a:ext uri="{FF2B5EF4-FFF2-40B4-BE49-F238E27FC236}">
                <a16:creationId xmlns:a16="http://schemas.microsoft.com/office/drawing/2014/main" id="{5CEB3DF0-C0D7-5644-AFC3-51E997D21CF8}"/>
              </a:ext>
            </a:extLst>
          </p:cNvPr>
          <p:cNvSpPr txBox="1">
            <a:spLocks noChangeArrowheads="1"/>
          </p:cNvSpPr>
          <p:nvPr/>
        </p:nvSpPr>
        <p:spPr bwMode="auto">
          <a:xfrm>
            <a:off x="2122489" y="6276975"/>
            <a:ext cx="20568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Multi-core CPU chip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a:extLst>
              <a:ext uri="{FF2B5EF4-FFF2-40B4-BE49-F238E27FC236}">
                <a16:creationId xmlns:a16="http://schemas.microsoft.com/office/drawing/2014/main" id="{1DEFE7E1-ECB9-2E49-A1F8-EAE6EA2369A8}"/>
              </a:ext>
            </a:extLst>
          </p:cNvPr>
          <p:cNvSpPr>
            <a:spLocks noGrp="1"/>
          </p:cNvSpPr>
          <p:nvPr>
            <p:ph type="sldNum" sz="quarter" idx="11"/>
          </p:nvPr>
        </p:nvSpPr>
        <p:spPr/>
        <p:txBody>
          <a:bodyPr/>
          <a:lstStyle/>
          <a:p>
            <a:fld id="{38EF2861-2DD0-8347-B1E8-73EDC7A55AEB}" type="slidenum">
              <a:rPr lang="en-US" altLang="en-US"/>
              <a:pPr/>
              <a:t>7</a:t>
            </a:fld>
            <a:endParaRPr lang="en-US" altLang="en-US"/>
          </a:p>
        </p:txBody>
      </p:sp>
      <p:sp>
        <p:nvSpPr>
          <p:cNvPr id="18434" name="Rectangle 2">
            <a:extLst>
              <a:ext uri="{FF2B5EF4-FFF2-40B4-BE49-F238E27FC236}">
                <a16:creationId xmlns:a16="http://schemas.microsoft.com/office/drawing/2014/main" id="{81A3B87C-47FF-5749-8365-085E67C3FEE7}"/>
              </a:ext>
            </a:extLst>
          </p:cNvPr>
          <p:cNvSpPr>
            <a:spLocks noGrp="1" noChangeArrowheads="1"/>
          </p:cNvSpPr>
          <p:nvPr>
            <p:ph type="title"/>
          </p:nvPr>
        </p:nvSpPr>
        <p:spPr/>
        <p:txBody>
          <a:bodyPr/>
          <a:lstStyle/>
          <a:p>
            <a:r>
              <a:rPr lang="en-US" altLang="en-US"/>
              <a:t>Multi-core CPU chip</a:t>
            </a:r>
          </a:p>
        </p:txBody>
      </p:sp>
      <p:sp>
        <p:nvSpPr>
          <p:cNvPr id="18435" name="Rectangle 3">
            <a:extLst>
              <a:ext uri="{FF2B5EF4-FFF2-40B4-BE49-F238E27FC236}">
                <a16:creationId xmlns:a16="http://schemas.microsoft.com/office/drawing/2014/main" id="{88E1EB70-6299-9946-A0F6-579579F14948}"/>
              </a:ext>
            </a:extLst>
          </p:cNvPr>
          <p:cNvSpPr>
            <a:spLocks noGrp="1" noChangeArrowheads="1"/>
          </p:cNvSpPr>
          <p:nvPr>
            <p:ph type="body" idx="1"/>
          </p:nvPr>
        </p:nvSpPr>
        <p:spPr/>
        <p:txBody>
          <a:bodyPr/>
          <a:lstStyle/>
          <a:p>
            <a:r>
              <a:rPr lang="en-US" altLang="en-US"/>
              <a:t>The cores fit on a single processor socket</a:t>
            </a:r>
          </a:p>
          <a:p>
            <a:r>
              <a:rPr lang="en-US" altLang="en-US"/>
              <a:t>Also called CMP (Chip Multi-Processor)</a:t>
            </a:r>
          </a:p>
          <a:p>
            <a:endParaRPr lang="en-US" altLang="en-US"/>
          </a:p>
          <a:p>
            <a:endParaRPr lang="en-US" altLang="en-US"/>
          </a:p>
          <a:p>
            <a:endParaRPr lang="en-US" altLang="en-US"/>
          </a:p>
          <a:p>
            <a:pPr>
              <a:buFont typeface="Wingdings" pitchFamily="2" charset="2"/>
              <a:buNone/>
            </a:pPr>
            <a:br>
              <a:rPr lang="en-US" altLang="en-US"/>
            </a:br>
            <a:endParaRPr lang="en-US" altLang="en-US"/>
          </a:p>
        </p:txBody>
      </p:sp>
      <p:grpSp>
        <p:nvGrpSpPr>
          <p:cNvPr id="18436" name="Group 4">
            <a:extLst>
              <a:ext uri="{FF2B5EF4-FFF2-40B4-BE49-F238E27FC236}">
                <a16:creationId xmlns:a16="http://schemas.microsoft.com/office/drawing/2014/main" id="{E1024D83-B452-9049-BEA8-1C65C00351A8}"/>
              </a:ext>
            </a:extLst>
          </p:cNvPr>
          <p:cNvGrpSpPr>
            <a:grpSpLocks/>
          </p:cNvGrpSpPr>
          <p:nvPr/>
        </p:nvGrpSpPr>
        <p:grpSpPr bwMode="auto">
          <a:xfrm>
            <a:off x="2590801" y="3048001"/>
            <a:ext cx="7212013" cy="3395663"/>
            <a:chOff x="672" y="1488"/>
            <a:chExt cx="4543" cy="2139"/>
          </a:xfrm>
        </p:grpSpPr>
        <p:sp>
          <p:nvSpPr>
            <p:cNvPr id="18437" name="Rectangle 5">
              <a:extLst>
                <a:ext uri="{FF2B5EF4-FFF2-40B4-BE49-F238E27FC236}">
                  <a16:creationId xmlns:a16="http://schemas.microsoft.com/office/drawing/2014/main" id="{7F47BB43-C6E1-7842-9390-B4AA8A7684EA}"/>
                </a:ext>
              </a:extLst>
            </p:cNvPr>
            <p:cNvSpPr>
              <a:spLocks noChangeArrowheads="1"/>
            </p:cNvSpPr>
            <p:nvPr/>
          </p:nvSpPr>
          <p:spPr bwMode="auto">
            <a:xfrm>
              <a:off x="672" y="1488"/>
              <a:ext cx="4543" cy="2139"/>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8" name="Text Box 6">
              <a:extLst>
                <a:ext uri="{FF2B5EF4-FFF2-40B4-BE49-F238E27FC236}">
                  <a16:creationId xmlns:a16="http://schemas.microsoft.com/office/drawing/2014/main" id="{0B48613B-35CF-7E42-BA66-925408AB6EDF}"/>
                </a:ext>
              </a:extLst>
            </p:cNvPr>
            <p:cNvSpPr txBox="1">
              <a:spLocks noChangeArrowheads="1"/>
            </p:cNvSpPr>
            <p:nvPr/>
          </p:nvSpPr>
          <p:spPr bwMode="auto">
            <a:xfrm>
              <a:off x="720" y="2016"/>
              <a:ext cx="207"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1</a:t>
              </a:r>
            </a:p>
          </p:txBody>
        </p:sp>
        <p:sp>
          <p:nvSpPr>
            <p:cNvPr id="18439" name="Text Box 7">
              <a:extLst>
                <a:ext uri="{FF2B5EF4-FFF2-40B4-BE49-F238E27FC236}">
                  <a16:creationId xmlns:a16="http://schemas.microsoft.com/office/drawing/2014/main" id="{CCA96761-B94D-A34D-892A-D8225322E10A}"/>
                </a:ext>
              </a:extLst>
            </p:cNvPr>
            <p:cNvSpPr txBox="1">
              <a:spLocks noChangeArrowheads="1"/>
            </p:cNvSpPr>
            <p:nvPr/>
          </p:nvSpPr>
          <p:spPr bwMode="auto">
            <a:xfrm>
              <a:off x="1872" y="2016"/>
              <a:ext cx="207"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2</a:t>
              </a:r>
            </a:p>
          </p:txBody>
        </p:sp>
        <p:sp>
          <p:nvSpPr>
            <p:cNvPr id="18440" name="Text Box 8">
              <a:extLst>
                <a:ext uri="{FF2B5EF4-FFF2-40B4-BE49-F238E27FC236}">
                  <a16:creationId xmlns:a16="http://schemas.microsoft.com/office/drawing/2014/main" id="{63204CE5-EE55-4A40-8C9D-FC8B2D85C6BD}"/>
                </a:ext>
              </a:extLst>
            </p:cNvPr>
            <p:cNvSpPr txBox="1">
              <a:spLocks noChangeArrowheads="1"/>
            </p:cNvSpPr>
            <p:nvPr/>
          </p:nvSpPr>
          <p:spPr bwMode="auto">
            <a:xfrm>
              <a:off x="3024" y="2016"/>
              <a:ext cx="207"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3</a:t>
              </a:r>
            </a:p>
          </p:txBody>
        </p:sp>
        <p:sp>
          <p:nvSpPr>
            <p:cNvPr id="18441" name="Text Box 9">
              <a:extLst>
                <a:ext uri="{FF2B5EF4-FFF2-40B4-BE49-F238E27FC236}">
                  <a16:creationId xmlns:a16="http://schemas.microsoft.com/office/drawing/2014/main" id="{F771493D-1B9B-304D-BA34-A4180D405E91}"/>
                </a:ext>
              </a:extLst>
            </p:cNvPr>
            <p:cNvSpPr txBox="1">
              <a:spLocks noChangeArrowheads="1"/>
            </p:cNvSpPr>
            <p:nvPr/>
          </p:nvSpPr>
          <p:spPr bwMode="auto">
            <a:xfrm>
              <a:off x="4176" y="2016"/>
              <a:ext cx="207"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4</a:t>
              </a:r>
            </a:p>
          </p:txBody>
        </p:sp>
        <p:sp>
          <p:nvSpPr>
            <p:cNvPr id="18442" name="Line 10">
              <a:extLst>
                <a:ext uri="{FF2B5EF4-FFF2-40B4-BE49-F238E27FC236}">
                  <a16:creationId xmlns:a16="http://schemas.microsoft.com/office/drawing/2014/main" id="{2E687D3F-E3E5-C544-AC30-0B2E0E72FFB3}"/>
                </a:ext>
              </a:extLst>
            </p:cNvPr>
            <p:cNvSpPr>
              <a:spLocks noChangeShapeType="1"/>
            </p:cNvSpPr>
            <p:nvPr/>
          </p:nvSpPr>
          <p:spPr bwMode="auto">
            <a:xfrm>
              <a:off x="2944" y="1488"/>
              <a:ext cx="0" cy="213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Line 11">
              <a:extLst>
                <a:ext uri="{FF2B5EF4-FFF2-40B4-BE49-F238E27FC236}">
                  <a16:creationId xmlns:a16="http://schemas.microsoft.com/office/drawing/2014/main" id="{FB67663D-4949-B749-B825-11B368DDFEAC}"/>
                </a:ext>
              </a:extLst>
            </p:cNvPr>
            <p:cNvSpPr>
              <a:spLocks noChangeShapeType="1"/>
            </p:cNvSpPr>
            <p:nvPr/>
          </p:nvSpPr>
          <p:spPr bwMode="auto">
            <a:xfrm flipH="1">
              <a:off x="1776" y="1488"/>
              <a:ext cx="8" cy="2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Line 12">
              <a:extLst>
                <a:ext uri="{FF2B5EF4-FFF2-40B4-BE49-F238E27FC236}">
                  <a16:creationId xmlns:a16="http://schemas.microsoft.com/office/drawing/2014/main" id="{446968B4-5582-964A-A219-7B9E6AF85D35}"/>
                </a:ext>
              </a:extLst>
            </p:cNvPr>
            <p:cNvSpPr>
              <a:spLocks noChangeShapeType="1"/>
            </p:cNvSpPr>
            <p:nvPr/>
          </p:nvSpPr>
          <p:spPr bwMode="auto">
            <a:xfrm>
              <a:off x="4080" y="1488"/>
              <a:ext cx="0" cy="213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4">
            <a:extLst>
              <a:ext uri="{FF2B5EF4-FFF2-40B4-BE49-F238E27FC236}">
                <a16:creationId xmlns:a16="http://schemas.microsoft.com/office/drawing/2014/main" id="{92CE9B4C-AB76-F849-BB30-B522EBD30794}"/>
              </a:ext>
            </a:extLst>
          </p:cNvPr>
          <p:cNvSpPr>
            <a:spLocks noGrp="1"/>
          </p:cNvSpPr>
          <p:nvPr>
            <p:ph type="sldNum" sz="quarter" idx="11"/>
          </p:nvPr>
        </p:nvSpPr>
        <p:spPr/>
        <p:txBody>
          <a:bodyPr/>
          <a:lstStyle/>
          <a:p>
            <a:fld id="{7FA4D194-2D5B-E04B-9993-0D7FA83FF855}" type="slidenum">
              <a:rPr lang="en-US" altLang="en-US"/>
              <a:pPr/>
              <a:t>8</a:t>
            </a:fld>
            <a:endParaRPr lang="en-US" altLang="en-US"/>
          </a:p>
        </p:txBody>
      </p:sp>
      <p:sp>
        <p:nvSpPr>
          <p:cNvPr id="20482" name="Rectangle 2">
            <a:extLst>
              <a:ext uri="{FF2B5EF4-FFF2-40B4-BE49-F238E27FC236}">
                <a16:creationId xmlns:a16="http://schemas.microsoft.com/office/drawing/2014/main" id="{EA130A86-3DE2-7242-B272-D0EA0ED6BA0C}"/>
              </a:ext>
            </a:extLst>
          </p:cNvPr>
          <p:cNvSpPr>
            <a:spLocks noGrp="1" noChangeArrowheads="1"/>
          </p:cNvSpPr>
          <p:nvPr>
            <p:ph type="title"/>
          </p:nvPr>
        </p:nvSpPr>
        <p:spPr/>
        <p:txBody>
          <a:bodyPr/>
          <a:lstStyle/>
          <a:p>
            <a:r>
              <a:rPr lang="en-US" altLang="en-US"/>
              <a:t>The cores run in parallel</a:t>
            </a:r>
          </a:p>
        </p:txBody>
      </p:sp>
      <p:sp>
        <p:nvSpPr>
          <p:cNvPr id="20483" name="Rectangle 3">
            <a:extLst>
              <a:ext uri="{FF2B5EF4-FFF2-40B4-BE49-F238E27FC236}">
                <a16:creationId xmlns:a16="http://schemas.microsoft.com/office/drawing/2014/main" id="{14DDC79F-C91F-C947-AC59-8BA7D8E6E080}"/>
              </a:ext>
            </a:extLst>
          </p:cNvPr>
          <p:cNvSpPr>
            <a:spLocks noChangeArrowheads="1"/>
          </p:cNvSpPr>
          <p:nvPr/>
        </p:nvSpPr>
        <p:spPr bwMode="auto">
          <a:xfrm>
            <a:off x="2590801" y="2362201"/>
            <a:ext cx="7212013" cy="3395663"/>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 name="Line 4">
            <a:extLst>
              <a:ext uri="{FF2B5EF4-FFF2-40B4-BE49-F238E27FC236}">
                <a16:creationId xmlns:a16="http://schemas.microsoft.com/office/drawing/2014/main" id="{77D7ECB3-5259-E44E-9E8C-ABA124DBB21C}"/>
              </a:ext>
            </a:extLst>
          </p:cNvPr>
          <p:cNvSpPr>
            <a:spLocks noChangeShapeType="1"/>
          </p:cNvSpPr>
          <p:nvPr/>
        </p:nvSpPr>
        <p:spPr bwMode="auto">
          <a:xfrm>
            <a:off x="6197600" y="2362201"/>
            <a:ext cx="0" cy="3389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5" name="Line 5">
            <a:extLst>
              <a:ext uri="{FF2B5EF4-FFF2-40B4-BE49-F238E27FC236}">
                <a16:creationId xmlns:a16="http://schemas.microsoft.com/office/drawing/2014/main" id="{0769FF25-3D7D-A043-87C2-D7B2184DF1D5}"/>
              </a:ext>
            </a:extLst>
          </p:cNvPr>
          <p:cNvSpPr>
            <a:spLocks noChangeShapeType="1"/>
          </p:cNvSpPr>
          <p:nvPr/>
        </p:nvSpPr>
        <p:spPr bwMode="auto">
          <a:xfrm flipH="1">
            <a:off x="4343400" y="2362200"/>
            <a:ext cx="12700" cy="3390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6" name="Line 6">
            <a:extLst>
              <a:ext uri="{FF2B5EF4-FFF2-40B4-BE49-F238E27FC236}">
                <a16:creationId xmlns:a16="http://schemas.microsoft.com/office/drawing/2014/main" id="{55FF822D-0D4B-314F-BDC9-BFFDB4CB3A3D}"/>
              </a:ext>
            </a:extLst>
          </p:cNvPr>
          <p:cNvSpPr>
            <a:spLocks noChangeShapeType="1"/>
          </p:cNvSpPr>
          <p:nvPr/>
        </p:nvSpPr>
        <p:spPr bwMode="auto">
          <a:xfrm>
            <a:off x="8001000" y="2362201"/>
            <a:ext cx="0" cy="3389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7" name="Text Box 7">
            <a:extLst>
              <a:ext uri="{FF2B5EF4-FFF2-40B4-BE49-F238E27FC236}">
                <a16:creationId xmlns:a16="http://schemas.microsoft.com/office/drawing/2014/main" id="{5D94828A-3CB5-D44B-9A25-C35EC5E0372C}"/>
              </a:ext>
            </a:extLst>
          </p:cNvPr>
          <p:cNvSpPr txBox="1">
            <a:spLocks noChangeArrowheads="1"/>
          </p:cNvSpPr>
          <p:nvPr/>
        </p:nvSpPr>
        <p:spPr bwMode="auto">
          <a:xfrm>
            <a:off x="26670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1</a:t>
            </a:r>
          </a:p>
        </p:txBody>
      </p:sp>
      <p:sp>
        <p:nvSpPr>
          <p:cNvPr id="20488" name="Text Box 8">
            <a:extLst>
              <a:ext uri="{FF2B5EF4-FFF2-40B4-BE49-F238E27FC236}">
                <a16:creationId xmlns:a16="http://schemas.microsoft.com/office/drawing/2014/main" id="{332270B4-89E7-124A-82EF-FCFA26E5EDB6}"/>
              </a:ext>
            </a:extLst>
          </p:cNvPr>
          <p:cNvSpPr txBox="1">
            <a:spLocks noChangeArrowheads="1"/>
          </p:cNvSpPr>
          <p:nvPr/>
        </p:nvSpPr>
        <p:spPr bwMode="auto">
          <a:xfrm>
            <a:off x="44958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2</a:t>
            </a:r>
          </a:p>
        </p:txBody>
      </p:sp>
      <p:sp>
        <p:nvSpPr>
          <p:cNvPr id="20489" name="Text Box 9">
            <a:extLst>
              <a:ext uri="{FF2B5EF4-FFF2-40B4-BE49-F238E27FC236}">
                <a16:creationId xmlns:a16="http://schemas.microsoft.com/office/drawing/2014/main" id="{E1FBB13E-5CC2-344C-B162-ED9E81C11625}"/>
              </a:ext>
            </a:extLst>
          </p:cNvPr>
          <p:cNvSpPr txBox="1">
            <a:spLocks noChangeArrowheads="1"/>
          </p:cNvSpPr>
          <p:nvPr/>
        </p:nvSpPr>
        <p:spPr bwMode="auto">
          <a:xfrm>
            <a:off x="63246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3</a:t>
            </a:r>
          </a:p>
        </p:txBody>
      </p:sp>
      <p:sp>
        <p:nvSpPr>
          <p:cNvPr id="20490" name="Text Box 10">
            <a:extLst>
              <a:ext uri="{FF2B5EF4-FFF2-40B4-BE49-F238E27FC236}">
                <a16:creationId xmlns:a16="http://schemas.microsoft.com/office/drawing/2014/main" id="{792F4C75-D81A-7B43-969A-6E40D6DA5939}"/>
              </a:ext>
            </a:extLst>
          </p:cNvPr>
          <p:cNvSpPr txBox="1">
            <a:spLocks noChangeArrowheads="1"/>
          </p:cNvSpPr>
          <p:nvPr/>
        </p:nvSpPr>
        <p:spPr bwMode="auto">
          <a:xfrm>
            <a:off x="81534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4</a:t>
            </a:r>
          </a:p>
        </p:txBody>
      </p:sp>
      <p:sp>
        <p:nvSpPr>
          <p:cNvPr id="20491" name="Line 11">
            <a:extLst>
              <a:ext uri="{FF2B5EF4-FFF2-40B4-BE49-F238E27FC236}">
                <a16:creationId xmlns:a16="http://schemas.microsoft.com/office/drawing/2014/main" id="{B977E7A1-5512-E24F-862B-897BECC94B30}"/>
              </a:ext>
            </a:extLst>
          </p:cNvPr>
          <p:cNvSpPr>
            <a:spLocks noChangeShapeType="1"/>
          </p:cNvSpPr>
          <p:nvPr/>
        </p:nvSpPr>
        <p:spPr bwMode="auto">
          <a:xfrm>
            <a:off x="3505200" y="18288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2" name="Line 12">
            <a:extLst>
              <a:ext uri="{FF2B5EF4-FFF2-40B4-BE49-F238E27FC236}">
                <a16:creationId xmlns:a16="http://schemas.microsoft.com/office/drawing/2014/main" id="{7A2EF870-BD6C-5A41-8176-1AE9C121032A}"/>
              </a:ext>
            </a:extLst>
          </p:cNvPr>
          <p:cNvSpPr>
            <a:spLocks noChangeShapeType="1"/>
          </p:cNvSpPr>
          <p:nvPr/>
        </p:nvSpPr>
        <p:spPr bwMode="auto">
          <a:xfrm>
            <a:off x="5334000" y="18288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3" name="Line 13">
            <a:extLst>
              <a:ext uri="{FF2B5EF4-FFF2-40B4-BE49-F238E27FC236}">
                <a16:creationId xmlns:a16="http://schemas.microsoft.com/office/drawing/2014/main" id="{41785676-7830-FC48-98F6-EADB00209224}"/>
              </a:ext>
            </a:extLst>
          </p:cNvPr>
          <p:cNvSpPr>
            <a:spLocks noChangeShapeType="1"/>
          </p:cNvSpPr>
          <p:nvPr/>
        </p:nvSpPr>
        <p:spPr bwMode="auto">
          <a:xfrm>
            <a:off x="7162800" y="18288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4" name="Line 14">
            <a:extLst>
              <a:ext uri="{FF2B5EF4-FFF2-40B4-BE49-F238E27FC236}">
                <a16:creationId xmlns:a16="http://schemas.microsoft.com/office/drawing/2014/main" id="{B9B06526-606B-2549-9A9F-6603FDBCE78D}"/>
              </a:ext>
            </a:extLst>
          </p:cNvPr>
          <p:cNvSpPr>
            <a:spLocks noChangeShapeType="1"/>
          </p:cNvSpPr>
          <p:nvPr/>
        </p:nvSpPr>
        <p:spPr bwMode="auto">
          <a:xfrm>
            <a:off x="8991600" y="18288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5" name="Text Box 15">
            <a:extLst>
              <a:ext uri="{FF2B5EF4-FFF2-40B4-BE49-F238E27FC236}">
                <a16:creationId xmlns:a16="http://schemas.microsoft.com/office/drawing/2014/main" id="{9994B9DF-2C47-F243-9462-3BC07C4E6A03}"/>
              </a:ext>
            </a:extLst>
          </p:cNvPr>
          <p:cNvSpPr txBox="1">
            <a:spLocks noChangeArrowheads="1"/>
          </p:cNvSpPr>
          <p:nvPr/>
        </p:nvSpPr>
        <p:spPr bwMode="auto">
          <a:xfrm>
            <a:off x="2971801" y="1371600"/>
            <a:ext cx="978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thread 1</a:t>
            </a:r>
          </a:p>
        </p:txBody>
      </p:sp>
      <p:sp>
        <p:nvSpPr>
          <p:cNvPr id="20496" name="Text Box 16">
            <a:extLst>
              <a:ext uri="{FF2B5EF4-FFF2-40B4-BE49-F238E27FC236}">
                <a16:creationId xmlns:a16="http://schemas.microsoft.com/office/drawing/2014/main" id="{93E76A46-7DDD-1B48-9F49-1D37131C5301}"/>
              </a:ext>
            </a:extLst>
          </p:cNvPr>
          <p:cNvSpPr txBox="1">
            <a:spLocks noChangeArrowheads="1"/>
          </p:cNvSpPr>
          <p:nvPr/>
        </p:nvSpPr>
        <p:spPr bwMode="auto">
          <a:xfrm>
            <a:off x="4800601" y="1371600"/>
            <a:ext cx="978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thread 2</a:t>
            </a:r>
          </a:p>
        </p:txBody>
      </p:sp>
      <p:sp>
        <p:nvSpPr>
          <p:cNvPr id="20497" name="Text Box 17">
            <a:extLst>
              <a:ext uri="{FF2B5EF4-FFF2-40B4-BE49-F238E27FC236}">
                <a16:creationId xmlns:a16="http://schemas.microsoft.com/office/drawing/2014/main" id="{869D576C-7B8D-D148-A4B9-4147C86325C0}"/>
              </a:ext>
            </a:extLst>
          </p:cNvPr>
          <p:cNvSpPr txBox="1">
            <a:spLocks noChangeArrowheads="1"/>
          </p:cNvSpPr>
          <p:nvPr/>
        </p:nvSpPr>
        <p:spPr bwMode="auto">
          <a:xfrm>
            <a:off x="6629401" y="1371600"/>
            <a:ext cx="978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thread 3</a:t>
            </a:r>
          </a:p>
        </p:txBody>
      </p:sp>
      <p:sp>
        <p:nvSpPr>
          <p:cNvPr id="20498" name="Text Box 18">
            <a:extLst>
              <a:ext uri="{FF2B5EF4-FFF2-40B4-BE49-F238E27FC236}">
                <a16:creationId xmlns:a16="http://schemas.microsoft.com/office/drawing/2014/main" id="{F2AAA9D0-69A3-9243-9ADB-52905C2E3BBF}"/>
              </a:ext>
            </a:extLst>
          </p:cNvPr>
          <p:cNvSpPr txBox="1">
            <a:spLocks noChangeArrowheads="1"/>
          </p:cNvSpPr>
          <p:nvPr/>
        </p:nvSpPr>
        <p:spPr bwMode="auto">
          <a:xfrm>
            <a:off x="8458201" y="1371600"/>
            <a:ext cx="978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thread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4">
            <a:extLst>
              <a:ext uri="{FF2B5EF4-FFF2-40B4-BE49-F238E27FC236}">
                <a16:creationId xmlns:a16="http://schemas.microsoft.com/office/drawing/2014/main" id="{ABB08AA9-ED1A-9843-9768-46507F3BC143}"/>
              </a:ext>
            </a:extLst>
          </p:cNvPr>
          <p:cNvSpPr>
            <a:spLocks noGrp="1"/>
          </p:cNvSpPr>
          <p:nvPr>
            <p:ph type="sldNum" sz="quarter" idx="11"/>
          </p:nvPr>
        </p:nvSpPr>
        <p:spPr/>
        <p:txBody>
          <a:bodyPr/>
          <a:lstStyle/>
          <a:p>
            <a:fld id="{72519FD0-BBB4-F248-9514-AE8FF7A2B60D}" type="slidenum">
              <a:rPr lang="en-US" altLang="en-US"/>
              <a:pPr/>
              <a:t>9</a:t>
            </a:fld>
            <a:endParaRPr lang="en-US" altLang="en-US"/>
          </a:p>
        </p:txBody>
      </p:sp>
      <p:sp>
        <p:nvSpPr>
          <p:cNvPr id="22530" name="Rectangle 2">
            <a:extLst>
              <a:ext uri="{FF2B5EF4-FFF2-40B4-BE49-F238E27FC236}">
                <a16:creationId xmlns:a16="http://schemas.microsoft.com/office/drawing/2014/main" id="{61A34C96-1437-F846-B3EE-9913AE8753E7}"/>
              </a:ext>
            </a:extLst>
          </p:cNvPr>
          <p:cNvSpPr>
            <a:spLocks noGrp="1" noChangeArrowheads="1"/>
          </p:cNvSpPr>
          <p:nvPr>
            <p:ph type="title"/>
          </p:nvPr>
        </p:nvSpPr>
        <p:spPr>
          <a:xfrm>
            <a:off x="1981200" y="304800"/>
            <a:ext cx="8229600" cy="1143000"/>
          </a:xfrm>
        </p:spPr>
        <p:txBody>
          <a:bodyPr/>
          <a:lstStyle/>
          <a:p>
            <a:r>
              <a:rPr lang="en-US" altLang="en-US" sz="3200"/>
              <a:t>Within each core, threads are time-sliced (just like on a uniprocessor)</a:t>
            </a:r>
            <a:endParaRPr lang="en-US" altLang="en-US"/>
          </a:p>
        </p:txBody>
      </p:sp>
      <p:sp>
        <p:nvSpPr>
          <p:cNvPr id="22531" name="Rectangle 3">
            <a:extLst>
              <a:ext uri="{FF2B5EF4-FFF2-40B4-BE49-F238E27FC236}">
                <a16:creationId xmlns:a16="http://schemas.microsoft.com/office/drawing/2014/main" id="{8C284F46-DA6B-BC47-A996-9EB25990BC73}"/>
              </a:ext>
            </a:extLst>
          </p:cNvPr>
          <p:cNvSpPr>
            <a:spLocks noChangeArrowheads="1"/>
          </p:cNvSpPr>
          <p:nvPr/>
        </p:nvSpPr>
        <p:spPr bwMode="auto">
          <a:xfrm>
            <a:off x="2590801" y="2362201"/>
            <a:ext cx="7212013" cy="3395663"/>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2" name="Line 4">
            <a:extLst>
              <a:ext uri="{FF2B5EF4-FFF2-40B4-BE49-F238E27FC236}">
                <a16:creationId xmlns:a16="http://schemas.microsoft.com/office/drawing/2014/main" id="{01944A06-B657-E84C-B676-BE47330447AF}"/>
              </a:ext>
            </a:extLst>
          </p:cNvPr>
          <p:cNvSpPr>
            <a:spLocks noChangeShapeType="1"/>
          </p:cNvSpPr>
          <p:nvPr/>
        </p:nvSpPr>
        <p:spPr bwMode="auto">
          <a:xfrm>
            <a:off x="6197600" y="2362201"/>
            <a:ext cx="0" cy="3389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3" name="Line 5">
            <a:extLst>
              <a:ext uri="{FF2B5EF4-FFF2-40B4-BE49-F238E27FC236}">
                <a16:creationId xmlns:a16="http://schemas.microsoft.com/office/drawing/2014/main" id="{20DC2BEE-C0CE-6B46-8B84-42FEDBFA52A2}"/>
              </a:ext>
            </a:extLst>
          </p:cNvPr>
          <p:cNvSpPr>
            <a:spLocks noChangeShapeType="1"/>
          </p:cNvSpPr>
          <p:nvPr/>
        </p:nvSpPr>
        <p:spPr bwMode="auto">
          <a:xfrm flipH="1">
            <a:off x="4343400" y="2362200"/>
            <a:ext cx="12700" cy="3390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4" name="Line 6">
            <a:extLst>
              <a:ext uri="{FF2B5EF4-FFF2-40B4-BE49-F238E27FC236}">
                <a16:creationId xmlns:a16="http://schemas.microsoft.com/office/drawing/2014/main" id="{651D3DB7-F0EF-2C4D-A842-E1ED80C3ED25}"/>
              </a:ext>
            </a:extLst>
          </p:cNvPr>
          <p:cNvSpPr>
            <a:spLocks noChangeShapeType="1"/>
          </p:cNvSpPr>
          <p:nvPr/>
        </p:nvSpPr>
        <p:spPr bwMode="auto">
          <a:xfrm>
            <a:off x="8001000" y="2362201"/>
            <a:ext cx="0" cy="3389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Text Box 7">
            <a:extLst>
              <a:ext uri="{FF2B5EF4-FFF2-40B4-BE49-F238E27FC236}">
                <a16:creationId xmlns:a16="http://schemas.microsoft.com/office/drawing/2014/main" id="{4232D48B-8467-D442-A4C2-1EBDA7F2B20B}"/>
              </a:ext>
            </a:extLst>
          </p:cNvPr>
          <p:cNvSpPr txBox="1">
            <a:spLocks noChangeArrowheads="1"/>
          </p:cNvSpPr>
          <p:nvPr/>
        </p:nvSpPr>
        <p:spPr bwMode="auto">
          <a:xfrm>
            <a:off x="26670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1</a:t>
            </a:r>
          </a:p>
        </p:txBody>
      </p:sp>
      <p:sp>
        <p:nvSpPr>
          <p:cNvPr id="22536" name="Text Box 8">
            <a:extLst>
              <a:ext uri="{FF2B5EF4-FFF2-40B4-BE49-F238E27FC236}">
                <a16:creationId xmlns:a16="http://schemas.microsoft.com/office/drawing/2014/main" id="{BB41991F-0425-0248-9E04-90031A75F7D2}"/>
              </a:ext>
            </a:extLst>
          </p:cNvPr>
          <p:cNvSpPr txBox="1">
            <a:spLocks noChangeArrowheads="1"/>
          </p:cNvSpPr>
          <p:nvPr/>
        </p:nvSpPr>
        <p:spPr bwMode="auto">
          <a:xfrm>
            <a:off x="44958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2</a:t>
            </a:r>
          </a:p>
        </p:txBody>
      </p:sp>
      <p:sp>
        <p:nvSpPr>
          <p:cNvPr id="22537" name="Text Box 9">
            <a:extLst>
              <a:ext uri="{FF2B5EF4-FFF2-40B4-BE49-F238E27FC236}">
                <a16:creationId xmlns:a16="http://schemas.microsoft.com/office/drawing/2014/main" id="{B6297307-608C-504A-BE36-792178955779}"/>
              </a:ext>
            </a:extLst>
          </p:cNvPr>
          <p:cNvSpPr txBox="1">
            <a:spLocks noChangeArrowheads="1"/>
          </p:cNvSpPr>
          <p:nvPr/>
        </p:nvSpPr>
        <p:spPr bwMode="auto">
          <a:xfrm>
            <a:off x="63246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3</a:t>
            </a:r>
          </a:p>
        </p:txBody>
      </p:sp>
      <p:sp>
        <p:nvSpPr>
          <p:cNvPr id="22538" name="Text Box 10">
            <a:extLst>
              <a:ext uri="{FF2B5EF4-FFF2-40B4-BE49-F238E27FC236}">
                <a16:creationId xmlns:a16="http://schemas.microsoft.com/office/drawing/2014/main" id="{F567D5CC-5731-EF47-99D0-EC509BBB43C8}"/>
              </a:ext>
            </a:extLst>
          </p:cNvPr>
          <p:cNvSpPr txBox="1">
            <a:spLocks noChangeArrowheads="1"/>
          </p:cNvSpPr>
          <p:nvPr/>
        </p:nvSpPr>
        <p:spPr bwMode="auto">
          <a:xfrm>
            <a:off x="8153401" y="3200400"/>
            <a:ext cx="328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core</a:t>
            </a:r>
          </a:p>
          <a:p>
            <a:endParaRPr lang="en-US" altLang="en-US"/>
          </a:p>
          <a:p>
            <a:r>
              <a:rPr lang="en-US" altLang="en-US"/>
              <a:t>4</a:t>
            </a:r>
          </a:p>
        </p:txBody>
      </p:sp>
      <p:sp>
        <p:nvSpPr>
          <p:cNvPr id="22539" name="Text Box 11">
            <a:extLst>
              <a:ext uri="{FF2B5EF4-FFF2-40B4-BE49-F238E27FC236}">
                <a16:creationId xmlns:a16="http://schemas.microsoft.com/office/drawing/2014/main" id="{211C16D4-1A9C-8E43-A772-425BFEE74933}"/>
              </a:ext>
            </a:extLst>
          </p:cNvPr>
          <p:cNvSpPr txBox="1">
            <a:spLocks noChangeArrowheads="1"/>
          </p:cNvSpPr>
          <p:nvPr/>
        </p:nvSpPr>
        <p:spPr bwMode="auto">
          <a:xfrm>
            <a:off x="2971801" y="1295401"/>
            <a:ext cx="8981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several </a:t>
            </a:r>
            <a:br>
              <a:rPr lang="en-US" altLang="en-US">
                <a:solidFill>
                  <a:srgbClr val="0000FF"/>
                </a:solidFill>
              </a:rPr>
            </a:br>
            <a:r>
              <a:rPr lang="en-US" altLang="en-US">
                <a:solidFill>
                  <a:srgbClr val="0000FF"/>
                </a:solidFill>
              </a:rPr>
              <a:t>threads</a:t>
            </a:r>
          </a:p>
        </p:txBody>
      </p:sp>
      <p:sp>
        <p:nvSpPr>
          <p:cNvPr id="22540" name="Line 12">
            <a:extLst>
              <a:ext uri="{FF2B5EF4-FFF2-40B4-BE49-F238E27FC236}">
                <a16:creationId xmlns:a16="http://schemas.microsoft.com/office/drawing/2014/main" id="{83F5DE22-2D9D-424F-9624-9FFD3D2224F3}"/>
              </a:ext>
            </a:extLst>
          </p:cNvPr>
          <p:cNvSpPr>
            <a:spLocks noChangeShapeType="1"/>
          </p:cNvSpPr>
          <p:nvPr/>
        </p:nvSpPr>
        <p:spPr bwMode="auto">
          <a:xfrm>
            <a:off x="33528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1" name="Line 13">
            <a:extLst>
              <a:ext uri="{FF2B5EF4-FFF2-40B4-BE49-F238E27FC236}">
                <a16:creationId xmlns:a16="http://schemas.microsoft.com/office/drawing/2014/main" id="{9583767B-8350-EA41-854F-63B4C4EC90BC}"/>
              </a:ext>
            </a:extLst>
          </p:cNvPr>
          <p:cNvSpPr>
            <a:spLocks noChangeShapeType="1"/>
          </p:cNvSpPr>
          <p:nvPr/>
        </p:nvSpPr>
        <p:spPr bwMode="auto">
          <a:xfrm>
            <a:off x="35814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2" name="Line 14">
            <a:extLst>
              <a:ext uri="{FF2B5EF4-FFF2-40B4-BE49-F238E27FC236}">
                <a16:creationId xmlns:a16="http://schemas.microsoft.com/office/drawing/2014/main" id="{D64EA497-1540-5048-88E0-D4E140C600E0}"/>
              </a:ext>
            </a:extLst>
          </p:cNvPr>
          <p:cNvSpPr>
            <a:spLocks noChangeShapeType="1"/>
          </p:cNvSpPr>
          <p:nvPr/>
        </p:nvSpPr>
        <p:spPr bwMode="auto">
          <a:xfrm>
            <a:off x="38100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3" name="Line 15">
            <a:extLst>
              <a:ext uri="{FF2B5EF4-FFF2-40B4-BE49-F238E27FC236}">
                <a16:creationId xmlns:a16="http://schemas.microsoft.com/office/drawing/2014/main" id="{E468ADE0-2B79-5444-A8B9-F13E354D576D}"/>
              </a:ext>
            </a:extLst>
          </p:cNvPr>
          <p:cNvSpPr>
            <a:spLocks noChangeShapeType="1"/>
          </p:cNvSpPr>
          <p:nvPr/>
        </p:nvSpPr>
        <p:spPr bwMode="auto">
          <a:xfrm>
            <a:off x="49530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4" name="Text Box 16">
            <a:extLst>
              <a:ext uri="{FF2B5EF4-FFF2-40B4-BE49-F238E27FC236}">
                <a16:creationId xmlns:a16="http://schemas.microsoft.com/office/drawing/2014/main" id="{273E900C-50B7-BA4E-A1E2-51AC93898F95}"/>
              </a:ext>
            </a:extLst>
          </p:cNvPr>
          <p:cNvSpPr txBox="1">
            <a:spLocks noChangeArrowheads="1"/>
          </p:cNvSpPr>
          <p:nvPr/>
        </p:nvSpPr>
        <p:spPr bwMode="auto">
          <a:xfrm>
            <a:off x="4800601" y="1295401"/>
            <a:ext cx="8981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several </a:t>
            </a:r>
            <a:br>
              <a:rPr lang="en-US" altLang="en-US">
                <a:solidFill>
                  <a:srgbClr val="0000FF"/>
                </a:solidFill>
              </a:rPr>
            </a:br>
            <a:r>
              <a:rPr lang="en-US" altLang="en-US">
                <a:solidFill>
                  <a:srgbClr val="0000FF"/>
                </a:solidFill>
              </a:rPr>
              <a:t>threads</a:t>
            </a:r>
          </a:p>
        </p:txBody>
      </p:sp>
      <p:sp>
        <p:nvSpPr>
          <p:cNvPr id="22545" name="Line 17">
            <a:extLst>
              <a:ext uri="{FF2B5EF4-FFF2-40B4-BE49-F238E27FC236}">
                <a16:creationId xmlns:a16="http://schemas.microsoft.com/office/drawing/2014/main" id="{C224B7BA-7586-3147-BD57-C62C68501146}"/>
              </a:ext>
            </a:extLst>
          </p:cNvPr>
          <p:cNvSpPr>
            <a:spLocks noChangeShapeType="1"/>
          </p:cNvSpPr>
          <p:nvPr/>
        </p:nvSpPr>
        <p:spPr bwMode="auto">
          <a:xfrm>
            <a:off x="51816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6" name="Line 18">
            <a:extLst>
              <a:ext uri="{FF2B5EF4-FFF2-40B4-BE49-F238E27FC236}">
                <a16:creationId xmlns:a16="http://schemas.microsoft.com/office/drawing/2014/main" id="{F2A4C24F-5460-AC4A-B4A9-D7DB9E5694EB}"/>
              </a:ext>
            </a:extLst>
          </p:cNvPr>
          <p:cNvSpPr>
            <a:spLocks noChangeShapeType="1"/>
          </p:cNvSpPr>
          <p:nvPr/>
        </p:nvSpPr>
        <p:spPr bwMode="auto">
          <a:xfrm>
            <a:off x="54102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7" name="Line 19">
            <a:extLst>
              <a:ext uri="{FF2B5EF4-FFF2-40B4-BE49-F238E27FC236}">
                <a16:creationId xmlns:a16="http://schemas.microsoft.com/office/drawing/2014/main" id="{CEC9A2F6-3BEF-3249-B329-9D3ACF36B517}"/>
              </a:ext>
            </a:extLst>
          </p:cNvPr>
          <p:cNvSpPr>
            <a:spLocks noChangeShapeType="1"/>
          </p:cNvSpPr>
          <p:nvPr/>
        </p:nvSpPr>
        <p:spPr bwMode="auto">
          <a:xfrm>
            <a:off x="56388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8" name="Line 20">
            <a:extLst>
              <a:ext uri="{FF2B5EF4-FFF2-40B4-BE49-F238E27FC236}">
                <a16:creationId xmlns:a16="http://schemas.microsoft.com/office/drawing/2014/main" id="{73CDBBA4-E613-3449-B0FF-F357A46CDF08}"/>
              </a:ext>
            </a:extLst>
          </p:cNvPr>
          <p:cNvSpPr>
            <a:spLocks noChangeShapeType="1"/>
          </p:cNvSpPr>
          <p:nvPr/>
        </p:nvSpPr>
        <p:spPr bwMode="auto">
          <a:xfrm>
            <a:off x="67818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9" name="Text Box 21">
            <a:extLst>
              <a:ext uri="{FF2B5EF4-FFF2-40B4-BE49-F238E27FC236}">
                <a16:creationId xmlns:a16="http://schemas.microsoft.com/office/drawing/2014/main" id="{AAB4D0B2-B370-7F45-AB56-95B71C2B3F05}"/>
              </a:ext>
            </a:extLst>
          </p:cNvPr>
          <p:cNvSpPr txBox="1">
            <a:spLocks noChangeArrowheads="1"/>
          </p:cNvSpPr>
          <p:nvPr/>
        </p:nvSpPr>
        <p:spPr bwMode="auto">
          <a:xfrm>
            <a:off x="6629401" y="1295401"/>
            <a:ext cx="8981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several </a:t>
            </a:r>
            <a:br>
              <a:rPr lang="en-US" altLang="en-US">
                <a:solidFill>
                  <a:srgbClr val="0000FF"/>
                </a:solidFill>
              </a:rPr>
            </a:br>
            <a:r>
              <a:rPr lang="en-US" altLang="en-US">
                <a:solidFill>
                  <a:srgbClr val="0000FF"/>
                </a:solidFill>
              </a:rPr>
              <a:t>threads</a:t>
            </a:r>
          </a:p>
        </p:txBody>
      </p:sp>
      <p:sp>
        <p:nvSpPr>
          <p:cNvPr id="22550" name="Line 22">
            <a:extLst>
              <a:ext uri="{FF2B5EF4-FFF2-40B4-BE49-F238E27FC236}">
                <a16:creationId xmlns:a16="http://schemas.microsoft.com/office/drawing/2014/main" id="{0070D915-DE56-164C-9CB1-8FD34A683822}"/>
              </a:ext>
            </a:extLst>
          </p:cNvPr>
          <p:cNvSpPr>
            <a:spLocks noChangeShapeType="1"/>
          </p:cNvSpPr>
          <p:nvPr/>
        </p:nvSpPr>
        <p:spPr bwMode="auto">
          <a:xfrm>
            <a:off x="70104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1" name="Line 23">
            <a:extLst>
              <a:ext uri="{FF2B5EF4-FFF2-40B4-BE49-F238E27FC236}">
                <a16:creationId xmlns:a16="http://schemas.microsoft.com/office/drawing/2014/main" id="{208B55D9-6984-D742-989B-EF68A6163E4D}"/>
              </a:ext>
            </a:extLst>
          </p:cNvPr>
          <p:cNvSpPr>
            <a:spLocks noChangeShapeType="1"/>
          </p:cNvSpPr>
          <p:nvPr/>
        </p:nvSpPr>
        <p:spPr bwMode="auto">
          <a:xfrm>
            <a:off x="72390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2" name="Text Box 24">
            <a:extLst>
              <a:ext uri="{FF2B5EF4-FFF2-40B4-BE49-F238E27FC236}">
                <a16:creationId xmlns:a16="http://schemas.microsoft.com/office/drawing/2014/main" id="{74A44FF5-F293-A545-AA40-DD66925FF357}"/>
              </a:ext>
            </a:extLst>
          </p:cNvPr>
          <p:cNvSpPr txBox="1">
            <a:spLocks noChangeArrowheads="1"/>
          </p:cNvSpPr>
          <p:nvPr/>
        </p:nvSpPr>
        <p:spPr bwMode="auto">
          <a:xfrm>
            <a:off x="8458201" y="1295401"/>
            <a:ext cx="8981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00FF"/>
                </a:solidFill>
              </a:rPr>
              <a:t>several </a:t>
            </a:r>
            <a:br>
              <a:rPr lang="en-US" altLang="en-US">
                <a:solidFill>
                  <a:srgbClr val="0000FF"/>
                </a:solidFill>
              </a:rPr>
            </a:br>
            <a:r>
              <a:rPr lang="en-US" altLang="en-US">
                <a:solidFill>
                  <a:srgbClr val="0000FF"/>
                </a:solidFill>
              </a:rPr>
              <a:t>threads</a:t>
            </a:r>
          </a:p>
        </p:txBody>
      </p:sp>
      <p:sp>
        <p:nvSpPr>
          <p:cNvPr id="22553" name="Line 25">
            <a:extLst>
              <a:ext uri="{FF2B5EF4-FFF2-40B4-BE49-F238E27FC236}">
                <a16:creationId xmlns:a16="http://schemas.microsoft.com/office/drawing/2014/main" id="{53A7A12F-377E-B447-8C66-BD8B77C11318}"/>
              </a:ext>
            </a:extLst>
          </p:cNvPr>
          <p:cNvSpPr>
            <a:spLocks noChangeShapeType="1"/>
          </p:cNvSpPr>
          <p:nvPr/>
        </p:nvSpPr>
        <p:spPr bwMode="auto">
          <a:xfrm>
            <a:off x="88392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4" name="Line 26">
            <a:extLst>
              <a:ext uri="{FF2B5EF4-FFF2-40B4-BE49-F238E27FC236}">
                <a16:creationId xmlns:a16="http://schemas.microsoft.com/office/drawing/2014/main" id="{711E09BB-8A1B-7042-BB60-25B8AA431CC9}"/>
              </a:ext>
            </a:extLst>
          </p:cNvPr>
          <p:cNvSpPr>
            <a:spLocks noChangeShapeType="1"/>
          </p:cNvSpPr>
          <p:nvPr/>
        </p:nvSpPr>
        <p:spPr bwMode="auto">
          <a:xfrm>
            <a:off x="90678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5" name="Line 27">
            <a:extLst>
              <a:ext uri="{FF2B5EF4-FFF2-40B4-BE49-F238E27FC236}">
                <a16:creationId xmlns:a16="http://schemas.microsoft.com/office/drawing/2014/main" id="{CEF9840C-81D0-374C-8097-1D668D00ECDC}"/>
              </a:ext>
            </a:extLst>
          </p:cNvPr>
          <p:cNvSpPr>
            <a:spLocks noChangeShapeType="1"/>
          </p:cNvSpPr>
          <p:nvPr/>
        </p:nvSpPr>
        <p:spPr bwMode="auto">
          <a:xfrm>
            <a:off x="9296400" y="1981200"/>
            <a:ext cx="0" cy="4648200"/>
          </a:xfrm>
          <a:prstGeom prst="line">
            <a:avLst/>
          </a:prstGeom>
          <a:noFill/>
          <a:ln w="317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ABDCD4A-E491-8343-A9F0-A970095DA827}"/>
              </a:ext>
            </a:extLst>
          </p:cNvPr>
          <p:cNvSpPr>
            <a:spLocks noGrp="1"/>
          </p:cNvSpPr>
          <p:nvPr>
            <p:ph type="sldNum" sz="quarter" idx="11"/>
          </p:nvPr>
        </p:nvSpPr>
        <p:spPr/>
        <p:txBody>
          <a:bodyPr/>
          <a:lstStyle/>
          <a:p>
            <a:fld id="{1171DDE2-FA2B-0F4F-A2B0-BD858AFD605C}" type="slidenum">
              <a:rPr lang="en-US" altLang="en-US"/>
              <a:pPr/>
              <a:t>10</a:t>
            </a:fld>
            <a:endParaRPr lang="en-US" altLang="en-US"/>
          </a:p>
        </p:txBody>
      </p:sp>
      <p:sp>
        <p:nvSpPr>
          <p:cNvPr id="24578" name="Rectangle 2">
            <a:extLst>
              <a:ext uri="{FF2B5EF4-FFF2-40B4-BE49-F238E27FC236}">
                <a16:creationId xmlns:a16="http://schemas.microsoft.com/office/drawing/2014/main" id="{89FDD004-0122-314F-98E0-2C3CF630DD5E}"/>
              </a:ext>
            </a:extLst>
          </p:cNvPr>
          <p:cNvSpPr>
            <a:spLocks noGrp="1" noChangeArrowheads="1"/>
          </p:cNvSpPr>
          <p:nvPr>
            <p:ph type="title"/>
          </p:nvPr>
        </p:nvSpPr>
        <p:spPr/>
        <p:txBody>
          <a:bodyPr/>
          <a:lstStyle/>
          <a:p>
            <a:r>
              <a:rPr lang="en-US" altLang="en-US"/>
              <a:t>Interaction with OS</a:t>
            </a:r>
          </a:p>
        </p:txBody>
      </p:sp>
      <p:sp>
        <p:nvSpPr>
          <p:cNvPr id="24579" name="Rectangle 3">
            <a:extLst>
              <a:ext uri="{FF2B5EF4-FFF2-40B4-BE49-F238E27FC236}">
                <a16:creationId xmlns:a16="http://schemas.microsoft.com/office/drawing/2014/main" id="{D6C33AF1-C0ED-FC4A-ABCF-F6DC472F8F4F}"/>
              </a:ext>
            </a:extLst>
          </p:cNvPr>
          <p:cNvSpPr>
            <a:spLocks noGrp="1" noChangeArrowheads="1"/>
          </p:cNvSpPr>
          <p:nvPr>
            <p:ph type="body" idx="1"/>
          </p:nvPr>
        </p:nvSpPr>
        <p:spPr/>
        <p:txBody>
          <a:bodyPr/>
          <a:lstStyle/>
          <a:p>
            <a:pPr>
              <a:lnSpc>
                <a:spcPct val="90000"/>
              </a:lnSpc>
            </a:pPr>
            <a:r>
              <a:rPr lang="en-US" altLang="en-US"/>
              <a:t>OS perceives each core as a separate processor</a:t>
            </a:r>
          </a:p>
          <a:p>
            <a:pPr>
              <a:lnSpc>
                <a:spcPct val="90000"/>
              </a:lnSpc>
            </a:pPr>
            <a:endParaRPr lang="en-US" altLang="en-US"/>
          </a:p>
          <a:p>
            <a:pPr>
              <a:lnSpc>
                <a:spcPct val="90000"/>
              </a:lnSpc>
            </a:pPr>
            <a:r>
              <a:rPr lang="en-US" altLang="en-US"/>
              <a:t>OS scheduler maps threads/processes </a:t>
            </a:r>
            <a:br>
              <a:rPr lang="en-US" altLang="en-US"/>
            </a:br>
            <a:r>
              <a:rPr lang="en-US" altLang="en-US"/>
              <a:t>to different cores</a:t>
            </a:r>
          </a:p>
          <a:p>
            <a:pPr>
              <a:lnSpc>
                <a:spcPct val="90000"/>
              </a:lnSpc>
            </a:pPr>
            <a:endParaRPr lang="en-US" altLang="en-US"/>
          </a:p>
          <a:p>
            <a:pPr>
              <a:lnSpc>
                <a:spcPct val="90000"/>
              </a:lnSpc>
            </a:pPr>
            <a:r>
              <a:rPr lang="en-US" altLang="en-US"/>
              <a:t>Most major OS support multi-core today</a:t>
            </a:r>
          </a:p>
          <a:p>
            <a:pPr>
              <a:lnSpc>
                <a:spcPct val="90000"/>
              </a:lnSpc>
            </a:pPr>
            <a:endParaRPr lang="en-US" altLang="en-US"/>
          </a:p>
          <a:p>
            <a:pPr>
              <a:lnSpc>
                <a:spcPct val="90000"/>
              </a:lnSpc>
            </a:pPr>
            <a:endParaRPr lang="en-US" altLang="en-US"/>
          </a:p>
          <a:p>
            <a:pPr>
              <a:lnSpc>
                <a:spcPct val="90000"/>
              </a:lnSpc>
            </a:pP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7DA577C9-0602-4249-B850-51BB88A07E92}"/>
              </a:ext>
            </a:extLst>
          </p:cNvPr>
          <p:cNvSpPr>
            <a:spLocks noGrp="1"/>
          </p:cNvSpPr>
          <p:nvPr>
            <p:ph type="sldNum" sz="quarter" idx="11"/>
          </p:nvPr>
        </p:nvSpPr>
        <p:spPr/>
        <p:txBody>
          <a:bodyPr/>
          <a:lstStyle/>
          <a:p>
            <a:fld id="{8E306C8B-CDF9-9E4B-B243-96B8C1A29882}" type="slidenum">
              <a:rPr lang="en-US" altLang="en-US"/>
              <a:pPr/>
              <a:t>11</a:t>
            </a:fld>
            <a:endParaRPr lang="en-US" altLang="en-US"/>
          </a:p>
        </p:txBody>
      </p:sp>
      <p:sp>
        <p:nvSpPr>
          <p:cNvPr id="26626" name="Rectangle 2">
            <a:extLst>
              <a:ext uri="{FF2B5EF4-FFF2-40B4-BE49-F238E27FC236}">
                <a16:creationId xmlns:a16="http://schemas.microsoft.com/office/drawing/2014/main" id="{53E3EBD8-2582-5049-AC0D-339AD6D791CE}"/>
              </a:ext>
            </a:extLst>
          </p:cNvPr>
          <p:cNvSpPr>
            <a:spLocks noGrp="1" noChangeArrowheads="1"/>
          </p:cNvSpPr>
          <p:nvPr>
            <p:ph type="title"/>
          </p:nvPr>
        </p:nvSpPr>
        <p:spPr/>
        <p:txBody>
          <a:bodyPr/>
          <a:lstStyle/>
          <a:p>
            <a:r>
              <a:rPr lang="en-US" altLang="en-US"/>
              <a:t>Why multi-core ?</a:t>
            </a:r>
          </a:p>
        </p:txBody>
      </p:sp>
      <p:sp>
        <p:nvSpPr>
          <p:cNvPr id="26627" name="Rectangle 3">
            <a:extLst>
              <a:ext uri="{FF2B5EF4-FFF2-40B4-BE49-F238E27FC236}">
                <a16:creationId xmlns:a16="http://schemas.microsoft.com/office/drawing/2014/main" id="{82C3A103-7E09-F64D-85C2-7D820AE74C35}"/>
              </a:ext>
            </a:extLst>
          </p:cNvPr>
          <p:cNvSpPr>
            <a:spLocks noGrp="1" noChangeArrowheads="1"/>
          </p:cNvSpPr>
          <p:nvPr>
            <p:ph type="body" idx="1"/>
          </p:nvPr>
        </p:nvSpPr>
        <p:spPr>
          <a:xfrm>
            <a:off x="1752600" y="1447801"/>
            <a:ext cx="8229600" cy="4525963"/>
          </a:xfrm>
        </p:spPr>
        <p:txBody>
          <a:bodyPr/>
          <a:lstStyle/>
          <a:p>
            <a:pPr>
              <a:lnSpc>
                <a:spcPct val="90000"/>
              </a:lnSpc>
            </a:pPr>
            <a:r>
              <a:rPr lang="en-US" altLang="en-US"/>
              <a:t>Difficult to make single-core</a:t>
            </a:r>
            <a:br>
              <a:rPr lang="en-US" altLang="en-US"/>
            </a:br>
            <a:r>
              <a:rPr lang="en-US" altLang="en-US"/>
              <a:t>clock frequencies even higher </a:t>
            </a:r>
          </a:p>
          <a:p>
            <a:pPr>
              <a:lnSpc>
                <a:spcPct val="90000"/>
              </a:lnSpc>
            </a:pPr>
            <a:r>
              <a:rPr lang="en-US" altLang="en-US"/>
              <a:t>Many new applications are </a:t>
            </a:r>
          </a:p>
          <a:p>
            <a:pPr>
              <a:lnSpc>
                <a:spcPct val="90000"/>
              </a:lnSpc>
              <a:buFont typeface="Wingdings" pitchFamily="2" charset="2"/>
              <a:buNone/>
            </a:pPr>
            <a:r>
              <a:rPr lang="en-US" altLang="en-US"/>
              <a:t>multithreaded </a:t>
            </a:r>
          </a:p>
          <a:p>
            <a:pPr>
              <a:lnSpc>
                <a:spcPct val="90000"/>
              </a:lnSpc>
            </a:pPr>
            <a:r>
              <a:rPr lang="en-US" altLang="en-US"/>
              <a:t>General trend in computer </a:t>
            </a:r>
          </a:p>
          <a:p>
            <a:pPr>
              <a:lnSpc>
                <a:spcPct val="90000"/>
              </a:lnSpc>
              <a:buFont typeface="Wingdings" pitchFamily="2" charset="2"/>
              <a:buNone/>
            </a:pPr>
            <a:r>
              <a:rPr lang="en-US" altLang="en-US"/>
              <a:t>architecture (shift towards </a:t>
            </a:r>
          </a:p>
          <a:p>
            <a:pPr>
              <a:lnSpc>
                <a:spcPct val="90000"/>
              </a:lnSpc>
              <a:buFont typeface="Wingdings" pitchFamily="2" charset="2"/>
              <a:buNone/>
            </a:pPr>
            <a:r>
              <a:rPr lang="en-US" altLang="en-US"/>
              <a:t>more parallelism)</a:t>
            </a:r>
          </a:p>
        </p:txBody>
      </p:sp>
      <p:pic>
        <p:nvPicPr>
          <p:cNvPr id="26628" name="Picture 4">
            <a:extLst>
              <a:ext uri="{FF2B5EF4-FFF2-40B4-BE49-F238E27FC236}">
                <a16:creationId xmlns:a16="http://schemas.microsoft.com/office/drawing/2014/main" id="{AF8CFB64-5FA2-E241-891D-0646B80ED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1" y="1447800"/>
            <a:ext cx="2455863" cy="321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3387DFB-BA46-E242-B577-6398864C455E}"/>
              </a:ext>
            </a:extLst>
          </p:cNvPr>
          <p:cNvSpPr>
            <a:spLocks noGrp="1"/>
          </p:cNvSpPr>
          <p:nvPr>
            <p:ph type="sldNum" sz="quarter" idx="11"/>
          </p:nvPr>
        </p:nvSpPr>
        <p:spPr/>
        <p:txBody>
          <a:bodyPr/>
          <a:lstStyle/>
          <a:p>
            <a:fld id="{9EF9D505-DBE3-2E4E-B644-7D23D90F0254}" type="slidenum">
              <a:rPr lang="en-US" altLang="en-US"/>
              <a:pPr/>
              <a:t>12</a:t>
            </a:fld>
            <a:endParaRPr lang="en-US" altLang="en-US"/>
          </a:p>
        </p:txBody>
      </p:sp>
      <p:sp>
        <p:nvSpPr>
          <p:cNvPr id="28674" name="Rectangle 2">
            <a:extLst>
              <a:ext uri="{FF2B5EF4-FFF2-40B4-BE49-F238E27FC236}">
                <a16:creationId xmlns:a16="http://schemas.microsoft.com/office/drawing/2014/main" id="{990BEBDF-F299-2043-B030-917C381A741E}"/>
              </a:ext>
            </a:extLst>
          </p:cNvPr>
          <p:cNvSpPr>
            <a:spLocks noGrp="1" noChangeArrowheads="1"/>
          </p:cNvSpPr>
          <p:nvPr>
            <p:ph type="title"/>
          </p:nvPr>
        </p:nvSpPr>
        <p:spPr/>
        <p:txBody>
          <a:bodyPr/>
          <a:lstStyle/>
          <a:p>
            <a:r>
              <a:rPr lang="en-US" altLang="en-US"/>
              <a:t>Instruction-level parallelism</a:t>
            </a:r>
          </a:p>
        </p:txBody>
      </p:sp>
      <p:sp>
        <p:nvSpPr>
          <p:cNvPr id="28675" name="Rectangle 3">
            <a:extLst>
              <a:ext uri="{FF2B5EF4-FFF2-40B4-BE49-F238E27FC236}">
                <a16:creationId xmlns:a16="http://schemas.microsoft.com/office/drawing/2014/main" id="{E751D60E-2471-F840-86F6-635FEB14CF73}"/>
              </a:ext>
            </a:extLst>
          </p:cNvPr>
          <p:cNvSpPr>
            <a:spLocks noGrp="1" noChangeArrowheads="1"/>
          </p:cNvSpPr>
          <p:nvPr>
            <p:ph type="body" idx="1"/>
          </p:nvPr>
        </p:nvSpPr>
        <p:spPr/>
        <p:txBody>
          <a:bodyPr/>
          <a:lstStyle/>
          <a:p>
            <a:r>
              <a:rPr lang="en-US" altLang="en-US"/>
              <a:t>Parallelism at the machine-instruction level</a:t>
            </a:r>
          </a:p>
          <a:p>
            <a:r>
              <a:rPr lang="en-US" altLang="en-US"/>
              <a:t>The processor can re-order, pipeline instructions, split them into microinstructions, do aggressive branch prediction, etc.</a:t>
            </a:r>
          </a:p>
          <a:p>
            <a:r>
              <a:rPr lang="en-US" altLang="en-US"/>
              <a:t>Instruction-level parallelism enabled rapid increases in processor speeds over the last 15 years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9DE070-DCDE-4B4D-831B-0FEB6CB8B243}"/>
              </a:ext>
            </a:extLst>
          </p:cNvPr>
          <p:cNvSpPr>
            <a:spLocks noGrp="1"/>
          </p:cNvSpPr>
          <p:nvPr>
            <p:ph type="sldNum" sz="quarter" idx="11"/>
          </p:nvPr>
        </p:nvSpPr>
        <p:spPr/>
        <p:txBody>
          <a:bodyPr/>
          <a:lstStyle/>
          <a:p>
            <a:fld id="{B0B36AB9-D5AB-ED4E-8078-FEFD0F58AD6A}" type="slidenum">
              <a:rPr lang="en-US" altLang="en-US"/>
              <a:pPr/>
              <a:t>13</a:t>
            </a:fld>
            <a:endParaRPr lang="en-US" altLang="en-US"/>
          </a:p>
        </p:txBody>
      </p:sp>
      <p:sp>
        <p:nvSpPr>
          <p:cNvPr id="30722" name="Rectangle 2">
            <a:extLst>
              <a:ext uri="{FF2B5EF4-FFF2-40B4-BE49-F238E27FC236}">
                <a16:creationId xmlns:a16="http://schemas.microsoft.com/office/drawing/2014/main" id="{7CBE8977-7CA0-C140-A697-E75289218359}"/>
              </a:ext>
            </a:extLst>
          </p:cNvPr>
          <p:cNvSpPr>
            <a:spLocks noGrp="1" noChangeArrowheads="1"/>
          </p:cNvSpPr>
          <p:nvPr>
            <p:ph type="title"/>
          </p:nvPr>
        </p:nvSpPr>
        <p:spPr/>
        <p:txBody>
          <a:bodyPr/>
          <a:lstStyle/>
          <a:p>
            <a:r>
              <a:rPr lang="en-US" altLang="en-US"/>
              <a:t>Thread-level parallelism (TLP)</a:t>
            </a:r>
          </a:p>
        </p:txBody>
      </p:sp>
      <p:sp>
        <p:nvSpPr>
          <p:cNvPr id="30723" name="Rectangle 3">
            <a:extLst>
              <a:ext uri="{FF2B5EF4-FFF2-40B4-BE49-F238E27FC236}">
                <a16:creationId xmlns:a16="http://schemas.microsoft.com/office/drawing/2014/main" id="{AF41357F-A9D8-C046-B752-251C9F40C405}"/>
              </a:ext>
            </a:extLst>
          </p:cNvPr>
          <p:cNvSpPr>
            <a:spLocks noGrp="1" noChangeArrowheads="1"/>
          </p:cNvSpPr>
          <p:nvPr>
            <p:ph type="body" idx="1"/>
          </p:nvPr>
        </p:nvSpPr>
        <p:spPr>
          <a:xfrm>
            <a:off x="1676400" y="1371600"/>
            <a:ext cx="8686800" cy="4876800"/>
          </a:xfrm>
        </p:spPr>
        <p:txBody>
          <a:bodyPr/>
          <a:lstStyle/>
          <a:p>
            <a:r>
              <a:rPr lang="en-US" altLang="en-US"/>
              <a:t>This is parallelism on a more coarser scale</a:t>
            </a:r>
          </a:p>
          <a:p>
            <a:r>
              <a:rPr lang="en-US" altLang="en-US"/>
              <a:t>Server can serve each client in a separate thread (Web server, database server)</a:t>
            </a:r>
          </a:p>
          <a:p>
            <a:r>
              <a:rPr lang="en-US" altLang="en-US"/>
              <a:t>A computer game can do AI, graphics, and physics in three separate threads</a:t>
            </a:r>
          </a:p>
          <a:p>
            <a:r>
              <a:rPr lang="en-US" altLang="en-US"/>
              <a:t>Single-core superscalar processors cannot fully exploit TLP</a:t>
            </a:r>
          </a:p>
          <a:p>
            <a:r>
              <a:rPr lang="en-US" altLang="en-US"/>
              <a:t>Multi-core architectures are the next step in processor evolution: explicitly exploiting TLP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401B2F65-1F6E-0E49-9CCA-9DFDB2074F81}"/>
              </a:ext>
            </a:extLst>
          </p:cNvPr>
          <p:cNvSpPr>
            <a:spLocks noGrp="1"/>
          </p:cNvSpPr>
          <p:nvPr>
            <p:ph type="sldNum" sz="quarter" idx="11"/>
          </p:nvPr>
        </p:nvSpPr>
        <p:spPr/>
        <p:txBody>
          <a:bodyPr/>
          <a:lstStyle/>
          <a:p>
            <a:fld id="{B81C337A-9ECB-6946-B8F2-78C2752594A6}" type="slidenum">
              <a:rPr lang="en-US" altLang="en-US"/>
              <a:pPr/>
              <a:t>14</a:t>
            </a:fld>
            <a:endParaRPr lang="en-US" altLang="en-US"/>
          </a:p>
        </p:txBody>
      </p:sp>
      <p:sp>
        <p:nvSpPr>
          <p:cNvPr id="32770" name="Rectangle 2">
            <a:extLst>
              <a:ext uri="{FF2B5EF4-FFF2-40B4-BE49-F238E27FC236}">
                <a16:creationId xmlns:a16="http://schemas.microsoft.com/office/drawing/2014/main" id="{829BACE3-80A5-6A47-80FC-E67573863378}"/>
              </a:ext>
            </a:extLst>
          </p:cNvPr>
          <p:cNvSpPr>
            <a:spLocks noGrp="1" noChangeArrowheads="1"/>
          </p:cNvSpPr>
          <p:nvPr>
            <p:ph type="title"/>
          </p:nvPr>
        </p:nvSpPr>
        <p:spPr/>
        <p:txBody>
          <a:bodyPr/>
          <a:lstStyle/>
          <a:p>
            <a:r>
              <a:rPr lang="en-US" altLang="en-US" sz="4000"/>
              <a:t>General context: Multiprocessors</a:t>
            </a:r>
          </a:p>
        </p:txBody>
      </p:sp>
      <p:sp>
        <p:nvSpPr>
          <p:cNvPr id="32771" name="Rectangle 3">
            <a:extLst>
              <a:ext uri="{FF2B5EF4-FFF2-40B4-BE49-F238E27FC236}">
                <a16:creationId xmlns:a16="http://schemas.microsoft.com/office/drawing/2014/main" id="{9AF021A4-551F-8E4A-A16F-8005205FA89E}"/>
              </a:ext>
            </a:extLst>
          </p:cNvPr>
          <p:cNvSpPr>
            <a:spLocks noGrp="1" noChangeArrowheads="1"/>
          </p:cNvSpPr>
          <p:nvPr>
            <p:ph type="body" idx="1"/>
          </p:nvPr>
        </p:nvSpPr>
        <p:spPr/>
        <p:txBody>
          <a:bodyPr/>
          <a:lstStyle/>
          <a:p>
            <a:pPr>
              <a:lnSpc>
                <a:spcPct val="90000"/>
              </a:lnSpc>
            </a:pPr>
            <a:r>
              <a:rPr lang="en-US" altLang="en-US" dirty="0"/>
              <a:t>Multiprocessor is any </a:t>
            </a:r>
            <a:br>
              <a:rPr lang="en-US" altLang="en-US" dirty="0"/>
            </a:br>
            <a:r>
              <a:rPr lang="en-US" altLang="en-US" dirty="0"/>
              <a:t>computer with several </a:t>
            </a:r>
            <a:br>
              <a:rPr lang="en-US" altLang="en-US" dirty="0"/>
            </a:br>
            <a:r>
              <a:rPr lang="en-US" altLang="en-US" dirty="0"/>
              <a:t>processors</a:t>
            </a:r>
          </a:p>
          <a:p>
            <a:pPr>
              <a:lnSpc>
                <a:spcPct val="90000"/>
              </a:lnSpc>
            </a:pPr>
            <a:r>
              <a:rPr lang="en-US" altLang="en-US" dirty="0"/>
              <a:t>SIMD</a:t>
            </a:r>
          </a:p>
          <a:p>
            <a:pPr lvl="1">
              <a:lnSpc>
                <a:spcPct val="90000"/>
              </a:lnSpc>
            </a:pPr>
            <a:r>
              <a:rPr lang="en-US" altLang="en-US" dirty="0"/>
              <a:t>Single instruction, multiple data</a:t>
            </a:r>
          </a:p>
          <a:p>
            <a:pPr lvl="1">
              <a:lnSpc>
                <a:spcPct val="90000"/>
              </a:lnSpc>
            </a:pPr>
            <a:r>
              <a:rPr lang="en-US" altLang="en-US" dirty="0"/>
              <a:t>Modern graphics cards</a:t>
            </a:r>
          </a:p>
          <a:p>
            <a:pPr>
              <a:lnSpc>
                <a:spcPct val="90000"/>
              </a:lnSpc>
            </a:pPr>
            <a:r>
              <a:rPr lang="en-US" altLang="en-US" dirty="0"/>
              <a:t>MIMD</a:t>
            </a:r>
          </a:p>
          <a:p>
            <a:pPr lvl="1">
              <a:lnSpc>
                <a:spcPct val="90000"/>
              </a:lnSpc>
            </a:pPr>
            <a:r>
              <a:rPr lang="en-US" altLang="en-US" dirty="0"/>
              <a:t>Multiple instructions, multiple data</a:t>
            </a:r>
          </a:p>
          <a:p>
            <a:pPr>
              <a:lnSpc>
                <a:spcPct val="90000"/>
              </a:lnSpc>
            </a:pPr>
            <a:endParaRPr lang="en-US" altLang="en-US" dirty="0"/>
          </a:p>
        </p:txBody>
      </p:sp>
      <p:pic>
        <p:nvPicPr>
          <p:cNvPr id="32772" name="Picture 4" descr="A picture of lemieux">
            <a:hlinkClick r:id="rId3"/>
            <a:extLst>
              <a:ext uri="{FF2B5EF4-FFF2-40B4-BE49-F238E27FC236}">
                <a16:creationId xmlns:a16="http://schemas.microsoft.com/office/drawing/2014/main" id="{C2B96427-D507-6647-B7B8-DC5378B7A6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600201"/>
            <a:ext cx="3333750" cy="2314575"/>
          </a:xfrm>
          <a:prstGeom prst="rect">
            <a:avLst/>
          </a:prstGeom>
          <a:noFill/>
          <a:extLst>
            <a:ext uri="{909E8E84-426E-40DD-AFC4-6F175D3DCCD1}">
              <a14:hiddenFill xmlns:a14="http://schemas.microsoft.com/office/drawing/2010/main">
                <a:solidFill>
                  <a:srgbClr val="FFFFFF"/>
                </a:solidFill>
              </a14:hiddenFill>
            </a:ext>
          </a:extLst>
        </p:spPr>
      </p:pic>
      <p:sp>
        <p:nvSpPr>
          <p:cNvPr id="32773" name="Text Box 5">
            <a:extLst>
              <a:ext uri="{FF2B5EF4-FFF2-40B4-BE49-F238E27FC236}">
                <a16:creationId xmlns:a16="http://schemas.microsoft.com/office/drawing/2014/main" id="{854F9D28-1110-A346-9ADF-0B9643A7EC83}"/>
              </a:ext>
            </a:extLst>
          </p:cNvPr>
          <p:cNvSpPr txBox="1">
            <a:spLocks noChangeArrowheads="1"/>
          </p:cNvSpPr>
          <p:nvPr/>
        </p:nvSpPr>
        <p:spPr bwMode="auto">
          <a:xfrm>
            <a:off x="8601616" y="4038601"/>
            <a:ext cx="17695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a:t>Lemieux cluster,</a:t>
            </a:r>
            <a:br>
              <a:rPr lang="en-US" altLang="en-US"/>
            </a:br>
            <a:r>
              <a:rPr lang="en-US" altLang="en-US"/>
              <a:t>Pittsburgh </a:t>
            </a:r>
            <a:br>
              <a:rPr lang="en-US" altLang="en-US"/>
            </a:br>
            <a:r>
              <a:rPr lang="en-US" altLang="en-US"/>
              <a:t>supercomputing </a:t>
            </a:r>
            <a:br>
              <a:rPr lang="en-US" altLang="en-US"/>
            </a:br>
            <a:r>
              <a:rPr lang="en-US" altLang="en-US"/>
              <a:t>center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2DF7CF5-6043-3A4C-BFB1-192F507DA7B3}"/>
              </a:ext>
            </a:extLst>
          </p:cNvPr>
          <p:cNvSpPr>
            <a:spLocks noGrp="1"/>
          </p:cNvSpPr>
          <p:nvPr>
            <p:ph type="sldNum" sz="quarter" idx="11"/>
          </p:nvPr>
        </p:nvSpPr>
        <p:spPr/>
        <p:txBody>
          <a:bodyPr/>
          <a:lstStyle/>
          <a:p>
            <a:fld id="{72923C80-B3C0-C04A-B174-BDB12E9BF7B1}" type="slidenum">
              <a:rPr lang="en-US" altLang="en-US"/>
              <a:pPr/>
              <a:t>15</a:t>
            </a:fld>
            <a:endParaRPr lang="en-US" altLang="en-US"/>
          </a:p>
        </p:txBody>
      </p:sp>
      <p:sp>
        <p:nvSpPr>
          <p:cNvPr id="34818" name="Rectangle 2">
            <a:extLst>
              <a:ext uri="{FF2B5EF4-FFF2-40B4-BE49-F238E27FC236}">
                <a16:creationId xmlns:a16="http://schemas.microsoft.com/office/drawing/2014/main" id="{01ADA565-10E6-DC47-9C97-5773EAE255FA}"/>
              </a:ext>
            </a:extLst>
          </p:cNvPr>
          <p:cNvSpPr>
            <a:spLocks noGrp="1" noChangeArrowheads="1"/>
          </p:cNvSpPr>
          <p:nvPr>
            <p:ph type="title"/>
          </p:nvPr>
        </p:nvSpPr>
        <p:spPr/>
        <p:txBody>
          <a:bodyPr/>
          <a:lstStyle/>
          <a:p>
            <a:r>
              <a:rPr lang="en-US" altLang="en-US"/>
              <a:t>Multiprocessor memory types</a:t>
            </a:r>
          </a:p>
        </p:txBody>
      </p:sp>
      <p:sp>
        <p:nvSpPr>
          <p:cNvPr id="34819" name="Rectangle 3">
            <a:extLst>
              <a:ext uri="{FF2B5EF4-FFF2-40B4-BE49-F238E27FC236}">
                <a16:creationId xmlns:a16="http://schemas.microsoft.com/office/drawing/2014/main" id="{322DD103-490D-EE4A-90D2-2DAA473E1030}"/>
              </a:ext>
            </a:extLst>
          </p:cNvPr>
          <p:cNvSpPr>
            <a:spLocks noGrp="1" noChangeArrowheads="1"/>
          </p:cNvSpPr>
          <p:nvPr>
            <p:ph type="body" idx="1"/>
          </p:nvPr>
        </p:nvSpPr>
        <p:spPr/>
        <p:txBody>
          <a:bodyPr/>
          <a:lstStyle/>
          <a:p>
            <a:r>
              <a:rPr lang="en-US" altLang="en-US"/>
              <a:t>Shared memory:</a:t>
            </a:r>
            <a:br>
              <a:rPr lang="en-US" altLang="en-US"/>
            </a:br>
            <a:r>
              <a:rPr lang="en-US" altLang="en-US"/>
              <a:t>In this model, there is one (large) common shared memory for all processors</a:t>
            </a:r>
          </a:p>
          <a:p>
            <a:endParaRPr lang="en-US" altLang="en-US"/>
          </a:p>
          <a:p>
            <a:r>
              <a:rPr lang="en-US" altLang="en-US"/>
              <a:t>Distributed memory:</a:t>
            </a:r>
            <a:br>
              <a:rPr lang="en-US" altLang="en-US"/>
            </a:br>
            <a:r>
              <a:rPr lang="en-US" altLang="en-US"/>
              <a:t>In this model, each processor has its own (small) local memory, and its content is not replicated anywhere else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FCB687C-BC80-ED4D-9825-D4F2826B50E0}"/>
              </a:ext>
            </a:extLst>
          </p:cNvPr>
          <p:cNvSpPr>
            <a:spLocks noGrp="1"/>
          </p:cNvSpPr>
          <p:nvPr>
            <p:ph type="sldNum" sz="quarter" idx="11"/>
          </p:nvPr>
        </p:nvSpPr>
        <p:spPr/>
        <p:txBody>
          <a:bodyPr/>
          <a:lstStyle/>
          <a:p>
            <a:fld id="{D58F63BE-4E86-CC40-914E-921D82AF5B0D}" type="slidenum">
              <a:rPr lang="en-US" altLang="en-US"/>
              <a:pPr/>
              <a:t>16</a:t>
            </a:fld>
            <a:endParaRPr lang="en-US" altLang="en-US"/>
          </a:p>
        </p:txBody>
      </p:sp>
      <p:sp>
        <p:nvSpPr>
          <p:cNvPr id="36866" name="Rectangle 2">
            <a:extLst>
              <a:ext uri="{FF2B5EF4-FFF2-40B4-BE49-F238E27FC236}">
                <a16:creationId xmlns:a16="http://schemas.microsoft.com/office/drawing/2014/main" id="{2C380E67-2B27-5345-B5F3-928D1117C605}"/>
              </a:ext>
            </a:extLst>
          </p:cNvPr>
          <p:cNvSpPr>
            <a:spLocks noGrp="1" noChangeArrowheads="1"/>
          </p:cNvSpPr>
          <p:nvPr>
            <p:ph type="title"/>
          </p:nvPr>
        </p:nvSpPr>
        <p:spPr>
          <a:xfrm>
            <a:off x="1905000" y="914400"/>
            <a:ext cx="8229600" cy="1143000"/>
          </a:xfrm>
        </p:spPr>
        <p:txBody>
          <a:bodyPr>
            <a:normAutofit fontScale="90000"/>
          </a:bodyPr>
          <a:lstStyle/>
          <a:p>
            <a:br>
              <a:rPr lang="en-US" altLang="en-US" sz="4000"/>
            </a:br>
            <a:r>
              <a:rPr lang="en-US" altLang="en-US" sz="4000"/>
              <a:t>Multi-core processor is a special kind of a multiprocessor:</a:t>
            </a:r>
            <a:br>
              <a:rPr lang="en-US" altLang="en-US" sz="4000"/>
            </a:br>
            <a:r>
              <a:rPr lang="en-US" altLang="en-US" sz="3600">
                <a:solidFill>
                  <a:srgbClr val="008000"/>
                </a:solidFill>
              </a:rPr>
              <a:t>All processors are on the same chip</a:t>
            </a:r>
            <a:br>
              <a:rPr lang="en-US" altLang="en-US" sz="3600">
                <a:solidFill>
                  <a:srgbClr val="008000"/>
                </a:solidFill>
              </a:rPr>
            </a:br>
            <a:endParaRPr lang="en-US" altLang="en-US">
              <a:solidFill>
                <a:srgbClr val="008000"/>
              </a:solidFill>
            </a:endParaRPr>
          </a:p>
        </p:txBody>
      </p:sp>
      <p:sp>
        <p:nvSpPr>
          <p:cNvPr id="36867" name="Rectangle 3">
            <a:extLst>
              <a:ext uri="{FF2B5EF4-FFF2-40B4-BE49-F238E27FC236}">
                <a16:creationId xmlns:a16="http://schemas.microsoft.com/office/drawing/2014/main" id="{DBAC2285-47F3-DA42-B055-3D9BFDB29248}"/>
              </a:ext>
            </a:extLst>
          </p:cNvPr>
          <p:cNvSpPr>
            <a:spLocks noGrp="1" noChangeArrowheads="1"/>
          </p:cNvSpPr>
          <p:nvPr>
            <p:ph type="body" idx="1"/>
          </p:nvPr>
        </p:nvSpPr>
        <p:spPr>
          <a:xfrm>
            <a:off x="1905000" y="2514600"/>
            <a:ext cx="8229600" cy="2971800"/>
          </a:xfrm>
        </p:spPr>
        <p:txBody>
          <a:bodyPr>
            <a:normAutofit lnSpcReduction="10000"/>
          </a:bodyPr>
          <a:lstStyle/>
          <a:p>
            <a:pPr>
              <a:lnSpc>
                <a:spcPct val="90000"/>
              </a:lnSpc>
            </a:pPr>
            <a:r>
              <a:rPr lang="en-US" altLang="en-US"/>
              <a:t>Multi-core processors are MIMD:</a:t>
            </a:r>
            <a:br>
              <a:rPr lang="en-US" altLang="en-US"/>
            </a:br>
            <a:r>
              <a:rPr lang="en-US" altLang="en-US"/>
              <a:t>Different cores execute different threads (</a:t>
            </a:r>
            <a:r>
              <a:rPr lang="en-US" altLang="en-US">
                <a:solidFill>
                  <a:srgbClr val="FF3300"/>
                </a:solidFill>
              </a:rPr>
              <a:t>M</a:t>
            </a:r>
            <a:r>
              <a:rPr lang="en-US" altLang="en-US"/>
              <a:t>ultiple </a:t>
            </a:r>
            <a:r>
              <a:rPr lang="en-US" altLang="en-US">
                <a:solidFill>
                  <a:srgbClr val="FF3300"/>
                </a:solidFill>
              </a:rPr>
              <a:t>I</a:t>
            </a:r>
            <a:r>
              <a:rPr lang="en-US" altLang="en-US"/>
              <a:t>nstructions), operating on different parts of memory (</a:t>
            </a:r>
            <a:r>
              <a:rPr lang="en-US" altLang="en-US">
                <a:solidFill>
                  <a:srgbClr val="FF3300"/>
                </a:solidFill>
              </a:rPr>
              <a:t>M</a:t>
            </a:r>
            <a:r>
              <a:rPr lang="en-US" altLang="en-US"/>
              <a:t>ultiple </a:t>
            </a:r>
            <a:r>
              <a:rPr lang="en-US" altLang="en-US">
                <a:solidFill>
                  <a:srgbClr val="FF3300"/>
                </a:solidFill>
              </a:rPr>
              <a:t>D</a:t>
            </a:r>
            <a:r>
              <a:rPr lang="en-US" altLang="en-US"/>
              <a:t>ata).</a:t>
            </a:r>
          </a:p>
          <a:p>
            <a:pPr>
              <a:lnSpc>
                <a:spcPct val="90000"/>
              </a:lnSpc>
            </a:pPr>
            <a:endParaRPr lang="en-US" altLang="en-US">
              <a:solidFill>
                <a:srgbClr val="008000"/>
              </a:solidFill>
            </a:endParaRPr>
          </a:p>
          <a:p>
            <a:pPr>
              <a:lnSpc>
                <a:spcPct val="90000"/>
              </a:lnSpc>
            </a:pPr>
            <a:r>
              <a:rPr lang="en-US" altLang="en-US"/>
              <a:t>Multi-core is a shared memory multiprocessor:</a:t>
            </a:r>
            <a:br>
              <a:rPr lang="en-US" altLang="en-US"/>
            </a:br>
            <a:r>
              <a:rPr lang="en-US" altLang="en-US">
                <a:solidFill>
                  <a:srgbClr val="008000"/>
                </a:solidFill>
              </a:rPr>
              <a:t>All cores share the same memory</a:t>
            </a:r>
          </a:p>
          <a:p>
            <a:pPr>
              <a:lnSpc>
                <a:spcPct val="90000"/>
              </a:lnSpc>
            </a:pP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6">
            <a:extLst>
              <a:ext uri="{FF2B5EF4-FFF2-40B4-BE49-F238E27FC236}">
                <a16:creationId xmlns:a16="http://schemas.microsoft.com/office/drawing/2014/main" id="{1D16AC3E-2D64-7F4D-B111-85A79DA00CE7}"/>
              </a:ext>
            </a:extLst>
          </p:cNvPr>
          <p:cNvSpPr>
            <a:spLocks noGrp="1"/>
          </p:cNvSpPr>
          <p:nvPr>
            <p:ph type="sldNum" sz="quarter" idx="11"/>
          </p:nvPr>
        </p:nvSpPr>
        <p:spPr/>
        <p:txBody>
          <a:bodyPr/>
          <a:lstStyle/>
          <a:p>
            <a:fld id="{A5EC6BEC-1BEA-6B4F-98AF-33A7B3C78166}" type="slidenum">
              <a:rPr lang="en-US" altLang="en-US"/>
              <a:pPr/>
              <a:t>17</a:t>
            </a:fld>
            <a:endParaRPr lang="en-US" altLang="en-US"/>
          </a:p>
        </p:txBody>
      </p:sp>
      <p:sp>
        <p:nvSpPr>
          <p:cNvPr id="38914" name="Rectangle 2">
            <a:extLst>
              <a:ext uri="{FF2B5EF4-FFF2-40B4-BE49-F238E27FC236}">
                <a16:creationId xmlns:a16="http://schemas.microsoft.com/office/drawing/2014/main" id="{C43487F2-FA2C-0E4C-8B09-FD8957B4B1FB}"/>
              </a:ext>
            </a:extLst>
          </p:cNvPr>
          <p:cNvSpPr>
            <a:spLocks noGrp="1" noChangeArrowheads="1"/>
          </p:cNvSpPr>
          <p:nvPr>
            <p:ph type="title"/>
          </p:nvPr>
        </p:nvSpPr>
        <p:spPr/>
        <p:txBody>
          <a:bodyPr/>
          <a:lstStyle/>
          <a:p>
            <a:r>
              <a:rPr lang="en-US" altLang="en-US" sz="4000"/>
              <a:t>What applications benefit </a:t>
            </a:r>
            <a:br>
              <a:rPr lang="en-US" altLang="en-US" sz="4000"/>
            </a:br>
            <a:r>
              <a:rPr lang="en-US" altLang="en-US" sz="4000"/>
              <a:t>from multi-core?</a:t>
            </a:r>
          </a:p>
        </p:txBody>
      </p:sp>
      <p:sp>
        <p:nvSpPr>
          <p:cNvPr id="38915" name="Rectangle 3">
            <a:extLst>
              <a:ext uri="{FF2B5EF4-FFF2-40B4-BE49-F238E27FC236}">
                <a16:creationId xmlns:a16="http://schemas.microsoft.com/office/drawing/2014/main" id="{D685D9DA-68EC-3C47-99FC-AE2A0A919C29}"/>
              </a:ext>
            </a:extLst>
          </p:cNvPr>
          <p:cNvSpPr>
            <a:spLocks noGrp="1" noChangeArrowheads="1"/>
          </p:cNvSpPr>
          <p:nvPr>
            <p:ph type="body" sz="half" idx="1"/>
          </p:nvPr>
        </p:nvSpPr>
        <p:spPr>
          <a:xfrm>
            <a:off x="1981200" y="1828800"/>
            <a:ext cx="5410200" cy="3886200"/>
          </a:xfrm>
        </p:spPr>
        <p:txBody>
          <a:bodyPr>
            <a:normAutofit fontScale="92500" lnSpcReduction="20000"/>
          </a:bodyPr>
          <a:lstStyle/>
          <a:p>
            <a:pPr>
              <a:lnSpc>
                <a:spcPct val="90000"/>
              </a:lnSpc>
            </a:pPr>
            <a:r>
              <a:rPr lang="en-US" altLang="en-US"/>
              <a:t>Database servers</a:t>
            </a:r>
          </a:p>
          <a:p>
            <a:pPr>
              <a:lnSpc>
                <a:spcPct val="90000"/>
              </a:lnSpc>
            </a:pPr>
            <a:r>
              <a:rPr lang="en-US" altLang="en-US"/>
              <a:t>Web servers (Web commerce)</a:t>
            </a:r>
          </a:p>
          <a:p>
            <a:pPr>
              <a:lnSpc>
                <a:spcPct val="90000"/>
              </a:lnSpc>
            </a:pPr>
            <a:r>
              <a:rPr lang="en-US" altLang="en-US"/>
              <a:t>Telecommuncation markets: 6WINDGate  (datapath and control plane)</a:t>
            </a:r>
          </a:p>
          <a:p>
            <a:pPr>
              <a:lnSpc>
                <a:spcPct val="90000"/>
              </a:lnSpc>
            </a:pPr>
            <a:r>
              <a:rPr lang="en-US" altLang="en-US"/>
              <a:t>Multimedia applications</a:t>
            </a:r>
          </a:p>
          <a:p>
            <a:pPr>
              <a:lnSpc>
                <a:spcPct val="90000"/>
              </a:lnSpc>
            </a:pPr>
            <a:r>
              <a:rPr lang="en-US" altLang="en-US"/>
              <a:t>Scientific applications, CAD/CAM</a:t>
            </a:r>
          </a:p>
          <a:p>
            <a:pPr>
              <a:lnSpc>
                <a:spcPct val="90000"/>
              </a:lnSpc>
            </a:pPr>
            <a:r>
              <a:rPr lang="en-US" altLang="en-US"/>
              <a:t>In general, applications with </a:t>
            </a:r>
            <a:br>
              <a:rPr lang="en-US" altLang="en-US"/>
            </a:br>
            <a:r>
              <a:rPr lang="en-US" altLang="en-US" i="1"/>
              <a:t>Thread-level parallelism</a:t>
            </a:r>
            <a:br>
              <a:rPr lang="en-US" altLang="en-US" i="1"/>
            </a:br>
            <a:r>
              <a:rPr lang="en-US" altLang="en-US"/>
              <a:t>(as opposed to instruction-level parallelism)</a:t>
            </a:r>
          </a:p>
        </p:txBody>
      </p:sp>
      <p:graphicFrame>
        <p:nvGraphicFramePr>
          <p:cNvPr id="38916" name="Object 4">
            <a:extLst>
              <a:ext uri="{FF2B5EF4-FFF2-40B4-BE49-F238E27FC236}">
                <a16:creationId xmlns:a16="http://schemas.microsoft.com/office/drawing/2014/main" id="{38334FF7-0F7F-934B-BC88-2E7B9E5073A8}"/>
              </a:ext>
            </a:extLst>
          </p:cNvPr>
          <p:cNvGraphicFramePr>
            <a:graphicFrameLocks noGrp="1" noChangeAspect="1"/>
          </p:cNvGraphicFramePr>
          <p:nvPr>
            <p:ph sz="quarter" idx="2"/>
          </p:nvPr>
        </p:nvGraphicFramePr>
        <p:xfrm>
          <a:off x="7280275" y="2149476"/>
          <a:ext cx="2128838" cy="1876425"/>
        </p:xfrm>
        <a:graphic>
          <a:graphicData uri="http://schemas.openxmlformats.org/presentationml/2006/ole">
            <mc:AlternateContent xmlns:mc="http://schemas.openxmlformats.org/markup-compatibility/2006">
              <mc:Choice xmlns:v="urn:schemas-microsoft-com:vml" Requires="v">
                <p:oleObj spid="_x0000_s31771" name="Paint Shop Pro Image" r:id="rId4" imgW="5082927" imgH="5219512" progId="">
                  <p:embed/>
                </p:oleObj>
              </mc:Choice>
              <mc:Fallback>
                <p:oleObj name="Paint Shop Pro Image" r:id="rId4" imgW="5082927" imgH="5219512" progId="">
                  <p:embed/>
                  <p:pic>
                    <p:nvPicPr>
                      <p:cNvPr id="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80275" y="2149476"/>
                        <a:ext cx="2128838"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5">
            <a:extLst>
              <a:ext uri="{FF2B5EF4-FFF2-40B4-BE49-F238E27FC236}">
                <a16:creationId xmlns:a16="http://schemas.microsoft.com/office/drawing/2014/main" id="{2D2AACC2-C7D5-464E-A05D-C2B9181D1AA4}"/>
              </a:ext>
            </a:extLst>
          </p:cNvPr>
          <p:cNvGraphicFramePr>
            <a:graphicFrameLocks noGrp="1" noChangeAspect="1"/>
          </p:cNvGraphicFramePr>
          <p:nvPr>
            <p:ph sz="quarter" idx="3"/>
          </p:nvPr>
        </p:nvGraphicFramePr>
        <p:xfrm>
          <a:off x="7162800" y="4191001"/>
          <a:ext cx="3429000" cy="1998663"/>
        </p:xfrm>
        <a:graphic>
          <a:graphicData uri="http://schemas.openxmlformats.org/presentationml/2006/ole">
            <mc:AlternateContent xmlns:mc="http://schemas.openxmlformats.org/markup-compatibility/2006">
              <mc:Choice xmlns:v="urn:schemas-microsoft-com:vml" Requires="v">
                <p:oleObj spid="_x0000_s31772" name="Paint Shop Pro Image" r:id="rId6" imgW="9912195" imgH="5775610" progId="">
                  <p:embed/>
                </p:oleObj>
              </mc:Choice>
              <mc:Fallback>
                <p:oleObj name="Paint Shop Pro Image" r:id="rId6" imgW="9912195" imgH="5775610" progId="">
                  <p:embed/>
                  <p:pic>
                    <p:nvPicPr>
                      <p:cNvPr id="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2800" y="4191001"/>
                        <a:ext cx="3429000" cy="199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8" name="Text Box 6">
            <a:extLst>
              <a:ext uri="{FF2B5EF4-FFF2-40B4-BE49-F238E27FC236}">
                <a16:creationId xmlns:a16="http://schemas.microsoft.com/office/drawing/2014/main" id="{A830942F-092F-454E-A805-CF9C9F1F3B1D}"/>
              </a:ext>
            </a:extLst>
          </p:cNvPr>
          <p:cNvSpPr txBox="1">
            <a:spLocks noChangeArrowheads="1"/>
          </p:cNvSpPr>
          <p:nvPr/>
        </p:nvSpPr>
        <p:spPr bwMode="auto">
          <a:xfrm>
            <a:off x="9378950" y="2286001"/>
            <a:ext cx="12890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Each can run on its</a:t>
            </a:r>
            <a:br>
              <a:rPr lang="en-US" altLang="en-US"/>
            </a:br>
            <a:r>
              <a:rPr lang="en-US" altLang="en-US"/>
              <a:t>own core </a:t>
            </a:r>
            <a:br>
              <a:rPr lang="en-US" altLang="en-US"/>
            </a:br>
            <a:endParaRPr lang="en-US" altLang="en-US"/>
          </a:p>
        </p:txBody>
      </p:sp>
      <p:sp>
        <p:nvSpPr>
          <p:cNvPr id="38919" name="Line 7">
            <a:extLst>
              <a:ext uri="{FF2B5EF4-FFF2-40B4-BE49-F238E27FC236}">
                <a16:creationId xmlns:a16="http://schemas.microsoft.com/office/drawing/2014/main" id="{A4F18C8E-0516-7A47-9B73-A8C39E681712}"/>
              </a:ext>
            </a:extLst>
          </p:cNvPr>
          <p:cNvSpPr>
            <a:spLocks noChangeShapeType="1"/>
          </p:cNvSpPr>
          <p:nvPr/>
        </p:nvSpPr>
        <p:spPr bwMode="auto">
          <a:xfrm flipH="1">
            <a:off x="9677400" y="3200400"/>
            <a:ext cx="304800" cy="9144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0" name="Freeform 8">
            <a:extLst>
              <a:ext uri="{FF2B5EF4-FFF2-40B4-BE49-F238E27FC236}">
                <a16:creationId xmlns:a16="http://schemas.microsoft.com/office/drawing/2014/main" id="{D066783F-2662-9847-B26B-228F2E1BB627}"/>
              </a:ext>
            </a:extLst>
          </p:cNvPr>
          <p:cNvSpPr>
            <a:spLocks/>
          </p:cNvSpPr>
          <p:nvPr/>
        </p:nvSpPr>
        <p:spPr bwMode="auto">
          <a:xfrm>
            <a:off x="9601200" y="2057400"/>
            <a:ext cx="546100" cy="266700"/>
          </a:xfrm>
          <a:custGeom>
            <a:avLst/>
            <a:gdLst>
              <a:gd name="T0" fmla="*/ 336 w 344"/>
              <a:gd name="T1" fmla="*/ 168 h 168"/>
              <a:gd name="T2" fmla="*/ 288 w 344"/>
              <a:gd name="T3" fmla="*/ 24 h 168"/>
              <a:gd name="T4" fmla="*/ 0 w 344"/>
              <a:gd name="T5" fmla="*/ 24 h 168"/>
            </a:gdLst>
            <a:ahLst/>
            <a:cxnLst>
              <a:cxn ang="0">
                <a:pos x="T0" y="T1"/>
              </a:cxn>
              <a:cxn ang="0">
                <a:pos x="T2" y="T3"/>
              </a:cxn>
              <a:cxn ang="0">
                <a:pos x="T4" y="T5"/>
              </a:cxn>
            </a:cxnLst>
            <a:rect l="0" t="0" r="r" b="b"/>
            <a:pathLst>
              <a:path w="344" h="168">
                <a:moveTo>
                  <a:pt x="336" y="168"/>
                </a:moveTo>
                <a:cubicBezTo>
                  <a:pt x="340" y="108"/>
                  <a:pt x="344" y="48"/>
                  <a:pt x="288" y="24"/>
                </a:cubicBezTo>
                <a:cubicBezTo>
                  <a:pt x="232" y="0"/>
                  <a:pt x="116" y="12"/>
                  <a:pt x="0" y="24"/>
                </a:cubicBezTo>
              </a:path>
            </a:pathLst>
          </a:custGeom>
          <a:noFill/>
          <a:ln w="25400" cap="flat" cmpd="sng">
            <a:solidFill>
              <a:schemeClr val="tx1"/>
            </a:solidFill>
            <a:prstDash val="solid"/>
            <a:round/>
            <a:headEn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FA1FFC7-CF52-114E-9DF2-D42908C64B6A}"/>
              </a:ext>
            </a:extLst>
          </p:cNvPr>
          <p:cNvSpPr>
            <a:spLocks noGrp="1"/>
          </p:cNvSpPr>
          <p:nvPr>
            <p:ph type="sldNum" sz="quarter" idx="11"/>
          </p:nvPr>
        </p:nvSpPr>
        <p:spPr/>
        <p:txBody>
          <a:bodyPr/>
          <a:lstStyle/>
          <a:p>
            <a:fld id="{3A8D0C9C-A8AD-D14A-8B95-07DC717ABC7B}" type="slidenum">
              <a:rPr lang="en-US" altLang="en-US"/>
              <a:pPr/>
              <a:t>18</a:t>
            </a:fld>
            <a:endParaRPr lang="en-US" altLang="en-US"/>
          </a:p>
        </p:txBody>
      </p:sp>
      <p:sp>
        <p:nvSpPr>
          <p:cNvPr id="40962" name="Rectangle 2">
            <a:extLst>
              <a:ext uri="{FF2B5EF4-FFF2-40B4-BE49-F238E27FC236}">
                <a16:creationId xmlns:a16="http://schemas.microsoft.com/office/drawing/2014/main" id="{704667B8-6459-4B40-B6D7-CB5F7ECA6F45}"/>
              </a:ext>
            </a:extLst>
          </p:cNvPr>
          <p:cNvSpPr>
            <a:spLocks noGrp="1" noChangeArrowheads="1"/>
          </p:cNvSpPr>
          <p:nvPr>
            <p:ph type="title"/>
          </p:nvPr>
        </p:nvSpPr>
        <p:spPr/>
        <p:txBody>
          <a:bodyPr/>
          <a:lstStyle/>
          <a:p>
            <a:r>
              <a:rPr lang="en-US" altLang="en-US" sz="4000"/>
              <a:t>More examples</a:t>
            </a:r>
          </a:p>
        </p:txBody>
      </p:sp>
      <p:sp>
        <p:nvSpPr>
          <p:cNvPr id="40963" name="Rectangle 3">
            <a:extLst>
              <a:ext uri="{FF2B5EF4-FFF2-40B4-BE49-F238E27FC236}">
                <a16:creationId xmlns:a16="http://schemas.microsoft.com/office/drawing/2014/main" id="{771AE937-06D6-7043-8587-A6949370BD4A}"/>
              </a:ext>
            </a:extLst>
          </p:cNvPr>
          <p:cNvSpPr>
            <a:spLocks noGrp="1" noChangeArrowheads="1"/>
          </p:cNvSpPr>
          <p:nvPr>
            <p:ph type="body" idx="1"/>
          </p:nvPr>
        </p:nvSpPr>
        <p:spPr/>
        <p:txBody>
          <a:bodyPr/>
          <a:lstStyle/>
          <a:p>
            <a:r>
              <a:rPr lang="en-US" altLang="en-US" dirty="0"/>
              <a:t>Editing a photo while recording a TV show through a digital video recorder</a:t>
            </a:r>
          </a:p>
          <a:p>
            <a:r>
              <a:rPr lang="en-US" altLang="en-US" dirty="0"/>
              <a:t>Downloading software while running an anti-virus program </a:t>
            </a:r>
          </a:p>
          <a:p>
            <a:r>
              <a:rPr lang="en-US" altLang="en-US" dirty="0"/>
              <a:t>“Anything that can be threaded today will map efficiently to multi-core”</a:t>
            </a:r>
          </a:p>
          <a:p>
            <a:r>
              <a:rPr lang="en-US" altLang="en-US" dirty="0"/>
              <a:t>BUT: some applications difficult to parallelize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4">
            <a:extLst>
              <a:ext uri="{FF2B5EF4-FFF2-40B4-BE49-F238E27FC236}">
                <a16:creationId xmlns:a16="http://schemas.microsoft.com/office/drawing/2014/main" id="{78182A37-0FDE-E143-B8A5-8027407FE5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1E1F966-1290-3D42-944E-6786823B396E}" type="slidenum">
              <a:rPr lang="en-GB" altLang="en-US" sz="1400"/>
              <a:pPr>
                <a:spcBef>
                  <a:spcPct val="0"/>
                </a:spcBef>
                <a:buFontTx/>
                <a:buNone/>
              </a:pPr>
              <a:t>19</a:t>
            </a:fld>
            <a:endParaRPr lang="en-GB" altLang="en-US" sz="1400"/>
          </a:p>
        </p:txBody>
      </p:sp>
      <p:sp>
        <p:nvSpPr>
          <p:cNvPr id="6" name="Rectangle 5">
            <a:extLst>
              <a:ext uri="{FF2B5EF4-FFF2-40B4-BE49-F238E27FC236}">
                <a16:creationId xmlns:a16="http://schemas.microsoft.com/office/drawing/2014/main" id="{A7A62B63-3789-BF42-8D64-686F9DCF6E64}"/>
              </a:ext>
            </a:extLst>
          </p:cNvPr>
          <p:cNvSpPr/>
          <p:nvPr/>
        </p:nvSpPr>
        <p:spPr>
          <a:xfrm>
            <a:off x="1082565" y="416262"/>
            <a:ext cx="10026869" cy="7417415"/>
          </a:xfrm>
          <a:prstGeom prst="rect">
            <a:avLst/>
          </a:prstGeom>
        </p:spPr>
        <p:txBody>
          <a:bodyPr wrap="square">
            <a:spAutoFit/>
          </a:bodyPr>
          <a:lstStyle/>
          <a:p>
            <a:pPr marL="582613" indent="-582613">
              <a:defRPr/>
            </a:pPr>
            <a:r>
              <a:rPr lang="en-GB" sz="3200" b="1" dirty="0">
                <a:cs typeface="Times New Roman" pitchFamily="18" charset="0"/>
              </a:rPr>
              <a:t>9.2  	Graphics Processing Unit (GPU) design</a:t>
            </a:r>
          </a:p>
          <a:p>
            <a:pPr marL="582613" indent="-582613">
              <a:defRPr/>
            </a:pPr>
            <a:endParaRPr lang="en-GB" sz="3200" b="1" dirty="0">
              <a:cs typeface="Times New Roman" pitchFamily="18" charset="0"/>
            </a:endParaRPr>
          </a:p>
          <a:p>
            <a:pPr marL="582613" indent="-582613" algn="just">
              <a:buFont typeface="Wingdings" pitchFamily="2" charset="2"/>
              <a:buChar char="§"/>
              <a:defRPr/>
            </a:pPr>
            <a:r>
              <a:rPr lang="en-GB" sz="3200" b="1" dirty="0">
                <a:cs typeface="Times New Roman" pitchFamily="18" charset="0"/>
              </a:rPr>
              <a:t>GPU is a graphical processing unit which enables running high definitions graphics on Personal Computers.</a:t>
            </a:r>
          </a:p>
          <a:p>
            <a:pPr marL="582613" indent="-582613" algn="just">
              <a:buFont typeface="Wingdings" pitchFamily="2" charset="2"/>
              <a:buChar char="§"/>
              <a:defRPr/>
            </a:pPr>
            <a:r>
              <a:rPr lang="en-GB" sz="3200" b="1" dirty="0">
                <a:cs typeface="Times New Roman" pitchFamily="18" charset="0"/>
              </a:rPr>
              <a:t>Similar to Central Processing Unit (CPU), GPU is a single-chip processor.</a:t>
            </a:r>
          </a:p>
          <a:p>
            <a:pPr marL="582613" indent="-582613" algn="just">
              <a:buFont typeface="Wingdings" pitchFamily="2" charset="2"/>
              <a:buChar char="§"/>
              <a:defRPr/>
            </a:pPr>
            <a:r>
              <a:rPr lang="en-GB" sz="3200" b="1" dirty="0">
                <a:cs typeface="Times New Roman" pitchFamily="18" charset="0"/>
              </a:rPr>
              <a:t>The GPU has hundreds of cores as compared to the 4 or 8 in the latest CPUs.</a:t>
            </a:r>
          </a:p>
          <a:p>
            <a:pPr marL="582613" indent="-582613" algn="just">
              <a:buFont typeface="Wingdings" pitchFamily="2" charset="2"/>
              <a:buChar char="§"/>
              <a:defRPr/>
            </a:pPr>
            <a:r>
              <a:rPr lang="en-GB" sz="3200" b="1" dirty="0">
                <a:cs typeface="Times New Roman" pitchFamily="18" charset="0"/>
              </a:rPr>
              <a:t>The primary job of the GPU is to compute 3D functions. </a:t>
            </a:r>
          </a:p>
          <a:p>
            <a:pPr marL="582613" indent="-582613" algn="just">
              <a:buFont typeface="Wingdings" pitchFamily="2" charset="2"/>
              <a:buChar char="§"/>
              <a:defRPr/>
            </a:pPr>
            <a:r>
              <a:rPr lang="en-US" sz="3200" b="1" dirty="0"/>
              <a:t>GPU parallelism is similar to multicore parallelism</a:t>
            </a:r>
          </a:p>
          <a:p>
            <a:pPr marL="582613" indent="-582613" algn="just">
              <a:buFont typeface="Wingdings" pitchFamily="2" charset="2"/>
              <a:buChar char="§"/>
              <a:defRPr/>
            </a:pPr>
            <a:endParaRPr lang="en-GB" sz="3200" b="1" dirty="0">
              <a:cs typeface="Times New Roman" pitchFamily="18" charset="0"/>
            </a:endParaRPr>
          </a:p>
          <a:p>
            <a:pPr marL="582613" indent="-582613" algn="just">
              <a:buFont typeface="Wingdings" pitchFamily="2" charset="2"/>
              <a:buChar char="§"/>
              <a:defRPr/>
            </a:pPr>
            <a:endParaRPr lang="en-GB" sz="3200" b="1" dirty="0">
              <a:cs typeface="Times New Roman" pitchFamily="18" charset="0"/>
            </a:endParaRPr>
          </a:p>
          <a:p>
            <a:pPr marL="582613" indent="-582613">
              <a:defRPr/>
            </a:pPr>
            <a:endParaRPr lang="en-GB" sz="2800" dirty="0">
              <a:cs typeface="Times New Roman" pitchFamily="18" charset="0"/>
            </a:endParaRPr>
          </a:p>
        </p:txBody>
      </p:sp>
    </p:spTree>
    <p:extLst>
      <p:ext uri="{BB962C8B-B14F-4D97-AF65-F5344CB8AC3E}">
        <p14:creationId xmlns:p14="http://schemas.microsoft.com/office/powerpoint/2010/main" val="1550928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68204"/>
            <a:ext cx="10515600" cy="1325563"/>
          </a:xfrm>
        </p:spPr>
        <p:txBody>
          <a:bodyPr/>
          <a:lstStyle/>
          <a:p>
            <a:r>
              <a:rPr lang="en-US" dirty="0"/>
              <a:t>Parallelism</a:t>
            </a:r>
          </a:p>
        </p:txBody>
      </p:sp>
      <p:pic>
        <p:nvPicPr>
          <p:cNvPr id="5" name="Picture 4"/>
          <p:cNvPicPr>
            <a:picLocks noChangeAspect="1"/>
          </p:cNvPicPr>
          <p:nvPr/>
        </p:nvPicPr>
        <p:blipFill>
          <a:blip r:embed="rId2"/>
          <a:stretch>
            <a:fillRect/>
          </a:stretch>
        </p:blipFill>
        <p:spPr>
          <a:xfrm>
            <a:off x="1524000" y="1079863"/>
            <a:ext cx="9144000" cy="5529943"/>
          </a:xfrm>
          <a:prstGeom prst="rect">
            <a:avLst/>
          </a:prstGeom>
        </p:spPr>
      </p:pic>
      <p:sp>
        <p:nvSpPr>
          <p:cNvPr id="3" name="Slide Number Placeholder 2">
            <a:extLst>
              <a:ext uri="{FF2B5EF4-FFF2-40B4-BE49-F238E27FC236}">
                <a16:creationId xmlns:a16="http://schemas.microsoft.com/office/drawing/2014/main" id="{B025D331-5C14-9940-AB00-A2155FCFAA94}"/>
              </a:ext>
            </a:extLst>
          </p:cNvPr>
          <p:cNvSpPr>
            <a:spLocks noGrp="1"/>
          </p:cNvSpPr>
          <p:nvPr>
            <p:ph type="sldNum" sz="quarter" idx="12"/>
          </p:nvPr>
        </p:nvSpPr>
        <p:spPr/>
        <p:txBody>
          <a:bodyPr/>
          <a:lstStyle/>
          <a:p>
            <a:fld id="{92124849-AE39-1947-AFA1-94AB1ABB4CD1}" type="slidenum">
              <a:rPr lang="en-US" smtClean="0"/>
              <a:pPr/>
              <a:t>20</a:t>
            </a:fld>
            <a:endParaRPr lang="en-US"/>
          </a:p>
        </p:txBody>
      </p:sp>
    </p:spTree>
    <p:extLst>
      <p:ext uri="{BB962C8B-B14F-4D97-AF65-F5344CB8AC3E}">
        <p14:creationId xmlns:p14="http://schemas.microsoft.com/office/powerpoint/2010/main" val="4177295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Heterogeneous Computing</a:t>
            </a:r>
          </a:p>
        </p:txBody>
      </p:sp>
      <p:pic>
        <p:nvPicPr>
          <p:cNvPr id="2050" name="Picture 2" descr="http://ic.tweakimg.net/ext/i/129404344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2735" y="2389001"/>
            <a:ext cx="2917371" cy="25138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nvidia.com/docs/IO/83975/Tesla_C2050-C2070_1929-3qtr_lar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8050" y="2386891"/>
            <a:ext cx="3031217" cy="25159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434136" y="5081129"/>
            <a:ext cx="3334567" cy="400110"/>
          </a:xfrm>
          <a:prstGeom prst="rect">
            <a:avLst/>
          </a:prstGeom>
          <a:noFill/>
        </p:spPr>
        <p:txBody>
          <a:bodyPr wrap="none" rtlCol="0">
            <a:spAutoFit/>
          </a:bodyPr>
          <a:lstStyle/>
          <a:p>
            <a:pPr algn="ctr"/>
            <a:r>
              <a:rPr lang="en-US" sz="2000" b="1" dirty="0">
                <a:solidFill>
                  <a:srgbClr val="92D050"/>
                </a:solidFill>
              </a:rPr>
              <a:t>Host:</a:t>
            </a:r>
            <a:r>
              <a:rPr lang="en-US" sz="2000" b="1" dirty="0">
                <a:solidFill>
                  <a:schemeClr val="accent1"/>
                </a:solidFill>
              </a:rPr>
              <a:t> </a:t>
            </a:r>
            <a:r>
              <a:rPr lang="en-US" sz="2000" dirty="0"/>
              <a:t>the CPU and its memory</a:t>
            </a:r>
          </a:p>
        </p:txBody>
      </p:sp>
      <p:sp>
        <p:nvSpPr>
          <p:cNvPr id="9" name="TextBox 8"/>
          <p:cNvSpPr txBox="1"/>
          <p:nvPr/>
        </p:nvSpPr>
        <p:spPr>
          <a:xfrm>
            <a:off x="6254164" y="5081129"/>
            <a:ext cx="3558988" cy="400110"/>
          </a:xfrm>
          <a:prstGeom prst="rect">
            <a:avLst/>
          </a:prstGeom>
          <a:noFill/>
        </p:spPr>
        <p:txBody>
          <a:bodyPr wrap="none" rtlCol="0">
            <a:spAutoFit/>
          </a:bodyPr>
          <a:lstStyle/>
          <a:p>
            <a:pPr algn="ctr"/>
            <a:r>
              <a:rPr lang="en-US" sz="2000" b="1" dirty="0">
                <a:solidFill>
                  <a:srgbClr val="00B0F0"/>
                </a:solidFill>
              </a:rPr>
              <a:t>Device: </a:t>
            </a:r>
            <a:r>
              <a:rPr lang="en-US" sz="2000" dirty="0"/>
              <a:t>the GPU and its memory</a:t>
            </a:r>
          </a:p>
        </p:txBody>
      </p:sp>
      <p:sp>
        <p:nvSpPr>
          <p:cNvPr id="3" name="Slide Number Placeholder 2">
            <a:extLst>
              <a:ext uri="{FF2B5EF4-FFF2-40B4-BE49-F238E27FC236}">
                <a16:creationId xmlns:a16="http://schemas.microsoft.com/office/drawing/2014/main" id="{5BEA5215-F05A-074F-A76C-AA0D9AA40C6B}"/>
              </a:ext>
            </a:extLst>
          </p:cNvPr>
          <p:cNvSpPr>
            <a:spLocks noGrp="1"/>
          </p:cNvSpPr>
          <p:nvPr>
            <p:ph type="sldNum" sz="quarter" idx="12"/>
          </p:nvPr>
        </p:nvSpPr>
        <p:spPr/>
        <p:txBody>
          <a:bodyPr/>
          <a:lstStyle/>
          <a:p>
            <a:fld id="{92124849-AE39-1947-AFA1-94AB1ABB4CD1}" type="slidenum">
              <a:rPr lang="en-US" smtClean="0"/>
              <a:pPr/>
              <a:t>21</a:t>
            </a:fld>
            <a:endParaRPr lang="en-US"/>
          </a:p>
        </p:txBody>
      </p:sp>
    </p:spTree>
    <p:extLst>
      <p:ext uri="{BB962C8B-B14F-4D97-AF65-F5344CB8AC3E}">
        <p14:creationId xmlns:p14="http://schemas.microsoft.com/office/powerpoint/2010/main" val="4083274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375FC82E-22BC-DA43-B524-05D8FAC4052E}"/>
              </a:ext>
            </a:extLst>
          </p:cNvPr>
          <p:cNvSpPr>
            <a:spLocks noGrp="1" noChangeArrowheads="1"/>
          </p:cNvSpPr>
          <p:nvPr>
            <p:ph type="title"/>
          </p:nvPr>
        </p:nvSpPr>
        <p:spPr/>
        <p:txBody>
          <a:bodyPr/>
          <a:lstStyle/>
          <a:p>
            <a:pPr eaLnBrk="1" hangingPunct="1"/>
            <a:r>
              <a:rPr lang="en-US" altLang="en-US" sz="4000"/>
              <a:t>GPU vs CPU</a:t>
            </a:r>
            <a:endParaRPr lang="el-GR" altLang="en-US" sz="4000"/>
          </a:p>
        </p:txBody>
      </p:sp>
      <p:sp>
        <p:nvSpPr>
          <p:cNvPr id="46082" name="Rectangle 3">
            <a:extLst>
              <a:ext uri="{FF2B5EF4-FFF2-40B4-BE49-F238E27FC236}">
                <a16:creationId xmlns:a16="http://schemas.microsoft.com/office/drawing/2014/main" id="{EFA0DEB0-C60D-B848-BF86-D52492DED599}"/>
              </a:ext>
            </a:extLst>
          </p:cNvPr>
          <p:cNvSpPr>
            <a:spLocks noGrp="1" noChangeArrowheads="1"/>
          </p:cNvSpPr>
          <p:nvPr>
            <p:ph type="body" idx="1"/>
          </p:nvPr>
        </p:nvSpPr>
        <p:spPr/>
        <p:txBody>
          <a:bodyPr/>
          <a:lstStyle/>
          <a:p>
            <a:pPr eaLnBrk="1" hangingPunct="1">
              <a:lnSpc>
                <a:spcPct val="90000"/>
              </a:lnSpc>
            </a:pPr>
            <a:r>
              <a:rPr lang="en-US" altLang="en-US" sz="2400"/>
              <a:t>A GPU is tailored for highly parallel operation while a CPU executes programs serially</a:t>
            </a:r>
          </a:p>
          <a:p>
            <a:pPr eaLnBrk="1" hangingPunct="1">
              <a:lnSpc>
                <a:spcPct val="90000"/>
              </a:lnSpc>
            </a:pPr>
            <a:r>
              <a:rPr lang="en-US" altLang="en-US" sz="2400"/>
              <a:t>For this reason, GPUs have many parallel execution units and higher transistor counts, while CPUs have few execution units and higher clockspeeds</a:t>
            </a:r>
          </a:p>
          <a:p>
            <a:pPr eaLnBrk="1" hangingPunct="1">
              <a:lnSpc>
                <a:spcPct val="90000"/>
              </a:lnSpc>
            </a:pPr>
            <a:r>
              <a:rPr lang="en-US" altLang="en-US" sz="2400"/>
              <a:t>A GPU is for the most part deterministic in its operation (though this is quickly changing)</a:t>
            </a:r>
          </a:p>
          <a:p>
            <a:pPr eaLnBrk="1" hangingPunct="1">
              <a:lnSpc>
                <a:spcPct val="90000"/>
              </a:lnSpc>
            </a:pPr>
            <a:r>
              <a:rPr lang="en-US" altLang="en-US" sz="2400"/>
              <a:t>GPUs have much deeper pipelines (several thousand stages vs 10-20 for CPUs)</a:t>
            </a:r>
          </a:p>
          <a:p>
            <a:pPr eaLnBrk="1" hangingPunct="1">
              <a:lnSpc>
                <a:spcPct val="90000"/>
              </a:lnSpc>
            </a:pPr>
            <a:r>
              <a:rPr lang="en-US" altLang="en-US" sz="2400"/>
              <a:t>GPUs have significantly faster and more advanced memory interfaces as they need to shift around a lot more data than CPUs</a:t>
            </a:r>
            <a:endParaRPr lang="el-GR" altLang="en-US"/>
          </a:p>
        </p:txBody>
      </p:sp>
      <p:sp>
        <p:nvSpPr>
          <p:cNvPr id="2" name="Slide Number Placeholder 1">
            <a:extLst>
              <a:ext uri="{FF2B5EF4-FFF2-40B4-BE49-F238E27FC236}">
                <a16:creationId xmlns:a16="http://schemas.microsoft.com/office/drawing/2014/main" id="{5161873A-281A-B244-A950-C7ABDD90AD6D}"/>
              </a:ext>
            </a:extLst>
          </p:cNvPr>
          <p:cNvSpPr>
            <a:spLocks noGrp="1"/>
          </p:cNvSpPr>
          <p:nvPr>
            <p:ph type="sldNum" sz="quarter" idx="12"/>
          </p:nvPr>
        </p:nvSpPr>
        <p:spPr/>
        <p:txBody>
          <a:bodyPr/>
          <a:lstStyle/>
          <a:p>
            <a:fld id="{92124849-AE39-1947-AFA1-94AB1ABB4CD1}"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80851" y="-157389"/>
            <a:ext cx="10515600" cy="1325563"/>
          </a:xfrm>
        </p:spPr>
        <p:txBody>
          <a:bodyPr/>
          <a:lstStyle/>
          <a:p>
            <a:pPr eaLnBrk="1" hangingPunct="1"/>
            <a:r>
              <a:rPr lang="en-AU" altLang="en-US" dirty="0"/>
              <a:t>GPU Architectures</a:t>
            </a:r>
          </a:p>
        </p:txBody>
      </p:sp>
      <p:sp>
        <p:nvSpPr>
          <p:cNvPr id="27651" name="Rectangle 3"/>
          <p:cNvSpPr>
            <a:spLocks noGrp="1" noChangeArrowheads="1"/>
          </p:cNvSpPr>
          <p:nvPr>
            <p:ph type="body" idx="1"/>
          </p:nvPr>
        </p:nvSpPr>
        <p:spPr>
          <a:xfrm>
            <a:off x="1752600" y="838200"/>
            <a:ext cx="9144000" cy="5638800"/>
          </a:xfrm>
        </p:spPr>
        <p:txBody>
          <a:bodyPr>
            <a:normAutofit/>
          </a:bodyPr>
          <a:lstStyle/>
          <a:p>
            <a:pPr eaLnBrk="1" hangingPunct="1">
              <a:lnSpc>
                <a:spcPct val="80000"/>
              </a:lnSpc>
            </a:pPr>
            <a:r>
              <a:rPr lang="en-AU" altLang="en-US" dirty="0"/>
              <a:t>Processing is highly data-parallel</a:t>
            </a:r>
          </a:p>
          <a:p>
            <a:pPr lvl="1" eaLnBrk="1" hangingPunct="1">
              <a:lnSpc>
                <a:spcPct val="80000"/>
              </a:lnSpc>
            </a:pPr>
            <a:r>
              <a:rPr lang="en-AU" altLang="en-US" dirty="0"/>
              <a:t>GPUs are highly multithreaded</a:t>
            </a:r>
          </a:p>
          <a:p>
            <a:pPr lvl="1" eaLnBrk="1" hangingPunct="1">
              <a:lnSpc>
                <a:spcPct val="80000"/>
              </a:lnSpc>
            </a:pPr>
            <a:r>
              <a:rPr lang="en-AU" altLang="en-US" dirty="0"/>
              <a:t>Use thread switching to hide memory latency</a:t>
            </a:r>
          </a:p>
          <a:p>
            <a:pPr lvl="2" eaLnBrk="1" hangingPunct="1">
              <a:lnSpc>
                <a:spcPct val="80000"/>
              </a:lnSpc>
            </a:pPr>
            <a:r>
              <a:rPr lang="en-AU" altLang="en-US" dirty="0"/>
              <a:t>Less reliance on multi-level caches</a:t>
            </a:r>
          </a:p>
          <a:p>
            <a:pPr lvl="1" eaLnBrk="1" hangingPunct="1">
              <a:lnSpc>
                <a:spcPct val="80000"/>
              </a:lnSpc>
            </a:pPr>
            <a:r>
              <a:rPr lang="en-AU" altLang="en-US" dirty="0"/>
              <a:t>Graphics memory is wide and high-bandwidth</a:t>
            </a:r>
          </a:p>
          <a:p>
            <a:pPr eaLnBrk="1" hangingPunct="1">
              <a:lnSpc>
                <a:spcPct val="80000"/>
              </a:lnSpc>
            </a:pPr>
            <a:r>
              <a:rPr lang="en-AU" altLang="en-US" dirty="0"/>
              <a:t>Trend toward general purpose GPUs</a:t>
            </a:r>
          </a:p>
          <a:p>
            <a:pPr lvl="1" eaLnBrk="1" hangingPunct="1">
              <a:lnSpc>
                <a:spcPct val="80000"/>
              </a:lnSpc>
            </a:pPr>
            <a:r>
              <a:rPr lang="en-AU" altLang="en-US" dirty="0"/>
              <a:t>Heterogeneous CPU/GPU systems</a:t>
            </a:r>
          </a:p>
          <a:p>
            <a:pPr lvl="1" eaLnBrk="1" hangingPunct="1">
              <a:lnSpc>
                <a:spcPct val="80000"/>
              </a:lnSpc>
            </a:pPr>
            <a:r>
              <a:rPr lang="en-AU" altLang="en-US" dirty="0"/>
              <a:t>CPU for sequential code, GPU for parallel code</a:t>
            </a:r>
          </a:p>
          <a:p>
            <a:pPr eaLnBrk="1" hangingPunct="1">
              <a:lnSpc>
                <a:spcPct val="80000"/>
              </a:lnSpc>
            </a:pPr>
            <a:r>
              <a:rPr lang="en-AU" altLang="en-US" dirty="0"/>
              <a:t>Programming languages/APIs</a:t>
            </a:r>
          </a:p>
          <a:p>
            <a:pPr lvl="1" eaLnBrk="1" hangingPunct="1">
              <a:lnSpc>
                <a:spcPct val="80000"/>
              </a:lnSpc>
            </a:pPr>
            <a:r>
              <a:rPr lang="en-AU" altLang="en-US" dirty="0"/>
              <a:t>DirectX, OpenGL</a:t>
            </a:r>
          </a:p>
          <a:p>
            <a:pPr lvl="1" eaLnBrk="1" hangingPunct="1">
              <a:lnSpc>
                <a:spcPct val="80000"/>
              </a:lnSpc>
            </a:pPr>
            <a:r>
              <a:rPr lang="en-AU" altLang="en-US" dirty="0"/>
              <a:t>Compute Unified Device Architecture (CUDA)</a:t>
            </a:r>
          </a:p>
          <a:p>
            <a:pPr marL="457200" lvl="1" indent="0">
              <a:lnSpc>
                <a:spcPct val="80000"/>
              </a:lnSpc>
              <a:buNone/>
            </a:pPr>
            <a:endParaRPr lang="en-AU" altLang="en-US" dirty="0"/>
          </a:p>
        </p:txBody>
      </p:sp>
      <p:sp>
        <p:nvSpPr>
          <p:cNvPr id="2" name="Slide Number Placeholder 1">
            <a:extLst>
              <a:ext uri="{FF2B5EF4-FFF2-40B4-BE49-F238E27FC236}">
                <a16:creationId xmlns:a16="http://schemas.microsoft.com/office/drawing/2014/main" id="{D621FA9E-B8F3-9D48-9FCB-CD1E0F2771F9}"/>
              </a:ext>
            </a:extLst>
          </p:cNvPr>
          <p:cNvSpPr>
            <a:spLocks noGrp="1"/>
          </p:cNvSpPr>
          <p:nvPr>
            <p:ph type="sldNum" sz="quarter" idx="12"/>
          </p:nvPr>
        </p:nvSpPr>
        <p:spPr/>
        <p:txBody>
          <a:bodyPr/>
          <a:lstStyle/>
          <a:p>
            <a:fld id="{92124849-AE39-1947-AFA1-94AB1ABB4CD1}" type="slidenum">
              <a:rPr lang="en-US" smtClean="0"/>
              <a:pPr/>
              <a:t>23</a:t>
            </a:fld>
            <a:endParaRPr lang="en-US"/>
          </a:p>
        </p:txBody>
      </p:sp>
    </p:spTree>
    <p:extLst>
      <p:ext uri="{BB962C8B-B14F-4D97-AF65-F5344CB8AC3E}">
        <p14:creationId xmlns:p14="http://schemas.microsoft.com/office/powerpoint/2010/main" val="2245390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EB66C019-C682-1045-B0FB-40756E980634}"/>
              </a:ext>
            </a:extLst>
          </p:cNvPr>
          <p:cNvSpPr>
            <a:spLocks noGrp="1" noChangeArrowheads="1"/>
          </p:cNvSpPr>
          <p:nvPr>
            <p:ph type="title"/>
          </p:nvPr>
        </p:nvSpPr>
        <p:spPr/>
        <p:txBody>
          <a:bodyPr/>
          <a:lstStyle/>
          <a:p>
            <a:pPr eaLnBrk="1" hangingPunct="1"/>
            <a:r>
              <a:rPr lang="en-US" altLang="en-US" sz="4000"/>
              <a:t>The GPU pipeline</a:t>
            </a:r>
            <a:endParaRPr lang="el-GR" altLang="en-US" sz="4000"/>
          </a:p>
        </p:txBody>
      </p:sp>
      <p:sp>
        <p:nvSpPr>
          <p:cNvPr id="47106" name="Rectangle 3">
            <a:extLst>
              <a:ext uri="{FF2B5EF4-FFF2-40B4-BE49-F238E27FC236}">
                <a16:creationId xmlns:a16="http://schemas.microsoft.com/office/drawing/2014/main" id="{776AC180-6FB0-2846-9EF8-860D45D712B5}"/>
              </a:ext>
            </a:extLst>
          </p:cNvPr>
          <p:cNvSpPr>
            <a:spLocks noGrp="1" noChangeArrowheads="1"/>
          </p:cNvSpPr>
          <p:nvPr>
            <p:ph type="body" idx="1"/>
          </p:nvPr>
        </p:nvSpPr>
        <p:spPr/>
        <p:txBody>
          <a:bodyPr/>
          <a:lstStyle/>
          <a:p>
            <a:pPr eaLnBrk="1" hangingPunct="1"/>
            <a:r>
              <a:rPr lang="en-US" altLang="en-US"/>
              <a:t>The GPU receives geometry information from the CPU as an input and provides a picture as an output</a:t>
            </a:r>
          </a:p>
          <a:p>
            <a:pPr eaLnBrk="1" hangingPunct="1"/>
            <a:r>
              <a:rPr lang="en-US" altLang="en-US"/>
              <a:t>Let’s see how that happens </a:t>
            </a:r>
            <a:endParaRPr lang="el-GR" altLang="en-US"/>
          </a:p>
        </p:txBody>
      </p:sp>
      <p:grpSp>
        <p:nvGrpSpPr>
          <p:cNvPr id="47107" name="Group 16">
            <a:extLst>
              <a:ext uri="{FF2B5EF4-FFF2-40B4-BE49-F238E27FC236}">
                <a16:creationId xmlns:a16="http://schemas.microsoft.com/office/drawing/2014/main" id="{1D4BAAED-9C39-3B40-BEB7-12B0799F9EAB}"/>
              </a:ext>
            </a:extLst>
          </p:cNvPr>
          <p:cNvGrpSpPr>
            <a:grpSpLocks/>
          </p:cNvGrpSpPr>
          <p:nvPr/>
        </p:nvGrpSpPr>
        <p:grpSpPr bwMode="auto">
          <a:xfrm>
            <a:off x="2495550" y="4868863"/>
            <a:ext cx="7200900" cy="863600"/>
            <a:chOff x="748" y="1616"/>
            <a:chExt cx="4536" cy="544"/>
          </a:xfrm>
        </p:grpSpPr>
        <p:sp>
          <p:nvSpPr>
            <p:cNvPr id="47108" name="Rectangle 6">
              <a:extLst>
                <a:ext uri="{FF2B5EF4-FFF2-40B4-BE49-F238E27FC236}">
                  <a16:creationId xmlns:a16="http://schemas.microsoft.com/office/drawing/2014/main" id="{67A84952-7C63-8344-B925-54FE3132AE3E}"/>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47109" name="Rectangle 8">
              <a:extLst>
                <a:ext uri="{FF2B5EF4-FFF2-40B4-BE49-F238E27FC236}">
                  <a16:creationId xmlns:a16="http://schemas.microsoft.com/office/drawing/2014/main" id="{2051EDFD-EEBD-064A-9252-3EA966AB9F5C}"/>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47110" name="Rectangle 9">
              <a:extLst>
                <a:ext uri="{FF2B5EF4-FFF2-40B4-BE49-F238E27FC236}">
                  <a16:creationId xmlns:a16="http://schemas.microsoft.com/office/drawing/2014/main" id="{81E4361D-59EC-9540-B408-D8823C102FB9}"/>
                </a:ext>
              </a:extLst>
            </p:cNvPr>
            <p:cNvSpPr>
              <a:spLocks noChangeArrowheads="1"/>
            </p:cNvSpPr>
            <p:nvPr/>
          </p:nvSpPr>
          <p:spPr bwMode="auto">
            <a:xfrm>
              <a:off x="2653"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47111" name="Rectangle 10">
              <a:extLst>
                <a:ext uri="{FF2B5EF4-FFF2-40B4-BE49-F238E27FC236}">
                  <a16:creationId xmlns:a16="http://schemas.microsoft.com/office/drawing/2014/main" id="{08385B8D-0972-A14C-8ED2-BB063017A302}"/>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47112" name="Rectangle 11">
              <a:extLst>
                <a:ext uri="{FF2B5EF4-FFF2-40B4-BE49-F238E27FC236}">
                  <a16:creationId xmlns:a16="http://schemas.microsoft.com/office/drawing/2014/main" id="{5CB1DA62-7647-C940-8D4B-1074DACDEE36}"/>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47113" name="Line 12">
              <a:extLst>
                <a:ext uri="{FF2B5EF4-FFF2-40B4-BE49-F238E27FC236}">
                  <a16:creationId xmlns:a16="http://schemas.microsoft.com/office/drawing/2014/main" id="{13FADE90-0C2B-3942-80F0-16E7038542C4}"/>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4" name="Line 13">
              <a:extLst>
                <a:ext uri="{FF2B5EF4-FFF2-40B4-BE49-F238E27FC236}">
                  <a16:creationId xmlns:a16="http://schemas.microsoft.com/office/drawing/2014/main" id="{F98669EB-2BD2-1B49-BFE0-DD406953F463}"/>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5" name="Line 14">
              <a:extLst>
                <a:ext uri="{FF2B5EF4-FFF2-40B4-BE49-F238E27FC236}">
                  <a16:creationId xmlns:a16="http://schemas.microsoft.com/office/drawing/2014/main" id="{8FD1CF9D-F178-F14E-A58B-19FF9A8ABA65}"/>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6" name="Line 15">
              <a:extLst>
                <a:ext uri="{FF2B5EF4-FFF2-40B4-BE49-F238E27FC236}">
                  <a16:creationId xmlns:a16="http://schemas.microsoft.com/office/drawing/2014/main" id="{0D9DFB6A-3EC3-B048-AFA4-80380CF5AFA7}"/>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21DA95C6-036C-6A4B-963E-EAF34D8D66DF}"/>
              </a:ext>
            </a:extLst>
          </p:cNvPr>
          <p:cNvSpPr>
            <a:spLocks noGrp="1"/>
          </p:cNvSpPr>
          <p:nvPr>
            <p:ph type="sldNum" sz="quarter" idx="12"/>
          </p:nvPr>
        </p:nvSpPr>
        <p:spPr/>
        <p:txBody>
          <a:bodyPr/>
          <a:lstStyle/>
          <a:p>
            <a:fld id="{92124849-AE39-1947-AFA1-94AB1ABB4CD1}"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0D912466-0FF6-EA42-BDA3-EFE389385686}"/>
              </a:ext>
            </a:extLst>
          </p:cNvPr>
          <p:cNvSpPr>
            <a:spLocks noGrp="1" noChangeArrowheads="1"/>
          </p:cNvSpPr>
          <p:nvPr>
            <p:ph type="title"/>
          </p:nvPr>
        </p:nvSpPr>
        <p:spPr/>
        <p:txBody>
          <a:bodyPr/>
          <a:lstStyle/>
          <a:p>
            <a:pPr eaLnBrk="1" hangingPunct="1"/>
            <a:r>
              <a:rPr lang="en-US" altLang="en-US" sz="4000"/>
              <a:t>Host Interface</a:t>
            </a:r>
            <a:endParaRPr lang="el-GR" altLang="en-US" sz="4000"/>
          </a:p>
        </p:txBody>
      </p:sp>
      <p:sp>
        <p:nvSpPr>
          <p:cNvPr id="48130" name="Rectangle 3">
            <a:extLst>
              <a:ext uri="{FF2B5EF4-FFF2-40B4-BE49-F238E27FC236}">
                <a16:creationId xmlns:a16="http://schemas.microsoft.com/office/drawing/2014/main" id="{69244A64-4883-7947-B46F-853E02E79E9C}"/>
              </a:ext>
            </a:extLst>
          </p:cNvPr>
          <p:cNvSpPr>
            <a:spLocks noGrp="1" noChangeArrowheads="1"/>
          </p:cNvSpPr>
          <p:nvPr>
            <p:ph type="body" idx="1"/>
          </p:nvPr>
        </p:nvSpPr>
        <p:spPr/>
        <p:txBody>
          <a:bodyPr/>
          <a:lstStyle/>
          <a:p>
            <a:pPr eaLnBrk="1" hangingPunct="1"/>
            <a:r>
              <a:rPr lang="en-US" altLang="en-US" sz="2400"/>
              <a:t>The host interface is the communication bridge between the CPU and the GPU</a:t>
            </a:r>
          </a:p>
          <a:p>
            <a:pPr eaLnBrk="1" hangingPunct="1"/>
            <a:r>
              <a:rPr lang="en-US" altLang="en-US" sz="2400"/>
              <a:t>It receives commands from the CPU and also pulls geometry information from system memory</a:t>
            </a:r>
          </a:p>
          <a:p>
            <a:pPr eaLnBrk="1" hangingPunct="1"/>
            <a:r>
              <a:rPr lang="en-US" altLang="en-US" sz="2400"/>
              <a:t>It outputs a </a:t>
            </a:r>
            <a:r>
              <a:rPr lang="en-US" altLang="en-US" sz="2400" i="1"/>
              <a:t>stream</a:t>
            </a:r>
            <a:r>
              <a:rPr lang="en-US" altLang="en-US" sz="2400"/>
              <a:t> of vertices in object space with all their associated information (normals, texture coordinates, per vertex color etc) </a:t>
            </a:r>
            <a:endParaRPr lang="el-GR" altLang="en-US" sz="2400"/>
          </a:p>
        </p:txBody>
      </p:sp>
      <p:grpSp>
        <p:nvGrpSpPr>
          <p:cNvPr id="48131" name="Group 4">
            <a:extLst>
              <a:ext uri="{FF2B5EF4-FFF2-40B4-BE49-F238E27FC236}">
                <a16:creationId xmlns:a16="http://schemas.microsoft.com/office/drawing/2014/main" id="{688520F3-E032-484B-842A-F364FA8656BA}"/>
              </a:ext>
            </a:extLst>
          </p:cNvPr>
          <p:cNvGrpSpPr>
            <a:grpSpLocks/>
          </p:cNvGrpSpPr>
          <p:nvPr/>
        </p:nvGrpSpPr>
        <p:grpSpPr bwMode="auto">
          <a:xfrm>
            <a:off x="2495550" y="4868863"/>
            <a:ext cx="7200900" cy="863600"/>
            <a:chOff x="748" y="1616"/>
            <a:chExt cx="4536" cy="544"/>
          </a:xfrm>
        </p:grpSpPr>
        <p:sp>
          <p:nvSpPr>
            <p:cNvPr id="48132" name="Rectangle 5">
              <a:extLst>
                <a:ext uri="{FF2B5EF4-FFF2-40B4-BE49-F238E27FC236}">
                  <a16:creationId xmlns:a16="http://schemas.microsoft.com/office/drawing/2014/main" id="{D67C7D9A-766F-524C-AAB1-63205991E86E}"/>
                </a:ext>
              </a:extLst>
            </p:cNvPr>
            <p:cNvSpPr>
              <a:spLocks noChangeArrowheads="1"/>
            </p:cNvSpPr>
            <p:nvPr/>
          </p:nvSpPr>
          <p:spPr bwMode="auto">
            <a:xfrm>
              <a:off x="748"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48133" name="Rectangle 6">
              <a:extLst>
                <a:ext uri="{FF2B5EF4-FFF2-40B4-BE49-F238E27FC236}">
                  <a16:creationId xmlns:a16="http://schemas.microsoft.com/office/drawing/2014/main" id="{D3719F6C-14DC-B14B-BD0A-DE1332064DDF}"/>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48134" name="Rectangle 7">
              <a:extLst>
                <a:ext uri="{FF2B5EF4-FFF2-40B4-BE49-F238E27FC236}">
                  <a16:creationId xmlns:a16="http://schemas.microsoft.com/office/drawing/2014/main" id="{5F277615-A5EB-3343-8329-2D859486732F}"/>
                </a:ext>
              </a:extLst>
            </p:cNvPr>
            <p:cNvSpPr>
              <a:spLocks noChangeArrowheads="1"/>
            </p:cNvSpPr>
            <p:nvPr/>
          </p:nvSpPr>
          <p:spPr bwMode="auto">
            <a:xfrm>
              <a:off x="2653"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48135" name="Rectangle 8">
              <a:extLst>
                <a:ext uri="{FF2B5EF4-FFF2-40B4-BE49-F238E27FC236}">
                  <a16:creationId xmlns:a16="http://schemas.microsoft.com/office/drawing/2014/main" id="{D76E585D-74D4-114C-882B-49B756F4B128}"/>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48136" name="Rectangle 9">
              <a:extLst>
                <a:ext uri="{FF2B5EF4-FFF2-40B4-BE49-F238E27FC236}">
                  <a16:creationId xmlns:a16="http://schemas.microsoft.com/office/drawing/2014/main" id="{7973499A-9BEC-7248-A8E4-4C26584DCBA5}"/>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48137" name="Line 10">
              <a:extLst>
                <a:ext uri="{FF2B5EF4-FFF2-40B4-BE49-F238E27FC236}">
                  <a16:creationId xmlns:a16="http://schemas.microsoft.com/office/drawing/2014/main" id="{3087A2DC-DAC4-FA4A-A92C-317BE7E579CD}"/>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8" name="Line 11">
              <a:extLst>
                <a:ext uri="{FF2B5EF4-FFF2-40B4-BE49-F238E27FC236}">
                  <a16:creationId xmlns:a16="http://schemas.microsoft.com/office/drawing/2014/main" id="{F4497872-E338-E243-A349-95E2EE323967}"/>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9" name="Line 12">
              <a:extLst>
                <a:ext uri="{FF2B5EF4-FFF2-40B4-BE49-F238E27FC236}">
                  <a16:creationId xmlns:a16="http://schemas.microsoft.com/office/drawing/2014/main" id="{92B1CAD8-4580-2545-88CB-CF25094FD650}"/>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40" name="Line 13">
              <a:extLst>
                <a:ext uri="{FF2B5EF4-FFF2-40B4-BE49-F238E27FC236}">
                  <a16:creationId xmlns:a16="http://schemas.microsoft.com/office/drawing/2014/main" id="{F27AA418-E519-B641-B717-F88286688201}"/>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4FE8991D-E84D-844E-BC6A-E8FD8A1B96F5}"/>
              </a:ext>
            </a:extLst>
          </p:cNvPr>
          <p:cNvSpPr>
            <a:spLocks noGrp="1"/>
          </p:cNvSpPr>
          <p:nvPr>
            <p:ph type="sldNum" sz="quarter" idx="12"/>
          </p:nvPr>
        </p:nvSpPr>
        <p:spPr/>
        <p:txBody>
          <a:bodyPr/>
          <a:lstStyle/>
          <a:p>
            <a:fld id="{92124849-AE39-1947-AFA1-94AB1ABB4CD1}"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458C1C29-34DC-CC45-9A5C-BC63D9410ECC}"/>
              </a:ext>
            </a:extLst>
          </p:cNvPr>
          <p:cNvSpPr>
            <a:spLocks noGrp="1" noChangeArrowheads="1"/>
          </p:cNvSpPr>
          <p:nvPr>
            <p:ph type="title"/>
          </p:nvPr>
        </p:nvSpPr>
        <p:spPr/>
        <p:txBody>
          <a:bodyPr/>
          <a:lstStyle/>
          <a:p>
            <a:pPr eaLnBrk="1" hangingPunct="1"/>
            <a:r>
              <a:rPr lang="en-US" altLang="en-US" sz="4000"/>
              <a:t>Vertex Processing</a:t>
            </a:r>
            <a:endParaRPr lang="el-GR" altLang="en-US" sz="4000"/>
          </a:p>
        </p:txBody>
      </p:sp>
      <p:sp>
        <p:nvSpPr>
          <p:cNvPr id="49154" name="Rectangle 3">
            <a:extLst>
              <a:ext uri="{FF2B5EF4-FFF2-40B4-BE49-F238E27FC236}">
                <a16:creationId xmlns:a16="http://schemas.microsoft.com/office/drawing/2014/main" id="{49808F08-A36D-1843-8E53-1B0D0D8A4041}"/>
              </a:ext>
            </a:extLst>
          </p:cNvPr>
          <p:cNvSpPr>
            <a:spLocks noGrp="1" noChangeArrowheads="1"/>
          </p:cNvSpPr>
          <p:nvPr>
            <p:ph type="body" idx="1"/>
          </p:nvPr>
        </p:nvSpPr>
        <p:spPr/>
        <p:txBody>
          <a:bodyPr/>
          <a:lstStyle/>
          <a:p>
            <a:pPr eaLnBrk="1" hangingPunct="1"/>
            <a:r>
              <a:rPr lang="en-US" altLang="en-US" sz="2400"/>
              <a:t>The vertex processing stage receives vertices from the host interface in object space and outputs them in screen space</a:t>
            </a:r>
          </a:p>
          <a:p>
            <a:pPr eaLnBrk="1" hangingPunct="1"/>
            <a:r>
              <a:rPr lang="en-US" altLang="en-US" sz="2400"/>
              <a:t>This may be a simple linear transformation, or a complex operation involving morphing effects</a:t>
            </a:r>
          </a:p>
          <a:p>
            <a:pPr eaLnBrk="1" hangingPunct="1"/>
            <a:r>
              <a:rPr lang="en-US" altLang="en-US" sz="2400"/>
              <a:t>Normals, texcoords etc are also transformed</a:t>
            </a:r>
          </a:p>
          <a:p>
            <a:pPr eaLnBrk="1" hangingPunct="1"/>
            <a:r>
              <a:rPr lang="en-US" altLang="en-US" sz="2400"/>
              <a:t>No new vertices are created in this stage, and no vertices are discarded (input/output has 1:1 mapping)</a:t>
            </a:r>
            <a:endParaRPr lang="el-GR" altLang="en-US" sz="2400"/>
          </a:p>
        </p:txBody>
      </p:sp>
      <p:grpSp>
        <p:nvGrpSpPr>
          <p:cNvPr id="49155" name="Group 4">
            <a:extLst>
              <a:ext uri="{FF2B5EF4-FFF2-40B4-BE49-F238E27FC236}">
                <a16:creationId xmlns:a16="http://schemas.microsoft.com/office/drawing/2014/main" id="{68E6F5A1-C69C-A54E-88FC-7DB12595380E}"/>
              </a:ext>
            </a:extLst>
          </p:cNvPr>
          <p:cNvGrpSpPr>
            <a:grpSpLocks/>
          </p:cNvGrpSpPr>
          <p:nvPr/>
        </p:nvGrpSpPr>
        <p:grpSpPr bwMode="auto">
          <a:xfrm>
            <a:off x="2495550" y="4868863"/>
            <a:ext cx="7200900" cy="863600"/>
            <a:chOff x="748" y="1616"/>
            <a:chExt cx="4536" cy="544"/>
          </a:xfrm>
        </p:grpSpPr>
        <p:sp>
          <p:nvSpPr>
            <p:cNvPr id="49156" name="Rectangle 5">
              <a:extLst>
                <a:ext uri="{FF2B5EF4-FFF2-40B4-BE49-F238E27FC236}">
                  <a16:creationId xmlns:a16="http://schemas.microsoft.com/office/drawing/2014/main" id="{2BD7E4F7-FAE0-C04C-BC9F-98E4F7A49EED}"/>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49157" name="Rectangle 6">
              <a:extLst>
                <a:ext uri="{FF2B5EF4-FFF2-40B4-BE49-F238E27FC236}">
                  <a16:creationId xmlns:a16="http://schemas.microsoft.com/office/drawing/2014/main" id="{C5CE82D6-180D-FE4F-819E-CD8EF2A3EF36}"/>
                </a:ext>
              </a:extLst>
            </p:cNvPr>
            <p:cNvSpPr>
              <a:spLocks noChangeArrowheads="1"/>
            </p:cNvSpPr>
            <p:nvPr/>
          </p:nvSpPr>
          <p:spPr bwMode="auto">
            <a:xfrm>
              <a:off x="1701"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49158" name="Rectangle 7">
              <a:extLst>
                <a:ext uri="{FF2B5EF4-FFF2-40B4-BE49-F238E27FC236}">
                  <a16:creationId xmlns:a16="http://schemas.microsoft.com/office/drawing/2014/main" id="{7C904495-A015-D94F-A4CA-228D5321611B}"/>
                </a:ext>
              </a:extLst>
            </p:cNvPr>
            <p:cNvSpPr>
              <a:spLocks noChangeArrowheads="1"/>
            </p:cNvSpPr>
            <p:nvPr/>
          </p:nvSpPr>
          <p:spPr bwMode="auto">
            <a:xfrm>
              <a:off x="2653"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49159" name="Rectangle 8">
              <a:extLst>
                <a:ext uri="{FF2B5EF4-FFF2-40B4-BE49-F238E27FC236}">
                  <a16:creationId xmlns:a16="http://schemas.microsoft.com/office/drawing/2014/main" id="{71A6BAB2-2972-404B-B11A-1A46EE5C4BF3}"/>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49160" name="Rectangle 9">
              <a:extLst>
                <a:ext uri="{FF2B5EF4-FFF2-40B4-BE49-F238E27FC236}">
                  <a16:creationId xmlns:a16="http://schemas.microsoft.com/office/drawing/2014/main" id="{ECCBA0A8-C5F5-A24A-A604-1C573326FC52}"/>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49161" name="Line 10">
              <a:extLst>
                <a:ext uri="{FF2B5EF4-FFF2-40B4-BE49-F238E27FC236}">
                  <a16:creationId xmlns:a16="http://schemas.microsoft.com/office/drawing/2014/main" id="{14583CAE-F753-2144-A167-D45B476126CA}"/>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2" name="Line 11">
              <a:extLst>
                <a:ext uri="{FF2B5EF4-FFF2-40B4-BE49-F238E27FC236}">
                  <a16:creationId xmlns:a16="http://schemas.microsoft.com/office/drawing/2014/main" id="{F03CC34D-01CF-F94C-B3E5-835467D16BBD}"/>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3" name="Line 12">
              <a:extLst>
                <a:ext uri="{FF2B5EF4-FFF2-40B4-BE49-F238E27FC236}">
                  <a16:creationId xmlns:a16="http://schemas.microsoft.com/office/drawing/2014/main" id="{7152567F-B5F5-3645-9C49-C31DFACAF1F2}"/>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4" name="Line 13">
              <a:extLst>
                <a:ext uri="{FF2B5EF4-FFF2-40B4-BE49-F238E27FC236}">
                  <a16:creationId xmlns:a16="http://schemas.microsoft.com/office/drawing/2014/main" id="{AD690918-B4AA-9147-AF1F-B39B5208D344}"/>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D2BD7A0C-3C3E-ED49-9DBF-84EE25BBABCF}"/>
              </a:ext>
            </a:extLst>
          </p:cNvPr>
          <p:cNvSpPr>
            <a:spLocks noGrp="1"/>
          </p:cNvSpPr>
          <p:nvPr>
            <p:ph type="sldNum" sz="quarter" idx="12"/>
          </p:nvPr>
        </p:nvSpPr>
        <p:spPr/>
        <p:txBody>
          <a:bodyPr/>
          <a:lstStyle/>
          <a:p>
            <a:fld id="{92124849-AE39-1947-AFA1-94AB1ABB4CD1}"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59FDC31F-C674-DB4D-9DD0-2BF5E4BA5D60}"/>
              </a:ext>
            </a:extLst>
          </p:cNvPr>
          <p:cNvSpPr>
            <a:spLocks noGrp="1" noChangeArrowheads="1"/>
          </p:cNvSpPr>
          <p:nvPr>
            <p:ph type="title"/>
          </p:nvPr>
        </p:nvSpPr>
        <p:spPr/>
        <p:txBody>
          <a:bodyPr/>
          <a:lstStyle/>
          <a:p>
            <a:pPr eaLnBrk="1" hangingPunct="1"/>
            <a:r>
              <a:rPr lang="en-US" altLang="en-US" sz="4000"/>
              <a:t>Triangle setup</a:t>
            </a:r>
            <a:endParaRPr lang="el-GR" altLang="en-US" sz="4000"/>
          </a:p>
        </p:txBody>
      </p:sp>
      <p:sp>
        <p:nvSpPr>
          <p:cNvPr id="50178" name="Rectangle 3">
            <a:extLst>
              <a:ext uri="{FF2B5EF4-FFF2-40B4-BE49-F238E27FC236}">
                <a16:creationId xmlns:a16="http://schemas.microsoft.com/office/drawing/2014/main" id="{E735C4B6-4CDA-E24C-B965-E57683E09FC2}"/>
              </a:ext>
            </a:extLst>
          </p:cNvPr>
          <p:cNvSpPr>
            <a:spLocks noGrp="1" noChangeArrowheads="1"/>
          </p:cNvSpPr>
          <p:nvPr>
            <p:ph type="body" idx="1"/>
          </p:nvPr>
        </p:nvSpPr>
        <p:spPr/>
        <p:txBody>
          <a:bodyPr/>
          <a:lstStyle/>
          <a:p>
            <a:pPr eaLnBrk="1" hangingPunct="1"/>
            <a:r>
              <a:rPr lang="en-US" altLang="en-US" sz="2400"/>
              <a:t>In this stage geometry information becomes raster information (screen space geometry is the input, pixels are the output)</a:t>
            </a:r>
          </a:p>
          <a:p>
            <a:pPr eaLnBrk="1" hangingPunct="1"/>
            <a:r>
              <a:rPr lang="en-US" altLang="en-US" sz="2400"/>
              <a:t>Prior to rasterization, triangles that are backfacing or are located outside the viewing frustrum are rejected</a:t>
            </a:r>
          </a:p>
          <a:p>
            <a:pPr eaLnBrk="1" hangingPunct="1"/>
            <a:r>
              <a:rPr lang="en-US" altLang="en-US" sz="2400"/>
              <a:t>Some GPUs also do some hidden surface removal at this stage</a:t>
            </a:r>
            <a:endParaRPr lang="el-GR" altLang="en-US" sz="2400"/>
          </a:p>
        </p:txBody>
      </p:sp>
      <p:grpSp>
        <p:nvGrpSpPr>
          <p:cNvPr id="50179" name="Group 4">
            <a:extLst>
              <a:ext uri="{FF2B5EF4-FFF2-40B4-BE49-F238E27FC236}">
                <a16:creationId xmlns:a16="http://schemas.microsoft.com/office/drawing/2014/main" id="{D53422BD-3E5F-B046-9049-61BAD6535DC2}"/>
              </a:ext>
            </a:extLst>
          </p:cNvPr>
          <p:cNvGrpSpPr>
            <a:grpSpLocks/>
          </p:cNvGrpSpPr>
          <p:nvPr/>
        </p:nvGrpSpPr>
        <p:grpSpPr bwMode="auto">
          <a:xfrm>
            <a:off x="2495550" y="4868863"/>
            <a:ext cx="7200900" cy="863600"/>
            <a:chOff x="748" y="1616"/>
            <a:chExt cx="4536" cy="544"/>
          </a:xfrm>
        </p:grpSpPr>
        <p:sp>
          <p:nvSpPr>
            <p:cNvPr id="50180" name="Rectangle 5">
              <a:extLst>
                <a:ext uri="{FF2B5EF4-FFF2-40B4-BE49-F238E27FC236}">
                  <a16:creationId xmlns:a16="http://schemas.microsoft.com/office/drawing/2014/main" id="{1E9B56C9-E8AF-E549-B195-F85BEC6C8D11}"/>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50181" name="Rectangle 6">
              <a:extLst>
                <a:ext uri="{FF2B5EF4-FFF2-40B4-BE49-F238E27FC236}">
                  <a16:creationId xmlns:a16="http://schemas.microsoft.com/office/drawing/2014/main" id="{A4A3C65E-3045-F644-B08E-BDA911353045}"/>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50182" name="Rectangle 7">
              <a:extLst>
                <a:ext uri="{FF2B5EF4-FFF2-40B4-BE49-F238E27FC236}">
                  <a16:creationId xmlns:a16="http://schemas.microsoft.com/office/drawing/2014/main" id="{1C3F365C-3471-C14D-9327-5B9567520598}"/>
                </a:ext>
              </a:extLst>
            </p:cNvPr>
            <p:cNvSpPr>
              <a:spLocks noChangeArrowheads="1"/>
            </p:cNvSpPr>
            <p:nvPr/>
          </p:nvSpPr>
          <p:spPr bwMode="auto">
            <a:xfrm>
              <a:off x="2653"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50183" name="Rectangle 8">
              <a:extLst>
                <a:ext uri="{FF2B5EF4-FFF2-40B4-BE49-F238E27FC236}">
                  <a16:creationId xmlns:a16="http://schemas.microsoft.com/office/drawing/2014/main" id="{D1E22FB9-CE1E-BC42-B1DA-61B1631070C8}"/>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50184" name="Rectangle 9">
              <a:extLst>
                <a:ext uri="{FF2B5EF4-FFF2-40B4-BE49-F238E27FC236}">
                  <a16:creationId xmlns:a16="http://schemas.microsoft.com/office/drawing/2014/main" id="{2FE4825C-0AE9-5C40-8A80-450682795DF8}"/>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50185" name="Line 10">
              <a:extLst>
                <a:ext uri="{FF2B5EF4-FFF2-40B4-BE49-F238E27FC236}">
                  <a16:creationId xmlns:a16="http://schemas.microsoft.com/office/drawing/2014/main" id="{2CCBA4E7-63F4-1E4A-8CE4-4350D037B036}"/>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86" name="Line 11">
              <a:extLst>
                <a:ext uri="{FF2B5EF4-FFF2-40B4-BE49-F238E27FC236}">
                  <a16:creationId xmlns:a16="http://schemas.microsoft.com/office/drawing/2014/main" id="{DB940D23-560D-0346-B3F3-7AD120C1EC69}"/>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87" name="Line 12">
              <a:extLst>
                <a:ext uri="{FF2B5EF4-FFF2-40B4-BE49-F238E27FC236}">
                  <a16:creationId xmlns:a16="http://schemas.microsoft.com/office/drawing/2014/main" id="{C441C692-0875-C94D-9427-4CD0B63AB29A}"/>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88" name="Line 13">
              <a:extLst>
                <a:ext uri="{FF2B5EF4-FFF2-40B4-BE49-F238E27FC236}">
                  <a16:creationId xmlns:a16="http://schemas.microsoft.com/office/drawing/2014/main" id="{8296A78A-BD0F-DD40-A123-FCFBDD01B347}"/>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723482EB-1841-5E40-8D81-4DC3A92BE956}"/>
              </a:ext>
            </a:extLst>
          </p:cNvPr>
          <p:cNvSpPr>
            <a:spLocks noGrp="1"/>
          </p:cNvSpPr>
          <p:nvPr>
            <p:ph type="sldNum" sz="quarter" idx="12"/>
          </p:nvPr>
        </p:nvSpPr>
        <p:spPr/>
        <p:txBody>
          <a:bodyPr/>
          <a:lstStyle/>
          <a:p>
            <a:fld id="{92124849-AE39-1947-AFA1-94AB1ABB4CD1}"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D60A2ADD-961F-3E4E-80C6-EBCF9677C511}"/>
              </a:ext>
            </a:extLst>
          </p:cNvPr>
          <p:cNvSpPr>
            <a:spLocks noGrp="1" noChangeArrowheads="1"/>
          </p:cNvSpPr>
          <p:nvPr>
            <p:ph type="title"/>
          </p:nvPr>
        </p:nvSpPr>
        <p:spPr/>
        <p:txBody>
          <a:bodyPr/>
          <a:lstStyle/>
          <a:p>
            <a:pPr eaLnBrk="1" hangingPunct="1"/>
            <a:r>
              <a:rPr lang="en-US" altLang="en-US" sz="4000"/>
              <a:t>Triangle Setup (cont)</a:t>
            </a:r>
            <a:endParaRPr lang="el-GR" altLang="en-US" sz="4000"/>
          </a:p>
        </p:txBody>
      </p:sp>
      <p:sp>
        <p:nvSpPr>
          <p:cNvPr id="51202" name="Rectangle 3">
            <a:extLst>
              <a:ext uri="{FF2B5EF4-FFF2-40B4-BE49-F238E27FC236}">
                <a16:creationId xmlns:a16="http://schemas.microsoft.com/office/drawing/2014/main" id="{97946089-8918-D949-91F0-8EFB2037D5D0}"/>
              </a:ext>
            </a:extLst>
          </p:cNvPr>
          <p:cNvSpPr>
            <a:spLocks noGrp="1" noChangeArrowheads="1"/>
          </p:cNvSpPr>
          <p:nvPr>
            <p:ph type="body" idx="1"/>
          </p:nvPr>
        </p:nvSpPr>
        <p:spPr>
          <a:noFill/>
        </p:spPr>
        <p:txBody>
          <a:bodyPr vert="horz" lIns="91440" tIns="45720" rIns="2286000" bIns="45720" rtlCol="0">
            <a:normAutofit/>
          </a:bodyPr>
          <a:lstStyle/>
          <a:p>
            <a:pPr eaLnBrk="1" hangingPunct="1"/>
            <a:r>
              <a:rPr lang="en-US" altLang="en-US" sz="2400"/>
              <a:t>A fragment is generated if and only if its center is inside the triangle</a:t>
            </a:r>
          </a:p>
          <a:p>
            <a:pPr eaLnBrk="1" hangingPunct="1"/>
            <a:endParaRPr lang="en-US" altLang="en-US" sz="2400"/>
          </a:p>
          <a:p>
            <a:pPr eaLnBrk="1" hangingPunct="1"/>
            <a:r>
              <a:rPr lang="en-US" altLang="en-US" sz="2400"/>
              <a:t>Every fragment generated has its attributes computed to be the perspective correct interpolation of the three vertices that make up the triangle</a:t>
            </a:r>
          </a:p>
          <a:p>
            <a:pPr eaLnBrk="1" hangingPunct="1"/>
            <a:endParaRPr lang="el-GR" altLang="en-US" sz="2400"/>
          </a:p>
        </p:txBody>
      </p:sp>
      <p:grpSp>
        <p:nvGrpSpPr>
          <p:cNvPr id="51203" name="Group 4">
            <a:extLst>
              <a:ext uri="{FF2B5EF4-FFF2-40B4-BE49-F238E27FC236}">
                <a16:creationId xmlns:a16="http://schemas.microsoft.com/office/drawing/2014/main" id="{22D2099D-5F47-6F46-9B7F-D5D2E9075258}"/>
              </a:ext>
            </a:extLst>
          </p:cNvPr>
          <p:cNvGrpSpPr>
            <a:grpSpLocks/>
          </p:cNvGrpSpPr>
          <p:nvPr/>
        </p:nvGrpSpPr>
        <p:grpSpPr bwMode="auto">
          <a:xfrm>
            <a:off x="2495550" y="4868863"/>
            <a:ext cx="7200900" cy="863600"/>
            <a:chOff x="748" y="1616"/>
            <a:chExt cx="4536" cy="544"/>
          </a:xfrm>
        </p:grpSpPr>
        <p:sp>
          <p:nvSpPr>
            <p:cNvPr id="51323" name="Rectangle 5">
              <a:extLst>
                <a:ext uri="{FF2B5EF4-FFF2-40B4-BE49-F238E27FC236}">
                  <a16:creationId xmlns:a16="http://schemas.microsoft.com/office/drawing/2014/main" id="{56C4B6C1-99D2-7947-9BC3-0FE21053D7F5}"/>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51324" name="Rectangle 6">
              <a:extLst>
                <a:ext uri="{FF2B5EF4-FFF2-40B4-BE49-F238E27FC236}">
                  <a16:creationId xmlns:a16="http://schemas.microsoft.com/office/drawing/2014/main" id="{DB3F89FD-8FCE-6A48-A98D-EEF49C015650}"/>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51325" name="Rectangle 7">
              <a:extLst>
                <a:ext uri="{FF2B5EF4-FFF2-40B4-BE49-F238E27FC236}">
                  <a16:creationId xmlns:a16="http://schemas.microsoft.com/office/drawing/2014/main" id="{5712CD4C-0054-324B-817F-035E4DD9A3D3}"/>
                </a:ext>
              </a:extLst>
            </p:cNvPr>
            <p:cNvSpPr>
              <a:spLocks noChangeArrowheads="1"/>
            </p:cNvSpPr>
            <p:nvPr/>
          </p:nvSpPr>
          <p:spPr bwMode="auto">
            <a:xfrm>
              <a:off x="2653"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51326" name="Rectangle 8">
              <a:extLst>
                <a:ext uri="{FF2B5EF4-FFF2-40B4-BE49-F238E27FC236}">
                  <a16:creationId xmlns:a16="http://schemas.microsoft.com/office/drawing/2014/main" id="{DF6E0D09-F5EE-0B4C-958A-5C0A4DB5209F}"/>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51327" name="Rectangle 9">
              <a:extLst>
                <a:ext uri="{FF2B5EF4-FFF2-40B4-BE49-F238E27FC236}">
                  <a16:creationId xmlns:a16="http://schemas.microsoft.com/office/drawing/2014/main" id="{262439BB-1A42-E245-8ED1-67B642F6457A}"/>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51328" name="Line 10">
              <a:extLst>
                <a:ext uri="{FF2B5EF4-FFF2-40B4-BE49-F238E27FC236}">
                  <a16:creationId xmlns:a16="http://schemas.microsoft.com/office/drawing/2014/main" id="{44BCEEEB-EDD9-9843-A4B7-CB706CBF6DA2}"/>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29" name="Line 11">
              <a:extLst>
                <a:ext uri="{FF2B5EF4-FFF2-40B4-BE49-F238E27FC236}">
                  <a16:creationId xmlns:a16="http://schemas.microsoft.com/office/drawing/2014/main" id="{4D833ED9-6AE3-134E-A650-C72ACF90FF23}"/>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30" name="Line 12">
              <a:extLst>
                <a:ext uri="{FF2B5EF4-FFF2-40B4-BE49-F238E27FC236}">
                  <a16:creationId xmlns:a16="http://schemas.microsoft.com/office/drawing/2014/main" id="{66FE6FFB-2932-AC41-8C12-2E0CDC345539}"/>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31" name="Line 13">
              <a:extLst>
                <a:ext uri="{FF2B5EF4-FFF2-40B4-BE49-F238E27FC236}">
                  <a16:creationId xmlns:a16="http://schemas.microsoft.com/office/drawing/2014/main" id="{1429A55C-8D3E-B745-9685-FC1A4052AC7C}"/>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04" name="Group 377">
            <a:extLst>
              <a:ext uri="{FF2B5EF4-FFF2-40B4-BE49-F238E27FC236}">
                <a16:creationId xmlns:a16="http://schemas.microsoft.com/office/drawing/2014/main" id="{608CD490-E5D0-1546-85E2-B994B71D852C}"/>
              </a:ext>
            </a:extLst>
          </p:cNvPr>
          <p:cNvGrpSpPr>
            <a:grpSpLocks/>
          </p:cNvGrpSpPr>
          <p:nvPr/>
        </p:nvGrpSpPr>
        <p:grpSpPr bwMode="auto">
          <a:xfrm>
            <a:off x="8040688" y="3141664"/>
            <a:ext cx="1225550" cy="1152525"/>
            <a:chOff x="793" y="2024"/>
            <a:chExt cx="772" cy="726"/>
          </a:xfrm>
        </p:grpSpPr>
        <p:sp>
          <p:nvSpPr>
            <p:cNvPr id="51317" name="Line 15">
              <a:extLst>
                <a:ext uri="{FF2B5EF4-FFF2-40B4-BE49-F238E27FC236}">
                  <a16:creationId xmlns:a16="http://schemas.microsoft.com/office/drawing/2014/main" id="{D848AB52-3062-0D43-9655-F9C93AF0030D}"/>
                </a:ext>
              </a:extLst>
            </p:cNvPr>
            <p:cNvSpPr>
              <a:spLocks noChangeShapeType="1"/>
            </p:cNvSpPr>
            <p:nvPr/>
          </p:nvSpPr>
          <p:spPr bwMode="auto">
            <a:xfrm flipH="1">
              <a:off x="793" y="2024"/>
              <a:ext cx="363"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8" name="Line 16">
              <a:extLst>
                <a:ext uri="{FF2B5EF4-FFF2-40B4-BE49-F238E27FC236}">
                  <a16:creationId xmlns:a16="http://schemas.microsoft.com/office/drawing/2014/main" id="{0CE1C149-6315-AE45-93FB-E5C76CE45FDE}"/>
                </a:ext>
              </a:extLst>
            </p:cNvPr>
            <p:cNvSpPr>
              <a:spLocks noChangeShapeType="1"/>
            </p:cNvSpPr>
            <p:nvPr/>
          </p:nvSpPr>
          <p:spPr bwMode="auto">
            <a:xfrm>
              <a:off x="1156" y="2024"/>
              <a:ext cx="409"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9" name="Line 17">
              <a:extLst>
                <a:ext uri="{FF2B5EF4-FFF2-40B4-BE49-F238E27FC236}">
                  <a16:creationId xmlns:a16="http://schemas.microsoft.com/office/drawing/2014/main" id="{3B085A54-6D66-F74B-A02D-8C25B332E3E0}"/>
                </a:ext>
              </a:extLst>
            </p:cNvPr>
            <p:cNvSpPr>
              <a:spLocks noChangeShapeType="1"/>
            </p:cNvSpPr>
            <p:nvPr/>
          </p:nvSpPr>
          <p:spPr bwMode="auto">
            <a:xfrm>
              <a:off x="793" y="2432"/>
              <a:ext cx="772"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0" name="Line 18">
              <a:extLst>
                <a:ext uri="{FF2B5EF4-FFF2-40B4-BE49-F238E27FC236}">
                  <a16:creationId xmlns:a16="http://schemas.microsoft.com/office/drawing/2014/main" id="{27FE8E6C-BE7E-AF4C-9006-DBC76CBF441E}"/>
                </a:ext>
              </a:extLst>
            </p:cNvPr>
            <p:cNvSpPr>
              <a:spLocks noChangeShapeType="1"/>
            </p:cNvSpPr>
            <p:nvPr/>
          </p:nvSpPr>
          <p:spPr bwMode="auto">
            <a:xfrm flipV="1">
              <a:off x="793" y="2341"/>
              <a:ext cx="318" cy="91"/>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21" name="Line 19">
              <a:extLst>
                <a:ext uri="{FF2B5EF4-FFF2-40B4-BE49-F238E27FC236}">
                  <a16:creationId xmlns:a16="http://schemas.microsoft.com/office/drawing/2014/main" id="{F0715ADD-8000-394D-A419-094CCF4B50DA}"/>
                </a:ext>
              </a:extLst>
            </p:cNvPr>
            <p:cNvSpPr>
              <a:spLocks noChangeShapeType="1"/>
            </p:cNvSpPr>
            <p:nvPr/>
          </p:nvSpPr>
          <p:spPr bwMode="auto">
            <a:xfrm flipH="1">
              <a:off x="1111" y="2024"/>
              <a:ext cx="45" cy="31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22" name="Line 20">
              <a:extLst>
                <a:ext uri="{FF2B5EF4-FFF2-40B4-BE49-F238E27FC236}">
                  <a16:creationId xmlns:a16="http://schemas.microsoft.com/office/drawing/2014/main" id="{C4EE31C3-306A-894C-B756-0C5246EAB70E}"/>
                </a:ext>
              </a:extLst>
            </p:cNvPr>
            <p:cNvSpPr>
              <a:spLocks noChangeShapeType="1"/>
            </p:cNvSpPr>
            <p:nvPr/>
          </p:nvSpPr>
          <p:spPr bwMode="auto">
            <a:xfrm flipH="1" flipV="1">
              <a:off x="1111" y="2341"/>
              <a:ext cx="454" cy="409"/>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05" name="Group 376">
            <a:extLst>
              <a:ext uri="{FF2B5EF4-FFF2-40B4-BE49-F238E27FC236}">
                <a16:creationId xmlns:a16="http://schemas.microsoft.com/office/drawing/2014/main" id="{BAE42BA9-EDC2-9C4B-910B-678039A3D1A7}"/>
              </a:ext>
            </a:extLst>
          </p:cNvPr>
          <p:cNvGrpSpPr>
            <a:grpSpLocks/>
          </p:cNvGrpSpPr>
          <p:nvPr/>
        </p:nvGrpSpPr>
        <p:grpSpPr bwMode="auto">
          <a:xfrm>
            <a:off x="8112125" y="1628776"/>
            <a:ext cx="1225550" cy="1152525"/>
            <a:chOff x="1882" y="2024"/>
            <a:chExt cx="772" cy="726"/>
          </a:xfrm>
        </p:grpSpPr>
        <p:sp>
          <p:nvSpPr>
            <p:cNvPr id="51206" name="Line 21">
              <a:extLst>
                <a:ext uri="{FF2B5EF4-FFF2-40B4-BE49-F238E27FC236}">
                  <a16:creationId xmlns:a16="http://schemas.microsoft.com/office/drawing/2014/main" id="{21CFEF33-76BA-6747-B2FC-883E596C6BF9}"/>
                </a:ext>
              </a:extLst>
            </p:cNvPr>
            <p:cNvSpPr>
              <a:spLocks noChangeShapeType="1"/>
            </p:cNvSpPr>
            <p:nvPr/>
          </p:nvSpPr>
          <p:spPr bwMode="auto">
            <a:xfrm flipH="1">
              <a:off x="1882" y="2024"/>
              <a:ext cx="363"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7" name="Line 22">
              <a:extLst>
                <a:ext uri="{FF2B5EF4-FFF2-40B4-BE49-F238E27FC236}">
                  <a16:creationId xmlns:a16="http://schemas.microsoft.com/office/drawing/2014/main" id="{AFEC5C71-CE2F-F04A-9BE8-69A0523A9629}"/>
                </a:ext>
              </a:extLst>
            </p:cNvPr>
            <p:cNvSpPr>
              <a:spLocks noChangeShapeType="1"/>
            </p:cNvSpPr>
            <p:nvPr/>
          </p:nvSpPr>
          <p:spPr bwMode="auto">
            <a:xfrm>
              <a:off x="2245" y="2024"/>
              <a:ext cx="409"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8" name="Line 23">
              <a:extLst>
                <a:ext uri="{FF2B5EF4-FFF2-40B4-BE49-F238E27FC236}">
                  <a16:creationId xmlns:a16="http://schemas.microsoft.com/office/drawing/2014/main" id="{BF3FB0E9-9913-FC48-A71C-928586C334C8}"/>
                </a:ext>
              </a:extLst>
            </p:cNvPr>
            <p:cNvSpPr>
              <a:spLocks noChangeShapeType="1"/>
            </p:cNvSpPr>
            <p:nvPr/>
          </p:nvSpPr>
          <p:spPr bwMode="auto">
            <a:xfrm>
              <a:off x="1882" y="2432"/>
              <a:ext cx="772"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9" name="Rectangle 103">
              <a:extLst>
                <a:ext uri="{FF2B5EF4-FFF2-40B4-BE49-F238E27FC236}">
                  <a16:creationId xmlns:a16="http://schemas.microsoft.com/office/drawing/2014/main" id="{A9F9F39B-4BBC-FF4E-B740-034F87358FCB}"/>
                </a:ext>
              </a:extLst>
            </p:cNvPr>
            <p:cNvSpPr>
              <a:spLocks noChangeArrowheads="1"/>
            </p:cNvSpPr>
            <p:nvPr/>
          </p:nvSpPr>
          <p:spPr bwMode="auto">
            <a:xfrm>
              <a:off x="2608" y="270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0" name="Rectangle 118">
              <a:extLst>
                <a:ext uri="{FF2B5EF4-FFF2-40B4-BE49-F238E27FC236}">
                  <a16:creationId xmlns:a16="http://schemas.microsoft.com/office/drawing/2014/main" id="{0D5173F0-B40C-8041-97EA-30EF4483975D}"/>
                </a:ext>
              </a:extLst>
            </p:cNvPr>
            <p:cNvSpPr>
              <a:spLocks noChangeArrowheads="1"/>
            </p:cNvSpPr>
            <p:nvPr/>
          </p:nvSpPr>
          <p:spPr bwMode="auto">
            <a:xfrm>
              <a:off x="2472" y="265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1" name="Rectangle 122">
              <a:extLst>
                <a:ext uri="{FF2B5EF4-FFF2-40B4-BE49-F238E27FC236}">
                  <a16:creationId xmlns:a16="http://schemas.microsoft.com/office/drawing/2014/main" id="{A4A17307-11E0-BD4D-B066-FAACBD92044C}"/>
                </a:ext>
              </a:extLst>
            </p:cNvPr>
            <p:cNvSpPr>
              <a:spLocks noChangeArrowheads="1"/>
            </p:cNvSpPr>
            <p:nvPr/>
          </p:nvSpPr>
          <p:spPr bwMode="auto">
            <a:xfrm>
              <a:off x="2563" y="265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2" name="Rectangle 123">
              <a:extLst>
                <a:ext uri="{FF2B5EF4-FFF2-40B4-BE49-F238E27FC236}">
                  <a16:creationId xmlns:a16="http://schemas.microsoft.com/office/drawing/2014/main" id="{D87C2CE5-27BE-CA47-9929-9B0A0CA2C5D5}"/>
                </a:ext>
              </a:extLst>
            </p:cNvPr>
            <p:cNvSpPr>
              <a:spLocks noChangeArrowheads="1"/>
            </p:cNvSpPr>
            <p:nvPr/>
          </p:nvSpPr>
          <p:spPr bwMode="auto">
            <a:xfrm>
              <a:off x="2517" y="265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3" name="Rectangle 136">
              <a:extLst>
                <a:ext uri="{FF2B5EF4-FFF2-40B4-BE49-F238E27FC236}">
                  <a16:creationId xmlns:a16="http://schemas.microsoft.com/office/drawing/2014/main" id="{3FF06A77-FD56-8240-BC6D-B283CB2F6F2D}"/>
                </a:ext>
              </a:extLst>
            </p:cNvPr>
            <p:cNvSpPr>
              <a:spLocks noChangeArrowheads="1"/>
            </p:cNvSpPr>
            <p:nvPr/>
          </p:nvSpPr>
          <p:spPr bwMode="auto">
            <a:xfrm>
              <a:off x="2472" y="26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4" name="Rectangle 137">
              <a:extLst>
                <a:ext uri="{FF2B5EF4-FFF2-40B4-BE49-F238E27FC236}">
                  <a16:creationId xmlns:a16="http://schemas.microsoft.com/office/drawing/2014/main" id="{9A77C76D-62C0-4A43-854A-C87282033673}"/>
                </a:ext>
              </a:extLst>
            </p:cNvPr>
            <p:cNvSpPr>
              <a:spLocks noChangeArrowheads="1"/>
            </p:cNvSpPr>
            <p:nvPr/>
          </p:nvSpPr>
          <p:spPr bwMode="auto">
            <a:xfrm>
              <a:off x="2427" y="26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5" name="Rectangle 138">
              <a:extLst>
                <a:ext uri="{FF2B5EF4-FFF2-40B4-BE49-F238E27FC236}">
                  <a16:creationId xmlns:a16="http://schemas.microsoft.com/office/drawing/2014/main" id="{7F6CD6C3-018D-9C4B-83C6-F1504C780C46}"/>
                </a:ext>
              </a:extLst>
            </p:cNvPr>
            <p:cNvSpPr>
              <a:spLocks noChangeArrowheads="1"/>
            </p:cNvSpPr>
            <p:nvPr/>
          </p:nvSpPr>
          <p:spPr bwMode="auto">
            <a:xfrm>
              <a:off x="2381" y="26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6" name="Rectangle 140">
              <a:extLst>
                <a:ext uri="{FF2B5EF4-FFF2-40B4-BE49-F238E27FC236}">
                  <a16:creationId xmlns:a16="http://schemas.microsoft.com/office/drawing/2014/main" id="{59E1DD40-72D9-8D44-A909-72711309E213}"/>
                </a:ext>
              </a:extLst>
            </p:cNvPr>
            <p:cNvSpPr>
              <a:spLocks noChangeArrowheads="1"/>
            </p:cNvSpPr>
            <p:nvPr/>
          </p:nvSpPr>
          <p:spPr bwMode="auto">
            <a:xfrm>
              <a:off x="2563" y="26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7" name="Rectangle 141">
              <a:extLst>
                <a:ext uri="{FF2B5EF4-FFF2-40B4-BE49-F238E27FC236}">
                  <a16:creationId xmlns:a16="http://schemas.microsoft.com/office/drawing/2014/main" id="{09B4BD62-D96E-614A-93F0-732466339EA6}"/>
                </a:ext>
              </a:extLst>
            </p:cNvPr>
            <p:cNvSpPr>
              <a:spLocks noChangeArrowheads="1"/>
            </p:cNvSpPr>
            <p:nvPr/>
          </p:nvSpPr>
          <p:spPr bwMode="auto">
            <a:xfrm>
              <a:off x="2517" y="26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8" name="Rectangle 151">
              <a:extLst>
                <a:ext uri="{FF2B5EF4-FFF2-40B4-BE49-F238E27FC236}">
                  <a16:creationId xmlns:a16="http://schemas.microsoft.com/office/drawing/2014/main" id="{4FE390BB-5D2C-EC48-9D7E-271F397E1366}"/>
                </a:ext>
              </a:extLst>
            </p:cNvPr>
            <p:cNvSpPr>
              <a:spLocks noChangeArrowheads="1"/>
            </p:cNvSpPr>
            <p:nvPr/>
          </p:nvSpPr>
          <p:spPr bwMode="auto">
            <a:xfrm>
              <a:off x="2335"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19" name="Rectangle 152">
              <a:extLst>
                <a:ext uri="{FF2B5EF4-FFF2-40B4-BE49-F238E27FC236}">
                  <a16:creationId xmlns:a16="http://schemas.microsoft.com/office/drawing/2014/main" id="{1822AA5B-D503-4240-AA6C-B881DF8B049F}"/>
                </a:ext>
              </a:extLst>
            </p:cNvPr>
            <p:cNvSpPr>
              <a:spLocks noChangeArrowheads="1"/>
            </p:cNvSpPr>
            <p:nvPr/>
          </p:nvSpPr>
          <p:spPr bwMode="auto">
            <a:xfrm>
              <a:off x="2290"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0" name="Rectangle 153">
              <a:extLst>
                <a:ext uri="{FF2B5EF4-FFF2-40B4-BE49-F238E27FC236}">
                  <a16:creationId xmlns:a16="http://schemas.microsoft.com/office/drawing/2014/main" id="{D0CFB94A-F22F-1C4F-9AAD-93B156594B79}"/>
                </a:ext>
              </a:extLst>
            </p:cNvPr>
            <p:cNvSpPr>
              <a:spLocks noChangeArrowheads="1"/>
            </p:cNvSpPr>
            <p:nvPr/>
          </p:nvSpPr>
          <p:spPr bwMode="auto">
            <a:xfrm>
              <a:off x="2244"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1" name="Rectangle 154">
              <a:extLst>
                <a:ext uri="{FF2B5EF4-FFF2-40B4-BE49-F238E27FC236}">
                  <a16:creationId xmlns:a16="http://schemas.microsoft.com/office/drawing/2014/main" id="{0624F803-9809-6F4C-9747-E404F5B5CA78}"/>
                </a:ext>
              </a:extLst>
            </p:cNvPr>
            <p:cNvSpPr>
              <a:spLocks noChangeArrowheads="1"/>
            </p:cNvSpPr>
            <p:nvPr/>
          </p:nvSpPr>
          <p:spPr bwMode="auto">
            <a:xfrm>
              <a:off x="2472"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2" name="Rectangle 155">
              <a:extLst>
                <a:ext uri="{FF2B5EF4-FFF2-40B4-BE49-F238E27FC236}">
                  <a16:creationId xmlns:a16="http://schemas.microsoft.com/office/drawing/2014/main" id="{B61884C1-2FDB-2B4B-BE54-FF64B00BF14D}"/>
                </a:ext>
              </a:extLst>
            </p:cNvPr>
            <p:cNvSpPr>
              <a:spLocks noChangeArrowheads="1"/>
            </p:cNvSpPr>
            <p:nvPr/>
          </p:nvSpPr>
          <p:spPr bwMode="auto">
            <a:xfrm>
              <a:off x="2427"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3" name="Rectangle 156">
              <a:extLst>
                <a:ext uri="{FF2B5EF4-FFF2-40B4-BE49-F238E27FC236}">
                  <a16:creationId xmlns:a16="http://schemas.microsoft.com/office/drawing/2014/main" id="{00392084-494A-824F-9147-B824C5E4CD31}"/>
                </a:ext>
              </a:extLst>
            </p:cNvPr>
            <p:cNvSpPr>
              <a:spLocks noChangeArrowheads="1"/>
            </p:cNvSpPr>
            <p:nvPr/>
          </p:nvSpPr>
          <p:spPr bwMode="auto">
            <a:xfrm>
              <a:off x="2381"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4" name="Rectangle 159">
              <a:extLst>
                <a:ext uri="{FF2B5EF4-FFF2-40B4-BE49-F238E27FC236}">
                  <a16:creationId xmlns:a16="http://schemas.microsoft.com/office/drawing/2014/main" id="{AF683C94-679D-B44D-B42F-A6B33EDF948B}"/>
                </a:ext>
              </a:extLst>
            </p:cNvPr>
            <p:cNvSpPr>
              <a:spLocks noChangeArrowheads="1"/>
            </p:cNvSpPr>
            <p:nvPr/>
          </p:nvSpPr>
          <p:spPr bwMode="auto">
            <a:xfrm>
              <a:off x="2517" y="2568"/>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5" name="Rectangle 166">
              <a:extLst>
                <a:ext uri="{FF2B5EF4-FFF2-40B4-BE49-F238E27FC236}">
                  <a16:creationId xmlns:a16="http://schemas.microsoft.com/office/drawing/2014/main" id="{62F9A6F9-3488-6E47-A455-03466F4FA8BC}"/>
                </a:ext>
              </a:extLst>
            </p:cNvPr>
            <p:cNvSpPr>
              <a:spLocks noChangeArrowheads="1"/>
            </p:cNvSpPr>
            <p:nvPr/>
          </p:nvSpPr>
          <p:spPr bwMode="auto">
            <a:xfrm>
              <a:off x="2199"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6" name="Rectangle 167">
              <a:extLst>
                <a:ext uri="{FF2B5EF4-FFF2-40B4-BE49-F238E27FC236}">
                  <a16:creationId xmlns:a16="http://schemas.microsoft.com/office/drawing/2014/main" id="{B42667B5-EDEF-A249-9402-F41B2558CBFA}"/>
                </a:ext>
              </a:extLst>
            </p:cNvPr>
            <p:cNvSpPr>
              <a:spLocks noChangeArrowheads="1"/>
            </p:cNvSpPr>
            <p:nvPr/>
          </p:nvSpPr>
          <p:spPr bwMode="auto">
            <a:xfrm>
              <a:off x="2154"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7" name="Rectangle 169">
              <a:extLst>
                <a:ext uri="{FF2B5EF4-FFF2-40B4-BE49-F238E27FC236}">
                  <a16:creationId xmlns:a16="http://schemas.microsoft.com/office/drawing/2014/main" id="{F506BF14-C178-1D48-9E13-F6879F6EDC78}"/>
                </a:ext>
              </a:extLst>
            </p:cNvPr>
            <p:cNvSpPr>
              <a:spLocks noChangeArrowheads="1"/>
            </p:cNvSpPr>
            <p:nvPr/>
          </p:nvSpPr>
          <p:spPr bwMode="auto">
            <a:xfrm>
              <a:off x="2335"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8" name="Rectangle 170">
              <a:extLst>
                <a:ext uri="{FF2B5EF4-FFF2-40B4-BE49-F238E27FC236}">
                  <a16:creationId xmlns:a16="http://schemas.microsoft.com/office/drawing/2014/main" id="{FDB13FD0-A4CC-3C46-84C1-854836FCF863}"/>
                </a:ext>
              </a:extLst>
            </p:cNvPr>
            <p:cNvSpPr>
              <a:spLocks noChangeArrowheads="1"/>
            </p:cNvSpPr>
            <p:nvPr/>
          </p:nvSpPr>
          <p:spPr bwMode="auto">
            <a:xfrm>
              <a:off x="2290"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29" name="Rectangle 171">
              <a:extLst>
                <a:ext uri="{FF2B5EF4-FFF2-40B4-BE49-F238E27FC236}">
                  <a16:creationId xmlns:a16="http://schemas.microsoft.com/office/drawing/2014/main" id="{1E54F97B-2696-804E-95C1-01676CBAEE84}"/>
                </a:ext>
              </a:extLst>
            </p:cNvPr>
            <p:cNvSpPr>
              <a:spLocks noChangeArrowheads="1"/>
            </p:cNvSpPr>
            <p:nvPr/>
          </p:nvSpPr>
          <p:spPr bwMode="auto">
            <a:xfrm>
              <a:off x="2244"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0" name="Rectangle 172">
              <a:extLst>
                <a:ext uri="{FF2B5EF4-FFF2-40B4-BE49-F238E27FC236}">
                  <a16:creationId xmlns:a16="http://schemas.microsoft.com/office/drawing/2014/main" id="{51590CD2-6B73-454B-A449-A480E61D4084}"/>
                </a:ext>
              </a:extLst>
            </p:cNvPr>
            <p:cNvSpPr>
              <a:spLocks noChangeArrowheads="1"/>
            </p:cNvSpPr>
            <p:nvPr/>
          </p:nvSpPr>
          <p:spPr bwMode="auto">
            <a:xfrm>
              <a:off x="2472"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1" name="Rectangle 173">
              <a:extLst>
                <a:ext uri="{FF2B5EF4-FFF2-40B4-BE49-F238E27FC236}">
                  <a16:creationId xmlns:a16="http://schemas.microsoft.com/office/drawing/2014/main" id="{D9504980-5AB4-5E44-8225-4BD8520B01C0}"/>
                </a:ext>
              </a:extLst>
            </p:cNvPr>
            <p:cNvSpPr>
              <a:spLocks noChangeArrowheads="1"/>
            </p:cNvSpPr>
            <p:nvPr/>
          </p:nvSpPr>
          <p:spPr bwMode="auto">
            <a:xfrm>
              <a:off x="2427"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2" name="Rectangle 174">
              <a:extLst>
                <a:ext uri="{FF2B5EF4-FFF2-40B4-BE49-F238E27FC236}">
                  <a16:creationId xmlns:a16="http://schemas.microsoft.com/office/drawing/2014/main" id="{961057CF-9D40-D34E-985B-ACFA1158B856}"/>
                </a:ext>
              </a:extLst>
            </p:cNvPr>
            <p:cNvSpPr>
              <a:spLocks noChangeArrowheads="1"/>
            </p:cNvSpPr>
            <p:nvPr/>
          </p:nvSpPr>
          <p:spPr bwMode="auto">
            <a:xfrm>
              <a:off x="2381"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3" name="Rectangle 177">
              <a:extLst>
                <a:ext uri="{FF2B5EF4-FFF2-40B4-BE49-F238E27FC236}">
                  <a16:creationId xmlns:a16="http://schemas.microsoft.com/office/drawing/2014/main" id="{F7F7BD2E-4055-0E46-9080-BF0A97BFF959}"/>
                </a:ext>
              </a:extLst>
            </p:cNvPr>
            <p:cNvSpPr>
              <a:spLocks noChangeArrowheads="1"/>
            </p:cNvSpPr>
            <p:nvPr/>
          </p:nvSpPr>
          <p:spPr bwMode="auto">
            <a:xfrm>
              <a:off x="2517" y="252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4" name="Rectangle 181">
              <a:extLst>
                <a:ext uri="{FF2B5EF4-FFF2-40B4-BE49-F238E27FC236}">
                  <a16:creationId xmlns:a16="http://schemas.microsoft.com/office/drawing/2014/main" id="{267AAE3B-7594-5D46-A960-DE8541BF95BB}"/>
                </a:ext>
              </a:extLst>
            </p:cNvPr>
            <p:cNvSpPr>
              <a:spLocks noChangeArrowheads="1"/>
            </p:cNvSpPr>
            <p:nvPr/>
          </p:nvSpPr>
          <p:spPr bwMode="auto">
            <a:xfrm>
              <a:off x="2064"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5" name="Rectangle 182">
              <a:extLst>
                <a:ext uri="{FF2B5EF4-FFF2-40B4-BE49-F238E27FC236}">
                  <a16:creationId xmlns:a16="http://schemas.microsoft.com/office/drawing/2014/main" id="{AF2795B1-593D-854E-9149-6814EBE78D25}"/>
                </a:ext>
              </a:extLst>
            </p:cNvPr>
            <p:cNvSpPr>
              <a:spLocks noChangeArrowheads="1"/>
            </p:cNvSpPr>
            <p:nvPr/>
          </p:nvSpPr>
          <p:spPr bwMode="auto">
            <a:xfrm>
              <a:off x="2019"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6" name="Rectangle 184">
              <a:extLst>
                <a:ext uri="{FF2B5EF4-FFF2-40B4-BE49-F238E27FC236}">
                  <a16:creationId xmlns:a16="http://schemas.microsoft.com/office/drawing/2014/main" id="{590E0519-F72A-E241-A831-B7CCBF91122C}"/>
                </a:ext>
              </a:extLst>
            </p:cNvPr>
            <p:cNvSpPr>
              <a:spLocks noChangeArrowheads="1"/>
            </p:cNvSpPr>
            <p:nvPr/>
          </p:nvSpPr>
          <p:spPr bwMode="auto">
            <a:xfrm>
              <a:off x="2199"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7" name="Rectangle 185">
              <a:extLst>
                <a:ext uri="{FF2B5EF4-FFF2-40B4-BE49-F238E27FC236}">
                  <a16:creationId xmlns:a16="http://schemas.microsoft.com/office/drawing/2014/main" id="{71825FE9-9167-A441-AD90-83B456E53D61}"/>
                </a:ext>
              </a:extLst>
            </p:cNvPr>
            <p:cNvSpPr>
              <a:spLocks noChangeArrowheads="1"/>
            </p:cNvSpPr>
            <p:nvPr/>
          </p:nvSpPr>
          <p:spPr bwMode="auto">
            <a:xfrm>
              <a:off x="2154"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8" name="Rectangle 186">
              <a:extLst>
                <a:ext uri="{FF2B5EF4-FFF2-40B4-BE49-F238E27FC236}">
                  <a16:creationId xmlns:a16="http://schemas.microsoft.com/office/drawing/2014/main" id="{0E249E7B-FB3F-2544-9DD1-3C238F2BEDAE}"/>
                </a:ext>
              </a:extLst>
            </p:cNvPr>
            <p:cNvSpPr>
              <a:spLocks noChangeArrowheads="1"/>
            </p:cNvSpPr>
            <p:nvPr/>
          </p:nvSpPr>
          <p:spPr bwMode="auto">
            <a:xfrm>
              <a:off x="2108"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39" name="Rectangle 187">
              <a:extLst>
                <a:ext uri="{FF2B5EF4-FFF2-40B4-BE49-F238E27FC236}">
                  <a16:creationId xmlns:a16="http://schemas.microsoft.com/office/drawing/2014/main" id="{D6959E4B-1BC7-B649-B1D6-F6965A7BF32D}"/>
                </a:ext>
              </a:extLst>
            </p:cNvPr>
            <p:cNvSpPr>
              <a:spLocks noChangeArrowheads="1"/>
            </p:cNvSpPr>
            <p:nvPr/>
          </p:nvSpPr>
          <p:spPr bwMode="auto">
            <a:xfrm>
              <a:off x="2335"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0" name="Rectangle 188">
              <a:extLst>
                <a:ext uri="{FF2B5EF4-FFF2-40B4-BE49-F238E27FC236}">
                  <a16:creationId xmlns:a16="http://schemas.microsoft.com/office/drawing/2014/main" id="{29593908-8588-9946-BD6F-951008AE93B8}"/>
                </a:ext>
              </a:extLst>
            </p:cNvPr>
            <p:cNvSpPr>
              <a:spLocks noChangeArrowheads="1"/>
            </p:cNvSpPr>
            <p:nvPr/>
          </p:nvSpPr>
          <p:spPr bwMode="auto">
            <a:xfrm>
              <a:off x="2290"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1" name="Rectangle 189">
              <a:extLst>
                <a:ext uri="{FF2B5EF4-FFF2-40B4-BE49-F238E27FC236}">
                  <a16:creationId xmlns:a16="http://schemas.microsoft.com/office/drawing/2014/main" id="{5697C843-95CE-D545-9036-5431D2B165B6}"/>
                </a:ext>
              </a:extLst>
            </p:cNvPr>
            <p:cNvSpPr>
              <a:spLocks noChangeArrowheads="1"/>
            </p:cNvSpPr>
            <p:nvPr/>
          </p:nvSpPr>
          <p:spPr bwMode="auto">
            <a:xfrm>
              <a:off x="2244"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2" name="Rectangle 190">
              <a:extLst>
                <a:ext uri="{FF2B5EF4-FFF2-40B4-BE49-F238E27FC236}">
                  <a16:creationId xmlns:a16="http://schemas.microsoft.com/office/drawing/2014/main" id="{800B7013-17A8-F741-91F3-4EBF186142A8}"/>
                </a:ext>
              </a:extLst>
            </p:cNvPr>
            <p:cNvSpPr>
              <a:spLocks noChangeArrowheads="1"/>
            </p:cNvSpPr>
            <p:nvPr/>
          </p:nvSpPr>
          <p:spPr bwMode="auto">
            <a:xfrm>
              <a:off x="2472"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3" name="Rectangle 191">
              <a:extLst>
                <a:ext uri="{FF2B5EF4-FFF2-40B4-BE49-F238E27FC236}">
                  <a16:creationId xmlns:a16="http://schemas.microsoft.com/office/drawing/2014/main" id="{8A9E230B-78B5-D449-ADF1-C016872BC370}"/>
                </a:ext>
              </a:extLst>
            </p:cNvPr>
            <p:cNvSpPr>
              <a:spLocks noChangeArrowheads="1"/>
            </p:cNvSpPr>
            <p:nvPr/>
          </p:nvSpPr>
          <p:spPr bwMode="auto">
            <a:xfrm>
              <a:off x="2427"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4" name="Rectangle 192">
              <a:extLst>
                <a:ext uri="{FF2B5EF4-FFF2-40B4-BE49-F238E27FC236}">
                  <a16:creationId xmlns:a16="http://schemas.microsoft.com/office/drawing/2014/main" id="{303C241B-76A0-3D41-8555-078FBF1F3D9F}"/>
                </a:ext>
              </a:extLst>
            </p:cNvPr>
            <p:cNvSpPr>
              <a:spLocks noChangeArrowheads="1"/>
            </p:cNvSpPr>
            <p:nvPr/>
          </p:nvSpPr>
          <p:spPr bwMode="auto">
            <a:xfrm>
              <a:off x="2381" y="247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5" name="Rectangle 196">
              <a:extLst>
                <a:ext uri="{FF2B5EF4-FFF2-40B4-BE49-F238E27FC236}">
                  <a16:creationId xmlns:a16="http://schemas.microsoft.com/office/drawing/2014/main" id="{16779A9F-05CD-3C41-A795-DE9383433CC6}"/>
                </a:ext>
              </a:extLst>
            </p:cNvPr>
            <p:cNvSpPr>
              <a:spLocks noChangeArrowheads="1"/>
            </p:cNvSpPr>
            <p:nvPr/>
          </p:nvSpPr>
          <p:spPr bwMode="auto">
            <a:xfrm>
              <a:off x="1928"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6" name="Rectangle 199">
              <a:extLst>
                <a:ext uri="{FF2B5EF4-FFF2-40B4-BE49-F238E27FC236}">
                  <a16:creationId xmlns:a16="http://schemas.microsoft.com/office/drawing/2014/main" id="{6C1155FB-4B69-AE4A-9EAA-F5DFEC6077E8}"/>
                </a:ext>
              </a:extLst>
            </p:cNvPr>
            <p:cNvSpPr>
              <a:spLocks noChangeArrowheads="1"/>
            </p:cNvSpPr>
            <p:nvPr/>
          </p:nvSpPr>
          <p:spPr bwMode="auto">
            <a:xfrm>
              <a:off x="2064"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7" name="Rectangle 200">
              <a:extLst>
                <a:ext uri="{FF2B5EF4-FFF2-40B4-BE49-F238E27FC236}">
                  <a16:creationId xmlns:a16="http://schemas.microsoft.com/office/drawing/2014/main" id="{AF10BB9C-1831-5546-8F5F-017556F43450}"/>
                </a:ext>
              </a:extLst>
            </p:cNvPr>
            <p:cNvSpPr>
              <a:spLocks noChangeArrowheads="1"/>
            </p:cNvSpPr>
            <p:nvPr/>
          </p:nvSpPr>
          <p:spPr bwMode="auto">
            <a:xfrm>
              <a:off x="2019"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8" name="Rectangle 201">
              <a:extLst>
                <a:ext uri="{FF2B5EF4-FFF2-40B4-BE49-F238E27FC236}">
                  <a16:creationId xmlns:a16="http://schemas.microsoft.com/office/drawing/2014/main" id="{E140C002-2390-3E4E-BF86-B8D3F5D0B609}"/>
                </a:ext>
              </a:extLst>
            </p:cNvPr>
            <p:cNvSpPr>
              <a:spLocks noChangeArrowheads="1"/>
            </p:cNvSpPr>
            <p:nvPr/>
          </p:nvSpPr>
          <p:spPr bwMode="auto">
            <a:xfrm>
              <a:off x="1973"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49" name="Rectangle 202">
              <a:extLst>
                <a:ext uri="{FF2B5EF4-FFF2-40B4-BE49-F238E27FC236}">
                  <a16:creationId xmlns:a16="http://schemas.microsoft.com/office/drawing/2014/main" id="{B0363CB5-B33D-FB46-93D3-B1A42E9E1155}"/>
                </a:ext>
              </a:extLst>
            </p:cNvPr>
            <p:cNvSpPr>
              <a:spLocks noChangeArrowheads="1"/>
            </p:cNvSpPr>
            <p:nvPr/>
          </p:nvSpPr>
          <p:spPr bwMode="auto">
            <a:xfrm>
              <a:off x="2199"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0" name="Rectangle 203">
              <a:extLst>
                <a:ext uri="{FF2B5EF4-FFF2-40B4-BE49-F238E27FC236}">
                  <a16:creationId xmlns:a16="http://schemas.microsoft.com/office/drawing/2014/main" id="{ABD312FA-9CDB-F44F-B2A1-5215ACE3A805}"/>
                </a:ext>
              </a:extLst>
            </p:cNvPr>
            <p:cNvSpPr>
              <a:spLocks noChangeArrowheads="1"/>
            </p:cNvSpPr>
            <p:nvPr/>
          </p:nvSpPr>
          <p:spPr bwMode="auto">
            <a:xfrm>
              <a:off x="2154"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1" name="Rectangle 204">
              <a:extLst>
                <a:ext uri="{FF2B5EF4-FFF2-40B4-BE49-F238E27FC236}">
                  <a16:creationId xmlns:a16="http://schemas.microsoft.com/office/drawing/2014/main" id="{BEDAC462-635C-A643-93B3-42DE072BBDC6}"/>
                </a:ext>
              </a:extLst>
            </p:cNvPr>
            <p:cNvSpPr>
              <a:spLocks noChangeArrowheads="1"/>
            </p:cNvSpPr>
            <p:nvPr/>
          </p:nvSpPr>
          <p:spPr bwMode="auto">
            <a:xfrm>
              <a:off x="2108"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2" name="Rectangle 205">
              <a:extLst>
                <a:ext uri="{FF2B5EF4-FFF2-40B4-BE49-F238E27FC236}">
                  <a16:creationId xmlns:a16="http://schemas.microsoft.com/office/drawing/2014/main" id="{4094A77D-E5A1-FB49-81DC-BFCCEB9AE7EB}"/>
                </a:ext>
              </a:extLst>
            </p:cNvPr>
            <p:cNvSpPr>
              <a:spLocks noChangeArrowheads="1"/>
            </p:cNvSpPr>
            <p:nvPr/>
          </p:nvSpPr>
          <p:spPr bwMode="auto">
            <a:xfrm>
              <a:off x="2335"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3" name="Rectangle 206">
              <a:extLst>
                <a:ext uri="{FF2B5EF4-FFF2-40B4-BE49-F238E27FC236}">
                  <a16:creationId xmlns:a16="http://schemas.microsoft.com/office/drawing/2014/main" id="{EB986AB2-44A6-B449-94F9-67EFC1C161DA}"/>
                </a:ext>
              </a:extLst>
            </p:cNvPr>
            <p:cNvSpPr>
              <a:spLocks noChangeArrowheads="1"/>
            </p:cNvSpPr>
            <p:nvPr/>
          </p:nvSpPr>
          <p:spPr bwMode="auto">
            <a:xfrm>
              <a:off x="2290"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4" name="Rectangle 207">
              <a:extLst>
                <a:ext uri="{FF2B5EF4-FFF2-40B4-BE49-F238E27FC236}">
                  <a16:creationId xmlns:a16="http://schemas.microsoft.com/office/drawing/2014/main" id="{04C2F6D7-D200-6E42-BF81-7BFF8FA151D6}"/>
                </a:ext>
              </a:extLst>
            </p:cNvPr>
            <p:cNvSpPr>
              <a:spLocks noChangeArrowheads="1"/>
            </p:cNvSpPr>
            <p:nvPr/>
          </p:nvSpPr>
          <p:spPr bwMode="auto">
            <a:xfrm>
              <a:off x="2244"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5" name="Rectangle 209">
              <a:extLst>
                <a:ext uri="{FF2B5EF4-FFF2-40B4-BE49-F238E27FC236}">
                  <a16:creationId xmlns:a16="http://schemas.microsoft.com/office/drawing/2014/main" id="{151C503C-AA15-0B4D-BCE2-CB5CDE5D5BC8}"/>
                </a:ext>
              </a:extLst>
            </p:cNvPr>
            <p:cNvSpPr>
              <a:spLocks noChangeArrowheads="1"/>
            </p:cNvSpPr>
            <p:nvPr/>
          </p:nvSpPr>
          <p:spPr bwMode="auto">
            <a:xfrm>
              <a:off x="2427"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6" name="Rectangle 210">
              <a:extLst>
                <a:ext uri="{FF2B5EF4-FFF2-40B4-BE49-F238E27FC236}">
                  <a16:creationId xmlns:a16="http://schemas.microsoft.com/office/drawing/2014/main" id="{1ED3BF1A-854A-C448-A2AC-511B77FF1016}"/>
                </a:ext>
              </a:extLst>
            </p:cNvPr>
            <p:cNvSpPr>
              <a:spLocks noChangeArrowheads="1"/>
            </p:cNvSpPr>
            <p:nvPr/>
          </p:nvSpPr>
          <p:spPr bwMode="auto">
            <a:xfrm>
              <a:off x="2381" y="2433"/>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7" name="Rectangle 214">
              <a:extLst>
                <a:ext uri="{FF2B5EF4-FFF2-40B4-BE49-F238E27FC236}">
                  <a16:creationId xmlns:a16="http://schemas.microsoft.com/office/drawing/2014/main" id="{A46E1AE7-26D9-E641-9F08-109F54077865}"/>
                </a:ext>
              </a:extLst>
            </p:cNvPr>
            <p:cNvSpPr>
              <a:spLocks noChangeArrowheads="1"/>
            </p:cNvSpPr>
            <p:nvPr/>
          </p:nvSpPr>
          <p:spPr bwMode="auto">
            <a:xfrm>
              <a:off x="1928"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8" name="Rectangle 215">
              <a:extLst>
                <a:ext uri="{FF2B5EF4-FFF2-40B4-BE49-F238E27FC236}">
                  <a16:creationId xmlns:a16="http://schemas.microsoft.com/office/drawing/2014/main" id="{2FB729A3-3C4D-5445-B192-6379EE1563E4}"/>
                </a:ext>
              </a:extLst>
            </p:cNvPr>
            <p:cNvSpPr>
              <a:spLocks noChangeArrowheads="1"/>
            </p:cNvSpPr>
            <p:nvPr/>
          </p:nvSpPr>
          <p:spPr bwMode="auto">
            <a:xfrm>
              <a:off x="1883"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59" name="Rectangle 217">
              <a:extLst>
                <a:ext uri="{FF2B5EF4-FFF2-40B4-BE49-F238E27FC236}">
                  <a16:creationId xmlns:a16="http://schemas.microsoft.com/office/drawing/2014/main" id="{FC8BB388-AC13-FA4C-B3FD-38D90431E355}"/>
                </a:ext>
              </a:extLst>
            </p:cNvPr>
            <p:cNvSpPr>
              <a:spLocks noChangeArrowheads="1"/>
            </p:cNvSpPr>
            <p:nvPr/>
          </p:nvSpPr>
          <p:spPr bwMode="auto">
            <a:xfrm>
              <a:off x="2064"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0" name="Rectangle 218">
              <a:extLst>
                <a:ext uri="{FF2B5EF4-FFF2-40B4-BE49-F238E27FC236}">
                  <a16:creationId xmlns:a16="http://schemas.microsoft.com/office/drawing/2014/main" id="{025DC09B-F3DF-7641-B808-5670BA1FD720}"/>
                </a:ext>
              </a:extLst>
            </p:cNvPr>
            <p:cNvSpPr>
              <a:spLocks noChangeArrowheads="1"/>
            </p:cNvSpPr>
            <p:nvPr/>
          </p:nvSpPr>
          <p:spPr bwMode="auto">
            <a:xfrm>
              <a:off x="2019"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1" name="Rectangle 219">
              <a:extLst>
                <a:ext uri="{FF2B5EF4-FFF2-40B4-BE49-F238E27FC236}">
                  <a16:creationId xmlns:a16="http://schemas.microsoft.com/office/drawing/2014/main" id="{9CA94CDE-0E53-614F-B592-11BD5438E59F}"/>
                </a:ext>
              </a:extLst>
            </p:cNvPr>
            <p:cNvSpPr>
              <a:spLocks noChangeArrowheads="1"/>
            </p:cNvSpPr>
            <p:nvPr/>
          </p:nvSpPr>
          <p:spPr bwMode="auto">
            <a:xfrm>
              <a:off x="1973"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2" name="Rectangle 220">
              <a:extLst>
                <a:ext uri="{FF2B5EF4-FFF2-40B4-BE49-F238E27FC236}">
                  <a16:creationId xmlns:a16="http://schemas.microsoft.com/office/drawing/2014/main" id="{45932666-B492-334D-AB8B-8D1DCA12AA00}"/>
                </a:ext>
              </a:extLst>
            </p:cNvPr>
            <p:cNvSpPr>
              <a:spLocks noChangeArrowheads="1"/>
            </p:cNvSpPr>
            <p:nvPr/>
          </p:nvSpPr>
          <p:spPr bwMode="auto">
            <a:xfrm>
              <a:off x="2199"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3" name="Rectangle 221">
              <a:extLst>
                <a:ext uri="{FF2B5EF4-FFF2-40B4-BE49-F238E27FC236}">
                  <a16:creationId xmlns:a16="http://schemas.microsoft.com/office/drawing/2014/main" id="{14BB4789-0165-E44D-86AA-0793874E73B1}"/>
                </a:ext>
              </a:extLst>
            </p:cNvPr>
            <p:cNvSpPr>
              <a:spLocks noChangeArrowheads="1"/>
            </p:cNvSpPr>
            <p:nvPr/>
          </p:nvSpPr>
          <p:spPr bwMode="auto">
            <a:xfrm>
              <a:off x="2154"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4" name="Rectangle 222">
              <a:extLst>
                <a:ext uri="{FF2B5EF4-FFF2-40B4-BE49-F238E27FC236}">
                  <a16:creationId xmlns:a16="http://schemas.microsoft.com/office/drawing/2014/main" id="{33530E72-2CE7-2D41-9A32-F5D1D2D75F77}"/>
                </a:ext>
              </a:extLst>
            </p:cNvPr>
            <p:cNvSpPr>
              <a:spLocks noChangeArrowheads="1"/>
            </p:cNvSpPr>
            <p:nvPr/>
          </p:nvSpPr>
          <p:spPr bwMode="auto">
            <a:xfrm>
              <a:off x="2108"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5" name="Rectangle 223">
              <a:extLst>
                <a:ext uri="{FF2B5EF4-FFF2-40B4-BE49-F238E27FC236}">
                  <a16:creationId xmlns:a16="http://schemas.microsoft.com/office/drawing/2014/main" id="{8EDA25C9-C70F-7C4F-8C4E-4B32FDC717A6}"/>
                </a:ext>
              </a:extLst>
            </p:cNvPr>
            <p:cNvSpPr>
              <a:spLocks noChangeArrowheads="1"/>
            </p:cNvSpPr>
            <p:nvPr/>
          </p:nvSpPr>
          <p:spPr bwMode="auto">
            <a:xfrm>
              <a:off x="2335"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6" name="Rectangle 224">
              <a:extLst>
                <a:ext uri="{FF2B5EF4-FFF2-40B4-BE49-F238E27FC236}">
                  <a16:creationId xmlns:a16="http://schemas.microsoft.com/office/drawing/2014/main" id="{A8B31B90-DEEE-FD43-8171-615D699B61AB}"/>
                </a:ext>
              </a:extLst>
            </p:cNvPr>
            <p:cNvSpPr>
              <a:spLocks noChangeArrowheads="1"/>
            </p:cNvSpPr>
            <p:nvPr/>
          </p:nvSpPr>
          <p:spPr bwMode="auto">
            <a:xfrm>
              <a:off x="2290"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7" name="Rectangle 225">
              <a:extLst>
                <a:ext uri="{FF2B5EF4-FFF2-40B4-BE49-F238E27FC236}">
                  <a16:creationId xmlns:a16="http://schemas.microsoft.com/office/drawing/2014/main" id="{55473B8A-1886-3C49-816E-8D7255EE6490}"/>
                </a:ext>
              </a:extLst>
            </p:cNvPr>
            <p:cNvSpPr>
              <a:spLocks noChangeArrowheads="1"/>
            </p:cNvSpPr>
            <p:nvPr/>
          </p:nvSpPr>
          <p:spPr bwMode="auto">
            <a:xfrm>
              <a:off x="2244"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8" name="Rectangle 227">
              <a:extLst>
                <a:ext uri="{FF2B5EF4-FFF2-40B4-BE49-F238E27FC236}">
                  <a16:creationId xmlns:a16="http://schemas.microsoft.com/office/drawing/2014/main" id="{6F91A058-6BEC-B749-A023-27844AD5E24B}"/>
                </a:ext>
              </a:extLst>
            </p:cNvPr>
            <p:cNvSpPr>
              <a:spLocks noChangeArrowheads="1"/>
            </p:cNvSpPr>
            <p:nvPr/>
          </p:nvSpPr>
          <p:spPr bwMode="auto">
            <a:xfrm>
              <a:off x="2427"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69" name="Rectangle 228">
              <a:extLst>
                <a:ext uri="{FF2B5EF4-FFF2-40B4-BE49-F238E27FC236}">
                  <a16:creationId xmlns:a16="http://schemas.microsoft.com/office/drawing/2014/main" id="{B565F31E-8EE9-8948-B414-C8EC4033705A}"/>
                </a:ext>
              </a:extLst>
            </p:cNvPr>
            <p:cNvSpPr>
              <a:spLocks noChangeArrowheads="1"/>
            </p:cNvSpPr>
            <p:nvPr/>
          </p:nvSpPr>
          <p:spPr bwMode="auto">
            <a:xfrm>
              <a:off x="2381" y="2387"/>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0" name="Rectangle 232">
              <a:extLst>
                <a:ext uri="{FF2B5EF4-FFF2-40B4-BE49-F238E27FC236}">
                  <a16:creationId xmlns:a16="http://schemas.microsoft.com/office/drawing/2014/main" id="{3BE0C55E-19B5-6E41-902E-FABFDE7B3DD7}"/>
                </a:ext>
              </a:extLst>
            </p:cNvPr>
            <p:cNvSpPr>
              <a:spLocks noChangeArrowheads="1"/>
            </p:cNvSpPr>
            <p:nvPr/>
          </p:nvSpPr>
          <p:spPr bwMode="auto">
            <a:xfrm>
              <a:off x="1928"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1" name="Rectangle 235">
              <a:extLst>
                <a:ext uri="{FF2B5EF4-FFF2-40B4-BE49-F238E27FC236}">
                  <a16:creationId xmlns:a16="http://schemas.microsoft.com/office/drawing/2014/main" id="{0DA59C6B-DECA-5C49-AA03-F11A20D98F53}"/>
                </a:ext>
              </a:extLst>
            </p:cNvPr>
            <p:cNvSpPr>
              <a:spLocks noChangeArrowheads="1"/>
            </p:cNvSpPr>
            <p:nvPr/>
          </p:nvSpPr>
          <p:spPr bwMode="auto">
            <a:xfrm>
              <a:off x="2064"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2" name="Rectangle 236">
              <a:extLst>
                <a:ext uri="{FF2B5EF4-FFF2-40B4-BE49-F238E27FC236}">
                  <a16:creationId xmlns:a16="http://schemas.microsoft.com/office/drawing/2014/main" id="{2062FEAF-3E2D-1C4E-A041-244DA4AC1FA8}"/>
                </a:ext>
              </a:extLst>
            </p:cNvPr>
            <p:cNvSpPr>
              <a:spLocks noChangeArrowheads="1"/>
            </p:cNvSpPr>
            <p:nvPr/>
          </p:nvSpPr>
          <p:spPr bwMode="auto">
            <a:xfrm>
              <a:off x="2019"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3" name="Rectangle 237">
              <a:extLst>
                <a:ext uri="{FF2B5EF4-FFF2-40B4-BE49-F238E27FC236}">
                  <a16:creationId xmlns:a16="http://schemas.microsoft.com/office/drawing/2014/main" id="{BBF88C0B-1997-0045-BF0A-4888A1E74014}"/>
                </a:ext>
              </a:extLst>
            </p:cNvPr>
            <p:cNvSpPr>
              <a:spLocks noChangeArrowheads="1"/>
            </p:cNvSpPr>
            <p:nvPr/>
          </p:nvSpPr>
          <p:spPr bwMode="auto">
            <a:xfrm>
              <a:off x="1973"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4" name="Rectangle 238">
              <a:extLst>
                <a:ext uri="{FF2B5EF4-FFF2-40B4-BE49-F238E27FC236}">
                  <a16:creationId xmlns:a16="http://schemas.microsoft.com/office/drawing/2014/main" id="{616880DB-1445-8A48-BB49-609857207CB0}"/>
                </a:ext>
              </a:extLst>
            </p:cNvPr>
            <p:cNvSpPr>
              <a:spLocks noChangeArrowheads="1"/>
            </p:cNvSpPr>
            <p:nvPr/>
          </p:nvSpPr>
          <p:spPr bwMode="auto">
            <a:xfrm>
              <a:off x="2199"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5" name="Rectangle 239">
              <a:extLst>
                <a:ext uri="{FF2B5EF4-FFF2-40B4-BE49-F238E27FC236}">
                  <a16:creationId xmlns:a16="http://schemas.microsoft.com/office/drawing/2014/main" id="{2307E445-4F12-DF43-ACE6-B75EA8A95B83}"/>
                </a:ext>
              </a:extLst>
            </p:cNvPr>
            <p:cNvSpPr>
              <a:spLocks noChangeArrowheads="1"/>
            </p:cNvSpPr>
            <p:nvPr/>
          </p:nvSpPr>
          <p:spPr bwMode="auto">
            <a:xfrm>
              <a:off x="2154"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6" name="Rectangle 240">
              <a:extLst>
                <a:ext uri="{FF2B5EF4-FFF2-40B4-BE49-F238E27FC236}">
                  <a16:creationId xmlns:a16="http://schemas.microsoft.com/office/drawing/2014/main" id="{C411150F-7E30-3B4E-8ACB-0C7CB8D7E66E}"/>
                </a:ext>
              </a:extLst>
            </p:cNvPr>
            <p:cNvSpPr>
              <a:spLocks noChangeArrowheads="1"/>
            </p:cNvSpPr>
            <p:nvPr/>
          </p:nvSpPr>
          <p:spPr bwMode="auto">
            <a:xfrm>
              <a:off x="2108"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7" name="Rectangle 241">
              <a:extLst>
                <a:ext uri="{FF2B5EF4-FFF2-40B4-BE49-F238E27FC236}">
                  <a16:creationId xmlns:a16="http://schemas.microsoft.com/office/drawing/2014/main" id="{5FDA5A2F-EFBE-6F47-9EA8-CDCC7D8CDFAF}"/>
                </a:ext>
              </a:extLst>
            </p:cNvPr>
            <p:cNvSpPr>
              <a:spLocks noChangeArrowheads="1"/>
            </p:cNvSpPr>
            <p:nvPr/>
          </p:nvSpPr>
          <p:spPr bwMode="auto">
            <a:xfrm>
              <a:off x="2335"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8" name="Rectangle 242">
              <a:extLst>
                <a:ext uri="{FF2B5EF4-FFF2-40B4-BE49-F238E27FC236}">
                  <a16:creationId xmlns:a16="http://schemas.microsoft.com/office/drawing/2014/main" id="{5FEBC9DA-96E3-3746-AA82-B4333B44AF3E}"/>
                </a:ext>
              </a:extLst>
            </p:cNvPr>
            <p:cNvSpPr>
              <a:spLocks noChangeArrowheads="1"/>
            </p:cNvSpPr>
            <p:nvPr/>
          </p:nvSpPr>
          <p:spPr bwMode="auto">
            <a:xfrm>
              <a:off x="2290"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79" name="Rectangle 243">
              <a:extLst>
                <a:ext uri="{FF2B5EF4-FFF2-40B4-BE49-F238E27FC236}">
                  <a16:creationId xmlns:a16="http://schemas.microsoft.com/office/drawing/2014/main" id="{47F91345-18BF-DF4D-B1F2-9E2DEB112F60}"/>
                </a:ext>
              </a:extLst>
            </p:cNvPr>
            <p:cNvSpPr>
              <a:spLocks noChangeArrowheads="1"/>
            </p:cNvSpPr>
            <p:nvPr/>
          </p:nvSpPr>
          <p:spPr bwMode="auto">
            <a:xfrm>
              <a:off x="2244"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0" name="Rectangle 246">
              <a:extLst>
                <a:ext uri="{FF2B5EF4-FFF2-40B4-BE49-F238E27FC236}">
                  <a16:creationId xmlns:a16="http://schemas.microsoft.com/office/drawing/2014/main" id="{E71A4B8B-4429-D346-AE69-C2D014A48EE4}"/>
                </a:ext>
              </a:extLst>
            </p:cNvPr>
            <p:cNvSpPr>
              <a:spLocks noChangeArrowheads="1"/>
            </p:cNvSpPr>
            <p:nvPr/>
          </p:nvSpPr>
          <p:spPr bwMode="auto">
            <a:xfrm>
              <a:off x="2381" y="234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1" name="Rectangle 253">
              <a:extLst>
                <a:ext uri="{FF2B5EF4-FFF2-40B4-BE49-F238E27FC236}">
                  <a16:creationId xmlns:a16="http://schemas.microsoft.com/office/drawing/2014/main" id="{1BAA5B22-AD47-4041-B86E-E3514BDAD952}"/>
                </a:ext>
              </a:extLst>
            </p:cNvPr>
            <p:cNvSpPr>
              <a:spLocks noChangeArrowheads="1"/>
            </p:cNvSpPr>
            <p:nvPr/>
          </p:nvSpPr>
          <p:spPr bwMode="auto">
            <a:xfrm>
              <a:off x="2064"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2" name="Rectangle 254">
              <a:extLst>
                <a:ext uri="{FF2B5EF4-FFF2-40B4-BE49-F238E27FC236}">
                  <a16:creationId xmlns:a16="http://schemas.microsoft.com/office/drawing/2014/main" id="{1E154999-BD1F-2F4A-A3BF-B5922EADDE9B}"/>
                </a:ext>
              </a:extLst>
            </p:cNvPr>
            <p:cNvSpPr>
              <a:spLocks noChangeArrowheads="1"/>
            </p:cNvSpPr>
            <p:nvPr/>
          </p:nvSpPr>
          <p:spPr bwMode="auto">
            <a:xfrm>
              <a:off x="2019"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3" name="Rectangle 255">
              <a:extLst>
                <a:ext uri="{FF2B5EF4-FFF2-40B4-BE49-F238E27FC236}">
                  <a16:creationId xmlns:a16="http://schemas.microsoft.com/office/drawing/2014/main" id="{398390F7-128E-7C4D-9F8D-FE0A69329555}"/>
                </a:ext>
              </a:extLst>
            </p:cNvPr>
            <p:cNvSpPr>
              <a:spLocks noChangeArrowheads="1"/>
            </p:cNvSpPr>
            <p:nvPr/>
          </p:nvSpPr>
          <p:spPr bwMode="auto">
            <a:xfrm>
              <a:off x="1973"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4" name="Rectangle 256">
              <a:extLst>
                <a:ext uri="{FF2B5EF4-FFF2-40B4-BE49-F238E27FC236}">
                  <a16:creationId xmlns:a16="http://schemas.microsoft.com/office/drawing/2014/main" id="{EA79448C-2C47-8C48-8EDB-E895C2B7A12E}"/>
                </a:ext>
              </a:extLst>
            </p:cNvPr>
            <p:cNvSpPr>
              <a:spLocks noChangeArrowheads="1"/>
            </p:cNvSpPr>
            <p:nvPr/>
          </p:nvSpPr>
          <p:spPr bwMode="auto">
            <a:xfrm>
              <a:off x="2199"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5" name="Rectangle 257">
              <a:extLst>
                <a:ext uri="{FF2B5EF4-FFF2-40B4-BE49-F238E27FC236}">
                  <a16:creationId xmlns:a16="http://schemas.microsoft.com/office/drawing/2014/main" id="{14F24226-2DF3-8048-BD71-EC6783C3A53D}"/>
                </a:ext>
              </a:extLst>
            </p:cNvPr>
            <p:cNvSpPr>
              <a:spLocks noChangeArrowheads="1"/>
            </p:cNvSpPr>
            <p:nvPr/>
          </p:nvSpPr>
          <p:spPr bwMode="auto">
            <a:xfrm>
              <a:off x="2154"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6" name="Rectangle 258">
              <a:extLst>
                <a:ext uri="{FF2B5EF4-FFF2-40B4-BE49-F238E27FC236}">
                  <a16:creationId xmlns:a16="http://schemas.microsoft.com/office/drawing/2014/main" id="{9C8C3C81-CB05-7247-BEA3-FFC667C01983}"/>
                </a:ext>
              </a:extLst>
            </p:cNvPr>
            <p:cNvSpPr>
              <a:spLocks noChangeArrowheads="1"/>
            </p:cNvSpPr>
            <p:nvPr/>
          </p:nvSpPr>
          <p:spPr bwMode="auto">
            <a:xfrm>
              <a:off x="2108"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7" name="Rectangle 259">
              <a:extLst>
                <a:ext uri="{FF2B5EF4-FFF2-40B4-BE49-F238E27FC236}">
                  <a16:creationId xmlns:a16="http://schemas.microsoft.com/office/drawing/2014/main" id="{1E2C337B-694F-4748-A27B-F31167860AC5}"/>
                </a:ext>
              </a:extLst>
            </p:cNvPr>
            <p:cNvSpPr>
              <a:spLocks noChangeArrowheads="1"/>
            </p:cNvSpPr>
            <p:nvPr/>
          </p:nvSpPr>
          <p:spPr bwMode="auto">
            <a:xfrm>
              <a:off x="2335"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8" name="Rectangle 260">
              <a:extLst>
                <a:ext uri="{FF2B5EF4-FFF2-40B4-BE49-F238E27FC236}">
                  <a16:creationId xmlns:a16="http://schemas.microsoft.com/office/drawing/2014/main" id="{E7A80FD3-F039-AA4A-B584-4DF13612634D}"/>
                </a:ext>
              </a:extLst>
            </p:cNvPr>
            <p:cNvSpPr>
              <a:spLocks noChangeArrowheads="1"/>
            </p:cNvSpPr>
            <p:nvPr/>
          </p:nvSpPr>
          <p:spPr bwMode="auto">
            <a:xfrm>
              <a:off x="2290"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89" name="Rectangle 261">
              <a:extLst>
                <a:ext uri="{FF2B5EF4-FFF2-40B4-BE49-F238E27FC236}">
                  <a16:creationId xmlns:a16="http://schemas.microsoft.com/office/drawing/2014/main" id="{B634ACE6-33BA-5B46-8909-320105C9EE98}"/>
                </a:ext>
              </a:extLst>
            </p:cNvPr>
            <p:cNvSpPr>
              <a:spLocks noChangeArrowheads="1"/>
            </p:cNvSpPr>
            <p:nvPr/>
          </p:nvSpPr>
          <p:spPr bwMode="auto">
            <a:xfrm>
              <a:off x="2244"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0" name="Rectangle 264">
              <a:extLst>
                <a:ext uri="{FF2B5EF4-FFF2-40B4-BE49-F238E27FC236}">
                  <a16:creationId xmlns:a16="http://schemas.microsoft.com/office/drawing/2014/main" id="{3B8AABC9-AAD4-EA48-B746-286B552196D0}"/>
                </a:ext>
              </a:extLst>
            </p:cNvPr>
            <p:cNvSpPr>
              <a:spLocks noChangeArrowheads="1"/>
            </p:cNvSpPr>
            <p:nvPr/>
          </p:nvSpPr>
          <p:spPr bwMode="auto">
            <a:xfrm>
              <a:off x="2381" y="229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1" name="Rectangle 271">
              <a:extLst>
                <a:ext uri="{FF2B5EF4-FFF2-40B4-BE49-F238E27FC236}">
                  <a16:creationId xmlns:a16="http://schemas.microsoft.com/office/drawing/2014/main" id="{71F81DA9-8165-A946-AFC1-3F1371B70E0A}"/>
                </a:ext>
              </a:extLst>
            </p:cNvPr>
            <p:cNvSpPr>
              <a:spLocks noChangeArrowheads="1"/>
            </p:cNvSpPr>
            <p:nvPr/>
          </p:nvSpPr>
          <p:spPr bwMode="auto">
            <a:xfrm>
              <a:off x="2064"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2" name="Rectangle 272">
              <a:extLst>
                <a:ext uri="{FF2B5EF4-FFF2-40B4-BE49-F238E27FC236}">
                  <a16:creationId xmlns:a16="http://schemas.microsoft.com/office/drawing/2014/main" id="{73038353-470E-054E-89BD-3C61977A2F90}"/>
                </a:ext>
              </a:extLst>
            </p:cNvPr>
            <p:cNvSpPr>
              <a:spLocks noChangeArrowheads="1"/>
            </p:cNvSpPr>
            <p:nvPr/>
          </p:nvSpPr>
          <p:spPr bwMode="auto">
            <a:xfrm>
              <a:off x="2019"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3" name="Rectangle 274">
              <a:extLst>
                <a:ext uri="{FF2B5EF4-FFF2-40B4-BE49-F238E27FC236}">
                  <a16:creationId xmlns:a16="http://schemas.microsoft.com/office/drawing/2014/main" id="{CC950530-68E2-1640-9E8A-8B873E4A54E1}"/>
                </a:ext>
              </a:extLst>
            </p:cNvPr>
            <p:cNvSpPr>
              <a:spLocks noChangeArrowheads="1"/>
            </p:cNvSpPr>
            <p:nvPr/>
          </p:nvSpPr>
          <p:spPr bwMode="auto">
            <a:xfrm>
              <a:off x="2199"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4" name="Rectangle 275">
              <a:extLst>
                <a:ext uri="{FF2B5EF4-FFF2-40B4-BE49-F238E27FC236}">
                  <a16:creationId xmlns:a16="http://schemas.microsoft.com/office/drawing/2014/main" id="{F2EE2297-7B47-974D-9762-1C938FC4955C}"/>
                </a:ext>
              </a:extLst>
            </p:cNvPr>
            <p:cNvSpPr>
              <a:spLocks noChangeArrowheads="1"/>
            </p:cNvSpPr>
            <p:nvPr/>
          </p:nvSpPr>
          <p:spPr bwMode="auto">
            <a:xfrm>
              <a:off x="2154"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5" name="Rectangle 276">
              <a:extLst>
                <a:ext uri="{FF2B5EF4-FFF2-40B4-BE49-F238E27FC236}">
                  <a16:creationId xmlns:a16="http://schemas.microsoft.com/office/drawing/2014/main" id="{182803FC-D717-524F-B3A3-8816AED00687}"/>
                </a:ext>
              </a:extLst>
            </p:cNvPr>
            <p:cNvSpPr>
              <a:spLocks noChangeArrowheads="1"/>
            </p:cNvSpPr>
            <p:nvPr/>
          </p:nvSpPr>
          <p:spPr bwMode="auto">
            <a:xfrm>
              <a:off x="2108"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6" name="Rectangle 277">
              <a:extLst>
                <a:ext uri="{FF2B5EF4-FFF2-40B4-BE49-F238E27FC236}">
                  <a16:creationId xmlns:a16="http://schemas.microsoft.com/office/drawing/2014/main" id="{EE040193-1165-FA44-B26C-E01D7AD0BD27}"/>
                </a:ext>
              </a:extLst>
            </p:cNvPr>
            <p:cNvSpPr>
              <a:spLocks noChangeArrowheads="1"/>
            </p:cNvSpPr>
            <p:nvPr/>
          </p:nvSpPr>
          <p:spPr bwMode="auto">
            <a:xfrm>
              <a:off x="2335"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7" name="Rectangle 278">
              <a:extLst>
                <a:ext uri="{FF2B5EF4-FFF2-40B4-BE49-F238E27FC236}">
                  <a16:creationId xmlns:a16="http://schemas.microsoft.com/office/drawing/2014/main" id="{DCFDF391-CBAE-5342-BA16-FB1FFE8D20E6}"/>
                </a:ext>
              </a:extLst>
            </p:cNvPr>
            <p:cNvSpPr>
              <a:spLocks noChangeArrowheads="1"/>
            </p:cNvSpPr>
            <p:nvPr/>
          </p:nvSpPr>
          <p:spPr bwMode="auto">
            <a:xfrm>
              <a:off x="2290"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8" name="Rectangle 279">
              <a:extLst>
                <a:ext uri="{FF2B5EF4-FFF2-40B4-BE49-F238E27FC236}">
                  <a16:creationId xmlns:a16="http://schemas.microsoft.com/office/drawing/2014/main" id="{4D62C82D-1A5C-4B40-B61D-A71F75E25840}"/>
                </a:ext>
              </a:extLst>
            </p:cNvPr>
            <p:cNvSpPr>
              <a:spLocks noChangeArrowheads="1"/>
            </p:cNvSpPr>
            <p:nvPr/>
          </p:nvSpPr>
          <p:spPr bwMode="auto">
            <a:xfrm>
              <a:off x="2244" y="2251"/>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299" name="Rectangle 289">
              <a:extLst>
                <a:ext uri="{FF2B5EF4-FFF2-40B4-BE49-F238E27FC236}">
                  <a16:creationId xmlns:a16="http://schemas.microsoft.com/office/drawing/2014/main" id="{FE41603F-3DA9-954D-A628-1F9C9C2C22D0}"/>
                </a:ext>
              </a:extLst>
            </p:cNvPr>
            <p:cNvSpPr>
              <a:spLocks noChangeArrowheads="1"/>
            </p:cNvSpPr>
            <p:nvPr/>
          </p:nvSpPr>
          <p:spPr bwMode="auto">
            <a:xfrm>
              <a:off x="2064"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0" name="Rectangle 292">
              <a:extLst>
                <a:ext uri="{FF2B5EF4-FFF2-40B4-BE49-F238E27FC236}">
                  <a16:creationId xmlns:a16="http://schemas.microsoft.com/office/drawing/2014/main" id="{5B63ACF9-CFDD-C74C-8B62-D87F1F4CDAC9}"/>
                </a:ext>
              </a:extLst>
            </p:cNvPr>
            <p:cNvSpPr>
              <a:spLocks noChangeArrowheads="1"/>
            </p:cNvSpPr>
            <p:nvPr/>
          </p:nvSpPr>
          <p:spPr bwMode="auto">
            <a:xfrm>
              <a:off x="2199"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1" name="Rectangle 293">
              <a:extLst>
                <a:ext uri="{FF2B5EF4-FFF2-40B4-BE49-F238E27FC236}">
                  <a16:creationId xmlns:a16="http://schemas.microsoft.com/office/drawing/2014/main" id="{20EB78BD-1354-2B43-A66D-0701AA263DFF}"/>
                </a:ext>
              </a:extLst>
            </p:cNvPr>
            <p:cNvSpPr>
              <a:spLocks noChangeArrowheads="1"/>
            </p:cNvSpPr>
            <p:nvPr/>
          </p:nvSpPr>
          <p:spPr bwMode="auto">
            <a:xfrm>
              <a:off x="2154"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2" name="Rectangle 294">
              <a:extLst>
                <a:ext uri="{FF2B5EF4-FFF2-40B4-BE49-F238E27FC236}">
                  <a16:creationId xmlns:a16="http://schemas.microsoft.com/office/drawing/2014/main" id="{7F1F7BF4-1CF7-2F49-A8BD-2A89BB134B3D}"/>
                </a:ext>
              </a:extLst>
            </p:cNvPr>
            <p:cNvSpPr>
              <a:spLocks noChangeArrowheads="1"/>
            </p:cNvSpPr>
            <p:nvPr/>
          </p:nvSpPr>
          <p:spPr bwMode="auto">
            <a:xfrm>
              <a:off x="2108"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3" name="Rectangle 295">
              <a:extLst>
                <a:ext uri="{FF2B5EF4-FFF2-40B4-BE49-F238E27FC236}">
                  <a16:creationId xmlns:a16="http://schemas.microsoft.com/office/drawing/2014/main" id="{7029DC37-3E21-8440-88F8-B98882624D50}"/>
                </a:ext>
              </a:extLst>
            </p:cNvPr>
            <p:cNvSpPr>
              <a:spLocks noChangeArrowheads="1"/>
            </p:cNvSpPr>
            <p:nvPr/>
          </p:nvSpPr>
          <p:spPr bwMode="auto">
            <a:xfrm>
              <a:off x="2335"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4" name="Rectangle 296">
              <a:extLst>
                <a:ext uri="{FF2B5EF4-FFF2-40B4-BE49-F238E27FC236}">
                  <a16:creationId xmlns:a16="http://schemas.microsoft.com/office/drawing/2014/main" id="{4C22AF0F-C988-1140-8432-ED56AB8B9F0E}"/>
                </a:ext>
              </a:extLst>
            </p:cNvPr>
            <p:cNvSpPr>
              <a:spLocks noChangeArrowheads="1"/>
            </p:cNvSpPr>
            <p:nvPr/>
          </p:nvSpPr>
          <p:spPr bwMode="auto">
            <a:xfrm>
              <a:off x="2290"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5" name="Rectangle 297">
              <a:extLst>
                <a:ext uri="{FF2B5EF4-FFF2-40B4-BE49-F238E27FC236}">
                  <a16:creationId xmlns:a16="http://schemas.microsoft.com/office/drawing/2014/main" id="{81CE1005-9EE5-F14D-9A5C-F1D8B2B13B8B}"/>
                </a:ext>
              </a:extLst>
            </p:cNvPr>
            <p:cNvSpPr>
              <a:spLocks noChangeArrowheads="1"/>
            </p:cNvSpPr>
            <p:nvPr/>
          </p:nvSpPr>
          <p:spPr bwMode="auto">
            <a:xfrm>
              <a:off x="2244" y="2205"/>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6" name="Rectangle 310">
              <a:extLst>
                <a:ext uri="{FF2B5EF4-FFF2-40B4-BE49-F238E27FC236}">
                  <a16:creationId xmlns:a16="http://schemas.microsoft.com/office/drawing/2014/main" id="{96F97D0B-A73A-8842-8FB6-8896567DFFA0}"/>
                </a:ext>
              </a:extLst>
            </p:cNvPr>
            <p:cNvSpPr>
              <a:spLocks noChangeArrowheads="1"/>
            </p:cNvSpPr>
            <p:nvPr/>
          </p:nvSpPr>
          <p:spPr bwMode="auto">
            <a:xfrm>
              <a:off x="2199" y="216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7" name="Rectangle 311">
              <a:extLst>
                <a:ext uri="{FF2B5EF4-FFF2-40B4-BE49-F238E27FC236}">
                  <a16:creationId xmlns:a16="http://schemas.microsoft.com/office/drawing/2014/main" id="{2DF7A810-8EE7-234A-ABA5-879FD41E1DD8}"/>
                </a:ext>
              </a:extLst>
            </p:cNvPr>
            <p:cNvSpPr>
              <a:spLocks noChangeArrowheads="1"/>
            </p:cNvSpPr>
            <p:nvPr/>
          </p:nvSpPr>
          <p:spPr bwMode="auto">
            <a:xfrm>
              <a:off x="2154" y="216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8" name="Rectangle 312">
              <a:extLst>
                <a:ext uri="{FF2B5EF4-FFF2-40B4-BE49-F238E27FC236}">
                  <a16:creationId xmlns:a16="http://schemas.microsoft.com/office/drawing/2014/main" id="{3A337AF3-A4CB-6845-89B7-4F14A97B2F41}"/>
                </a:ext>
              </a:extLst>
            </p:cNvPr>
            <p:cNvSpPr>
              <a:spLocks noChangeArrowheads="1"/>
            </p:cNvSpPr>
            <p:nvPr/>
          </p:nvSpPr>
          <p:spPr bwMode="auto">
            <a:xfrm>
              <a:off x="2108" y="216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09" name="Rectangle 314">
              <a:extLst>
                <a:ext uri="{FF2B5EF4-FFF2-40B4-BE49-F238E27FC236}">
                  <a16:creationId xmlns:a16="http://schemas.microsoft.com/office/drawing/2014/main" id="{426E415C-F268-574E-8B9A-10B698B9FBAD}"/>
                </a:ext>
              </a:extLst>
            </p:cNvPr>
            <p:cNvSpPr>
              <a:spLocks noChangeArrowheads="1"/>
            </p:cNvSpPr>
            <p:nvPr/>
          </p:nvSpPr>
          <p:spPr bwMode="auto">
            <a:xfrm>
              <a:off x="2290" y="216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0" name="Rectangle 315">
              <a:extLst>
                <a:ext uri="{FF2B5EF4-FFF2-40B4-BE49-F238E27FC236}">
                  <a16:creationId xmlns:a16="http://schemas.microsoft.com/office/drawing/2014/main" id="{4280ED85-AC42-1648-8BF1-43FB64FB53E3}"/>
                </a:ext>
              </a:extLst>
            </p:cNvPr>
            <p:cNvSpPr>
              <a:spLocks noChangeArrowheads="1"/>
            </p:cNvSpPr>
            <p:nvPr/>
          </p:nvSpPr>
          <p:spPr bwMode="auto">
            <a:xfrm>
              <a:off x="2244" y="216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1" name="Rectangle 328">
              <a:extLst>
                <a:ext uri="{FF2B5EF4-FFF2-40B4-BE49-F238E27FC236}">
                  <a16:creationId xmlns:a16="http://schemas.microsoft.com/office/drawing/2014/main" id="{EEE37DCD-DDBC-3E41-AEB5-2F558256D736}"/>
                </a:ext>
              </a:extLst>
            </p:cNvPr>
            <p:cNvSpPr>
              <a:spLocks noChangeArrowheads="1"/>
            </p:cNvSpPr>
            <p:nvPr/>
          </p:nvSpPr>
          <p:spPr bwMode="auto">
            <a:xfrm>
              <a:off x="2199" y="21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2" name="Rectangle 329">
              <a:extLst>
                <a:ext uri="{FF2B5EF4-FFF2-40B4-BE49-F238E27FC236}">
                  <a16:creationId xmlns:a16="http://schemas.microsoft.com/office/drawing/2014/main" id="{AA205C7C-7DBD-2142-979E-621EE7DAE16E}"/>
                </a:ext>
              </a:extLst>
            </p:cNvPr>
            <p:cNvSpPr>
              <a:spLocks noChangeArrowheads="1"/>
            </p:cNvSpPr>
            <p:nvPr/>
          </p:nvSpPr>
          <p:spPr bwMode="auto">
            <a:xfrm>
              <a:off x="2154" y="21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3" name="Rectangle 333">
              <a:extLst>
                <a:ext uri="{FF2B5EF4-FFF2-40B4-BE49-F238E27FC236}">
                  <a16:creationId xmlns:a16="http://schemas.microsoft.com/office/drawing/2014/main" id="{5ECE1216-0476-E346-9654-BCDF80AA87CF}"/>
                </a:ext>
              </a:extLst>
            </p:cNvPr>
            <p:cNvSpPr>
              <a:spLocks noChangeArrowheads="1"/>
            </p:cNvSpPr>
            <p:nvPr/>
          </p:nvSpPr>
          <p:spPr bwMode="auto">
            <a:xfrm>
              <a:off x="2244" y="211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4" name="Rectangle 346">
              <a:extLst>
                <a:ext uri="{FF2B5EF4-FFF2-40B4-BE49-F238E27FC236}">
                  <a16:creationId xmlns:a16="http://schemas.microsoft.com/office/drawing/2014/main" id="{BE7EA4BC-CC71-3F42-BA99-41B362AE6E8D}"/>
                </a:ext>
              </a:extLst>
            </p:cNvPr>
            <p:cNvSpPr>
              <a:spLocks noChangeArrowheads="1"/>
            </p:cNvSpPr>
            <p:nvPr/>
          </p:nvSpPr>
          <p:spPr bwMode="auto">
            <a:xfrm>
              <a:off x="2199" y="207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5" name="Rectangle 351">
              <a:extLst>
                <a:ext uri="{FF2B5EF4-FFF2-40B4-BE49-F238E27FC236}">
                  <a16:creationId xmlns:a16="http://schemas.microsoft.com/office/drawing/2014/main" id="{E38535E0-0B66-7C47-8DD0-70CAE9C0ABE4}"/>
                </a:ext>
              </a:extLst>
            </p:cNvPr>
            <p:cNvSpPr>
              <a:spLocks noChangeArrowheads="1"/>
            </p:cNvSpPr>
            <p:nvPr/>
          </p:nvSpPr>
          <p:spPr bwMode="auto">
            <a:xfrm>
              <a:off x="2244" y="2070"/>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1316" name="Rectangle 364">
              <a:extLst>
                <a:ext uri="{FF2B5EF4-FFF2-40B4-BE49-F238E27FC236}">
                  <a16:creationId xmlns:a16="http://schemas.microsoft.com/office/drawing/2014/main" id="{DBC0B374-ADFE-024D-9928-08FF39DB6B21}"/>
                </a:ext>
              </a:extLst>
            </p:cNvPr>
            <p:cNvSpPr>
              <a:spLocks noChangeArrowheads="1"/>
            </p:cNvSpPr>
            <p:nvPr/>
          </p:nvSpPr>
          <p:spPr bwMode="auto">
            <a:xfrm>
              <a:off x="2199" y="2024"/>
              <a:ext cx="46" cy="4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grpSp>
      <p:sp>
        <p:nvSpPr>
          <p:cNvPr id="2" name="Slide Number Placeholder 1">
            <a:extLst>
              <a:ext uri="{FF2B5EF4-FFF2-40B4-BE49-F238E27FC236}">
                <a16:creationId xmlns:a16="http://schemas.microsoft.com/office/drawing/2014/main" id="{A2BAB7DA-27FE-ED43-AB7B-BC434DE69817}"/>
              </a:ext>
            </a:extLst>
          </p:cNvPr>
          <p:cNvSpPr>
            <a:spLocks noGrp="1"/>
          </p:cNvSpPr>
          <p:nvPr>
            <p:ph type="sldNum" sz="quarter" idx="12"/>
          </p:nvPr>
        </p:nvSpPr>
        <p:spPr/>
        <p:txBody>
          <a:bodyPr/>
          <a:lstStyle/>
          <a:p>
            <a:fld id="{92124849-AE39-1947-AFA1-94AB1ABB4CD1}"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E186DF67-B6C2-484F-81D4-888B321AC8F7}"/>
              </a:ext>
            </a:extLst>
          </p:cNvPr>
          <p:cNvSpPr>
            <a:spLocks noGrp="1" noChangeArrowheads="1"/>
          </p:cNvSpPr>
          <p:nvPr>
            <p:ph type="title"/>
          </p:nvPr>
        </p:nvSpPr>
        <p:spPr/>
        <p:txBody>
          <a:bodyPr/>
          <a:lstStyle/>
          <a:p>
            <a:pPr eaLnBrk="1" hangingPunct="1"/>
            <a:r>
              <a:rPr lang="en-US" altLang="en-US" sz="4000"/>
              <a:t>Fragment Processing</a:t>
            </a:r>
            <a:endParaRPr lang="el-GR" altLang="en-US" sz="4000"/>
          </a:p>
        </p:txBody>
      </p:sp>
      <p:sp>
        <p:nvSpPr>
          <p:cNvPr id="52226" name="Rectangle 3">
            <a:extLst>
              <a:ext uri="{FF2B5EF4-FFF2-40B4-BE49-F238E27FC236}">
                <a16:creationId xmlns:a16="http://schemas.microsoft.com/office/drawing/2014/main" id="{0C3D6962-B1BC-674A-8DC3-C5660CD7CCDA}"/>
              </a:ext>
            </a:extLst>
          </p:cNvPr>
          <p:cNvSpPr>
            <a:spLocks noGrp="1" noChangeArrowheads="1"/>
          </p:cNvSpPr>
          <p:nvPr>
            <p:ph type="body" idx="1"/>
          </p:nvPr>
        </p:nvSpPr>
        <p:spPr/>
        <p:txBody>
          <a:bodyPr/>
          <a:lstStyle/>
          <a:p>
            <a:pPr eaLnBrk="1" hangingPunct="1"/>
            <a:r>
              <a:rPr lang="en-US" altLang="en-US" sz="2400"/>
              <a:t>Each fragment provided by triangle setup is fed into fragment processing as a set of attributes (position, normal, texcoord etc), which are used to compute the final color for this pixel</a:t>
            </a:r>
          </a:p>
          <a:p>
            <a:pPr eaLnBrk="1" hangingPunct="1"/>
            <a:r>
              <a:rPr lang="en-US" altLang="en-US" sz="2400"/>
              <a:t>The computations taking place here include texture mapping and math operations</a:t>
            </a:r>
          </a:p>
          <a:p>
            <a:pPr eaLnBrk="1" hangingPunct="1"/>
            <a:r>
              <a:rPr lang="en-US" altLang="en-US" sz="2400"/>
              <a:t>Typically the bottleneck in modern applications</a:t>
            </a:r>
            <a:endParaRPr lang="el-GR" altLang="en-US" sz="2400"/>
          </a:p>
        </p:txBody>
      </p:sp>
      <p:grpSp>
        <p:nvGrpSpPr>
          <p:cNvPr id="52227" name="Group 4">
            <a:extLst>
              <a:ext uri="{FF2B5EF4-FFF2-40B4-BE49-F238E27FC236}">
                <a16:creationId xmlns:a16="http://schemas.microsoft.com/office/drawing/2014/main" id="{F2D7E21F-D78B-5245-87B4-33201AC3B9FF}"/>
              </a:ext>
            </a:extLst>
          </p:cNvPr>
          <p:cNvGrpSpPr>
            <a:grpSpLocks/>
          </p:cNvGrpSpPr>
          <p:nvPr/>
        </p:nvGrpSpPr>
        <p:grpSpPr bwMode="auto">
          <a:xfrm>
            <a:off x="2495550" y="4868863"/>
            <a:ext cx="7200900" cy="863600"/>
            <a:chOff x="748" y="1616"/>
            <a:chExt cx="4536" cy="544"/>
          </a:xfrm>
        </p:grpSpPr>
        <p:sp>
          <p:nvSpPr>
            <p:cNvPr id="52228" name="Rectangle 5">
              <a:extLst>
                <a:ext uri="{FF2B5EF4-FFF2-40B4-BE49-F238E27FC236}">
                  <a16:creationId xmlns:a16="http://schemas.microsoft.com/office/drawing/2014/main" id="{3200C8F3-6556-3D43-916D-2365A125C80F}"/>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52229" name="Rectangle 6">
              <a:extLst>
                <a:ext uri="{FF2B5EF4-FFF2-40B4-BE49-F238E27FC236}">
                  <a16:creationId xmlns:a16="http://schemas.microsoft.com/office/drawing/2014/main" id="{93E89E04-0DAC-8E4F-8717-AC44BEE431B9}"/>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52230" name="Rectangle 7">
              <a:extLst>
                <a:ext uri="{FF2B5EF4-FFF2-40B4-BE49-F238E27FC236}">
                  <a16:creationId xmlns:a16="http://schemas.microsoft.com/office/drawing/2014/main" id="{84BF1B93-3F95-A943-B901-41A19D2A34F2}"/>
                </a:ext>
              </a:extLst>
            </p:cNvPr>
            <p:cNvSpPr>
              <a:spLocks noChangeArrowheads="1"/>
            </p:cNvSpPr>
            <p:nvPr/>
          </p:nvSpPr>
          <p:spPr bwMode="auto">
            <a:xfrm>
              <a:off x="2653" y="1616"/>
              <a:ext cx="726" cy="5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52231" name="Rectangle 8">
              <a:extLst>
                <a:ext uri="{FF2B5EF4-FFF2-40B4-BE49-F238E27FC236}">
                  <a16:creationId xmlns:a16="http://schemas.microsoft.com/office/drawing/2014/main" id="{46F5F268-2C87-4E4A-97F2-123A486B496E}"/>
                </a:ext>
              </a:extLst>
            </p:cNvPr>
            <p:cNvSpPr>
              <a:spLocks noChangeArrowheads="1"/>
            </p:cNvSpPr>
            <p:nvPr/>
          </p:nvSpPr>
          <p:spPr bwMode="auto">
            <a:xfrm>
              <a:off x="3606"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52232" name="Rectangle 9">
              <a:extLst>
                <a:ext uri="{FF2B5EF4-FFF2-40B4-BE49-F238E27FC236}">
                  <a16:creationId xmlns:a16="http://schemas.microsoft.com/office/drawing/2014/main" id="{0CEAC2DE-B9A9-9744-B357-D10F0D081D1B}"/>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52233" name="Line 10">
              <a:extLst>
                <a:ext uri="{FF2B5EF4-FFF2-40B4-BE49-F238E27FC236}">
                  <a16:creationId xmlns:a16="http://schemas.microsoft.com/office/drawing/2014/main" id="{DE422DA3-0DA1-B140-A1D5-6B86EF41FE66}"/>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234" name="Line 11">
              <a:extLst>
                <a:ext uri="{FF2B5EF4-FFF2-40B4-BE49-F238E27FC236}">
                  <a16:creationId xmlns:a16="http://schemas.microsoft.com/office/drawing/2014/main" id="{673F24CA-C964-0141-AA0A-222844FD5F0B}"/>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235" name="Line 12">
              <a:extLst>
                <a:ext uri="{FF2B5EF4-FFF2-40B4-BE49-F238E27FC236}">
                  <a16:creationId xmlns:a16="http://schemas.microsoft.com/office/drawing/2014/main" id="{0DBA3717-CC38-9643-958D-DBA15679001E}"/>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236" name="Line 13">
              <a:extLst>
                <a:ext uri="{FF2B5EF4-FFF2-40B4-BE49-F238E27FC236}">
                  <a16:creationId xmlns:a16="http://schemas.microsoft.com/office/drawing/2014/main" id="{3C27DD6F-FC0A-4A46-84B2-70A950D2EB04}"/>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4B0ADCD7-F3D3-754E-B705-B0911D50D554}"/>
              </a:ext>
            </a:extLst>
          </p:cNvPr>
          <p:cNvSpPr>
            <a:spLocks noGrp="1"/>
          </p:cNvSpPr>
          <p:nvPr>
            <p:ph type="sldNum" sz="quarter" idx="12"/>
          </p:nvPr>
        </p:nvSpPr>
        <p:spPr/>
        <p:txBody>
          <a:bodyPr/>
          <a:lstStyle/>
          <a:p>
            <a:fld id="{92124849-AE39-1947-AFA1-94AB1ABB4CD1}"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39962266-80A2-A547-9035-F9D31B086B14}"/>
              </a:ext>
            </a:extLst>
          </p:cNvPr>
          <p:cNvSpPr>
            <a:spLocks noGrp="1" noChangeArrowheads="1"/>
          </p:cNvSpPr>
          <p:nvPr>
            <p:ph type="title"/>
          </p:nvPr>
        </p:nvSpPr>
        <p:spPr/>
        <p:txBody>
          <a:bodyPr/>
          <a:lstStyle/>
          <a:p>
            <a:pPr eaLnBrk="1" hangingPunct="1"/>
            <a:r>
              <a:rPr lang="en-US" altLang="en-US" sz="4000"/>
              <a:t>Memory Interface</a:t>
            </a:r>
            <a:endParaRPr lang="el-GR" altLang="en-US" sz="4000"/>
          </a:p>
        </p:txBody>
      </p:sp>
      <p:sp>
        <p:nvSpPr>
          <p:cNvPr id="53250" name="Rectangle 3">
            <a:extLst>
              <a:ext uri="{FF2B5EF4-FFF2-40B4-BE49-F238E27FC236}">
                <a16:creationId xmlns:a16="http://schemas.microsoft.com/office/drawing/2014/main" id="{4AEDE022-1D16-8543-9A7E-D42143C94760}"/>
              </a:ext>
            </a:extLst>
          </p:cNvPr>
          <p:cNvSpPr>
            <a:spLocks noGrp="1" noChangeArrowheads="1"/>
          </p:cNvSpPr>
          <p:nvPr>
            <p:ph type="body" idx="1"/>
          </p:nvPr>
        </p:nvSpPr>
        <p:spPr/>
        <p:txBody>
          <a:bodyPr/>
          <a:lstStyle/>
          <a:p>
            <a:pPr eaLnBrk="1" hangingPunct="1"/>
            <a:r>
              <a:rPr lang="en-US" altLang="en-US" sz="2400"/>
              <a:t>Fragment colors provided by the previous stage are written to the framebuffer</a:t>
            </a:r>
          </a:p>
          <a:p>
            <a:pPr eaLnBrk="1" hangingPunct="1"/>
            <a:r>
              <a:rPr lang="en-US" altLang="en-US" sz="2400"/>
              <a:t>Used to be the biggest bottleneck before fragment processing took over</a:t>
            </a:r>
          </a:p>
          <a:p>
            <a:pPr eaLnBrk="1" hangingPunct="1"/>
            <a:r>
              <a:rPr lang="en-US" altLang="en-US" sz="2400"/>
              <a:t>Before the final write occurs, some fragments are rejected by the zbuffer, stencil and alpha tests</a:t>
            </a:r>
          </a:p>
          <a:p>
            <a:pPr eaLnBrk="1" hangingPunct="1"/>
            <a:r>
              <a:rPr lang="en-US" altLang="en-US" sz="2400"/>
              <a:t>On modern GPUs, z and color are compressed to reduce framebuffer bandwidth (but not size)</a:t>
            </a:r>
            <a:endParaRPr lang="el-GR" altLang="en-US" sz="2400"/>
          </a:p>
        </p:txBody>
      </p:sp>
      <p:grpSp>
        <p:nvGrpSpPr>
          <p:cNvPr id="53251" name="Group 4">
            <a:extLst>
              <a:ext uri="{FF2B5EF4-FFF2-40B4-BE49-F238E27FC236}">
                <a16:creationId xmlns:a16="http://schemas.microsoft.com/office/drawing/2014/main" id="{87A09DF9-1C1A-674E-A928-6C181D1AF064}"/>
              </a:ext>
            </a:extLst>
          </p:cNvPr>
          <p:cNvGrpSpPr>
            <a:grpSpLocks/>
          </p:cNvGrpSpPr>
          <p:nvPr/>
        </p:nvGrpSpPr>
        <p:grpSpPr bwMode="auto">
          <a:xfrm>
            <a:off x="2495550" y="4868863"/>
            <a:ext cx="7200900" cy="863600"/>
            <a:chOff x="748" y="1616"/>
            <a:chExt cx="4536" cy="544"/>
          </a:xfrm>
        </p:grpSpPr>
        <p:sp>
          <p:nvSpPr>
            <p:cNvPr id="53252" name="Rectangle 5">
              <a:extLst>
                <a:ext uri="{FF2B5EF4-FFF2-40B4-BE49-F238E27FC236}">
                  <a16:creationId xmlns:a16="http://schemas.microsoft.com/office/drawing/2014/main" id="{E6B48B7F-1401-374A-938D-3286074B7D14}"/>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53253" name="Rectangle 6">
              <a:extLst>
                <a:ext uri="{FF2B5EF4-FFF2-40B4-BE49-F238E27FC236}">
                  <a16:creationId xmlns:a16="http://schemas.microsoft.com/office/drawing/2014/main" id="{09BD065E-205E-D345-869E-F36C9A5D8728}"/>
                </a:ext>
              </a:extLst>
            </p:cNvPr>
            <p:cNvSpPr>
              <a:spLocks noChangeArrowheads="1"/>
            </p:cNvSpPr>
            <p:nvPr/>
          </p:nvSpPr>
          <p:spPr bwMode="auto">
            <a:xfrm>
              <a:off x="1701"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53254" name="Rectangle 7">
              <a:extLst>
                <a:ext uri="{FF2B5EF4-FFF2-40B4-BE49-F238E27FC236}">
                  <a16:creationId xmlns:a16="http://schemas.microsoft.com/office/drawing/2014/main" id="{32C7E872-74C2-4340-9123-292D4FEE2140}"/>
                </a:ext>
              </a:extLst>
            </p:cNvPr>
            <p:cNvSpPr>
              <a:spLocks noChangeArrowheads="1"/>
            </p:cNvSpPr>
            <p:nvPr/>
          </p:nvSpPr>
          <p:spPr bwMode="auto">
            <a:xfrm>
              <a:off x="2653" y="1616"/>
              <a:ext cx="726" cy="5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53255" name="Rectangle 8">
              <a:extLst>
                <a:ext uri="{FF2B5EF4-FFF2-40B4-BE49-F238E27FC236}">
                  <a16:creationId xmlns:a16="http://schemas.microsoft.com/office/drawing/2014/main" id="{66623EDD-5D39-704B-9388-FDDDABC3176F}"/>
                </a:ext>
              </a:extLst>
            </p:cNvPr>
            <p:cNvSpPr>
              <a:spLocks noChangeArrowheads="1"/>
            </p:cNvSpPr>
            <p:nvPr/>
          </p:nvSpPr>
          <p:spPr bwMode="auto">
            <a:xfrm>
              <a:off x="3606"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53256" name="Rectangle 9">
              <a:extLst>
                <a:ext uri="{FF2B5EF4-FFF2-40B4-BE49-F238E27FC236}">
                  <a16:creationId xmlns:a16="http://schemas.microsoft.com/office/drawing/2014/main" id="{A85876C4-67F9-5540-9D8B-4E8414346230}"/>
                </a:ext>
              </a:extLst>
            </p:cNvPr>
            <p:cNvSpPr>
              <a:spLocks noChangeArrowheads="1"/>
            </p:cNvSpPr>
            <p:nvPr/>
          </p:nvSpPr>
          <p:spPr bwMode="auto">
            <a:xfrm>
              <a:off x="4558" y="1616"/>
              <a:ext cx="726" cy="5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53257" name="Line 10">
              <a:extLst>
                <a:ext uri="{FF2B5EF4-FFF2-40B4-BE49-F238E27FC236}">
                  <a16:creationId xmlns:a16="http://schemas.microsoft.com/office/drawing/2014/main" id="{B8846C68-D5E5-FC41-AA18-3A6C96D458B8}"/>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3258" name="Line 11">
              <a:extLst>
                <a:ext uri="{FF2B5EF4-FFF2-40B4-BE49-F238E27FC236}">
                  <a16:creationId xmlns:a16="http://schemas.microsoft.com/office/drawing/2014/main" id="{83B83C07-59BF-5C47-8471-9FDA53B6AAAB}"/>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3259" name="Line 12">
              <a:extLst>
                <a:ext uri="{FF2B5EF4-FFF2-40B4-BE49-F238E27FC236}">
                  <a16:creationId xmlns:a16="http://schemas.microsoft.com/office/drawing/2014/main" id="{7D18597B-4E74-6246-A3C8-EBD1A64915DA}"/>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3260" name="Line 13">
              <a:extLst>
                <a:ext uri="{FF2B5EF4-FFF2-40B4-BE49-F238E27FC236}">
                  <a16:creationId xmlns:a16="http://schemas.microsoft.com/office/drawing/2014/main" id="{55B69248-FC92-984F-BF6E-EE2A9BC00769}"/>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5DE06A99-DC6B-F041-BE65-CA97B30F87FA}"/>
              </a:ext>
            </a:extLst>
          </p:cNvPr>
          <p:cNvSpPr>
            <a:spLocks noGrp="1"/>
          </p:cNvSpPr>
          <p:nvPr>
            <p:ph type="sldNum" sz="quarter" idx="12"/>
          </p:nvPr>
        </p:nvSpPr>
        <p:spPr/>
        <p:txBody>
          <a:bodyPr/>
          <a:lstStyle/>
          <a:p>
            <a:fld id="{92124849-AE39-1947-AFA1-94AB1ABB4CD1}"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A26D08D8-3C23-7F4C-8562-E68B31D9060D}"/>
              </a:ext>
            </a:extLst>
          </p:cNvPr>
          <p:cNvSpPr>
            <a:spLocks noGrp="1" noChangeArrowheads="1"/>
          </p:cNvSpPr>
          <p:nvPr>
            <p:ph type="title"/>
          </p:nvPr>
        </p:nvSpPr>
        <p:spPr/>
        <p:txBody>
          <a:bodyPr/>
          <a:lstStyle/>
          <a:p>
            <a:pPr eaLnBrk="1" hangingPunct="1"/>
            <a:r>
              <a:rPr lang="en-US" altLang="en-US" sz="4000"/>
              <a:t>Programmability in the GPU</a:t>
            </a:r>
            <a:endParaRPr lang="el-GR" altLang="en-US" sz="4000"/>
          </a:p>
        </p:txBody>
      </p:sp>
      <p:sp>
        <p:nvSpPr>
          <p:cNvPr id="54274" name="Rectangle 3">
            <a:extLst>
              <a:ext uri="{FF2B5EF4-FFF2-40B4-BE49-F238E27FC236}">
                <a16:creationId xmlns:a16="http://schemas.microsoft.com/office/drawing/2014/main" id="{CD483082-F4F4-214D-8FCE-3CFBE0F14CAF}"/>
              </a:ext>
            </a:extLst>
          </p:cNvPr>
          <p:cNvSpPr>
            <a:spLocks noGrp="1" noChangeArrowheads="1"/>
          </p:cNvSpPr>
          <p:nvPr>
            <p:ph type="body" idx="1"/>
          </p:nvPr>
        </p:nvSpPr>
        <p:spPr/>
        <p:txBody>
          <a:bodyPr/>
          <a:lstStyle/>
          <a:p>
            <a:pPr eaLnBrk="1" hangingPunct="1"/>
            <a:r>
              <a:rPr lang="en-US" altLang="en-US" sz="2400"/>
              <a:t>Vertex and fragment processing, and now triangle set-up, are programmable</a:t>
            </a:r>
          </a:p>
          <a:p>
            <a:pPr eaLnBrk="1" hangingPunct="1"/>
            <a:r>
              <a:rPr lang="en-US" altLang="en-US" sz="2400"/>
              <a:t>The programmer can write programs that are executed for every vertex as well as for every fragment</a:t>
            </a:r>
          </a:p>
          <a:p>
            <a:pPr eaLnBrk="1" hangingPunct="1"/>
            <a:r>
              <a:rPr lang="en-US" altLang="en-US" sz="2400"/>
              <a:t>This allows fully customizable geometry and shading effects that go well beyond the generic look and feel of older 3D applications</a:t>
            </a:r>
            <a:endParaRPr lang="el-GR" altLang="en-US" sz="2400"/>
          </a:p>
        </p:txBody>
      </p:sp>
      <p:grpSp>
        <p:nvGrpSpPr>
          <p:cNvPr id="54275" name="Group 4">
            <a:extLst>
              <a:ext uri="{FF2B5EF4-FFF2-40B4-BE49-F238E27FC236}">
                <a16:creationId xmlns:a16="http://schemas.microsoft.com/office/drawing/2014/main" id="{77118B7F-2741-2143-A02E-7E09F695902E}"/>
              </a:ext>
            </a:extLst>
          </p:cNvPr>
          <p:cNvGrpSpPr>
            <a:grpSpLocks/>
          </p:cNvGrpSpPr>
          <p:nvPr/>
        </p:nvGrpSpPr>
        <p:grpSpPr bwMode="auto">
          <a:xfrm>
            <a:off x="2495550" y="4868863"/>
            <a:ext cx="7200900" cy="863600"/>
            <a:chOff x="748" y="1616"/>
            <a:chExt cx="4536" cy="544"/>
          </a:xfrm>
        </p:grpSpPr>
        <p:sp>
          <p:nvSpPr>
            <p:cNvPr id="54276" name="Rectangle 5">
              <a:extLst>
                <a:ext uri="{FF2B5EF4-FFF2-40B4-BE49-F238E27FC236}">
                  <a16:creationId xmlns:a16="http://schemas.microsoft.com/office/drawing/2014/main" id="{0CB6414D-C7BC-BA4D-AFAD-5A24FBF4913F}"/>
                </a:ext>
              </a:extLst>
            </p:cNvPr>
            <p:cNvSpPr>
              <a:spLocks noChangeArrowheads="1"/>
            </p:cNvSpPr>
            <p:nvPr/>
          </p:nvSpPr>
          <p:spPr bwMode="auto">
            <a:xfrm>
              <a:off x="74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host</a:t>
              </a:r>
            </a:p>
            <a:p>
              <a:pPr>
                <a:spcBef>
                  <a:spcPct val="0"/>
                </a:spcBef>
                <a:buClrTx/>
                <a:buSzTx/>
                <a:buFontTx/>
                <a:buNone/>
              </a:pPr>
              <a:r>
                <a:rPr lang="en-US" altLang="en-US" sz="1800"/>
                <a:t>interface</a:t>
              </a:r>
              <a:endParaRPr lang="el-GR" altLang="en-US" sz="1800"/>
            </a:p>
          </p:txBody>
        </p:sp>
        <p:sp>
          <p:nvSpPr>
            <p:cNvPr id="54277" name="Rectangle 6">
              <a:extLst>
                <a:ext uri="{FF2B5EF4-FFF2-40B4-BE49-F238E27FC236}">
                  <a16:creationId xmlns:a16="http://schemas.microsoft.com/office/drawing/2014/main" id="{E8D8F925-9ED0-244C-8831-2BAD12D66449}"/>
                </a:ext>
              </a:extLst>
            </p:cNvPr>
            <p:cNvSpPr>
              <a:spLocks noChangeArrowheads="1"/>
            </p:cNvSpPr>
            <p:nvPr/>
          </p:nvSpPr>
          <p:spPr bwMode="auto">
            <a:xfrm>
              <a:off x="1701" y="1616"/>
              <a:ext cx="726" cy="544"/>
            </a:xfrm>
            <a:prstGeom prst="rect">
              <a:avLst/>
            </a:prstGeom>
            <a:solidFill>
              <a:srgbClr val="FFFF00"/>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vertex</a:t>
              </a:r>
            </a:p>
            <a:p>
              <a:pPr>
                <a:spcBef>
                  <a:spcPct val="0"/>
                </a:spcBef>
                <a:buClrTx/>
                <a:buSzTx/>
                <a:buFontTx/>
                <a:buNone/>
              </a:pPr>
              <a:r>
                <a:rPr lang="en-US" altLang="en-US" sz="1800"/>
                <a:t>processing</a:t>
              </a:r>
              <a:endParaRPr lang="el-GR" altLang="en-US" sz="1800"/>
            </a:p>
          </p:txBody>
        </p:sp>
        <p:sp>
          <p:nvSpPr>
            <p:cNvPr id="54278" name="Rectangle 7">
              <a:extLst>
                <a:ext uri="{FF2B5EF4-FFF2-40B4-BE49-F238E27FC236}">
                  <a16:creationId xmlns:a16="http://schemas.microsoft.com/office/drawing/2014/main" id="{A8B31901-2D51-3049-A245-3B11509C1ABE}"/>
                </a:ext>
              </a:extLst>
            </p:cNvPr>
            <p:cNvSpPr>
              <a:spLocks noChangeArrowheads="1"/>
            </p:cNvSpPr>
            <p:nvPr/>
          </p:nvSpPr>
          <p:spPr bwMode="auto">
            <a:xfrm>
              <a:off x="2653" y="1616"/>
              <a:ext cx="726" cy="5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triangle</a:t>
              </a:r>
            </a:p>
            <a:p>
              <a:pPr>
                <a:spcBef>
                  <a:spcPct val="0"/>
                </a:spcBef>
                <a:buClrTx/>
                <a:buSzTx/>
                <a:buFontTx/>
                <a:buNone/>
              </a:pPr>
              <a:r>
                <a:rPr lang="en-US" altLang="en-US" sz="1800"/>
                <a:t>setup</a:t>
              </a:r>
              <a:endParaRPr lang="el-GR" altLang="en-US" sz="1800"/>
            </a:p>
          </p:txBody>
        </p:sp>
        <p:sp>
          <p:nvSpPr>
            <p:cNvPr id="54279" name="Rectangle 8">
              <a:extLst>
                <a:ext uri="{FF2B5EF4-FFF2-40B4-BE49-F238E27FC236}">
                  <a16:creationId xmlns:a16="http://schemas.microsoft.com/office/drawing/2014/main" id="{2265B5D3-85C3-EB49-AD4E-973738A7B87E}"/>
                </a:ext>
              </a:extLst>
            </p:cNvPr>
            <p:cNvSpPr>
              <a:spLocks noChangeArrowheads="1"/>
            </p:cNvSpPr>
            <p:nvPr/>
          </p:nvSpPr>
          <p:spPr bwMode="auto">
            <a:xfrm>
              <a:off x="3606" y="1616"/>
              <a:ext cx="726" cy="544"/>
            </a:xfrm>
            <a:prstGeom prst="rect">
              <a:avLst/>
            </a:prstGeom>
            <a:solidFill>
              <a:srgbClr val="FFFF00"/>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pixel</a:t>
              </a:r>
            </a:p>
            <a:p>
              <a:pPr>
                <a:spcBef>
                  <a:spcPct val="0"/>
                </a:spcBef>
                <a:buClrTx/>
                <a:buSzTx/>
                <a:buFontTx/>
                <a:buNone/>
              </a:pPr>
              <a:r>
                <a:rPr lang="en-US" altLang="en-US" sz="1800"/>
                <a:t> processing </a:t>
              </a:r>
              <a:endParaRPr lang="el-GR" altLang="en-US" sz="1800"/>
            </a:p>
          </p:txBody>
        </p:sp>
        <p:sp>
          <p:nvSpPr>
            <p:cNvPr id="54280" name="Rectangle 9">
              <a:extLst>
                <a:ext uri="{FF2B5EF4-FFF2-40B4-BE49-F238E27FC236}">
                  <a16:creationId xmlns:a16="http://schemas.microsoft.com/office/drawing/2014/main" id="{6C0A0DD4-F1B4-C241-8ACB-2877075E6515}"/>
                </a:ext>
              </a:extLst>
            </p:cNvPr>
            <p:cNvSpPr>
              <a:spLocks noChangeArrowheads="1"/>
            </p:cNvSpPr>
            <p:nvPr/>
          </p:nvSpPr>
          <p:spPr bwMode="auto">
            <a:xfrm>
              <a:off x="4558" y="1616"/>
              <a:ext cx="726" cy="544"/>
            </a:xfrm>
            <a:prstGeom prst="rect">
              <a:avLst/>
            </a:prstGeom>
            <a:solidFill>
              <a:schemeClr val="bg1"/>
            </a:solidFill>
            <a:ln w="9525">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memory</a:t>
              </a:r>
            </a:p>
            <a:p>
              <a:pPr>
                <a:spcBef>
                  <a:spcPct val="0"/>
                </a:spcBef>
                <a:buClrTx/>
                <a:buSzTx/>
                <a:buFontTx/>
                <a:buNone/>
              </a:pPr>
              <a:r>
                <a:rPr lang="en-US" altLang="en-US" sz="1800"/>
                <a:t>interface</a:t>
              </a:r>
              <a:endParaRPr lang="el-GR" altLang="en-US" sz="1800"/>
            </a:p>
          </p:txBody>
        </p:sp>
        <p:sp>
          <p:nvSpPr>
            <p:cNvPr id="54281" name="Line 10">
              <a:extLst>
                <a:ext uri="{FF2B5EF4-FFF2-40B4-BE49-F238E27FC236}">
                  <a16:creationId xmlns:a16="http://schemas.microsoft.com/office/drawing/2014/main" id="{F296033C-A41C-594F-A3A0-7FCAB89A3675}"/>
                </a:ext>
              </a:extLst>
            </p:cNvPr>
            <p:cNvSpPr>
              <a:spLocks noChangeShapeType="1"/>
            </p:cNvSpPr>
            <p:nvPr/>
          </p:nvSpPr>
          <p:spPr bwMode="auto">
            <a:xfrm>
              <a:off x="1474"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282" name="Line 11">
              <a:extLst>
                <a:ext uri="{FF2B5EF4-FFF2-40B4-BE49-F238E27FC236}">
                  <a16:creationId xmlns:a16="http://schemas.microsoft.com/office/drawing/2014/main" id="{B988487B-579D-7447-B17E-482B8331BF91}"/>
                </a:ext>
              </a:extLst>
            </p:cNvPr>
            <p:cNvSpPr>
              <a:spLocks noChangeShapeType="1"/>
            </p:cNvSpPr>
            <p:nvPr/>
          </p:nvSpPr>
          <p:spPr bwMode="auto">
            <a:xfrm>
              <a:off x="2426"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283" name="Line 12">
              <a:extLst>
                <a:ext uri="{FF2B5EF4-FFF2-40B4-BE49-F238E27FC236}">
                  <a16:creationId xmlns:a16="http://schemas.microsoft.com/office/drawing/2014/main" id="{A9F08C8D-603E-9348-8F6D-62516BC33A6E}"/>
                </a:ext>
              </a:extLst>
            </p:cNvPr>
            <p:cNvSpPr>
              <a:spLocks noChangeShapeType="1"/>
            </p:cNvSpPr>
            <p:nvPr/>
          </p:nvSpPr>
          <p:spPr bwMode="auto">
            <a:xfrm>
              <a:off x="3379"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284" name="Line 13">
              <a:extLst>
                <a:ext uri="{FF2B5EF4-FFF2-40B4-BE49-F238E27FC236}">
                  <a16:creationId xmlns:a16="http://schemas.microsoft.com/office/drawing/2014/main" id="{DC9F8BA5-6DA4-8144-AA68-BE7794CD6DA7}"/>
                </a:ext>
              </a:extLst>
            </p:cNvPr>
            <p:cNvSpPr>
              <a:spLocks noChangeShapeType="1"/>
            </p:cNvSpPr>
            <p:nvPr/>
          </p:nvSpPr>
          <p:spPr bwMode="auto">
            <a:xfrm>
              <a:off x="4332" y="188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a:extLst>
              <a:ext uri="{FF2B5EF4-FFF2-40B4-BE49-F238E27FC236}">
                <a16:creationId xmlns:a16="http://schemas.microsoft.com/office/drawing/2014/main" id="{8BFA9800-320F-034B-9916-A3B94495DB1D}"/>
              </a:ext>
            </a:extLst>
          </p:cNvPr>
          <p:cNvSpPr>
            <a:spLocks noGrp="1"/>
          </p:cNvSpPr>
          <p:nvPr>
            <p:ph type="sldNum" sz="quarter" idx="12"/>
          </p:nvPr>
        </p:nvSpPr>
        <p:spPr/>
        <p:txBody>
          <a:bodyPr/>
          <a:lstStyle/>
          <a:p>
            <a:fld id="{92124849-AE39-1947-AFA1-94AB1ABB4CD1}"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3FB126A9-8512-1242-B904-6AA4CE4297A9}"/>
              </a:ext>
            </a:extLst>
          </p:cNvPr>
          <p:cNvSpPr>
            <a:spLocks noGrp="1" noChangeArrowheads="1"/>
          </p:cNvSpPr>
          <p:nvPr>
            <p:ph type="title"/>
          </p:nvPr>
        </p:nvSpPr>
        <p:spPr/>
        <p:txBody>
          <a:bodyPr/>
          <a:lstStyle/>
          <a:p>
            <a:pPr eaLnBrk="1" hangingPunct="1"/>
            <a:r>
              <a:rPr lang="en-US" altLang="en-US" sz="4000"/>
              <a:t>Diagram of a modern GPU</a:t>
            </a:r>
            <a:endParaRPr lang="el-GR" altLang="en-US" sz="4000"/>
          </a:p>
        </p:txBody>
      </p:sp>
      <p:grpSp>
        <p:nvGrpSpPr>
          <p:cNvPr id="55298" name="Group 102">
            <a:extLst>
              <a:ext uri="{FF2B5EF4-FFF2-40B4-BE49-F238E27FC236}">
                <a16:creationId xmlns:a16="http://schemas.microsoft.com/office/drawing/2014/main" id="{AD20D4A5-7E16-0248-947E-2F0582310038}"/>
              </a:ext>
            </a:extLst>
          </p:cNvPr>
          <p:cNvGrpSpPr>
            <a:grpSpLocks/>
          </p:cNvGrpSpPr>
          <p:nvPr/>
        </p:nvGrpSpPr>
        <p:grpSpPr bwMode="auto">
          <a:xfrm>
            <a:off x="3071814" y="1484313"/>
            <a:ext cx="6410325" cy="4392612"/>
            <a:chOff x="748" y="935"/>
            <a:chExt cx="4038" cy="2767"/>
          </a:xfrm>
        </p:grpSpPr>
        <p:grpSp>
          <p:nvGrpSpPr>
            <p:cNvPr id="55299" name="Group 93">
              <a:extLst>
                <a:ext uri="{FF2B5EF4-FFF2-40B4-BE49-F238E27FC236}">
                  <a16:creationId xmlns:a16="http://schemas.microsoft.com/office/drawing/2014/main" id="{48F2F5FE-4B3A-644B-B75A-94934809BA9D}"/>
                </a:ext>
              </a:extLst>
            </p:cNvPr>
            <p:cNvGrpSpPr>
              <a:grpSpLocks/>
            </p:cNvGrpSpPr>
            <p:nvPr/>
          </p:nvGrpSpPr>
          <p:grpSpPr bwMode="auto">
            <a:xfrm>
              <a:off x="748" y="935"/>
              <a:ext cx="2994" cy="2767"/>
              <a:chOff x="884" y="1253"/>
              <a:chExt cx="2994" cy="2767"/>
            </a:xfrm>
          </p:grpSpPr>
          <p:grpSp>
            <p:nvGrpSpPr>
              <p:cNvPr id="55305" name="Group 13">
                <a:extLst>
                  <a:ext uri="{FF2B5EF4-FFF2-40B4-BE49-F238E27FC236}">
                    <a16:creationId xmlns:a16="http://schemas.microsoft.com/office/drawing/2014/main" id="{4879EE68-1BD9-6B4B-A6CB-A5824C0ABE8D}"/>
                  </a:ext>
                </a:extLst>
              </p:cNvPr>
              <p:cNvGrpSpPr>
                <a:grpSpLocks/>
              </p:cNvGrpSpPr>
              <p:nvPr/>
            </p:nvGrpSpPr>
            <p:grpSpPr bwMode="auto">
              <a:xfrm>
                <a:off x="884" y="2795"/>
                <a:ext cx="544" cy="408"/>
                <a:chOff x="884" y="2795"/>
                <a:chExt cx="544" cy="408"/>
              </a:xfrm>
            </p:grpSpPr>
            <p:sp>
              <p:nvSpPr>
                <p:cNvPr id="55364" name="Rectangle 4">
                  <a:extLst>
                    <a:ext uri="{FF2B5EF4-FFF2-40B4-BE49-F238E27FC236}">
                      <a16:creationId xmlns:a16="http://schemas.microsoft.com/office/drawing/2014/main" id="{B3D77B29-2A18-7941-9548-DA28BE41783E}"/>
                    </a:ext>
                  </a:extLst>
                </p:cNvPr>
                <p:cNvSpPr>
                  <a:spLocks noChangeArrowheads="1"/>
                </p:cNvSpPr>
                <p:nvPr/>
              </p:nvSpPr>
              <p:spPr bwMode="auto">
                <a:xfrm>
                  <a:off x="884"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5" name="Rectangle 8">
                  <a:extLst>
                    <a:ext uri="{FF2B5EF4-FFF2-40B4-BE49-F238E27FC236}">
                      <a16:creationId xmlns:a16="http://schemas.microsoft.com/office/drawing/2014/main" id="{E68670AA-3091-4D4C-9DC2-E292EF2FE75C}"/>
                    </a:ext>
                  </a:extLst>
                </p:cNvPr>
                <p:cNvSpPr>
                  <a:spLocks noChangeArrowheads="1"/>
                </p:cNvSpPr>
                <p:nvPr/>
              </p:nvSpPr>
              <p:spPr bwMode="auto">
                <a:xfrm>
                  <a:off x="1020"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6" name="Rectangle 9">
                  <a:extLst>
                    <a:ext uri="{FF2B5EF4-FFF2-40B4-BE49-F238E27FC236}">
                      <a16:creationId xmlns:a16="http://schemas.microsoft.com/office/drawing/2014/main" id="{9E544962-EA75-D24B-9BB8-C67E5720497C}"/>
                    </a:ext>
                  </a:extLst>
                </p:cNvPr>
                <p:cNvSpPr>
                  <a:spLocks noChangeArrowheads="1"/>
                </p:cNvSpPr>
                <p:nvPr/>
              </p:nvSpPr>
              <p:spPr bwMode="auto">
                <a:xfrm>
                  <a:off x="1156"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7" name="Rectangle 10">
                  <a:extLst>
                    <a:ext uri="{FF2B5EF4-FFF2-40B4-BE49-F238E27FC236}">
                      <a16:creationId xmlns:a16="http://schemas.microsoft.com/office/drawing/2014/main" id="{ED09EE29-E98B-974D-8B70-285D47F2A689}"/>
                    </a:ext>
                  </a:extLst>
                </p:cNvPr>
                <p:cNvSpPr>
                  <a:spLocks noChangeArrowheads="1"/>
                </p:cNvSpPr>
                <p:nvPr/>
              </p:nvSpPr>
              <p:spPr bwMode="auto">
                <a:xfrm>
                  <a:off x="1292"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8" name="Line 11">
                  <a:extLst>
                    <a:ext uri="{FF2B5EF4-FFF2-40B4-BE49-F238E27FC236}">
                      <a16:creationId xmlns:a16="http://schemas.microsoft.com/office/drawing/2014/main" id="{9CDB84D4-FB78-EF40-8B97-F3AD4A359F73}"/>
                    </a:ext>
                  </a:extLst>
                </p:cNvPr>
                <p:cNvSpPr>
                  <a:spLocks noChangeShapeType="1"/>
                </p:cNvSpPr>
                <p:nvPr/>
              </p:nvSpPr>
              <p:spPr bwMode="auto">
                <a:xfrm>
                  <a:off x="1156" y="2795"/>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69" name="Line 12">
                  <a:extLst>
                    <a:ext uri="{FF2B5EF4-FFF2-40B4-BE49-F238E27FC236}">
                      <a16:creationId xmlns:a16="http://schemas.microsoft.com/office/drawing/2014/main" id="{E677A5C6-54FD-4949-9C7C-550E6284627A}"/>
                    </a:ext>
                  </a:extLst>
                </p:cNvPr>
                <p:cNvSpPr>
                  <a:spLocks noChangeShapeType="1"/>
                </p:cNvSpPr>
                <p:nvPr/>
              </p:nvSpPr>
              <p:spPr bwMode="auto">
                <a:xfrm>
                  <a:off x="1156" y="3067"/>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5306" name="Group 14">
                <a:extLst>
                  <a:ext uri="{FF2B5EF4-FFF2-40B4-BE49-F238E27FC236}">
                    <a16:creationId xmlns:a16="http://schemas.microsoft.com/office/drawing/2014/main" id="{9C3835C4-C627-8845-ABBD-2B8FF21C6A92}"/>
                  </a:ext>
                </a:extLst>
              </p:cNvPr>
              <p:cNvGrpSpPr>
                <a:grpSpLocks/>
              </p:cNvGrpSpPr>
              <p:nvPr/>
            </p:nvGrpSpPr>
            <p:grpSpPr bwMode="auto">
              <a:xfrm>
                <a:off x="1701" y="2795"/>
                <a:ext cx="544" cy="408"/>
                <a:chOff x="884" y="2795"/>
                <a:chExt cx="544" cy="408"/>
              </a:xfrm>
            </p:grpSpPr>
            <p:sp>
              <p:nvSpPr>
                <p:cNvPr id="55358" name="Rectangle 15">
                  <a:extLst>
                    <a:ext uri="{FF2B5EF4-FFF2-40B4-BE49-F238E27FC236}">
                      <a16:creationId xmlns:a16="http://schemas.microsoft.com/office/drawing/2014/main" id="{55FD2361-AC5B-5545-A880-8401D63582AC}"/>
                    </a:ext>
                  </a:extLst>
                </p:cNvPr>
                <p:cNvSpPr>
                  <a:spLocks noChangeArrowheads="1"/>
                </p:cNvSpPr>
                <p:nvPr/>
              </p:nvSpPr>
              <p:spPr bwMode="auto">
                <a:xfrm>
                  <a:off x="884"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9" name="Rectangle 16">
                  <a:extLst>
                    <a:ext uri="{FF2B5EF4-FFF2-40B4-BE49-F238E27FC236}">
                      <a16:creationId xmlns:a16="http://schemas.microsoft.com/office/drawing/2014/main" id="{F5419603-FBD0-2047-996E-F73749F1A088}"/>
                    </a:ext>
                  </a:extLst>
                </p:cNvPr>
                <p:cNvSpPr>
                  <a:spLocks noChangeArrowheads="1"/>
                </p:cNvSpPr>
                <p:nvPr/>
              </p:nvSpPr>
              <p:spPr bwMode="auto">
                <a:xfrm>
                  <a:off x="1020"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0" name="Rectangle 17">
                  <a:extLst>
                    <a:ext uri="{FF2B5EF4-FFF2-40B4-BE49-F238E27FC236}">
                      <a16:creationId xmlns:a16="http://schemas.microsoft.com/office/drawing/2014/main" id="{7EDD154C-515B-EF4B-9CC6-7500D0BFD83E}"/>
                    </a:ext>
                  </a:extLst>
                </p:cNvPr>
                <p:cNvSpPr>
                  <a:spLocks noChangeArrowheads="1"/>
                </p:cNvSpPr>
                <p:nvPr/>
              </p:nvSpPr>
              <p:spPr bwMode="auto">
                <a:xfrm>
                  <a:off x="1156"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1" name="Rectangle 18">
                  <a:extLst>
                    <a:ext uri="{FF2B5EF4-FFF2-40B4-BE49-F238E27FC236}">
                      <a16:creationId xmlns:a16="http://schemas.microsoft.com/office/drawing/2014/main" id="{4F724D4C-5736-1743-A9E0-A8EE9960E0DC}"/>
                    </a:ext>
                  </a:extLst>
                </p:cNvPr>
                <p:cNvSpPr>
                  <a:spLocks noChangeArrowheads="1"/>
                </p:cNvSpPr>
                <p:nvPr/>
              </p:nvSpPr>
              <p:spPr bwMode="auto">
                <a:xfrm>
                  <a:off x="1292"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62" name="Line 19">
                  <a:extLst>
                    <a:ext uri="{FF2B5EF4-FFF2-40B4-BE49-F238E27FC236}">
                      <a16:creationId xmlns:a16="http://schemas.microsoft.com/office/drawing/2014/main" id="{C7DD5DF4-D7BD-4B47-B906-CF2E65158B40}"/>
                    </a:ext>
                  </a:extLst>
                </p:cNvPr>
                <p:cNvSpPr>
                  <a:spLocks noChangeShapeType="1"/>
                </p:cNvSpPr>
                <p:nvPr/>
              </p:nvSpPr>
              <p:spPr bwMode="auto">
                <a:xfrm>
                  <a:off x="1156" y="2795"/>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63" name="Line 20">
                  <a:extLst>
                    <a:ext uri="{FF2B5EF4-FFF2-40B4-BE49-F238E27FC236}">
                      <a16:creationId xmlns:a16="http://schemas.microsoft.com/office/drawing/2014/main" id="{5C1DD395-CC3E-8640-95AC-77F431C140A4}"/>
                    </a:ext>
                  </a:extLst>
                </p:cNvPr>
                <p:cNvSpPr>
                  <a:spLocks noChangeShapeType="1"/>
                </p:cNvSpPr>
                <p:nvPr/>
              </p:nvSpPr>
              <p:spPr bwMode="auto">
                <a:xfrm>
                  <a:off x="1156" y="3067"/>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5307" name="Group 21">
                <a:extLst>
                  <a:ext uri="{FF2B5EF4-FFF2-40B4-BE49-F238E27FC236}">
                    <a16:creationId xmlns:a16="http://schemas.microsoft.com/office/drawing/2014/main" id="{1EF63786-5112-8447-BB34-D2E1B6B310DF}"/>
                  </a:ext>
                </a:extLst>
              </p:cNvPr>
              <p:cNvGrpSpPr>
                <a:grpSpLocks/>
              </p:cNvGrpSpPr>
              <p:nvPr/>
            </p:nvGrpSpPr>
            <p:grpSpPr bwMode="auto">
              <a:xfrm>
                <a:off x="2517" y="2795"/>
                <a:ext cx="544" cy="408"/>
                <a:chOff x="884" y="2795"/>
                <a:chExt cx="544" cy="408"/>
              </a:xfrm>
            </p:grpSpPr>
            <p:sp>
              <p:nvSpPr>
                <p:cNvPr id="55352" name="Rectangle 22">
                  <a:extLst>
                    <a:ext uri="{FF2B5EF4-FFF2-40B4-BE49-F238E27FC236}">
                      <a16:creationId xmlns:a16="http://schemas.microsoft.com/office/drawing/2014/main" id="{905C26F1-6CAF-584A-88DE-321B0B98A256}"/>
                    </a:ext>
                  </a:extLst>
                </p:cNvPr>
                <p:cNvSpPr>
                  <a:spLocks noChangeArrowheads="1"/>
                </p:cNvSpPr>
                <p:nvPr/>
              </p:nvSpPr>
              <p:spPr bwMode="auto">
                <a:xfrm>
                  <a:off x="884"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3" name="Rectangle 23">
                  <a:extLst>
                    <a:ext uri="{FF2B5EF4-FFF2-40B4-BE49-F238E27FC236}">
                      <a16:creationId xmlns:a16="http://schemas.microsoft.com/office/drawing/2014/main" id="{AB03DE3C-F0A0-F943-8BBF-EF1EFF0A7A26}"/>
                    </a:ext>
                  </a:extLst>
                </p:cNvPr>
                <p:cNvSpPr>
                  <a:spLocks noChangeArrowheads="1"/>
                </p:cNvSpPr>
                <p:nvPr/>
              </p:nvSpPr>
              <p:spPr bwMode="auto">
                <a:xfrm>
                  <a:off x="1020"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4" name="Rectangle 24">
                  <a:extLst>
                    <a:ext uri="{FF2B5EF4-FFF2-40B4-BE49-F238E27FC236}">
                      <a16:creationId xmlns:a16="http://schemas.microsoft.com/office/drawing/2014/main" id="{D8A0AF6D-DAA1-2C41-96A6-08BF73A83505}"/>
                    </a:ext>
                  </a:extLst>
                </p:cNvPr>
                <p:cNvSpPr>
                  <a:spLocks noChangeArrowheads="1"/>
                </p:cNvSpPr>
                <p:nvPr/>
              </p:nvSpPr>
              <p:spPr bwMode="auto">
                <a:xfrm>
                  <a:off x="1156"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5" name="Rectangle 25">
                  <a:extLst>
                    <a:ext uri="{FF2B5EF4-FFF2-40B4-BE49-F238E27FC236}">
                      <a16:creationId xmlns:a16="http://schemas.microsoft.com/office/drawing/2014/main" id="{15711901-23D8-2941-9310-69D37DFC05C5}"/>
                    </a:ext>
                  </a:extLst>
                </p:cNvPr>
                <p:cNvSpPr>
                  <a:spLocks noChangeArrowheads="1"/>
                </p:cNvSpPr>
                <p:nvPr/>
              </p:nvSpPr>
              <p:spPr bwMode="auto">
                <a:xfrm>
                  <a:off x="1292"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6" name="Line 26">
                  <a:extLst>
                    <a:ext uri="{FF2B5EF4-FFF2-40B4-BE49-F238E27FC236}">
                      <a16:creationId xmlns:a16="http://schemas.microsoft.com/office/drawing/2014/main" id="{397E75B9-8DD6-D44A-997F-13BD84EB1C08}"/>
                    </a:ext>
                  </a:extLst>
                </p:cNvPr>
                <p:cNvSpPr>
                  <a:spLocks noChangeShapeType="1"/>
                </p:cNvSpPr>
                <p:nvPr/>
              </p:nvSpPr>
              <p:spPr bwMode="auto">
                <a:xfrm>
                  <a:off x="1156" y="2795"/>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57" name="Line 27">
                  <a:extLst>
                    <a:ext uri="{FF2B5EF4-FFF2-40B4-BE49-F238E27FC236}">
                      <a16:creationId xmlns:a16="http://schemas.microsoft.com/office/drawing/2014/main" id="{4FF1A18D-8178-C746-BCE6-149A9A6463C2}"/>
                    </a:ext>
                  </a:extLst>
                </p:cNvPr>
                <p:cNvSpPr>
                  <a:spLocks noChangeShapeType="1"/>
                </p:cNvSpPr>
                <p:nvPr/>
              </p:nvSpPr>
              <p:spPr bwMode="auto">
                <a:xfrm>
                  <a:off x="1156" y="3067"/>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5308" name="Group 28">
                <a:extLst>
                  <a:ext uri="{FF2B5EF4-FFF2-40B4-BE49-F238E27FC236}">
                    <a16:creationId xmlns:a16="http://schemas.microsoft.com/office/drawing/2014/main" id="{01C99C67-3C10-644C-9C3D-804BF138A731}"/>
                  </a:ext>
                </a:extLst>
              </p:cNvPr>
              <p:cNvGrpSpPr>
                <a:grpSpLocks/>
              </p:cNvGrpSpPr>
              <p:nvPr/>
            </p:nvGrpSpPr>
            <p:grpSpPr bwMode="auto">
              <a:xfrm>
                <a:off x="3334" y="2795"/>
                <a:ext cx="544" cy="408"/>
                <a:chOff x="884" y="2795"/>
                <a:chExt cx="544" cy="408"/>
              </a:xfrm>
            </p:grpSpPr>
            <p:sp>
              <p:nvSpPr>
                <p:cNvPr id="55346" name="Rectangle 29">
                  <a:extLst>
                    <a:ext uri="{FF2B5EF4-FFF2-40B4-BE49-F238E27FC236}">
                      <a16:creationId xmlns:a16="http://schemas.microsoft.com/office/drawing/2014/main" id="{DE0DF91D-A629-864E-BBC6-CA18C6F70FC0}"/>
                    </a:ext>
                  </a:extLst>
                </p:cNvPr>
                <p:cNvSpPr>
                  <a:spLocks noChangeArrowheads="1"/>
                </p:cNvSpPr>
                <p:nvPr/>
              </p:nvSpPr>
              <p:spPr bwMode="auto">
                <a:xfrm>
                  <a:off x="884"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47" name="Rectangle 30">
                  <a:extLst>
                    <a:ext uri="{FF2B5EF4-FFF2-40B4-BE49-F238E27FC236}">
                      <a16:creationId xmlns:a16="http://schemas.microsoft.com/office/drawing/2014/main" id="{A80DF7AA-92EE-B54F-B74B-E8356AE21147}"/>
                    </a:ext>
                  </a:extLst>
                </p:cNvPr>
                <p:cNvSpPr>
                  <a:spLocks noChangeArrowheads="1"/>
                </p:cNvSpPr>
                <p:nvPr/>
              </p:nvSpPr>
              <p:spPr bwMode="auto">
                <a:xfrm>
                  <a:off x="1020"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48" name="Rectangle 31">
                  <a:extLst>
                    <a:ext uri="{FF2B5EF4-FFF2-40B4-BE49-F238E27FC236}">
                      <a16:creationId xmlns:a16="http://schemas.microsoft.com/office/drawing/2014/main" id="{AEA28CAC-111D-024A-B3B2-B88751F9AA2E}"/>
                    </a:ext>
                  </a:extLst>
                </p:cNvPr>
                <p:cNvSpPr>
                  <a:spLocks noChangeArrowheads="1"/>
                </p:cNvSpPr>
                <p:nvPr/>
              </p:nvSpPr>
              <p:spPr bwMode="auto">
                <a:xfrm>
                  <a:off x="1156"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49" name="Rectangle 32">
                  <a:extLst>
                    <a:ext uri="{FF2B5EF4-FFF2-40B4-BE49-F238E27FC236}">
                      <a16:creationId xmlns:a16="http://schemas.microsoft.com/office/drawing/2014/main" id="{B013866C-1B85-EC4D-B44B-815801C42488}"/>
                    </a:ext>
                  </a:extLst>
                </p:cNvPr>
                <p:cNvSpPr>
                  <a:spLocks noChangeArrowheads="1"/>
                </p:cNvSpPr>
                <p:nvPr/>
              </p:nvSpPr>
              <p:spPr bwMode="auto">
                <a:xfrm>
                  <a:off x="1292" y="2931"/>
                  <a:ext cx="136" cy="136"/>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50" name="Line 33">
                  <a:extLst>
                    <a:ext uri="{FF2B5EF4-FFF2-40B4-BE49-F238E27FC236}">
                      <a16:creationId xmlns:a16="http://schemas.microsoft.com/office/drawing/2014/main" id="{199CAD28-2414-DE43-A7EA-D40922E30058}"/>
                    </a:ext>
                  </a:extLst>
                </p:cNvPr>
                <p:cNvSpPr>
                  <a:spLocks noChangeShapeType="1"/>
                </p:cNvSpPr>
                <p:nvPr/>
              </p:nvSpPr>
              <p:spPr bwMode="auto">
                <a:xfrm>
                  <a:off x="1156" y="2795"/>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51" name="Line 34">
                  <a:extLst>
                    <a:ext uri="{FF2B5EF4-FFF2-40B4-BE49-F238E27FC236}">
                      <a16:creationId xmlns:a16="http://schemas.microsoft.com/office/drawing/2014/main" id="{48189425-8576-6040-8F45-005131067129}"/>
                    </a:ext>
                  </a:extLst>
                </p:cNvPr>
                <p:cNvSpPr>
                  <a:spLocks noChangeShapeType="1"/>
                </p:cNvSpPr>
                <p:nvPr/>
              </p:nvSpPr>
              <p:spPr bwMode="auto">
                <a:xfrm>
                  <a:off x="1156" y="3067"/>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5309" name="Line 35">
                <a:extLst>
                  <a:ext uri="{FF2B5EF4-FFF2-40B4-BE49-F238E27FC236}">
                    <a16:creationId xmlns:a16="http://schemas.microsoft.com/office/drawing/2014/main" id="{969FE509-25EF-7348-A1E3-82F0EB24788C}"/>
                  </a:ext>
                </a:extLst>
              </p:cNvPr>
              <p:cNvSpPr>
                <a:spLocks noChangeShapeType="1"/>
              </p:cNvSpPr>
              <p:nvPr/>
            </p:nvSpPr>
            <p:spPr bwMode="auto">
              <a:xfrm>
                <a:off x="1156" y="2795"/>
                <a:ext cx="2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0" name="Line 36">
                <a:extLst>
                  <a:ext uri="{FF2B5EF4-FFF2-40B4-BE49-F238E27FC236}">
                    <a16:creationId xmlns:a16="http://schemas.microsoft.com/office/drawing/2014/main" id="{A58C25BF-BEA9-9C44-BBCA-1DA32137601A}"/>
                  </a:ext>
                </a:extLst>
              </p:cNvPr>
              <p:cNvSpPr>
                <a:spLocks noChangeShapeType="1"/>
              </p:cNvSpPr>
              <p:nvPr/>
            </p:nvSpPr>
            <p:spPr bwMode="auto">
              <a:xfrm>
                <a:off x="1156" y="3203"/>
                <a:ext cx="2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1" name="Line 37">
                <a:extLst>
                  <a:ext uri="{FF2B5EF4-FFF2-40B4-BE49-F238E27FC236}">
                    <a16:creationId xmlns:a16="http://schemas.microsoft.com/office/drawing/2014/main" id="{84351DE2-3DA3-D74D-AE9C-8CBFD18DA966}"/>
                  </a:ext>
                </a:extLst>
              </p:cNvPr>
              <p:cNvSpPr>
                <a:spLocks noChangeShapeType="1"/>
              </p:cNvSpPr>
              <p:nvPr/>
            </p:nvSpPr>
            <p:spPr bwMode="auto">
              <a:xfrm>
                <a:off x="2381" y="3203"/>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12" name="Line 38">
                <a:extLst>
                  <a:ext uri="{FF2B5EF4-FFF2-40B4-BE49-F238E27FC236}">
                    <a16:creationId xmlns:a16="http://schemas.microsoft.com/office/drawing/2014/main" id="{D4C67570-483E-2A46-B08A-2149A4F9B65E}"/>
                  </a:ext>
                </a:extLst>
              </p:cNvPr>
              <p:cNvSpPr>
                <a:spLocks noChangeShapeType="1"/>
              </p:cNvSpPr>
              <p:nvPr/>
            </p:nvSpPr>
            <p:spPr bwMode="auto">
              <a:xfrm>
                <a:off x="1156" y="3339"/>
                <a:ext cx="2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5313" name="Group 43">
                <a:extLst>
                  <a:ext uri="{FF2B5EF4-FFF2-40B4-BE49-F238E27FC236}">
                    <a16:creationId xmlns:a16="http://schemas.microsoft.com/office/drawing/2014/main" id="{78D5EDEA-658B-404B-9416-EF0ECE644E06}"/>
                  </a:ext>
                </a:extLst>
              </p:cNvPr>
              <p:cNvGrpSpPr>
                <a:grpSpLocks/>
              </p:cNvGrpSpPr>
              <p:nvPr/>
            </p:nvGrpSpPr>
            <p:grpSpPr bwMode="auto">
              <a:xfrm>
                <a:off x="975" y="3339"/>
                <a:ext cx="363" cy="681"/>
                <a:chOff x="975" y="3339"/>
                <a:chExt cx="363" cy="681"/>
              </a:xfrm>
            </p:grpSpPr>
            <p:sp>
              <p:nvSpPr>
                <p:cNvPr id="55342" name="Line 39">
                  <a:extLst>
                    <a:ext uri="{FF2B5EF4-FFF2-40B4-BE49-F238E27FC236}">
                      <a16:creationId xmlns:a16="http://schemas.microsoft.com/office/drawing/2014/main" id="{BBC87022-DB58-5246-9CC6-00DCBDD6EA5C}"/>
                    </a:ext>
                  </a:extLst>
                </p:cNvPr>
                <p:cNvSpPr>
                  <a:spLocks noChangeShapeType="1"/>
                </p:cNvSpPr>
                <p:nvPr/>
              </p:nvSpPr>
              <p:spPr bwMode="auto">
                <a:xfrm>
                  <a:off x="1156" y="3339"/>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43" name="Rectangle 40">
                  <a:extLst>
                    <a:ext uri="{FF2B5EF4-FFF2-40B4-BE49-F238E27FC236}">
                      <a16:creationId xmlns:a16="http://schemas.microsoft.com/office/drawing/2014/main" id="{B5C7BED0-CDD7-F041-BC17-1460259FE10B}"/>
                    </a:ext>
                  </a:extLst>
                </p:cNvPr>
                <p:cNvSpPr>
                  <a:spLocks noChangeArrowheads="1"/>
                </p:cNvSpPr>
                <p:nvPr/>
              </p:nvSpPr>
              <p:spPr bwMode="auto">
                <a:xfrm>
                  <a:off x="975" y="3475"/>
                  <a:ext cx="363" cy="182"/>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44" name="Line 41">
                  <a:extLst>
                    <a:ext uri="{FF2B5EF4-FFF2-40B4-BE49-F238E27FC236}">
                      <a16:creationId xmlns:a16="http://schemas.microsoft.com/office/drawing/2014/main" id="{E39F1722-933D-6442-99ED-DD724756BCE6}"/>
                    </a:ext>
                  </a:extLst>
                </p:cNvPr>
                <p:cNvSpPr>
                  <a:spLocks noChangeShapeType="1"/>
                </p:cNvSpPr>
                <p:nvPr/>
              </p:nvSpPr>
              <p:spPr bwMode="auto">
                <a:xfrm>
                  <a:off x="1156" y="3657"/>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45" name="Rectangle 42">
                  <a:extLst>
                    <a:ext uri="{FF2B5EF4-FFF2-40B4-BE49-F238E27FC236}">
                      <a16:creationId xmlns:a16="http://schemas.microsoft.com/office/drawing/2014/main" id="{DE3AB645-024B-E346-86B2-25820B54E42D}"/>
                    </a:ext>
                  </a:extLst>
                </p:cNvPr>
                <p:cNvSpPr>
                  <a:spLocks noChangeArrowheads="1"/>
                </p:cNvSpPr>
                <p:nvPr/>
              </p:nvSpPr>
              <p:spPr bwMode="auto">
                <a:xfrm>
                  <a:off x="975" y="3838"/>
                  <a:ext cx="363" cy="18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64bits to</a:t>
                  </a:r>
                </a:p>
                <a:p>
                  <a:pPr>
                    <a:spcBef>
                      <a:spcPct val="0"/>
                    </a:spcBef>
                    <a:buClrTx/>
                    <a:buSzTx/>
                    <a:buFontTx/>
                    <a:buNone/>
                  </a:pPr>
                  <a:r>
                    <a:rPr lang="en-US" altLang="en-US" sz="1200"/>
                    <a:t>memory</a:t>
                  </a:r>
                  <a:endParaRPr lang="el-GR" altLang="en-US" sz="1200"/>
                </a:p>
              </p:txBody>
            </p:sp>
          </p:grpSp>
          <p:grpSp>
            <p:nvGrpSpPr>
              <p:cNvPr id="55314" name="Group 44">
                <a:extLst>
                  <a:ext uri="{FF2B5EF4-FFF2-40B4-BE49-F238E27FC236}">
                    <a16:creationId xmlns:a16="http://schemas.microsoft.com/office/drawing/2014/main" id="{F6867ACA-815B-3640-9E12-B845CCAC632A}"/>
                  </a:ext>
                </a:extLst>
              </p:cNvPr>
              <p:cNvGrpSpPr>
                <a:grpSpLocks/>
              </p:cNvGrpSpPr>
              <p:nvPr/>
            </p:nvGrpSpPr>
            <p:grpSpPr bwMode="auto">
              <a:xfrm>
                <a:off x="1791" y="3339"/>
                <a:ext cx="363" cy="681"/>
                <a:chOff x="975" y="3339"/>
                <a:chExt cx="363" cy="681"/>
              </a:xfrm>
            </p:grpSpPr>
            <p:sp>
              <p:nvSpPr>
                <p:cNvPr id="55338" name="Line 45">
                  <a:extLst>
                    <a:ext uri="{FF2B5EF4-FFF2-40B4-BE49-F238E27FC236}">
                      <a16:creationId xmlns:a16="http://schemas.microsoft.com/office/drawing/2014/main" id="{46E4501E-6579-5645-996D-0E113EC6AF8D}"/>
                    </a:ext>
                  </a:extLst>
                </p:cNvPr>
                <p:cNvSpPr>
                  <a:spLocks noChangeShapeType="1"/>
                </p:cNvSpPr>
                <p:nvPr/>
              </p:nvSpPr>
              <p:spPr bwMode="auto">
                <a:xfrm>
                  <a:off x="1156" y="3339"/>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39" name="Rectangle 46">
                  <a:extLst>
                    <a:ext uri="{FF2B5EF4-FFF2-40B4-BE49-F238E27FC236}">
                      <a16:creationId xmlns:a16="http://schemas.microsoft.com/office/drawing/2014/main" id="{03B6CDAC-0D86-C848-9758-174A68FA5DA2}"/>
                    </a:ext>
                  </a:extLst>
                </p:cNvPr>
                <p:cNvSpPr>
                  <a:spLocks noChangeArrowheads="1"/>
                </p:cNvSpPr>
                <p:nvPr/>
              </p:nvSpPr>
              <p:spPr bwMode="auto">
                <a:xfrm>
                  <a:off x="975" y="3475"/>
                  <a:ext cx="363" cy="182"/>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40" name="Line 47">
                  <a:extLst>
                    <a:ext uri="{FF2B5EF4-FFF2-40B4-BE49-F238E27FC236}">
                      <a16:creationId xmlns:a16="http://schemas.microsoft.com/office/drawing/2014/main" id="{82BB8865-C298-B348-AF85-38501277385C}"/>
                    </a:ext>
                  </a:extLst>
                </p:cNvPr>
                <p:cNvSpPr>
                  <a:spLocks noChangeShapeType="1"/>
                </p:cNvSpPr>
                <p:nvPr/>
              </p:nvSpPr>
              <p:spPr bwMode="auto">
                <a:xfrm>
                  <a:off x="1156" y="3657"/>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41" name="Rectangle 48">
                  <a:extLst>
                    <a:ext uri="{FF2B5EF4-FFF2-40B4-BE49-F238E27FC236}">
                      <a16:creationId xmlns:a16="http://schemas.microsoft.com/office/drawing/2014/main" id="{AD4F3358-1C17-0C41-B33E-03A51011A4F7}"/>
                    </a:ext>
                  </a:extLst>
                </p:cNvPr>
                <p:cNvSpPr>
                  <a:spLocks noChangeArrowheads="1"/>
                </p:cNvSpPr>
                <p:nvPr/>
              </p:nvSpPr>
              <p:spPr bwMode="auto">
                <a:xfrm>
                  <a:off x="975" y="3838"/>
                  <a:ext cx="363" cy="18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64bits to</a:t>
                  </a:r>
                </a:p>
                <a:p>
                  <a:pPr>
                    <a:spcBef>
                      <a:spcPct val="0"/>
                    </a:spcBef>
                    <a:buClrTx/>
                    <a:buSzTx/>
                    <a:buFontTx/>
                    <a:buNone/>
                  </a:pPr>
                  <a:r>
                    <a:rPr lang="en-US" altLang="en-US" sz="1200"/>
                    <a:t>memory</a:t>
                  </a:r>
                  <a:endParaRPr lang="el-GR" altLang="en-US" sz="1200"/>
                </a:p>
              </p:txBody>
            </p:sp>
          </p:grpSp>
          <p:grpSp>
            <p:nvGrpSpPr>
              <p:cNvPr id="55315" name="Group 49">
                <a:extLst>
                  <a:ext uri="{FF2B5EF4-FFF2-40B4-BE49-F238E27FC236}">
                    <a16:creationId xmlns:a16="http://schemas.microsoft.com/office/drawing/2014/main" id="{3B4FBC01-D99B-A447-B3F2-55D0F5294AB9}"/>
                  </a:ext>
                </a:extLst>
              </p:cNvPr>
              <p:cNvGrpSpPr>
                <a:grpSpLocks/>
              </p:cNvGrpSpPr>
              <p:nvPr/>
            </p:nvGrpSpPr>
            <p:grpSpPr bwMode="auto">
              <a:xfrm>
                <a:off x="2608" y="3339"/>
                <a:ext cx="363" cy="681"/>
                <a:chOff x="975" y="3339"/>
                <a:chExt cx="363" cy="681"/>
              </a:xfrm>
            </p:grpSpPr>
            <p:sp>
              <p:nvSpPr>
                <p:cNvPr id="55334" name="Line 50">
                  <a:extLst>
                    <a:ext uri="{FF2B5EF4-FFF2-40B4-BE49-F238E27FC236}">
                      <a16:creationId xmlns:a16="http://schemas.microsoft.com/office/drawing/2014/main" id="{A8DBF34F-6F4D-A64B-8AA8-0DC50CE96A80}"/>
                    </a:ext>
                  </a:extLst>
                </p:cNvPr>
                <p:cNvSpPr>
                  <a:spLocks noChangeShapeType="1"/>
                </p:cNvSpPr>
                <p:nvPr/>
              </p:nvSpPr>
              <p:spPr bwMode="auto">
                <a:xfrm>
                  <a:off x="1156" y="3339"/>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35" name="Rectangle 51">
                  <a:extLst>
                    <a:ext uri="{FF2B5EF4-FFF2-40B4-BE49-F238E27FC236}">
                      <a16:creationId xmlns:a16="http://schemas.microsoft.com/office/drawing/2014/main" id="{E4A229DE-385C-5D4F-B981-DD4ABE1A43DC}"/>
                    </a:ext>
                  </a:extLst>
                </p:cNvPr>
                <p:cNvSpPr>
                  <a:spLocks noChangeArrowheads="1"/>
                </p:cNvSpPr>
                <p:nvPr/>
              </p:nvSpPr>
              <p:spPr bwMode="auto">
                <a:xfrm>
                  <a:off x="975" y="3475"/>
                  <a:ext cx="363" cy="182"/>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36" name="Line 52">
                  <a:extLst>
                    <a:ext uri="{FF2B5EF4-FFF2-40B4-BE49-F238E27FC236}">
                      <a16:creationId xmlns:a16="http://schemas.microsoft.com/office/drawing/2014/main" id="{130A03EB-5FAB-1A42-B2C1-9F14F0AEFAFC}"/>
                    </a:ext>
                  </a:extLst>
                </p:cNvPr>
                <p:cNvSpPr>
                  <a:spLocks noChangeShapeType="1"/>
                </p:cNvSpPr>
                <p:nvPr/>
              </p:nvSpPr>
              <p:spPr bwMode="auto">
                <a:xfrm>
                  <a:off x="1156" y="3657"/>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37" name="Rectangle 53">
                  <a:extLst>
                    <a:ext uri="{FF2B5EF4-FFF2-40B4-BE49-F238E27FC236}">
                      <a16:creationId xmlns:a16="http://schemas.microsoft.com/office/drawing/2014/main" id="{E629ED13-2030-D94C-92E0-54B3030D355A}"/>
                    </a:ext>
                  </a:extLst>
                </p:cNvPr>
                <p:cNvSpPr>
                  <a:spLocks noChangeArrowheads="1"/>
                </p:cNvSpPr>
                <p:nvPr/>
              </p:nvSpPr>
              <p:spPr bwMode="auto">
                <a:xfrm>
                  <a:off x="975" y="3838"/>
                  <a:ext cx="363" cy="18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64bits to</a:t>
                  </a:r>
                </a:p>
                <a:p>
                  <a:pPr>
                    <a:spcBef>
                      <a:spcPct val="0"/>
                    </a:spcBef>
                    <a:buClrTx/>
                    <a:buSzTx/>
                    <a:buFontTx/>
                    <a:buNone/>
                  </a:pPr>
                  <a:r>
                    <a:rPr lang="en-US" altLang="en-US" sz="1200"/>
                    <a:t>memory</a:t>
                  </a:r>
                  <a:endParaRPr lang="el-GR" altLang="en-US" sz="1200"/>
                </a:p>
              </p:txBody>
            </p:sp>
          </p:grpSp>
          <p:grpSp>
            <p:nvGrpSpPr>
              <p:cNvPr id="55316" name="Group 54">
                <a:extLst>
                  <a:ext uri="{FF2B5EF4-FFF2-40B4-BE49-F238E27FC236}">
                    <a16:creationId xmlns:a16="http://schemas.microsoft.com/office/drawing/2014/main" id="{12C0998A-5EDD-C846-AA21-4BF9ABE7BCBF}"/>
                  </a:ext>
                </a:extLst>
              </p:cNvPr>
              <p:cNvGrpSpPr>
                <a:grpSpLocks/>
              </p:cNvGrpSpPr>
              <p:nvPr/>
            </p:nvGrpSpPr>
            <p:grpSpPr bwMode="auto">
              <a:xfrm>
                <a:off x="3424" y="3339"/>
                <a:ext cx="363" cy="681"/>
                <a:chOff x="975" y="3339"/>
                <a:chExt cx="363" cy="681"/>
              </a:xfrm>
            </p:grpSpPr>
            <p:sp>
              <p:nvSpPr>
                <p:cNvPr id="55330" name="Line 55">
                  <a:extLst>
                    <a:ext uri="{FF2B5EF4-FFF2-40B4-BE49-F238E27FC236}">
                      <a16:creationId xmlns:a16="http://schemas.microsoft.com/office/drawing/2014/main" id="{F12BBC86-9430-4041-B6DA-BDAD3F212935}"/>
                    </a:ext>
                  </a:extLst>
                </p:cNvPr>
                <p:cNvSpPr>
                  <a:spLocks noChangeShapeType="1"/>
                </p:cNvSpPr>
                <p:nvPr/>
              </p:nvSpPr>
              <p:spPr bwMode="auto">
                <a:xfrm>
                  <a:off x="1156" y="3339"/>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31" name="Rectangle 56">
                  <a:extLst>
                    <a:ext uri="{FF2B5EF4-FFF2-40B4-BE49-F238E27FC236}">
                      <a16:creationId xmlns:a16="http://schemas.microsoft.com/office/drawing/2014/main" id="{97BD9681-6137-1243-9C22-2C81C13AD42C}"/>
                    </a:ext>
                  </a:extLst>
                </p:cNvPr>
                <p:cNvSpPr>
                  <a:spLocks noChangeArrowheads="1"/>
                </p:cNvSpPr>
                <p:nvPr/>
              </p:nvSpPr>
              <p:spPr bwMode="auto">
                <a:xfrm>
                  <a:off x="975" y="3475"/>
                  <a:ext cx="363" cy="182"/>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32" name="Line 57">
                  <a:extLst>
                    <a:ext uri="{FF2B5EF4-FFF2-40B4-BE49-F238E27FC236}">
                      <a16:creationId xmlns:a16="http://schemas.microsoft.com/office/drawing/2014/main" id="{EBA52B8B-7265-DE42-9157-6280AD562DCB}"/>
                    </a:ext>
                  </a:extLst>
                </p:cNvPr>
                <p:cNvSpPr>
                  <a:spLocks noChangeShapeType="1"/>
                </p:cNvSpPr>
                <p:nvPr/>
              </p:nvSpPr>
              <p:spPr bwMode="auto">
                <a:xfrm>
                  <a:off x="1156" y="3657"/>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33" name="Rectangle 58">
                  <a:extLst>
                    <a:ext uri="{FF2B5EF4-FFF2-40B4-BE49-F238E27FC236}">
                      <a16:creationId xmlns:a16="http://schemas.microsoft.com/office/drawing/2014/main" id="{AB18F87A-7506-4248-B5AE-FEC3DE0A7295}"/>
                    </a:ext>
                  </a:extLst>
                </p:cNvPr>
                <p:cNvSpPr>
                  <a:spLocks noChangeArrowheads="1"/>
                </p:cNvSpPr>
                <p:nvPr/>
              </p:nvSpPr>
              <p:spPr bwMode="auto">
                <a:xfrm>
                  <a:off x="975" y="3838"/>
                  <a:ext cx="363" cy="18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64bits to</a:t>
                  </a:r>
                </a:p>
                <a:p>
                  <a:pPr>
                    <a:spcBef>
                      <a:spcPct val="0"/>
                    </a:spcBef>
                    <a:buClrTx/>
                    <a:buSzTx/>
                    <a:buFontTx/>
                    <a:buNone/>
                  </a:pPr>
                  <a:r>
                    <a:rPr lang="en-US" altLang="en-US" sz="1200"/>
                    <a:t>memory</a:t>
                  </a:r>
                  <a:endParaRPr lang="el-GR" altLang="en-US" sz="1200"/>
                </a:p>
              </p:txBody>
            </p:sp>
          </p:grpSp>
          <p:sp>
            <p:nvSpPr>
              <p:cNvPr id="55317" name="Line 59">
                <a:extLst>
                  <a:ext uri="{FF2B5EF4-FFF2-40B4-BE49-F238E27FC236}">
                    <a16:creationId xmlns:a16="http://schemas.microsoft.com/office/drawing/2014/main" id="{6D2C1D2A-A42E-4A47-A202-BF00C5426871}"/>
                  </a:ext>
                </a:extLst>
              </p:cNvPr>
              <p:cNvSpPr>
                <a:spLocks noChangeShapeType="1"/>
              </p:cNvSpPr>
              <p:nvPr/>
            </p:nvSpPr>
            <p:spPr bwMode="auto">
              <a:xfrm>
                <a:off x="2381" y="2659"/>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18" name="Rectangle 60">
                <a:extLst>
                  <a:ext uri="{FF2B5EF4-FFF2-40B4-BE49-F238E27FC236}">
                    <a16:creationId xmlns:a16="http://schemas.microsoft.com/office/drawing/2014/main" id="{31384E12-1740-A54A-B59D-BC64BB8B3699}"/>
                  </a:ext>
                </a:extLst>
              </p:cNvPr>
              <p:cNvSpPr>
                <a:spLocks noChangeArrowheads="1"/>
              </p:cNvSpPr>
              <p:nvPr/>
            </p:nvSpPr>
            <p:spPr bwMode="auto">
              <a:xfrm>
                <a:off x="1973" y="2478"/>
                <a:ext cx="816" cy="181"/>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19" name="Line 75">
                <a:extLst>
                  <a:ext uri="{FF2B5EF4-FFF2-40B4-BE49-F238E27FC236}">
                    <a16:creationId xmlns:a16="http://schemas.microsoft.com/office/drawing/2014/main" id="{E6C65997-F5EA-E542-A747-5914D2D0C16B}"/>
                  </a:ext>
                </a:extLst>
              </p:cNvPr>
              <p:cNvSpPr>
                <a:spLocks noChangeShapeType="1"/>
              </p:cNvSpPr>
              <p:nvPr/>
            </p:nvSpPr>
            <p:spPr bwMode="auto">
              <a:xfrm>
                <a:off x="2381" y="2341"/>
                <a:ext cx="0" cy="1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20" name="Rectangle 83">
                <a:extLst>
                  <a:ext uri="{FF2B5EF4-FFF2-40B4-BE49-F238E27FC236}">
                    <a16:creationId xmlns:a16="http://schemas.microsoft.com/office/drawing/2014/main" id="{422C93EF-6A1B-0846-BBC9-2858EDFA12D0}"/>
                  </a:ext>
                </a:extLst>
              </p:cNvPr>
              <p:cNvSpPr>
                <a:spLocks noChangeArrowheads="1"/>
              </p:cNvSpPr>
              <p:nvPr/>
            </p:nvSpPr>
            <p:spPr bwMode="auto">
              <a:xfrm>
                <a:off x="2381"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1" name="Rectangle 84">
                <a:extLst>
                  <a:ext uri="{FF2B5EF4-FFF2-40B4-BE49-F238E27FC236}">
                    <a16:creationId xmlns:a16="http://schemas.microsoft.com/office/drawing/2014/main" id="{0E086254-BC95-F040-ACDD-38FAA00AA482}"/>
                  </a:ext>
                </a:extLst>
              </p:cNvPr>
              <p:cNvSpPr>
                <a:spLocks noChangeArrowheads="1"/>
              </p:cNvSpPr>
              <p:nvPr/>
            </p:nvSpPr>
            <p:spPr bwMode="auto">
              <a:xfrm>
                <a:off x="2245"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2" name="Rectangle 85">
                <a:extLst>
                  <a:ext uri="{FF2B5EF4-FFF2-40B4-BE49-F238E27FC236}">
                    <a16:creationId xmlns:a16="http://schemas.microsoft.com/office/drawing/2014/main" id="{E9EE210E-E283-3D40-ACCD-89FD1E9CDBB0}"/>
                  </a:ext>
                </a:extLst>
              </p:cNvPr>
              <p:cNvSpPr>
                <a:spLocks noChangeArrowheads="1"/>
              </p:cNvSpPr>
              <p:nvPr/>
            </p:nvSpPr>
            <p:spPr bwMode="auto">
              <a:xfrm>
                <a:off x="2517"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3" name="Rectangle 86">
                <a:extLst>
                  <a:ext uri="{FF2B5EF4-FFF2-40B4-BE49-F238E27FC236}">
                    <a16:creationId xmlns:a16="http://schemas.microsoft.com/office/drawing/2014/main" id="{6BFA32BD-875B-8648-BD4E-2306E7EF06A6}"/>
                  </a:ext>
                </a:extLst>
              </p:cNvPr>
              <p:cNvSpPr>
                <a:spLocks noChangeArrowheads="1"/>
              </p:cNvSpPr>
              <p:nvPr/>
            </p:nvSpPr>
            <p:spPr bwMode="auto">
              <a:xfrm>
                <a:off x="2653"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4" name="Rectangle 87">
                <a:extLst>
                  <a:ext uri="{FF2B5EF4-FFF2-40B4-BE49-F238E27FC236}">
                    <a16:creationId xmlns:a16="http://schemas.microsoft.com/office/drawing/2014/main" id="{8D7D5B98-F53A-6E47-AE41-CC2664910010}"/>
                  </a:ext>
                </a:extLst>
              </p:cNvPr>
              <p:cNvSpPr>
                <a:spLocks noChangeArrowheads="1"/>
              </p:cNvSpPr>
              <p:nvPr/>
            </p:nvSpPr>
            <p:spPr bwMode="auto">
              <a:xfrm>
                <a:off x="2109"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5" name="Rectangle 88">
                <a:extLst>
                  <a:ext uri="{FF2B5EF4-FFF2-40B4-BE49-F238E27FC236}">
                    <a16:creationId xmlns:a16="http://schemas.microsoft.com/office/drawing/2014/main" id="{E2D0522A-B873-594D-97E7-58AB578FF519}"/>
                  </a:ext>
                </a:extLst>
              </p:cNvPr>
              <p:cNvSpPr>
                <a:spLocks noChangeArrowheads="1"/>
              </p:cNvSpPr>
              <p:nvPr/>
            </p:nvSpPr>
            <p:spPr bwMode="auto">
              <a:xfrm>
                <a:off x="1973" y="2024"/>
                <a:ext cx="136" cy="317"/>
              </a:xfrm>
              <a:prstGeom prst="rect">
                <a:avLst/>
              </a:prstGeom>
              <a:solidFill>
                <a:srgbClr val="FFFF00"/>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6" name="Line 89">
                <a:extLst>
                  <a:ext uri="{FF2B5EF4-FFF2-40B4-BE49-F238E27FC236}">
                    <a16:creationId xmlns:a16="http://schemas.microsoft.com/office/drawing/2014/main" id="{7774C191-0AF1-8744-8337-4EC508B9F01C}"/>
                  </a:ext>
                </a:extLst>
              </p:cNvPr>
              <p:cNvSpPr>
                <a:spLocks noChangeShapeType="1"/>
              </p:cNvSpPr>
              <p:nvPr/>
            </p:nvSpPr>
            <p:spPr bwMode="auto">
              <a:xfrm>
                <a:off x="2381" y="1888"/>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27" name="Rectangle 90">
                <a:extLst>
                  <a:ext uri="{FF2B5EF4-FFF2-40B4-BE49-F238E27FC236}">
                    <a16:creationId xmlns:a16="http://schemas.microsoft.com/office/drawing/2014/main" id="{C2B73972-6D15-3E41-9A84-6C797296B6AB}"/>
                  </a:ext>
                </a:extLst>
              </p:cNvPr>
              <p:cNvSpPr>
                <a:spLocks noChangeArrowheads="1"/>
              </p:cNvSpPr>
              <p:nvPr/>
            </p:nvSpPr>
            <p:spPr bwMode="auto">
              <a:xfrm>
                <a:off x="1837" y="1661"/>
                <a:ext cx="1088" cy="226"/>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5328" name="Line 91">
                <a:extLst>
                  <a:ext uri="{FF2B5EF4-FFF2-40B4-BE49-F238E27FC236}">
                    <a16:creationId xmlns:a16="http://schemas.microsoft.com/office/drawing/2014/main" id="{FB307189-B312-B547-86F7-CA120149CDD7}"/>
                  </a:ext>
                </a:extLst>
              </p:cNvPr>
              <p:cNvSpPr>
                <a:spLocks noChangeShapeType="1"/>
              </p:cNvSpPr>
              <p:nvPr/>
            </p:nvSpPr>
            <p:spPr bwMode="auto">
              <a:xfrm>
                <a:off x="2381" y="143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29" name="Rectangle 92">
                <a:extLst>
                  <a:ext uri="{FF2B5EF4-FFF2-40B4-BE49-F238E27FC236}">
                    <a16:creationId xmlns:a16="http://schemas.microsoft.com/office/drawing/2014/main" id="{E1FAA4A5-831A-8D49-94D7-33F81EB740BB}"/>
                  </a:ext>
                </a:extLst>
              </p:cNvPr>
              <p:cNvSpPr>
                <a:spLocks noChangeArrowheads="1"/>
              </p:cNvSpPr>
              <p:nvPr/>
            </p:nvSpPr>
            <p:spPr bwMode="auto">
              <a:xfrm>
                <a:off x="1973" y="1253"/>
                <a:ext cx="816"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600"/>
                  <a:t>Input from CPU</a:t>
                </a:r>
                <a:endParaRPr lang="el-GR" altLang="en-US" sz="1600"/>
              </a:p>
            </p:txBody>
          </p:sp>
        </p:grpSp>
        <p:sp>
          <p:nvSpPr>
            <p:cNvPr id="55300" name="Rectangle 94">
              <a:extLst>
                <a:ext uri="{FF2B5EF4-FFF2-40B4-BE49-F238E27FC236}">
                  <a16:creationId xmlns:a16="http://schemas.microsoft.com/office/drawing/2014/main" id="{9E7E97E9-1667-DE45-A7E1-17CB5AEAFB12}"/>
                </a:ext>
              </a:extLst>
            </p:cNvPr>
            <p:cNvSpPr>
              <a:spLocks noChangeArrowheads="1"/>
            </p:cNvSpPr>
            <p:nvPr/>
          </p:nvSpPr>
          <p:spPr bwMode="auto">
            <a:xfrm>
              <a:off x="3833" y="1389"/>
              <a:ext cx="953"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Host interface</a:t>
              </a:r>
              <a:endParaRPr lang="el-GR" altLang="en-US" sz="1200"/>
            </a:p>
          </p:txBody>
        </p:sp>
        <p:sp>
          <p:nvSpPr>
            <p:cNvPr id="55301" name="Rectangle 97">
              <a:extLst>
                <a:ext uri="{FF2B5EF4-FFF2-40B4-BE49-F238E27FC236}">
                  <a16:creationId xmlns:a16="http://schemas.microsoft.com/office/drawing/2014/main" id="{C55D3E4B-0848-1E43-939C-4162A986303E}"/>
                </a:ext>
              </a:extLst>
            </p:cNvPr>
            <p:cNvSpPr>
              <a:spLocks noChangeArrowheads="1"/>
            </p:cNvSpPr>
            <p:nvPr/>
          </p:nvSpPr>
          <p:spPr bwMode="auto">
            <a:xfrm>
              <a:off x="3833" y="1752"/>
              <a:ext cx="953"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Vertex processing</a:t>
              </a:r>
              <a:endParaRPr lang="el-GR" altLang="en-US" sz="1200"/>
            </a:p>
          </p:txBody>
        </p:sp>
        <p:sp>
          <p:nvSpPr>
            <p:cNvPr id="55302" name="Rectangle 98">
              <a:extLst>
                <a:ext uri="{FF2B5EF4-FFF2-40B4-BE49-F238E27FC236}">
                  <a16:creationId xmlns:a16="http://schemas.microsoft.com/office/drawing/2014/main" id="{E87A4E1E-4A6B-0943-A30C-17AE0D372B14}"/>
                </a:ext>
              </a:extLst>
            </p:cNvPr>
            <p:cNvSpPr>
              <a:spLocks noChangeArrowheads="1"/>
            </p:cNvSpPr>
            <p:nvPr/>
          </p:nvSpPr>
          <p:spPr bwMode="auto">
            <a:xfrm>
              <a:off x="3833" y="2160"/>
              <a:ext cx="953"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Triangle setup</a:t>
              </a:r>
              <a:endParaRPr lang="el-GR" altLang="en-US" sz="1200"/>
            </a:p>
          </p:txBody>
        </p:sp>
        <p:sp>
          <p:nvSpPr>
            <p:cNvPr id="55303" name="Rectangle 100">
              <a:extLst>
                <a:ext uri="{FF2B5EF4-FFF2-40B4-BE49-F238E27FC236}">
                  <a16:creationId xmlns:a16="http://schemas.microsoft.com/office/drawing/2014/main" id="{BF9B38A7-310B-EB4D-815D-8915A61BFE84}"/>
                </a:ext>
              </a:extLst>
            </p:cNvPr>
            <p:cNvSpPr>
              <a:spLocks noChangeArrowheads="1"/>
            </p:cNvSpPr>
            <p:nvPr/>
          </p:nvSpPr>
          <p:spPr bwMode="auto">
            <a:xfrm>
              <a:off x="3833" y="2614"/>
              <a:ext cx="953"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Pixel processing</a:t>
              </a:r>
              <a:endParaRPr lang="el-GR" altLang="en-US" sz="1200"/>
            </a:p>
          </p:txBody>
        </p:sp>
        <p:sp>
          <p:nvSpPr>
            <p:cNvPr id="55304" name="Rectangle 101">
              <a:extLst>
                <a:ext uri="{FF2B5EF4-FFF2-40B4-BE49-F238E27FC236}">
                  <a16:creationId xmlns:a16="http://schemas.microsoft.com/office/drawing/2014/main" id="{6A35AE83-91BA-9340-A18B-5E3E47FB982C}"/>
                </a:ext>
              </a:extLst>
            </p:cNvPr>
            <p:cNvSpPr>
              <a:spLocks noChangeArrowheads="1"/>
            </p:cNvSpPr>
            <p:nvPr/>
          </p:nvSpPr>
          <p:spPr bwMode="auto">
            <a:xfrm>
              <a:off x="3833" y="3158"/>
              <a:ext cx="953" cy="136"/>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Memory Interface</a:t>
              </a:r>
              <a:endParaRPr lang="el-GR" altLang="en-US" sz="1200"/>
            </a:p>
          </p:txBody>
        </p:sp>
      </p:grpSp>
      <p:sp>
        <p:nvSpPr>
          <p:cNvPr id="2" name="Slide Number Placeholder 1">
            <a:extLst>
              <a:ext uri="{FF2B5EF4-FFF2-40B4-BE49-F238E27FC236}">
                <a16:creationId xmlns:a16="http://schemas.microsoft.com/office/drawing/2014/main" id="{4E07F62F-1F46-4547-A9A6-CB0DB0C26E7D}"/>
              </a:ext>
            </a:extLst>
          </p:cNvPr>
          <p:cNvSpPr>
            <a:spLocks noGrp="1"/>
          </p:cNvSpPr>
          <p:nvPr>
            <p:ph type="sldNum" sz="quarter" idx="12"/>
          </p:nvPr>
        </p:nvSpPr>
        <p:spPr/>
        <p:txBody>
          <a:bodyPr/>
          <a:lstStyle/>
          <a:p>
            <a:fld id="{92124849-AE39-1947-AFA1-94AB1ABB4CD1}"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DA0DFB55-5D6D-7848-B891-D7DAAD2C1C4C}"/>
              </a:ext>
            </a:extLst>
          </p:cNvPr>
          <p:cNvSpPr>
            <a:spLocks noGrp="1" noChangeArrowheads="1"/>
          </p:cNvSpPr>
          <p:nvPr>
            <p:ph type="title"/>
          </p:nvPr>
        </p:nvSpPr>
        <p:spPr/>
        <p:txBody>
          <a:bodyPr/>
          <a:lstStyle/>
          <a:p>
            <a:pPr eaLnBrk="1" hangingPunct="1"/>
            <a:r>
              <a:rPr lang="en-US" altLang="en-US" sz="4000"/>
              <a:t>CPU/GPU interaction</a:t>
            </a:r>
            <a:endParaRPr lang="el-GR" altLang="en-US" sz="4000"/>
          </a:p>
        </p:txBody>
      </p:sp>
      <p:sp>
        <p:nvSpPr>
          <p:cNvPr id="56322" name="Rectangle 3">
            <a:extLst>
              <a:ext uri="{FF2B5EF4-FFF2-40B4-BE49-F238E27FC236}">
                <a16:creationId xmlns:a16="http://schemas.microsoft.com/office/drawing/2014/main" id="{D017476F-AB70-4647-A9D2-C2366B7D27C8}"/>
              </a:ext>
            </a:extLst>
          </p:cNvPr>
          <p:cNvSpPr>
            <a:spLocks noGrp="1" noChangeArrowheads="1"/>
          </p:cNvSpPr>
          <p:nvPr>
            <p:ph type="body" idx="1"/>
          </p:nvPr>
        </p:nvSpPr>
        <p:spPr/>
        <p:txBody>
          <a:bodyPr/>
          <a:lstStyle/>
          <a:p>
            <a:pPr eaLnBrk="1" hangingPunct="1"/>
            <a:r>
              <a:rPr lang="en-US" altLang="en-US" sz="2400"/>
              <a:t>The CPU and GPU inside the PC work in parallel with each other</a:t>
            </a:r>
          </a:p>
          <a:p>
            <a:pPr eaLnBrk="1" hangingPunct="1"/>
            <a:r>
              <a:rPr lang="en-US" altLang="en-US" sz="2400"/>
              <a:t>There are two “threads” going on, one for the CPU and one for the GPU, which communicate through a command buffer:</a:t>
            </a:r>
          </a:p>
          <a:p>
            <a:pPr eaLnBrk="1" hangingPunct="1">
              <a:buFontTx/>
              <a:buNone/>
            </a:pPr>
            <a:endParaRPr lang="en-US" altLang="en-US" sz="2400"/>
          </a:p>
        </p:txBody>
      </p:sp>
      <p:grpSp>
        <p:nvGrpSpPr>
          <p:cNvPr id="56323" name="Group 11">
            <a:extLst>
              <a:ext uri="{FF2B5EF4-FFF2-40B4-BE49-F238E27FC236}">
                <a16:creationId xmlns:a16="http://schemas.microsoft.com/office/drawing/2014/main" id="{DFD7559C-5680-BA46-8A2A-3FD36221CEE8}"/>
              </a:ext>
            </a:extLst>
          </p:cNvPr>
          <p:cNvGrpSpPr>
            <a:grpSpLocks/>
          </p:cNvGrpSpPr>
          <p:nvPr/>
        </p:nvGrpSpPr>
        <p:grpSpPr bwMode="auto">
          <a:xfrm>
            <a:off x="3503614" y="3573464"/>
            <a:ext cx="4968875" cy="2232025"/>
            <a:chOff x="1247" y="2251"/>
            <a:chExt cx="3130" cy="1406"/>
          </a:xfrm>
        </p:grpSpPr>
        <p:sp>
          <p:nvSpPr>
            <p:cNvPr id="56324" name="Rectangle 5">
              <a:extLst>
                <a:ext uri="{FF2B5EF4-FFF2-40B4-BE49-F238E27FC236}">
                  <a16:creationId xmlns:a16="http://schemas.microsoft.com/office/drawing/2014/main" id="{5EA07200-53FA-F448-AC40-D59AC17C511C}"/>
                </a:ext>
              </a:extLst>
            </p:cNvPr>
            <p:cNvSpPr>
              <a:spLocks noChangeArrowheads="1"/>
            </p:cNvSpPr>
            <p:nvPr/>
          </p:nvSpPr>
          <p:spPr bwMode="auto">
            <a:xfrm>
              <a:off x="1247" y="2840"/>
              <a:ext cx="3130" cy="273"/>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6325" name="Line 6">
              <a:extLst>
                <a:ext uri="{FF2B5EF4-FFF2-40B4-BE49-F238E27FC236}">
                  <a16:creationId xmlns:a16="http://schemas.microsoft.com/office/drawing/2014/main" id="{BBB118BA-F13C-874A-A9BA-F89F5EA80BD6}"/>
                </a:ext>
              </a:extLst>
            </p:cNvPr>
            <p:cNvSpPr>
              <a:spLocks noChangeShapeType="1"/>
            </p:cNvSpPr>
            <p:nvPr/>
          </p:nvSpPr>
          <p:spPr bwMode="auto">
            <a:xfrm>
              <a:off x="3969" y="2523"/>
              <a:ext cx="0" cy="31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6326" name="Line 7">
              <a:extLst>
                <a:ext uri="{FF2B5EF4-FFF2-40B4-BE49-F238E27FC236}">
                  <a16:creationId xmlns:a16="http://schemas.microsoft.com/office/drawing/2014/main" id="{7CB42649-0BA5-E542-8A52-428D2CD3F3FA}"/>
                </a:ext>
              </a:extLst>
            </p:cNvPr>
            <p:cNvSpPr>
              <a:spLocks noChangeShapeType="1"/>
            </p:cNvSpPr>
            <p:nvPr/>
          </p:nvSpPr>
          <p:spPr bwMode="auto">
            <a:xfrm flipV="1">
              <a:off x="1610" y="3113"/>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6327" name="Rectangle 8">
              <a:extLst>
                <a:ext uri="{FF2B5EF4-FFF2-40B4-BE49-F238E27FC236}">
                  <a16:creationId xmlns:a16="http://schemas.microsoft.com/office/drawing/2014/main" id="{F62B68C4-EED0-A749-B00A-9EB2B006BA78}"/>
                </a:ext>
              </a:extLst>
            </p:cNvPr>
            <p:cNvSpPr>
              <a:spLocks noChangeArrowheads="1"/>
            </p:cNvSpPr>
            <p:nvPr/>
          </p:nvSpPr>
          <p:spPr bwMode="auto">
            <a:xfrm>
              <a:off x="1247" y="3385"/>
              <a:ext cx="726" cy="27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600"/>
                <a:t>CPU writes commands here </a:t>
              </a:r>
              <a:endParaRPr lang="el-GR" altLang="en-US" sz="1600"/>
            </a:p>
          </p:txBody>
        </p:sp>
        <p:sp>
          <p:nvSpPr>
            <p:cNvPr id="56328" name="Rectangle 9">
              <a:extLst>
                <a:ext uri="{FF2B5EF4-FFF2-40B4-BE49-F238E27FC236}">
                  <a16:creationId xmlns:a16="http://schemas.microsoft.com/office/drawing/2014/main" id="{7B3175F8-8ED1-B84D-A0A3-A9235A830735}"/>
                </a:ext>
              </a:extLst>
            </p:cNvPr>
            <p:cNvSpPr>
              <a:spLocks noChangeArrowheads="1"/>
            </p:cNvSpPr>
            <p:nvPr/>
          </p:nvSpPr>
          <p:spPr bwMode="auto">
            <a:xfrm>
              <a:off x="3606" y="2251"/>
              <a:ext cx="726" cy="27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600"/>
                <a:t>GPU reads commands from here </a:t>
              </a:r>
              <a:endParaRPr lang="el-GR" altLang="en-US" sz="1600"/>
            </a:p>
          </p:txBody>
        </p:sp>
        <p:sp>
          <p:nvSpPr>
            <p:cNvPr id="56329" name="Rectangle 10">
              <a:extLst>
                <a:ext uri="{FF2B5EF4-FFF2-40B4-BE49-F238E27FC236}">
                  <a16:creationId xmlns:a16="http://schemas.microsoft.com/office/drawing/2014/main" id="{849D50AB-8869-FE45-91C0-DCCD7C6219A2}"/>
                </a:ext>
              </a:extLst>
            </p:cNvPr>
            <p:cNvSpPr>
              <a:spLocks noChangeArrowheads="1"/>
            </p:cNvSpPr>
            <p:nvPr/>
          </p:nvSpPr>
          <p:spPr bwMode="auto">
            <a:xfrm>
              <a:off x="1610" y="2840"/>
              <a:ext cx="2359" cy="273"/>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800"/>
                <a:t>Pending GPU commands </a:t>
              </a:r>
              <a:endParaRPr lang="el-GR" altLang="en-US" sz="1800"/>
            </a:p>
          </p:txBody>
        </p:sp>
      </p:grpSp>
      <p:sp>
        <p:nvSpPr>
          <p:cNvPr id="2" name="Slide Number Placeholder 1">
            <a:extLst>
              <a:ext uri="{FF2B5EF4-FFF2-40B4-BE49-F238E27FC236}">
                <a16:creationId xmlns:a16="http://schemas.microsoft.com/office/drawing/2014/main" id="{29771B14-6404-D643-80D5-EECE92A84CF2}"/>
              </a:ext>
            </a:extLst>
          </p:cNvPr>
          <p:cNvSpPr>
            <a:spLocks noGrp="1"/>
          </p:cNvSpPr>
          <p:nvPr>
            <p:ph type="sldNum" sz="quarter" idx="12"/>
          </p:nvPr>
        </p:nvSpPr>
        <p:spPr/>
        <p:txBody>
          <a:bodyPr/>
          <a:lstStyle/>
          <a:p>
            <a:fld id="{92124849-AE39-1947-AFA1-94AB1ABB4CD1}"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B03D6166-8373-1243-87CF-F601E856874D}"/>
              </a:ext>
            </a:extLst>
          </p:cNvPr>
          <p:cNvSpPr>
            <a:spLocks noGrp="1" noChangeArrowheads="1"/>
          </p:cNvSpPr>
          <p:nvPr>
            <p:ph type="title"/>
          </p:nvPr>
        </p:nvSpPr>
        <p:spPr/>
        <p:txBody>
          <a:bodyPr/>
          <a:lstStyle/>
          <a:p>
            <a:pPr eaLnBrk="1" hangingPunct="1"/>
            <a:r>
              <a:rPr lang="en-US" altLang="en-US" sz="4000"/>
              <a:t>CPU/GPU interaction (cont)</a:t>
            </a:r>
            <a:endParaRPr lang="el-GR" altLang="en-US" sz="4000"/>
          </a:p>
        </p:txBody>
      </p:sp>
      <p:sp>
        <p:nvSpPr>
          <p:cNvPr id="57346" name="Rectangle 3">
            <a:extLst>
              <a:ext uri="{FF2B5EF4-FFF2-40B4-BE49-F238E27FC236}">
                <a16:creationId xmlns:a16="http://schemas.microsoft.com/office/drawing/2014/main" id="{E5F33233-7294-774B-8618-D445AA6E8202}"/>
              </a:ext>
            </a:extLst>
          </p:cNvPr>
          <p:cNvSpPr>
            <a:spLocks noGrp="1" noChangeArrowheads="1"/>
          </p:cNvSpPr>
          <p:nvPr>
            <p:ph type="body" idx="1"/>
          </p:nvPr>
        </p:nvSpPr>
        <p:spPr/>
        <p:txBody>
          <a:bodyPr/>
          <a:lstStyle/>
          <a:p>
            <a:pPr eaLnBrk="1" hangingPunct="1"/>
            <a:r>
              <a:rPr lang="en-US" altLang="en-US" sz="2400"/>
              <a:t>If this command buffer is drained empty, we are CPU limited and the GPU will spin around waiting for new input. All the GPU power in the universe isn’t going to make your application faster!</a:t>
            </a:r>
          </a:p>
          <a:p>
            <a:pPr eaLnBrk="1" hangingPunct="1"/>
            <a:r>
              <a:rPr lang="en-US" altLang="en-US" sz="2400"/>
              <a:t>If the command buffer fills up, the CPU will spin around waiting for the GPU to consume it, and we are effectively GPU limited</a:t>
            </a:r>
          </a:p>
          <a:p>
            <a:pPr eaLnBrk="1" hangingPunct="1"/>
            <a:endParaRPr lang="el-GR" altLang="en-US" sz="2400"/>
          </a:p>
        </p:txBody>
      </p:sp>
      <p:sp>
        <p:nvSpPr>
          <p:cNvPr id="2" name="Slide Number Placeholder 1">
            <a:extLst>
              <a:ext uri="{FF2B5EF4-FFF2-40B4-BE49-F238E27FC236}">
                <a16:creationId xmlns:a16="http://schemas.microsoft.com/office/drawing/2014/main" id="{C91F4643-41BA-C041-B007-369122F7E823}"/>
              </a:ext>
            </a:extLst>
          </p:cNvPr>
          <p:cNvSpPr>
            <a:spLocks noGrp="1"/>
          </p:cNvSpPr>
          <p:nvPr>
            <p:ph type="sldNum" sz="quarter" idx="12"/>
          </p:nvPr>
        </p:nvSpPr>
        <p:spPr/>
        <p:txBody>
          <a:bodyPr/>
          <a:lstStyle/>
          <a:p>
            <a:fld id="{92124849-AE39-1947-AFA1-94AB1ABB4CD1}"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825BF6E4-B741-7344-AD4E-5688781BFDDB}"/>
              </a:ext>
            </a:extLst>
          </p:cNvPr>
          <p:cNvSpPr>
            <a:spLocks noGrp="1" noChangeArrowheads="1"/>
          </p:cNvSpPr>
          <p:nvPr>
            <p:ph type="title"/>
          </p:nvPr>
        </p:nvSpPr>
        <p:spPr/>
        <p:txBody>
          <a:bodyPr/>
          <a:lstStyle/>
          <a:p>
            <a:pPr eaLnBrk="1" hangingPunct="1"/>
            <a:r>
              <a:rPr lang="en-US" altLang="en-US" sz="4000"/>
              <a:t>CPU/GPU interaction (cont)</a:t>
            </a:r>
            <a:endParaRPr lang="el-GR" altLang="en-US" sz="4000"/>
          </a:p>
        </p:txBody>
      </p:sp>
      <p:sp>
        <p:nvSpPr>
          <p:cNvPr id="58370" name="Rectangle 3">
            <a:extLst>
              <a:ext uri="{FF2B5EF4-FFF2-40B4-BE49-F238E27FC236}">
                <a16:creationId xmlns:a16="http://schemas.microsoft.com/office/drawing/2014/main" id="{8A60CF83-234E-2048-82A4-379B37E76830}"/>
              </a:ext>
            </a:extLst>
          </p:cNvPr>
          <p:cNvSpPr>
            <a:spLocks noGrp="1" noChangeArrowheads="1"/>
          </p:cNvSpPr>
          <p:nvPr>
            <p:ph type="body" idx="1"/>
          </p:nvPr>
        </p:nvSpPr>
        <p:spPr/>
        <p:txBody>
          <a:bodyPr/>
          <a:lstStyle/>
          <a:p>
            <a:pPr eaLnBrk="1" hangingPunct="1"/>
            <a:r>
              <a:rPr lang="en-US" altLang="en-US" sz="2400"/>
              <a:t>Another important point to consider is that programs that use the GPU do not follow the traditional sequential execution model</a:t>
            </a:r>
          </a:p>
          <a:p>
            <a:pPr eaLnBrk="1" hangingPunct="1"/>
            <a:r>
              <a:rPr lang="en-US" altLang="en-US" sz="2400"/>
              <a:t>In the CPU program below, the object is not drawn after statement A and before statement B:</a:t>
            </a:r>
          </a:p>
          <a:p>
            <a:pPr eaLnBrk="1" hangingPunct="1"/>
            <a:endParaRPr lang="en-US" altLang="en-US" sz="2400"/>
          </a:p>
          <a:p>
            <a:pPr eaLnBrk="1" hangingPunct="1"/>
            <a:endParaRPr lang="en-US" altLang="en-US" sz="2400"/>
          </a:p>
          <a:p>
            <a:pPr eaLnBrk="1" hangingPunct="1">
              <a:buFontTx/>
              <a:buNone/>
            </a:pPr>
            <a:r>
              <a:rPr lang="en-US" altLang="en-US" sz="2400"/>
              <a:t>            </a:t>
            </a:r>
          </a:p>
          <a:p>
            <a:pPr eaLnBrk="1" hangingPunct="1"/>
            <a:r>
              <a:rPr lang="en-US" altLang="en-US" sz="2400"/>
              <a:t>Instead, all the API call does, is to add the command to draw the object to the GPU command buffer </a:t>
            </a:r>
            <a:endParaRPr lang="el-GR" altLang="en-US" sz="2400"/>
          </a:p>
        </p:txBody>
      </p:sp>
      <p:sp>
        <p:nvSpPr>
          <p:cNvPr id="58371" name="Rectangle 4">
            <a:extLst>
              <a:ext uri="{FF2B5EF4-FFF2-40B4-BE49-F238E27FC236}">
                <a16:creationId xmlns:a16="http://schemas.microsoft.com/office/drawing/2014/main" id="{F0F12F80-5DC3-F041-B873-74340C1F9917}"/>
              </a:ext>
            </a:extLst>
          </p:cNvPr>
          <p:cNvSpPr>
            <a:spLocks noChangeArrowheads="1"/>
          </p:cNvSpPr>
          <p:nvPr/>
        </p:nvSpPr>
        <p:spPr bwMode="auto">
          <a:xfrm>
            <a:off x="3143251" y="3716338"/>
            <a:ext cx="2447925" cy="100806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DA0808"/>
              </a:buClr>
              <a:buSzPct val="80000"/>
              <a:buFont typeface="Wingdings" pitchFamily="2" charset="2"/>
              <a:buChar char="l"/>
              <a:defRPr sz="3200">
                <a:solidFill>
                  <a:schemeClr val="tx1"/>
                </a:solidFill>
                <a:latin typeface="Arial" panose="020B0604020202020204" pitchFamily="34" charset="0"/>
              </a:defRPr>
            </a:lvl1pPr>
            <a:lvl2pPr marL="742950" indent="-285750">
              <a:spcBef>
                <a:spcPct val="20000"/>
              </a:spcBef>
              <a:buClr>
                <a:srgbClr val="DA0808"/>
              </a:buClr>
              <a:buSzPct val="70000"/>
              <a:buFont typeface="Wingdings" pitchFamily="2" charset="2"/>
              <a:buChar char="l"/>
              <a:defRPr sz="2800">
                <a:solidFill>
                  <a:schemeClr val="tx1"/>
                </a:solidFill>
                <a:latin typeface="Arial" panose="020B0604020202020204" pitchFamily="34" charset="0"/>
              </a:defRPr>
            </a:lvl2pPr>
            <a:lvl3pPr marL="1143000" indent="-228600">
              <a:spcBef>
                <a:spcPct val="20000"/>
              </a:spcBef>
              <a:buClr>
                <a:srgbClr val="DA0808"/>
              </a:buClr>
              <a:buSzPct val="65000"/>
              <a:buFont typeface="Wingdings" pitchFamily="2" charset="2"/>
              <a:buChar char="l"/>
              <a:defRPr sz="2400">
                <a:solidFill>
                  <a:schemeClr val="tx1"/>
                </a:solidFill>
                <a:latin typeface="Arial" panose="020B0604020202020204" pitchFamily="34" charset="0"/>
              </a:defRPr>
            </a:lvl3pPr>
            <a:lvl4pPr marL="1600200" indent="-228600">
              <a:spcBef>
                <a:spcPct val="20000"/>
              </a:spcBef>
              <a:buClr>
                <a:srgbClr val="DA0808"/>
              </a:buClr>
              <a:buSzPct val="60000"/>
              <a:buFont typeface="Wingdings" pitchFamily="2" charset="2"/>
              <a:buChar char="l"/>
              <a:defRPr sz="2000">
                <a:solidFill>
                  <a:schemeClr val="tx1"/>
                </a:solidFill>
                <a:latin typeface="Arial" panose="020B0604020202020204" pitchFamily="34" charset="0"/>
              </a:defRPr>
            </a:lvl4pPr>
            <a:lvl5pPr marL="2057400" indent="-228600">
              <a:spcBef>
                <a:spcPct val="20000"/>
              </a:spcBef>
              <a:buClr>
                <a:srgbClr val="DA0808"/>
              </a:buClr>
              <a:buSzPct val="4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DA0808"/>
              </a:buClr>
              <a:buSzPct val="40000"/>
              <a:buFont typeface="Wingdings" pitchFamily="2" charset="2"/>
              <a:buChar char="l"/>
              <a:defRPr sz="2000">
                <a:solidFill>
                  <a:schemeClr val="tx1"/>
                </a:solidFill>
                <a:latin typeface="Arial" panose="020B0604020202020204" pitchFamily="34" charset="0"/>
              </a:defRPr>
            </a:lvl9pPr>
          </a:lstStyle>
          <a:p>
            <a:pPr>
              <a:spcBef>
                <a:spcPct val="0"/>
              </a:spcBef>
              <a:buClrTx/>
              <a:buSzTx/>
              <a:buFontTx/>
              <a:buChar char="•"/>
            </a:pPr>
            <a:r>
              <a:rPr lang="en-US" altLang="en-US" sz="1800"/>
              <a:t>Statement A</a:t>
            </a:r>
          </a:p>
          <a:p>
            <a:pPr>
              <a:spcBef>
                <a:spcPct val="0"/>
              </a:spcBef>
              <a:buClrTx/>
              <a:buSzTx/>
              <a:buFontTx/>
              <a:buChar char="•"/>
            </a:pPr>
            <a:r>
              <a:rPr lang="en-US" altLang="en-US" sz="1800">
                <a:solidFill>
                  <a:srgbClr val="990000"/>
                </a:solidFill>
              </a:rPr>
              <a:t>API call to draw object</a:t>
            </a:r>
          </a:p>
          <a:p>
            <a:pPr>
              <a:spcBef>
                <a:spcPct val="0"/>
              </a:spcBef>
              <a:buClrTx/>
              <a:buSzTx/>
              <a:buFontTx/>
              <a:buChar char="•"/>
            </a:pPr>
            <a:r>
              <a:rPr lang="en-US" altLang="en-US" sz="1800"/>
              <a:t>Statement B</a:t>
            </a:r>
            <a:endParaRPr lang="el-GR" altLang="en-US" sz="1800"/>
          </a:p>
        </p:txBody>
      </p:sp>
      <p:sp>
        <p:nvSpPr>
          <p:cNvPr id="2" name="Slide Number Placeholder 1">
            <a:extLst>
              <a:ext uri="{FF2B5EF4-FFF2-40B4-BE49-F238E27FC236}">
                <a16:creationId xmlns:a16="http://schemas.microsoft.com/office/drawing/2014/main" id="{2639786A-EBA2-684D-8F70-DFF6DA5199A4}"/>
              </a:ext>
            </a:extLst>
          </p:cNvPr>
          <p:cNvSpPr>
            <a:spLocks noGrp="1"/>
          </p:cNvSpPr>
          <p:nvPr>
            <p:ph type="sldNum" sz="quarter" idx="12"/>
          </p:nvPr>
        </p:nvSpPr>
        <p:spPr/>
        <p:txBody>
          <a:bodyPr/>
          <a:lstStyle/>
          <a:p>
            <a:fld id="{92124849-AE39-1947-AFA1-94AB1ABB4CD1}"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Grids, Blocks, and Threads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244" y="1940138"/>
            <a:ext cx="4629512" cy="4112319"/>
          </a:xfrm>
          <a:prstGeom prst="rect">
            <a:avLst/>
          </a:prstGeom>
        </p:spPr>
      </p:pic>
      <p:sp>
        <p:nvSpPr>
          <p:cNvPr id="2" name="Slide Number Placeholder 1">
            <a:extLst>
              <a:ext uri="{FF2B5EF4-FFF2-40B4-BE49-F238E27FC236}">
                <a16:creationId xmlns:a16="http://schemas.microsoft.com/office/drawing/2014/main" id="{DE5D9507-26E8-B449-AB19-33881DAE6EE8}"/>
              </a:ext>
            </a:extLst>
          </p:cNvPr>
          <p:cNvSpPr>
            <a:spLocks noGrp="1"/>
          </p:cNvSpPr>
          <p:nvPr>
            <p:ph type="sldNum" sz="quarter" idx="12"/>
          </p:nvPr>
        </p:nvSpPr>
        <p:spPr/>
        <p:txBody>
          <a:bodyPr/>
          <a:lstStyle/>
          <a:p>
            <a:fld id="{92124849-AE39-1947-AFA1-94AB1ABB4CD1}" type="slidenum">
              <a:rPr lang="en-US" smtClean="0"/>
              <a:pPr/>
              <a:t>36</a:t>
            </a:fld>
            <a:endParaRPr lang="en-US"/>
          </a:p>
        </p:txBody>
      </p:sp>
    </p:spTree>
    <p:extLst>
      <p:ext uri="{BB962C8B-B14F-4D97-AF65-F5344CB8AC3E}">
        <p14:creationId xmlns:p14="http://schemas.microsoft.com/office/powerpoint/2010/main" val="902919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CUDA Memory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4044" y="1940138"/>
            <a:ext cx="4629512" cy="4112319"/>
          </a:xfrm>
          <a:prstGeom prst="rect">
            <a:avLst/>
          </a:prstGeom>
        </p:spPr>
      </p:pic>
      <p:grpSp>
        <p:nvGrpSpPr>
          <p:cNvPr id="12" name="Group 11"/>
          <p:cNvGrpSpPr/>
          <p:nvPr/>
        </p:nvGrpSpPr>
        <p:grpSpPr>
          <a:xfrm>
            <a:off x="6735031" y="3538248"/>
            <a:ext cx="2792927" cy="369332"/>
            <a:chOff x="6328230" y="3538248"/>
            <a:chExt cx="2792927" cy="369332"/>
          </a:xfrm>
        </p:grpSpPr>
        <p:cxnSp>
          <p:nvCxnSpPr>
            <p:cNvPr id="8" name="Straight Arrow Connector 7"/>
            <p:cNvCxnSpPr/>
            <p:nvPr/>
          </p:nvCxnSpPr>
          <p:spPr>
            <a:xfrm flipH="1">
              <a:off x="6328230" y="3722914"/>
              <a:ext cx="83457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62800" y="3538248"/>
              <a:ext cx="1958357" cy="369332"/>
            </a:xfrm>
            <a:prstGeom prst="rect">
              <a:avLst/>
            </a:prstGeom>
            <a:noFill/>
          </p:spPr>
          <p:txBody>
            <a:bodyPr wrap="none" rtlCol="0">
              <a:spAutoFit/>
            </a:bodyPr>
            <a:lstStyle/>
            <a:p>
              <a:r>
                <a:rPr lang="en-US" dirty="0"/>
                <a:t>Fastest, per-thread</a:t>
              </a:r>
            </a:p>
          </p:txBody>
        </p:sp>
      </p:grpSp>
      <p:grpSp>
        <p:nvGrpSpPr>
          <p:cNvPr id="13" name="Group 12"/>
          <p:cNvGrpSpPr/>
          <p:nvPr/>
        </p:nvGrpSpPr>
        <p:grpSpPr>
          <a:xfrm>
            <a:off x="6735030" y="3067529"/>
            <a:ext cx="2563890" cy="369332"/>
            <a:chOff x="6328230" y="3538248"/>
            <a:chExt cx="2563890" cy="369332"/>
          </a:xfrm>
        </p:grpSpPr>
        <p:cxnSp>
          <p:nvCxnSpPr>
            <p:cNvPr id="14" name="Straight Arrow Connector 13"/>
            <p:cNvCxnSpPr/>
            <p:nvPr/>
          </p:nvCxnSpPr>
          <p:spPr>
            <a:xfrm flipH="1">
              <a:off x="6328230" y="3722914"/>
              <a:ext cx="83457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162800" y="3538248"/>
              <a:ext cx="1729320" cy="369332"/>
            </a:xfrm>
            <a:prstGeom prst="rect">
              <a:avLst/>
            </a:prstGeom>
            <a:noFill/>
          </p:spPr>
          <p:txBody>
            <a:bodyPr wrap="none" rtlCol="0">
              <a:spAutoFit/>
            </a:bodyPr>
            <a:lstStyle/>
            <a:p>
              <a:r>
                <a:rPr lang="en-US" dirty="0"/>
                <a:t>Faster, per-block</a:t>
              </a:r>
            </a:p>
          </p:txBody>
        </p:sp>
      </p:grpSp>
      <p:grpSp>
        <p:nvGrpSpPr>
          <p:cNvPr id="16" name="Group 15"/>
          <p:cNvGrpSpPr/>
          <p:nvPr/>
        </p:nvGrpSpPr>
        <p:grpSpPr>
          <a:xfrm>
            <a:off x="6735030" y="4831015"/>
            <a:ext cx="2317348" cy="369332"/>
            <a:chOff x="6328230" y="3538248"/>
            <a:chExt cx="2317348" cy="369332"/>
          </a:xfrm>
        </p:grpSpPr>
        <p:cxnSp>
          <p:nvCxnSpPr>
            <p:cNvPr id="17" name="Straight Arrow Connector 16"/>
            <p:cNvCxnSpPr/>
            <p:nvPr/>
          </p:nvCxnSpPr>
          <p:spPr>
            <a:xfrm flipH="1">
              <a:off x="6328230" y="3722914"/>
              <a:ext cx="83457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62800" y="3538248"/>
              <a:ext cx="1482778" cy="369332"/>
            </a:xfrm>
            <a:prstGeom prst="rect">
              <a:avLst/>
            </a:prstGeom>
            <a:noFill/>
          </p:spPr>
          <p:txBody>
            <a:bodyPr wrap="none" rtlCol="0">
              <a:spAutoFit/>
            </a:bodyPr>
            <a:lstStyle/>
            <a:p>
              <a:r>
                <a:rPr lang="en-US" dirty="0"/>
                <a:t>Slower, global</a:t>
              </a:r>
            </a:p>
          </p:txBody>
        </p:sp>
      </p:grpSp>
      <p:grpSp>
        <p:nvGrpSpPr>
          <p:cNvPr id="19" name="Group 18"/>
          <p:cNvGrpSpPr/>
          <p:nvPr/>
        </p:nvGrpSpPr>
        <p:grpSpPr>
          <a:xfrm>
            <a:off x="6735031" y="5349402"/>
            <a:ext cx="2716817" cy="369332"/>
            <a:chOff x="6328230" y="3538248"/>
            <a:chExt cx="2716817" cy="369332"/>
          </a:xfrm>
        </p:grpSpPr>
        <p:cxnSp>
          <p:nvCxnSpPr>
            <p:cNvPr id="20" name="Straight Arrow Connector 19"/>
            <p:cNvCxnSpPr/>
            <p:nvPr/>
          </p:nvCxnSpPr>
          <p:spPr>
            <a:xfrm flipH="1">
              <a:off x="6328230" y="3722914"/>
              <a:ext cx="83457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162800" y="3538248"/>
              <a:ext cx="1882247" cy="369332"/>
            </a:xfrm>
            <a:prstGeom prst="rect">
              <a:avLst/>
            </a:prstGeom>
            <a:noFill/>
          </p:spPr>
          <p:txBody>
            <a:bodyPr wrap="none" rtlCol="0">
              <a:spAutoFit/>
            </a:bodyPr>
            <a:lstStyle/>
            <a:p>
              <a:r>
                <a:rPr lang="en-US" dirty="0"/>
                <a:t>Read-only, cached</a:t>
              </a:r>
            </a:p>
          </p:txBody>
        </p:sp>
      </p:grpSp>
      <p:sp>
        <p:nvSpPr>
          <p:cNvPr id="2" name="Slide Number Placeholder 1">
            <a:extLst>
              <a:ext uri="{FF2B5EF4-FFF2-40B4-BE49-F238E27FC236}">
                <a16:creationId xmlns:a16="http://schemas.microsoft.com/office/drawing/2014/main" id="{0F02A03B-A8CC-2746-AA83-DE87198D675E}"/>
              </a:ext>
            </a:extLst>
          </p:cNvPr>
          <p:cNvSpPr>
            <a:spLocks noGrp="1"/>
          </p:cNvSpPr>
          <p:nvPr>
            <p:ph type="sldNum" sz="quarter" idx="12"/>
          </p:nvPr>
        </p:nvSpPr>
        <p:spPr/>
        <p:txBody>
          <a:bodyPr/>
          <a:lstStyle/>
          <a:p>
            <a:fld id="{92124849-AE39-1947-AFA1-94AB1ABB4CD1}" type="slidenum">
              <a:rPr lang="en-US" smtClean="0"/>
              <a:pPr/>
              <a:t>37</a:t>
            </a:fld>
            <a:endParaRPr lang="en-US"/>
          </a:p>
        </p:txBody>
      </p:sp>
    </p:spTree>
    <p:extLst>
      <p:ext uri="{BB962C8B-B14F-4D97-AF65-F5344CB8AC3E}">
        <p14:creationId xmlns:p14="http://schemas.microsoft.com/office/powerpoint/2010/main" val="34131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Picture 4">
            <a:extLst>
              <a:ext uri="{FF2B5EF4-FFF2-40B4-BE49-F238E27FC236}">
                <a16:creationId xmlns:a16="http://schemas.microsoft.com/office/drawing/2014/main" id="{9F0CFE9F-8141-2843-9CAA-7A6D3ED90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667000"/>
            <a:ext cx="4419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2" name="Title 2">
            <a:extLst>
              <a:ext uri="{FF2B5EF4-FFF2-40B4-BE49-F238E27FC236}">
                <a16:creationId xmlns:a16="http://schemas.microsoft.com/office/drawing/2014/main" id="{BA78219D-83D5-124D-B3FB-BB5F40CBE261}"/>
              </a:ext>
            </a:extLst>
          </p:cNvPr>
          <p:cNvSpPr>
            <a:spLocks noGrp="1" noChangeArrowheads="1"/>
          </p:cNvSpPr>
          <p:nvPr>
            <p:ph type="title"/>
          </p:nvPr>
        </p:nvSpPr>
        <p:spPr/>
        <p:txBody>
          <a:bodyPr/>
          <a:lstStyle/>
          <a:p>
            <a:pPr eaLnBrk="1" hangingPunct="1"/>
            <a:r>
              <a:rPr lang="en-US" altLang="en-US" sz="3600"/>
              <a:t>Graphics Hardware Abstraction</a:t>
            </a:r>
            <a:endParaRPr lang="en-US" altLang="en-US"/>
          </a:p>
        </p:txBody>
      </p:sp>
      <p:sp>
        <p:nvSpPr>
          <p:cNvPr id="66563" name="Content Placeholder 3">
            <a:extLst>
              <a:ext uri="{FF2B5EF4-FFF2-40B4-BE49-F238E27FC236}">
                <a16:creationId xmlns:a16="http://schemas.microsoft.com/office/drawing/2014/main" id="{1ABA36FF-7F47-A642-BB17-45684D7C4CA4}"/>
              </a:ext>
            </a:extLst>
          </p:cNvPr>
          <p:cNvSpPr>
            <a:spLocks noGrp="1" noChangeArrowheads="1"/>
          </p:cNvSpPr>
          <p:nvPr>
            <p:ph idx="1"/>
          </p:nvPr>
        </p:nvSpPr>
        <p:spPr/>
        <p:txBody>
          <a:bodyPr/>
          <a:lstStyle/>
          <a:p>
            <a:pPr eaLnBrk="1" hangingPunct="1"/>
            <a:r>
              <a:rPr lang="en-US" altLang="en-US"/>
              <a:t>OpenGL and DirectX provide an abstraction of the hardware.</a:t>
            </a:r>
          </a:p>
        </p:txBody>
      </p:sp>
      <p:sp>
        <p:nvSpPr>
          <p:cNvPr id="2" name="Slide Number Placeholder 1">
            <a:extLst>
              <a:ext uri="{FF2B5EF4-FFF2-40B4-BE49-F238E27FC236}">
                <a16:creationId xmlns:a16="http://schemas.microsoft.com/office/drawing/2014/main" id="{9D4F5B57-25E8-E54D-99BA-0F5C1C73D4CC}"/>
              </a:ext>
            </a:extLst>
          </p:cNvPr>
          <p:cNvSpPr>
            <a:spLocks noGrp="1"/>
          </p:cNvSpPr>
          <p:nvPr>
            <p:ph type="sldNum" sz="quarter" idx="12"/>
          </p:nvPr>
        </p:nvSpPr>
        <p:spPr/>
        <p:txBody>
          <a:bodyPr/>
          <a:lstStyle/>
          <a:p>
            <a:fld id="{92124849-AE39-1947-AFA1-94AB1ABB4CD1}"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using CUDA</a:t>
            </a:r>
          </a:p>
        </p:txBody>
      </p:sp>
      <p:sp>
        <p:nvSpPr>
          <p:cNvPr id="3" name="Content Placeholder 2"/>
          <p:cNvSpPr>
            <a:spLocks noGrp="1"/>
          </p:cNvSpPr>
          <p:nvPr>
            <p:ph idx="1"/>
          </p:nvPr>
        </p:nvSpPr>
        <p:spPr>
          <a:xfrm>
            <a:off x="2346961" y="914400"/>
            <a:ext cx="4082869" cy="4023360"/>
          </a:xfrm>
        </p:spPr>
        <p:txBody>
          <a:bodyPr>
            <a:normAutofit/>
          </a:bodyPr>
          <a:lstStyle/>
          <a:p>
            <a:endParaRPr lang="en-US" dirty="0">
              <a:solidFill>
                <a:srgbClr val="00F6FF"/>
              </a:solidFill>
              <a:latin typeface="Helvetica" panose="020B0604020202020204" pitchFamily="34" charset="0"/>
              <a:cs typeface="Helvetica" panose="020B0604020202020204" pitchFamily="34" charset="0"/>
            </a:endParaRPr>
          </a:p>
          <a:p>
            <a:r>
              <a:rPr lang="en-US" dirty="0">
                <a:solidFill>
                  <a:srgbClr val="00F6FF"/>
                </a:solidFill>
                <a:latin typeface="Helvetica" panose="020B0604020202020204" pitchFamily="34" charset="0"/>
                <a:cs typeface="Helvetica" panose="020B0604020202020204" pitchFamily="34" charset="0"/>
              </a:rPr>
              <a:t>Compute Unified Device Architecture</a:t>
            </a:r>
          </a:p>
          <a:p>
            <a:endParaRPr lang="en-US" sz="1800" dirty="0">
              <a:solidFill>
                <a:srgbClr val="92D050"/>
              </a:solidFill>
              <a:latin typeface="Consolas" panose="020B0609020204030204" pitchFamily="49" charset="0"/>
              <a:cs typeface="Consolas" panose="020B0609020204030204" pitchFamily="49" charset="0"/>
            </a:endParaRPr>
          </a:p>
          <a:p>
            <a:r>
              <a:rPr lang="en-US" sz="1800" dirty="0" err="1">
                <a:solidFill>
                  <a:srgbClr val="92D050"/>
                </a:solidFill>
                <a:latin typeface="Consolas" panose="020B0609020204030204" pitchFamily="49" charset="0"/>
                <a:cs typeface="Consolas" panose="020B0609020204030204" pitchFamily="49" charset="0"/>
              </a:rPr>
              <a:t>do_something_on_host</a:t>
            </a:r>
            <a:r>
              <a:rPr lang="en-US" sz="1800" dirty="0">
                <a:solidFill>
                  <a:srgbClr val="92D050"/>
                </a:solidFill>
                <a:latin typeface="Consolas" panose="020B0609020204030204" pitchFamily="49" charset="0"/>
                <a:cs typeface="Consolas" panose="020B0609020204030204" pitchFamily="49" charset="0"/>
              </a:rPr>
              <a:t>();</a:t>
            </a:r>
          </a:p>
          <a:p>
            <a:r>
              <a:rPr lang="en-US" sz="1800" dirty="0">
                <a:solidFill>
                  <a:srgbClr val="00B0F0"/>
                </a:solidFill>
                <a:latin typeface="Consolas" panose="020B0609020204030204" pitchFamily="49" charset="0"/>
                <a:cs typeface="Consolas" panose="020B0609020204030204" pitchFamily="49" charset="0"/>
              </a:rPr>
              <a:t>kernel&lt;&lt;&lt;</a:t>
            </a:r>
            <a:r>
              <a:rPr lang="en-US" sz="1800" dirty="0" err="1">
                <a:solidFill>
                  <a:srgbClr val="00B0F0"/>
                </a:solidFill>
                <a:latin typeface="Consolas" panose="020B0609020204030204" pitchFamily="49" charset="0"/>
                <a:cs typeface="Consolas" panose="020B0609020204030204" pitchFamily="49" charset="0"/>
              </a:rPr>
              <a:t>nBlk</a:t>
            </a:r>
            <a:r>
              <a:rPr lang="en-US" sz="1800" dirty="0">
                <a:solidFill>
                  <a:srgbClr val="00B0F0"/>
                </a:solidFill>
                <a:latin typeface="Consolas" panose="020B0609020204030204" pitchFamily="49" charset="0"/>
                <a:cs typeface="Consolas" panose="020B0609020204030204" pitchFamily="49" charset="0"/>
              </a:rPr>
              <a:t>, </a:t>
            </a:r>
            <a:r>
              <a:rPr lang="en-US" sz="1800" dirty="0" err="1">
                <a:solidFill>
                  <a:srgbClr val="00B0F0"/>
                </a:solidFill>
                <a:latin typeface="Consolas" panose="020B0609020204030204" pitchFamily="49" charset="0"/>
                <a:cs typeface="Consolas" panose="020B0609020204030204" pitchFamily="49" charset="0"/>
              </a:rPr>
              <a:t>nTid</a:t>
            </a:r>
            <a:r>
              <a:rPr lang="en-US" sz="1800" dirty="0">
                <a:solidFill>
                  <a:srgbClr val="00B0F0"/>
                </a:solidFill>
                <a:latin typeface="Consolas" panose="020B0609020204030204" pitchFamily="49" charset="0"/>
                <a:cs typeface="Consolas" panose="020B0609020204030204" pitchFamily="49" charset="0"/>
              </a:rPr>
              <a:t>&gt;&gt;&gt;(</a:t>
            </a:r>
            <a:r>
              <a:rPr lang="en-US" sz="1800" dirty="0" err="1">
                <a:solidFill>
                  <a:srgbClr val="00B0F0"/>
                </a:solidFill>
                <a:latin typeface="Consolas" panose="020B0609020204030204" pitchFamily="49" charset="0"/>
                <a:cs typeface="Consolas" panose="020B0609020204030204" pitchFamily="49" charset="0"/>
              </a:rPr>
              <a:t>args</a:t>
            </a:r>
            <a:r>
              <a:rPr lang="en-US" sz="1800" dirty="0">
                <a:solidFill>
                  <a:srgbClr val="00B0F0"/>
                </a:solidFill>
                <a:latin typeface="Consolas" panose="020B0609020204030204" pitchFamily="49" charset="0"/>
                <a:cs typeface="Consolas" panose="020B0609020204030204" pitchFamily="49" charset="0"/>
              </a:rPr>
              <a:t>);</a:t>
            </a:r>
          </a:p>
          <a:p>
            <a:r>
              <a:rPr lang="en-US" sz="1800" dirty="0" err="1">
                <a:solidFill>
                  <a:srgbClr val="92D050"/>
                </a:solidFill>
                <a:latin typeface="Consolas" panose="020B0609020204030204" pitchFamily="49" charset="0"/>
                <a:cs typeface="Consolas" panose="020B0609020204030204" pitchFamily="49" charset="0"/>
              </a:rPr>
              <a:t>cudaDeviceSynchronize</a:t>
            </a:r>
            <a:r>
              <a:rPr lang="en-US" sz="1800" dirty="0">
                <a:solidFill>
                  <a:srgbClr val="92D050"/>
                </a:solidFill>
                <a:latin typeface="Consolas" panose="020B0609020204030204" pitchFamily="49" charset="0"/>
                <a:cs typeface="Consolas" panose="020B0609020204030204" pitchFamily="49" charset="0"/>
              </a:rPr>
              <a:t>();</a:t>
            </a:r>
          </a:p>
          <a:p>
            <a:r>
              <a:rPr lang="en-US" sz="1800" dirty="0" err="1">
                <a:solidFill>
                  <a:srgbClr val="92D050"/>
                </a:solidFill>
                <a:latin typeface="Consolas" panose="020B0609020204030204" pitchFamily="49" charset="0"/>
                <a:cs typeface="Consolas" panose="020B0609020204030204" pitchFamily="49" charset="0"/>
              </a:rPr>
              <a:t>do_something_else_on_host</a:t>
            </a:r>
            <a:r>
              <a:rPr lang="en-US" sz="1800" dirty="0">
                <a:solidFill>
                  <a:srgbClr val="92D050"/>
                </a:solidFill>
                <a:latin typeface="Consolas" panose="020B0609020204030204" pitchFamily="49" charset="0"/>
                <a:cs typeface="Consolas" panose="020B0609020204030204" pitchFamily="49" charset="0"/>
              </a:rPr>
              <a:t>();</a:t>
            </a:r>
          </a:p>
          <a:p>
            <a:endParaRPr lang="en-US" sz="1800" dirty="0">
              <a:solidFill>
                <a:srgbClr val="92D050"/>
              </a:solidFill>
              <a:latin typeface="Consolas" panose="020B0609020204030204" pitchFamily="49" charset="0"/>
              <a:cs typeface="Consolas" panose="020B0609020204030204" pitchFamily="49" charset="0"/>
            </a:endParaRPr>
          </a:p>
          <a:p>
            <a:endParaRPr lang="en-US" sz="1800" dirty="0"/>
          </a:p>
        </p:txBody>
      </p:sp>
      <p:grpSp>
        <p:nvGrpSpPr>
          <p:cNvPr id="36" name="Group 35"/>
          <p:cNvGrpSpPr/>
          <p:nvPr/>
        </p:nvGrpSpPr>
        <p:grpSpPr>
          <a:xfrm>
            <a:off x="5372255" y="1555097"/>
            <a:ext cx="4343091" cy="1427238"/>
            <a:chOff x="3967424" y="1845734"/>
            <a:chExt cx="4343091" cy="1427238"/>
          </a:xfrm>
        </p:grpSpPr>
        <p:grpSp>
          <p:nvGrpSpPr>
            <p:cNvPr id="20" name="Group 19"/>
            <p:cNvGrpSpPr/>
            <p:nvPr/>
          </p:nvGrpSpPr>
          <p:grpSpPr>
            <a:xfrm>
              <a:off x="6741884" y="1845734"/>
              <a:ext cx="1568631" cy="1246829"/>
              <a:chOff x="6676571" y="1845734"/>
              <a:chExt cx="1568631" cy="1246829"/>
            </a:xfrm>
          </p:grpSpPr>
          <p:pic>
            <p:nvPicPr>
              <p:cNvPr id="5" name="Picture 2" descr="http://ic.tweakimg.net/ext/i/1294043445.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8205" y="1845734"/>
                <a:ext cx="1446997" cy="124682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p:cNvCxnSpPr/>
              <p:nvPr/>
            </p:nvCxnSpPr>
            <p:spPr>
              <a:xfrm>
                <a:off x="6676571" y="1959429"/>
                <a:ext cx="0" cy="1037771"/>
              </a:xfrm>
              <a:prstGeom prst="straightConnector1">
                <a:avLst/>
              </a:prstGeom>
              <a:ln>
                <a:solidFill>
                  <a:srgbClr val="92D050"/>
                </a:solidFill>
                <a:tailEnd type="triangle"/>
              </a:ln>
            </p:spPr>
            <p:style>
              <a:lnRef idx="1">
                <a:schemeClr val="dk1"/>
              </a:lnRef>
              <a:fillRef idx="0">
                <a:schemeClr val="dk1"/>
              </a:fillRef>
              <a:effectRef idx="0">
                <a:schemeClr val="dk1"/>
              </a:effectRef>
              <a:fontRef idx="minor">
                <a:schemeClr val="tx1"/>
              </a:fontRef>
            </p:style>
          </p:cxnSp>
        </p:grpSp>
        <p:cxnSp>
          <p:nvCxnSpPr>
            <p:cNvPr id="26" name="Straight Arrow Connector 25"/>
            <p:cNvCxnSpPr/>
            <p:nvPr/>
          </p:nvCxnSpPr>
          <p:spPr>
            <a:xfrm flipV="1">
              <a:off x="3967424" y="2469148"/>
              <a:ext cx="2520243" cy="803824"/>
            </a:xfrm>
            <a:prstGeom prst="straightConnector1">
              <a:avLst/>
            </a:prstGeom>
            <a:ln>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6168297" y="2990799"/>
            <a:ext cx="3666219" cy="1245946"/>
            <a:chOff x="4671367" y="3362477"/>
            <a:chExt cx="3666219" cy="1245946"/>
          </a:xfrm>
        </p:grpSpPr>
        <p:grpSp>
          <p:nvGrpSpPr>
            <p:cNvPr id="21" name="Group 20"/>
            <p:cNvGrpSpPr/>
            <p:nvPr/>
          </p:nvGrpSpPr>
          <p:grpSpPr>
            <a:xfrm>
              <a:off x="6074226" y="3362477"/>
              <a:ext cx="2263360" cy="1245946"/>
              <a:chOff x="6008913" y="3362477"/>
              <a:chExt cx="2263360" cy="1245946"/>
            </a:xfrm>
          </p:grpSpPr>
          <p:pic>
            <p:nvPicPr>
              <p:cNvPr id="13" name="Picture 4" descr="http://www.nvidia.com/docs/IO/83975/Tesla_C2050-C2070_1929-3qtr_larg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1133" y="3362477"/>
                <a:ext cx="1501140" cy="124594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p:cNvCxnSpPr/>
              <p:nvPr/>
            </p:nvCxnSpPr>
            <p:spPr>
              <a:xfrm>
                <a:off x="6676571" y="3362477"/>
                <a:ext cx="0" cy="1037771"/>
              </a:xfrm>
              <a:prstGeom prst="straightConnector1">
                <a:avLst/>
              </a:prstGeom>
              <a:ln>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6582228" y="3362477"/>
                <a:ext cx="0" cy="1037771"/>
              </a:xfrm>
              <a:prstGeom prst="straightConnector1">
                <a:avLst/>
              </a:prstGeom>
              <a:ln>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6487886" y="3362477"/>
                <a:ext cx="0" cy="1037771"/>
              </a:xfrm>
              <a:prstGeom prst="straightConnector1">
                <a:avLst/>
              </a:prstGeom>
              <a:ln>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6008913" y="3362477"/>
                <a:ext cx="0" cy="1037771"/>
              </a:xfrm>
              <a:prstGeom prst="straightConnector1">
                <a:avLst/>
              </a:prstGeom>
              <a:ln>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6120368" y="3596848"/>
                <a:ext cx="367408" cy="400110"/>
              </a:xfrm>
              <a:prstGeom prst="rect">
                <a:avLst/>
              </a:prstGeom>
              <a:noFill/>
            </p:spPr>
            <p:txBody>
              <a:bodyPr wrap="none" rtlCol="0">
                <a:spAutoFit/>
              </a:bodyPr>
              <a:lstStyle/>
              <a:p>
                <a:r>
                  <a:rPr lang="en-US" sz="2000" b="1" dirty="0"/>
                  <a:t>…</a:t>
                </a:r>
              </a:p>
            </p:txBody>
          </p:sp>
          <p:cxnSp>
            <p:nvCxnSpPr>
              <p:cNvPr id="19" name="Straight Arrow Connector 18"/>
              <p:cNvCxnSpPr/>
              <p:nvPr/>
            </p:nvCxnSpPr>
            <p:spPr>
              <a:xfrm>
                <a:off x="6120368" y="3362477"/>
                <a:ext cx="0" cy="1037771"/>
              </a:xfrm>
              <a:prstGeom prst="straightConnector1">
                <a:avLst/>
              </a:prstGeom>
              <a:ln>
                <a:solidFill>
                  <a:srgbClr val="00B0F0"/>
                </a:solidFill>
                <a:tailEnd type="triangle"/>
              </a:ln>
            </p:spPr>
            <p:style>
              <a:lnRef idx="1">
                <a:schemeClr val="dk1"/>
              </a:lnRef>
              <a:fillRef idx="0">
                <a:schemeClr val="dk1"/>
              </a:fillRef>
              <a:effectRef idx="0">
                <a:schemeClr val="dk1"/>
              </a:effectRef>
              <a:fontRef idx="minor">
                <a:schemeClr val="tx1"/>
              </a:fontRef>
            </p:style>
          </p:cxnSp>
        </p:grpSp>
        <p:cxnSp>
          <p:nvCxnSpPr>
            <p:cNvPr id="27" name="Straight Arrow Connector 26"/>
            <p:cNvCxnSpPr/>
            <p:nvPr/>
          </p:nvCxnSpPr>
          <p:spPr>
            <a:xfrm flipV="1">
              <a:off x="4671367" y="3701143"/>
              <a:ext cx="1224053" cy="14836"/>
            </a:xfrm>
            <a:prstGeom prst="straightConnector1">
              <a:avLst/>
            </a:prstGeom>
            <a:ln>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5432545" y="4331610"/>
            <a:ext cx="4282801" cy="1959566"/>
            <a:chOff x="4027714" y="4165600"/>
            <a:chExt cx="4282801" cy="1959566"/>
          </a:xfrm>
        </p:grpSpPr>
        <p:grpSp>
          <p:nvGrpSpPr>
            <p:cNvPr id="22" name="Group 21"/>
            <p:cNvGrpSpPr/>
            <p:nvPr/>
          </p:nvGrpSpPr>
          <p:grpSpPr>
            <a:xfrm>
              <a:off x="6741884" y="4878337"/>
              <a:ext cx="1568631" cy="1246829"/>
              <a:chOff x="6676571" y="1845734"/>
              <a:chExt cx="1568631" cy="1246829"/>
            </a:xfrm>
          </p:grpSpPr>
          <p:pic>
            <p:nvPicPr>
              <p:cNvPr id="23" name="Picture 2" descr="http://ic.tweakimg.net/ext/i/1294043445.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8205" y="1845734"/>
                <a:ext cx="1446997" cy="124682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p:cNvCxnSpPr/>
              <p:nvPr/>
            </p:nvCxnSpPr>
            <p:spPr>
              <a:xfrm>
                <a:off x="6676571" y="1959429"/>
                <a:ext cx="0" cy="1037771"/>
              </a:xfrm>
              <a:prstGeom prst="straightConnector1">
                <a:avLst/>
              </a:prstGeom>
              <a:ln>
                <a:solidFill>
                  <a:srgbClr val="92D050"/>
                </a:solidFill>
                <a:tailEnd type="triangle"/>
              </a:ln>
            </p:spPr>
            <p:style>
              <a:lnRef idx="1">
                <a:schemeClr val="dk1"/>
              </a:lnRef>
              <a:fillRef idx="0">
                <a:schemeClr val="dk1"/>
              </a:fillRef>
              <a:effectRef idx="0">
                <a:schemeClr val="dk1"/>
              </a:effectRef>
              <a:fontRef idx="minor">
                <a:schemeClr val="tx1"/>
              </a:fontRef>
            </p:style>
          </p:cxnSp>
        </p:grpSp>
        <p:cxnSp>
          <p:nvCxnSpPr>
            <p:cNvPr id="30" name="Straight Arrow Connector 29"/>
            <p:cNvCxnSpPr/>
            <p:nvPr/>
          </p:nvCxnSpPr>
          <p:spPr>
            <a:xfrm>
              <a:off x="4027714" y="4165600"/>
              <a:ext cx="2459953" cy="1166911"/>
            </a:xfrm>
            <a:prstGeom prst="straightConnector1">
              <a:avLst/>
            </a:prstGeom>
            <a:ln>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528061" y="4608423"/>
              <a:ext cx="1959606" cy="987643"/>
            </a:xfrm>
            <a:prstGeom prst="straightConnector1">
              <a:avLst/>
            </a:prstGeom>
            <a:ln>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7162646" y="4345508"/>
            <a:ext cx="1515223" cy="369332"/>
          </a:xfrm>
          <a:prstGeom prst="rect">
            <a:avLst/>
          </a:prstGeom>
          <a:noFill/>
        </p:spPr>
        <p:txBody>
          <a:bodyPr wrap="none" rtlCol="0">
            <a:spAutoFit/>
          </a:bodyPr>
          <a:lstStyle/>
          <a:p>
            <a:r>
              <a:rPr lang="en-US" dirty="0"/>
              <a:t>Highly parallel</a:t>
            </a:r>
          </a:p>
        </p:txBody>
      </p:sp>
      <p:sp>
        <p:nvSpPr>
          <p:cNvPr id="6" name="Slide Number Placeholder 5">
            <a:extLst>
              <a:ext uri="{FF2B5EF4-FFF2-40B4-BE49-F238E27FC236}">
                <a16:creationId xmlns:a16="http://schemas.microsoft.com/office/drawing/2014/main" id="{3921E77E-24E7-294E-B84C-2B27451F4DB1}"/>
              </a:ext>
            </a:extLst>
          </p:cNvPr>
          <p:cNvSpPr>
            <a:spLocks noGrp="1"/>
          </p:cNvSpPr>
          <p:nvPr>
            <p:ph type="sldNum" sz="quarter" idx="12"/>
          </p:nvPr>
        </p:nvSpPr>
        <p:spPr/>
        <p:txBody>
          <a:bodyPr/>
          <a:lstStyle/>
          <a:p>
            <a:fld id="{92124849-AE39-1947-AFA1-94AB1ABB4CD1}" type="slidenum">
              <a:rPr lang="en-US" smtClean="0"/>
              <a:pPr/>
              <a:t>39</a:t>
            </a:fld>
            <a:endParaRPr lang="en-US"/>
          </a:p>
        </p:txBody>
      </p:sp>
    </p:spTree>
    <p:extLst>
      <p:ext uri="{BB962C8B-B14F-4D97-AF65-F5344CB8AC3E}">
        <p14:creationId xmlns:p14="http://schemas.microsoft.com/office/powerpoint/2010/main" val="322766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9" descr="App-a-02-05-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7913" y="1579564"/>
            <a:ext cx="6743700" cy="4352925"/>
          </a:xfrm>
          <a:prstGeom prst="rect">
            <a:avLst/>
          </a:prstGeom>
          <a:solidFill>
            <a:schemeClr val="bg1"/>
          </a:solidFill>
          <a:ln>
            <a:noFill/>
          </a:ln>
        </p:spPr>
      </p:pic>
      <p:sp>
        <p:nvSpPr>
          <p:cNvPr id="28675" name="Rectangle 2"/>
          <p:cNvSpPr>
            <a:spLocks noGrp="1" noChangeArrowheads="1"/>
          </p:cNvSpPr>
          <p:nvPr>
            <p:ph type="title"/>
          </p:nvPr>
        </p:nvSpPr>
        <p:spPr/>
        <p:txBody>
          <a:bodyPr/>
          <a:lstStyle/>
          <a:p>
            <a:pPr eaLnBrk="1" hangingPunct="1"/>
            <a:r>
              <a:rPr lang="en-AU" altLang="en-US"/>
              <a:t>Example: NVIDIA Tesla</a:t>
            </a:r>
          </a:p>
        </p:txBody>
      </p:sp>
      <p:sp>
        <p:nvSpPr>
          <p:cNvPr id="28676" name="AutoShape 5"/>
          <p:cNvSpPr>
            <a:spLocks/>
          </p:cNvSpPr>
          <p:nvPr/>
        </p:nvSpPr>
        <p:spPr bwMode="auto">
          <a:xfrm>
            <a:off x="8963026" y="1212850"/>
            <a:ext cx="1520825" cy="609600"/>
          </a:xfrm>
          <a:prstGeom prst="borderCallout1">
            <a:avLst>
              <a:gd name="adj1" fmla="val 18750"/>
              <a:gd name="adj2" fmla="val -5009"/>
              <a:gd name="adj3" fmla="val 115366"/>
              <a:gd name="adj4" fmla="val -21398"/>
            </a:avLst>
          </a:prstGeom>
          <a:solidFill>
            <a:schemeClr val="accent1"/>
          </a:solidFill>
          <a:ln w="9525">
            <a:solidFill>
              <a:schemeClr val="tx1"/>
            </a:solidFill>
            <a:miter lim="800000"/>
            <a:headEnd/>
            <a:tailEnd type="triangle" w="med" len="me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AU" altLang="en-US" sz="1600"/>
              <a:t>Streaming multiprocessor</a:t>
            </a:r>
          </a:p>
        </p:txBody>
      </p:sp>
      <p:sp>
        <p:nvSpPr>
          <p:cNvPr id="28677" name="Rectangle 7"/>
          <p:cNvSpPr>
            <a:spLocks noChangeArrowheads="1"/>
          </p:cNvSpPr>
          <p:nvPr/>
        </p:nvSpPr>
        <p:spPr bwMode="auto">
          <a:xfrm>
            <a:off x="9050338" y="5659438"/>
            <a:ext cx="1454150" cy="6270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AU" altLang="en-US" sz="1600"/>
              <a:t>8 </a:t>
            </a:r>
            <a:r>
              <a:rPr lang="en-US" altLang="en-US" sz="1600"/>
              <a:t>× </a:t>
            </a:r>
            <a:r>
              <a:rPr lang="en-AU" altLang="en-US" sz="1600"/>
              <a:t>Streaming</a:t>
            </a:r>
            <a:br>
              <a:rPr lang="en-AU" altLang="en-US" sz="1600"/>
            </a:br>
            <a:r>
              <a:rPr lang="en-AU" altLang="en-US" sz="1600"/>
              <a:t>processors</a:t>
            </a:r>
          </a:p>
        </p:txBody>
      </p:sp>
      <p:sp>
        <p:nvSpPr>
          <p:cNvPr id="28678" name="Line 8"/>
          <p:cNvSpPr>
            <a:spLocks noChangeShapeType="1"/>
          </p:cNvSpPr>
          <p:nvPr/>
        </p:nvSpPr>
        <p:spPr bwMode="auto">
          <a:xfrm flipH="1" flipV="1">
            <a:off x="8955089" y="4533900"/>
            <a:ext cx="701675" cy="1049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a:extLst>
              <a:ext uri="{FF2B5EF4-FFF2-40B4-BE49-F238E27FC236}">
                <a16:creationId xmlns:a16="http://schemas.microsoft.com/office/drawing/2014/main" id="{9E258386-C752-CE43-B54C-79905E3F8BFE}"/>
              </a:ext>
            </a:extLst>
          </p:cNvPr>
          <p:cNvSpPr>
            <a:spLocks noGrp="1"/>
          </p:cNvSpPr>
          <p:nvPr>
            <p:ph type="sldNum" sz="quarter" idx="12"/>
          </p:nvPr>
        </p:nvSpPr>
        <p:spPr/>
        <p:txBody>
          <a:bodyPr/>
          <a:lstStyle/>
          <a:p>
            <a:fld id="{92124849-AE39-1947-AFA1-94AB1ABB4CD1}" type="slidenum">
              <a:rPr lang="en-US" smtClean="0"/>
              <a:pPr/>
              <a:t>40</a:t>
            </a:fld>
            <a:endParaRPr lang="en-US"/>
          </a:p>
        </p:txBody>
      </p:sp>
    </p:spTree>
    <p:extLst>
      <p:ext uri="{BB962C8B-B14F-4D97-AF65-F5344CB8AC3E}">
        <p14:creationId xmlns:p14="http://schemas.microsoft.com/office/powerpoint/2010/main" val="2615448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5" descr="f07-07-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0651" y="3171826"/>
            <a:ext cx="4062413" cy="3146425"/>
          </a:xfrm>
          <a:prstGeom prst="rect">
            <a:avLst/>
          </a:prstGeom>
          <a:solidFill>
            <a:schemeClr val="bg1"/>
          </a:solidFill>
          <a:ln>
            <a:noFill/>
          </a:ln>
        </p:spPr>
      </p:pic>
      <p:sp>
        <p:nvSpPr>
          <p:cNvPr id="29699" name="Rectangle 2"/>
          <p:cNvSpPr>
            <a:spLocks noGrp="1" noChangeArrowheads="1"/>
          </p:cNvSpPr>
          <p:nvPr>
            <p:ph type="title"/>
          </p:nvPr>
        </p:nvSpPr>
        <p:spPr/>
        <p:txBody>
          <a:bodyPr/>
          <a:lstStyle/>
          <a:p>
            <a:pPr eaLnBrk="1" hangingPunct="1"/>
            <a:r>
              <a:rPr lang="en-AU" altLang="en-US"/>
              <a:t>Example: NVIDIA Tesla</a:t>
            </a:r>
          </a:p>
        </p:txBody>
      </p:sp>
      <p:sp>
        <p:nvSpPr>
          <p:cNvPr id="29700" name="Rectangle 3"/>
          <p:cNvSpPr>
            <a:spLocks noGrp="1" noChangeArrowheads="1"/>
          </p:cNvSpPr>
          <p:nvPr>
            <p:ph type="body" idx="1"/>
          </p:nvPr>
        </p:nvSpPr>
        <p:spPr/>
        <p:txBody>
          <a:bodyPr/>
          <a:lstStyle/>
          <a:p>
            <a:pPr eaLnBrk="1" hangingPunct="1">
              <a:lnSpc>
                <a:spcPct val="90000"/>
              </a:lnSpc>
            </a:pPr>
            <a:r>
              <a:rPr lang="en-AU" altLang="en-US" dirty="0"/>
              <a:t>Streaming Processors</a:t>
            </a:r>
          </a:p>
          <a:p>
            <a:pPr lvl="1" eaLnBrk="1" hangingPunct="1">
              <a:lnSpc>
                <a:spcPct val="90000"/>
              </a:lnSpc>
            </a:pPr>
            <a:r>
              <a:rPr lang="en-AU" altLang="en-US" dirty="0"/>
              <a:t>Single-precision FP and integer units</a:t>
            </a:r>
          </a:p>
          <a:p>
            <a:pPr lvl="1" eaLnBrk="1" hangingPunct="1">
              <a:lnSpc>
                <a:spcPct val="90000"/>
              </a:lnSpc>
            </a:pPr>
            <a:r>
              <a:rPr lang="en-AU" altLang="en-US" dirty="0"/>
              <a:t>Each SP is fine-grained multithreaded</a:t>
            </a:r>
          </a:p>
          <a:p>
            <a:pPr eaLnBrk="1" hangingPunct="1">
              <a:lnSpc>
                <a:spcPct val="90000"/>
              </a:lnSpc>
            </a:pPr>
            <a:r>
              <a:rPr lang="en-AU" altLang="en-US" dirty="0"/>
              <a:t>Warp: group of 32 threads</a:t>
            </a:r>
          </a:p>
          <a:p>
            <a:pPr lvl="1" eaLnBrk="1" hangingPunct="1">
              <a:lnSpc>
                <a:spcPct val="90000"/>
              </a:lnSpc>
            </a:pPr>
            <a:r>
              <a:rPr lang="en-AU" altLang="en-US" dirty="0"/>
              <a:t>Executed in parallel,</a:t>
            </a:r>
            <a:br>
              <a:rPr lang="en-AU" altLang="en-US" dirty="0"/>
            </a:br>
            <a:r>
              <a:rPr lang="en-AU" altLang="en-US" dirty="0"/>
              <a:t>SIMD style</a:t>
            </a:r>
          </a:p>
          <a:p>
            <a:pPr lvl="2" eaLnBrk="1" hangingPunct="1">
              <a:lnSpc>
                <a:spcPct val="90000"/>
              </a:lnSpc>
            </a:pPr>
            <a:r>
              <a:rPr lang="en-AU" altLang="en-US" dirty="0"/>
              <a:t>8 SPs</a:t>
            </a:r>
            <a:br>
              <a:rPr lang="en-AU" altLang="en-US" dirty="0"/>
            </a:br>
            <a:r>
              <a:rPr lang="en-US" altLang="en-US" dirty="0">
                <a:cs typeface="Arial" panose="020B0604020202020204" pitchFamily="34" charset="0"/>
              </a:rPr>
              <a:t>× 4 clock cycles</a:t>
            </a:r>
            <a:endParaRPr lang="en-AU" altLang="en-US" dirty="0"/>
          </a:p>
          <a:p>
            <a:pPr lvl="1" eaLnBrk="1" hangingPunct="1">
              <a:lnSpc>
                <a:spcPct val="90000"/>
              </a:lnSpc>
            </a:pPr>
            <a:r>
              <a:rPr lang="en-AU" altLang="en-US" dirty="0"/>
              <a:t>Hardware contexts</a:t>
            </a:r>
            <a:br>
              <a:rPr lang="en-AU" altLang="en-US" dirty="0"/>
            </a:br>
            <a:r>
              <a:rPr lang="en-AU" altLang="en-US" dirty="0"/>
              <a:t>for 24 warps</a:t>
            </a:r>
          </a:p>
          <a:p>
            <a:pPr lvl="2" eaLnBrk="1" hangingPunct="1">
              <a:lnSpc>
                <a:spcPct val="90000"/>
              </a:lnSpc>
            </a:pPr>
            <a:r>
              <a:rPr lang="en-AU" altLang="en-US" dirty="0"/>
              <a:t>Registers, PCs, …</a:t>
            </a:r>
          </a:p>
        </p:txBody>
      </p:sp>
      <p:sp>
        <p:nvSpPr>
          <p:cNvPr id="2" name="Slide Number Placeholder 1">
            <a:extLst>
              <a:ext uri="{FF2B5EF4-FFF2-40B4-BE49-F238E27FC236}">
                <a16:creationId xmlns:a16="http://schemas.microsoft.com/office/drawing/2014/main" id="{D42AE7D0-EB6E-6B45-BC4B-F59217FFDAEC}"/>
              </a:ext>
            </a:extLst>
          </p:cNvPr>
          <p:cNvSpPr>
            <a:spLocks noGrp="1"/>
          </p:cNvSpPr>
          <p:nvPr>
            <p:ph type="sldNum" sz="quarter" idx="12"/>
          </p:nvPr>
        </p:nvSpPr>
        <p:spPr/>
        <p:txBody>
          <a:bodyPr/>
          <a:lstStyle/>
          <a:p>
            <a:fld id="{92124849-AE39-1947-AFA1-94AB1ABB4CD1}" type="slidenum">
              <a:rPr lang="en-US" smtClean="0"/>
              <a:pPr/>
              <a:t>41</a:t>
            </a:fld>
            <a:endParaRPr lang="en-US"/>
          </a:p>
        </p:txBody>
      </p:sp>
    </p:spTree>
    <p:extLst>
      <p:ext uri="{BB962C8B-B14F-4D97-AF65-F5344CB8AC3E}">
        <p14:creationId xmlns:p14="http://schemas.microsoft.com/office/powerpoint/2010/main" val="1530822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77DE5E87-41A4-D543-9A97-484E101C1CE9}"/>
              </a:ext>
            </a:extLst>
          </p:cNvPr>
          <p:cNvSpPr>
            <a:spLocks noGrp="1" noRot="1" noChangeArrowheads="1"/>
          </p:cNvSpPr>
          <p:nvPr>
            <p:ph type="title"/>
          </p:nvPr>
        </p:nvSpPr>
        <p:spPr/>
        <p:txBody>
          <a:bodyPr/>
          <a:lstStyle/>
          <a:p>
            <a:pPr eaLnBrk="1" hangingPunct="1"/>
            <a:r>
              <a:rPr lang="en-US" altLang="en-US" sz="4000"/>
              <a:t>Modern GPU has more ALU’s</a:t>
            </a:r>
          </a:p>
        </p:txBody>
      </p:sp>
      <p:pic>
        <p:nvPicPr>
          <p:cNvPr id="73730" name="Picture 5">
            <a:extLst>
              <a:ext uri="{FF2B5EF4-FFF2-40B4-BE49-F238E27FC236}">
                <a16:creationId xmlns:a16="http://schemas.microsoft.com/office/drawing/2014/main" id="{BB45206E-4546-1B42-AB03-4DB73AE8B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524000"/>
            <a:ext cx="800576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43DD7B95-5E6F-DB40-8267-9003458E4B82}"/>
              </a:ext>
            </a:extLst>
          </p:cNvPr>
          <p:cNvSpPr>
            <a:spLocks noGrp="1"/>
          </p:cNvSpPr>
          <p:nvPr>
            <p:ph type="sldNum" sz="quarter" idx="12"/>
          </p:nvPr>
        </p:nvSpPr>
        <p:spPr/>
        <p:txBody>
          <a:bodyPr/>
          <a:lstStyle/>
          <a:p>
            <a:fld id="{92124849-AE39-1947-AFA1-94AB1ABB4CD1}" type="slidenum">
              <a:rPr lang="en-US" smtClean="0"/>
              <a:pPr/>
              <a:t>42</a:t>
            </a:fld>
            <a:endParaRPr lang="en-US"/>
          </a:p>
        </p:txBody>
      </p:sp>
      <p:sp>
        <p:nvSpPr>
          <p:cNvPr id="3" name="Rectangle 2">
            <a:extLst>
              <a:ext uri="{FF2B5EF4-FFF2-40B4-BE49-F238E27FC236}">
                <a16:creationId xmlns:a16="http://schemas.microsoft.com/office/drawing/2014/main" id="{408D7C8D-19A3-A24D-B3F1-B8DC0691B832}"/>
              </a:ext>
            </a:extLst>
          </p:cNvPr>
          <p:cNvSpPr/>
          <p:nvPr/>
        </p:nvSpPr>
        <p:spPr>
          <a:xfrm>
            <a:off x="2133601" y="4625975"/>
            <a:ext cx="167114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4">
            <a:extLst>
              <a:ext uri="{FF2B5EF4-FFF2-40B4-BE49-F238E27FC236}">
                <a16:creationId xmlns:a16="http://schemas.microsoft.com/office/drawing/2014/main" id="{78182A37-0FDE-E143-B8A5-8027407FE5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1E1F966-1290-3D42-944E-6786823B396E}" type="slidenum">
              <a:rPr lang="en-GB" altLang="en-US" sz="1400"/>
              <a:pPr>
                <a:spcBef>
                  <a:spcPct val="0"/>
                </a:spcBef>
                <a:buFontTx/>
                <a:buNone/>
              </a:pPr>
              <a:t>43</a:t>
            </a:fld>
            <a:endParaRPr lang="en-GB" altLang="en-US" sz="1400" dirty="0"/>
          </a:p>
        </p:txBody>
      </p:sp>
      <p:sp>
        <p:nvSpPr>
          <p:cNvPr id="6" name="Rectangle 5">
            <a:extLst>
              <a:ext uri="{FF2B5EF4-FFF2-40B4-BE49-F238E27FC236}">
                <a16:creationId xmlns:a16="http://schemas.microsoft.com/office/drawing/2014/main" id="{A7A62B63-3789-BF42-8D64-686F9DCF6E64}"/>
              </a:ext>
            </a:extLst>
          </p:cNvPr>
          <p:cNvSpPr/>
          <p:nvPr/>
        </p:nvSpPr>
        <p:spPr>
          <a:xfrm>
            <a:off x="1093076" y="0"/>
            <a:ext cx="10026869" cy="1015663"/>
          </a:xfrm>
          <a:prstGeom prst="rect">
            <a:avLst/>
          </a:prstGeom>
        </p:spPr>
        <p:txBody>
          <a:bodyPr wrap="square">
            <a:spAutoFit/>
          </a:bodyPr>
          <a:lstStyle/>
          <a:p>
            <a:pPr marL="582613" indent="-582613">
              <a:defRPr/>
            </a:pPr>
            <a:r>
              <a:rPr lang="en-GB" sz="3200" b="1" dirty="0">
                <a:cs typeface="Times New Roman" pitchFamily="18" charset="0"/>
              </a:rPr>
              <a:t>9.3		Usage of GPU as a co-processor</a:t>
            </a:r>
          </a:p>
          <a:p>
            <a:pPr marL="582613" indent="-582613">
              <a:defRPr/>
            </a:pPr>
            <a:endParaRPr lang="en-GB" sz="2800" dirty="0">
              <a:cs typeface="Times New Roman" pitchFamily="18" charset="0"/>
            </a:endParaRPr>
          </a:p>
        </p:txBody>
      </p:sp>
      <p:sp>
        <p:nvSpPr>
          <p:cNvPr id="3" name="TextBox 2">
            <a:extLst>
              <a:ext uri="{FF2B5EF4-FFF2-40B4-BE49-F238E27FC236}">
                <a16:creationId xmlns:a16="http://schemas.microsoft.com/office/drawing/2014/main" id="{8F62B0A9-C965-3545-ADE0-41C752F09D71}"/>
              </a:ext>
            </a:extLst>
          </p:cNvPr>
          <p:cNvSpPr txBox="1"/>
          <p:nvPr/>
        </p:nvSpPr>
        <p:spPr>
          <a:xfrm>
            <a:off x="1093076" y="4781006"/>
            <a:ext cx="8383129" cy="1200329"/>
          </a:xfrm>
          <a:prstGeom prst="rect">
            <a:avLst/>
          </a:prstGeom>
          <a:noFill/>
        </p:spPr>
        <p:txBody>
          <a:bodyPr wrap="none" rtlCol="0">
            <a:spAutoFit/>
          </a:bodyPr>
          <a:lstStyle/>
          <a:p>
            <a:pPr algn="just"/>
            <a:r>
              <a:rPr lang="en-MY" dirty="0"/>
              <a:t>The GPU architecture model. The GPU is a coprocessor to the CPU. </a:t>
            </a:r>
          </a:p>
          <a:p>
            <a:pPr algn="just"/>
            <a:r>
              <a:rPr lang="en-MY" dirty="0"/>
              <a:t>It consists of multiple SIMD multiprocessors, and has a large amount of device memory.</a:t>
            </a:r>
          </a:p>
          <a:p>
            <a:pPr algn="just"/>
            <a:r>
              <a:rPr lang="en-MY" dirty="0"/>
              <a:t>This model is applicable to both NVIDIA's CUDA and AMD's CTM .  </a:t>
            </a:r>
          </a:p>
          <a:p>
            <a:endParaRPr lang="en-US" dirty="0"/>
          </a:p>
        </p:txBody>
      </p:sp>
      <p:pic>
        <p:nvPicPr>
          <p:cNvPr id="54274" name="Picture 2"/>
          <p:cNvPicPr>
            <a:picLocks noChangeAspect="1" noChangeArrowheads="1"/>
          </p:cNvPicPr>
          <p:nvPr/>
        </p:nvPicPr>
        <p:blipFill>
          <a:blip r:embed="rId2"/>
          <a:srcRect/>
          <a:stretch>
            <a:fillRect/>
          </a:stretch>
        </p:blipFill>
        <p:spPr bwMode="auto">
          <a:xfrm>
            <a:off x="809897" y="738188"/>
            <a:ext cx="11103429" cy="4042818"/>
          </a:xfrm>
          <a:prstGeom prst="rect">
            <a:avLst/>
          </a:prstGeom>
          <a:noFill/>
          <a:ln w="9525">
            <a:noFill/>
            <a:miter lim="800000"/>
            <a:headEnd/>
            <a:tailEnd/>
          </a:ln>
        </p:spPr>
      </p:pic>
    </p:spTree>
    <p:extLst>
      <p:ext uri="{BB962C8B-B14F-4D97-AF65-F5344CB8AC3E}">
        <p14:creationId xmlns:p14="http://schemas.microsoft.com/office/powerpoint/2010/main" val="1477206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2001</Words>
  <Application>Microsoft Office PowerPoint</Application>
  <PresentationFormat>Widescreen</PresentationFormat>
  <Paragraphs>416</Paragraphs>
  <Slides>43</Slides>
  <Notes>17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Arial</vt:lpstr>
      <vt:lpstr>Calibri</vt:lpstr>
      <vt:lpstr>Calibri Light</vt:lpstr>
      <vt:lpstr>Consolas</vt:lpstr>
      <vt:lpstr>Helvetica</vt:lpstr>
      <vt:lpstr>Times New Roman</vt:lpstr>
      <vt:lpstr>Wingdings</vt:lpstr>
      <vt:lpstr>Office Theme</vt:lpstr>
      <vt:lpstr>Paint Shop Pro Image</vt:lpstr>
      <vt:lpstr>Chapter 9  Multiple Core Computers </vt:lpstr>
      <vt:lpstr>PowerPoint Presentation</vt:lpstr>
      <vt:lpstr>9.1   Multiple core organization</vt:lpstr>
      <vt:lpstr>Major Technology Providers</vt:lpstr>
      <vt:lpstr>Single-core computer</vt:lpstr>
      <vt:lpstr> Multi-core architectures</vt:lpstr>
      <vt:lpstr>Multi-core CPU chip</vt:lpstr>
      <vt:lpstr>The cores run in parallel</vt:lpstr>
      <vt:lpstr>Within each core, threads are time-sliced (just like on a uniprocessor)</vt:lpstr>
      <vt:lpstr>Interaction with OS</vt:lpstr>
      <vt:lpstr>Why multi-core ?</vt:lpstr>
      <vt:lpstr>Instruction-level parallelism</vt:lpstr>
      <vt:lpstr>Thread-level parallelism (TLP)</vt:lpstr>
      <vt:lpstr>General context: Multiprocessors</vt:lpstr>
      <vt:lpstr>Multiprocessor memory types</vt:lpstr>
      <vt:lpstr> Multi-core processor is a special kind of a multiprocessor: All processors are on the same chip </vt:lpstr>
      <vt:lpstr>What applications benefit  from multi-core?</vt:lpstr>
      <vt:lpstr>More examples</vt:lpstr>
      <vt:lpstr>PowerPoint Presentation</vt:lpstr>
      <vt:lpstr>Parallelism</vt:lpstr>
      <vt:lpstr>Heterogeneous Computing</vt:lpstr>
      <vt:lpstr>GPU vs CPU</vt:lpstr>
      <vt:lpstr>GPU Architectures</vt:lpstr>
      <vt:lpstr>The GPU pipeline</vt:lpstr>
      <vt:lpstr>Host Interface</vt:lpstr>
      <vt:lpstr>Vertex Processing</vt:lpstr>
      <vt:lpstr>Triangle setup</vt:lpstr>
      <vt:lpstr>Triangle Setup (cont)</vt:lpstr>
      <vt:lpstr>Fragment Processing</vt:lpstr>
      <vt:lpstr>Memory Interface</vt:lpstr>
      <vt:lpstr>Programmability in the GPU</vt:lpstr>
      <vt:lpstr>Diagram of a modern GPU</vt:lpstr>
      <vt:lpstr>CPU/GPU interaction</vt:lpstr>
      <vt:lpstr>CPU/GPU interaction (cont)</vt:lpstr>
      <vt:lpstr>CPU/GPU interaction (cont)</vt:lpstr>
      <vt:lpstr>Grids, Blocks, and Threads</vt:lpstr>
      <vt:lpstr>CUDA Memory</vt:lpstr>
      <vt:lpstr>Graphics Hardware Abstraction</vt:lpstr>
      <vt:lpstr>Programming using CUDA</vt:lpstr>
      <vt:lpstr>Example: NVIDIA Tesla</vt:lpstr>
      <vt:lpstr>Example: NVIDIA Tesla</vt:lpstr>
      <vt:lpstr>Modern GPU has more ALU’s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TEH NORANIS MOHD ARIS</dc:creator>
  <cp:lastModifiedBy>AZIAH BINTI ASMAWI</cp:lastModifiedBy>
  <cp:revision>14</cp:revision>
  <dcterms:created xsi:type="dcterms:W3CDTF">2022-03-28T01:53:26Z</dcterms:created>
  <dcterms:modified xsi:type="dcterms:W3CDTF">2022-04-06T03:08:43Z</dcterms:modified>
</cp:coreProperties>
</file>