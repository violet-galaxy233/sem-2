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 id="2147483695" r:id="rId2"/>
    <p:sldMasterId id="2147483707" r:id="rId3"/>
    <p:sldMasterId id="2147483719" r:id="rId4"/>
  </p:sldMasterIdLst>
  <p:sldIdLst>
    <p:sldId id="257" r:id="rId5"/>
    <p:sldId id="258" r:id="rId6"/>
    <p:sldId id="298" r:id="rId7"/>
    <p:sldId id="297" r:id="rId8"/>
    <p:sldId id="301" r:id="rId9"/>
    <p:sldId id="302" r:id="rId10"/>
    <p:sldId id="310" r:id="rId11"/>
    <p:sldId id="300" r:id="rId12"/>
    <p:sldId id="316" r:id="rId13"/>
    <p:sldId id="311" r:id="rId14"/>
    <p:sldId id="307" r:id="rId15"/>
    <p:sldId id="312" r:id="rId16"/>
    <p:sldId id="313" r:id="rId17"/>
    <p:sldId id="259" r:id="rId18"/>
    <p:sldId id="303" r:id="rId19"/>
    <p:sldId id="293" r:id="rId20"/>
    <p:sldId id="261" r:id="rId21"/>
    <p:sldId id="262" r:id="rId22"/>
    <p:sldId id="263" r:id="rId23"/>
    <p:sldId id="267" r:id="rId24"/>
    <p:sldId id="260" r:id="rId25"/>
    <p:sldId id="273" r:id="rId26"/>
    <p:sldId id="272" r:id="rId27"/>
    <p:sldId id="388" r:id="rId28"/>
    <p:sldId id="315" r:id="rId29"/>
    <p:sldId id="317" r:id="rId30"/>
    <p:sldId id="318" r:id="rId31"/>
    <p:sldId id="314" r:id="rId32"/>
    <p:sldId id="275" r:id="rId33"/>
    <p:sldId id="387" r:id="rId34"/>
    <p:sldId id="269" r:id="rId35"/>
    <p:sldId id="264" r:id="rId36"/>
    <p:sldId id="274" r:id="rId37"/>
    <p:sldId id="265" r:id="rId38"/>
    <p:sldId id="266" r:id="rId39"/>
    <p:sldId id="276" r:id="rId40"/>
    <p:sldId id="309"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tri" initials="F" lastIdx="1" clrIdx="0">
    <p:extLst>
      <p:ext uri="{19B8F6BF-5375-455C-9EA6-DF929625EA0E}">
        <p15:presenceInfo xmlns:p15="http://schemas.microsoft.com/office/powerpoint/2012/main" userId="Fitri"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commentAuthors" Target="commentAuthor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031135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404130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538075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A877A6-B9F5-4867-A3A3-392470B18AE2}" type="datetimeFigureOut">
              <a:rPr lang="en-MY" smtClean="0"/>
              <a:t>5/1/2024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117566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A877A6-B9F5-4867-A3A3-392470B18AE2}" type="datetimeFigureOut">
              <a:rPr lang="en-MY" smtClean="0"/>
              <a:t>5/1/2024</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540901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3"/>
          <p:cNvSpPr>
            <a:spLocks noGrp="1"/>
          </p:cNvSpPr>
          <p:nvPr>
            <p:ph type="ftr" sz="quarter" idx="11"/>
          </p:nvPr>
        </p:nvSpPr>
        <p:spPr/>
        <p:txBody>
          <a:bodyPr/>
          <a:lstStyle/>
          <a:p>
            <a:endParaRPr lang="en-MY"/>
          </a:p>
        </p:txBody>
      </p:sp>
      <p:sp>
        <p:nvSpPr>
          <p:cNvPr id="6" name="Slide Number Placeholder 4"/>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409658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2"/>
          <p:cNvSpPr>
            <a:spLocks noGrp="1"/>
          </p:cNvSpPr>
          <p:nvPr>
            <p:ph type="ftr" sz="quarter" idx="11"/>
          </p:nvPr>
        </p:nvSpPr>
        <p:spPr/>
        <p:txBody>
          <a:bodyPr/>
          <a:lstStyle/>
          <a:p>
            <a:endParaRPr lang="en-MY"/>
          </a:p>
        </p:txBody>
      </p:sp>
      <p:sp>
        <p:nvSpPr>
          <p:cNvPr id="6" name="Slide Number Placeholder 3"/>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056494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5"/>
          <p:cNvSpPr>
            <a:spLocks noGrp="1"/>
          </p:cNvSpPr>
          <p:nvPr>
            <p:ph type="ftr" sz="quarter" idx="11"/>
          </p:nvPr>
        </p:nvSpPr>
        <p:spPr/>
        <p:txBody>
          <a:bodyPr/>
          <a:lstStyle/>
          <a:p>
            <a:endParaRPr lang="en-MY"/>
          </a:p>
        </p:txBody>
      </p:sp>
      <p:sp>
        <p:nvSpPr>
          <p:cNvPr id="6"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395239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A877A6-B9F5-4867-A3A3-392470B18AE2}" type="datetimeFigureOut">
              <a:rPr lang="en-MY" smtClean="0"/>
              <a:t>5/1/2024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45940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A877A6-B9F5-4867-A3A3-392470B18AE2}" type="datetimeFigureOut">
              <a:rPr lang="en-MY" smtClean="0"/>
              <a:t>5/1/2024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927716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031378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5403014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3449068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A877A6-B9F5-4867-A3A3-392470B18AE2}" type="datetimeFigureOut">
              <a:rPr lang="en-MY" smtClean="0"/>
              <a:t>5/1/2024</a:t>
            </a:fld>
            <a:endParaRPr lang="en-MY"/>
          </a:p>
        </p:txBody>
      </p:sp>
      <p:sp>
        <p:nvSpPr>
          <p:cNvPr id="4"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32170906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8A877A6-B9F5-4867-A3A3-392470B18AE2}" type="datetimeFigureOut">
              <a:rPr lang="en-MY" smtClean="0"/>
              <a:t>5/1/2024</a:t>
            </a:fld>
            <a:endParaRPr lang="en-MY"/>
          </a:p>
        </p:txBody>
      </p:sp>
      <p:sp>
        <p:nvSpPr>
          <p:cNvPr id="4"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23302662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569834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A877A6-B9F5-4867-A3A3-392470B18AE2}"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D330625C-0DFE-48EE-B4CF-6F31E8BA3B9A}" type="slidenum">
              <a:rPr lang="en-MY" smtClean="0"/>
              <a:t>‹#›</a:t>
            </a:fld>
            <a:endParaRPr lang="en-MY"/>
          </a:p>
        </p:txBody>
      </p:sp>
    </p:spTree>
    <p:extLst>
      <p:ext uri="{BB962C8B-B14F-4D97-AF65-F5344CB8AC3E}">
        <p14:creationId xmlns:p14="http://schemas.microsoft.com/office/powerpoint/2010/main" val="14680467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94664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77451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732387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264110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19849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0106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871187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465150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833906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22154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811470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14E152-5AF6-4A32-9BB5-E2D5EA3B01E3}" type="datetimeFigureOut">
              <a:rPr lang="en-US" smtClean="0"/>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6656139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42752252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4E152-5AF6-4A32-9BB5-E2D5EA3B01E3}" type="datetimeFigureOut">
              <a:rPr lang="en-US" smtClean="0"/>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9570003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14E152-5AF6-4A32-9BB5-E2D5EA3B01E3}" type="datetimeFigureOut">
              <a:rPr lang="en-US" smtClean="0"/>
              <a:t>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5099276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14E152-5AF6-4A32-9BB5-E2D5EA3B01E3}" type="datetimeFigureOut">
              <a:rPr lang="en-US" smtClean="0"/>
              <a:t>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5789121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14E152-5AF6-4A32-9BB5-E2D5EA3B01E3}" type="datetimeFigureOut">
              <a:rPr lang="en-US" smtClean="0"/>
              <a:t>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0426974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14E152-5AF6-4A32-9BB5-E2D5EA3B01E3}" type="datetimeFigureOut">
              <a:rPr lang="en-US" smtClean="0"/>
              <a:t>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2004936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14E152-5AF6-4A32-9BB5-E2D5EA3B01E3}" type="datetimeFigureOut">
              <a:rPr lang="en-US" smtClean="0"/>
              <a:t>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1639568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14E152-5AF6-4A32-9BB5-E2D5EA3B01E3}" type="datetimeFigureOut">
              <a:rPr lang="en-US" smtClean="0"/>
              <a:t>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30285076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11393179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14E152-5AF6-4A32-9BB5-E2D5EA3B01E3}" type="datetimeFigureOut">
              <a:rPr lang="en-US" smtClean="0"/>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04647-6617-4D77-871B-7F401C13A077}" type="slidenum">
              <a:rPr lang="en-US" smtClean="0"/>
              <a:t>‹#›</a:t>
            </a:fld>
            <a:endParaRPr lang="en-US"/>
          </a:p>
        </p:txBody>
      </p:sp>
    </p:spTree>
    <p:extLst>
      <p:ext uri="{BB962C8B-B14F-4D97-AF65-F5344CB8AC3E}">
        <p14:creationId xmlns:p14="http://schemas.microsoft.com/office/powerpoint/2010/main" val="42051937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A72F747-A1E2-4FE3-ABC7-1BE573A08529}" type="datetimeFigureOut">
              <a:rPr lang="en-MY" smtClean="0"/>
              <a:t>5/1/2024</a:t>
            </a:fld>
            <a:endParaRPr lang="en-MY"/>
          </a:p>
        </p:txBody>
      </p:sp>
      <p:sp>
        <p:nvSpPr>
          <p:cNvPr id="5" name="Footer Placeholder 4"/>
          <p:cNvSpPr>
            <a:spLocks noGrp="1"/>
          </p:cNvSpPr>
          <p:nvPr>
            <p:ph type="ftr" sz="quarter" idx="11"/>
          </p:nvPr>
        </p:nvSpPr>
        <p:spPr>
          <a:xfrm>
            <a:off x="2692397" y="5037663"/>
            <a:ext cx="5214635" cy="279400"/>
          </a:xfrm>
        </p:spPr>
        <p:txBody>
          <a:bodyPr/>
          <a:lstStyle/>
          <a:p>
            <a:endParaRPr lang="en-MY"/>
          </a:p>
        </p:txBody>
      </p:sp>
      <p:sp>
        <p:nvSpPr>
          <p:cNvPr id="6" name="Slide Number Placeholder 5"/>
          <p:cNvSpPr>
            <a:spLocks noGrp="1"/>
          </p:cNvSpPr>
          <p:nvPr>
            <p:ph type="sldNum" sz="quarter" idx="12"/>
          </p:nvPr>
        </p:nvSpPr>
        <p:spPr>
          <a:xfrm>
            <a:off x="8956900" y="5037663"/>
            <a:ext cx="551167" cy="279400"/>
          </a:xfrm>
        </p:spPr>
        <p:txBody>
          <a:bodyPr/>
          <a:lstStyle/>
          <a:p>
            <a:fld id="{34E3DA57-CA58-4EA7-8749-A0754D1882E7}" type="slidenum">
              <a:rPr lang="en-MY" smtClean="0"/>
              <a:t>‹#›</a:t>
            </a:fld>
            <a:endParaRPr lang="en-MY"/>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1170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72F747-A1E2-4FE3-ABC7-1BE573A08529}"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34E3DA57-CA58-4EA7-8749-A0754D1882E7}" type="slidenum">
              <a:rPr lang="en-MY" smtClean="0"/>
              <a:t>‹#›</a:t>
            </a:fld>
            <a:endParaRPr lang="en-MY"/>
          </a:p>
        </p:txBody>
      </p:sp>
    </p:spTree>
    <p:extLst>
      <p:ext uri="{BB962C8B-B14F-4D97-AF65-F5344CB8AC3E}">
        <p14:creationId xmlns:p14="http://schemas.microsoft.com/office/powerpoint/2010/main" val="23093489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72F747-A1E2-4FE3-ABC7-1BE573A08529}"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34E3DA57-CA58-4EA7-8749-A0754D1882E7}" type="slidenum">
              <a:rPr lang="en-MY" smtClean="0"/>
              <a:t>‹#›</a:t>
            </a:fld>
            <a:endParaRPr lang="en-MY"/>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95833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72F747-A1E2-4FE3-ABC7-1BE573A08529}" type="datetimeFigureOut">
              <a:rPr lang="en-MY" smtClean="0"/>
              <a:t>5/1/2024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34E3DA57-CA58-4EA7-8749-A0754D1882E7}" type="slidenum">
              <a:rPr lang="en-MY" smtClean="0"/>
              <a:t>‹#›</a:t>
            </a:fld>
            <a:endParaRPr lang="en-MY"/>
          </a:p>
        </p:txBody>
      </p:sp>
    </p:spTree>
    <p:extLst>
      <p:ext uri="{BB962C8B-B14F-4D97-AF65-F5344CB8AC3E}">
        <p14:creationId xmlns:p14="http://schemas.microsoft.com/office/powerpoint/2010/main" val="102419678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72F747-A1E2-4FE3-ABC7-1BE573A08529}" type="datetimeFigureOut">
              <a:rPr lang="en-MY" smtClean="0"/>
              <a:t>5/1/2024</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34E3DA57-CA58-4EA7-8749-A0754D1882E7}" type="slidenum">
              <a:rPr lang="en-MY" smtClean="0"/>
              <a:t>‹#›</a:t>
            </a:fld>
            <a:endParaRPr lang="en-MY"/>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70744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72F747-A1E2-4FE3-ABC7-1BE573A08529}" type="datetimeFigureOut">
              <a:rPr lang="en-MY" smtClean="0"/>
              <a:t>5/1/2024</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34E3DA57-CA58-4EA7-8749-A0754D1882E7}" type="slidenum">
              <a:rPr lang="en-MY" smtClean="0"/>
              <a:t>‹#›</a:t>
            </a:fld>
            <a:endParaRPr lang="en-MY"/>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7876511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2F747-A1E2-4FE3-ABC7-1BE573A08529}" type="datetimeFigureOut">
              <a:rPr lang="en-MY" smtClean="0"/>
              <a:t>5/1/2024</a:t>
            </a:fld>
            <a:endParaRPr lang="en-MY"/>
          </a:p>
        </p:txBody>
      </p:sp>
      <p:sp>
        <p:nvSpPr>
          <p:cNvPr id="3" name="Footer Placeholder 2"/>
          <p:cNvSpPr>
            <a:spLocks noGrp="1"/>
          </p:cNvSpPr>
          <p:nvPr>
            <p:ph type="ftr" sz="quarter" idx="11"/>
          </p:nvPr>
        </p:nvSpPr>
        <p:spPr/>
        <p:txBody>
          <a:bodyPr/>
          <a:lstStyle/>
          <a:p>
            <a:endParaRPr lang="en-MY"/>
          </a:p>
        </p:txBody>
      </p:sp>
      <p:sp>
        <p:nvSpPr>
          <p:cNvPr id="4" name="Slide Number Placeholder 3"/>
          <p:cNvSpPr>
            <a:spLocks noGrp="1"/>
          </p:cNvSpPr>
          <p:nvPr>
            <p:ph type="sldNum" sz="quarter" idx="12"/>
          </p:nvPr>
        </p:nvSpPr>
        <p:spPr/>
        <p:txBody>
          <a:bodyPr/>
          <a:lstStyle/>
          <a:p>
            <a:fld id="{34E3DA57-CA58-4EA7-8749-A0754D1882E7}" type="slidenum">
              <a:rPr lang="en-MY" smtClean="0"/>
              <a:t>‹#›</a:t>
            </a:fld>
            <a:endParaRPr lang="en-MY"/>
          </a:p>
        </p:txBody>
      </p:sp>
    </p:spTree>
    <p:extLst>
      <p:ext uri="{BB962C8B-B14F-4D97-AF65-F5344CB8AC3E}">
        <p14:creationId xmlns:p14="http://schemas.microsoft.com/office/powerpoint/2010/main" val="298648415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72F747-A1E2-4FE3-ABC7-1BE573A08529}" type="datetimeFigureOut">
              <a:rPr lang="en-MY" smtClean="0"/>
              <a:t>5/1/2024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34E3DA57-CA58-4EA7-8749-A0754D1882E7}" type="slidenum">
              <a:rPr lang="en-MY" smtClean="0"/>
              <a:t>‹#›</a:t>
            </a:fld>
            <a:endParaRPr lang="en-MY"/>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20381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72F747-A1E2-4FE3-ABC7-1BE573A08529}" type="datetimeFigureOut">
              <a:rPr lang="en-MY" smtClean="0"/>
              <a:t>5/1/2024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34E3DA57-CA58-4EA7-8749-A0754D1882E7}" type="slidenum">
              <a:rPr lang="en-MY" smtClean="0"/>
              <a:t>‹#›</a:t>
            </a:fld>
            <a:endParaRPr lang="en-MY"/>
          </a:p>
        </p:txBody>
      </p:sp>
    </p:spTree>
    <p:extLst>
      <p:ext uri="{BB962C8B-B14F-4D97-AF65-F5344CB8AC3E}">
        <p14:creationId xmlns:p14="http://schemas.microsoft.com/office/powerpoint/2010/main" val="30826864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72F747-A1E2-4FE3-ABC7-1BE573A08529}" type="datetimeFigureOut">
              <a:rPr lang="en-MY" smtClean="0"/>
              <a:t>5/1/2024</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34E3DA57-CA58-4EA7-8749-A0754D1882E7}" type="slidenum">
              <a:rPr lang="en-MY" smtClean="0"/>
              <a:t>‹#›</a:t>
            </a:fld>
            <a:endParaRPr lang="en-MY"/>
          </a:p>
        </p:txBody>
      </p:sp>
    </p:spTree>
    <p:extLst>
      <p:ext uri="{BB962C8B-B14F-4D97-AF65-F5344CB8AC3E}">
        <p14:creationId xmlns:p14="http://schemas.microsoft.com/office/powerpoint/2010/main" val="7232785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72F747-A1E2-4FE3-ABC7-1BE573A08529}"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34E3DA57-CA58-4EA7-8749-A0754D1882E7}" type="slidenum">
              <a:rPr lang="en-MY" smtClean="0"/>
              <a:t>‹#›</a:t>
            </a:fld>
            <a:endParaRPr lang="en-MY"/>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08919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72F747-A1E2-4FE3-ABC7-1BE573A08529}"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34E3DA57-CA58-4EA7-8749-A0754D1882E7}" type="slidenum">
              <a:rPr lang="en-MY" smtClean="0"/>
              <a:t>‹#›</a:t>
            </a:fld>
            <a:endParaRPr lang="en-MY"/>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95172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72F747-A1E2-4FE3-ABC7-1BE573A08529}"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34E3DA57-CA58-4EA7-8749-A0754D1882E7}" type="slidenum">
              <a:rPr lang="en-MY" smtClean="0"/>
              <a:t>‹#›</a:t>
            </a:fld>
            <a:endParaRPr lang="en-MY"/>
          </a:p>
        </p:txBody>
      </p:sp>
    </p:spTree>
    <p:extLst>
      <p:ext uri="{BB962C8B-B14F-4D97-AF65-F5344CB8AC3E}">
        <p14:creationId xmlns:p14="http://schemas.microsoft.com/office/powerpoint/2010/main" val="78660997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72F747-A1E2-4FE3-ABC7-1BE573A08529}"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34E3DA57-CA58-4EA7-8749-A0754D1882E7}" type="slidenum">
              <a:rPr lang="en-MY" smtClean="0"/>
              <a:t>‹#›</a:t>
            </a:fld>
            <a:endParaRPr lang="en-MY"/>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19001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72F747-A1E2-4FE3-ABC7-1BE573A08529}"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34E3DA57-CA58-4EA7-8749-A0754D1882E7}" type="slidenum">
              <a:rPr lang="en-MY" smtClean="0"/>
              <a:t>‹#›</a:t>
            </a:fld>
            <a:endParaRPr lang="en-MY"/>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5035596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72F747-A1E2-4FE3-ABC7-1BE573A08529}"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34E3DA57-CA58-4EA7-8749-A0754D1882E7}" type="slidenum">
              <a:rPr lang="en-MY" smtClean="0"/>
              <a:t>‹#›</a:t>
            </a:fld>
            <a:endParaRPr lang="en-MY"/>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211797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72F747-A1E2-4FE3-ABC7-1BE573A08529}" type="datetimeFigureOut">
              <a:rPr lang="en-MY" smtClean="0"/>
              <a:t>5/1/2024</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34E3DA57-CA58-4EA7-8749-A0754D1882E7}" type="slidenum">
              <a:rPr lang="en-MY" smtClean="0"/>
              <a:t>‹#›</a:t>
            </a:fld>
            <a:endParaRPr lang="en-MY"/>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7694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3.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image" Target="../media/image9.png"/><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image" Target="../media/image8.png"/><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8A877A6-B9F5-4867-A3A3-392470B18AE2}" type="datetimeFigureOut">
              <a:rPr lang="en-MY" smtClean="0"/>
              <a:t>5/1/2024</a:t>
            </a:fld>
            <a:endParaRPr lang="en-MY"/>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MY"/>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330625C-0DFE-48EE-B4CF-6F31E8BA3B9A}" type="slidenum">
              <a:rPr lang="en-MY" smtClean="0"/>
              <a:t>‹#›</a:t>
            </a:fld>
            <a:endParaRPr lang="en-MY"/>
          </a:p>
        </p:txBody>
      </p:sp>
    </p:spTree>
    <p:extLst>
      <p:ext uri="{BB962C8B-B14F-4D97-AF65-F5344CB8AC3E}">
        <p14:creationId xmlns:p14="http://schemas.microsoft.com/office/powerpoint/2010/main" val="1589244053"/>
      </p:ext>
    </p:extLst>
  </p:cSld>
  <p:clrMap bg1="dk1" tx1="lt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EFD1"/>
            </a:gs>
            <a:gs pos="64999">
              <a:srgbClr val="F0EBD5"/>
            </a:gs>
            <a:gs pos="100000">
              <a:srgbClr val="D1C39F"/>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543EDA-DEC2-4A58-BAD0-B33D6BFF9C88}" type="datetimeFigureOut">
              <a:rPr lang="en-US" smtClean="0">
                <a:solidFill>
                  <a:prstClr val="black">
                    <a:tint val="75000"/>
                  </a:prstClr>
                </a:solidFill>
              </a:rPr>
              <a:pPr/>
              <a:t>1/5/2024</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836843-D98A-4A40-A15F-0EA58E8BBBF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447513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14E152-5AF6-4A32-9BB5-E2D5EA3B01E3}" type="datetimeFigureOut">
              <a:rPr lang="en-US" smtClean="0"/>
              <a:t>1/5/2024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504647-6617-4D77-871B-7F401C13A077}" type="slidenum">
              <a:rPr lang="en-US" smtClean="0"/>
              <a:t>‹#›</a:t>
            </a:fld>
            <a:endParaRPr lang="en-US"/>
          </a:p>
        </p:txBody>
      </p:sp>
    </p:spTree>
    <p:extLst>
      <p:ext uri="{BB962C8B-B14F-4D97-AF65-F5344CB8AC3E}">
        <p14:creationId xmlns:p14="http://schemas.microsoft.com/office/powerpoint/2010/main" val="314388043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A72F747-A1E2-4FE3-ABC7-1BE573A08529}" type="datetimeFigureOut">
              <a:rPr lang="en-MY" smtClean="0"/>
              <a:t>5/1/2024</a:t>
            </a:fld>
            <a:endParaRPr lang="en-MY"/>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MY"/>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4E3DA57-CA58-4EA7-8749-A0754D1882E7}" type="slidenum">
              <a:rPr lang="en-MY" smtClean="0"/>
              <a:t>‹#›</a:t>
            </a:fld>
            <a:endParaRPr lang="en-MY"/>
          </a:p>
        </p:txBody>
      </p:sp>
    </p:spTree>
    <p:extLst>
      <p:ext uri="{BB962C8B-B14F-4D97-AF65-F5344CB8AC3E}">
        <p14:creationId xmlns:p14="http://schemas.microsoft.com/office/powerpoint/2010/main" val="202673770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hyperlink" Target="https://www.pmo.gov.my/category/government-policies/" TargetMode="Externa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myapec2020.my/en/apec-malaysia-2020/theme-priority-area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1D04A-6424-45AE-B5E7-7F06300B0972}"/>
              </a:ext>
            </a:extLst>
          </p:cNvPr>
          <p:cNvSpPr>
            <a:spLocks noGrp="1"/>
          </p:cNvSpPr>
          <p:nvPr>
            <p:ph type="ctrTitle"/>
          </p:nvPr>
        </p:nvSpPr>
        <p:spPr>
          <a:xfrm>
            <a:off x="357809" y="2514600"/>
            <a:ext cx="11559208" cy="2487595"/>
          </a:xfrm>
        </p:spPr>
        <p:txBody>
          <a:bodyPr>
            <a:normAutofit fontScale="90000"/>
          </a:bodyPr>
          <a:lstStyle/>
          <a:p>
            <a:pPr algn="ct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r>
              <a:rPr kumimoji="0" lang="en-US" sz="5300" b="0" i="0" u="none" strike="noStrike" kern="1200" cap="none" spc="0" normalizeH="0" baseline="0" noProof="0" dirty="0">
                <a:ln>
                  <a:noFill/>
                </a:ln>
                <a:solidFill>
                  <a:srgbClr val="EBEBEB"/>
                </a:solidFill>
                <a:effectLst/>
                <a:uLnTx/>
                <a:uFillTx/>
                <a:latin typeface="Century Gothic" panose="020B0502020202020204"/>
                <a:ea typeface="+mj-ea"/>
                <a:cs typeface="+mj-cs"/>
              </a:rPr>
              <a:t>FEM2401 Malaysian Politics &amp; Society</a:t>
            </a: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t>TOPIC 10:</a:t>
            </a: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t>MAJOR NATIONAL POLICIES</a:t>
            </a:r>
            <a:br>
              <a:rPr kumimoji="0" lang="en-US" sz="4800" b="0" i="0" u="none" strike="noStrike" kern="1200" cap="none" spc="0" normalizeH="0" baseline="0" noProof="0" dirty="0">
                <a:ln>
                  <a:noFill/>
                </a:ln>
                <a:solidFill>
                  <a:srgbClr val="EBEBEB"/>
                </a:solidFill>
                <a:effectLst/>
                <a:uLnTx/>
                <a:uFillTx/>
                <a:latin typeface="Century Gothic" panose="020B0502020202020204"/>
                <a:ea typeface="+mj-ea"/>
                <a:cs typeface="+mj-cs"/>
              </a:rPr>
            </a:br>
            <a:endParaRPr lang="en-MY" dirty="0"/>
          </a:p>
        </p:txBody>
      </p:sp>
      <p:sp>
        <p:nvSpPr>
          <p:cNvPr id="3" name="Subtitle 2">
            <a:extLst>
              <a:ext uri="{FF2B5EF4-FFF2-40B4-BE49-F238E27FC236}">
                <a16:creationId xmlns:a16="http://schemas.microsoft.com/office/drawing/2014/main" id="{81C0A348-4F31-4359-AF21-1556C1BD4406}"/>
              </a:ext>
            </a:extLst>
          </p:cNvPr>
          <p:cNvSpPr>
            <a:spLocks noGrp="1"/>
          </p:cNvSpPr>
          <p:nvPr>
            <p:ph type="subTitle" idx="1"/>
          </p:nvPr>
        </p:nvSpPr>
        <p:spPr>
          <a:xfrm>
            <a:off x="1697951" y="5188226"/>
            <a:ext cx="8637072" cy="1402627"/>
          </a:xfrm>
        </p:spPr>
        <p:txBody>
          <a:bodyPr>
            <a:normAutofit/>
          </a:bodyPr>
          <a:lstStyle/>
          <a:p>
            <a:pPr algn="ctr"/>
            <a:r>
              <a:rPr lang="en-US" sz="2000" dirty="0">
                <a:solidFill>
                  <a:schemeClr val="tx1"/>
                </a:solidFill>
              </a:rPr>
              <a:t>Lecturer:</a:t>
            </a:r>
          </a:p>
          <a:p>
            <a:pPr algn="ctr"/>
            <a:r>
              <a:rPr lang="en-US" sz="2000" dirty="0">
                <a:solidFill>
                  <a:schemeClr val="tx1"/>
                </a:solidFill>
              </a:rPr>
              <a:t>MUHAMMAD AMIR BIN MUNSHI</a:t>
            </a:r>
          </a:p>
          <a:p>
            <a:pPr algn="ctr"/>
            <a:endParaRPr lang="en-MY" sz="2000" dirty="0">
              <a:solidFill>
                <a:schemeClr val="tx1"/>
              </a:solidFill>
            </a:endParaRPr>
          </a:p>
        </p:txBody>
      </p:sp>
    </p:spTree>
    <p:extLst>
      <p:ext uri="{BB962C8B-B14F-4D97-AF65-F5344CB8AC3E}">
        <p14:creationId xmlns:p14="http://schemas.microsoft.com/office/powerpoint/2010/main" val="4064793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E6AEBA-5E32-4CF4-AC91-E90CAD078BC6}"/>
              </a:ext>
            </a:extLst>
          </p:cNvPr>
          <p:cNvSpPr>
            <a:spLocks noGrp="1"/>
          </p:cNvSpPr>
          <p:nvPr>
            <p:ph idx="1"/>
          </p:nvPr>
        </p:nvSpPr>
        <p:spPr>
          <a:xfrm>
            <a:off x="198783" y="208722"/>
            <a:ext cx="5297556" cy="6569765"/>
          </a:xfrm>
          <a:solidFill>
            <a:schemeClr val="accent6">
              <a:lumMod val="50000"/>
            </a:schemeClr>
          </a:solidFill>
        </p:spPr>
        <p:txBody>
          <a:bodyPr>
            <a:normAutofit/>
          </a:bodyPr>
          <a:lstStyle/>
          <a:p>
            <a:r>
              <a:rPr lang="en-US" sz="2800" b="1" dirty="0"/>
              <a:t>CONTENT:</a:t>
            </a:r>
          </a:p>
          <a:p>
            <a:pPr marL="342900" lvl="0" indent="-342900" algn="just">
              <a:spcAft>
                <a:spcPts val="800"/>
              </a:spcAft>
              <a:buFont typeface="Arial" panose="020B0604020202020204" pitchFamily="34" charset="0"/>
              <a:buChar char="•"/>
            </a:pPr>
            <a:r>
              <a:rPr lang="en-US" sz="2800" dirty="0">
                <a:effectLst/>
                <a:latin typeface="Calibri" panose="020F0502020204030204" pitchFamily="34" charset="0"/>
                <a:ea typeface="Arial" panose="020B0604020202020204" pitchFamily="34" charset="0"/>
                <a:cs typeface="Calibri" panose="020F0502020204030204" pitchFamily="34" charset="0"/>
              </a:rPr>
              <a:t>Social and economic policies</a:t>
            </a:r>
            <a:endParaRPr lang="en-MY" sz="2800" dirty="0">
              <a:effectLst/>
              <a:latin typeface="Calibri" panose="020F0502020204030204" pitchFamily="34" charset="0"/>
              <a:ea typeface="Arial" panose="020B0604020202020204" pitchFamily="34" charset="0"/>
              <a:cs typeface="Calibri" panose="020F0502020204030204" pitchFamily="34" charset="0"/>
            </a:endParaRPr>
          </a:p>
          <a:p>
            <a:pPr marL="742950" lvl="1" indent="-285750" algn="just">
              <a:spcAft>
                <a:spcPts val="800"/>
              </a:spcAft>
              <a:buFont typeface="Arial" panose="020B0604020202020204" pitchFamily="34" charset="0"/>
              <a:buChar char="•"/>
            </a:pPr>
            <a:r>
              <a:rPr lang="en-US" sz="2800" dirty="0">
                <a:effectLst/>
                <a:latin typeface="Calibri" panose="020F0502020204030204" pitchFamily="34" charset="0"/>
                <a:ea typeface="Arial" panose="020B0604020202020204" pitchFamily="34" charset="0"/>
                <a:cs typeface="Calibri" panose="020F0502020204030204" pitchFamily="34" charset="0"/>
              </a:rPr>
              <a:t>Social policies</a:t>
            </a:r>
            <a:endParaRPr lang="en-MY" sz="2800" dirty="0">
              <a:effectLst/>
              <a:latin typeface="Calibri" panose="020F0502020204030204" pitchFamily="34" charset="0"/>
              <a:ea typeface="Arial" panose="020B0604020202020204" pitchFamily="34" charset="0"/>
              <a:cs typeface="Calibri" panose="020F0502020204030204" pitchFamily="34" charset="0"/>
            </a:endParaRPr>
          </a:p>
          <a:p>
            <a:pPr marL="742950" lvl="1" indent="-285750" algn="just">
              <a:spcAft>
                <a:spcPts val="800"/>
              </a:spcAft>
              <a:buFont typeface="Arial" panose="020B0604020202020204" pitchFamily="34" charset="0"/>
              <a:buChar char="•"/>
            </a:pPr>
            <a:r>
              <a:rPr lang="en-US" sz="2800" dirty="0">
                <a:effectLst/>
                <a:latin typeface="Calibri" panose="020F0502020204030204" pitchFamily="34" charset="0"/>
                <a:ea typeface="Arial" panose="020B0604020202020204" pitchFamily="34" charset="0"/>
                <a:cs typeface="Calibri" panose="020F0502020204030204" pitchFamily="34" charset="0"/>
              </a:rPr>
              <a:t>Developmental policies</a:t>
            </a:r>
            <a:endParaRPr lang="en-MY" sz="2800" dirty="0">
              <a:effectLst/>
              <a:latin typeface="Calibri" panose="020F0502020204030204" pitchFamily="34" charset="0"/>
              <a:ea typeface="Arial" panose="020B0604020202020204" pitchFamily="34" charset="0"/>
              <a:cs typeface="Calibri" panose="020F0502020204030204" pitchFamily="34" charset="0"/>
            </a:endParaRPr>
          </a:p>
          <a:p>
            <a:pPr marL="342900" lvl="0" indent="-342900" algn="just">
              <a:spcAft>
                <a:spcPts val="800"/>
              </a:spcAft>
              <a:buFont typeface="Arial" panose="020B0604020202020204" pitchFamily="34" charset="0"/>
              <a:buChar char="•"/>
            </a:pPr>
            <a:r>
              <a:rPr lang="en-US" sz="2800" dirty="0">
                <a:effectLst/>
                <a:latin typeface="Calibri" panose="020F0502020204030204" pitchFamily="34" charset="0"/>
                <a:ea typeface="Arial" panose="020B0604020202020204" pitchFamily="34" charset="0"/>
                <a:cs typeface="Calibri" panose="020F0502020204030204" pitchFamily="34" charset="0"/>
              </a:rPr>
              <a:t>Foreign policy</a:t>
            </a:r>
            <a:endParaRPr lang="en-MY" sz="2800" dirty="0">
              <a:effectLst/>
              <a:latin typeface="Calibri" panose="020F0502020204030204" pitchFamily="34" charset="0"/>
              <a:ea typeface="Arial" panose="020B0604020202020204" pitchFamily="34" charset="0"/>
              <a:cs typeface="Calibri" panose="020F0502020204030204" pitchFamily="34" charset="0"/>
            </a:endParaRPr>
          </a:p>
          <a:p>
            <a:r>
              <a:rPr lang="en-US" sz="2800" dirty="0">
                <a:effectLst/>
                <a:latin typeface="Calibri" panose="020F0502020204030204" pitchFamily="34" charset="0"/>
                <a:ea typeface="Times New Roman" panose="02020603050405020304" pitchFamily="18" charset="0"/>
                <a:cs typeface="Calibri" panose="020F0502020204030204" pitchFamily="34" charset="0"/>
              </a:rPr>
              <a:t>Regional and international cooperation</a:t>
            </a:r>
            <a:endParaRPr lang="en-US" dirty="0">
              <a:latin typeface="Calibri" panose="020F0502020204030204" pitchFamily="34" charset="0"/>
              <a:cs typeface="Calibri" panose="020F0502020204030204" pitchFamily="34" charset="0"/>
            </a:endParaRPr>
          </a:p>
        </p:txBody>
      </p:sp>
      <p:sp>
        <p:nvSpPr>
          <p:cNvPr id="6" name="Content Placeholder 2">
            <a:extLst>
              <a:ext uri="{FF2B5EF4-FFF2-40B4-BE49-F238E27FC236}">
                <a16:creationId xmlns:a16="http://schemas.microsoft.com/office/drawing/2014/main" id="{28FFE846-8710-FE2F-2903-3CCC4DD34659}"/>
              </a:ext>
            </a:extLst>
          </p:cNvPr>
          <p:cNvSpPr txBox="1">
            <a:spLocks/>
          </p:cNvSpPr>
          <p:nvPr/>
        </p:nvSpPr>
        <p:spPr>
          <a:xfrm>
            <a:off x="6023113" y="738810"/>
            <a:ext cx="5201477" cy="567192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endParaRPr lang="en-US" dirty="0"/>
          </a:p>
        </p:txBody>
      </p:sp>
      <p:sp>
        <p:nvSpPr>
          <p:cNvPr id="7" name="TextBox 6">
            <a:extLst>
              <a:ext uri="{FF2B5EF4-FFF2-40B4-BE49-F238E27FC236}">
                <a16:creationId xmlns:a16="http://schemas.microsoft.com/office/drawing/2014/main" id="{EDDE213E-9FEE-485C-AFC7-E5D879798A6E}"/>
              </a:ext>
            </a:extLst>
          </p:cNvPr>
          <p:cNvSpPr txBox="1"/>
          <p:nvPr/>
        </p:nvSpPr>
        <p:spPr>
          <a:xfrm>
            <a:off x="6023113" y="1974574"/>
            <a:ext cx="5572539" cy="2041585"/>
          </a:xfrm>
          <a:prstGeom prst="rect">
            <a:avLst/>
          </a:prstGeom>
          <a:solidFill>
            <a:schemeClr val="accent1">
              <a:lumMod val="75000"/>
            </a:schemeClr>
          </a:solidFill>
        </p:spPr>
        <p:txBody>
          <a:bodyPr wrap="square" rtlCol="0">
            <a:spAutoFit/>
          </a:bodyPr>
          <a:lstStyle/>
          <a:p>
            <a:pPr algn="ctr"/>
            <a:r>
              <a:rPr lang="en-US" sz="2400" b="1" dirty="0"/>
              <a:t>LEARNING OUTCOME:</a:t>
            </a:r>
          </a:p>
          <a:p>
            <a:endParaRPr lang="en-US" sz="2400" dirty="0"/>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To discuss selected major policies</a:t>
            </a: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To elaborate the important of some policies</a:t>
            </a:r>
          </a:p>
        </p:txBody>
      </p:sp>
    </p:spTree>
    <p:extLst>
      <p:ext uri="{BB962C8B-B14F-4D97-AF65-F5344CB8AC3E}">
        <p14:creationId xmlns:p14="http://schemas.microsoft.com/office/powerpoint/2010/main" val="2847800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799" y="149087"/>
            <a:ext cx="11711610" cy="934278"/>
          </a:xfrm>
        </p:spPr>
        <p:txBody>
          <a:bodyPr>
            <a:noAutofit/>
          </a:bodyPr>
          <a:lstStyle/>
          <a:p>
            <a:r>
              <a:rPr lang="en-US" sz="4000" b="1" dirty="0">
                <a:solidFill>
                  <a:srgbClr val="FF0000"/>
                </a:solidFill>
              </a:rPr>
              <a:t>POLICY OR PUBLIC POLICY</a:t>
            </a:r>
          </a:p>
        </p:txBody>
      </p:sp>
      <p:sp>
        <p:nvSpPr>
          <p:cNvPr id="3" name="Content Placeholder 2"/>
          <p:cNvSpPr>
            <a:spLocks noGrp="1"/>
          </p:cNvSpPr>
          <p:nvPr>
            <p:ph idx="1"/>
          </p:nvPr>
        </p:nvSpPr>
        <p:spPr>
          <a:xfrm>
            <a:off x="185115" y="1162878"/>
            <a:ext cx="11711610" cy="5466521"/>
          </a:xfrm>
        </p:spPr>
        <p:txBody>
          <a:bodyPr>
            <a:normAutofit/>
          </a:bodyPr>
          <a:lstStyle/>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What is the meaning of public policy? </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Thomas Dye  defined public policy as “anything a government chooses to do  or not to do.”</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is a course of action adopted and pursued by a government</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the actions of government and the intentions that determine those actions </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A government’s plan and guideline to run a country</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Two types of public policy</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Domestic policy </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Foreign policy</a:t>
            </a:r>
            <a:endParaRPr lang="en-MY" sz="2400" dirty="0">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2013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E8780E0-F199-45A6-A93B-D0FD60E832ED}"/>
              </a:ext>
            </a:extLst>
          </p:cNvPr>
          <p:cNvSpPr>
            <a:spLocks noGrp="1"/>
          </p:cNvSpPr>
          <p:nvPr>
            <p:ph type="body" idx="1"/>
          </p:nvPr>
        </p:nvSpPr>
        <p:spPr>
          <a:xfrm>
            <a:off x="262928" y="145032"/>
            <a:ext cx="5479774" cy="1051718"/>
          </a:xfrm>
        </p:spPr>
        <p:txBody>
          <a:bodyPr>
            <a:noAutofit/>
          </a:bodyPr>
          <a:lstStyle/>
          <a:p>
            <a:pPr algn="ctr"/>
            <a:endParaRPr lang="en-MY" sz="3600" dirty="0"/>
          </a:p>
          <a:p>
            <a:pPr algn="ctr"/>
            <a:endParaRPr lang="en-MY" sz="3600" dirty="0"/>
          </a:p>
          <a:p>
            <a:pPr algn="ctr"/>
            <a:r>
              <a:rPr lang="en-MY" sz="3600" dirty="0"/>
              <a:t>PUBLIC POLICIES IN MALAYSIA</a:t>
            </a:r>
          </a:p>
        </p:txBody>
      </p:sp>
      <p:sp>
        <p:nvSpPr>
          <p:cNvPr id="3" name="Content Placeholder 2"/>
          <p:cNvSpPr>
            <a:spLocks noGrp="1"/>
          </p:cNvSpPr>
          <p:nvPr>
            <p:ph sz="half" idx="2"/>
          </p:nvPr>
        </p:nvSpPr>
        <p:spPr>
          <a:xfrm>
            <a:off x="262928" y="1242391"/>
            <a:ext cx="5733589" cy="5396948"/>
          </a:xfrm>
          <a:solidFill>
            <a:schemeClr val="tx2">
              <a:lumMod val="20000"/>
              <a:lumOff val="80000"/>
            </a:schemeClr>
          </a:solidFill>
        </p:spPr>
        <p:txBody>
          <a:bodyPr>
            <a:normAutofit fontScale="92500" lnSpcReduction="20000"/>
          </a:bodyPr>
          <a:lstStyle/>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Two types of public policy</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Domestic policy </a:t>
            </a:r>
            <a:endParaRPr lang="en-MY"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National Social Policies</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National Development Policies</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Foreign policy</a:t>
            </a:r>
            <a:endParaRPr lang="en-MY"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Bilateral relationships/diplomacy</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Multilateral policies relationships/diplomacy</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Regional and international </a:t>
            </a:r>
            <a:r>
              <a:rPr lang="en-US" sz="2000" dirty="0" err="1">
                <a:effectLst/>
                <a:latin typeface="Arial" panose="020B0604020202020204" pitchFamily="34" charset="0"/>
                <a:ea typeface="Arial" panose="020B0604020202020204" pitchFamily="34" charset="0"/>
                <a:cs typeface="Arial" panose="020B0604020202020204" pitchFamily="34" charset="0"/>
              </a:rPr>
              <a:t>organisation</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b="1" dirty="0">
                <a:effectLst/>
                <a:latin typeface="Arial" panose="020B0604020202020204" pitchFamily="34" charset="0"/>
                <a:ea typeface="Arial" panose="020B0604020202020204" pitchFamily="34" charset="0"/>
                <a:cs typeface="Arial" panose="020B0604020202020204" pitchFamily="34" charset="0"/>
              </a:rPr>
              <a:t>Ultimate aim of all public policies in Malaysia  – </a:t>
            </a:r>
            <a:r>
              <a:rPr lang="en-US" sz="2000" b="1" u="sng" dirty="0">
                <a:effectLst/>
                <a:latin typeface="Arial" panose="020B0604020202020204" pitchFamily="34" charset="0"/>
                <a:ea typeface="Arial" panose="020B0604020202020204" pitchFamily="34" charset="0"/>
                <a:cs typeface="Arial" panose="020B0604020202020204" pitchFamily="34" charset="0"/>
              </a:rPr>
              <a:t>NATIONAL UNITY </a:t>
            </a:r>
            <a:endParaRPr lang="en-MY" sz="2000" dirty="0">
              <a:effectLst/>
              <a:latin typeface="Arial" panose="020B0604020202020204" pitchFamily="34" charset="0"/>
              <a:ea typeface="Arial" panose="020B0604020202020204" pitchFamily="34" charset="0"/>
              <a:cs typeface="Arial" panose="020B0604020202020204" pitchFamily="34" charset="0"/>
            </a:endParaRPr>
          </a:p>
          <a:p>
            <a:r>
              <a:rPr lang="en-US" sz="2000" b="1" dirty="0">
                <a:effectLst/>
                <a:latin typeface="Times New Roman" panose="02020603050405020304" pitchFamily="18" charset="0"/>
                <a:ea typeface="Times New Roman" panose="02020603050405020304" pitchFamily="18" charset="0"/>
              </a:rPr>
              <a:t>Major public policies in Malaysia – check the Prime Minister Office Website</a:t>
            </a:r>
            <a:r>
              <a:rPr lang="en-US" sz="2000" dirty="0">
                <a:effectLst/>
                <a:latin typeface="Times New Roman" panose="02020603050405020304" pitchFamily="18" charset="0"/>
                <a:ea typeface="Times New Roman" panose="02020603050405020304" pitchFamily="18" charset="0"/>
              </a:rPr>
              <a:t> </a:t>
            </a:r>
            <a:r>
              <a:rPr lang="en-US" sz="2000" u="sng" dirty="0">
                <a:solidFill>
                  <a:srgbClr val="0563C1"/>
                </a:solidFill>
                <a:effectLst/>
                <a:latin typeface="Times New Roman" panose="02020603050405020304" pitchFamily="18" charset="0"/>
                <a:ea typeface="Times New Roman" panose="02020603050405020304" pitchFamily="18" charset="0"/>
                <a:hlinkClick r:id="rId2"/>
              </a:rPr>
              <a:t>https://www.pmo.gov.my/category/government-policies/</a:t>
            </a:r>
            <a:endParaRPr lang="en-US" sz="4000" dirty="0"/>
          </a:p>
        </p:txBody>
      </p:sp>
      <p:sp>
        <p:nvSpPr>
          <p:cNvPr id="5" name="Text Placeholder 4">
            <a:extLst>
              <a:ext uri="{FF2B5EF4-FFF2-40B4-BE49-F238E27FC236}">
                <a16:creationId xmlns:a16="http://schemas.microsoft.com/office/drawing/2014/main" id="{5987992B-34D9-072A-6850-BA92692EF9A2}"/>
              </a:ext>
            </a:extLst>
          </p:cNvPr>
          <p:cNvSpPr>
            <a:spLocks noGrp="1"/>
          </p:cNvSpPr>
          <p:nvPr>
            <p:ph type="body" sz="quarter" idx="3"/>
          </p:nvPr>
        </p:nvSpPr>
        <p:spPr>
          <a:xfrm>
            <a:off x="6094943" y="145033"/>
            <a:ext cx="5930440" cy="650098"/>
          </a:xfrm>
        </p:spPr>
        <p:txBody>
          <a:bodyPr>
            <a:noAutofit/>
          </a:bodyPr>
          <a:lstStyle/>
          <a:p>
            <a:pPr algn="ctr"/>
            <a:r>
              <a:rPr lang="en-MY" sz="3600" dirty="0"/>
              <a:t>PUBLIC POLICIES IN MALAYSIA</a:t>
            </a:r>
          </a:p>
        </p:txBody>
      </p:sp>
      <p:sp>
        <p:nvSpPr>
          <p:cNvPr id="6" name="Content Placeholder 5">
            <a:extLst>
              <a:ext uri="{FF2B5EF4-FFF2-40B4-BE49-F238E27FC236}">
                <a16:creationId xmlns:a16="http://schemas.microsoft.com/office/drawing/2014/main" id="{5512B25F-2ACD-1BB0-B2F6-78E9EE1C782B}"/>
              </a:ext>
            </a:extLst>
          </p:cNvPr>
          <p:cNvSpPr>
            <a:spLocks noGrp="1"/>
          </p:cNvSpPr>
          <p:nvPr>
            <p:ph sz="quarter" idx="4"/>
          </p:nvPr>
        </p:nvSpPr>
        <p:spPr>
          <a:xfrm>
            <a:off x="6193367" y="795131"/>
            <a:ext cx="5930439" cy="5844209"/>
          </a:xfrm>
          <a:solidFill>
            <a:schemeClr val="accent3">
              <a:lumMod val="20000"/>
              <a:lumOff val="80000"/>
            </a:schemeClr>
          </a:solidFill>
        </p:spPr>
        <p:txBody>
          <a:bodyPr>
            <a:normAutofit fontScale="92500" lnSpcReduction="20000"/>
          </a:bodyPr>
          <a:lstStyle/>
          <a:p>
            <a:pPr marL="342900" lvl="0" indent="-342900" algn="just">
              <a:spcBef>
                <a:spcPts val="1200"/>
              </a:spcBef>
              <a:spcAft>
                <a:spcPts val="800"/>
              </a:spcAft>
              <a:buFont typeface="+mj-lt"/>
              <a:buAutoNum type="alphaUcPeriod"/>
            </a:pPr>
            <a:r>
              <a:rPr lang="en-US" sz="1900" b="1" dirty="0">
                <a:solidFill>
                  <a:srgbClr val="000000"/>
                </a:solidFill>
                <a:effectLst/>
                <a:latin typeface="Times New Roman" panose="02020603050405020304" pitchFamily="18" charset="0"/>
                <a:ea typeface="Times New Roman" panose="02020603050405020304" pitchFamily="18" charset="0"/>
              </a:rPr>
              <a:t>Social Policies </a:t>
            </a:r>
            <a:endParaRPr lang="en-MY" sz="1900" dirty="0">
              <a:effectLst/>
              <a:latin typeface="Times New Roman" panose="02020603050405020304" pitchFamily="18" charset="0"/>
              <a:ea typeface="Times New Roman" panose="02020603050405020304" pitchFamily="18" charset="0"/>
            </a:endParaRPr>
          </a:p>
          <a:p>
            <a:pPr lvl="1" indent="-342900" algn="just">
              <a:spcAft>
                <a:spcPts val="800"/>
              </a:spcAft>
              <a:buFont typeface="Arial" panose="020B0604020202020204" pitchFamily="34" charset="0"/>
              <a:buChar char="●"/>
            </a:pPr>
            <a:r>
              <a:rPr lang="en-US" sz="1700" dirty="0">
                <a:solidFill>
                  <a:srgbClr val="000000"/>
                </a:solidFill>
                <a:effectLst/>
                <a:latin typeface="Noto Sans Symbols"/>
                <a:ea typeface="Noto Sans Symbols"/>
                <a:cs typeface="Noto Sans Symbols"/>
              </a:rPr>
              <a:t>Policies that </a:t>
            </a:r>
            <a:r>
              <a:rPr lang="en-US" sz="1700" dirty="0" err="1">
                <a:solidFill>
                  <a:srgbClr val="000000"/>
                </a:solidFill>
                <a:effectLst/>
                <a:latin typeface="Noto Sans Symbols"/>
                <a:ea typeface="Noto Sans Symbols"/>
                <a:cs typeface="Noto Sans Symbols"/>
              </a:rPr>
              <a:t>priotise</a:t>
            </a:r>
            <a:r>
              <a:rPr lang="en-US" sz="1700" dirty="0">
                <a:solidFill>
                  <a:srgbClr val="000000"/>
                </a:solidFill>
                <a:effectLst/>
                <a:latin typeface="Noto Sans Symbols"/>
                <a:ea typeface="Noto Sans Symbols"/>
                <a:cs typeface="Noto Sans Symbols"/>
              </a:rPr>
              <a:t> social values based on justice, spirituality and humanity </a:t>
            </a:r>
            <a:endParaRPr lang="en-MY" sz="1700" dirty="0">
              <a:effectLst/>
              <a:latin typeface="Noto Sans Symbols"/>
              <a:ea typeface="Noto Sans Symbols"/>
              <a:cs typeface="Noto Sans Symbols"/>
            </a:endParaRPr>
          </a:p>
          <a:p>
            <a:pPr lvl="1" indent="-342900" algn="just">
              <a:spcAft>
                <a:spcPts val="800"/>
              </a:spcAft>
              <a:buFont typeface="Arial" panose="020B0604020202020204" pitchFamily="34" charset="0"/>
              <a:buChar char="●"/>
            </a:pPr>
            <a:r>
              <a:rPr lang="en-US" sz="1700" dirty="0" err="1">
                <a:solidFill>
                  <a:srgbClr val="000000"/>
                </a:solidFill>
                <a:effectLst/>
                <a:latin typeface="Noto Sans Symbols"/>
                <a:ea typeface="Noto Sans Symbols"/>
                <a:cs typeface="Noto Sans Symbols"/>
              </a:rPr>
              <a:t>Emphasises</a:t>
            </a:r>
            <a:r>
              <a:rPr lang="en-US" sz="1700" dirty="0">
                <a:solidFill>
                  <a:srgbClr val="000000"/>
                </a:solidFill>
                <a:effectLst/>
                <a:latin typeface="Noto Sans Symbols"/>
                <a:ea typeface="Noto Sans Symbols"/>
                <a:cs typeface="Noto Sans Symbols"/>
              </a:rPr>
              <a:t> social development and community welfare </a:t>
            </a:r>
            <a:endParaRPr lang="en-MY" sz="1700" dirty="0">
              <a:effectLst/>
              <a:latin typeface="Noto Sans Symbols"/>
              <a:ea typeface="Noto Sans Symbols"/>
              <a:cs typeface="Noto Sans Symbols"/>
            </a:endParaRPr>
          </a:p>
          <a:p>
            <a:pPr lvl="1" indent="-342900" algn="just">
              <a:spcAft>
                <a:spcPts val="800"/>
              </a:spcAft>
              <a:buFont typeface="Arial" panose="020B0604020202020204" pitchFamily="34" charset="0"/>
              <a:buChar char="●"/>
            </a:pPr>
            <a:r>
              <a:rPr lang="en-US" sz="1700" dirty="0" err="1">
                <a:solidFill>
                  <a:srgbClr val="000000"/>
                </a:solidFill>
                <a:effectLst/>
                <a:latin typeface="Noto Sans Symbols"/>
                <a:ea typeface="Noto Sans Symbols"/>
                <a:cs typeface="Noto Sans Symbols"/>
              </a:rPr>
              <a:t>Eg</a:t>
            </a:r>
            <a:r>
              <a:rPr lang="en-US" sz="1700" dirty="0">
                <a:solidFill>
                  <a:srgbClr val="000000"/>
                </a:solidFill>
                <a:effectLst/>
                <a:latin typeface="Noto Sans Symbols"/>
                <a:ea typeface="Noto Sans Symbols"/>
                <a:cs typeface="Noto Sans Symbols"/>
              </a:rPr>
              <a:t>: National Social Policy, National Women Policy, National Policy for Elderly, National Education Policy, National Youth Policy, </a:t>
            </a:r>
            <a:r>
              <a:rPr lang="en-US" sz="1700" dirty="0" err="1">
                <a:solidFill>
                  <a:srgbClr val="000000"/>
                </a:solidFill>
                <a:effectLst/>
                <a:latin typeface="Noto Sans Symbols"/>
                <a:ea typeface="Noto Sans Symbols"/>
                <a:cs typeface="Noto Sans Symbols"/>
              </a:rPr>
              <a:t>etc</a:t>
            </a:r>
            <a:r>
              <a:rPr lang="en-US" sz="1700" dirty="0">
                <a:solidFill>
                  <a:srgbClr val="000000"/>
                </a:solidFill>
                <a:effectLst/>
                <a:latin typeface="Noto Sans Symbols"/>
                <a:ea typeface="Noto Sans Symbols"/>
                <a:cs typeface="Noto Sans Symbols"/>
              </a:rPr>
              <a:t> </a:t>
            </a:r>
            <a:endParaRPr lang="en-MY" sz="1700" dirty="0">
              <a:effectLst/>
              <a:latin typeface="Noto Sans Symbols"/>
              <a:ea typeface="Noto Sans Symbols"/>
              <a:cs typeface="Noto Sans Symbols"/>
            </a:endParaRPr>
          </a:p>
          <a:p>
            <a:pPr marL="1143000" algn="just">
              <a:spcAft>
                <a:spcPts val="800"/>
              </a:spcAft>
            </a:pPr>
            <a:r>
              <a:rPr lang="en-US" sz="1700" dirty="0">
                <a:solidFill>
                  <a:srgbClr val="000000"/>
                </a:solidFill>
                <a:effectLst/>
                <a:latin typeface="Times New Roman" panose="02020603050405020304" pitchFamily="18" charset="0"/>
                <a:ea typeface="Times New Roman" panose="02020603050405020304" pitchFamily="18" charset="0"/>
              </a:rPr>
              <a:t> </a:t>
            </a:r>
            <a:endParaRPr lang="en-MY" sz="17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mj-lt"/>
              <a:buAutoNum type="alphaUcPeriod" startAt="2"/>
            </a:pPr>
            <a:r>
              <a:rPr lang="en-US" sz="1900" b="1" dirty="0">
                <a:solidFill>
                  <a:srgbClr val="000000"/>
                </a:solidFill>
                <a:effectLst/>
                <a:latin typeface="Times New Roman" panose="02020603050405020304" pitchFamily="18" charset="0"/>
                <a:ea typeface="Times New Roman" panose="02020603050405020304" pitchFamily="18" charset="0"/>
              </a:rPr>
              <a:t>Development Policies (economy)</a:t>
            </a:r>
            <a:endParaRPr lang="en-MY" sz="1900" dirty="0">
              <a:effectLst/>
              <a:latin typeface="Times New Roman" panose="02020603050405020304" pitchFamily="18" charset="0"/>
              <a:ea typeface="Times New Roman" panose="02020603050405020304" pitchFamily="18" charset="0"/>
            </a:endParaRPr>
          </a:p>
          <a:p>
            <a:pPr lvl="1" indent="-342900" algn="just">
              <a:spcAft>
                <a:spcPts val="800"/>
              </a:spcAft>
              <a:buFont typeface="Arial" panose="020B0604020202020204" pitchFamily="34" charset="0"/>
              <a:buChar char="●"/>
            </a:pPr>
            <a:r>
              <a:rPr lang="en-US" sz="1700" dirty="0">
                <a:solidFill>
                  <a:srgbClr val="000000"/>
                </a:solidFill>
                <a:effectLst/>
                <a:latin typeface="Noto Sans Symbols"/>
                <a:ea typeface="Noto Sans Symbols"/>
                <a:cs typeface="Noto Sans Symbols"/>
              </a:rPr>
              <a:t>Policies that focus on physical development without neglecting humanities. The goal is balanced development </a:t>
            </a:r>
            <a:endParaRPr lang="en-MY" sz="1700" dirty="0">
              <a:effectLst/>
              <a:latin typeface="Noto Sans Symbols"/>
              <a:ea typeface="Noto Sans Symbols"/>
              <a:cs typeface="Noto Sans Symbols"/>
            </a:endParaRPr>
          </a:p>
          <a:p>
            <a:pPr lvl="1" indent="-342900" algn="just">
              <a:spcAft>
                <a:spcPts val="800"/>
              </a:spcAft>
              <a:buFont typeface="Arial" panose="020B0604020202020204" pitchFamily="34" charset="0"/>
              <a:buChar char="●"/>
            </a:pPr>
            <a:r>
              <a:rPr lang="en-US" sz="1700" dirty="0" err="1">
                <a:solidFill>
                  <a:srgbClr val="000000"/>
                </a:solidFill>
                <a:effectLst/>
                <a:latin typeface="Noto Sans Symbols"/>
                <a:ea typeface="Noto Sans Symbols"/>
                <a:cs typeface="Noto Sans Symbols"/>
              </a:rPr>
              <a:t>Eg</a:t>
            </a:r>
            <a:r>
              <a:rPr lang="en-US" sz="1700" dirty="0">
                <a:solidFill>
                  <a:srgbClr val="000000"/>
                </a:solidFill>
                <a:effectLst/>
                <a:latin typeface="Noto Sans Symbols"/>
                <a:ea typeface="Noto Sans Symbols"/>
                <a:cs typeface="Noto Sans Symbols"/>
              </a:rPr>
              <a:t>: New Economic Policy, National Development Policy, National Transformation Policy </a:t>
            </a:r>
            <a:endParaRPr lang="en-MY" sz="1700" dirty="0">
              <a:effectLst/>
              <a:latin typeface="Noto Sans Symbols"/>
              <a:ea typeface="Noto Sans Symbols"/>
              <a:cs typeface="Noto Sans Symbols"/>
            </a:endParaRPr>
          </a:p>
          <a:p>
            <a:pPr marL="1143000" algn="just">
              <a:spcAft>
                <a:spcPts val="800"/>
              </a:spcAft>
            </a:pPr>
            <a:r>
              <a:rPr lang="en-US" sz="1700" dirty="0">
                <a:solidFill>
                  <a:srgbClr val="000000"/>
                </a:solidFill>
                <a:effectLst/>
                <a:latin typeface="Times New Roman" panose="02020603050405020304" pitchFamily="18" charset="0"/>
                <a:ea typeface="Times New Roman" panose="02020603050405020304" pitchFamily="18" charset="0"/>
              </a:rPr>
              <a:t> </a:t>
            </a:r>
            <a:endParaRPr lang="en-MY" sz="1700" dirty="0">
              <a:effectLst/>
              <a:latin typeface="Times New Roman" panose="02020603050405020304" pitchFamily="18" charset="0"/>
              <a:ea typeface="Times New Roman" panose="02020603050405020304" pitchFamily="18" charset="0"/>
            </a:endParaRPr>
          </a:p>
          <a:p>
            <a:pPr marL="342900" lvl="0" indent="-342900" algn="l">
              <a:lnSpc>
                <a:spcPct val="107000"/>
              </a:lnSpc>
              <a:spcAft>
                <a:spcPts val="800"/>
              </a:spcAft>
              <a:buFont typeface="+mj-lt"/>
              <a:buAutoNum type="alphaUcPeriod" startAt="3"/>
            </a:pPr>
            <a:r>
              <a:rPr lang="en-US" sz="1900" b="1" dirty="0">
                <a:solidFill>
                  <a:srgbClr val="000000"/>
                </a:solidFill>
                <a:effectLst/>
                <a:latin typeface="Times New Roman" panose="02020603050405020304" pitchFamily="18" charset="0"/>
                <a:ea typeface="Times New Roman" panose="02020603050405020304" pitchFamily="18" charset="0"/>
              </a:rPr>
              <a:t>Foreign Policies </a:t>
            </a:r>
            <a:endParaRPr lang="en-MY" sz="1900" dirty="0">
              <a:effectLst/>
              <a:latin typeface="Times New Roman" panose="02020603050405020304" pitchFamily="18" charset="0"/>
              <a:ea typeface="Times New Roman" panose="02020603050405020304" pitchFamily="18" charset="0"/>
            </a:endParaRPr>
          </a:p>
          <a:p>
            <a:pPr lvl="1" indent="-342900">
              <a:lnSpc>
                <a:spcPct val="107000"/>
              </a:lnSpc>
              <a:spcAft>
                <a:spcPts val="800"/>
              </a:spcAft>
              <a:buFont typeface="Arial" panose="020B0604020202020204" pitchFamily="34" charset="0"/>
              <a:buChar char="●"/>
            </a:pPr>
            <a:r>
              <a:rPr lang="en-US" sz="1700" dirty="0">
                <a:solidFill>
                  <a:srgbClr val="000000"/>
                </a:solidFill>
                <a:effectLst/>
                <a:latin typeface="Noto Sans Symbols"/>
                <a:ea typeface="Noto Sans Symbols"/>
                <a:cs typeface="Noto Sans Symbols"/>
              </a:rPr>
              <a:t>Policies or guides in determining Malaysia’s relationship with other countries </a:t>
            </a:r>
            <a:endParaRPr lang="en-MY" sz="1700" dirty="0">
              <a:effectLst/>
              <a:latin typeface="Noto Sans Symbols"/>
              <a:ea typeface="Noto Sans Symbols"/>
              <a:cs typeface="Noto Sans Symbols"/>
            </a:endParaRPr>
          </a:p>
          <a:p>
            <a:pPr lvl="1" indent="-342900" algn="just">
              <a:spcAft>
                <a:spcPts val="800"/>
              </a:spcAft>
              <a:buFont typeface="Arial" panose="020B0604020202020204" pitchFamily="34" charset="0"/>
              <a:buChar char="●"/>
            </a:pPr>
            <a:r>
              <a:rPr lang="en-US" sz="1700" dirty="0" err="1">
                <a:solidFill>
                  <a:srgbClr val="000000"/>
                </a:solidFill>
                <a:effectLst/>
                <a:latin typeface="Noto Sans Symbols"/>
                <a:ea typeface="Noto Sans Symbols"/>
                <a:cs typeface="Noto Sans Symbols"/>
              </a:rPr>
              <a:t>Eg</a:t>
            </a:r>
            <a:r>
              <a:rPr lang="en-US" sz="1700" dirty="0">
                <a:solidFill>
                  <a:srgbClr val="000000"/>
                </a:solidFill>
                <a:effectLst/>
                <a:latin typeface="Noto Sans Symbols"/>
                <a:ea typeface="Noto Sans Symbols"/>
                <a:cs typeface="Noto Sans Symbols"/>
              </a:rPr>
              <a:t>: Look East Policy, Cooperation with ASEAN, OIC, United Nations, </a:t>
            </a:r>
            <a:r>
              <a:rPr lang="en-US" sz="1700" dirty="0" err="1">
                <a:solidFill>
                  <a:srgbClr val="000000"/>
                </a:solidFill>
                <a:effectLst/>
                <a:latin typeface="Noto Sans Symbols"/>
                <a:ea typeface="Noto Sans Symbols"/>
                <a:cs typeface="Noto Sans Symbols"/>
              </a:rPr>
              <a:t>etc</a:t>
            </a:r>
            <a:endParaRPr lang="en-MY" sz="1700" dirty="0">
              <a:effectLst/>
              <a:latin typeface="Noto Sans Symbols"/>
              <a:ea typeface="Noto Sans Symbols"/>
              <a:cs typeface="Noto Sans Symbols"/>
            </a:endParaRPr>
          </a:p>
          <a:p>
            <a:endParaRPr lang="en-MY" dirty="0"/>
          </a:p>
        </p:txBody>
      </p:sp>
    </p:spTree>
    <p:extLst>
      <p:ext uri="{BB962C8B-B14F-4D97-AF65-F5344CB8AC3E}">
        <p14:creationId xmlns:p14="http://schemas.microsoft.com/office/powerpoint/2010/main" val="3578377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8125" y="152399"/>
            <a:ext cx="11668125" cy="6619875"/>
          </a:xfrm>
        </p:spPr>
        <p:txBody>
          <a:bodyPr>
            <a:normAutofit/>
          </a:bodyPr>
          <a:lstStyle/>
          <a:p>
            <a:pPr marL="0" indent="0" algn="ctr">
              <a:spcAft>
                <a:spcPts val="800"/>
              </a:spcAft>
              <a:buNone/>
            </a:pPr>
            <a:r>
              <a:rPr lang="en-US" sz="3600" b="1" dirty="0">
                <a:effectLst/>
                <a:latin typeface="Times New Roman" panose="02020603050405020304" pitchFamily="18" charset="0"/>
                <a:ea typeface="Times New Roman" panose="02020603050405020304" pitchFamily="18" charset="0"/>
              </a:rPr>
              <a:t>SOCIAL POLICIES</a:t>
            </a:r>
            <a:endParaRPr lang="en-MY" sz="36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Malaysian Government’s effort to create a social harmony and social welfare in order to maintain the political stability. </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overriding goal of all social policies is to maintain the social welfare and cohesion.</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Will address the specific needs of the society. May different from national development policies but serve the similar purpose that to assist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the promotion of national integration and unity</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MY"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sz="2800" b="1" dirty="0">
              <a:effectLst/>
              <a:latin typeface="Times New Roman" panose="02020603050405020304" pitchFamily="18" charset="0"/>
              <a:ea typeface="Times New Roman" panose="02020603050405020304" pitchFamily="18" charset="0"/>
            </a:endParaRPr>
          </a:p>
          <a:p>
            <a:pPr marL="0" indent="0" algn="l">
              <a:spcAft>
                <a:spcPts val="800"/>
              </a:spcAft>
              <a:buNone/>
            </a:pPr>
            <a:endParaRPr lang="en-MY" sz="2800" dirty="0">
              <a:effectLst/>
              <a:latin typeface="Times New Roman" panose="02020603050405020304" pitchFamily="18" charset="0"/>
              <a:ea typeface="Times New Roman" panose="02020603050405020304" pitchFamily="18" charset="0"/>
            </a:endParaRPr>
          </a:p>
        </p:txBody>
      </p:sp>
      <p:pic>
        <p:nvPicPr>
          <p:cNvPr id="4" name="Picture 3">
            <a:extLst>
              <a:ext uri="{FF2B5EF4-FFF2-40B4-BE49-F238E27FC236}">
                <a16:creationId xmlns:a16="http://schemas.microsoft.com/office/drawing/2014/main" id="{C22E6278-2A58-11F5-1636-8DC0372D2A11}"/>
              </a:ext>
            </a:extLst>
          </p:cNvPr>
          <p:cNvPicPr>
            <a:picLocks noChangeAspect="1"/>
          </p:cNvPicPr>
          <p:nvPr/>
        </p:nvPicPr>
        <p:blipFill>
          <a:blip r:embed="rId2"/>
          <a:stretch>
            <a:fillRect/>
          </a:stretch>
        </p:blipFill>
        <p:spPr>
          <a:xfrm>
            <a:off x="2335695" y="2814058"/>
            <a:ext cx="7520610" cy="3958216"/>
          </a:xfrm>
          <a:prstGeom prst="rect">
            <a:avLst/>
          </a:prstGeom>
        </p:spPr>
      </p:pic>
    </p:spTree>
    <p:extLst>
      <p:ext uri="{BB962C8B-B14F-4D97-AF65-F5344CB8AC3E}">
        <p14:creationId xmlns:p14="http://schemas.microsoft.com/office/powerpoint/2010/main" val="781778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6426" y="102422"/>
            <a:ext cx="8229600" cy="672830"/>
          </a:xfrm>
        </p:spPr>
        <p:txBody>
          <a:bodyPr>
            <a:normAutofit fontScale="90000"/>
          </a:bodyPr>
          <a:lstStyle/>
          <a:p>
            <a:pPr>
              <a:spcAft>
                <a:spcPts val="800"/>
              </a:spcAft>
            </a:pPr>
            <a:r>
              <a:rPr lang="en-US" sz="4000" b="1" dirty="0">
                <a:effectLst/>
                <a:latin typeface="Times New Roman" panose="02020603050405020304" pitchFamily="18" charset="0"/>
                <a:ea typeface="Times New Roman" panose="02020603050405020304" pitchFamily="18" charset="0"/>
              </a:rPr>
              <a:t>SOCIAL POLICIES</a:t>
            </a:r>
            <a:endParaRPr lang="en-MY" sz="4000" dirty="0">
              <a:effectLst/>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238539" y="1143001"/>
            <a:ext cx="11688417" cy="4492486"/>
          </a:xfrm>
        </p:spPr>
        <p:txBody>
          <a:bodyPr>
            <a:normAutofit fontScale="92500"/>
          </a:bodyPr>
          <a:lstStyle/>
          <a:p>
            <a:pPr marL="342900" lvl="0" indent="-342900" algn="just">
              <a:spcAft>
                <a:spcPts val="800"/>
              </a:spcAft>
              <a:buFont typeface="Arial" panose="020B0604020202020204" pitchFamily="34" charset="0"/>
              <a:buChar char="•"/>
            </a:pPr>
            <a:r>
              <a:rPr lang="en-US" sz="2800" dirty="0">
                <a:effectLst/>
                <a:latin typeface="Arial" panose="020B0604020202020204" pitchFamily="34" charset="0"/>
                <a:ea typeface="Arial" panose="020B0604020202020204" pitchFamily="34" charset="0"/>
                <a:cs typeface="Arial" panose="020B0604020202020204" pitchFamily="34" charset="0"/>
              </a:rPr>
              <a:t>Ministry of Women, Family and Community Development (KPWKM) – is one of the ministries that responsible in most of the social development in Malaysia such as  social welfare: children, women, family, community, children, older people, destitute, homeless, disaster victim, disabled. Policies under this ministry’s responsibility on National Social Policy National Women Policy, Policy for the Elderly, National Children Policy etc.</a:t>
            </a:r>
            <a:endParaRPr lang="en-MY" sz="2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800" dirty="0">
                <a:effectLst/>
                <a:latin typeface="Arial" panose="020B0604020202020204" pitchFamily="34" charset="0"/>
                <a:ea typeface="Arial" panose="020B0604020202020204" pitchFamily="34" charset="0"/>
                <a:cs typeface="Arial" panose="020B0604020202020204" pitchFamily="34" charset="0"/>
              </a:rPr>
              <a:t>Ministry of Youth – responsible for Youth development and issues – National Youth Policy</a:t>
            </a:r>
            <a:endParaRPr lang="en-MY" sz="2800" dirty="0">
              <a:effectLst/>
              <a:latin typeface="Arial" panose="020B0604020202020204" pitchFamily="34" charset="0"/>
              <a:ea typeface="Arial" panose="020B0604020202020204" pitchFamily="34" charset="0"/>
              <a:cs typeface="Arial" panose="020B0604020202020204" pitchFamily="34" charset="0"/>
            </a:endParaRPr>
          </a:p>
          <a:p>
            <a:r>
              <a:rPr lang="en-US" sz="2800" dirty="0">
                <a:effectLst/>
                <a:latin typeface="Times New Roman" panose="02020603050405020304" pitchFamily="18" charset="0"/>
                <a:ea typeface="Times New Roman" panose="02020603050405020304" pitchFamily="18" charset="0"/>
              </a:rPr>
              <a:t>Ministry of Tourism and Culture (National Department for Culture and Arts) – responsible for National Cultural Policy.</a:t>
            </a:r>
            <a:endParaRPr lang="en-US" sz="2800" dirty="0"/>
          </a:p>
        </p:txBody>
      </p:sp>
    </p:spTree>
    <p:extLst>
      <p:ext uri="{BB962C8B-B14F-4D97-AF65-F5344CB8AC3E}">
        <p14:creationId xmlns:p14="http://schemas.microsoft.com/office/powerpoint/2010/main" val="550987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1689652" y="178905"/>
            <a:ext cx="8994913" cy="6500189"/>
          </a:xfrm>
          <a:solidFill>
            <a:schemeClr val="accent4">
              <a:lumMod val="60000"/>
              <a:lumOff val="40000"/>
            </a:schemeClr>
          </a:solidFill>
        </p:spPr>
        <p:txBody>
          <a:bodyPr>
            <a:normAutofit/>
          </a:bodyPr>
          <a:lstStyle/>
          <a:p>
            <a:pPr marL="0" indent="0" algn="ctr">
              <a:spcAft>
                <a:spcPts val="800"/>
              </a:spcAft>
              <a:buNone/>
            </a:pPr>
            <a:r>
              <a:rPr lang="en-US" sz="3200" b="1" dirty="0">
                <a:effectLst/>
                <a:latin typeface="Times New Roman" panose="02020603050405020304" pitchFamily="18" charset="0"/>
                <a:ea typeface="Times New Roman" panose="02020603050405020304" pitchFamily="18" charset="0"/>
              </a:rPr>
              <a:t>NATIONAL SOCIAL POLICY (NSP)</a:t>
            </a:r>
            <a:endParaRPr lang="en-MY" sz="32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Officially adopted by the Government in 2003, the NSP seeks to create a progressive and established Malaysian society with every member having the opportunity to develop his/her potential to the optimum in a healthy social environment based on the qualities of unity, resilience, democracy, morality, tolerance, progress, care, fairness and equity.</a:t>
            </a:r>
            <a:endParaRPr lang="en-MY" sz="2400" dirty="0">
              <a:effectLst/>
              <a:latin typeface="Arial" panose="020B0604020202020204" pitchFamily="34" charset="0"/>
              <a:ea typeface="Arial" panose="020B0604020202020204" pitchFamily="34" charset="0"/>
              <a:cs typeface="Arial" panose="020B0604020202020204" pitchFamily="34" charset="0"/>
            </a:endParaRPr>
          </a:p>
          <a:p>
            <a:r>
              <a:rPr lang="en-US" sz="2400" dirty="0">
                <a:effectLst/>
                <a:latin typeface="Arial" panose="020B0604020202020204" pitchFamily="34" charset="0"/>
                <a:ea typeface="Times New Roman" panose="02020603050405020304" pitchFamily="18" charset="0"/>
                <a:cs typeface="Arial" panose="020B0604020202020204" pitchFamily="34" charset="0"/>
              </a:rPr>
              <a:t>Umbrella policy to other Social Policies</a:t>
            </a:r>
            <a:endParaRPr lang="en-MY"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3828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6175517" y="178905"/>
            <a:ext cx="5798930" cy="6500189"/>
          </a:xfrm>
          <a:solidFill>
            <a:schemeClr val="tx2">
              <a:lumMod val="20000"/>
              <a:lumOff val="80000"/>
            </a:schemeClr>
          </a:solidFill>
        </p:spPr>
        <p:txBody>
          <a:bodyPr>
            <a:normAutofit/>
          </a:bodyPr>
          <a:lstStyle/>
          <a:p>
            <a:pPr marL="0" indent="0" algn="ctr">
              <a:spcAft>
                <a:spcPts val="800"/>
              </a:spcAft>
              <a:buNone/>
            </a:pPr>
            <a:r>
              <a:rPr lang="en-US" sz="3000" b="1" dirty="0">
                <a:effectLst/>
                <a:latin typeface="Times New Roman" panose="02020603050405020304" pitchFamily="18" charset="0"/>
                <a:ea typeface="Times New Roman" panose="02020603050405020304" pitchFamily="18" charset="0"/>
              </a:rPr>
              <a:t>NATIONAL POLICY FOR THE ELDERLY</a:t>
            </a:r>
            <a:endParaRPr lang="en-MY" sz="30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rPr>
              <a:t>This policy was adopted to establish a society of the elderly who are contented, dignified, possessed of a high sense of self-worth, and </a:t>
            </a:r>
            <a:r>
              <a:rPr lang="en-US" sz="2400" dirty="0" err="1">
                <a:effectLst/>
                <a:latin typeface="Times New Roman" panose="02020603050405020304" pitchFamily="18" charset="0"/>
                <a:ea typeface="Times New Roman" panose="02020603050405020304" pitchFamily="18" charset="0"/>
              </a:rPr>
              <a:t>optimising</a:t>
            </a:r>
            <a:r>
              <a:rPr lang="en-US" sz="2400" dirty="0">
                <a:effectLst/>
                <a:latin typeface="Times New Roman" panose="02020603050405020304" pitchFamily="18" charset="0"/>
                <a:ea typeface="Times New Roman" panose="02020603050405020304" pitchFamily="18" charset="0"/>
              </a:rPr>
              <a:t> their potential, as well as to ensure that they enjoy all opportunities besides being given the care and protection as members of a family, society and the nation.</a:t>
            </a:r>
            <a:r>
              <a:rPr lang="en-US" sz="2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MY" sz="21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MY" dirty="0"/>
          </a:p>
        </p:txBody>
      </p:sp>
      <p:sp>
        <p:nvSpPr>
          <p:cNvPr id="7" name="Content Placeholder 6">
            <a:extLst>
              <a:ext uri="{FF2B5EF4-FFF2-40B4-BE49-F238E27FC236}">
                <a16:creationId xmlns:a16="http://schemas.microsoft.com/office/drawing/2014/main" id="{9442E31F-211F-DCEA-D8DA-6DC60889835E}"/>
              </a:ext>
            </a:extLst>
          </p:cNvPr>
          <p:cNvSpPr>
            <a:spLocks noGrp="1"/>
          </p:cNvSpPr>
          <p:nvPr>
            <p:ph sz="half" idx="2"/>
          </p:nvPr>
        </p:nvSpPr>
        <p:spPr>
          <a:xfrm>
            <a:off x="144669" y="178905"/>
            <a:ext cx="5798930" cy="6500190"/>
          </a:xfrm>
          <a:solidFill>
            <a:schemeClr val="tx2">
              <a:lumMod val="20000"/>
              <a:lumOff val="80000"/>
            </a:schemeClr>
          </a:solidFill>
        </p:spPr>
        <p:txBody>
          <a:bodyPr>
            <a:normAutofit/>
          </a:bodyPr>
          <a:lstStyle/>
          <a:p>
            <a:pPr marL="0" indent="0" algn="ctr">
              <a:spcAft>
                <a:spcPts val="800"/>
              </a:spcAft>
              <a:buNone/>
            </a:pPr>
            <a:r>
              <a:rPr lang="en-US" sz="3200" b="1" dirty="0">
                <a:effectLst/>
                <a:latin typeface="Times New Roman" panose="02020603050405020304" pitchFamily="18" charset="0"/>
                <a:ea typeface="Times New Roman" panose="02020603050405020304" pitchFamily="18" charset="0"/>
              </a:rPr>
              <a:t>NATIONAL SOCIAL WELFARE POLICY</a:t>
            </a:r>
            <a:endParaRPr lang="en-MY" sz="32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Times New Roman" panose="02020603050405020304" pitchFamily="18" charset="0"/>
                <a:ea typeface="Times New Roman" panose="02020603050405020304" pitchFamily="18" charset="0"/>
              </a:rPr>
              <a:t>In seeking to achieve a contented and strong society for national development, the NSWP shall develop human potential to the optimum and to strengthen society to face current social challenges, create various facilities for enhancing self-development and development of the individual, and build and inculcate the spirit of mutual help and assistance to reinforce a caring culture.</a:t>
            </a:r>
            <a:r>
              <a:rPr lang="en-US" sz="2200" dirty="0">
                <a:solidFill>
                  <a:srgbClr val="000000"/>
                </a:solidFill>
                <a:effectLst/>
                <a:latin typeface="Noto Sans Symbols"/>
                <a:ea typeface="Noto Sans Symbols"/>
                <a:cs typeface="Noto Sans Symbols"/>
              </a:rPr>
              <a:t> </a:t>
            </a:r>
            <a:endParaRPr lang="en-MY" sz="2200" dirty="0">
              <a:effectLst/>
              <a:latin typeface="Noto Sans Symbols"/>
              <a:ea typeface="Noto Sans Symbols"/>
              <a:cs typeface="Noto Sans Symbols"/>
            </a:endParaRPr>
          </a:p>
          <a:p>
            <a:pPr marL="0" indent="0">
              <a:buNone/>
            </a:pPr>
            <a:endParaRPr lang="en-MY" sz="1800" dirty="0"/>
          </a:p>
        </p:txBody>
      </p:sp>
    </p:spTree>
    <p:extLst>
      <p:ext uri="{BB962C8B-B14F-4D97-AF65-F5344CB8AC3E}">
        <p14:creationId xmlns:p14="http://schemas.microsoft.com/office/powerpoint/2010/main" val="3873421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C70BDE-687B-383E-E576-C9AD0A664257}"/>
              </a:ext>
            </a:extLst>
          </p:cNvPr>
          <p:cNvSpPr>
            <a:spLocks noGrp="1"/>
          </p:cNvSpPr>
          <p:nvPr>
            <p:ph sz="half" idx="1"/>
          </p:nvPr>
        </p:nvSpPr>
        <p:spPr>
          <a:xfrm>
            <a:off x="755374" y="178905"/>
            <a:ext cx="10933043" cy="6500189"/>
          </a:xfrm>
          <a:solidFill>
            <a:schemeClr val="accent4">
              <a:lumMod val="60000"/>
              <a:lumOff val="40000"/>
            </a:schemeClr>
          </a:solidFill>
        </p:spPr>
        <p:txBody>
          <a:bodyPr>
            <a:normAutofit/>
          </a:bodyPr>
          <a:lstStyle/>
          <a:p>
            <a:pPr marL="0" indent="0" algn="ctr">
              <a:spcAft>
                <a:spcPts val="800"/>
              </a:spcAft>
              <a:buNone/>
            </a:pPr>
            <a:r>
              <a:rPr lang="en-US" sz="3200" b="1" dirty="0">
                <a:effectLst/>
                <a:latin typeface="Times New Roman" panose="02020603050405020304" pitchFamily="18" charset="0"/>
                <a:ea typeface="Times New Roman" panose="02020603050405020304" pitchFamily="18" charset="0"/>
              </a:rPr>
              <a:t>NATIONAL POLICY ON WOMEN</a:t>
            </a:r>
            <a:endParaRPr lang="en-MY" sz="32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The main objectives of this policy are to ensure an equitable sharing in the acquisition of resources, information, opportunities and benefits of development for men and women. </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The objectives of equality and justice must be made the essence of development policies which must be people oriented so the women, who constitute half the nation's population, can contribute and realize their potentials to the optimum; and to integrate women in all sectors of development in accordance with their capabilities and needs, in order to enhance the quality of life, eradicate poverty, ignorance and illiteracy, and ensure a peaceful and prosperous nation.</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algn="just"/>
            <a:r>
              <a:rPr lang="en-US" sz="2400" dirty="0">
                <a:effectLst/>
                <a:latin typeface="Arial" panose="020B0604020202020204" pitchFamily="34" charset="0"/>
                <a:ea typeface="Times New Roman" panose="02020603050405020304" pitchFamily="18" charset="0"/>
                <a:cs typeface="Arial" panose="020B0604020202020204" pitchFamily="34" charset="0"/>
              </a:rPr>
              <a:t>The Ministry also gotten the Government to agree towards achieving a minimum of a 30% representation of women in decision making positions in the public sector.</a:t>
            </a:r>
            <a:endParaRPr lang="en-MY"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78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442E31F-211F-DCEA-D8DA-6DC60889835E}"/>
              </a:ext>
            </a:extLst>
          </p:cNvPr>
          <p:cNvSpPr>
            <a:spLocks noGrp="1"/>
          </p:cNvSpPr>
          <p:nvPr>
            <p:ph sz="half" idx="2"/>
          </p:nvPr>
        </p:nvSpPr>
        <p:spPr>
          <a:xfrm>
            <a:off x="144668" y="119271"/>
            <a:ext cx="11951253" cy="6559824"/>
          </a:xfrm>
          <a:solidFill>
            <a:schemeClr val="tx2">
              <a:lumMod val="20000"/>
              <a:lumOff val="80000"/>
            </a:schemeClr>
          </a:solidFill>
        </p:spPr>
        <p:txBody>
          <a:bodyPr>
            <a:normAutofit fontScale="92500" lnSpcReduction="10000"/>
          </a:bodyPr>
          <a:lstStyle/>
          <a:p>
            <a:pPr marL="0" indent="0" algn="ctr">
              <a:spcAft>
                <a:spcPts val="800"/>
              </a:spcAft>
              <a:buNone/>
            </a:pPr>
            <a:r>
              <a:rPr lang="en-US" sz="3200" b="1" dirty="0">
                <a:effectLst/>
                <a:latin typeface="Times New Roman" panose="02020603050405020304" pitchFamily="18" charset="0"/>
                <a:ea typeface="Times New Roman" panose="02020603050405020304" pitchFamily="18" charset="0"/>
              </a:rPr>
              <a:t>NATIONAL CULTURE POLICY </a:t>
            </a:r>
            <a:endParaRPr lang="en-MY" sz="3200" dirty="0">
              <a:effectLst/>
              <a:latin typeface="Times New Roman" panose="02020603050405020304" pitchFamily="18" charset="0"/>
              <a:ea typeface="Times New Roman" panose="02020603050405020304" pitchFamily="18" charset="0"/>
            </a:endParaRPr>
          </a:p>
          <a:p>
            <a:pPr lvl="1" indent="-342900" algn="just">
              <a:spcAft>
                <a:spcPts val="800"/>
              </a:spcAft>
              <a:buFont typeface="Arial" panose="020B0604020202020204" pitchFamily="34" charset="0"/>
              <a:buChar char="•"/>
            </a:pPr>
            <a:r>
              <a:rPr lang="en-US" sz="2000" dirty="0">
                <a:effectLst/>
                <a:latin typeface="Calibri" panose="020F0502020204030204" pitchFamily="34" charset="0"/>
                <a:ea typeface="Arial" panose="020B0604020202020204" pitchFamily="34" charset="0"/>
                <a:cs typeface="Calibri" panose="020F0502020204030204" pitchFamily="34" charset="0"/>
              </a:rPr>
              <a:t>Three principles as the National Culture Policy as follows :</a:t>
            </a:r>
            <a:endParaRPr lang="en-MY" sz="2000" dirty="0">
              <a:effectLst/>
              <a:latin typeface="Calibri" panose="020F0502020204030204" pitchFamily="34" charset="0"/>
              <a:ea typeface="Arial" panose="020B0604020202020204" pitchFamily="34" charset="0"/>
              <a:cs typeface="Calibri" panose="020F0502020204030204" pitchFamily="34" charset="0"/>
            </a:endParaRPr>
          </a:p>
          <a:p>
            <a:pPr marL="0" indent="0" algn="just">
              <a:spcAft>
                <a:spcPts val="800"/>
              </a:spcAft>
              <a:buNone/>
            </a:pPr>
            <a:r>
              <a:rPr lang="en-US" sz="2000" dirty="0">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cs typeface="Calibri" panose="020F0502020204030204" pitchFamily="34" charset="0"/>
              </a:rPr>
              <a:t>1)   The national culture must be based on the indigenous culture of this region :</a:t>
            </a:r>
            <a:endParaRPr lang="en-MY" sz="2000" dirty="0">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gn="just">
              <a:spcAft>
                <a:spcPts val="800"/>
              </a:spcAft>
              <a:buFont typeface="Arial" panose="020B0604020202020204" pitchFamily="34" charset="0"/>
              <a:buChar char="•"/>
            </a:pPr>
            <a:r>
              <a:rPr lang="en-US" sz="2000" dirty="0">
                <a:effectLst/>
                <a:latin typeface="Calibri" panose="020F0502020204030204" pitchFamily="34" charset="0"/>
                <a:ea typeface="Arial" panose="020B0604020202020204" pitchFamily="34" charset="0"/>
                <a:cs typeface="Calibri" panose="020F0502020204030204" pitchFamily="34" charset="0"/>
              </a:rPr>
              <a:t>The region covers Malaysia, Indonesia, Philippines, Singapore, Brunei, Thailand and Cambodia, as well as the South Pacific islands (Polynesia, Melanesia and Oceania)  and Malagasy. The region has been an important part of Malay civilization and culture. The Malay culture today is a way of life and symbol of identity of  more than 200 million people who speak the same language. The culture of the indigenous people from this region, refers to the Malay culture, forms the basis of the National Culture Policy.</a:t>
            </a:r>
            <a:endParaRPr lang="en-MY" sz="2000" dirty="0">
              <a:effectLst/>
              <a:latin typeface="Calibri" panose="020F0502020204030204" pitchFamily="34" charset="0"/>
              <a:ea typeface="Arial" panose="020B0604020202020204" pitchFamily="34" charset="0"/>
              <a:cs typeface="Calibri" panose="020F0502020204030204" pitchFamily="34" charset="0"/>
            </a:endParaRPr>
          </a:p>
          <a:p>
            <a:pPr marL="0" indent="0" algn="just">
              <a:spcAft>
                <a:spcPts val="800"/>
              </a:spcAft>
              <a:buNone/>
            </a:pPr>
            <a:r>
              <a:rPr lang="en-US" sz="2000" dirty="0">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cs typeface="Calibri" panose="020F0502020204030204" pitchFamily="34" charset="0"/>
              </a:rPr>
              <a:t>2)   Suitable elements from the other culture may be accepted as part of the national culture </a:t>
            </a:r>
            <a:endParaRPr lang="en-MY" sz="2000" dirty="0">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cs typeface="Calibri" panose="020F0502020204030204" pitchFamily="34" charset="0"/>
            </a:endParaRPr>
          </a:p>
          <a:p>
            <a:pPr marL="342900" lvl="0" indent="-342900" algn="just">
              <a:spcAft>
                <a:spcPts val="800"/>
              </a:spcAft>
              <a:buFont typeface="Arial" panose="020B0604020202020204" pitchFamily="34" charset="0"/>
              <a:buChar char="•"/>
            </a:pPr>
            <a:r>
              <a:rPr lang="en-US" sz="2000" dirty="0">
                <a:effectLst/>
                <a:latin typeface="Calibri" panose="020F0502020204030204" pitchFamily="34" charset="0"/>
                <a:ea typeface="Arial" panose="020B0604020202020204" pitchFamily="34" charset="0"/>
                <a:cs typeface="Calibri" panose="020F0502020204030204" pitchFamily="34" charset="0"/>
              </a:rPr>
              <a:t> This principle takes into consideration the multi-cultural aspects in a multi-racial society.  Hence, cultural elements of the Chinese, Indians, Arabs, Westerners and others which are considered suitable and acceptable are included in the national culture.  Such acceptance must be in accordance with the provisions in the Constitution and the principles of </a:t>
            </a:r>
            <a:r>
              <a:rPr lang="en-US" sz="2000" i="1" dirty="0" err="1">
                <a:effectLst/>
                <a:latin typeface="Calibri" panose="020F0502020204030204" pitchFamily="34" charset="0"/>
                <a:ea typeface="Arial" panose="020B0604020202020204" pitchFamily="34" charset="0"/>
                <a:cs typeface="Calibri" panose="020F0502020204030204" pitchFamily="34" charset="0"/>
              </a:rPr>
              <a:t>Rukun</a:t>
            </a:r>
            <a:r>
              <a:rPr lang="en-US" sz="2000" i="1" dirty="0">
                <a:effectLst/>
                <a:latin typeface="Calibri" panose="020F0502020204030204" pitchFamily="34" charset="0"/>
                <a:ea typeface="Arial" panose="020B0604020202020204" pitchFamily="34" charset="0"/>
                <a:cs typeface="Calibri" panose="020F0502020204030204" pitchFamily="34" charset="0"/>
              </a:rPr>
              <a:t> Negara</a:t>
            </a:r>
            <a:r>
              <a:rPr lang="en-US" sz="2000" dirty="0">
                <a:effectLst/>
                <a:latin typeface="Calibri" panose="020F0502020204030204" pitchFamily="34" charset="0"/>
                <a:ea typeface="Arial" panose="020B0604020202020204" pitchFamily="34" charset="0"/>
                <a:cs typeface="Calibri" panose="020F0502020204030204" pitchFamily="34" charset="0"/>
              </a:rPr>
              <a:t> , as well as national interest, moral values and the position of Islam as the official religion of the country.</a:t>
            </a:r>
            <a:endParaRPr lang="en-MY" sz="2000" dirty="0">
              <a:effectLst/>
              <a:latin typeface="Calibri" panose="020F0502020204030204" pitchFamily="34" charset="0"/>
              <a:ea typeface="Arial" panose="020B0604020202020204" pitchFamily="34" charset="0"/>
              <a:cs typeface="Calibri" panose="020F0502020204030204" pitchFamily="34" charset="0"/>
            </a:endParaRPr>
          </a:p>
          <a:p>
            <a:pPr marL="0" indent="0" algn="just">
              <a:spcAft>
                <a:spcPts val="800"/>
              </a:spcAft>
              <a:buNone/>
            </a:pPr>
            <a:r>
              <a:rPr lang="en-US" sz="2000" dirty="0">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cs typeface="Calibri" panose="020F0502020204030204" pitchFamily="34" charset="0"/>
              </a:rPr>
              <a:t>3)   Islam is an important component in the formulation of the national culture</a:t>
            </a:r>
            <a:endParaRPr lang="en-MY" sz="2000" dirty="0">
              <a:effectLst>
                <a:outerShdw blurRad="38100" dist="38100" dir="2700000" algn="tl">
                  <a:srgbClr val="000000">
                    <a:alpha val="43137"/>
                  </a:srgbClr>
                </a:outerShdw>
              </a:effectLst>
              <a:latin typeface="Calibri" panose="020F0502020204030204" pitchFamily="34" charset="0"/>
              <a:ea typeface="Times New Roman" panose="02020603050405020304" pitchFamily="18" charset="0"/>
              <a:cs typeface="Calibri" panose="020F0502020204030204" pitchFamily="34" charset="0"/>
            </a:endParaRPr>
          </a:p>
          <a:p>
            <a:pPr algn="just"/>
            <a:r>
              <a:rPr lang="en-US" sz="2000" dirty="0">
                <a:effectLst/>
                <a:latin typeface="Calibri" panose="020F0502020204030204" pitchFamily="34" charset="0"/>
                <a:ea typeface="Times New Roman" panose="02020603050405020304" pitchFamily="18" charset="0"/>
                <a:cs typeface="Calibri" panose="020F0502020204030204" pitchFamily="34" charset="0"/>
              </a:rPr>
              <a:t>Religion or the belief in God is important in the development process of  a country and also in the personal development of her people. Islam provides guidance to mankind and fulfills the physical and emotional needs. Hence Islam  is an important element in formulating the National Culture Policy based on its position as the official religion of the country</a:t>
            </a:r>
            <a:endParaRPr lang="en-MY"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1753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DC2DDA61-CAD2-F61A-45D7-ED98CF21F99D}"/>
              </a:ext>
            </a:extLst>
          </p:cNvPr>
          <p:cNvSpPr>
            <a:spLocks noGrp="1"/>
          </p:cNvSpPr>
          <p:nvPr>
            <p:ph type="body" idx="1"/>
          </p:nvPr>
        </p:nvSpPr>
        <p:spPr>
          <a:xfrm>
            <a:off x="480392" y="89452"/>
            <a:ext cx="11386930" cy="783397"/>
          </a:xfrm>
        </p:spPr>
        <p:txBody>
          <a:bodyPr>
            <a:normAutofit fontScale="25000" lnSpcReduction="20000"/>
          </a:bodyPr>
          <a:lstStyle/>
          <a:p>
            <a:pPr algn="ctr"/>
            <a:endParaRPr lang="en-US" sz="2400" b="1" dirty="0">
              <a:effectLst/>
              <a:latin typeface="Times New Roman" panose="02020603050405020304" pitchFamily="18" charset="0"/>
              <a:ea typeface="Times New Roman" panose="02020603050405020304" pitchFamily="18" charset="0"/>
            </a:endParaRPr>
          </a:p>
          <a:p>
            <a:pPr algn="ctr"/>
            <a:r>
              <a:rPr lang="en-US" sz="12800" b="1" dirty="0">
                <a:effectLst/>
                <a:latin typeface="Times New Roman" panose="02020603050405020304" pitchFamily="18" charset="0"/>
                <a:ea typeface="Times New Roman" panose="02020603050405020304" pitchFamily="18" charset="0"/>
              </a:rPr>
              <a:t>NATIONAL EDUCATION POLICY</a:t>
            </a:r>
            <a:endParaRPr lang="en-MY" dirty="0"/>
          </a:p>
        </p:txBody>
      </p:sp>
      <p:sp>
        <p:nvSpPr>
          <p:cNvPr id="12" name="Content Placeholder 11">
            <a:extLst>
              <a:ext uri="{FF2B5EF4-FFF2-40B4-BE49-F238E27FC236}">
                <a16:creationId xmlns:a16="http://schemas.microsoft.com/office/drawing/2014/main" id="{46BF300C-A46D-ED8F-6721-591DB9E8A04E}"/>
              </a:ext>
            </a:extLst>
          </p:cNvPr>
          <p:cNvSpPr>
            <a:spLocks noGrp="1"/>
          </p:cNvSpPr>
          <p:nvPr>
            <p:ph sz="half" idx="2"/>
          </p:nvPr>
        </p:nvSpPr>
        <p:spPr>
          <a:xfrm>
            <a:off x="109330" y="1180961"/>
            <a:ext cx="11847443" cy="5209899"/>
          </a:xfrm>
        </p:spPr>
        <p:txBody>
          <a:bodyPr>
            <a:normAutofit lnSpcReduction="10000"/>
          </a:bodyPr>
          <a:lstStyle/>
          <a:p>
            <a:pPr algn="just">
              <a:spcAft>
                <a:spcPts val="800"/>
              </a:spcAft>
            </a:pPr>
            <a:r>
              <a:rPr lang="en-US" dirty="0">
                <a:effectLst/>
                <a:latin typeface="Arial" panose="020B0604020202020204" pitchFamily="34" charset="0"/>
                <a:ea typeface="Times New Roman" panose="02020603050405020304" pitchFamily="18" charset="0"/>
                <a:cs typeface="Arial" panose="020B0604020202020204" pitchFamily="34" charset="0"/>
              </a:rPr>
              <a:t>Brief History:</a:t>
            </a:r>
            <a:endParaRPr lang="en-MY" dirty="0">
              <a:effectLst/>
              <a:latin typeface="Arial" panose="020B0604020202020204" pitchFamily="34" charset="0"/>
              <a:ea typeface="Times New Roman" panose="02020603050405020304" pitchFamily="18" charset="0"/>
              <a:cs typeface="Arial" panose="020B0604020202020204" pitchFamily="34" charset="0"/>
            </a:endParaRPr>
          </a:p>
          <a:p>
            <a:pPr algn="just">
              <a:spcAft>
                <a:spcPts val="800"/>
              </a:spcAft>
            </a:pPr>
            <a:r>
              <a:rPr lang="en-US" b="1" dirty="0">
                <a:effectLst/>
                <a:latin typeface="Arial" panose="020B0604020202020204" pitchFamily="34" charset="0"/>
                <a:ea typeface="Times New Roman" panose="02020603050405020304" pitchFamily="18" charset="0"/>
                <a:cs typeface="Arial" panose="020B0604020202020204" pitchFamily="34" charset="0"/>
              </a:rPr>
              <a:t>Consolidation Era : Razak Report 1956 and Education Ordinance 1957</a:t>
            </a:r>
            <a:endParaRPr lang="en-MY" dirty="0">
              <a:effectLst/>
              <a:latin typeface="Arial" panose="020B0604020202020204" pitchFamily="34" charset="0"/>
              <a:ea typeface="Times New Roman" panose="02020603050405020304" pitchFamily="18" charset="0"/>
              <a:cs typeface="Arial" panose="020B0604020202020204" pitchFamily="34" charset="0"/>
            </a:endParaRPr>
          </a:p>
          <a:p>
            <a:pPr lvl="1"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Education Committee 1956 was formed to formulate national education system</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Ultimate goal of making Malay the key medium of instruction - Also ensure  the language and culture of other ethnic groups were also protected</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b="1" dirty="0">
                <a:effectLst/>
                <a:latin typeface="Arial" panose="020B0604020202020204" pitchFamily="34" charset="0"/>
                <a:ea typeface="Times New Roman" panose="02020603050405020304" pitchFamily="18" charset="0"/>
                <a:cs typeface="Arial" panose="020B0604020202020204" pitchFamily="34" charset="0"/>
              </a:rPr>
              <a:t>Review Era: Rahman Talib Report 1960,  Education Act 1961 and </a:t>
            </a:r>
            <a:r>
              <a:rPr lang="en-US" b="1" dirty="0" err="1">
                <a:effectLst/>
                <a:latin typeface="Arial" panose="020B0604020202020204" pitchFamily="34" charset="0"/>
                <a:ea typeface="Times New Roman" panose="02020603050405020304" pitchFamily="18" charset="0"/>
                <a:cs typeface="Arial" panose="020B0604020202020204" pitchFamily="34" charset="0"/>
              </a:rPr>
              <a:t>Aminudin</a:t>
            </a:r>
            <a:r>
              <a:rPr lang="en-US" b="1" dirty="0">
                <a:effectLst/>
                <a:latin typeface="Arial" panose="020B0604020202020204" pitchFamily="34" charset="0"/>
                <a:ea typeface="Times New Roman" panose="02020603050405020304" pitchFamily="18" charset="0"/>
                <a:cs typeface="Arial" panose="020B0604020202020204" pitchFamily="34" charset="0"/>
              </a:rPr>
              <a:t> </a:t>
            </a:r>
            <a:r>
              <a:rPr lang="en-US" b="1" dirty="0" err="1">
                <a:effectLst/>
                <a:latin typeface="Arial" panose="020B0604020202020204" pitchFamily="34" charset="0"/>
                <a:ea typeface="Times New Roman" panose="02020603050405020304" pitchFamily="18" charset="0"/>
                <a:cs typeface="Arial" panose="020B0604020202020204" pitchFamily="34" charset="0"/>
              </a:rPr>
              <a:t>Baki</a:t>
            </a:r>
            <a:r>
              <a:rPr lang="en-US" b="1" dirty="0">
                <a:effectLst/>
                <a:latin typeface="Arial" panose="020B0604020202020204" pitchFamily="34" charset="0"/>
                <a:ea typeface="Times New Roman" panose="02020603050405020304" pitchFamily="18" charset="0"/>
                <a:cs typeface="Arial" panose="020B0604020202020204" pitchFamily="34" charset="0"/>
              </a:rPr>
              <a:t> Report, 1964</a:t>
            </a:r>
            <a:endParaRPr lang="en-MY" dirty="0">
              <a:effectLst/>
              <a:latin typeface="Arial" panose="020B0604020202020204" pitchFamily="34" charset="0"/>
              <a:ea typeface="Times New Roman" panose="02020603050405020304" pitchFamily="18" charset="0"/>
              <a:cs typeface="Arial" panose="020B0604020202020204" pitchFamily="34" charset="0"/>
            </a:endParaRPr>
          </a:p>
          <a:p>
            <a:pPr lvl="1"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Free education for national primary school 1962</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A Malaysian oriented curriculum</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Upper secondary education offers two streams, academic and vocational</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Schooling from 9 to 11 years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improving the overall quality of education management</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0" indent="0">
              <a:buNone/>
            </a:pPr>
            <a:endParaRPr lang="en-MY" dirty="0"/>
          </a:p>
        </p:txBody>
      </p:sp>
    </p:spTree>
    <p:extLst>
      <p:ext uri="{BB962C8B-B14F-4D97-AF65-F5344CB8AC3E}">
        <p14:creationId xmlns:p14="http://schemas.microsoft.com/office/powerpoint/2010/main" val="986830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46BF300C-A46D-ED8F-6721-591DB9E8A04E}"/>
              </a:ext>
            </a:extLst>
          </p:cNvPr>
          <p:cNvSpPr>
            <a:spLocks noGrp="1"/>
          </p:cNvSpPr>
          <p:nvPr>
            <p:ph sz="half" idx="2"/>
          </p:nvPr>
        </p:nvSpPr>
        <p:spPr>
          <a:xfrm>
            <a:off x="99391" y="79513"/>
            <a:ext cx="12006469" cy="6778487"/>
          </a:xfrm>
        </p:spPr>
        <p:txBody>
          <a:bodyPr>
            <a:normAutofit fontScale="92500" lnSpcReduction="20000"/>
          </a:bodyPr>
          <a:lstStyle/>
          <a:p>
            <a:pPr algn="just">
              <a:spcAft>
                <a:spcPts val="800"/>
              </a:spcAft>
            </a:pPr>
            <a:r>
              <a:rPr lang="en-US" sz="1900" b="1" dirty="0">
                <a:effectLst/>
                <a:latin typeface="Arial" panose="020B0604020202020204" pitchFamily="34" charset="0"/>
                <a:ea typeface="Times New Roman" panose="02020603050405020304" pitchFamily="18" charset="0"/>
                <a:cs typeface="Arial" panose="020B0604020202020204" pitchFamily="34" charset="0"/>
              </a:rPr>
              <a:t>Re-examine the National Education Policy: Cabinet Committee Report 1979</a:t>
            </a:r>
            <a:endParaRPr lang="en-MY" sz="1900" dirty="0">
              <a:effectLst/>
              <a:latin typeface="Arial" panose="020B0604020202020204" pitchFamily="34" charset="0"/>
              <a:ea typeface="Times New Roman" panose="02020603050405020304" pitchFamily="18" charset="0"/>
              <a:cs typeface="Arial" panose="020B0604020202020204" pitchFamily="34" charset="0"/>
            </a:endParaRPr>
          </a:p>
          <a:p>
            <a:pPr lvl="1"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To ensure the national objective of creating an integrated and united Malaysia society and a skilled manpower for national development can be achieved</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1900" b="1" dirty="0">
                <a:effectLst/>
                <a:latin typeface="Arial" panose="020B0604020202020204" pitchFamily="34" charset="0"/>
                <a:ea typeface="Times New Roman" panose="02020603050405020304" pitchFamily="18" charset="0"/>
                <a:cs typeface="Arial" panose="020B0604020202020204" pitchFamily="34" charset="0"/>
              </a:rPr>
              <a:t>Education Bill 1995</a:t>
            </a:r>
            <a:endParaRPr lang="en-MY" sz="1900" dirty="0">
              <a:effectLst/>
              <a:latin typeface="Arial" panose="020B0604020202020204" pitchFamily="34" charset="0"/>
              <a:ea typeface="Times New Roman" panose="02020603050405020304" pitchFamily="18" charset="0"/>
              <a:cs typeface="Arial" panose="020B0604020202020204" pitchFamily="34" charset="0"/>
            </a:endParaRPr>
          </a:p>
          <a:p>
            <a:pPr lvl="1"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To produce world-class education in terms of quality in order to achieve national aspirations</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The National Education Philosophy is the basis for the national education policy</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Primary education of 5-7 years</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Pre-school education as part of the national education system</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Enhancement of technical &amp; polytechnic education</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Provisions to regulate private education</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Under the responsibility of Ministry of Education (Primary and Secondary Education)  and Ministry of Higher Education (Higher Education)</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lvl="1" indent="-34290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Recent efforts in improving National Education Policy</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lvl="2" indent="-285750" algn="just">
              <a:spcAft>
                <a:spcPts val="800"/>
              </a:spcAft>
            </a:pPr>
            <a:r>
              <a:rPr lang="en-US" sz="1900" dirty="0">
                <a:effectLst/>
                <a:latin typeface="Arial" panose="020B0604020202020204" pitchFamily="34" charset="0"/>
                <a:ea typeface="Arial" panose="020B0604020202020204" pitchFamily="34" charset="0"/>
                <a:cs typeface="Arial" panose="020B0604020202020204" pitchFamily="34" charset="0"/>
              </a:rPr>
              <a:t>Eleventh Malaysia Plan (11MP) Education</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lvl="2" indent="-285750" algn="just">
              <a:spcAft>
                <a:spcPts val="800"/>
              </a:spcAft>
            </a:pPr>
            <a:r>
              <a:rPr lang="en-US" sz="1900" dirty="0">
                <a:effectLst/>
                <a:latin typeface="Arial" panose="020B0604020202020204" pitchFamily="34" charset="0"/>
                <a:ea typeface="Arial" panose="020B0604020202020204" pitchFamily="34" charset="0"/>
                <a:cs typeface="Arial" panose="020B0604020202020204" pitchFamily="34" charset="0"/>
              </a:rPr>
              <a:t>Malaysia Education Blueprint 2013 – 2025</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900" b="1" dirty="0">
                <a:effectLst/>
                <a:latin typeface="Arial" panose="020B0604020202020204" pitchFamily="34" charset="0"/>
                <a:ea typeface="Arial" panose="020B0604020202020204" pitchFamily="34" charset="0"/>
                <a:cs typeface="Arial" panose="020B0604020202020204" pitchFamily="34" charset="0"/>
              </a:rPr>
              <a:t>Some issues in Education Policy</a:t>
            </a:r>
            <a:endParaRPr lang="en-MY" sz="1900" b="1"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Medium of instruction in education (School and University; currently Malay is official medium in school and public university, not in private)</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1900" dirty="0">
                <a:effectLst/>
                <a:latin typeface="Arial" panose="020B0604020202020204" pitchFamily="34" charset="0"/>
                <a:ea typeface="Arial" panose="020B0604020202020204" pitchFamily="34" charset="0"/>
                <a:cs typeface="Arial" panose="020B0604020202020204" pitchFamily="34" charset="0"/>
              </a:rPr>
              <a:t>Assessment – exam orientation</a:t>
            </a:r>
            <a:endParaRPr lang="en-MY" sz="1900" dirty="0">
              <a:effectLst/>
              <a:latin typeface="Arial" panose="020B0604020202020204" pitchFamily="34" charset="0"/>
              <a:ea typeface="Arial" panose="020B0604020202020204" pitchFamily="34" charset="0"/>
              <a:cs typeface="Arial" panose="020B0604020202020204" pitchFamily="34" charset="0"/>
            </a:endParaRPr>
          </a:p>
          <a:p>
            <a:pPr marL="0" indent="0" algn="just">
              <a:spcAft>
                <a:spcPts val="800"/>
              </a:spcAft>
              <a:buNone/>
            </a:pPr>
            <a:endParaRPr lang="en-MY" sz="1800" dirty="0">
              <a:effectLst/>
              <a:ea typeface="Noto Sans Symbols"/>
              <a:cs typeface="Noto Sans Symbols"/>
            </a:endParaRPr>
          </a:p>
        </p:txBody>
      </p:sp>
    </p:spTree>
    <p:extLst>
      <p:ext uri="{BB962C8B-B14F-4D97-AF65-F5344CB8AC3E}">
        <p14:creationId xmlns:p14="http://schemas.microsoft.com/office/powerpoint/2010/main" val="2821568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DFB08-D8E0-5870-D5F9-6F6CACA84667}"/>
              </a:ext>
            </a:extLst>
          </p:cNvPr>
          <p:cNvSpPr>
            <a:spLocks noGrp="1"/>
          </p:cNvSpPr>
          <p:nvPr>
            <p:ph type="title"/>
          </p:nvPr>
        </p:nvSpPr>
        <p:spPr>
          <a:xfrm>
            <a:off x="609600" y="274638"/>
            <a:ext cx="10972800" cy="828605"/>
          </a:xfrm>
        </p:spPr>
        <p:txBody>
          <a:bodyPr>
            <a:normAutofit/>
          </a:bodyPr>
          <a:lstStyle/>
          <a:p>
            <a:r>
              <a:rPr lang="en-MY" sz="4000" b="1" dirty="0"/>
              <a:t>NATIONAL YOUTH POLICY</a:t>
            </a:r>
          </a:p>
        </p:txBody>
      </p:sp>
      <p:sp>
        <p:nvSpPr>
          <p:cNvPr id="12" name="Content Placeholder 11">
            <a:extLst>
              <a:ext uri="{FF2B5EF4-FFF2-40B4-BE49-F238E27FC236}">
                <a16:creationId xmlns:a16="http://schemas.microsoft.com/office/drawing/2014/main" id="{46BF300C-A46D-ED8F-6721-591DB9E8A04E}"/>
              </a:ext>
            </a:extLst>
          </p:cNvPr>
          <p:cNvSpPr>
            <a:spLocks noGrp="1"/>
          </p:cNvSpPr>
          <p:nvPr>
            <p:ph idx="1"/>
          </p:nvPr>
        </p:nvSpPr>
        <p:spPr>
          <a:xfrm>
            <a:off x="168965" y="1103243"/>
            <a:ext cx="11936896" cy="5565914"/>
          </a:xfrm>
        </p:spPr>
        <p:txBody>
          <a:bodyPr>
            <a:normAutofit/>
          </a:bodyPr>
          <a:lstStyle/>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Seek to </a:t>
            </a:r>
            <a:r>
              <a:rPr lang="en-US" sz="2000" dirty="0" err="1">
                <a:effectLst/>
                <a:latin typeface="Arial" panose="020B0604020202020204" pitchFamily="34" charset="0"/>
                <a:ea typeface="Arial" panose="020B0604020202020204" pitchFamily="34" charset="0"/>
                <a:cs typeface="Arial" panose="020B0604020202020204" pitchFamily="34" charset="0"/>
              </a:rPr>
              <a:t>organise</a:t>
            </a:r>
            <a:r>
              <a:rPr lang="en-US" sz="2000" dirty="0">
                <a:effectLst/>
                <a:latin typeface="Arial" panose="020B0604020202020204" pitchFamily="34" charset="0"/>
                <a:ea typeface="Arial" panose="020B0604020202020204" pitchFamily="34" charset="0"/>
                <a:cs typeface="Arial" panose="020B0604020202020204" pitchFamily="34" charset="0"/>
              </a:rPr>
              <a:t> and supervise various </a:t>
            </a:r>
            <a:r>
              <a:rPr lang="en-US" sz="2000" dirty="0" err="1">
                <a:effectLst/>
                <a:latin typeface="Arial" panose="020B0604020202020204" pitchFamily="34" charset="0"/>
                <a:ea typeface="Arial" panose="020B0604020202020204" pitchFamily="34" charset="0"/>
                <a:cs typeface="Arial" panose="020B0604020202020204" pitchFamily="34" charset="0"/>
              </a:rPr>
              <a:t>programmes</a:t>
            </a:r>
            <a:r>
              <a:rPr lang="en-US" sz="2000" dirty="0">
                <a:effectLst/>
                <a:latin typeface="Arial" panose="020B0604020202020204" pitchFamily="34" charset="0"/>
                <a:ea typeface="Arial" panose="020B0604020202020204" pitchFamily="34" charset="0"/>
                <a:cs typeface="Arial" panose="020B0604020202020204" pitchFamily="34" charset="0"/>
              </a:rPr>
              <a:t> beneficial to the youth</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Some basic principles:</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To instill the spirit of </a:t>
            </a:r>
            <a:r>
              <a:rPr lang="en-US" sz="2000" dirty="0" err="1">
                <a:effectLst/>
                <a:latin typeface="Arial" panose="020B0604020202020204" pitchFamily="34" charset="0"/>
                <a:ea typeface="Arial" panose="020B0604020202020204" pitchFamily="34" charset="0"/>
                <a:cs typeface="Arial" panose="020B0604020202020204" pitchFamily="34" charset="0"/>
              </a:rPr>
              <a:t>Rukun</a:t>
            </a:r>
            <a:r>
              <a:rPr lang="en-US" sz="2000" dirty="0">
                <a:effectLst/>
                <a:latin typeface="Arial" panose="020B0604020202020204" pitchFamily="34" charset="0"/>
                <a:ea typeface="Arial" panose="020B0604020202020204" pitchFamily="34" charset="0"/>
                <a:cs typeface="Arial" panose="020B0604020202020204" pitchFamily="34" charset="0"/>
              </a:rPr>
              <a:t> Negara</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To promote the spirit of unity , volunteerism and autonomy</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To promote participation in the process of national planning</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The development of the Policy</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1985: First National Youth Policy was introduced</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1997: National Youth Development Policy</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2015: National Youth Policy (The latest)</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Focus on 15-30 years old </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a:t>
            </a:r>
            <a:r>
              <a:rPr lang="en-US" sz="2000" dirty="0" err="1">
                <a:effectLst/>
                <a:latin typeface="Arial" panose="020B0604020202020204" pitchFamily="34" charset="0"/>
                <a:ea typeface="Arial" panose="020B0604020202020204" pitchFamily="34" charset="0"/>
                <a:cs typeface="Arial" panose="020B0604020202020204" pitchFamily="34" charset="0"/>
              </a:rPr>
              <a:t>Strenghtening</a:t>
            </a:r>
            <a:r>
              <a:rPr lang="en-US" sz="2000" dirty="0">
                <a:effectLst/>
                <a:latin typeface="Arial" panose="020B0604020202020204" pitchFamily="34" charset="0"/>
                <a:ea typeface="Arial" panose="020B0604020202020204" pitchFamily="34" charset="0"/>
                <a:cs typeface="Arial" panose="020B0604020202020204" pitchFamily="34" charset="0"/>
              </a:rPr>
              <a:t> the human capital and potential of youth as a driver for the future strategic of the country in accordance of Federal Constitution and </a:t>
            </a:r>
            <a:r>
              <a:rPr lang="en-US" sz="2000" dirty="0" err="1">
                <a:effectLst/>
                <a:latin typeface="Arial" panose="020B0604020202020204" pitchFamily="34" charset="0"/>
                <a:ea typeface="Arial" panose="020B0604020202020204" pitchFamily="34" charset="0"/>
                <a:cs typeface="Arial" panose="020B0604020202020204" pitchFamily="34" charset="0"/>
              </a:rPr>
              <a:t>Rukun</a:t>
            </a:r>
            <a:r>
              <a:rPr lang="en-US" sz="2000" dirty="0">
                <a:effectLst/>
                <a:latin typeface="Arial" panose="020B0604020202020204" pitchFamily="34" charset="0"/>
                <a:ea typeface="Arial" panose="020B0604020202020204" pitchFamily="34" charset="0"/>
                <a:cs typeface="Arial" panose="020B0604020202020204" pitchFamily="34" charset="0"/>
              </a:rPr>
              <a:t> Negara”</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marL="0" indent="0" algn="just">
              <a:spcAft>
                <a:spcPts val="800"/>
              </a:spcAft>
              <a:buNone/>
            </a:pPr>
            <a:endParaRPr lang="en-MY" sz="1800" dirty="0"/>
          </a:p>
        </p:txBody>
      </p:sp>
    </p:spTree>
    <p:extLst>
      <p:ext uri="{BB962C8B-B14F-4D97-AF65-F5344CB8AC3E}">
        <p14:creationId xmlns:p14="http://schemas.microsoft.com/office/powerpoint/2010/main" val="1084533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87C56-707A-4BBC-A470-FF063BDC6268}"/>
              </a:ext>
            </a:extLst>
          </p:cNvPr>
          <p:cNvSpPr>
            <a:spLocks noGrp="1"/>
          </p:cNvSpPr>
          <p:nvPr>
            <p:ph type="title"/>
          </p:nvPr>
        </p:nvSpPr>
        <p:spPr>
          <a:xfrm>
            <a:off x="646111" y="247651"/>
            <a:ext cx="9404723" cy="646872"/>
          </a:xfrm>
        </p:spPr>
        <p:txBody>
          <a:bodyPr/>
          <a:lstStyle/>
          <a:p>
            <a:pPr algn="ctr"/>
            <a:r>
              <a:rPr lang="en-MY" sz="3600" b="1" dirty="0"/>
              <a:t>NATIONAL DEVELOPMENT POLICIES</a:t>
            </a:r>
          </a:p>
        </p:txBody>
      </p:sp>
      <p:sp>
        <p:nvSpPr>
          <p:cNvPr id="3" name="Content Placeholder 2">
            <a:extLst>
              <a:ext uri="{FF2B5EF4-FFF2-40B4-BE49-F238E27FC236}">
                <a16:creationId xmlns:a16="http://schemas.microsoft.com/office/drawing/2014/main" id="{90B961A5-318F-4819-A170-3CF0E0DD79BB}"/>
              </a:ext>
            </a:extLst>
          </p:cNvPr>
          <p:cNvSpPr>
            <a:spLocks noGrp="1"/>
          </p:cNvSpPr>
          <p:nvPr>
            <p:ph sz="half" idx="1"/>
          </p:nvPr>
        </p:nvSpPr>
        <p:spPr>
          <a:xfrm>
            <a:off x="228600" y="894522"/>
            <a:ext cx="11658600" cy="5715829"/>
          </a:xfrm>
        </p:spPr>
        <p:txBody>
          <a:bodyPr>
            <a:normAutofit/>
          </a:bodyPr>
          <a:lstStyle/>
          <a:p>
            <a:pPr marL="228600" algn="just">
              <a:spcAft>
                <a:spcPts val="800"/>
              </a:spcAft>
            </a:pPr>
            <a:r>
              <a:rPr lang="en-US" sz="2000" dirty="0">
                <a:effectLst/>
                <a:latin typeface="Times New Roman" panose="02020603050405020304" pitchFamily="18" charset="0"/>
                <a:ea typeface="Times New Roman" panose="02020603050405020304" pitchFamily="18" charset="0"/>
              </a:rPr>
              <a:t>MAJOR DEVELOPMENT POLICIES</a:t>
            </a:r>
            <a:endParaRPr lang="en-MY" sz="2000" dirty="0">
              <a:effectLst/>
              <a:latin typeface="Times New Roman" panose="02020603050405020304" pitchFamily="18" charset="0"/>
              <a:ea typeface="Times New Roman" panose="02020603050405020304" pitchFamily="18" charset="0"/>
            </a:endParaRPr>
          </a:p>
          <a:p>
            <a:pPr lvl="1" indent="-342900" algn="just">
              <a:spcAft>
                <a:spcPts val="800"/>
              </a:spcAft>
              <a:buFont typeface="Arial" panose="020B0604020202020204" pitchFamily="34" charset="0"/>
              <a:buChar char="•"/>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New Economic Policy</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1" indent="-342900" algn="just">
              <a:spcAft>
                <a:spcPts val="800"/>
              </a:spcAft>
              <a:buFont typeface="Arial" panose="020B0604020202020204" pitchFamily="34" charset="0"/>
              <a:buChar char="•"/>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National Development Policy, </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1" indent="-342900" algn="just">
              <a:spcAft>
                <a:spcPts val="800"/>
              </a:spcAft>
              <a:buFont typeface="Arial" panose="020B0604020202020204" pitchFamily="34" charset="0"/>
              <a:buChar char="•"/>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National Vision Policy (Vision 2020), </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1" indent="-342900" algn="just">
              <a:spcAft>
                <a:spcPts val="800"/>
              </a:spcAft>
              <a:buFont typeface="Arial" panose="020B0604020202020204" pitchFamily="34" charset="0"/>
              <a:buChar char="•"/>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National Transformation Policy (1M, ETP, GTP, MEB, RM10, RM11)</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28600" algn="just">
              <a:spcAft>
                <a:spcPts val="800"/>
              </a:spcAft>
            </a:pPr>
            <a:r>
              <a:rPr lang="en-US" sz="2000" b="1" i="1" dirty="0">
                <a:effectLst/>
                <a:latin typeface="Times New Roman" panose="02020603050405020304" pitchFamily="18" charset="0"/>
                <a:ea typeface="Times New Roman" panose="02020603050405020304" pitchFamily="18" charset="0"/>
              </a:rPr>
              <a:t>SPECIFIC POLICIES</a:t>
            </a:r>
            <a:endParaRPr lang="en-MY" sz="2000" dirty="0">
              <a:effectLst/>
              <a:latin typeface="Times New Roman" panose="02020603050405020304" pitchFamily="18" charset="0"/>
              <a:ea typeface="Times New Roman" panose="02020603050405020304" pitchFamily="18" charset="0"/>
            </a:endParaRPr>
          </a:p>
          <a:p>
            <a:pPr lvl="1" indent="-342900" algn="just">
              <a:spcAft>
                <a:spcPts val="800"/>
              </a:spcAft>
              <a:buFont typeface="Arial" panose="020B0604020202020204" pitchFamily="34" charset="0"/>
              <a:buChar char="•"/>
            </a:pPr>
            <a:r>
              <a:rPr lang="en-US" sz="1800" b="1" i="1" dirty="0">
                <a:effectLst/>
                <a:latin typeface="Times New Roman" panose="02020603050405020304" pitchFamily="18" charset="0"/>
                <a:ea typeface="Times New Roman" panose="02020603050405020304" pitchFamily="18" charset="0"/>
                <a:cs typeface="Times New Roman" panose="02020603050405020304" pitchFamily="18" charset="0"/>
              </a:rPr>
              <a:t>Privatization Policy, Agricultural Policy</a:t>
            </a:r>
            <a:endParaRPr lang="en-MY" sz="18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Government efforts in developing the country and society in order to maintain balanced development – sustainable development</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Since 1971, all the national policies are aimed to promote national integration and unity.</a:t>
            </a:r>
            <a:endParaRPr lang="en-MY" sz="2000" dirty="0">
              <a:effectLst/>
              <a:latin typeface="Calibri" panose="020F0502020204030204" pitchFamily="34" charset="0"/>
              <a:ea typeface="Times New Roman" panose="02020603050405020304" pitchFamily="18" charset="0"/>
              <a:cs typeface="Calibri" panose="020F0502020204030204" pitchFamily="34" charset="0"/>
            </a:endParaRPr>
          </a:p>
          <a:p>
            <a:pPr marL="457200" indent="-457200" algn="just">
              <a:buAutoNum type="arabicPeriod"/>
            </a:pPr>
            <a:endParaRPr lang="en-MY" sz="2000" dirty="0"/>
          </a:p>
        </p:txBody>
      </p:sp>
    </p:spTree>
    <p:extLst>
      <p:ext uri="{BB962C8B-B14F-4D97-AF65-F5344CB8AC3E}">
        <p14:creationId xmlns:p14="http://schemas.microsoft.com/office/powerpoint/2010/main" val="1109193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0551FCE7-6AE7-ED95-0C2A-180C0FE3E62D}"/>
              </a:ext>
            </a:extLst>
          </p:cNvPr>
          <p:cNvPicPr>
            <a:picLocks noGrp="1" noChangeAspect="1"/>
          </p:cNvPicPr>
          <p:nvPr>
            <p:ph idx="1"/>
          </p:nvPr>
        </p:nvPicPr>
        <p:blipFill>
          <a:blip r:embed="rId2"/>
          <a:stretch>
            <a:fillRect/>
          </a:stretch>
        </p:blipFill>
        <p:spPr>
          <a:xfrm>
            <a:off x="715405" y="256080"/>
            <a:ext cx="10668316" cy="6214293"/>
          </a:xfrm>
          <a:prstGeom prst="rect">
            <a:avLst/>
          </a:prstGeom>
        </p:spPr>
      </p:pic>
    </p:spTree>
    <p:extLst>
      <p:ext uri="{BB962C8B-B14F-4D97-AF65-F5344CB8AC3E}">
        <p14:creationId xmlns:p14="http://schemas.microsoft.com/office/powerpoint/2010/main" val="1529013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78" y="160336"/>
            <a:ext cx="6038021" cy="674551"/>
          </a:xfrm>
        </p:spPr>
        <p:txBody>
          <a:bodyPr>
            <a:noAutofit/>
          </a:bodyPr>
          <a:lstStyle/>
          <a:p>
            <a:r>
              <a:rPr lang="en-US" sz="2800" b="1" dirty="0"/>
              <a:t>NEW ECONOMIC POLICY (NEP) </a:t>
            </a:r>
            <a:br>
              <a:rPr lang="en-US" sz="2800" b="1" dirty="0"/>
            </a:br>
            <a:r>
              <a:rPr lang="en-US" sz="2800" b="1" dirty="0"/>
              <a:t>1971 -1990</a:t>
            </a:r>
          </a:p>
        </p:txBody>
      </p:sp>
      <p:sp>
        <p:nvSpPr>
          <p:cNvPr id="3" name="Content Placeholder 2"/>
          <p:cNvSpPr>
            <a:spLocks noGrp="1"/>
          </p:cNvSpPr>
          <p:nvPr>
            <p:ph sz="half" idx="1"/>
          </p:nvPr>
        </p:nvSpPr>
        <p:spPr>
          <a:xfrm>
            <a:off x="311425" y="834887"/>
            <a:ext cx="5682975" cy="5744817"/>
          </a:xfrm>
          <a:solidFill>
            <a:schemeClr val="accent1">
              <a:lumMod val="20000"/>
              <a:lumOff val="80000"/>
            </a:schemeClr>
          </a:solidFill>
        </p:spPr>
        <p:txBody>
          <a:bodyPr>
            <a:normAutofit fontScale="55000" lnSpcReduction="20000"/>
          </a:bodyPr>
          <a:lstStyle/>
          <a:p>
            <a:pPr marL="342900" lvl="0" indent="-342900" algn="just">
              <a:spcAft>
                <a:spcPts val="800"/>
              </a:spcAft>
              <a:buFont typeface="Arial" panose="020B0604020202020204" pitchFamily="34" charset="0"/>
              <a:buChar char="•"/>
            </a:pPr>
            <a:r>
              <a:rPr lang="en-US" sz="3300" dirty="0">
                <a:effectLst/>
                <a:latin typeface="Arial" panose="020B0604020202020204" pitchFamily="34" charset="0"/>
                <a:ea typeface="Arial" panose="020B0604020202020204" pitchFamily="34" charset="0"/>
                <a:cs typeface="Arial" panose="020B0604020202020204" pitchFamily="34" charset="0"/>
              </a:rPr>
              <a:t>NEP was a watershed in the Malaysian economic policy history. (reaction to 1969 riot) -  was a social re-engineering and affirmative action program for </a:t>
            </a:r>
            <a:r>
              <a:rPr lang="en-US" sz="3300" i="1" dirty="0" err="1">
                <a:effectLst/>
                <a:latin typeface="Arial" panose="020B0604020202020204" pitchFamily="34" charset="0"/>
                <a:ea typeface="Arial" panose="020B0604020202020204" pitchFamily="34" charset="0"/>
                <a:cs typeface="Arial" panose="020B0604020202020204" pitchFamily="34" charset="0"/>
              </a:rPr>
              <a:t>bumiputera</a:t>
            </a:r>
            <a:r>
              <a:rPr lang="en-US" sz="3300" dirty="0">
                <a:effectLst/>
                <a:latin typeface="Arial" panose="020B0604020202020204" pitchFamily="34" charset="0"/>
                <a:ea typeface="Arial" panose="020B0604020202020204" pitchFamily="34" charset="0"/>
                <a:cs typeface="Arial" panose="020B0604020202020204" pitchFamily="34" charset="0"/>
              </a:rPr>
              <a:t> (indigenous).</a:t>
            </a:r>
            <a:endParaRPr lang="en-MY" sz="33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3300" dirty="0">
                <a:effectLst/>
                <a:latin typeface="Arial" panose="020B0604020202020204" pitchFamily="34" charset="0"/>
                <a:ea typeface="Arial" panose="020B0604020202020204" pitchFamily="34" charset="0"/>
                <a:cs typeface="Arial" panose="020B0604020202020204" pitchFamily="34" charset="0"/>
              </a:rPr>
              <a:t>The NEP underscored the importance of achieving socio-economic goals alongside pursuing economic growth objectives as a way of creating harmony and unity in a nation with many ethnic and religious groups. The overriding goal was national unity. </a:t>
            </a:r>
            <a:endParaRPr lang="en-MY" sz="33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3300" b="1" u="sng" dirty="0">
                <a:effectLst/>
                <a:latin typeface="Arial" panose="020B0604020202020204" pitchFamily="34" charset="0"/>
                <a:ea typeface="Arial" panose="020B0604020202020204" pitchFamily="34" charset="0"/>
                <a:cs typeface="Arial" panose="020B0604020202020204" pitchFamily="34" charset="0"/>
              </a:rPr>
              <a:t>Two pronged strategies </a:t>
            </a:r>
            <a:r>
              <a:rPr lang="en-US" sz="3300" dirty="0">
                <a:effectLst/>
                <a:latin typeface="Arial" panose="020B0604020202020204" pitchFamily="34" charset="0"/>
                <a:ea typeface="Arial" panose="020B0604020202020204" pitchFamily="34" charset="0"/>
                <a:cs typeface="Arial" panose="020B0604020202020204" pitchFamily="34" charset="0"/>
              </a:rPr>
              <a:t>were adopted: 1) to eradicate poverty for all Malaysians 2) to reduce and subsequently eliminate the identification of race by economic function and geographical location. </a:t>
            </a:r>
            <a:endParaRPr lang="en-MY" sz="33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3300" dirty="0">
                <a:effectLst/>
                <a:latin typeface="Arial" panose="020B0604020202020204" pitchFamily="34" charset="0"/>
                <a:ea typeface="Arial" panose="020B0604020202020204" pitchFamily="34" charset="0"/>
                <a:cs typeface="Arial" panose="020B0604020202020204" pitchFamily="34" charset="0"/>
              </a:rPr>
              <a:t>Policy target – official equity /shares for Bumiputera  at least  30%, other Malaysian 40% and foreigners 30%</a:t>
            </a:r>
            <a:endParaRPr lang="en-MY" sz="3300" dirty="0">
              <a:effectLst/>
              <a:latin typeface="Arial" panose="020B0604020202020204" pitchFamily="34" charset="0"/>
              <a:ea typeface="Arial" panose="020B0604020202020204" pitchFamily="34" charset="0"/>
              <a:cs typeface="Arial" panose="020B0604020202020204" pitchFamily="34" charset="0"/>
            </a:endParaRPr>
          </a:p>
          <a:p>
            <a:r>
              <a:rPr lang="en-US" sz="3300" dirty="0">
                <a:effectLst/>
                <a:latin typeface="Times New Roman" panose="02020603050405020304" pitchFamily="18" charset="0"/>
                <a:ea typeface="Times New Roman" panose="02020603050405020304" pitchFamily="18" charset="0"/>
              </a:rPr>
              <a:t>Other policies/programs during NEP; Malaysian Incorporated Policy, Privatization Policy and Look East Policy</a:t>
            </a:r>
            <a:r>
              <a:rPr lang="en-US" sz="3300" dirty="0">
                <a:effectLst/>
                <a:latin typeface="Arial" panose="020B0604020202020204" pitchFamily="34" charset="0"/>
                <a:ea typeface="Arial" panose="020B0604020202020204" pitchFamily="34" charset="0"/>
                <a:cs typeface="Arial" panose="020B0604020202020204" pitchFamily="34" charset="0"/>
              </a:rPr>
              <a:t>.</a:t>
            </a:r>
            <a:endParaRPr lang="en-MY" sz="3300" dirty="0">
              <a:effectLst/>
              <a:latin typeface="Arial" panose="020B0604020202020204" pitchFamily="34" charset="0"/>
              <a:ea typeface="Arial" panose="020B0604020202020204" pitchFamily="34" charset="0"/>
              <a:cs typeface="Arial" panose="020B0604020202020204" pitchFamily="34" charset="0"/>
            </a:endParaRPr>
          </a:p>
          <a:p>
            <a:pPr marL="0" indent="0">
              <a:buNone/>
            </a:pPr>
            <a:br>
              <a:rPr lang="en-US" sz="2000" dirty="0">
                <a:effectLst/>
                <a:latin typeface="Times New Roman" panose="02020603050405020304" pitchFamily="18" charset="0"/>
                <a:ea typeface="Times New Roman" panose="02020603050405020304" pitchFamily="18" charset="0"/>
              </a:rPr>
            </a:br>
            <a:endParaRPr lang="en-US" sz="2800" dirty="0"/>
          </a:p>
        </p:txBody>
      </p:sp>
      <p:sp>
        <p:nvSpPr>
          <p:cNvPr id="4" name="Content Placeholder 3">
            <a:extLst>
              <a:ext uri="{FF2B5EF4-FFF2-40B4-BE49-F238E27FC236}">
                <a16:creationId xmlns:a16="http://schemas.microsoft.com/office/drawing/2014/main" id="{ED05ABED-DEA8-3DD9-E91A-3A33C9BE840C}"/>
              </a:ext>
            </a:extLst>
          </p:cNvPr>
          <p:cNvSpPr>
            <a:spLocks noGrp="1"/>
          </p:cNvSpPr>
          <p:nvPr>
            <p:ph sz="half" idx="2"/>
          </p:nvPr>
        </p:nvSpPr>
        <p:spPr>
          <a:xfrm>
            <a:off x="6096001" y="952847"/>
            <a:ext cx="5936420" cy="5744817"/>
          </a:xfrm>
        </p:spPr>
        <p:txBody>
          <a:bodyPr>
            <a:normAutofit fontScale="55000" lnSpcReduction="20000"/>
          </a:bodyPr>
          <a:lstStyle/>
          <a:p>
            <a:pPr marL="342900" lvl="0" indent="-342900" algn="just">
              <a:spcAft>
                <a:spcPts val="800"/>
              </a:spcAft>
              <a:buFont typeface="Arial" panose="020B0604020202020204" pitchFamily="34" charset="0"/>
              <a:buChar char="•"/>
            </a:pPr>
            <a:r>
              <a:rPr lang="en-US" sz="3200" dirty="0">
                <a:effectLst/>
                <a:latin typeface="Arial" panose="020B0604020202020204" pitchFamily="34" charset="0"/>
                <a:ea typeface="Arial" panose="020B0604020202020204" pitchFamily="34" charset="0"/>
                <a:cs typeface="Arial" panose="020B0604020202020204" pitchFamily="34" charset="0"/>
              </a:rPr>
              <a:t>Replaced the Malaysian New Economic Policy in 1990 but continued to pursue most of NEP policies of affirmative action for </a:t>
            </a:r>
            <a:r>
              <a:rPr lang="en-US" sz="3200" dirty="0" err="1">
                <a:effectLst/>
                <a:latin typeface="Arial" panose="020B0604020202020204" pitchFamily="34" charset="0"/>
                <a:ea typeface="Arial" panose="020B0604020202020204" pitchFamily="34" charset="0"/>
                <a:cs typeface="Arial" panose="020B0604020202020204" pitchFamily="34" charset="0"/>
              </a:rPr>
              <a:t>bumiputera</a:t>
            </a:r>
            <a:r>
              <a:rPr lang="en-US" sz="3200" dirty="0">
                <a:effectLst/>
                <a:latin typeface="Arial" panose="020B0604020202020204" pitchFamily="34" charset="0"/>
                <a:ea typeface="Arial" panose="020B0604020202020204" pitchFamily="34" charset="0"/>
                <a:cs typeface="Arial" panose="020B0604020202020204" pitchFamily="34" charset="0"/>
              </a:rPr>
              <a:t>. </a:t>
            </a:r>
            <a:endParaRPr lang="en-MY" sz="3200" dirty="0">
              <a:effectLst/>
              <a:latin typeface="Arial" panose="020B0604020202020204" pitchFamily="34" charset="0"/>
              <a:ea typeface="Arial" panose="020B0604020202020204" pitchFamily="34" charset="0"/>
              <a:cs typeface="Arial" panose="020B0604020202020204" pitchFamily="34" charset="0"/>
            </a:endParaRPr>
          </a:p>
          <a:p>
            <a:r>
              <a:rPr lang="en-US" sz="3200" dirty="0">
                <a:effectLst/>
                <a:latin typeface="Arial" panose="020B0604020202020204" pitchFamily="34" charset="0"/>
                <a:ea typeface="Times New Roman" panose="02020603050405020304" pitchFamily="18" charset="0"/>
                <a:cs typeface="Arial" panose="020B0604020202020204" pitchFamily="34" charset="0"/>
              </a:rPr>
              <a:t>Other policies/program during NDP: Vision 2020 was introduced in 1991, National Telecommunication Policy 1994</a:t>
            </a:r>
            <a:endParaRPr lang="en-MY" sz="3200" dirty="0">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49F7BD76-9A28-C4CE-573D-E33BBB96B0F8}"/>
              </a:ext>
            </a:extLst>
          </p:cNvPr>
          <p:cNvSpPr txBox="1">
            <a:spLocks/>
          </p:cNvSpPr>
          <p:nvPr/>
        </p:nvSpPr>
        <p:spPr>
          <a:xfrm>
            <a:off x="5994400" y="160335"/>
            <a:ext cx="6038021" cy="67455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t>NATIONAL DEVELOPMENT POLICY (NDP) 1990-2000</a:t>
            </a:r>
          </a:p>
        </p:txBody>
      </p:sp>
    </p:spTree>
    <p:extLst>
      <p:ext uri="{BB962C8B-B14F-4D97-AF65-F5344CB8AC3E}">
        <p14:creationId xmlns:p14="http://schemas.microsoft.com/office/powerpoint/2010/main" val="39970746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558906-63F5-E02B-E208-D73389C401A9}"/>
              </a:ext>
            </a:extLst>
          </p:cNvPr>
          <p:cNvSpPr>
            <a:spLocks noGrp="1"/>
          </p:cNvSpPr>
          <p:nvPr>
            <p:ph sz="half" idx="1"/>
          </p:nvPr>
        </p:nvSpPr>
        <p:spPr>
          <a:xfrm>
            <a:off x="318051" y="387627"/>
            <a:ext cx="11628783" cy="6013174"/>
          </a:xfrm>
        </p:spPr>
        <p:txBody>
          <a:bodyPr>
            <a:normAutofit/>
          </a:bodyPr>
          <a:lstStyle/>
          <a:p>
            <a:pPr marL="0" indent="0" algn="ctr">
              <a:buNone/>
            </a:pPr>
            <a:r>
              <a:rPr lang="en-US" sz="2800" b="1" dirty="0"/>
              <a:t>NATIONAL VISION POLICY (NVP) 2001-2010</a:t>
            </a:r>
          </a:p>
          <a:p>
            <a:pPr algn="just"/>
            <a:r>
              <a:rPr lang="en-US" dirty="0"/>
              <a:t>Was an extension of the NDP (1991-2000) and also the second phase of Vision 2020</a:t>
            </a:r>
          </a:p>
          <a:p>
            <a:pPr algn="just"/>
            <a:r>
              <a:rPr lang="en-US" dirty="0"/>
              <a:t>The aims is to establish a united, progressive and prosperous </a:t>
            </a:r>
            <a:r>
              <a:rPr lang="en-US" dirty="0" err="1"/>
              <a:t>Bangsa</a:t>
            </a:r>
            <a:r>
              <a:rPr lang="en-US" dirty="0"/>
              <a:t> Malaysia that lives in harmony and engages in full and fair partnership</a:t>
            </a:r>
          </a:p>
          <a:p>
            <a:pPr algn="just"/>
            <a:r>
              <a:rPr lang="en-US" dirty="0"/>
              <a:t>Other policies/program during NVP; National Integrity Plan.</a:t>
            </a:r>
          </a:p>
          <a:p>
            <a:pPr marL="0" indent="0">
              <a:buNone/>
            </a:pPr>
            <a:endParaRPr lang="en-US" dirty="0"/>
          </a:p>
          <a:p>
            <a:pPr marL="0" indent="0" algn="ctr">
              <a:buNone/>
            </a:pPr>
            <a:r>
              <a:rPr lang="en-US" sz="2400" b="1" dirty="0"/>
              <a:t>VISION 2020</a:t>
            </a:r>
          </a:p>
          <a:p>
            <a:pPr algn="just"/>
            <a:r>
              <a:rPr lang="en-US" dirty="0"/>
              <a:t>Introduced by the fourth Prime Minister of Malaysia, Mahathir bin Mohamad in 1991</a:t>
            </a:r>
          </a:p>
          <a:p>
            <a:pPr algn="just"/>
            <a:r>
              <a:rPr lang="en-US" dirty="0"/>
              <a:t>The vision calls for the nation to achieve a self-sufficient industrialized nation by the year 2020</a:t>
            </a:r>
          </a:p>
          <a:p>
            <a:pPr algn="just"/>
            <a:r>
              <a:rPr lang="en-US" dirty="0"/>
              <a:t>encompasses all aspects of life, from economic prosperity, social well-being, world-class educational, political stability, as well as psychological balance. </a:t>
            </a:r>
          </a:p>
          <a:p>
            <a:endParaRPr lang="en-MY" dirty="0"/>
          </a:p>
        </p:txBody>
      </p:sp>
    </p:spTree>
    <p:extLst>
      <p:ext uri="{BB962C8B-B14F-4D97-AF65-F5344CB8AC3E}">
        <p14:creationId xmlns:p14="http://schemas.microsoft.com/office/powerpoint/2010/main" val="3195508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47C5C-A2EF-6A8F-24CC-F4C4D6ECD36F}"/>
              </a:ext>
            </a:extLst>
          </p:cNvPr>
          <p:cNvSpPr>
            <a:spLocks noGrp="1"/>
          </p:cNvSpPr>
          <p:nvPr>
            <p:ph idx="1"/>
          </p:nvPr>
        </p:nvSpPr>
        <p:spPr>
          <a:xfrm>
            <a:off x="357809" y="785191"/>
            <a:ext cx="11598965" cy="5844209"/>
          </a:xfrm>
        </p:spPr>
        <p:txBody>
          <a:bodyPr>
            <a:normAutofit/>
          </a:bodyPr>
          <a:lstStyle/>
          <a:p>
            <a:pPr algn="just">
              <a:spcAft>
                <a:spcPts val="800"/>
              </a:spcAft>
            </a:pPr>
            <a:r>
              <a:rPr lang="en-US" sz="1800" dirty="0">
                <a:effectLst/>
                <a:latin typeface="Arial" panose="020B0604020202020204" pitchFamily="34" charset="0"/>
                <a:ea typeface="Times New Roman" panose="02020603050405020304" pitchFamily="18" charset="0"/>
                <a:cs typeface="Arial" panose="020B0604020202020204" pitchFamily="34" charset="0"/>
              </a:rPr>
              <a:t>Mahathir outlined 9 strategic challenges for Malaysian to  achieve in the year 2020.</a:t>
            </a:r>
            <a:endParaRPr lang="en-MY" sz="1800" dirty="0">
              <a:effectLst/>
              <a:latin typeface="Arial" panose="020B0604020202020204" pitchFamily="34" charset="0"/>
              <a:ea typeface="Times New Roman" panose="02020603050405020304" pitchFamily="18" charset="0"/>
              <a:cs typeface="Arial" panose="020B0604020202020204" pitchFamily="34" charset="0"/>
            </a:endParaRPr>
          </a:p>
          <a:p>
            <a:pPr marL="685800" lvl="1" algn="just">
              <a:spcAft>
                <a:spcPts val="800"/>
              </a:spcAft>
            </a:pPr>
            <a:r>
              <a:rPr lang="en-US" dirty="0">
                <a:effectLst/>
                <a:latin typeface="Arial" panose="020B0604020202020204" pitchFamily="34" charset="0"/>
                <a:ea typeface="Arial" panose="020B0604020202020204" pitchFamily="34" charset="0"/>
                <a:cs typeface="Arial" panose="020B0604020202020204" pitchFamily="34" charset="0"/>
              </a:rPr>
              <a:t>Challenge 1: Establishing a united Malaysian nation made up of one ‘</a:t>
            </a:r>
            <a:r>
              <a:rPr lang="en-US" i="1" dirty="0" err="1">
                <a:effectLst/>
                <a:latin typeface="Arial" panose="020B0604020202020204" pitchFamily="34" charset="0"/>
                <a:ea typeface="Arial" panose="020B0604020202020204" pitchFamily="34" charset="0"/>
                <a:cs typeface="Arial" panose="020B0604020202020204" pitchFamily="34" charset="0"/>
              </a:rPr>
              <a:t>Bangsa</a:t>
            </a:r>
            <a:r>
              <a:rPr lang="en-US" i="1" dirty="0">
                <a:effectLst/>
                <a:latin typeface="Arial" panose="020B0604020202020204" pitchFamily="34" charset="0"/>
                <a:ea typeface="Arial" panose="020B0604020202020204" pitchFamily="34" charset="0"/>
                <a:cs typeface="Arial" panose="020B0604020202020204" pitchFamily="34" charset="0"/>
              </a:rPr>
              <a:t> Malaysia’ </a:t>
            </a:r>
            <a:r>
              <a:rPr lang="en-US" dirty="0">
                <a:effectLst/>
                <a:latin typeface="Arial" panose="020B0604020202020204" pitchFamily="34" charset="0"/>
                <a:ea typeface="Arial" panose="020B0604020202020204" pitchFamily="34" charset="0"/>
                <a:cs typeface="Arial" panose="020B0604020202020204" pitchFamily="34" charset="0"/>
              </a:rPr>
              <a:t>(Malaysian Race).</a:t>
            </a:r>
            <a:endParaRPr lang="en-MY" dirty="0">
              <a:effectLst/>
              <a:latin typeface="Arial" panose="020B0604020202020204" pitchFamily="34" charset="0"/>
              <a:ea typeface="Arial" panose="020B0604020202020204" pitchFamily="34" charset="0"/>
              <a:cs typeface="Arial" panose="020B0604020202020204" pitchFamily="34" charset="0"/>
            </a:endParaRPr>
          </a:p>
          <a:p>
            <a:pPr marL="685800" lvl="1" algn="just">
              <a:spcAft>
                <a:spcPts val="800"/>
              </a:spcAft>
            </a:pPr>
            <a:r>
              <a:rPr lang="en-US" dirty="0">
                <a:effectLst/>
                <a:latin typeface="Arial" panose="020B0604020202020204" pitchFamily="34" charset="0"/>
                <a:ea typeface="Arial" panose="020B0604020202020204" pitchFamily="34" charset="0"/>
                <a:cs typeface="Arial" panose="020B0604020202020204" pitchFamily="34" charset="0"/>
              </a:rPr>
              <a:t>Challenge 2: Creating a psychologically liberated, secure and developed Malaysian society.</a:t>
            </a:r>
            <a:endParaRPr lang="en-MY" dirty="0">
              <a:effectLst/>
              <a:latin typeface="Arial" panose="020B0604020202020204" pitchFamily="34" charset="0"/>
              <a:ea typeface="Arial" panose="020B0604020202020204" pitchFamily="34" charset="0"/>
              <a:cs typeface="Arial" panose="020B0604020202020204" pitchFamily="34" charset="0"/>
            </a:endParaRPr>
          </a:p>
          <a:p>
            <a:pPr marL="685800" lvl="1" algn="just">
              <a:spcAft>
                <a:spcPts val="800"/>
              </a:spcAft>
            </a:pPr>
            <a:r>
              <a:rPr lang="en-US" dirty="0">
                <a:effectLst/>
                <a:latin typeface="Arial" panose="020B0604020202020204" pitchFamily="34" charset="0"/>
                <a:ea typeface="Arial" panose="020B0604020202020204" pitchFamily="34" charset="0"/>
                <a:cs typeface="Arial" panose="020B0604020202020204" pitchFamily="34" charset="0"/>
              </a:rPr>
              <a:t>Challenge 3: Fostering and developing a mature democratic society.</a:t>
            </a:r>
            <a:endParaRPr lang="en-MY" dirty="0">
              <a:effectLst/>
              <a:latin typeface="Arial" panose="020B0604020202020204" pitchFamily="34" charset="0"/>
              <a:ea typeface="Arial" panose="020B0604020202020204" pitchFamily="34" charset="0"/>
              <a:cs typeface="Arial" panose="020B0604020202020204" pitchFamily="34" charset="0"/>
            </a:endParaRPr>
          </a:p>
          <a:p>
            <a:pPr marL="685800" lvl="1" algn="just">
              <a:spcAft>
                <a:spcPts val="800"/>
              </a:spcAft>
            </a:pPr>
            <a:r>
              <a:rPr lang="en-US" dirty="0">
                <a:effectLst/>
                <a:latin typeface="Arial" panose="020B0604020202020204" pitchFamily="34" charset="0"/>
                <a:ea typeface="Arial" panose="020B0604020202020204" pitchFamily="34" charset="0"/>
                <a:cs typeface="Arial" panose="020B0604020202020204" pitchFamily="34" charset="0"/>
              </a:rPr>
              <a:t>Challenge 4: Establishing a fully moral and ethical society.</a:t>
            </a:r>
            <a:endParaRPr lang="en-MY" dirty="0">
              <a:effectLst/>
              <a:latin typeface="Arial" panose="020B0604020202020204" pitchFamily="34" charset="0"/>
              <a:ea typeface="Arial" panose="020B0604020202020204" pitchFamily="34" charset="0"/>
              <a:cs typeface="Arial" panose="020B0604020202020204" pitchFamily="34" charset="0"/>
            </a:endParaRPr>
          </a:p>
          <a:p>
            <a:pPr marL="685800" lvl="1" algn="just">
              <a:spcAft>
                <a:spcPts val="800"/>
              </a:spcAft>
            </a:pPr>
            <a:r>
              <a:rPr lang="en-US" dirty="0">
                <a:effectLst/>
                <a:latin typeface="Arial" panose="020B0604020202020204" pitchFamily="34" charset="0"/>
                <a:ea typeface="Arial" panose="020B0604020202020204" pitchFamily="34" charset="0"/>
                <a:cs typeface="Arial" panose="020B0604020202020204" pitchFamily="34" charset="0"/>
              </a:rPr>
              <a:t>Challenge 5: Establishing a matured liberal and tolerant society.</a:t>
            </a:r>
            <a:endParaRPr lang="en-MY" dirty="0">
              <a:effectLst/>
              <a:latin typeface="Arial" panose="020B0604020202020204" pitchFamily="34" charset="0"/>
              <a:ea typeface="Arial" panose="020B0604020202020204" pitchFamily="34" charset="0"/>
              <a:cs typeface="Arial" panose="020B0604020202020204" pitchFamily="34" charset="0"/>
            </a:endParaRPr>
          </a:p>
          <a:p>
            <a:pPr marL="685800" lvl="1" algn="just">
              <a:spcAft>
                <a:spcPts val="800"/>
              </a:spcAft>
            </a:pPr>
            <a:r>
              <a:rPr lang="en-US" dirty="0">
                <a:effectLst/>
                <a:latin typeface="Arial" panose="020B0604020202020204" pitchFamily="34" charset="0"/>
                <a:ea typeface="Arial" panose="020B0604020202020204" pitchFamily="34" charset="0"/>
                <a:cs typeface="Arial" panose="020B0604020202020204" pitchFamily="34" charset="0"/>
              </a:rPr>
              <a:t>Challenge 6: Establishing a scientific and progressive society.</a:t>
            </a:r>
            <a:endParaRPr lang="en-MY" dirty="0">
              <a:effectLst/>
              <a:latin typeface="Arial" panose="020B0604020202020204" pitchFamily="34" charset="0"/>
              <a:ea typeface="Arial" panose="020B0604020202020204" pitchFamily="34" charset="0"/>
              <a:cs typeface="Arial" panose="020B0604020202020204" pitchFamily="34" charset="0"/>
            </a:endParaRPr>
          </a:p>
          <a:p>
            <a:pPr marL="685800" lvl="1" algn="just">
              <a:spcAft>
                <a:spcPts val="800"/>
              </a:spcAft>
            </a:pPr>
            <a:r>
              <a:rPr lang="en-US" dirty="0">
                <a:effectLst/>
                <a:latin typeface="Arial" panose="020B0604020202020204" pitchFamily="34" charset="0"/>
                <a:ea typeface="Arial" panose="020B0604020202020204" pitchFamily="34" charset="0"/>
                <a:cs typeface="Arial" panose="020B0604020202020204" pitchFamily="34" charset="0"/>
              </a:rPr>
              <a:t>Challenge 7: Establishing a fully caring society.</a:t>
            </a:r>
            <a:endParaRPr lang="en-MY" dirty="0">
              <a:effectLst/>
              <a:latin typeface="Arial" panose="020B0604020202020204" pitchFamily="34" charset="0"/>
              <a:ea typeface="Arial" panose="020B0604020202020204" pitchFamily="34" charset="0"/>
              <a:cs typeface="Arial" panose="020B0604020202020204" pitchFamily="34" charset="0"/>
            </a:endParaRPr>
          </a:p>
          <a:p>
            <a:pPr marL="685800" lvl="1" algn="just">
              <a:spcAft>
                <a:spcPts val="800"/>
              </a:spcAft>
            </a:pPr>
            <a:r>
              <a:rPr lang="en-US" dirty="0">
                <a:effectLst/>
                <a:latin typeface="Arial" panose="020B0604020202020204" pitchFamily="34" charset="0"/>
                <a:ea typeface="Arial" panose="020B0604020202020204" pitchFamily="34" charset="0"/>
                <a:cs typeface="Arial" panose="020B0604020202020204" pitchFamily="34" charset="0"/>
              </a:rPr>
              <a:t>Challenge 8: Ensuring an economically just society, in which there is a fair and equitable distribution of the wealth of the nation.</a:t>
            </a:r>
            <a:endParaRPr lang="en-MY" dirty="0">
              <a:effectLst/>
              <a:latin typeface="Arial" panose="020B0604020202020204" pitchFamily="34" charset="0"/>
              <a:ea typeface="Arial" panose="020B0604020202020204" pitchFamily="34" charset="0"/>
              <a:cs typeface="Arial" panose="020B0604020202020204" pitchFamily="34" charset="0"/>
            </a:endParaRPr>
          </a:p>
          <a:p>
            <a:pPr lvl="1"/>
            <a:r>
              <a:rPr lang="en-US" dirty="0">
                <a:effectLst/>
                <a:latin typeface="Arial" panose="020B0604020202020204" pitchFamily="34" charset="0"/>
                <a:ea typeface="Times New Roman" panose="02020603050405020304" pitchFamily="18" charset="0"/>
                <a:cs typeface="Arial" panose="020B0604020202020204" pitchFamily="34" charset="0"/>
              </a:rPr>
              <a:t>Challenge 9: Establishing a prosperous society with an economy that is fully competitive, dynamic, robust and resilient</a:t>
            </a:r>
            <a:r>
              <a:rPr lang="en-US" dirty="0">
                <a:effectLst/>
                <a:latin typeface="Arial" panose="020B0604020202020204" pitchFamily="34" charset="0"/>
                <a:ea typeface="Arial" panose="020B0604020202020204" pitchFamily="34" charset="0"/>
                <a:cs typeface="Arial" panose="020B0604020202020204" pitchFamily="34" charset="0"/>
              </a:rPr>
              <a:t>.</a:t>
            </a:r>
            <a:endParaRPr lang="en-MY" dirty="0">
              <a:effectLst/>
              <a:latin typeface="Arial" panose="020B0604020202020204" pitchFamily="34" charset="0"/>
              <a:ea typeface="Arial" panose="020B0604020202020204" pitchFamily="34" charset="0"/>
              <a:cs typeface="Arial" panose="020B0604020202020204" pitchFamily="34" charset="0"/>
            </a:endParaRPr>
          </a:p>
          <a:p>
            <a:pPr marL="0" indent="0">
              <a:buNone/>
            </a:pPr>
            <a:endParaRPr lang="en-MY" sz="1800" dirty="0"/>
          </a:p>
        </p:txBody>
      </p:sp>
    </p:spTree>
    <p:extLst>
      <p:ext uri="{BB962C8B-B14F-4D97-AF65-F5344CB8AC3E}">
        <p14:creationId xmlns:p14="http://schemas.microsoft.com/office/powerpoint/2010/main" val="168427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6E95C-12FF-4D3C-8374-ED370A9AE484}"/>
              </a:ext>
            </a:extLst>
          </p:cNvPr>
          <p:cNvSpPr>
            <a:spLocks noGrp="1"/>
          </p:cNvSpPr>
          <p:nvPr>
            <p:ph type="title"/>
          </p:nvPr>
        </p:nvSpPr>
        <p:spPr>
          <a:xfrm>
            <a:off x="268358" y="179976"/>
            <a:ext cx="10048458" cy="859247"/>
          </a:xfrm>
        </p:spPr>
        <p:txBody>
          <a:bodyPr/>
          <a:lstStyle/>
          <a:p>
            <a:pPr algn="ctr"/>
            <a:r>
              <a:rPr lang="en-US" sz="3600" b="1" dirty="0">
                <a:effectLst>
                  <a:outerShdw blurRad="38100" dist="38100" dir="2700000" algn="tl">
                    <a:srgbClr val="000000">
                      <a:alpha val="43137"/>
                    </a:srgbClr>
                  </a:outerShdw>
                </a:effectLst>
              </a:rPr>
              <a:t>DEVELOPMENT POLICIES UNDER SIXTH PRIME MINISTER (DATO’ SERI NAJIB)</a:t>
            </a:r>
          </a:p>
        </p:txBody>
      </p:sp>
      <p:sp>
        <p:nvSpPr>
          <p:cNvPr id="6" name="Content Placeholder 5">
            <a:extLst>
              <a:ext uri="{FF2B5EF4-FFF2-40B4-BE49-F238E27FC236}">
                <a16:creationId xmlns:a16="http://schemas.microsoft.com/office/drawing/2014/main" id="{1A10FE49-C253-4256-B7D0-D48311AD821E}"/>
              </a:ext>
            </a:extLst>
          </p:cNvPr>
          <p:cNvSpPr>
            <a:spLocks noGrp="1"/>
          </p:cNvSpPr>
          <p:nvPr>
            <p:ph idx="1"/>
          </p:nvPr>
        </p:nvSpPr>
        <p:spPr>
          <a:xfrm>
            <a:off x="69574" y="1311966"/>
            <a:ext cx="11907078" cy="5366058"/>
          </a:xfrm>
        </p:spPr>
        <p:txBody>
          <a:bodyPr>
            <a:normAutofit/>
          </a:bodyPr>
          <a:lstStyle/>
          <a:p>
            <a:pPr marL="0" indent="0" algn="just">
              <a:buNone/>
            </a:pPr>
            <a:endParaRPr lang="en-MY" dirty="0"/>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National Transformation Policy (NTP) 2011-2020</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NTP was launched by Prime Minister Najib Tun Razak during the tabling of Budget 2010 to replace the National Vision Policy (NVP)</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1Malaysia (People First, Performance Now)</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1M programs: 1Malaysia clinics, 1Malaysia Development </a:t>
            </a:r>
            <a:r>
              <a:rPr lang="en-US" dirty="0" err="1">
                <a:effectLst/>
                <a:latin typeface="Arial" panose="020B0604020202020204" pitchFamily="34" charset="0"/>
                <a:ea typeface="Arial" panose="020B0604020202020204" pitchFamily="34" charset="0"/>
                <a:cs typeface="Arial" panose="020B0604020202020204" pitchFamily="34" charset="0"/>
              </a:rPr>
              <a:t>Berhad</a:t>
            </a:r>
            <a:r>
              <a:rPr lang="en-US" dirty="0">
                <a:effectLst/>
                <a:latin typeface="Arial" panose="020B0604020202020204" pitchFamily="34" charset="0"/>
                <a:ea typeface="Arial" panose="020B0604020202020204" pitchFamily="34" charset="0"/>
                <a:cs typeface="Arial" panose="020B0604020202020204" pitchFamily="34" charset="0"/>
              </a:rPr>
              <a:t>, </a:t>
            </a:r>
            <a:r>
              <a:rPr lang="en-US" dirty="0" err="1">
                <a:effectLst/>
                <a:latin typeface="Arial" panose="020B0604020202020204" pitchFamily="34" charset="0"/>
                <a:ea typeface="Arial" panose="020B0604020202020204" pitchFamily="34" charset="0"/>
                <a:cs typeface="Arial" panose="020B0604020202020204" pitchFamily="34" charset="0"/>
              </a:rPr>
              <a:t>Kedai</a:t>
            </a:r>
            <a:r>
              <a:rPr lang="en-US" dirty="0">
                <a:effectLst/>
                <a:latin typeface="Arial" panose="020B0604020202020204" pitchFamily="34" charset="0"/>
                <a:ea typeface="Arial" panose="020B0604020202020204" pitchFamily="34" charset="0"/>
                <a:cs typeface="Arial" panose="020B0604020202020204" pitchFamily="34" charset="0"/>
              </a:rPr>
              <a:t> Rakyat 1Malaysia (1Malaysia People's Grocery Stores)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Government Transformation </a:t>
            </a:r>
            <a:r>
              <a:rPr lang="en-US" dirty="0" err="1">
                <a:effectLst/>
                <a:latin typeface="Arial" panose="020B0604020202020204" pitchFamily="34" charset="0"/>
                <a:ea typeface="Arial" panose="020B0604020202020204" pitchFamily="34" charset="0"/>
                <a:cs typeface="Arial" panose="020B0604020202020204" pitchFamily="34" charset="0"/>
              </a:rPr>
              <a:t>Programme</a:t>
            </a:r>
            <a:r>
              <a:rPr lang="en-US" dirty="0">
                <a:effectLst/>
                <a:latin typeface="Arial" panose="020B0604020202020204" pitchFamily="34" charset="0"/>
                <a:ea typeface="Arial" panose="020B0604020202020204" pitchFamily="34" charset="0"/>
                <a:cs typeface="Arial" panose="020B0604020202020204" pitchFamily="34" charset="0"/>
              </a:rPr>
              <a:t> (GTP) to transform Malaysia into a developed and high-income nation by 2020; </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Economic Transformation </a:t>
            </a:r>
            <a:r>
              <a:rPr lang="en-US" dirty="0" err="1">
                <a:effectLst/>
                <a:latin typeface="Arial" panose="020B0604020202020204" pitchFamily="34" charset="0"/>
                <a:ea typeface="Arial" panose="020B0604020202020204" pitchFamily="34" charset="0"/>
                <a:cs typeface="Arial" panose="020B0604020202020204" pitchFamily="34" charset="0"/>
              </a:rPr>
              <a:t>Programme</a:t>
            </a:r>
            <a:r>
              <a:rPr lang="en-US" dirty="0">
                <a:effectLst/>
                <a:latin typeface="Arial" panose="020B0604020202020204" pitchFamily="34" charset="0"/>
                <a:ea typeface="Arial" panose="020B0604020202020204" pitchFamily="34" charset="0"/>
                <a:cs typeface="Arial" panose="020B0604020202020204" pitchFamily="34" charset="0"/>
              </a:rPr>
              <a:t> (ETP) to transform the national economy. </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Social Transformation </a:t>
            </a:r>
            <a:r>
              <a:rPr lang="en-US" dirty="0" err="1">
                <a:effectLst/>
                <a:latin typeface="Arial" panose="020B0604020202020204" pitchFamily="34" charset="0"/>
                <a:ea typeface="Arial" panose="020B0604020202020204" pitchFamily="34" charset="0"/>
                <a:cs typeface="Arial" panose="020B0604020202020204" pitchFamily="34" charset="0"/>
              </a:rPr>
              <a:t>Programme</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Politics Transformation </a:t>
            </a:r>
            <a:r>
              <a:rPr lang="en-US" dirty="0" err="1">
                <a:effectLst/>
                <a:latin typeface="Arial" panose="020B0604020202020204" pitchFamily="34" charset="0"/>
                <a:ea typeface="Arial" panose="020B0604020202020204" pitchFamily="34" charset="0"/>
                <a:cs typeface="Arial" panose="020B0604020202020204" pitchFamily="34" charset="0"/>
              </a:rPr>
              <a:t>Programme</a:t>
            </a:r>
            <a:endParaRPr lang="en-MY" dirty="0">
              <a:effectLst/>
              <a:latin typeface="Arial" panose="020B0604020202020204" pitchFamily="34" charset="0"/>
              <a:ea typeface="Arial" panose="020B0604020202020204" pitchFamily="34" charset="0"/>
              <a:cs typeface="Arial" panose="020B0604020202020204" pitchFamily="34" charset="0"/>
            </a:endParaRPr>
          </a:p>
          <a:p>
            <a:pPr marL="0" indent="0" algn="just">
              <a:buNone/>
            </a:pPr>
            <a:endParaRPr lang="en-MY" dirty="0"/>
          </a:p>
        </p:txBody>
      </p:sp>
    </p:spTree>
    <p:extLst>
      <p:ext uri="{BB962C8B-B14F-4D97-AF65-F5344CB8AC3E}">
        <p14:creationId xmlns:p14="http://schemas.microsoft.com/office/powerpoint/2010/main" val="794449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CAD9A-15C1-42B3-BFD0-13A9EC962C6B}"/>
              </a:ext>
            </a:extLst>
          </p:cNvPr>
          <p:cNvSpPr>
            <a:spLocks noGrp="1"/>
          </p:cNvSpPr>
          <p:nvPr>
            <p:ph type="title"/>
          </p:nvPr>
        </p:nvSpPr>
        <p:spPr>
          <a:xfrm>
            <a:off x="318052" y="149088"/>
            <a:ext cx="10008705" cy="822946"/>
          </a:xfrm>
        </p:spPr>
        <p:txBody>
          <a:bodyPr/>
          <a:lstStyle/>
          <a:p>
            <a:pPr algn="ctr"/>
            <a:r>
              <a:rPr lang="en-US" sz="3600" b="1" dirty="0"/>
              <a:t>SHARED PROSPERITY VISION (SPV) 2030</a:t>
            </a:r>
            <a:br>
              <a:rPr lang="en-US" sz="3600" b="1" dirty="0"/>
            </a:br>
            <a:r>
              <a:rPr lang="en-US" sz="3600" b="1" dirty="0"/>
              <a:t>(</a:t>
            </a:r>
            <a:r>
              <a:rPr lang="en-US" sz="3600" b="1" dirty="0" err="1"/>
              <a:t>Wawasan</a:t>
            </a:r>
            <a:r>
              <a:rPr lang="en-US" sz="3600" b="1" dirty="0"/>
              <a:t> </a:t>
            </a:r>
            <a:r>
              <a:rPr lang="en-US" sz="3600" b="1" dirty="0" err="1"/>
              <a:t>Kemakmuran</a:t>
            </a:r>
            <a:r>
              <a:rPr lang="en-US" sz="3600" b="1" dirty="0"/>
              <a:t> Bersama)</a:t>
            </a:r>
          </a:p>
        </p:txBody>
      </p:sp>
      <p:sp>
        <p:nvSpPr>
          <p:cNvPr id="4" name="Content Placeholder 3">
            <a:extLst>
              <a:ext uri="{FF2B5EF4-FFF2-40B4-BE49-F238E27FC236}">
                <a16:creationId xmlns:a16="http://schemas.microsoft.com/office/drawing/2014/main" id="{1B25F48A-ECA0-4228-ABFC-A90E981D78F3}"/>
              </a:ext>
            </a:extLst>
          </p:cNvPr>
          <p:cNvSpPr>
            <a:spLocks noGrp="1"/>
          </p:cNvSpPr>
          <p:nvPr>
            <p:ph sz="half" idx="1"/>
          </p:nvPr>
        </p:nvSpPr>
        <p:spPr>
          <a:xfrm>
            <a:off x="318052" y="1282147"/>
            <a:ext cx="11678478" cy="5426765"/>
          </a:xfrm>
        </p:spPr>
        <p:txBody>
          <a:bodyPr>
            <a:normAutofit/>
          </a:bodyPr>
          <a:lstStyle/>
          <a:p>
            <a:pPr marL="0" indent="0">
              <a:buNone/>
            </a:pPr>
            <a:endParaRPr lang="en-US" dirty="0"/>
          </a:p>
          <a:p>
            <a:pPr marL="0" indent="0">
              <a:buNone/>
            </a:pPr>
            <a:r>
              <a:rPr lang="en-US" dirty="0"/>
              <a:t>•	</a:t>
            </a:r>
            <a:r>
              <a:rPr lang="en-US" sz="2400" dirty="0"/>
              <a:t>This vision is a continuation from Vision 2020 espoused by Tun Dr Mahathir. </a:t>
            </a:r>
          </a:p>
          <a:p>
            <a:pPr marL="0" indent="0">
              <a:buNone/>
            </a:pPr>
            <a:r>
              <a:rPr lang="en-US" sz="2400" dirty="0"/>
              <a:t>•	The primary aim of the SVP is to provide a decent standard of living to all Malaysians by 2030.</a:t>
            </a:r>
          </a:p>
          <a:p>
            <a:pPr marL="0" indent="0">
              <a:buNone/>
            </a:pPr>
            <a:r>
              <a:rPr lang="en-US" sz="2400" dirty="0"/>
              <a:t>•	Three primary objectives:</a:t>
            </a:r>
          </a:p>
          <a:p>
            <a:pPr marL="0" indent="0">
              <a:buNone/>
            </a:pPr>
            <a:r>
              <a:rPr lang="en-US" sz="2400" dirty="0"/>
              <a:t>•	Development for all</a:t>
            </a:r>
          </a:p>
          <a:p>
            <a:pPr marL="0" indent="0">
              <a:buNone/>
            </a:pPr>
            <a:r>
              <a:rPr lang="en-US" sz="2400" dirty="0"/>
              <a:t>•	Addressing Wealth and Income Disparities</a:t>
            </a:r>
          </a:p>
          <a:p>
            <a:pPr marL="0" indent="0">
              <a:buNone/>
            </a:pPr>
            <a:r>
              <a:rPr lang="en-US" sz="2400" dirty="0"/>
              <a:t>•	United, Prosperous and Dignified Nation</a:t>
            </a:r>
          </a:p>
          <a:p>
            <a:pPr marL="0" indent="0">
              <a:buNone/>
            </a:pPr>
            <a:r>
              <a:rPr lang="en-US" sz="2400" dirty="0"/>
              <a:t>•	Further details : http://www.epu.gov.my/sites/default/files/2020 02/Shared%20Prosperity%20Vision%202030.pdf</a:t>
            </a:r>
          </a:p>
          <a:p>
            <a:pPr marL="0" indent="0">
              <a:buNone/>
            </a:pPr>
            <a:endParaRPr lang="en-MY" dirty="0"/>
          </a:p>
        </p:txBody>
      </p:sp>
    </p:spTree>
    <p:extLst>
      <p:ext uri="{BB962C8B-B14F-4D97-AF65-F5344CB8AC3E}">
        <p14:creationId xmlns:p14="http://schemas.microsoft.com/office/powerpoint/2010/main" val="120726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C1E5-06C0-43D8-A2E1-A0A2DA21F2AB}"/>
              </a:ext>
            </a:extLst>
          </p:cNvPr>
          <p:cNvSpPr>
            <a:spLocks noGrp="1"/>
          </p:cNvSpPr>
          <p:nvPr>
            <p:ph type="title"/>
          </p:nvPr>
        </p:nvSpPr>
        <p:spPr>
          <a:xfrm>
            <a:off x="1302094" y="278296"/>
            <a:ext cx="9404723" cy="829430"/>
          </a:xfrm>
        </p:spPr>
        <p:txBody>
          <a:bodyPr/>
          <a:lstStyle/>
          <a:p>
            <a:pPr algn="ctr"/>
            <a:r>
              <a:rPr lang="en-US" sz="4000" b="1" dirty="0"/>
              <a:t>FOREIGN POLICY</a:t>
            </a:r>
            <a:endParaRPr lang="en-MY" sz="4000" b="1" dirty="0"/>
          </a:p>
        </p:txBody>
      </p:sp>
      <p:sp>
        <p:nvSpPr>
          <p:cNvPr id="3" name="Content Placeholder 2">
            <a:extLst>
              <a:ext uri="{FF2B5EF4-FFF2-40B4-BE49-F238E27FC236}">
                <a16:creationId xmlns:a16="http://schemas.microsoft.com/office/drawing/2014/main" id="{38D34A72-2092-4B2F-9B0A-F665D2721EE0}"/>
              </a:ext>
            </a:extLst>
          </p:cNvPr>
          <p:cNvSpPr>
            <a:spLocks noGrp="1"/>
          </p:cNvSpPr>
          <p:nvPr>
            <p:ph idx="1"/>
          </p:nvPr>
        </p:nvSpPr>
        <p:spPr>
          <a:xfrm>
            <a:off x="218661" y="1172817"/>
            <a:ext cx="11777869" cy="5406887"/>
          </a:xfrm>
        </p:spPr>
        <p:txBody>
          <a:bodyPr>
            <a:normAutofit/>
          </a:bodyPr>
          <a:lstStyle/>
          <a:p>
            <a:pPr marL="342900" lvl="0" indent="-342900" algn="just">
              <a:spcAft>
                <a:spcPts val="800"/>
              </a:spcAft>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Types of relationship (foreign relations</a:t>
            </a:r>
            <a:endParaRPr lang="en-MY"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Prime Ministers’ approaches</a:t>
            </a:r>
            <a:endParaRPr lang="en-MY"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Regional  and international cooperation </a:t>
            </a:r>
            <a:endParaRPr lang="en-MY" sz="1600" dirty="0">
              <a:effectLst/>
              <a:latin typeface="Times New Roman" panose="02020603050405020304" pitchFamily="18" charset="0"/>
              <a:ea typeface="Times New Roman" panose="02020603050405020304" pitchFamily="18" charset="0"/>
            </a:endParaRPr>
          </a:p>
          <a:p>
            <a:pPr marL="0" indent="0" algn="ctr">
              <a:spcAft>
                <a:spcPts val="800"/>
              </a:spcAft>
              <a:buNone/>
            </a:pPr>
            <a:r>
              <a:rPr lang="en-US" sz="3200" b="1" dirty="0">
                <a:effectLst/>
                <a:latin typeface="Times New Roman" panose="02020603050405020304" pitchFamily="18" charset="0"/>
                <a:ea typeface="Times New Roman" panose="02020603050405020304" pitchFamily="18" charset="0"/>
              </a:rPr>
              <a:t>MALAYSIA’S FOREIGN POLICY</a:t>
            </a:r>
            <a:endParaRPr lang="en-MY" sz="3200" b="1"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600" dirty="0">
                <a:effectLst/>
                <a:latin typeface="Arial" panose="020B0604020202020204" pitchFamily="34" charset="0"/>
                <a:ea typeface="Arial" panose="020B0604020202020204" pitchFamily="34" charset="0"/>
                <a:cs typeface="Arial" panose="020B0604020202020204" pitchFamily="34" charset="0"/>
              </a:rPr>
              <a:t>An independent, principled and pragmatic foreign policy, founded on the values of peace, humanity, justice, and equality </a:t>
            </a:r>
            <a:endParaRPr lang="en-MY" sz="16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600" b="1" dirty="0">
                <a:effectLst/>
                <a:latin typeface="Arial" panose="020B0604020202020204" pitchFamily="34" charset="0"/>
                <a:ea typeface="Arial" panose="020B0604020202020204" pitchFamily="34" charset="0"/>
                <a:cs typeface="Arial" panose="020B0604020202020204" pitchFamily="34" charset="0"/>
              </a:rPr>
              <a:t>Key principles </a:t>
            </a:r>
            <a:r>
              <a:rPr lang="en-US" sz="1600" dirty="0">
                <a:effectLst/>
                <a:latin typeface="Arial" panose="020B0604020202020204" pitchFamily="34" charset="0"/>
                <a:ea typeface="Arial" panose="020B0604020202020204" pitchFamily="34" charset="0"/>
                <a:cs typeface="Arial" panose="020B0604020202020204" pitchFamily="34" charset="0"/>
              </a:rPr>
              <a:t>of Malaysia’s foreign Policy:</a:t>
            </a:r>
            <a:endParaRPr lang="en-MY" sz="16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1600" dirty="0">
                <a:effectLst/>
                <a:latin typeface="Arial" panose="020B0604020202020204" pitchFamily="34" charset="0"/>
                <a:ea typeface="Arial" panose="020B0604020202020204" pitchFamily="34" charset="0"/>
                <a:cs typeface="Arial" panose="020B0604020202020204" pitchFamily="34" charset="0"/>
              </a:rPr>
              <a:t>Promoting and defending Malaysia’s national interest</a:t>
            </a:r>
            <a:endParaRPr lang="en-MY" sz="16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1600" dirty="0">
                <a:effectLst/>
                <a:latin typeface="Arial" panose="020B0604020202020204" pitchFamily="34" charset="0"/>
                <a:ea typeface="Arial" panose="020B0604020202020204" pitchFamily="34" charset="0"/>
                <a:cs typeface="Arial" panose="020B0604020202020204" pitchFamily="34" charset="0"/>
              </a:rPr>
              <a:t>Defending and promoting the country’s national security</a:t>
            </a:r>
            <a:endParaRPr lang="en-MY" sz="16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1600" dirty="0">
                <a:effectLst/>
                <a:latin typeface="Arial" panose="020B0604020202020204" pitchFamily="34" charset="0"/>
                <a:ea typeface="Arial" panose="020B0604020202020204" pitchFamily="34" charset="0"/>
                <a:cs typeface="Arial" panose="020B0604020202020204" pitchFamily="34" charset="0"/>
              </a:rPr>
              <a:t>Protecting and promoting the country’s vital economic interests</a:t>
            </a:r>
            <a:endParaRPr lang="en-MY" sz="16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1600" dirty="0">
                <a:effectLst/>
                <a:latin typeface="Arial" panose="020B0604020202020204" pitchFamily="34" charset="0"/>
                <a:ea typeface="Arial" panose="020B0604020202020204" pitchFamily="34" charset="0"/>
                <a:cs typeface="Arial" panose="020B0604020202020204" pitchFamily="34" charset="0"/>
              </a:rPr>
              <a:t>Safeguarding Malaysia’s socio-political system</a:t>
            </a:r>
            <a:endParaRPr lang="en-MY" sz="16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1600" dirty="0">
                <a:effectLst/>
                <a:latin typeface="Arial" panose="020B0604020202020204" pitchFamily="34" charset="0"/>
                <a:ea typeface="Arial" panose="020B0604020202020204" pitchFamily="34" charset="0"/>
                <a:cs typeface="Arial" panose="020B0604020202020204" pitchFamily="34" charset="0"/>
              </a:rPr>
              <a:t>Building an international system based on the principles of international law and the principle of justice</a:t>
            </a:r>
            <a:endParaRPr lang="en-MY" sz="1600" dirty="0">
              <a:effectLst/>
              <a:latin typeface="Arial" panose="020B0604020202020204" pitchFamily="34" charset="0"/>
              <a:ea typeface="Arial" panose="020B0604020202020204" pitchFamily="34" charset="0"/>
              <a:cs typeface="Arial" panose="020B0604020202020204" pitchFamily="34" charset="0"/>
            </a:endParaRPr>
          </a:p>
          <a:p>
            <a:endParaRPr lang="en-MY" dirty="0"/>
          </a:p>
        </p:txBody>
      </p:sp>
    </p:spTree>
    <p:extLst>
      <p:ext uri="{BB962C8B-B14F-4D97-AF65-F5344CB8AC3E}">
        <p14:creationId xmlns:p14="http://schemas.microsoft.com/office/powerpoint/2010/main" val="3784115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A23F38-DEBA-4563-BBFD-8AEE735A882E}"/>
              </a:ext>
            </a:extLst>
          </p:cNvPr>
          <p:cNvSpPr>
            <a:spLocks noGrp="1"/>
          </p:cNvSpPr>
          <p:nvPr>
            <p:ph idx="1"/>
          </p:nvPr>
        </p:nvSpPr>
        <p:spPr>
          <a:xfrm>
            <a:off x="251791" y="1172816"/>
            <a:ext cx="11688417" cy="5506279"/>
          </a:xfrm>
        </p:spPr>
        <p:txBody>
          <a:bodyPr>
            <a:normAutofit/>
          </a:bodyPr>
          <a:lstStyle/>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Ministry of Foreign Affairs (Wisma Putra) is responsible to conduct Malaysia's foreign relations with other</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Largely influenced and shaped by three key factors: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Domestic factors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Extension of domestic/public policies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Its unique demography</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External factors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Global and regional events, trends and process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Its strategic location in Southeast Asia </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its attributes as a trading nation </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The idiosyncratic factors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1143000" lvl="2" indent="-2286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Leadership of the Prime Ministers</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0" indent="0">
              <a:buNone/>
            </a:pPr>
            <a:endParaRPr lang="en-MY" dirty="0"/>
          </a:p>
        </p:txBody>
      </p:sp>
    </p:spTree>
    <p:extLst>
      <p:ext uri="{BB962C8B-B14F-4D97-AF65-F5344CB8AC3E}">
        <p14:creationId xmlns:p14="http://schemas.microsoft.com/office/powerpoint/2010/main" val="3431161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1181453-7459-E0DD-642D-CA05824B4C65}"/>
              </a:ext>
            </a:extLst>
          </p:cNvPr>
          <p:cNvSpPr>
            <a:spLocks noGrp="1"/>
          </p:cNvSpPr>
          <p:nvPr>
            <p:ph type="body" idx="1"/>
          </p:nvPr>
        </p:nvSpPr>
        <p:spPr>
          <a:xfrm>
            <a:off x="327991" y="1143794"/>
            <a:ext cx="5768009" cy="576262"/>
          </a:xfrm>
        </p:spPr>
        <p:txBody>
          <a:bodyPr/>
          <a:lstStyle/>
          <a:p>
            <a:pPr algn="ctr"/>
            <a:r>
              <a:rPr lang="de-DE" sz="3200" b="1" dirty="0"/>
              <a:t>1.</a:t>
            </a:r>
            <a:r>
              <a:rPr lang="de-DE" b="1" dirty="0"/>
              <a:t>	Tunku Abdul Rahman : 1957-1970</a:t>
            </a:r>
            <a:endParaRPr lang="en-MY" sz="3200" b="1" dirty="0"/>
          </a:p>
        </p:txBody>
      </p:sp>
      <p:sp>
        <p:nvSpPr>
          <p:cNvPr id="6" name="Content Placeholder 5">
            <a:extLst>
              <a:ext uri="{FF2B5EF4-FFF2-40B4-BE49-F238E27FC236}">
                <a16:creationId xmlns:a16="http://schemas.microsoft.com/office/drawing/2014/main" id="{75D44071-7E0B-D619-07B3-9D48102862FF}"/>
              </a:ext>
            </a:extLst>
          </p:cNvPr>
          <p:cNvSpPr>
            <a:spLocks noGrp="1"/>
          </p:cNvSpPr>
          <p:nvPr>
            <p:ph sz="half" idx="2"/>
          </p:nvPr>
        </p:nvSpPr>
        <p:spPr>
          <a:xfrm>
            <a:off x="159026" y="1828800"/>
            <a:ext cx="6251713" cy="4939748"/>
          </a:xfrm>
          <a:solidFill>
            <a:schemeClr val="accent4"/>
          </a:solidFill>
        </p:spPr>
        <p:txBody>
          <a:bodyPr>
            <a:normAutofit/>
          </a:bodyPr>
          <a:lstStyle/>
          <a:p>
            <a:pPr marL="0" indent="0" algn="just">
              <a:spcAft>
                <a:spcPts val="800"/>
              </a:spcAft>
              <a:buNone/>
            </a:pPr>
            <a:r>
              <a:rPr lang="en-US" sz="2100" b="1" dirty="0">
                <a:effectLst/>
                <a:latin typeface="Times New Roman" panose="02020603050405020304" pitchFamily="18" charset="0"/>
                <a:ea typeface="Times New Roman" panose="02020603050405020304" pitchFamily="18" charset="0"/>
              </a:rPr>
              <a:t>•	Pro- Western and Anti- Communist Approach</a:t>
            </a:r>
          </a:p>
          <a:p>
            <a:pPr marL="0" indent="0" algn="just">
              <a:spcAft>
                <a:spcPts val="800"/>
              </a:spcAft>
              <a:buNone/>
            </a:pPr>
            <a:r>
              <a:rPr lang="en-US" sz="2100" b="1" dirty="0">
                <a:effectLst/>
                <a:latin typeface="Times New Roman" panose="02020603050405020304" pitchFamily="18" charset="0"/>
                <a:ea typeface="Times New Roman" panose="02020603050405020304" pitchFamily="18" charset="0"/>
              </a:rPr>
              <a:t>•	Due to: Communist insurgency during his tenure, Confrontation with Indonesia and Cold War</a:t>
            </a:r>
          </a:p>
          <a:p>
            <a:pPr marL="0" indent="0">
              <a:buNone/>
            </a:pPr>
            <a:endParaRPr lang="en-MY" dirty="0"/>
          </a:p>
        </p:txBody>
      </p:sp>
      <p:sp>
        <p:nvSpPr>
          <p:cNvPr id="7" name="Text Placeholder 6">
            <a:extLst>
              <a:ext uri="{FF2B5EF4-FFF2-40B4-BE49-F238E27FC236}">
                <a16:creationId xmlns:a16="http://schemas.microsoft.com/office/drawing/2014/main" id="{90D8A984-D17D-F362-F19D-AE429F89157F}"/>
              </a:ext>
            </a:extLst>
          </p:cNvPr>
          <p:cNvSpPr>
            <a:spLocks noGrp="1"/>
          </p:cNvSpPr>
          <p:nvPr>
            <p:ph type="body" sz="quarter" idx="3"/>
          </p:nvPr>
        </p:nvSpPr>
        <p:spPr>
          <a:xfrm>
            <a:off x="6794240" y="1263374"/>
            <a:ext cx="4957935" cy="506102"/>
          </a:xfrm>
        </p:spPr>
        <p:txBody>
          <a:bodyPr/>
          <a:lstStyle/>
          <a:p>
            <a:pPr algn="ctr"/>
            <a:endParaRPr lang="en-US" b="1" dirty="0"/>
          </a:p>
          <a:p>
            <a:pPr algn="ctr"/>
            <a:r>
              <a:rPr lang="en-US" b="1" dirty="0"/>
              <a:t>2.	Tun Abdul Razak : 1970-1976</a:t>
            </a:r>
            <a:endParaRPr lang="en-MY" b="1" dirty="0"/>
          </a:p>
        </p:txBody>
      </p:sp>
      <p:sp>
        <p:nvSpPr>
          <p:cNvPr id="8" name="Content Placeholder 7">
            <a:extLst>
              <a:ext uri="{FF2B5EF4-FFF2-40B4-BE49-F238E27FC236}">
                <a16:creationId xmlns:a16="http://schemas.microsoft.com/office/drawing/2014/main" id="{68991973-7BCF-FEFF-6621-4E28A9286699}"/>
              </a:ext>
            </a:extLst>
          </p:cNvPr>
          <p:cNvSpPr>
            <a:spLocks noGrp="1"/>
          </p:cNvSpPr>
          <p:nvPr>
            <p:ph sz="quarter" idx="4"/>
          </p:nvPr>
        </p:nvSpPr>
        <p:spPr>
          <a:xfrm>
            <a:off x="6602897" y="1918252"/>
            <a:ext cx="5340625" cy="4631635"/>
          </a:xfrm>
          <a:solidFill>
            <a:schemeClr val="accent6">
              <a:lumMod val="75000"/>
            </a:schemeClr>
          </a:solidFill>
        </p:spPr>
        <p:txBody>
          <a:bodyPr>
            <a:normAutofit/>
          </a:bodyPr>
          <a:lstStyle/>
          <a:p>
            <a:pPr marL="0" indent="0">
              <a:buNone/>
            </a:pPr>
            <a:r>
              <a:rPr lang="en-US" sz="2100" dirty="0"/>
              <a:t>•	Non-alignment policy</a:t>
            </a:r>
          </a:p>
          <a:p>
            <a:pPr marL="0" indent="0">
              <a:buNone/>
            </a:pPr>
            <a:r>
              <a:rPr lang="en-US" sz="2100" dirty="0"/>
              <a:t>•	Due to: The end of Confrontation with Indonesia, Communist victory in Indochina, the ending of treaty with British in 1971</a:t>
            </a:r>
          </a:p>
          <a:p>
            <a:pPr marL="0" indent="0">
              <a:buNone/>
            </a:pPr>
            <a:r>
              <a:rPr lang="en-US" sz="2100" dirty="0"/>
              <a:t>•	Involve in non-alignment movement and establish a strong regional alignment through ASEAN</a:t>
            </a:r>
          </a:p>
          <a:p>
            <a:endParaRPr lang="en-MY" dirty="0"/>
          </a:p>
        </p:txBody>
      </p:sp>
      <p:sp>
        <p:nvSpPr>
          <p:cNvPr id="2" name="TextBox 1">
            <a:extLst>
              <a:ext uri="{FF2B5EF4-FFF2-40B4-BE49-F238E27FC236}">
                <a16:creationId xmlns:a16="http://schemas.microsoft.com/office/drawing/2014/main" id="{BB276710-D4A7-BEFF-8B95-BE0CB19EC046}"/>
              </a:ext>
            </a:extLst>
          </p:cNvPr>
          <p:cNvSpPr txBox="1"/>
          <p:nvPr/>
        </p:nvSpPr>
        <p:spPr>
          <a:xfrm>
            <a:off x="2269559" y="262142"/>
            <a:ext cx="7003649" cy="861774"/>
          </a:xfrm>
          <a:prstGeom prst="rect">
            <a:avLst/>
          </a:prstGeom>
          <a:noFill/>
        </p:spPr>
        <p:txBody>
          <a:bodyPr wrap="none" rtlCol="0">
            <a:spAutoFit/>
          </a:bodyPr>
          <a:lstStyle/>
          <a:p>
            <a:pPr algn="ctr"/>
            <a:r>
              <a:rPr lang="en-US" sz="3200" b="1" dirty="0">
                <a:solidFill>
                  <a:schemeClr val="accent3">
                    <a:lumMod val="75000"/>
                  </a:schemeClr>
                </a:solidFill>
                <a:effectLst/>
                <a:latin typeface="Times New Roman" panose="02020603050405020304" pitchFamily="18" charset="0"/>
                <a:ea typeface="Times New Roman" panose="02020603050405020304" pitchFamily="18" charset="0"/>
              </a:rPr>
              <a:t>PRIME MINISTER’S APPROACHES</a:t>
            </a:r>
            <a:endParaRPr lang="en-MY" sz="3200" b="1" dirty="0">
              <a:solidFill>
                <a:schemeClr val="accent3">
                  <a:lumMod val="75000"/>
                </a:schemeClr>
              </a:solidFill>
              <a:effectLst/>
              <a:latin typeface="Times New Roman" panose="02020603050405020304" pitchFamily="18" charset="0"/>
              <a:ea typeface="Times New Roman" panose="02020603050405020304" pitchFamily="18" charset="0"/>
            </a:endParaRPr>
          </a:p>
          <a:p>
            <a:endParaRPr lang="en-MY" dirty="0"/>
          </a:p>
        </p:txBody>
      </p:sp>
    </p:spTree>
    <p:extLst>
      <p:ext uri="{BB962C8B-B14F-4D97-AF65-F5344CB8AC3E}">
        <p14:creationId xmlns:p14="http://schemas.microsoft.com/office/powerpoint/2010/main" val="1111185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5257800"/>
            <a:ext cx="8229600" cy="1143000"/>
          </a:xfrm>
        </p:spPr>
        <p:txBody>
          <a:bodyPr>
            <a:normAutofit/>
          </a:bodyPr>
          <a:lstStyle/>
          <a:p>
            <a:r>
              <a:rPr lang="en-US" sz="2000" b="1" dirty="0" err="1"/>
              <a:t>Tun</a:t>
            </a:r>
            <a:r>
              <a:rPr lang="en-US" sz="2000" b="1" dirty="0"/>
              <a:t> </a:t>
            </a:r>
            <a:r>
              <a:rPr lang="en-US" sz="2000" b="1" dirty="0" err="1"/>
              <a:t>Razak</a:t>
            </a:r>
            <a:r>
              <a:rPr lang="en-US" sz="2000" b="1" dirty="0"/>
              <a:t> and Chairman Mao shaking hands when they met in Beijing</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0800" y="457200"/>
            <a:ext cx="7010400" cy="4669833"/>
          </a:xfrm>
        </p:spPr>
      </p:pic>
    </p:spTree>
    <p:extLst>
      <p:ext uri="{BB962C8B-B14F-4D97-AF65-F5344CB8AC3E}">
        <p14:creationId xmlns:p14="http://schemas.microsoft.com/office/powerpoint/2010/main" val="4102643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1181453-7459-E0DD-642D-CA05824B4C65}"/>
              </a:ext>
            </a:extLst>
          </p:cNvPr>
          <p:cNvSpPr>
            <a:spLocks noGrp="1"/>
          </p:cNvSpPr>
          <p:nvPr>
            <p:ph type="body" idx="1"/>
          </p:nvPr>
        </p:nvSpPr>
        <p:spPr>
          <a:xfrm>
            <a:off x="115992" y="150467"/>
            <a:ext cx="5347218" cy="576262"/>
          </a:xfrm>
        </p:spPr>
        <p:txBody>
          <a:bodyPr/>
          <a:lstStyle/>
          <a:p>
            <a:pPr algn="ctr"/>
            <a:r>
              <a:rPr lang="en-MY" sz="3200" b="1" dirty="0"/>
              <a:t>3.	Tun Hussein : 1976-1981</a:t>
            </a:r>
          </a:p>
        </p:txBody>
      </p:sp>
      <p:sp>
        <p:nvSpPr>
          <p:cNvPr id="6" name="Content Placeholder 5">
            <a:extLst>
              <a:ext uri="{FF2B5EF4-FFF2-40B4-BE49-F238E27FC236}">
                <a16:creationId xmlns:a16="http://schemas.microsoft.com/office/drawing/2014/main" id="{75D44071-7E0B-D619-07B3-9D48102862FF}"/>
              </a:ext>
            </a:extLst>
          </p:cNvPr>
          <p:cNvSpPr>
            <a:spLocks noGrp="1"/>
          </p:cNvSpPr>
          <p:nvPr>
            <p:ph sz="half" idx="2"/>
          </p:nvPr>
        </p:nvSpPr>
        <p:spPr>
          <a:xfrm>
            <a:off x="159027" y="844826"/>
            <a:ext cx="5340626" cy="5923722"/>
          </a:xfrm>
          <a:solidFill>
            <a:schemeClr val="accent4"/>
          </a:solidFill>
        </p:spPr>
        <p:txBody>
          <a:bodyPr>
            <a:normAutofit/>
          </a:bodyPr>
          <a:lstStyle/>
          <a:p>
            <a:pPr marL="742950" lvl="1" indent="-285750" algn="just">
              <a:spcAft>
                <a:spcPts val="800"/>
              </a:spcAft>
              <a:buFont typeface="Arial" panose="020B0604020202020204" pitchFamily="34" charset="0"/>
              <a:buChar char="•"/>
            </a:pPr>
            <a:r>
              <a:rPr lang="en-US" sz="2000" dirty="0">
                <a:effectLst/>
                <a:latin typeface="Arial" panose="020B0604020202020204" pitchFamily="34" charset="0"/>
                <a:ea typeface="Arial" panose="020B0604020202020204" pitchFamily="34" charset="0"/>
                <a:cs typeface="Arial" panose="020B0604020202020204" pitchFamily="34" charset="0"/>
              </a:rPr>
              <a:t>Non-alignment policy and </a:t>
            </a:r>
            <a:r>
              <a:rPr lang="en-US" sz="2000" b="1" i="1" dirty="0">
                <a:effectLst/>
                <a:latin typeface="Arial" panose="020B0604020202020204" pitchFamily="34" charset="0"/>
                <a:ea typeface="Arial" panose="020B0604020202020204" pitchFamily="34" charset="0"/>
                <a:cs typeface="Arial" panose="020B0604020202020204" pitchFamily="34" charset="0"/>
              </a:rPr>
              <a:t>ASEAN</a:t>
            </a:r>
            <a:endParaRPr lang="en-MY" sz="2000" dirty="0">
              <a:effectLst/>
              <a:latin typeface="Arial" panose="020B0604020202020204" pitchFamily="34" charset="0"/>
              <a:ea typeface="Arial" panose="020B0604020202020204" pitchFamily="34" charset="0"/>
              <a:cs typeface="Arial" panose="020B0604020202020204" pitchFamily="34" charset="0"/>
            </a:endParaRPr>
          </a:p>
          <a:p>
            <a:r>
              <a:rPr lang="en-US" sz="2000" dirty="0">
                <a:effectLst/>
                <a:latin typeface="Times New Roman" panose="02020603050405020304" pitchFamily="18" charset="0"/>
                <a:ea typeface="Times New Roman" panose="02020603050405020304" pitchFamily="18" charset="0"/>
              </a:rPr>
              <a:t>Strengthening relationship with ASEAN countries , established bilateral relationship with China (to persuade China to stop supporting Communist Party of Malaya)</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dirty="0"/>
          </a:p>
        </p:txBody>
      </p:sp>
      <p:sp>
        <p:nvSpPr>
          <p:cNvPr id="7" name="Text Placeholder 6">
            <a:extLst>
              <a:ext uri="{FF2B5EF4-FFF2-40B4-BE49-F238E27FC236}">
                <a16:creationId xmlns:a16="http://schemas.microsoft.com/office/drawing/2014/main" id="{90D8A984-D17D-F362-F19D-AE429F89157F}"/>
              </a:ext>
            </a:extLst>
          </p:cNvPr>
          <p:cNvSpPr>
            <a:spLocks noGrp="1"/>
          </p:cNvSpPr>
          <p:nvPr>
            <p:ph type="body" sz="quarter" idx="3"/>
          </p:nvPr>
        </p:nvSpPr>
        <p:spPr>
          <a:xfrm>
            <a:off x="5655364" y="289322"/>
            <a:ext cx="6420643" cy="506102"/>
          </a:xfrm>
        </p:spPr>
        <p:txBody>
          <a:bodyPr/>
          <a:lstStyle/>
          <a:p>
            <a:pPr algn="ctr"/>
            <a:endParaRPr lang="en-US" b="1" dirty="0"/>
          </a:p>
          <a:p>
            <a:pPr algn="ctr"/>
            <a:r>
              <a:rPr lang="de-DE" sz="3200" b="1" dirty="0"/>
              <a:t>4.	Tun Dr. Mahathir : 1981-2003</a:t>
            </a:r>
            <a:endParaRPr lang="en-MY" sz="3200" b="1" dirty="0"/>
          </a:p>
        </p:txBody>
      </p:sp>
      <p:sp>
        <p:nvSpPr>
          <p:cNvPr id="8" name="Content Placeholder 7">
            <a:extLst>
              <a:ext uri="{FF2B5EF4-FFF2-40B4-BE49-F238E27FC236}">
                <a16:creationId xmlns:a16="http://schemas.microsoft.com/office/drawing/2014/main" id="{68991973-7BCF-FEFF-6621-4E28A9286699}"/>
              </a:ext>
            </a:extLst>
          </p:cNvPr>
          <p:cNvSpPr>
            <a:spLocks noGrp="1"/>
          </p:cNvSpPr>
          <p:nvPr>
            <p:ph sz="quarter" idx="4"/>
          </p:nvPr>
        </p:nvSpPr>
        <p:spPr>
          <a:xfrm>
            <a:off x="5973417" y="963992"/>
            <a:ext cx="5970105" cy="5804556"/>
          </a:xfrm>
          <a:solidFill>
            <a:schemeClr val="accent6">
              <a:lumMod val="75000"/>
            </a:schemeClr>
          </a:solidFill>
        </p:spPr>
        <p:txBody>
          <a:bodyPr>
            <a:normAutofit/>
          </a:bodyPr>
          <a:lstStyle/>
          <a:p>
            <a:pPr algn="just">
              <a:spcAft>
                <a:spcPts val="800"/>
              </a:spcAft>
            </a:pPr>
            <a:r>
              <a:rPr lang="en-US" sz="1800" dirty="0">
                <a:effectLst/>
                <a:latin typeface="Times New Roman" panose="02020603050405020304" pitchFamily="18" charset="0"/>
                <a:ea typeface="Times New Roman" panose="02020603050405020304" pitchFamily="18" charset="0"/>
              </a:rPr>
              <a:t>Changed the orientation</a:t>
            </a:r>
            <a:endParaRPr lang="en-MY" sz="1800" dirty="0">
              <a:effectLst/>
              <a:latin typeface="Times New Roman" panose="02020603050405020304" pitchFamily="18" charset="0"/>
              <a:ea typeface="Times New Roman" panose="02020603050405020304" pitchFamily="18" charset="0"/>
            </a:endParaRPr>
          </a:p>
          <a:p>
            <a:pPr algn="just">
              <a:spcAft>
                <a:spcPts val="800"/>
              </a:spcAft>
            </a:pPr>
            <a:r>
              <a:rPr lang="en-US" sz="1800" dirty="0">
                <a:effectLst/>
                <a:latin typeface="Times New Roman" panose="02020603050405020304" pitchFamily="18" charset="0"/>
                <a:ea typeface="Times New Roman" panose="02020603050405020304" pitchFamily="18" charset="0"/>
              </a:rPr>
              <a:t>Emphasis -   economic interest, actively engaged in politics and economic relations</a:t>
            </a:r>
            <a:endParaRPr lang="en-MY" sz="1800" dirty="0">
              <a:effectLst/>
              <a:latin typeface="Times New Roman" panose="02020603050405020304" pitchFamily="18" charset="0"/>
              <a:ea typeface="Times New Roman" panose="02020603050405020304" pitchFamily="18" charset="0"/>
            </a:endParaRPr>
          </a:p>
          <a:p>
            <a:pPr algn="just">
              <a:spcAft>
                <a:spcPts val="800"/>
              </a:spcAft>
            </a:pPr>
            <a:r>
              <a:rPr lang="en-US" sz="1800" dirty="0">
                <a:effectLst/>
                <a:latin typeface="Times New Roman" panose="02020603050405020304" pitchFamily="18" charset="0"/>
                <a:ea typeface="Times New Roman" panose="02020603050405020304" pitchFamily="18" charset="0"/>
              </a:rPr>
              <a:t>outspoken</a:t>
            </a:r>
            <a:endParaRPr lang="en-MY"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Buy British Last, Look East Policy, United Nations, Palestinian issues, Apartheid, Antarctica and human rights issues.</a:t>
            </a:r>
            <a:endParaRPr lang="en-MY" sz="2000" dirty="0"/>
          </a:p>
        </p:txBody>
      </p:sp>
    </p:spTree>
    <p:extLst>
      <p:ext uri="{BB962C8B-B14F-4D97-AF65-F5344CB8AC3E}">
        <p14:creationId xmlns:p14="http://schemas.microsoft.com/office/powerpoint/2010/main" val="22620920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1181453-7459-E0DD-642D-CA05824B4C65}"/>
              </a:ext>
            </a:extLst>
          </p:cNvPr>
          <p:cNvSpPr>
            <a:spLocks noGrp="1"/>
          </p:cNvSpPr>
          <p:nvPr>
            <p:ph type="body" idx="1"/>
          </p:nvPr>
        </p:nvSpPr>
        <p:spPr>
          <a:xfrm>
            <a:off x="111021" y="507293"/>
            <a:ext cx="4972843" cy="576262"/>
          </a:xfrm>
        </p:spPr>
        <p:txBody>
          <a:bodyPr/>
          <a:lstStyle/>
          <a:p>
            <a:pPr algn="ctr"/>
            <a:r>
              <a:rPr lang="en-MY" sz="3200" b="1" dirty="0"/>
              <a:t>5.	Tun Abdullah : 2003-2009</a:t>
            </a:r>
          </a:p>
        </p:txBody>
      </p:sp>
      <p:sp>
        <p:nvSpPr>
          <p:cNvPr id="6" name="Content Placeholder 5">
            <a:extLst>
              <a:ext uri="{FF2B5EF4-FFF2-40B4-BE49-F238E27FC236}">
                <a16:creationId xmlns:a16="http://schemas.microsoft.com/office/drawing/2014/main" id="{75D44071-7E0B-D619-07B3-9D48102862FF}"/>
              </a:ext>
            </a:extLst>
          </p:cNvPr>
          <p:cNvSpPr>
            <a:spLocks noGrp="1"/>
          </p:cNvSpPr>
          <p:nvPr>
            <p:ph sz="half" idx="2"/>
          </p:nvPr>
        </p:nvSpPr>
        <p:spPr>
          <a:xfrm>
            <a:off x="159027" y="1192696"/>
            <a:ext cx="4972842" cy="5575852"/>
          </a:xfrm>
          <a:solidFill>
            <a:schemeClr val="accent4"/>
          </a:solidFill>
        </p:spPr>
        <p:txBody>
          <a:bodyPr>
            <a:normAutofit/>
          </a:bodyPr>
          <a:lstStyle/>
          <a:p>
            <a:pPr marL="742950" lvl="1" indent="-28575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The continuation of the active foreign policy in international arena – especially in ASEAN and OICC</a:t>
            </a:r>
            <a:r>
              <a:rPr lang="en-US" sz="2000" dirty="0">
                <a:effectLst/>
                <a:latin typeface="Times New Roman" panose="02020603050405020304" pitchFamily="18" charset="0"/>
                <a:ea typeface="Times New Roman" panose="02020603050405020304" pitchFamily="18" charset="0"/>
              </a:rPr>
              <a:t>)</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dirty="0"/>
          </a:p>
        </p:txBody>
      </p:sp>
      <p:sp>
        <p:nvSpPr>
          <p:cNvPr id="7" name="Text Placeholder 6">
            <a:extLst>
              <a:ext uri="{FF2B5EF4-FFF2-40B4-BE49-F238E27FC236}">
                <a16:creationId xmlns:a16="http://schemas.microsoft.com/office/drawing/2014/main" id="{90D8A984-D17D-F362-F19D-AE429F89157F}"/>
              </a:ext>
            </a:extLst>
          </p:cNvPr>
          <p:cNvSpPr>
            <a:spLocks noGrp="1"/>
          </p:cNvSpPr>
          <p:nvPr>
            <p:ph type="body" sz="quarter" idx="3"/>
          </p:nvPr>
        </p:nvSpPr>
        <p:spPr>
          <a:xfrm>
            <a:off x="5660336" y="577453"/>
            <a:ext cx="6420643" cy="506102"/>
          </a:xfrm>
        </p:spPr>
        <p:txBody>
          <a:bodyPr/>
          <a:lstStyle/>
          <a:p>
            <a:pPr algn="ctr"/>
            <a:endParaRPr lang="en-US" b="1" dirty="0"/>
          </a:p>
          <a:p>
            <a:pPr algn="ctr"/>
            <a:r>
              <a:rPr lang="it-IT" sz="3200" b="1" dirty="0"/>
              <a:t>6.	Dato’ Seri Najib Tun Razak: 2009 – 2018</a:t>
            </a:r>
            <a:endParaRPr lang="en-MY" sz="3200" b="1" dirty="0"/>
          </a:p>
        </p:txBody>
      </p:sp>
      <p:sp>
        <p:nvSpPr>
          <p:cNvPr id="8" name="Content Placeholder 7">
            <a:extLst>
              <a:ext uri="{FF2B5EF4-FFF2-40B4-BE49-F238E27FC236}">
                <a16:creationId xmlns:a16="http://schemas.microsoft.com/office/drawing/2014/main" id="{68991973-7BCF-FEFF-6621-4E28A9286699}"/>
              </a:ext>
            </a:extLst>
          </p:cNvPr>
          <p:cNvSpPr>
            <a:spLocks noGrp="1"/>
          </p:cNvSpPr>
          <p:nvPr>
            <p:ph sz="quarter" idx="4"/>
          </p:nvPr>
        </p:nvSpPr>
        <p:spPr>
          <a:xfrm>
            <a:off x="5973417" y="1192694"/>
            <a:ext cx="5970105" cy="5575853"/>
          </a:xfrm>
          <a:solidFill>
            <a:schemeClr val="accent6">
              <a:lumMod val="75000"/>
            </a:schemeClr>
          </a:solidFill>
        </p:spPr>
        <p:txBody>
          <a:bodyPr>
            <a:normAutofit/>
          </a:bodyPr>
          <a:lstStyle/>
          <a:p>
            <a:pPr algn="just">
              <a:spcAft>
                <a:spcPts val="800"/>
              </a:spcAft>
            </a:pPr>
            <a:r>
              <a:rPr lang="en-US" sz="1800" dirty="0">
                <a:effectLst/>
                <a:latin typeface="Times New Roman" panose="02020603050405020304" pitchFamily="18" charset="0"/>
                <a:ea typeface="Times New Roman" panose="02020603050405020304" pitchFamily="18" charset="0"/>
              </a:rPr>
              <a:t>The continuation of the active foreign policy in international arena – 2 ways relations (trading partner) especially with China, Japan, Singapore,  US, Australia etc.</a:t>
            </a:r>
            <a:endParaRPr lang="en-MY" sz="2000" dirty="0"/>
          </a:p>
        </p:txBody>
      </p:sp>
    </p:spTree>
    <p:extLst>
      <p:ext uri="{BB962C8B-B14F-4D97-AF65-F5344CB8AC3E}">
        <p14:creationId xmlns:p14="http://schemas.microsoft.com/office/powerpoint/2010/main" val="2810953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1181453-7459-E0DD-642D-CA05824B4C65}"/>
              </a:ext>
            </a:extLst>
          </p:cNvPr>
          <p:cNvSpPr>
            <a:spLocks noGrp="1"/>
          </p:cNvSpPr>
          <p:nvPr>
            <p:ph type="body" idx="1"/>
          </p:nvPr>
        </p:nvSpPr>
        <p:spPr>
          <a:xfrm>
            <a:off x="111021" y="507293"/>
            <a:ext cx="4972843" cy="576262"/>
          </a:xfrm>
        </p:spPr>
        <p:txBody>
          <a:bodyPr/>
          <a:lstStyle/>
          <a:p>
            <a:pPr algn="ctr"/>
            <a:r>
              <a:rPr lang="en-MY" sz="3200" b="1" dirty="0"/>
              <a:t>Tun Mahathir : 2018-2020</a:t>
            </a:r>
          </a:p>
        </p:txBody>
      </p:sp>
      <p:sp>
        <p:nvSpPr>
          <p:cNvPr id="6" name="Content Placeholder 5">
            <a:extLst>
              <a:ext uri="{FF2B5EF4-FFF2-40B4-BE49-F238E27FC236}">
                <a16:creationId xmlns:a16="http://schemas.microsoft.com/office/drawing/2014/main" id="{75D44071-7E0B-D619-07B3-9D48102862FF}"/>
              </a:ext>
            </a:extLst>
          </p:cNvPr>
          <p:cNvSpPr>
            <a:spLocks noGrp="1"/>
          </p:cNvSpPr>
          <p:nvPr>
            <p:ph sz="half" idx="2"/>
          </p:nvPr>
        </p:nvSpPr>
        <p:spPr>
          <a:xfrm>
            <a:off x="159027" y="1192696"/>
            <a:ext cx="4972842" cy="5575852"/>
          </a:xfrm>
          <a:solidFill>
            <a:schemeClr val="accent4"/>
          </a:solidFill>
        </p:spPr>
        <p:txBody>
          <a:bodyPr>
            <a:normAutofit/>
          </a:bodyPr>
          <a:lstStyle/>
          <a:p>
            <a:pPr lvl="1" algn="just">
              <a:spcAft>
                <a:spcPts val="800"/>
              </a:spcAft>
              <a:buFont typeface="Wingdings" panose="05000000000000000000" pitchFamily="2" charset="2"/>
              <a:buChar char="Ø"/>
            </a:pPr>
            <a:r>
              <a:rPr lang="en-US" sz="1800" dirty="0">
                <a:effectLst/>
                <a:latin typeface="Times New Roman" panose="02020603050405020304" pitchFamily="18" charset="0"/>
                <a:ea typeface="Times New Roman" panose="02020603050405020304" pitchFamily="18" charset="0"/>
              </a:rPr>
              <a:t>Focus on the relations with Japan/Asia’s countries</a:t>
            </a:r>
            <a:endParaRPr lang="en-MY"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dirty="0"/>
          </a:p>
        </p:txBody>
      </p:sp>
      <p:sp>
        <p:nvSpPr>
          <p:cNvPr id="7" name="Text Placeholder 6">
            <a:extLst>
              <a:ext uri="{FF2B5EF4-FFF2-40B4-BE49-F238E27FC236}">
                <a16:creationId xmlns:a16="http://schemas.microsoft.com/office/drawing/2014/main" id="{90D8A984-D17D-F362-F19D-AE429F89157F}"/>
              </a:ext>
            </a:extLst>
          </p:cNvPr>
          <p:cNvSpPr>
            <a:spLocks noGrp="1"/>
          </p:cNvSpPr>
          <p:nvPr>
            <p:ph type="body" sz="quarter" idx="3"/>
          </p:nvPr>
        </p:nvSpPr>
        <p:spPr>
          <a:xfrm>
            <a:off x="5660336" y="577453"/>
            <a:ext cx="6420643" cy="506102"/>
          </a:xfrm>
        </p:spPr>
        <p:txBody>
          <a:bodyPr/>
          <a:lstStyle/>
          <a:p>
            <a:pPr algn="ctr"/>
            <a:endParaRPr lang="en-US" b="1" dirty="0"/>
          </a:p>
          <a:p>
            <a:pPr algn="ctr"/>
            <a:r>
              <a:rPr lang="it-IT" sz="3200" b="1" dirty="0"/>
              <a:t>6.	</a:t>
            </a:r>
            <a:r>
              <a:rPr lang="fi-FI" sz="3200" b="1" dirty="0"/>
              <a:t>Tan Sri Muhyidin Yassin : 2020 – 2021</a:t>
            </a:r>
            <a:endParaRPr lang="en-MY" sz="3200" b="1" dirty="0"/>
          </a:p>
        </p:txBody>
      </p:sp>
      <p:sp>
        <p:nvSpPr>
          <p:cNvPr id="8" name="Content Placeholder 7">
            <a:extLst>
              <a:ext uri="{FF2B5EF4-FFF2-40B4-BE49-F238E27FC236}">
                <a16:creationId xmlns:a16="http://schemas.microsoft.com/office/drawing/2014/main" id="{68991973-7BCF-FEFF-6621-4E28A9286699}"/>
              </a:ext>
            </a:extLst>
          </p:cNvPr>
          <p:cNvSpPr>
            <a:spLocks noGrp="1"/>
          </p:cNvSpPr>
          <p:nvPr>
            <p:ph sz="quarter" idx="4"/>
          </p:nvPr>
        </p:nvSpPr>
        <p:spPr>
          <a:xfrm>
            <a:off x="5973417" y="1192694"/>
            <a:ext cx="5970105" cy="5575853"/>
          </a:xfrm>
          <a:solidFill>
            <a:schemeClr val="accent6">
              <a:lumMod val="75000"/>
            </a:schemeClr>
          </a:solidFill>
        </p:spPr>
        <p:txBody>
          <a:bodyPr>
            <a:normAutofit/>
          </a:bodyPr>
          <a:lstStyle/>
          <a:p>
            <a:pPr marL="228600" algn="just">
              <a:spcAft>
                <a:spcPts val="800"/>
              </a:spcAft>
            </a:pPr>
            <a:r>
              <a:rPr lang="en-US" sz="1800" dirty="0">
                <a:effectLst/>
                <a:latin typeface="Times New Roman" panose="02020603050405020304" pitchFamily="18" charset="0"/>
                <a:ea typeface="Times New Roman" panose="02020603050405020304" pitchFamily="18" charset="0"/>
              </a:rPr>
              <a:t>Continuity of the previous orientation and foreign relations.</a:t>
            </a:r>
            <a:endParaRPr lang="en-MY" sz="1800" dirty="0">
              <a:effectLst/>
              <a:latin typeface="Times New Roman" panose="02020603050405020304" pitchFamily="18" charset="0"/>
              <a:ea typeface="Times New Roman" panose="02020603050405020304" pitchFamily="18" charset="0"/>
            </a:endParaRPr>
          </a:p>
          <a:p>
            <a:pPr marL="228600" algn="just">
              <a:spcAft>
                <a:spcPts val="800"/>
              </a:spcAft>
            </a:pPr>
            <a:r>
              <a:rPr lang="en-US" sz="1800" dirty="0">
                <a:effectLst/>
                <a:latin typeface="Times New Roman" panose="02020603050405020304" pitchFamily="18" charset="0"/>
                <a:ea typeface="Times New Roman" panose="02020603050405020304" pitchFamily="18" charset="0"/>
              </a:rPr>
              <a:t>	Cooperation related to the measure and mechanism in managing the Covid19 pandemic.</a:t>
            </a:r>
            <a:endParaRPr lang="en-MY"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Virtual diplomacy – APEC’s leader meeting 2020.</a:t>
            </a:r>
            <a:endParaRPr lang="en-MY" sz="2000" dirty="0"/>
          </a:p>
        </p:txBody>
      </p:sp>
    </p:spTree>
    <p:extLst>
      <p:ext uri="{BB962C8B-B14F-4D97-AF65-F5344CB8AC3E}">
        <p14:creationId xmlns:p14="http://schemas.microsoft.com/office/powerpoint/2010/main" val="970059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1181453-7459-E0DD-642D-CA05824B4C65}"/>
              </a:ext>
            </a:extLst>
          </p:cNvPr>
          <p:cNvSpPr>
            <a:spLocks noGrp="1"/>
          </p:cNvSpPr>
          <p:nvPr>
            <p:ph type="body" idx="1"/>
          </p:nvPr>
        </p:nvSpPr>
        <p:spPr>
          <a:xfrm>
            <a:off x="1848678" y="168378"/>
            <a:ext cx="7066722" cy="576262"/>
          </a:xfrm>
        </p:spPr>
        <p:txBody>
          <a:bodyPr/>
          <a:lstStyle/>
          <a:p>
            <a:pPr algn="ctr"/>
            <a:r>
              <a:rPr lang="en-MY" sz="3200" b="1" dirty="0"/>
              <a:t>FOREIGN RELATIONS POLICIES </a:t>
            </a:r>
          </a:p>
        </p:txBody>
      </p:sp>
      <p:sp>
        <p:nvSpPr>
          <p:cNvPr id="6" name="Content Placeholder 5">
            <a:extLst>
              <a:ext uri="{FF2B5EF4-FFF2-40B4-BE49-F238E27FC236}">
                <a16:creationId xmlns:a16="http://schemas.microsoft.com/office/drawing/2014/main" id="{75D44071-7E0B-D619-07B3-9D48102862FF}"/>
              </a:ext>
            </a:extLst>
          </p:cNvPr>
          <p:cNvSpPr>
            <a:spLocks noGrp="1"/>
          </p:cNvSpPr>
          <p:nvPr>
            <p:ph sz="half" idx="2"/>
          </p:nvPr>
        </p:nvSpPr>
        <p:spPr>
          <a:xfrm>
            <a:off x="834887" y="804275"/>
            <a:ext cx="10793896" cy="5923722"/>
          </a:xfrm>
          <a:solidFill>
            <a:schemeClr val="accent4"/>
          </a:solidFill>
        </p:spPr>
        <p:txBody>
          <a:bodyPr>
            <a:normAutofit/>
          </a:bodyPr>
          <a:lstStyle/>
          <a:p>
            <a:pPr marL="0" indent="0">
              <a:buNone/>
            </a:pPr>
            <a:r>
              <a:rPr lang="en-US" dirty="0" err="1"/>
              <a:t>i</a:t>
            </a:r>
            <a:r>
              <a:rPr lang="en-US" dirty="0"/>
              <a:t>.	Look East Policy (cooperation with East Asia, cooperation with China) </a:t>
            </a:r>
          </a:p>
          <a:p>
            <a:pPr marL="0" indent="0">
              <a:buNone/>
            </a:pPr>
            <a:r>
              <a:rPr lang="en-US" dirty="0"/>
              <a:t>ii.	Relationship with Western countries (America, Europe) </a:t>
            </a:r>
          </a:p>
          <a:p>
            <a:pPr marL="0" indent="0">
              <a:buNone/>
            </a:pPr>
            <a:r>
              <a:rPr lang="en-US" dirty="0"/>
              <a:t>iii.	Type of cooperation: Economic/trade, politics, defense, cultural, religious (ZOPEAN, free trade, issue of MH 370, MH 17, </a:t>
            </a:r>
            <a:r>
              <a:rPr lang="en-US" dirty="0" err="1"/>
              <a:t>etc</a:t>
            </a:r>
            <a:r>
              <a:rPr lang="en-US" dirty="0"/>
              <a:t>) </a:t>
            </a:r>
          </a:p>
          <a:p>
            <a:pPr marL="0" indent="0">
              <a:buNone/>
            </a:pPr>
            <a:r>
              <a:rPr lang="en-US" dirty="0"/>
              <a:t>iv.	Relations/Cooperation with Southeast Asian Countries (ASEAN) </a:t>
            </a:r>
          </a:p>
          <a:p>
            <a:pPr marL="0" indent="0">
              <a:buNone/>
            </a:pPr>
            <a:r>
              <a:rPr lang="en-US" dirty="0"/>
              <a:t>v.	Relationship with Islamic countries (OIC), issue of Palestine </a:t>
            </a:r>
          </a:p>
          <a:p>
            <a:pPr marL="0" indent="0">
              <a:buNone/>
            </a:pPr>
            <a:r>
              <a:rPr lang="en-US" dirty="0"/>
              <a:t>vi.	Relationship with African countries </a:t>
            </a:r>
          </a:p>
          <a:p>
            <a:pPr marL="0" indent="0">
              <a:buNone/>
            </a:pPr>
            <a:r>
              <a:rPr lang="en-US" dirty="0"/>
              <a:t>vii.	International cooperation as United Nations, Commonwealth Countries, South-south Cooperation </a:t>
            </a:r>
          </a:p>
          <a:p>
            <a:pPr marL="0" indent="0">
              <a:buNone/>
            </a:pPr>
            <a:r>
              <a:rPr lang="en-US" dirty="0"/>
              <a:t>viii.	Relations with Asia Pacific Regional Cooperation such as APEC </a:t>
            </a:r>
          </a:p>
          <a:p>
            <a:pPr marL="0" indent="0">
              <a:buNone/>
            </a:pPr>
            <a:r>
              <a:rPr lang="en-US" dirty="0"/>
              <a:t>ix.	Relationship with Islamic countries (OIC), issue of Palestine </a:t>
            </a:r>
          </a:p>
          <a:p>
            <a:pPr marL="0" indent="0">
              <a:buNone/>
            </a:pPr>
            <a:r>
              <a:rPr lang="en-US" dirty="0"/>
              <a:t>x.	Relationship with African countries </a:t>
            </a:r>
          </a:p>
          <a:p>
            <a:pPr marL="0" indent="0">
              <a:buNone/>
            </a:pPr>
            <a:r>
              <a:rPr lang="en-US" dirty="0"/>
              <a:t>xi.	International cooperation as United Nations, Commonwealth Countries, South-south Cooperation </a:t>
            </a:r>
          </a:p>
          <a:p>
            <a:pPr marL="0" indent="0">
              <a:buNone/>
            </a:pPr>
            <a:r>
              <a:rPr lang="en-US" dirty="0"/>
              <a:t>xii.	Relations with Asia Pacific Regional Cooperation such as APEC</a:t>
            </a:r>
          </a:p>
          <a:p>
            <a:pPr marL="0" indent="0">
              <a:buNone/>
            </a:pPr>
            <a:endParaRPr lang="en-MY" dirty="0"/>
          </a:p>
        </p:txBody>
      </p:sp>
    </p:spTree>
    <p:extLst>
      <p:ext uri="{BB962C8B-B14F-4D97-AF65-F5344CB8AC3E}">
        <p14:creationId xmlns:p14="http://schemas.microsoft.com/office/powerpoint/2010/main" val="2346994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1E762-86DF-44CA-BC33-1BF97A34AC5D}"/>
              </a:ext>
            </a:extLst>
          </p:cNvPr>
          <p:cNvSpPr>
            <a:spLocks noGrp="1"/>
          </p:cNvSpPr>
          <p:nvPr>
            <p:ph type="title"/>
          </p:nvPr>
        </p:nvSpPr>
        <p:spPr>
          <a:xfrm>
            <a:off x="944285" y="178904"/>
            <a:ext cx="9404723" cy="690282"/>
          </a:xfrm>
        </p:spPr>
        <p:txBody>
          <a:bodyPr/>
          <a:lstStyle/>
          <a:p>
            <a:pPr algn="ctr"/>
            <a:r>
              <a:rPr lang="en-US" sz="4000" b="1" dirty="0">
                <a:effectLst/>
                <a:latin typeface="Times New Roman" panose="02020603050405020304" pitchFamily="18" charset="0"/>
                <a:ea typeface="Times New Roman" panose="02020603050405020304" pitchFamily="18" charset="0"/>
              </a:rPr>
              <a:t>ASEAN</a:t>
            </a:r>
            <a:endParaRPr lang="en-MY" sz="4000" b="1" dirty="0"/>
          </a:p>
        </p:txBody>
      </p:sp>
      <p:sp>
        <p:nvSpPr>
          <p:cNvPr id="3" name="Content Placeholder 2">
            <a:extLst>
              <a:ext uri="{FF2B5EF4-FFF2-40B4-BE49-F238E27FC236}">
                <a16:creationId xmlns:a16="http://schemas.microsoft.com/office/drawing/2014/main" id="{5D3B0790-314D-40C8-9D0C-909279048AAA}"/>
              </a:ext>
            </a:extLst>
          </p:cNvPr>
          <p:cNvSpPr>
            <a:spLocks noGrp="1"/>
          </p:cNvSpPr>
          <p:nvPr>
            <p:ph idx="1"/>
          </p:nvPr>
        </p:nvSpPr>
        <p:spPr>
          <a:xfrm>
            <a:off x="178903" y="934277"/>
            <a:ext cx="11897139" cy="5844209"/>
          </a:xfrm>
        </p:spPr>
        <p:txBody>
          <a:bodyPr>
            <a:normAutofit lnSpcReduction="10000"/>
          </a:bodyPr>
          <a:lstStyle/>
          <a:p>
            <a:pPr algn="just">
              <a:spcAft>
                <a:spcPts val="800"/>
              </a:spcAft>
            </a:pPr>
            <a:r>
              <a:rPr lang="en-US" sz="1800" dirty="0">
                <a:effectLst/>
                <a:latin typeface="Times New Roman" panose="02020603050405020304" pitchFamily="18" charset="0"/>
                <a:ea typeface="Times New Roman" panose="02020603050405020304" pitchFamily="18" charset="0"/>
              </a:rPr>
              <a:t>(The </a:t>
            </a:r>
            <a:r>
              <a:rPr lang="en-US" sz="1800" dirty="0" err="1">
                <a:effectLst/>
                <a:latin typeface="Times New Roman" panose="02020603050405020304" pitchFamily="18" charset="0"/>
                <a:ea typeface="Times New Roman" panose="02020603050405020304" pitchFamily="18" charset="0"/>
              </a:rPr>
              <a:t>Organisation</a:t>
            </a:r>
            <a:r>
              <a:rPr lang="en-US" sz="1800" dirty="0">
                <a:effectLst/>
                <a:latin typeface="Times New Roman" panose="02020603050405020304" pitchFamily="18" charset="0"/>
                <a:ea typeface="Times New Roman" panose="02020603050405020304" pitchFamily="18" charset="0"/>
              </a:rPr>
              <a:t> of South East Asian Countries)</a:t>
            </a:r>
            <a:endParaRPr lang="en-MY" sz="1800" dirty="0">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Bangkok Declaration of 8 August, 1967.</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Five Foreign Ministers of the member countries were signed the declaration;</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Tun Adam Malik from Indonesia.</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Tun </a:t>
            </a:r>
            <a:r>
              <a:rPr lang="en-US" dirty="0" err="1">
                <a:effectLst/>
                <a:latin typeface="Arial" panose="020B0604020202020204" pitchFamily="34" charset="0"/>
                <a:ea typeface="Arial" panose="020B0604020202020204" pitchFamily="34" charset="0"/>
                <a:cs typeface="Arial" panose="020B0604020202020204" pitchFamily="34" charset="0"/>
              </a:rPr>
              <a:t>Thanat</a:t>
            </a:r>
            <a:r>
              <a:rPr lang="en-US" dirty="0">
                <a:effectLst/>
                <a:latin typeface="Arial" panose="020B0604020202020204" pitchFamily="34" charset="0"/>
                <a:ea typeface="Arial" panose="020B0604020202020204" pitchFamily="34" charset="0"/>
                <a:cs typeface="Arial" panose="020B0604020202020204" pitchFamily="34" charset="0"/>
              </a:rPr>
              <a:t> </a:t>
            </a:r>
            <a:r>
              <a:rPr lang="en-US" dirty="0" err="1">
                <a:effectLst/>
                <a:latin typeface="Arial" panose="020B0604020202020204" pitchFamily="34" charset="0"/>
                <a:ea typeface="Arial" panose="020B0604020202020204" pitchFamily="34" charset="0"/>
                <a:cs typeface="Arial" panose="020B0604020202020204" pitchFamily="34" charset="0"/>
              </a:rPr>
              <a:t>Khoman</a:t>
            </a:r>
            <a:r>
              <a:rPr lang="en-US" dirty="0">
                <a:effectLst/>
                <a:latin typeface="Arial" panose="020B0604020202020204" pitchFamily="34" charset="0"/>
                <a:ea typeface="Arial" panose="020B0604020202020204" pitchFamily="34" charset="0"/>
                <a:cs typeface="Arial" panose="020B0604020202020204" pitchFamily="34" charset="0"/>
              </a:rPr>
              <a:t> from Thailand.</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err="1">
                <a:effectLst/>
                <a:latin typeface="Arial" panose="020B0604020202020204" pitchFamily="34" charset="0"/>
                <a:ea typeface="Arial" panose="020B0604020202020204" pitchFamily="34" charset="0"/>
                <a:cs typeface="Arial" panose="020B0604020202020204" pitchFamily="34" charset="0"/>
              </a:rPr>
              <a:t>S.Rajaratnam</a:t>
            </a:r>
            <a:r>
              <a:rPr lang="en-US" dirty="0">
                <a:effectLst/>
                <a:latin typeface="Arial" panose="020B0604020202020204" pitchFamily="34" charset="0"/>
                <a:ea typeface="Arial" panose="020B0604020202020204" pitchFamily="34" charset="0"/>
                <a:cs typeface="Arial" panose="020B0604020202020204" pitchFamily="34" charset="0"/>
              </a:rPr>
              <a:t> from Singapore.</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err="1">
                <a:effectLst/>
                <a:latin typeface="Arial" panose="020B0604020202020204" pitchFamily="34" charset="0"/>
                <a:ea typeface="Arial" panose="020B0604020202020204" pitchFamily="34" charset="0"/>
                <a:cs typeface="Arial" panose="020B0604020202020204" pitchFamily="34" charset="0"/>
              </a:rPr>
              <a:t>Narcisco</a:t>
            </a:r>
            <a:r>
              <a:rPr lang="en-US" dirty="0">
                <a:effectLst/>
                <a:latin typeface="Arial" panose="020B0604020202020204" pitchFamily="34" charset="0"/>
                <a:ea typeface="Arial" panose="020B0604020202020204" pitchFamily="34" charset="0"/>
                <a:cs typeface="Arial" panose="020B0604020202020204" pitchFamily="34" charset="0"/>
              </a:rPr>
              <a:t> Ramos from Philippines.</a:t>
            </a:r>
            <a:endParaRPr lang="en-MY"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dirty="0">
                <a:effectLst/>
                <a:latin typeface="Arial" panose="020B0604020202020204" pitchFamily="34" charset="0"/>
                <a:ea typeface="Arial" panose="020B0604020202020204" pitchFamily="34" charset="0"/>
                <a:cs typeface="Arial" panose="020B0604020202020204" pitchFamily="34" charset="0"/>
              </a:rPr>
              <a:t>Tun Abdul Razak from Malaysia.</a:t>
            </a:r>
            <a:endParaRPr lang="en-MY"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On 7 January 1984, Brunei Darussalam joined ASEAN.</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In March 1999, Cambodia, Vietnam, Myanmar and Laos joined ASEAN.</a:t>
            </a:r>
            <a:endParaRPr lang="en-MY" sz="1800" dirty="0">
              <a:effectLst/>
              <a:latin typeface="Arial" panose="020B0604020202020204" pitchFamily="34" charset="0"/>
              <a:ea typeface="Arial" panose="020B0604020202020204" pitchFamily="34" charset="0"/>
              <a:cs typeface="Arial" panose="020B0604020202020204" pitchFamily="34" charset="0"/>
            </a:endParaRPr>
          </a:p>
          <a:p>
            <a:pPr marL="342900" lvl="0" indent="-342900" algn="just">
              <a:spcAft>
                <a:spcPts val="800"/>
              </a:spcAft>
              <a:buFont typeface="Arial" panose="020B0604020202020204" pitchFamily="34" charset="0"/>
              <a:buChar char="•"/>
            </a:pPr>
            <a:r>
              <a:rPr lang="en-US" sz="1800" dirty="0">
                <a:effectLst/>
                <a:latin typeface="Arial" panose="020B0604020202020204" pitchFamily="34" charset="0"/>
                <a:ea typeface="Arial" panose="020B0604020202020204" pitchFamily="34" charset="0"/>
                <a:cs typeface="Arial" panose="020B0604020202020204" pitchFamily="34" charset="0"/>
              </a:rPr>
              <a:t>Malaysia actively involved in ASEAN since its formation</a:t>
            </a:r>
            <a:endParaRPr lang="en-MY" sz="1800" dirty="0">
              <a:effectLst/>
              <a:latin typeface="Arial" panose="020B0604020202020204" pitchFamily="34" charset="0"/>
              <a:ea typeface="Arial" panose="020B0604020202020204" pitchFamily="34" charset="0"/>
              <a:cs typeface="Arial" panose="020B0604020202020204" pitchFamily="34" charset="0"/>
            </a:endParaRPr>
          </a:p>
          <a:p>
            <a:r>
              <a:rPr lang="en-US" sz="1800" dirty="0">
                <a:effectLst/>
                <a:latin typeface="Times New Roman" panose="02020603050405020304" pitchFamily="18" charset="0"/>
                <a:ea typeface="Times New Roman" panose="02020603050405020304" pitchFamily="18" charset="0"/>
              </a:rPr>
              <a:t>Kuala Lumpur Declaration-27 November,1971 established Zone of Peace  Freedom and Neutrality (ZOPFAN)</a:t>
            </a:r>
            <a:r>
              <a:rPr lang="en-US" sz="1800" dirty="0">
                <a:effectLst/>
                <a:latin typeface="Calibri" panose="020F0502020204030204" pitchFamily="34" charset="0"/>
                <a:ea typeface="Noto Sans Symbols"/>
                <a:cs typeface="Calibri" panose="020F0502020204030204" pitchFamily="34" charset="0"/>
              </a:rPr>
              <a:t>. </a:t>
            </a:r>
            <a:endParaRPr lang="en-MY" sz="1800" dirty="0">
              <a:effectLst/>
              <a:latin typeface="Calibri" panose="020F0502020204030204" pitchFamily="34" charset="0"/>
              <a:ea typeface="Noto Sans Symbols"/>
              <a:cs typeface="Calibri" panose="020F0502020204030204" pitchFamily="34" charset="0"/>
            </a:endParaRPr>
          </a:p>
          <a:p>
            <a:pPr marL="0" indent="0">
              <a:buNone/>
            </a:pPr>
            <a:endParaRPr lang="en-MY" sz="1800" dirty="0"/>
          </a:p>
        </p:txBody>
      </p:sp>
      <p:pic>
        <p:nvPicPr>
          <p:cNvPr id="4" name="Picture 3">
            <a:extLst>
              <a:ext uri="{FF2B5EF4-FFF2-40B4-BE49-F238E27FC236}">
                <a16:creationId xmlns:a16="http://schemas.microsoft.com/office/drawing/2014/main" id="{3C827891-677A-BB49-D90C-6C0087CFE139}"/>
              </a:ext>
            </a:extLst>
          </p:cNvPr>
          <p:cNvPicPr>
            <a:picLocks noChangeAspect="1"/>
          </p:cNvPicPr>
          <p:nvPr/>
        </p:nvPicPr>
        <p:blipFill>
          <a:blip r:embed="rId2"/>
          <a:stretch>
            <a:fillRect/>
          </a:stretch>
        </p:blipFill>
        <p:spPr>
          <a:xfrm>
            <a:off x="9734457" y="1730144"/>
            <a:ext cx="1838004" cy="1838004"/>
          </a:xfrm>
          <a:prstGeom prst="rect">
            <a:avLst/>
          </a:prstGeom>
        </p:spPr>
      </p:pic>
    </p:spTree>
    <p:extLst>
      <p:ext uri="{BB962C8B-B14F-4D97-AF65-F5344CB8AC3E}">
        <p14:creationId xmlns:p14="http://schemas.microsoft.com/office/powerpoint/2010/main" val="344279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F45C2D0-2696-449E-9CF1-49834C0939D7}"/>
              </a:ext>
            </a:extLst>
          </p:cNvPr>
          <p:cNvPicPr>
            <a:picLocks noGrp="1" noChangeAspect="1"/>
          </p:cNvPicPr>
          <p:nvPr>
            <p:ph idx="1"/>
          </p:nvPr>
        </p:nvPicPr>
        <p:blipFill>
          <a:blip r:embed="rId2"/>
          <a:stretch>
            <a:fillRect/>
          </a:stretch>
        </p:blipFill>
        <p:spPr>
          <a:xfrm>
            <a:off x="806957" y="821428"/>
            <a:ext cx="6892555" cy="5422913"/>
          </a:xfrm>
        </p:spPr>
      </p:pic>
      <p:sp>
        <p:nvSpPr>
          <p:cNvPr id="6" name="TextBox 5">
            <a:extLst>
              <a:ext uri="{FF2B5EF4-FFF2-40B4-BE49-F238E27FC236}">
                <a16:creationId xmlns:a16="http://schemas.microsoft.com/office/drawing/2014/main" id="{47AB50DC-1DF3-4841-AEE5-919C437C8F51}"/>
              </a:ext>
            </a:extLst>
          </p:cNvPr>
          <p:cNvSpPr txBox="1"/>
          <p:nvPr/>
        </p:nvSpPr>
        <p:spPr>
          <a:xfrm>
            <a:off x="7771974" y="2469402"/>
            <a:ext cx="3180521" cy="923330"/>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en-MY" sz="1800" b="0" i="0" u="none" strike="noStrike" kern="1200" cap="none" spc="0" normalizeH="0" baseline="0" noProof="0" dirty="0">
                <a:ln>
                  <a:noFill/>
                </a:ln>
                <a:solidFill>
                  <a:prstClr val="black"/>
                </a:solidFill>
                <a:effectLst/>
                <a:uLnTx/>
                <a:uFillTx/>
                <a:latin typeface="Garamond" panose="02020404030301010803"/>
                <a:ea typeface="+mn-ea"/>
                <a:cs typeface="+mn-cs"/>
              </a:rPr>
              <a:t>Southeast Asian Foreign Ministers responsible for the formation of ASEAN in 1967</a:t>
            </a:r>
          </a:p>
        </p:txBody>
      </p:sp>
    </p:spTree>
    <p:extLst>
      <p:ext uri="{BB962C8B-B14F-4D97-AF65-F5344CB8AC3E}">
        <p14:creationId xmlns:p14="http://schemas.microsoft.com/office/powerpoint/2010/main" val="901319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6401" y="533401"/>
            <a:ext cx="2066925" cy="2085975"/>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0" y="457200"/>
            <a:ext cx="6248400" cy="5867400"/>
          </a:xfrm>
          <a:prstGeom prst="rect">
            <a:avLst/>
          </a:prstGeom>
        </p:spPr>
      </p:pic>
    </p:spTree>
    <p:extLst>
      <p:ext uri="{BB962C8B-B14F-4D97-AF65-F5344CB8AC3E}">
        <p14:creationId xmlns:p14="http://schemas.microsoft.com/office/powerpoint/2010/main" val="10040421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1C0E131-E737-3BF6-D3A3-4B94F4B06CD8}"/>
              </a:ext>
            </a:extLst>
          </p:cNvPr>
          <p:cNvSpPr>
            <a:spLocks noGrp="1"/>
          </p:cNvSpPr>
          <p:nvPr>
            <p:ph type="title"/>
          </p:nvPr>
        </p:nvSpPr>
        <p:spPr>
          <a:xfrm>
            <a:off x="646111" y="452718"/>
            <a:ext cx="9404723" cy="779734"/>
          </a:xfrm>
        </p:spPr>
        <p:txBody>
          <a:bodyPr/>
          <a:lstStyle/>
          <a:p>
            <a:pPr algn="ctr"/>
            <a:r>
              <a:rPr lang="en-MY" sz="4000" b="1" dirty="0"/>
              <a:t>ASEAN 2015</a:t>
            </a:r>
          </a:p>
        </p:txBody>
      </p:sp>
      <p:sp>
        <p:nvSpPr>
          <p:cNvPr id="2" name="Content Placeholder 1">
            <a:extLst>
              <a:ext uri="{FF2B5EF4-FFF2-40B4-BE49-F238E27FC236}">
                <a16:creationId xmlns:a16="http://schemas.microsoft.com/office/drawing/2014/main" id="{DB57BCE3-A559-521C-A513-3D8676A2F68D}"/>
              </a:ext>
            </a:extLst>
          </p:cNvPr>
          <p:cNvSpPr>
            <a:spLocks noGrp="1"/>
          </p:cNvSpPr>
          <p:nvPr>
            <p:ph idx="1"/>
          </p:nvPr>
        </p:nvSpPr>
        <p:spPr>
          <a:xfrm>
            <a:off x="467139" y="1610140"/>
            <a:ext cx="11290851" cy="4638260"/>
          </a:xfrm>
        </p:spPr>
        <p:txBody>
          <a:bodyPr>
            <a:normAutofit/>
          </a:bodyPr>
          <a:lstStyle/>
          <a:p>
            <a:pPr algn="just">
              <a:spcAft>
                <a:spcPts val="800"/>
              </a:spcAft>
            </a:pPr>
            <a:r>
              <a:rPr lang="en-US" sz="2400" dirty="0">
                <a:effectLst/>
                <a:latin typeface="Arial" panose="020B0604020202020204" pitchFamily="34" charset="0"/>
                <a:ea typeface="Arial" panose="020B0604020202020204" pitchFamily="34" charset="0"/>
                <a:cs typeface="Arial" panose="020B0604020202020204" pitchFamily="34" charset="0"/>
              </a:rPr>
              <a:t>Malaysia was chairman of ASEAN in 2015</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400" dirty="0">
                <a:effectLst/>
                <a:latin typeface="Arial" panose="020B0604020202020204" pitchFamily="34" charset="0"/>
                <a:ea typeface="Arial" panose="020B0604020202020204" pitchFamily="34" charset="0"/>
                <a:cs typeface="Arial" panose="020B0604020202020204" pitchFamily="34" charset="0"/>
              </a:rPr>
              <a:t>‘ASEAN community’ 2015</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400" dirty="0">
                <a:effectLst/>
                <a:latin typeface="Arial" panose="020B0604020202020204" pitchFamily="34" charset="0"/>
                <a:ea typeface="Arial" panose="020B0604020202020204" pitchFamily="34" charset="0"/>
                <a:cs typeface="Arial" panose="020B0604020202020204" pitchFamily="34" charset="0"/>
              </a:rPr>
              <a:t>Host for 26</a:t>
            </a:r>
            <a:r>
              <a:rPr lang="en-US" sz="2400" baseline="30000" dirty="0">
                <a:effectLst/>
                <a:latin typeface="Arial" panose="020B0604020202020204" pitchFamily="34" charset="0"/>
                <a:ea typeface="Arial" panose="020B0604020202020204" pitchFamily="34" charset="0"/>
                <a:cs typeface="Arial" panose="020B0604020202020204" pitchFamily="34" charset="0"/>
              </a:rPr>
              <a:t>th</a:t>
            </a:r>
            <a:r>
              <a:rPr lang="en-US" sz="2400" dirty="0">
                <a:effectLst/>
                <a:latin typeface="Arial" panose="020B0604020202020204" pitchFamily="34" charset="0"/>
                <a:ea typeface="Arial" panose="020B0604020202020204" pitchFamily="34" charset="0"/>
                <a:cs typeface="Arial" panose="020B0604020202020204" pitchFamily="34" charset="0"/>
              </a:rPr>
              <a:t> ASEAN Summit (26-27 April 2015)</a:t>
            </a:r>
            <a:endParaRPr lang="en-MY" sz="2400" dirty="0">
              <a:effectLst/>
              <a:latin typeface="Arial" panose="020B0604020202020204" pitchFamily="34" charset="0"/>
              <a:ea typeface="Arial" panose="020B0604020202020204" pitchFamily="34" charset="0"/>
              <a:cs typeface="Arial" panose="020B0604020202020204" pitchFamily="34" charset="0"/>
            </a:endParaRPr>
          </a:p>
          <a:p>
            <a:r>
              <a:rPr lang="en-US" sz="2400" dirty="0">
                <a:effectLst/>
                <a:latin typeface="Times New Roman" panose="02020603050405020304" pitchFamily="18" charset="0"/>
                <a:ea typeface="Times New Roman" panose="02020603050405020304" pitchFamily="18" charset="0"/>
              </a:rPr>
              <a:t>Host for 27th ASEAN Summit (19-21 November 2015)</a:t>
            </a:r>
            <a:endParaRPr lang="en-MY" sz="2400" dirty="0"/>
          </a:p>
        </p:txBody>
      </p:sp>
    </p:spTree>
    <p:extLst>
      <p:ext uri="{BB962C8B-B14F-4D97-AF65-F5344CB8AC3E}">
        <p14:creationId xmlns:p14="http://schemas.microsoft.com/office/powerpoint/2010/main" val="2783097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E584-86AC-423F-A973-C1B656640585}"/>
              </a:ext>
            </a:extLst>
          </p:cNvPr>
          <p:cNvSpPr>
            <a:spLocks noGrp="1"/>
          </p:cNvSpPr>
          <p:nvPr>
            <p:ph type="title"/>
          </p:nvPr>
        </p:nvSpPr>
        <p:spPr>
          <a:xfrm>
            <a:off x="208722" y="189819"/>
            <a:ext cx="9832173" cy="1326386"/>
          </a:xfrm>
        </p:spPr>
        <p:txBody>
          <a:bodyPr/>
          <a:lstStyle/>
          <a:p>
            <a:pPr algn="ctr"/>
            <a:r>
              <a:rPr lang="en-US" b="1" dirty="0"/>
              <a:t>The Asia-Pacific Economic Cooperation (APEC)</a:t>
            </a:r>
            <a:endParaRPr lang="en-MY" b="1" dirty="0"/>
          </a:p>
        </p:txBody>
      </p:sp>
      <p:sp>
        <p:nvSpPr>
          <p:cNvPr id="3" name="Content Placeholder 2">
            <a:extLst>
              <a:ext uri="{FF2B5EF4-FFF2-40B4-BE49-F238E27FC236}">
                <a16:creationId xmlns:a16="http://schemas.microsoft.com/office/drawing/2014/main" id="{E067E074-C41C-4B87-989F-752CA0049611}"/>
              </a:ext>
            </a:extLst>
          </p:cNvPr>
          <p:cNvSpPr>
            <a:spLocks noGrp="1"/>
          </p:cNvSpPr>
          <p:nvPr>
            <p:ph idx="1"/>
          </p:nvPr>
        </p:nvSpPr>
        <p:spPr>
          <a:xfrm>
            <a:off x="440635" y="1516205"/>
            <a:ext cx="11310729" cy="4795143"/>
          </a:xfrm>
        </p:spPr>
        <p:txBody>
          <a:bodyPr>
            <a:normAutofit/>
          </a:bodyPr>
          <a:lstStyle/>
          <a:p>
            <a:pPr algn="just">
              <a:spcAft>
                <a:spcPts val="800"/>
              </a:spcAft>
            </a:pPr>
            <a:r>
              <a:rPr lang="en-US" sz="2400" dirty="0">
                <a:effectLst/>
                <a:latin typeface="Arial" panose="020B0604020202020204" pitchFamily="34" charset="0"/>
                <a:ea typeface="Arial" panose="020B0604020202020204" pitchFamily="34" charset="0"/>
                <a:cs typeface="Arial" panose="020B0604020202020204" pitchFamily="34" charset="0"/>
              </a:rPr>
              <a:t>APEC was established in 1989 as a platform to discuss on mechanisms of the growing interdependence of the Asia-Pacific region. </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400" dirty="0">
                <a:effectLst/>
                <a:latin typeface="Arial" panose="020B0604020202020204" pitchFamily="34" charset="0"/>
                <a:ea typeface="Arial" panose="020B0604020202020204" pitchFamily="34" charset="0"/>
                <a:cs typeface="Arial" panose="020B0604020202020204" pitchFamily="34" charset="0"/>
              </a:rPr>
              <a:t>APEC has 21 member countries: Australia; Brunei Darussalam; Canada; Chile; People's Republic of China; Hong Kong, China; Indonesia; Japan; Republic of Korea; Malaysia; Mexico; New Zealand; Papua New Guinea; Peru; The Philippines; The Russian Federation; Singapore; Chinese Taipei; Thailand; United States of America</a:t>
            </a:r>
            <a:endParaRPr lang="en-MY" sz="2400" dirty="0">
              <a:effectLst/>
              <a:latin typeface="Arial" panose="020B0604020202020204" pitchFamily="34" charset="0"/>
              <a:ea typeface="Arial" panose="020B0604020202020204" pitchFamily="34" charset="0"/>
              <a:cs typeface="Arial" panose="020B0604020202020204" pitchFamily="34" charset="0"/>
            </a:endParaRPr>
          </a:p>
          <a:p>
            <a:r>
              <a:rPr lang="en-US" sz="2400" dirty="0">
                <a:effectLst/>
                <a:latin typeface="Arial" panose="020B0604020202020204" pitchFamily="34" charset="0"/>
                <a:ea typeface="Times New Roman" panose="02020603050405020304" pitchFamily="18" charset="0"/>
                <a:cs typeface="Arial" panose="020B0604020202020204" pitchFamily="34" charset="0"/>
              </a:rPr>
              <a:t>Malaysia has progressively contributed to the initiatives of APEC in creating greater prosperity of the region by promoting regional economic integration</a:t>
            </a:r>
            <a:endParaRPr lang="en-US" sz="2400" dirty="0">
              <a:latin typeface="Arial" panose="020B0604020202020204" pitchFamily="34" charset="0"/>
              <a:ea typeface="ＭＳ Ｐゴシック" pitchFamily="34" charset="-128"/>
              <a:cs typeface="Arial" panose="020B0604020202020204" pitchFamily="34" charset="0"/>
            </a:endParaRPr>
          </a:p>
          <a:p>
            <a:pPr marL="0" indent="0">
              <a:buNone/>
            </a:pPr>
            <a:endParaRPr lang="en-MY" dirty="0"/>
          </a:p>
        </p:txBody>
      </p:sp>
    </p:spTree>
    <p:extLst>
      <p:ext uri="{BB962C8B-B14F-4D97-AF65-F5344CB8AC3E}">
        <p14:creationId xmlns:p14="http://schemas.microsoft.com/office/powerpoint/2010/main" val="5958189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C67B0-6D77-4B46-8789-3FDA51FDF8EE}"/>
              </a:ext>
            </a:extLst>
          </p:cNvPr>
          <p:cNvSpPr>
            <a:spLocks noGrp="1"/>
          </p:cNvSpPr>
          <p:nvPr>
            <p:ph type="title"/>
          </p:nvPr>
        </p:nvSpPr>
        <p:spPr>
          <a:xfrm>
            <a:off x="168965" y="253937"/>
            <a:ext cx="9732412" cy="830172"/>
          </a:xfrm>
        </p:spPr>
        <p:txBody>
          <a:bodyPr/>
          <a:lstStyle/>
          <a:p>
            <a:pPr algn="ctr"/>
            <a:r>
              <a:rPr lang="en-US" sz="3600" b="1" dirty="0"/>
              <a:t>Malaysia and APEC</a:t>
            </a:r>
            <a:endParaRPr lang="en-MY" sz="3600" b="1" dirty="0"/>
          </a:p>
        </p:txBody>
      </p:sp>
      <p:sp>
        <p:nvSpPr>
          <p:cNvPr id="6" name="Content Placeholder 10">
            <a:extLst>
              <a:ext uri="{FF2B5EF4-FFF2-40B4-BE49-F238E27FC236}">
                <a16:creationId xmlns:a16="http://schemas.microsoft.com/office/drawing/2014/main" id="{E08FDC1F-FCBE-4DD6-B3C7-63175DCFB7D0}"/>
              </a:ext>
            </a:extLst>
          </p:cNvPr>
          <p:cNvSpPr txBox="1">
            <a:spLocks/>
          </p:cNvSpPr>
          <p:nvPr/>
        </p:nvSpPr>
        <p:spPr>
          <a:xfrm>
            <a:off x="5565913" y="1033671"/>
            <a:ext cx="6245760" cy="5371612"/>
          </a:xfrm>
          <a:prstGeom prst="rect">
            <a:avLst/>
          </a:prstGeom>
        </p:spPr>
        <p:txBody>
          <a:bodyP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endParaRPr lang="en-MY" dirty="0"/>
          </a:p>
        </p:txBody>
      </p:sp>
      <p:sp>
        <p:nvSpPr>
          <p:cNvPr id="7" name="Content Placeholder 6">
            <a:extLst>
              <a:ext uri="{FF2B5EF4-FFF2-40B4-BE49-F238E27FC236}">
                <a16:creationId xmlns:a16="http://schemas.microsoft.com/office/drawing/2014/main" id="{3BEEE6A8-7931-8888-E4C4-228741428C93}"/>
              </a:ext>
            </a:extLst>
          </p:cNvPr>
          <p:cNvSpPr>
            <a:spLocks noGrp="1"/>
          </p:cNvSpPr>
          <p:nvPr>
            <p:ph idx="1"/>
          </p:nvPr>
        </p:nvSpPr>
        <p:spPr>
          <a:xfrm>
            <a:off x="317442" y="1222513"/>
            <a:ext cx="11599575" cy="5025887"/>
          </a:xfrm>
        </p:spPr>
        <p:txBody>
          <a:bodyPr>
            <a:normAutofit/>
          </a:bodyPr>
          <a:lstStyle/>
          <a:p>
            <a:pPr marL="342900" lvl="0" indent="-342900" algn="just">
              <a:spcAft>
                <a:spcPts val="800"/>
              </a:spcAft>
              <a:buFont typeface="Arial" panose="020B0604020202020204" pitchFamily="34" charset="0"/>
              <a:buChar char="•"/>
            </a:pPr>
            <a:r>
              <a:rPr lang="en-US" sz="2400" dirty="0">
                <a:effectLst/>
                <a:latin typeface="Arial" panose="020B0604020202020204" pitchFamily="34" charset="0"/>
                <a:ea typeface="Arial" panose="020B0604020202020204" pitchFamily="34" charset="0"/>
                <a:cs typeface="Arial" panose="020B0604020202020204" pitchFamily="34" charset="0"/>
              </a:rPr>
              <a:t>2020 - Malaysia hosted the 2020 APEC Economic Leaders’ Meeting – Virtual meeting. The theme “</a:t>
            </a:r>
            <a:r>
              <a:rPr lang="en-US" sz="2400" b="1" dirty="0">
                <a:effectLst/>
                <a:latin typeface="Arial" panose="020B0604020202020204" pitchFamily="34" charset="0"/>
                <a:ea typeface="Arial" panose="020B0604020202020204" pitchFamily="34" charset="0"/>
                <a:cs typeface="Arial" panose="020B0604020202020204" pitchFamily="34" charset="0"/>
              </a:rPr>
              <a:t>Optimizing Human Potential towards a Future of Shared Prosperity”. 3 priorities of 2020 meeting</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b="1" dirty="0">
                <a:effectLst/>
                <a:latin typeface="Arial" panose="020B0604020202020204" pitchFamily="34" charset="0"/>
                <a:ea typeface="Arial" panose="020B0604020202020204" pitchFamily="34" charset="0"/>
                <a:cs typeface="Arial" panose="020B0604020202020204" pitchFamily="34" charset="0"/>
              </a:rPr>
              <a:t>PRIORITY AREA 1: Improve the Narrative of Trade &amp; Investment</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b="1" dirty="0">
                <a:effectLst/>
                <a:latin typeface="Arial" panose="020B0604020202020204" pitchFamily="34" charset="0"/>
                <a:ea typeface="Arial" panose="020B0604020202020204" pitchFamily="34" charset="0"/>
                <a:cs typeface="Arial" panose="020B0604020202020204" pitchFamily="34" charset="0"/>
              </a:rPr>
              <a:t>PRIORITY AREA 2: Inclusive Economic Participation through</a:t>
            </a:r>
            <a:br>
              <a:rPr lang="en-US" sz="2400" b="1" dirty="0">
                <a:effectLst/>
                <a:latin typeface="Arial" panose="020B0604020202020204" pitchFamily="34" charset="0"/>
                <a:ea typeface="Arial" panose="020B0604020202020204" pitchFamily="34" charset="0"/>
                <a:cs typeface="Arial" panose="020B0604020202020204" pitchFamily="34" charset="0"/>
              </a:rPr>
            </a:br>
            <a:r>
              <a:rPr lang="en-US" sz="2400" b="1" dirty="0">
                <a:effectLst/>
                <a:latin typeface="Arial" panose="020B0604020202020204" pitchFamily="34" charset="0"/>
                <a:ea typeface="Arial" panose="020B0604020202020204" pitchFamily="34" charset="0"/>
                <a:cs typeface="Arial" panose="020B0604020202020204" pitchFamily="34" charset="0"/>
              </a:rPr>
              <a:t>Digital Economy and Technology​</a:t>
            </a:r>
            <a:endParaRPr lang="en-MY" sz="2400" dirty="0">
              <a:effectLst/>
              <a:latin typeface="Arial" panose="020B0604020202020204" pitchFamily="34" charset="0"/>
              <a:ea typeface="Arial" panose="020B0604020202020204" pitchFamily="34" charset="0"/>
              <a:cs typeface="Arial" panose="020B0604020202020204" pitchFamily="34" charset="0"/>
            </a:endParaRPr>
          </a:p>
          <a:p>
            <a:pPr marL="742950" lvl="1" indent="-285750" algn="just">
              <a:spcAft>
                <a:spcPts val="800"/>
              </a:spcAft>
              <a:buFont typeface="Arial" panose="020B0604020202020204" pitchFamily="34" charset="0"/>
              <a:buChar char="•"/>
            </a:pPr>
            <a:r>
              <a:rPr lang="en-US" sz="2400" b="1" dirty="0">
                <a:effectLst/>
                <a:latin typeface="Arial" panose="020B0604020202020204" pitchFamily="34" charset="0"/>
                <a:ea typeface="Arial" panose="020B0604020202020204" pitchFamily="34" charset="0"/>
                <a:cs typeface="Arial" panose="020B0604020202020204" pitchFamily="34" charset="0"/>
              </a:rPr>
              <a:t>PRIORITY AREA 3: Driving Innovative Sustainability</a:t>
            </a:r>
            <a:endParaRPr lang="en-MY" sz="2400" dirty="0">
              <a:effectLst/>
              <a:latin typeface="Arial" panose="020B0604020202020204" pitchFamily="34" charset="0"/>
              <a:ea typeface="Arial" panose="020B0604020202020204" pitchFamily="34" charset="0"/>
              <a:cs typeface="Arial" panose="020B0604020202020204" pitchFamily="34" charset="0"/>
            </a:endParaRPr>
          </a:p>
          <a:p>
            <a:r>
              <a:rPr lang="en-US" sz="2400" u="sng" dirty="0">
                <a:solidFill>
                  <a:srgbClr val="0563C1"/>
                </a:solidFill>
                <a:effectLst/>
                <a:latin typeface="Arial" panose="020B0604020202020204" pitchFamily="34" charset="0"/>
                <a:ea typeface="Times New Roman" panose="02020603050405020304" pitchFamily="18" charset="0"/>
                <a:cs typeface="Arial" panose="020B0604020202020204" pitchFamily="34" charset="0"/>
                <a:hlinkClick r:id="rId2"/>
              </a:rPr>
              <a:t>https://www.myapec2020.my/en/apec-malaysia-2020/theme-priority-areas/</a:t>
            </a:r>
            <a:endParaRPr lang="en-MY"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9185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82C7A-2CB2-038D-5605-E0E0ECA87369}"/>
              </a:ext>
            </a:extLst>
          </p:cNvPr>
          <p:cNvSpPr>
            <a:spLocks noGrp="1"/>
          </p:cNvSpPr>
          <p:nvPr>
            <p:ph type="title"/>
          </p:nvPr>
        </p:nvSpPr>
        <p:spPr>
          <a:xfrm>
            <a:off x="983060" y="290885"/>
            <a:ext cx="9404723" cy="637431"/>
          </a:xfrm>
        </p:spPr>
        <p:txBody>
          <a:bodyPr/>
          <a:lstStyle/>
          <a:p>
            <a:pPr algn="ctr"/>
            <a:r>
              <a:rPr lang="en-MY" sz="4000" b="1" dirty="0"/>
              <a:t>SOME MALAYSIA’S ACHIEVEMENT</a:t>
            </a:r>
          </a:p>
        </p:txBody>
      </p:sp>
      <p:sp>
        <p:nvSpPr>
          <p:cNvPr id="4" name="Content Placeholder 3">
            <a:extLst>
              <a:ext uri="{FF2B5EF4-FFF2-40B4-BE49-F238E27FC236}">
                <a16:creationId xmlns:a16="http://schemas.microsoft.com/office/drawing/2014/main" id="{6F672A0A-3D8A-CD63-62A0-4954AF004CE2}"/>
              </a:ext>
            </a:extLst>
          </p:cNvPr>
          <p:cNvSpPr>
            <a:spLocks noGrp="1"/>
          </p:cNvSpPr>
          <p:nvPr>
            <p:ph idx="1"/>
          </p:nvPr>
        </p:nvSpPr>
        <p:spPr>
          <a:xfrm>
            <a:off x="218662" y="1063487"/>
            <a:ext cx="11708296" cy="5625547"/>
          </a:xfrm>
        </p:spPr>
        <p:txBody>
          <a:bodyPr/>
          <a:lstStyle/>
          <a:p>
            <a:pPr algn="just">
              <a:spcAft>
                <a:spcPts val="800"/>
              </a:spcAft>
            </a:pPr>
            <a:r>
              <a:rPr lang="en-US" sz="2000" dirty="0">
                <a:effectLst/>
                <a:latin typeface="Arial" panose="020B0604020202020204" pitchFamily="34" charset="0"/>
                <a:ea typeface="Arial" panose="020B0604020202020204" pitchFamily="34" charset="0"/>
                <a:cs typeface="Arial" panose="020B0604020202020204" pitchFamily="34" charset="0"/>
              </a:rPr>
              <a:t>The establishment of IIUM (from OIC)</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000" dirty="0">
                <a:effectLst/>
                <a:latin typeface="Arial" panose="020B0604020202020204" pitchFamily="34" charset="0"/>
                <a:ea typeface="Arial" panose="020B0604020202020204" pitchFamily="34" charset="0"/>
                <a:cs typeface="Arial" panose="020B0604020202020204" pitchFamily="34" charset="0"/>
              </a:rPr>
              <a:t>Commonwealth (CHOGM) 1989 – Langkawi Declaration</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000" dirty="0">
                <a:effectLst/>
                <a:latin typeface="Arial" panose="020B0604020202020204" pitchFamily="34" charset="0"/>
                <a:ea typeface="Arial" panose="020B0604020202020204" pitchFamily="34" charset="0"/>
                <a:cs typeface="Arial" panose="020B0604020202020204" pitchFamily="34" charset="0"/>
              </a:rPr>
              <a:t>NAM – NAM summit in KL 2003 (Chairman of NAM 2003-2006)</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000" dirty="0">
                <a:effectLst/>
                <a:latin typeface="Arial" panose="020B0604020202020204" pitchFamily="34" charset="0"/>
                <a:ea typeface="Arial" panose="020B0604020202020204" pitchFamily="34" charset="0"/>
                <a:cs typeface="Arial" panose="020B0604020202020204" pitchFamily="34" charset="0"/>
              </a:rPr>
              <a:t>Host country for OIC meeting – OIC 10</a:t>
            </a:r>
            <a:r>
              <a:rPr lang="en-US" sz="2000" baseline="30000" dirty="0">
                <a:effectLst/>
                <a:latin typeface="Arial" panose="020B0604020202020204" pitchFamily="34" charset="0"/>
                <a:ea typeface="Arial" panose="020B0604020202020204" pitchFamily="34" charset="0"/>
                <a:cs typeface="Arial" panose="020B0604020202020204" pitchFamily="34" charset="0"/>
              </a:rPr>
              <a:t>th</a:t>
            </a:r>
            <a:r>
              <a:rPr lang="en-US" sz="2000" dirty="0">
                <a:effectLst/>
                <a:latin typeface="Arial" panose="020B0604020202020204" pitchFamily="34" charset="0"/>
                <a:ea typeface="Arial" panose="020B0604020202020204" pitchFamily="34" charset="0"/>
                <a:cs typeface="Arial" panose="020B0604020202020204" pitchFamily="34" charset="0"/>
              </a:rPr>
              <a:t> Summit in KL (2003)</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000" dirty="0">
                <a:effectLst/>
                <a:latin typeface="Arial" panose="020B0604020202020204" pitchFamily="34" charset="0"/>
                <a:ea typeface="Arial" panose="020B0604020202020204" pitchFamily="34" charset="0"/>
                <a:cs typeface="Arial" panose="020B0604020202020204" pitchFamily="34" charset="0"/>
              </a:rPr>
              <a:t>South-South Cooperation - formed Group of 15 (G-15) and Malaysia as pioneer in </a:t>
            </a:r>
            <a:r>
              <a:rPr lang="en-US" sz="2000" dirty="0" err="1">
                <a:effectLst/>
                <a:latin typeface="Arial" panose="020B0604020202020204" pitchFamily="34" charset="0"/>
                <a:ea typeface="Arial" panose="020B0604020202020204" pitchFamily="34" charset="0"/>
                <a:cs typeface="Arial" panose="020B0604020202020204" pitchFamily="34" charset="0"/>
              </a:rPr>
              <a:t>programmes</a:t>
            </a:r>
            <a:r>
              <a:rPr lang="en-US" sz="2000" dirty="0">
                <a:effectLst/>
                <a:latin typeface="Arial" panose="020B0604020202020204" pitchFamily="34" charset="0"/>
                <a:ea typeface="Arial" panose="020B0604020202020204" pitchFamily="34" charset="0"/>
                <a:cs typeface="Arial" panose="020B0604020202020204" pitchFamily="34" charset="0"/>
              </a:rPr>
              <a:t> for investment data exchange, and South-South Trade and Technology.</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000" dirty="0">
                <a:effectLst/>
                <a:latin typeface="Arial" panose="020B0604020202020204" pitchFamily="34" charset="0"/>
                <a:ea typeface="Arial" panose="020B0604020202020204" pitchFamily="34" charset="0"/>
                <a:cs typeface="Arial" panose="020B0604020202020204" pitchFamily="34" charset="0"/>
              </a:rPr>
              <a:t>Non-permanent member of Security Council of UN 2014-2016</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000" dirty="0">
                <a:effectLst/>
                <a:latin typeface="Arial" panose="020B0604020202020204" pitchFamily="34" charset="0"/>
                <a:ea typeface="Arial" panose="020B0604020202020204" pitchFamily="34" charset="0"/>
                <a:cs typeface="Arial" panose="020B0604020202020204" pitchFamily="34" charset="0"/>
              </a:rPr>
              <a:t>Host country for the 2020 APEC Economic Leaders’ Meeting – First Virtual Meeting – November 2020</a:t>
            </a:r>
            <a:endParaRPr lang="en-MY" sz="2000" dirty="0">
              <a:effectLst/>
              <a:latin typeface="Arial" panose="020B0604020202020204" pitchFamily="34" charset="0"/>
              <a:ea typeface="Arial" panose="020B0604020202020204" pitchFamily="34" charset="0"/>
              <a:cs typeface="Arial" panose="020B0604020202020204" pitchFamily="34" charset="0"/>
            </a:endParaRPr>
          </a:p>
          <a:p>
            <a:pPr algn="just">
              <a:spcAft>
                <a:spcPts val="800"/>
              </a:spcAft>
            </a:pPr>
            <a:r>
              <a:rPr lang="en-US" sz="2000" dirty="0">
                <a:effectLst/>
                <a:latin typeface="Arial" panose="020B0604020202020204" pitchFamily="34" charset="0"/>
                <a:ea typeface="Arial" panose="020B0604020202020204" pitchFamily="34" charset="0"/>
                <a:cs typeface="Arial" panose="020B0604020202020204" pitchFamily="34" charset="0"/>
              </a:rPr>
              <a:t>Malaysia plays a significant role at regional and international arena. </a:t>
            </a:r>
            <a:endParaRPr lang="en-MY" sz="2000" dirty="0">
              <a:effectLst/>
              <a:latin typeface="Arial" panose="020B0604020202020204" pitchFamily="34" charset="0"/>
              <a:ea typeface="Arial" panose="020B0604020202020204" pitchFamily="34" charset="0"/>
              <a:cs typeface="Arial" panose="020B0604020202020204" pitchFamily="34" charset="0"/>
            </a:endParaRPr>
          </a:p>
          <a:p>
            <a:r>
              <a:rPr lang="en-US" sz="2000" dirty="0">
                <a:effectLst/>
                <a:latin typeface="Arial" panose="020B0604020202020204" pitchFamily="34" charset="0"/>
                <a:ea typeface="Times New Roman" panose="02020603050405020304" pitchFamily="18" charset="0"/>
                <a:cs typeface="Arial" panose="020B0604020202020204" pitchFamily="34" charset="0"/>
              </a:rPr>
              <a:t>The effort of Malaysia in maintaining the regional and global peace and cooperation – diverse and consistent – based on internal / domestic factors and environment</a:t>
            </a:r>
            <a:endParaRPr lang="en-MY"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86930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7AA6-FB52-4C4F-9559-6F72ABDE2700}"/>
              </a:ext>
            </a:extLst>
          </p:cNvPr>
          <p:cNvSpPr>
            <a:spLocks noGrp="1"/>
          </p:cNvSpPr>
          <p:nvPr>
            <p:ph type="title"/>
          </p:nvPr>
        </p:nvSpPr>
        <p:spPr>
          <a:xfrm>
            <a:off x="646111" y="452718"/>
            <a:ext cx="9404723" cy="899004"/>
          </a:xfrm>
        </p:spPr>
        <p:txBody>
          <a:bodyPr/>
          <a:lstStyle/>
          <a:p>
            <a:pPr algn="ctr"/>
            <a:r>
              <a:rPr lang="en-MY" b="1" dirty="0"/>
              <a:t>CONCLUSION</a:t>
            </a:r>
          </a:p>
        </p:txBody>
      </p:sp>
      <p:sp>
        <p:nvSpPr>
          <p:cNvPr id="3" name="Content Placeholder 2">
            <a:extLst>
              <a:ext uri="{FF2B5EF4-FFF2-40B4-BE49-F238E27FC236}">
                <a16:creationId xmlns:a16="http://schemas.microsoft.com/office/drawing/2014/main" id="{3AB5A741-A473-4191-98A3-6D9DD96CA3D7}"/>
              </a:ext>
            </a:extLst>
          </p:cNvPr>
          <p:cNvSpPr>
            <a:spLocks noGrp="1"/>
          </p:cNvSpPr>
          <p:nvPr>
            <p:ph idx="1"/>
          </p:nvPr>
        </p:nvSpPr>
        <p:spPr>
          <a:xfrm>
            <a:off x="467140" y="1351722"/>
            <a:ext cx="11320670" cy="4896677"/>
          </a:xfrm>
        </p:spPr>
        <p:txBody>
          <a:bodyPr/>
          <a:lstStyle/>
          <a:p>
            <a:pPr algn="just">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Social policies in Malaysia – how Malaysia strengthening their social and welfare development</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80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Development/Economic policies in Malaysia – Malaysia’s effort in achieving a sustainable development</a:t>
            </a:r>
            <a:endParaRPr lang="en-MY"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400" dirty="0">
                <a:effectLst/>
                <a:latin typeface="Times New Roman" panose="02020603050405020304" pitchFamily="18" charset="0"/>
                <a:ea typeface="Times New Roman" panose="02020603050405020304" pitchFamily="18" charset="0"/>
              </a:rPr>
              <a:t>Foreign policy - the effort of Malaysia in maintaining the regional and global peace and cooperation</a:t>
            </a:r>
            <a:r>
              <a:rPr lang="en-US" sz="2400" dirty="0"/>
              <a:t>. </a:t>
            </a:r>
          </a:p>
          <a:p>
            <a:pPr marL="457200" indent="-457200" algn="just" eaLnBrk="1" fontAlgn="auto" hangingPunct="1">
              <a:spcBef>
                <a:spcPts val="0"/>
              </a:spcBef>
              <a:spcAft>
                <a:spcPts val="0"/>
              </a:spcAft>
              <a:buFont typeface="Arial" charset="0"/>
              <a:buNone/>
              <a:defRPr/>
            </a:pPr>
            <a:endParaRPr lang="en-MY" dirty="0"/>
          </a:p>
        </p:txBody>
      </p:sp>
    </p:spTree>
    <p:extLst>
      <p:ext uri="{BB962C8B-B14F-4D97-AF65-F5344CB8AC3E}">
        <p14:creationId xmlns:p14="http://schemas.microsoft.com/office/powerpoint/2010/main" val="31809234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7FDE30-B8BA-486D-C42F-59DE79C053F7}"/>
              </a:ext>
            </a:extLst>
          </p:cNvPr>
          <p:cNvSpPr>
            <a:spLocks noGrp="1"/>
          </p:cNvSpPr>
          <p:nvPr>
            <p:ph idx="1"/>
          </p:nvPr>
        </p:nvSpPr>
        <p:spPr>
          <a:xfrm>
            <a:off x="447262" y="298174"/>
            <a:ext cx="6182138" cy="6341165"/>
          </a:xfrm>
        </p:spPr>
        <p:txBody>
          <a:bodyPr>
            <a:normAutofit/>
          </a:bodyPr>
          <a:lstStyle/>
          <a:p>
            <a:pPr algn="just">
              <a:spcAft>
                <a:spcPts val="800"/>
              </a:spcAft>
            </a:pPr>
            <a:r>
              <a:rPr lang="en-US" sz="30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rPr>
              <a:t>Reflection</a:t>
            </a:r>
            <a:endParaRPr lang="en-MY" sz="2200" b="1" dirty="0">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is the meaning of public policy?</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Describe the type of public policy in Malaysia?</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is the main purpose of social policy in Malaysia?</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is the objective of National Youth Policy?</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Which ministry responsible for the welfare of community?</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was the backdrop of the introduction of NEP?</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were the objectives of NEP?</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was the major policy replaced the NEP?</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Who introduced 1Malaysia programs?</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Did Vision 2020 success?</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is the major policy replaced Vision 2020?</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MY" dirty="0"/>
          </a:p>
        </p:txBody>
      </p:sp>
      <p:sp>
        <p:nvSpPr>
          <p:cNvPr id="2" name="TextBox 1">
            <a:extLst>
              <a:ext uri="{FF2B5EF4-FFF2-40B4-BE49-F238E27FC236}">
                <a16:creationId xmlns:a16="http://schemas.microsoft.com/office/drawing/2014/main" id="{D7A24CF3-3DD3-4929-B1C3-3122F77B1FCC}"/>
              </a:ext>
            </a:extLst>
          </p:cNvPr>
          <p:cNvSpPr txBox="1"/>
          <p:nvPr/>
        </p:nvSpPr>
        <p:spPr>
          <a:xfrm>
            <a:off x="7036904" y="1580321"/>
            <a:ext cx="5049079" cy="3673763"/>
          </a:xfrm>
          <a:prstGeom prst="rect">
            <a:avLst/>
          </a:prstGeom>
          <a:noFill/>
        </p:spPr>
        <p:txBody>
          <a:bodyPr wrap="square" rtlCol="0">
            <a:spAutoFit/>
          </a:bodyPr>
          <a:lstStyle/>
          <a:p>
            <a:pPr marL="285750" lvl="0" indent="-285750" algn="just">
              <a:lnSpc>
                <a:spcPct val="150000"/>
              </a:lnSpc>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are the key principles of Malaysia’s foreign policy?</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lvl="0" indent="-285750" algn="just">
              <a:lnSpc>
                <a:spcPct val="150000"/>
              </a:lnSpc>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Name examples of Malaysia’s relation with Asia’s countries. </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lvl="0" indent="-285750" algn="just">
              <a:lnSpc>
                <a:spcPct val="150000"/>
              </a:lnSpc>
              <a:spcAft>
                <a:spcPts val="800"/>
              </a:spcAft>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What are Malaysian’s contributions to the peaceful coexistence at regional level?</a:t>
            </a:r>
            <a:endParaRPr lang="en-MY"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800" dirty="0">
                <a:effectLst/>
                <a:latin typeface="Times New Roman" panose="02020603050405020304" pitchFamily="18" charset="0"/>
                <a:ea typeface="Times New Roman" panose="02020603050405020304" pitchFamily="18" charset="0"/>
              </a:rPr>
              <a:t>What was the recent involvement/contribution  of Malaysia at international level?</a:t>
            </a:r>
            <a:endParaRPr lang="en-MY" dirty="0"/>
          </a:p>
        </p:txBody>
      </p:sp>
    </p:spTree>
    <p:extLst>
      <p:ext uri="{BB962C8B-B14F-4D97-AF65-F5344CB8AC3E}">
        <p14:creationId xmlns:p14="http://schemas.microsoft.com/office/powerpoint/2010/main" val="19806343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image" Target="../media/image6.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Ion</Template>
  <TotalTime>904</TotalTime>
  <Words>3547</Words>
  <Application>Microsoft Office PowerPoint</Application>
  <PresentationFormat>Widescreen</PresentationFormat>
  <Paragraphs>299</Paragraphs>
  <Slides>37</Slides>
  <Notes>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37</vt:i4>
      </vt:variant>
    </vt:vector>
  </HeadingPairs>
  <TitlesOfParts>
    <vt:vector size="49" baseType="lpstr">
      <vt:lpstr>Arial</vt:lpstr>
      <vt:lpstr>Calibri</vt:lpstr>
      <vt:lpstr>Century Gothic</vt:lpstr>
      <vt:lpstr>Garamond</vt:lpstr>
      <vt:lpstr>Noto Sans Symbols</vt:lpstr>
      <vt:lpstr>Times New Roman</vt:lpstr>
      <vt:lpstr>Wingdings</vt:lpstr>
      <vt:lpstr>Wingdings 3</vt:lpstr>
      <vt:lpstr>Ion</vt:lpstr>
      <vt:lpstr>1_Office Theme</vt:lpstr>
      <vt:lpstr>Office Theme</vt:lpstr>
      <vt:lpstr>Organic</vt:lpstr>
      <vt:lpstr> FEM2401 Malaysian Politics &amp; Society  TOPIC 10: MAJOR NATIONAL POLICIES </vt:lpstr>
      <vt:lpstr>PowerPoint Presentation</vt:lpstr>
      <vt:lpstr>POLICY OR PUBLIC POLICY</vt:lpstr>
      <vt:lpstr>PowerPoint Presentation</vt:lpstr>
      <vt:lpstr>PowerPoint Presentation</vt:lpstr>
      <vt:lpstr>SOCIAL POLICIES</vt:lpstr>
      <vt:lpstr>PowerPoint Presentation</vt:lpstr>
      <vt:lpstr>PowerPoint Presentation</vt:lpstr>
      <vt:lpstr>PowerPoint Presentation</vt:lpstr>
      <vt:lpstr>PowerPoint Presentation</vt:lpstr>
      <vt:lpstr>PowerPoint Presentation</vt:lpstr>
      <vt:lpstr>PowerPoint Presentation</vt:lpstr>
      <vt:lpstr>NATIONAL YOUTH POLICY</vt:lpstr>
      <vt:lpstr>NATIONAL DEVELOPMENT POLICIES</vt:lpstr>
      <vt:lpstr>PowerPoint Presentation</vt:lpstr>
      <vt:lpstr>NEW ECONOMIC POLICY (NEP)  1971 -1990</vt:lpstr>
      <vt:lpstr>PowerPoint Presentation</vt:lpstr>
      <vt:lpstr>PowerPoint Presentation</vt:lpstr>
      <vt:lpstr>DEVELOPMENT POLICIES UNDER SIXTH PRIME MINISTER (DATO’ SERI NAJIB)</vt:lpstr>
      <vt:lpstr>SHARED PROSPERITY VISION (SPV) 2030 (Wawasan Kemakmuran Bersama)</vt:lpstr>
      <vt:lpstr>FOREIGN POLICY</vt:lpstr>
      <vt:lpstr>PowerPoint Presentation</vt:lpstr>
      <vt:lpstr>PowerPoint Presentation</vt:lpstr>
      <vt:lpstr>Tun Razak and Chairman Mao shaking hands when they met in Beijing</vt:lpstr>
      <vt:lpstr>PowerPoint Presentation</vt:lpstr>
      <vt:lpstr>PowerPoint Presentation</vt:lpstr>
      <vt:lpstr>PowerPoint Presentation</vt:lpstr>
      <vt:lpstr>PowerPoint Presentation</vt:lpstr>
      <vt:lpstr>ASEAN</vt:lpstr>
      <vt:lpstr>PowerPoint Presentation</vt:lpstr>
      <vt:lpstr>PowerPoint Presentation</vt:lpstr>
      <vt:lpstr>ASEAN 2015</vt:lpstr>
      <vt:lpstr>The Asia-Pacific Economic Cooperation (APEC)</vt:lpstr>
      <vt:lpstr>Malaysia and APEC</vt:lpstr>
      <vt:lpstr>SOME MALAYSIA’S ACHIEVEMENT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MPU2163 Pengajian Malaysia 2</dc:title>
  <dc:creator>Fitri</dc:creator>
  <cp:lastModifiedBy>Amir Munshi</cp:lastModifiedBy>
  <cp:revision>269</cp:revision>
  <dcterms:created xsi:type="dcterms:W3CDTF">2021-06-21T02:18:24Z</dcterms:created>
  <dcterms:modified xsi:type="dcterms:W3CDTF">2024-01-04T23:40:33Z</dcterms:modified>
</cp:coreProperties>
</file>