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95" r:id="rId2"/>
  </p:sldMasterIdLst>
  <p:sldIdLst>
    <p:sldId id="257" r:id="rId3"/>
    <p:sldId id="258" r:id="rId4"/>
    <p:sldId id="298" r:id="rId5"/>
    <p:sldId id="302" r:id="rId6"/>
    <p:sldId id="316" r:id="rId7"/>
    <p:sldId id="310" r:id="rId8"/>
    <p:sldId id="301" r:id="rId9"/>
    <p:sldId id="311" r:id="rId10"/>
    <p:sldId id="297" r:id="rId11"/>
    <p:sldId id="300" r:id="rId12"/>
    <p:sldId id="389" r:id="rId13"/>
    <p:sldId id="390" r:id="rId14"/>
    <p:sldId id="307" r:id="rId15"/>
    <p:sldId id="312" r:id="rId16"/>
    <p:sldId id="313" r:id="rId17"/>
    <p:sldId id="259" r:id="rId18"/>
    <p:sldId id="261" r:id="rId19"/>
    <p:sldId id="262" r:id="rId20"/>
    <p:sldId id="263" r:id="rId21"/>
    <p:sldId id="267" r:id="rId22"/>
    <p:sldId id="276" r:id="rId23"/>
    <p:sldId id="30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tri" initials="F" lastIdx="1" clrIdx="0">
    <p:extLst>
      <p:ext uri="{19B8F6BF-5375-455C-9EA6-DF929625EA0E}">
        <p15:presenceInfo xmlns:p15="http://schemas.microsoft.com/office/powerpoint/2012/main" userId="Fitr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031135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404130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538075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A877A6-B9F5-4867-A3A3-392470B18AE2}" type="datetimeFigureOut">
              <a:rPr lang="en-MY" smtClean="0"/>
              <a:t>11/1/2024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117566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A877A6-B9F5-4867-A3A3-392470B18AE2}" type="datetimeFigureOut">
              <a:rPr lang="en-MY" smtClean="0"/>
              <a:t>11/1/2024</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540901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3"/>
          <p:cNvSpPr>
            <a:spLocks noGrp="1"/>
          </p:cNvSpPr>
          <p:nvPr>
            <p:ph type="ftr" sz="quarter" idx="11"/>
          </p:nvPr>
        </p:nvSpPr>
        <p:spPr/>
        <p:txBody>
          <a:bodyPr/>
          <a:lstStyle/>
          <a:p>
            <a:endParaRPr lang="en-MY"/>
          </a:p>
        </p:txBody>
      </p:sp>
      <p:sp>
        <p:nvSpPr>
          <p:cNvPr id="6" name="Slide Number Placeholder 4"/>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409658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2"/>
          <p:cNvSpPr>
            <a:spLocks noGrp="1"/>
          </p:cNvSpPr>
          <p:nvPr>
            <p:ph type="ftr" sz="quarter" idx="11"/>
          </p:nvPr>
        </p:nvSpPr>
        <p:spPr/>
        <p:txBody>
          <a:bodyPr/>
          <a:lstStyle/>
          <a:p>
            <a:endParaRPr lang="en-MY"/>
          </a:p>
        </p:txBody>
      </p:sp>
      <p:sp>
        <p:nvSpPr>
          <p:cNvPr id="6" name="Slide Number Placeholder 3"/>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056494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5"/>
          <p:cNvSpPr>
            <a:spLocks noGrp="1"/>
          </p:cNvSpPr>
          <p:nvPr>
            <p:ph type="ftr" sz="quarter" idx="11"/>
          </p:nvPr>
        </p:nvSpPr>
        <p:spPr/>
        <p:txBody>
          <a:bodyPr/>
          <a:lstStyle/>
          <a:p>
            <a:endParaRPr lang="en-MY"/>
          </a:p>
        </p:txBody>
      </p:sp>
      <p:sp>
        <p:nvSpPr>
          <p:cNvPr id="6"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395239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11/1/2024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5940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11/1/2024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927716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031378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40301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449068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217090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330266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569834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11/1/2024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468046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94664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77451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3238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264110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19849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10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71187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46515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833906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22154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81147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8A877A6-B9F5-4867-A3A3-392470B18AE2}" type="datetimeFigureOut">
              <a:rPr lang="en-MY" smtClean="0"/>
              <a:t>11/1/2024</a:t>
            </a:fld>
            <a:endParaRPr lang="en-MY"/>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MY"/>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330625C-0DFE-48EE-B4CF-6F31E8BA3B9A}" type="slidenum">
              <a:rPr lang="en-MY" smtClean="0"/>
              <a:t>‹#›</a:t>
            </a:fld>
            <a:endParaRPr lang="en-MY"/>
          </a:p>
        </p:txBody>
      </p:sp>
    </p:spTree>
    <p:extLst>
      <p:ext uri="{BB962C8B-B14F-4D97-AF65-F5344CB8AC3E}">
        <p14:creationId xmlns:p14="http://schemas.microsoft.com/office/powerpoint/2010/main" val="1589244053"/>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64999">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43EDA-DEC2-4A58-BAD0-B33D6BFF9C88}" type="datetimeFigureOut">
              <a:rPr lang="en-US" smtClean="0">
                <a:solidFill>
                  <a:prstClr val="black">
                    <a:tint val="75000"/>
                  </a:prstClr>
                </a:solidFill>
              </a:rPr>
              <a:pPr/>
              <a:t>1/11/2024</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447513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1D04A-6424-45AE-B5E7-7F06300B0972}"/>
              </a:ext>
            </a:extLst>
          </p:cNvPr>
          <p:cNvSpPr>
            <a:spLocks noGrp="1"/>
          </p:cNvSpPr>
          <p:nvPr>
            <p:ph type="ctrTitle"/>
          </p:nvPr>
        </p:nvSpPr>
        <p:spPr>
          <a:xfrm>
            <a:off x="357809" y="2514600"/>
            <a:ext cx="11559208" cy="2487595"/>
          </a:xfrm>
        </p:spPr>
        <p:txBody>
          <a:bodyPr>
            <a:normAutofit fontScale="90000"/>
          </a:bodyPr>
          <a:lstStyle/>
          <a:p>
            <a:pPr algn="ct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r>
              <a:rPr kumimoji="0" lang="en-US" sz="5300" b="0" i="0" u="none" strike="noStrike" kern="1200" cap="none" spc="0" normalizeH="0" baseline="0" noProof="0" dirty="0">
                <a:ln>
                  <a:noFill/>
                </a:ln>
                <a:solidFill>
                  <a:srgbClr val="EBEBEB"/>
                </a:solidFill>
                <a:effectLst/>
                <a:uLnTx/>
                <a:uFillTx/>
                <a:latin typeface="Century Gothic" panose="020B0502020202020204"/>
                <a:ea typeface="+mj-ea"/>
                <a:cs typeface="+mj-cs"/>
              </a:rPr>
              <a:t>FEM2401 Malaysian Politics &amp; Society</a:t>
            </a: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t>TOPIC 11:</a:t>
            </a: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t>SOCIETY AND NATIONAL IDENTITY</a:t>
            </a: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endParaRPr lang="en-MY" dirty="0"/>
          </a:p>
        </p:txBody>
      </p:sp>
      <p:sp>
        <p:nvSpPr>
          <p:cNvPr id="3" name="Subtitle 2">
            <a:extLst>
              <a:ext uri="{FF2B5EF4-FFF2-40B4-BE49-F238E27FC236}">
                <a16:creationId xmlns:a16="http://schemas.microsoft.com/office/drawing/2014/main" id="{81C0A348-4F31-4359-AF21-1556C1BD4406}"/>
              </a:ext>
            </a:extLst>
          </p:cNvPr>
          <p:cNvSpPr>
            <a:spLocks noGrp="1"/>
          </p:cNvSpPr>
          <p:nvPr>
            <p:ph type="subTitle" idx="1"/>
          </p:nvPr>
        </p:nvSpPr>
        <p:spPr>
          <a:xfrm>
            <a:off x="1697951" y="5188226"/>
            <a:ext cx="8637072" cy="1402627"/>
          </a:xfrm>
        </p:spPr>
        <p:txBody>
          <a:bodyPr>
            <a:normAutofit/>
          </a:bodyPr>
          <a:lstStyle/>
          <a:p>
            <a:pPr algn="ctr"/>
            <a:r>
              <a:rPr lang="en-US" sz="2000" dirty="0">
                <a:solidFill>
                  <a:schemeClr val="tx1"/>
                </a:solidFill>
              </a:rPr>
              <a:t>Lecturer:</a:t>
            </a:r>
          </a:p>
          <a:p>
            <a:pPr algn="ctr"/>
            <a:r>
              <a:rPr lang="en-US" sz="2000" dirty="0">
                <a:solidFill>
                  <a:schemeClr val="tx1"/>
                </a:solidFill>
              </a:rPr>
              <a:t>MUHAMMAD AMIR BIN MUNSHI</a:t>
            </a:r>
          </a:p>
          <a:p>
            <a:pPr algn="ctr"/>
            <a:endParaRPr lang="en-MY" sz="2000" dirty="0">
              <a:solidFill>
                <a:schemeClr val="tx1"/>
              </a:solidFill>
            </a:endParaRPr>
          </a:p>
        </p:txBody>
      </p:sp>
    </p:spTree>
    <p:extLst>
      <p:ext uri="{BB962C8B-B14F-4D97-AF65-F5344CB8AC3E}">
        <p14:creationId xmlns:p14="http://schemas.microsoft.com/office/powerpoint/2010/main" val="4064793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E6AEBA-5E32-4CF4-AC91-E90CAD078BC6}"/>
              </a:ext>
            </a:extLst>
          </p:cNvPr>
          <p:cNvSpPr>
            <a:spLocks noGrp="1"/>
          </p:cNvSpPr>
          <p:nvPr>
            <p:ph idx="1"/>
          </p:nvPr>
        </p:nvSpPr>
        <p:spPr>
          <a:xfrm>
            <a:off x="198783" y="208722"/>
            <a:ext cx="5297556" cy="6569765"/>
          </a:xfrm>
          <a:solidFill>
            <a:schemeClr val="accent6">
              <a:lumMod val="50000"/>
            </a:schemeClr>
          </a:solidFill>
        </p:spPr>
        <p:txBody>
          <a:bodyPr>
            <a:normAutofit/>
          </a:bodyPr>
          <a:lstStyle/>
          <a:p>
            <a:r>
              <a:rPr lang="en-US" sz="2800" b="1" dirty="0"/>
              <a:t>CONTENT:</a:t>
            </a: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Noto Sans Symbols"/>
                <a:cs typeface="Arial" panose="020B0604020202020204" pitchFamily="34" charset="0"/>
              </a:rPr>
              <a:t>Social cohesion</a:t>
            </a:r>
            <a:endParaRPr lang="en-MY" sz="2400" dirty="0">
              <a:effectLst/>
              <a:latin typeface="Arial" panose="020B0604020202020204" pitchFamily="34" charset="0"/>
              <a:ea typeface="Noto Sans Symbols"/>
              <a:cs typeface="Arial" panose="020B0604020202020204" pitchFamily="34" charset="0"/>
            </a:endParaRPr>
          </a:p>
          <a:p>
            <a:pPr lvl="1" indent="-342900" algn="just">
              <a:spcAft>
                <a:spcPts val="800"/>
              </a:spcAft>
              <a:buFont typeface="Arial" panose="020B0604020202020204" pitchFamily="34" charset="0"/>
              <a:buChar char="▪"/>
            </a:pPr>
            <a:r>
              <a:rPr lang="en-US" sz="2400" dirty="0">
                <a:effectLst/>
                <a:latin typeface="Arial" panose="020B0604020202020204" pitchFamily="34" charset="0"/>
                <a:ea typeface="Noto Sans Symbols"/>
                <a:cs typeface="Arial" panose="020B0604020202020204" pitchFamily="34" charset="0"/>
              </a:rPr>
              <a:t>National integration and unity</a:t>
            </a:r>
            <a:endParaRPr lang="en-MY" sz="2400" dirty="0">
              <a:effectLst/>
              <a:latin typeface="Arial" panose="020B0604020202020204" pitchFamily="34" charset="0"/>
              <a:ea typeface="Noto Sans Symbols"/>
              <a:cs typeface="Arial" panose="020B0604020202020204" pitchFamily="34" charset="0"/>
            </a:endParaRPr>
          </a:p>
          <a:p>
            <a:pPr lvl="1" indent="-342900" algn="just">
              <a:spcAft>
                <a:spcPts val="800"/>
              </a:spcAft>
              <a:buFont typeface="Arial" panose="020B0604020202020204" pitchFamily="34" charset="0"/>
              <a:buChar char="▪"/>
            </a:pPr>
            <a:r>
              <a:rPr lang="en-US" sz="2400" dirty="0">
                <a:effectLst/>
                <a:latin typeface="Arial" panose="020B0604020202020204" pitchFamily="34" charset="0"/>
                <a:ea typeface="Noto Sans Symbols"/>
                <a:cs typeface="Arial" panose="020B0604020202020204" pitchFamily="34" charset="0"/>
              </a:rPr>
              <a:t>National identity</a:t>
            </a:r>
            <a:endParaRPr lang="en-MY" sz="2400" dirty="0">
              <a:effectLst/>
              <a:latin typeface="Arial" panose="020B0604020202020204" pitchFamily="34" charset="0"/>
              <a:ea typeface="Noto Sans Symbols"/>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Noto Sans Symbols"/>
                <a:cs typeface="Arial" panose="020B0604020202020204" pitchFamily="34" charset="0"/>
              </a:rPr>
              <a:t>Nation building process</a:t>
            </a:r>
            <a:endParaRPr lang="en-MY" sz="2400" dirty="0">
              <a:effectLst/>
              <a:latin typeface="Arial" panose="020B0604020202020204" pitchFamily="34" charset="0"/>
              <a:ea typeface="Noto Sans Symbols"/>
              <a:cs typeface="Arial" panose="020B0604020202020204" pitchFamily="34" charset="0"/>
            </a:endParaRPr>
          </a:p>
          <a:p>
            <a:pPr lvl="1">
              <a:buFont typeface="Wingdings" panose="05000000000000000000" pitchFamily="2" charset="2"/>
              <a:buChar char="q"/>
            </a:pPr>
            <a:r>
              <a:rPr lang="en-US" sz="2400" dirty="0">
                <a:effectLst/>
                <a:latin typeface="Arial" panose="020B0604020202020204" pitchFamily="34" charset="0"/>
                <a:ea typeface="Times New Roman" panose="02020603050405020304" pitchFamily="18" charset="0"/>
                <a:cs typeface="Arial" panose="020B0604020202020204" pitchFamily="34" charset="0"/>
              </a:rPr>
              <a:t>Patriotism</a:t>
            </a:r>
            <a:endParaRPr lang="en-US" sz="2400"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28FFE846-8710-FE2F-2903-3CCC4DD34659}"/>
              </a:ext>
            </a:extLst>
          </p:cNvPr>
          <p:cNvSpPr txBox="1">
            <a:spLocks/>
          </p:cNvSpPr>
          <p:nvPr/>
        </p:nvSpPr>
        <p:spPr>
          <a:xfrm>
            <a:off x="6023113" y="738810"/>
            <a:ext cx="5201477" cy="56719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endParaRPr lang="en-US" dirty="0"/>
          </a:p>
        </p:txBody>
      </p:sp>
      <p:sp>
        <p:nvSpPr>
          <p:cNvPr id="7" name="TextBox 6">
            <a:extLst>
              <a:ext uri="{FF2B5EF4-FFF2-40B4-BE49-F238E27FC236}">
                <a16:creationId xmlns:a16="http://schemas.microsoft.com/office/drawing/2014/main" id="{EDDE213E-9FEE-485C-AFC7-E5D879798A6E}"/>
              </a:ext>
            </a:extLst>
          </p:cNvPr>
          <p:cNvSpPr txBox="1"/>
          <p:nvPr/>
        </p:nvSpPr>
        <p:spPr>
          <a:xfrm>
            <a:off x="6023113" y="1974574"/>
            <a:ext cx="5572539" cy="2410916"/>
          </a:xfrm>
          <a:prstGeom prst="rect">
            <a:avLst/>
          </a:prstGeom>
          <a:solidFill>
            <a:schemeClr val="accent1">
              <a:lumMod val="75000"/>
            </a:schemeClr>
          </a:solidFill>
        </p:spPr>
        <p:txBody>
          <a:bodyPr wrap="square" rtlCol="0">
            <a:spAutoFit/>
          </a:bodyPr>
          <a:lstStyle/>
          <a:p>
            <a:pPr algn="ctr"/>
            <a:r>
              <a:rPr lang="en-US" sz="2400" b="1" dirty="0"/>
              <a:t>LEARNING OUTCOME:</a:t>
            </a:r>
          </a:p>
          <a:p>
            <a:endParaRPr lang="en-US" sz="2400" dirty="0"/>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To understand the social cohesion and national identity </a:t>
            </a: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To discuss the process of national integration in Malaysia</a:t>
            </a:r>
          </a:p>
        </p:txBody>
      </p:sp>
    </p:spTree>
    <p:extLst>
      <p:ext uri="{BB962C8B-B14F-4D97-AF65-F5344CB8AC3E}">
        <p14:creationId xmlns:p14="http://schemas.microsoft.com/office/powerpoint/2010/main" val="284780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799" y="149087"/>
            <a:ext cx="11711610" cy="934278"/>
          </a:xfrm>
        </p:spPr>
        <p:txBody>
          <a:bodyPr>
            <a:noAutofit/>
          </a:bodyPr>
          <a:lstStyle/>
          <a:p>
            <a:r>
              <a:rPr lang="en-US" b="1" dirty="0">
                <a:solidFill>
                  <a:srgbClr val="FF0000"/>
                </a:solidFill>
              </a:rPr>
              <a:t>MALAYSIAN SOCIETY</a:t>
            </a:r>
          </a:p>
        </p:txBody>
      </p:sp>
      <p:sp>
        <p:nvSpPr>
          <p:cNvPr id="3" name="Content Placeholder 2"/>
          <p:cNvSpPr>
            <a:spLocks noGrp="1"/>
          </p:cNvSpPr>
          <p:nvPr>
            <p:ph idx="1"/>
          </p:nvPr>
        </p:nvSpPr>
        <p:spPr>
          <a:xfrm>
            <a:off x="185115" y="1083366"/>
            <a:ext cx="11711610" cy="5546034"/>
          </a:xfrm>
        </p:spPr>
        <p:txBody>
          <a:bodyPr>
            <a:normAutofit fontScale="92500" lnSpcReduction="10000"/>
          </a:bodyPr>
          <a:lstStyle/>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Malaysia is a multi-ethnic society that consists of various ethnic groups. Due to the British colonial, Malaysians used to be described as what J.S </a:t>
            </a:r>
            <a:r>
              <a:rPr lang="en-US" sz="2400" dirty="0" err="1">
                <a:effectLst/>
                <a:latin typeface="Arial" panose="020B0604020202020204" pitchFamily="34" charset="0"/>
                <a:ea typeface="Arial" panose="020B0604020202020204" pitchFamily="34" charset="0"/>
                <a:cs typeface="Arial" panose="020B0604020202020204" pitchFamily="34" charset="0"/>
              </a:rPr>
              <a:t>Furnival</a:t>
            </a:r>
            <a:r>
              <a:rPr lang="en-US" sz="2400" dirty="0">
                <a:effectLst/>
                <a:latin typeface="Arial" panose="020B0604020202020204" pitchFamily="34" charset="0"/>
                <a:ea typeface="Arial" panose="020B0604020202020204" pitchFamily="34" charset="0"/>
                <a:cs typeface="Arial" panose="020B0604020202020204" pitchFamily="34" charset="0"/>
              </a:rPr>
              <a:t> defined, as a plural society refers to a mixed society of various races. However, the mix in this sense means interaction but not merging.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Each group practices its respective religion and customs, cultures, language, ideologies and lifestyles. This multiracial society lives side-by-side, but separated in one political unit. Economically, there exists a division of jobs according to race or ethnicities. After Independence, the country faced various internal problem, </a:t>
            </a:r>
            <a:r>
              <a:rPr lang="en-US" sz="2400" dirty="0" err="1">
                <a:effectLst/>
                <a:latin typeface="Arial" panose="020B0604020202020204" pitchFamily="34" charset="0"/>
                <a:ea typeface="Arial" panose="020B0604020202020204" pitchFamily="34" charset="0"/>
                <a:cs typeface="Arial" panose="020B0604020202020204" pitchFamily="34" charset="0"/>
              </a:rPr>
              <a:t>esp</a:t>
            </a:r>
            <a:r>
              <a:rPr lang="en-US" sz="2400" dirty="0">
                <a:effectLst/>
                <a:latin typeface="Arial" panose="020B0604020202020204" pitchFamily="34" charset="0"/>
                <a:ea typeface="Arial" panose="020B0604020202020204" pitchFamily="34" charset="0"/>
                <a:cs typeface="Arial" panose="020B0604020202020204" pitchFamily="34" charset="0"/>
              </a:rPr>
              <a:t> those related to unity and inter racial integration.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Malaysian society is made up of various ethnic groups (majority and minority; natives and non-natives)</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(a) Peninsular Malaysia: Malays, Chinese, Indians and Orang Asli</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(b) Sabah: </a:t>
            </a:r>
            <a:r>
              <a:rPr lang="en-US" sz="2400" dirty="0" err="1">
                <a:effectLst/>
                <a:latin typeface="Arial" panose="020B0604020202020204" pitchFamily="34" charset="0"/>
                <a:ea typeface="Arial" panose="020B0604020202020204" pitchFamily="34" charset="0"/>
                <a:cs typeface="Arial" panose="020B0604020202020204" pitchFamily="34" charset="0"/>
              </a:rPr>
              <a:t>Kadazan</a:t>
            </a:r>
            <a:r>
              <a:rPr lang="en-US" sz="2400" dirty="0">
                <a:effectLst/>
                <a:latin typeface="Arial" panose="020B0604020202020204" pitchFamily="34" charset="0"/>
                <a:ea typeface="Arial" panose="020B0604020202020204" pitchFamily="34" charset="0"/>
                <a:cs typeface="Arial" panose="020B0604020202020204" pitchFamily="34" charset="0"/>
              </a:rPr>
              <a:t>-Dusun, Chinese and Malays (many other natives)</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lvl="1">
              <a:buFont typeface="Arial" panose="020B0604020202020204" pitchFamily="34" charset="0"/>
              <a:buChar char="•"/>
            </a:pPr>
            <a:r>
              <a:rPr lang="en-US" sz="2400" dirty="0">
                <a:effectLst/>
                <a:latin typeface="Arial" panose="020B0604020202020204" pitchFamily="34" charset="0"/>
                <a:ea typeface="Times New Roman" panose="02020603050405020304" pitchFamily="18" charset="0"/>
                <a:cs typeface="Arial" panose="020B0604020202020204" pitchFamily="34" charset="0"/>
              </a:rPr>
              <a:t>(c) Sarawak: Dayaks (Iban, Bidayuh and Ulu) Melanau-Malays and Chinese (many other natives)</a:t>
            </a:r>
            <a:endParaRPr lang="en-MY" sz="2400" dirty="0">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2013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539" y="178904"/>
            <a:ext cx="11688417" cy="6460435"/>
          </a:xfrm>
        </p:spPr>
        <p:txBody>
          <a:bodyPr>
            <a:normAutofit/>
          </a:bodyPr>
          <a:lstStyle/>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As a country of diverse  races, cultures and religions,  Malaysia is unique in proving how its diversity could  be united and harnessed for nation building.</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National unity is vital to the country as a key to maintain the stability. After Independence, the country faced various challenges, problem, especially related to unity and inter-ethnic integration.</a:t>
            </a:r>
            <a:endParaRPr lang="en-MY" sz="2400" dirty="0">
              <a:effectLst/>
              <a:latin typeface="Arial" panose="020B0604020202020204" pitchFamily="34" charset="0"/>
              <a:ea typeface="Arial" panose="020B0604020202020204" pitchFamily="34" charset="0"/>
              <a:cs typeface="Arial" panose="020B0604020202020204" pitchFamily="34" charset="0"/>
            </a:endParaRPr>
          </a:p>
          <a:p>
            <a:r>
              <a:rPr lang="en-US" sz="2400" dirty="0">
                <a:effectLst/>
                <a:latin typeface="Arial" panose="020B0604020202020204" pitchFamily="34" charset="0"/>
                <a:ea typeface="Times New Roman" panose="02020603050405020304" pitchFamily="18" charset="0"/>
                <a:cs typeface="Arial" panose="020B0604020202020204" pitchFamily="34" charset="0"/>
              </a:rPr>
              <a:t>The government has provided many integration programs and policies to unite the society</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987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159026" y="178905"/>
            <a:ext cx="11926957" cy="6500189"/>
          </a:xfrm>
          <a:solidFill>
            <a:schemeClr val="accent4">
              <a:lumMod val="60000"/>
              <a:lumOff val="40000"/>
            </a:schemeClr>
          </a:solidFill>
        </p:spPr>
        <p:txBody>
          <a:bodyPr>
            <a:normAutofit/>
          </a:bodyPr>
          <a:lstStyle/>
          <a:p>
            <a:pPr marL="0" indent="0" algn="ctr">
              <a:spcAft>
                <a:spcPts val="800"/>
              </a:spcAft>
              <a:buNone/>
            </a:pPr>
            <a:r>
              <a:rPr lang="en-US" sz="4000" b="1" dirty="0">
                <a:effectLst/>
                <a:latin typeface="Times New Roman" panose="02020603050405020304" pitchFamily="18" charset="0"/>
                <a:ea typeface="Times New Roman" panose="02020603050405020304" pitchFamily="18" charset="0"/>
              </a:rPr>
              <a:t>SOCIAL COHESION: DEFINITION</a:t>
            </a:r>
            <a:endParaRPr lang="en-MY" sz="4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latin typeface="Arial" panose="020B0604020202020204" pitchFamily="34" charset="0"/>
                <a:cs typeface="Arial" panose="020B0604020202020204" pitchFamily="34" charset="0"/>
              </a:rPr>
              <a:t>Anna Rita </a:t>
            </a:r>
            <a:r>
              <a:rPr lang="en-US" sz="2400" dirty="0" err="1">
                <a:latin typeface="Arial" panose="020B0604020202020204" pitchFamily="34" charset="0"/>
                <a:cs typeface="Arial" panose="020B0604020202020204" pitchFamily="34" charset="0"/>
              </a:rPr>
              <a:t>Manca</a:t>
            </a:r>
            <a:r>
              <a:rPr lang="en-US" sz="2400" dirty="0">
                <a:latin typeface="Arial" panose="020B0604020202020204" pitchFamily="34" charset="0"/>
                <a:cs typeface="Arial" panose="020B0604020202020204" pitchFamily="34" charset="0"/>
              </a:rPr>
              <a:t> (2014):  Social cohesion is a social process which aims to consolidate plurality of citizenship by reducing inequality and socioeconomic disparities and fractures in the society. It reflects people’s needs for both personal development and a sense of belonging and links together individual freedom and social justice, economic efficiency and the fair sharing of resources, and pluralism and common rules for resolving all conflicts.</a:t>
            </a:r>
            <a:endParaRPr lang="en-MY"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Social cohesion refers to the extent of connectedness and solidarity among groups in society. It identifies two main dimensions: the sense of belonging of a community and the relationships among members within the community itself.</a:t>
            </a:r>
            <a:endParaRPr lang="en-MY"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78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496958" y="178905"/>
            <a:ext cx="11420060" cy="6500189"/>
          </a:xfrm>
          <a:solidFill>
            <a:schemeClr val="accent4">
              <a:lumMod val="60000"/>
              <a:lumOff val="40000"/>
            </a:schemeClr>
          </a:solidFill>
        </p:spPr>
        <p:txBody>
          <a:bodyPr>
            <a:normAutofit/>
          </a:bodyPr>
          <a:lstStyle/>
          <a:p>
            <a:pPr marL="0" indent="0" algn="ctr">
              <a:spcAft>
                <a:spcPts val="800"/>
              </a:spcAft>
              <a:buNone/>
            </a:pPr>
            <a:r>
              <a:rPr lang="en-US" sz="4000" b="1" dirty="0"/>
              <a:t>UNDERSTANDING SOCIAL COHESION</a:t>
            </a:r>
            <a:endParaRPr lang="en-MY" sz="4000" b="1" dirty="0"/>
          </a:p>
          <a:p>
            <a:pPr marL="342900" lvl="0" indent="-342900">
              <a:spcAft>
                <a:spcPts val="800"/>
              </a:spcAft>
              <a:buFont typeface="Arial" panose="020B0604020202020204" pitchFamily="34" charset="0"/>
              <a:buChar char="•"/>
            </a:pPr>
            <a:r>
              <a:rPr lang="en-US" dirty="0"/>
              <a:t>Social cohesion – related to the concept of integration and unity</a:t>
            </a:r>
            <a:endParaRPr lang="en-MY" dirty="0"/>
          </a:p>
          <a:p>
            <a:pPr marL="342900" lvl="0" indent="-342900">
              <a:spcAft>
                <a:spcPts val="800"/>
              </a:spcAft>
              <a:buFont typeface="Arial" panose="020B0604020202020204" pitchFamily="34" charset="0"/>
              <a:buChar char="•"/>
            </a:pPr>
            <a:r>
              <a:rPr lang="en-US" dirty="0"/>
              <a:t>The concept of unity and integration are commonly used interchangeably, yet not totally the same. It is interconnected which both aims at bringing different ethnic groups, closer together -united. </a:t>
            </a:r>
            <a:endParaRPr lang="en-MY" dirty="0"/>
          </a:p>
          <a:p>
            <a:pPr lvl="1">
              <a:spcAft>
                <a:spcPts val="800"/>
              </a:spcAft>
            </a:pPr>
            <a:r>
              <a:rPr lang="en-US" sz="2800" dirty="0"/>
              <a:t>Integration – a process of unifying among society in various aspects such as economics, politics and social. This concept is wider than unity. </a:t>
            </a:r>
            <a:endParaRPr lang="en-MY" sz="2800" dirty="0"/>
          </a:p>
          <a:p>
            <a:pPr lvl="1"/>
            <a:r>
              <a:rPr lang="en-US" sz="2800" dirty="0"/>
              <a:t>Unity - a process of forming a national identity among groups differentiated in many aspects such as beliefs, cultures, politics, sociology and location in a political unit. </a:t>
            </a:r>
            <a:endParaRPr lang="en-MY" sz="2800" dirty="0"/>
          </a:p>
        </p:txBody>
      </p:sp>
    </p:spTree>
    <p:extLst>
      <p:ext uri="{BB962C8B-B14F-4D97-AF65-F5344CB8AC3E}">
        <p14:creationId xmlns:p14="http://schemas.microsoft.com/office/powerpoint/2010/main" val="405382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125" y="152399"/>
            <a:ext cx="11668125" cy="6619875"/>
          </a:xfrm>
        </p:spPr>
        <p:txBody>
          <a:bodyPr>
            <a:normAutofit fontScale="92500"/>
          </a:bodyPr>
          <a:lstStyle/>
          <a:p>
            <a:pPr marL="0" indent="0" algn="ctr">
              <a:spcAft>
                <a:spcPts val="800"/>
              </a:spcAft>
              <a:buNone/>
            </a:pPr>
            <a:r>
              <a:rPr lang="en-US" sz="3600" b="1" dirty="0">
                <a:effectLst/>
                <a:latin typeface="Times New Roman" panose="02020603050405020304" pitchFamily="18" charset="0"/>
                <a:ea typeface="Times New Roman" panose="02020603050405020304" pitchFamily="18" charset="0"/>
              </a:rPr>
              <a:t>SOCIAL COHESION IN MALAYSIA</a:t>
            </a:r>
          </a:p>
          <a:p>
            <a:pPr marL="342900" lvl="0" indent="-34290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Social cohesion in Malaysia - to describe a work-in-progress towards national unity in Malaysia. Also, it is a current status of Malaysian unity.</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Literally, unity = the state of being united </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b="1" u="sng" dirty="0">
                <a:effectLst/>
                <a:latin typeface="Arial" panose="020B0604020202020204" pitchFamily="34" charset="0"/>
                <a:ea typeface="Arial" panose="020B0604020202020204" pitchFamily="34" charset="0"/>
                <a:cs typeface="Arial" panose="020B0604020202020204" pitchFamily="34" charset="0"/>
              </a:rPr>
              <a:t>NATIONAL UNITY </a:t>
            </a:r>
            <a:r>
              <a:rPr lang="en-US" sz="2200" dirty="0">
                <a:effectLst/>
                <a:latin typeface="Arial" panose="020B0604020202020204" pitchFamily="34" charset="0"/>
                <a:ea typeface="Arial" panose="020B0604020202020204" pitchFamily="34" charset="0"/>
                <a:cs typeface="Arial" panose="020B0604020202020204" pitchFamily="34" charset="0"/>
              </a:rPr>
              <a:t>is the main aim of Malaysia. It is the basis and goal for each program and public policies in Malaysia.</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In Malaysian context – </a:t>
            </a:r>
            <a:r>
              <a:rPr lang="en-US" sz="2200" b="1" u="sng" dirty="0">
                <a:effectLst/>
                <a:latin typeface="Arial" panose="020B0604020202020204" pitchFamily="34" charset="0"/>
                <a:ea typeface="Arial" panose="020B0604020202020204" pitchFamily="34" charset="0"/>
                <a:cs typeface="Arial" panose="020B0604020202020204" pitchFamily="34" charset="0"/>
              </a:rPr>
              <a:t>National unity </a:t>
            </a:r>
            <a:r>
              <a:rPr lang="en-US" sz="2200" dirty="0">
                <a:effectLst/>
                <a:latin typeface="Arial" panose="020B0604020202020204" pitchFamily="34" charset="0"/>
                <a:ea typeface="Arial" panose="020B0604020202020204" pitchFamily="34" charset="0"/>
                <a:cs typeface="Arial" panose="020B0604020202020204" pitchFamily="34" charset="0"/>
              </a:rPr>
              <a:t>is a process to unite various groups that have different social and cultural background into one physical entity. For example, the effort of uniting Sabah, Sarawak and the Peninsular of Malaysia into a federation, is an effort </a:t>
            </a:r>
            <a:r>
              <a:rPr lang="en-US" sz="2200" b="1" u="sng" dirty="0">
                <a:effectLst/>
                <a:latin typeface="Arial" panose="020B0604020202020204" pitchFamily="34" charset="0"/>
                <a:ea typeface="Arial" panose="020B0604020202020204" pitchFamily="34" charset="0"/>
                <a:cs typeface="Arial" panose="020B0604020202020204" pitchFamily="34" charset="0"/>
              </a:rPr>
              <a:t>at achieving national unity</a:t>
            </a:r>
            <a:r>
              <a:rPr lang="en-US" sz="2200" dirty="0">
                <a:effectLst/>
                <a:latin typeface="Arial" panose="020B0604020202020204" pitchFamily="34" charset="0"/>
                <a:ea typeface="Arial" panose="020B0604020202020204" pitchFamily="34" charset="0"/>
                <a:cs typeface="Arial" panose="020B0604020202020204" pitchFamily="34" charset="0"/>
              </a:rPr>
              <a:t>.</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It also understood as a process of forming a </a:t>
            </a:r>
            <a:r>
              <a:rPr lang="en-US" sz="2200" b="1" u="sng" dirty="0">
                <a:effectLst/>
                <a:latin typeface="Arial" panose="020B0604020202020204" pitchFamily="34" charset="0"/>
                <a:ea typeface="Arial" panose="020B0604020202020204" pitchFamily="34" charset="0"/>
                <a:cs typeface="Arial" panose="020B0604020202020204" pitchFamily="34" charset="0"/>
              </a:rPr>
              <a:t>national identity</a:t>
            </a:r>
            <a:r>
              <a:rPr lang="en-US" sz="2200" u="sng" dirty="0">
                <a:effectLst/>
                <a:latin typeface="Arial" panose="020B0604020202020204" pitchFamily="34" charset="0"/>
                <a:ea typeface="Arial" panose="020B0604020202020204" pitchFamily="34" charset="0"/>
                <a:cs typeface="Arial" panose="020B0604020202020204" pitchFamily="34" charset="0"/>
              </a:rPr>
              <a:t> </a:t>
            </a:r>
            <a:r>
              <a:rPr lang="en-US" sz="2200" dirty="0">
                <a:effectLst/>
                <a:latin typeface="Arial" panose="020B0604020202020204" pitchFamily="34" charset="0"/>
                <a:ea typeface="Arial" panose="020B0604020202020204" pitchFamily="34" charset="0"/>
                <a:cs typeface="Arial" panose="020B0604020202020204" pitchFamily="34" charset="0"/>
              </a:rPr>
              <a:t>among various groups that have differences in beliefs, cultures, customs, politics, social, economic functions and location into a political entity – </a:t>
            </a:r>
            <a:r>
              <a:rPr lang="en-US" sz="2200" b="1" dirty="0">
                <a:effectLst/>
                <a:latin typeface="Arial" panose="020B0604020202020204" pitchFamily="34" charset="0"/>
                <a:ea typeface="Arial" panose="020B0604020202020204" pitchFamily="34" charset="0"/>
                <a:cs typeface="Arial" panose="020B0604020202020204" pitchFamily="34" charset="0"/>
              </a:rPr>
              <a:t>Malaysian identity </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b="1" u="sng" dirty="0">
                <a:effectLst/>
                <a:latin typeface="Arial" panose="020B0604020202020204" pitchFamily="34" charset="0"/>
                <a:ea typeface="Arial" panose="020B0604020202020204" pitchFamily="34" charset="0"/>
                <a:cs typeface="Arial" panose="020B0604020202020204" pitchFamily="34" charset="0"/>
              </a:rPr>
              <a:t>NATIONAL INTEGRATION </a:t>
            </a:r>
            <a:r>
              <a:rPr lang="en-US" sz="2200" dirty="0">
                <a:effectLst/>
                <a:latin typeface="Arial" panose="020B0604020202020204" pitchFamily="34" charset="0"/>
                <a:ea typeface="Arial" panose="020B0604020202020204" pitchFamily="34" charset="0"/>
                <a:cs typeface="Arial" panose="020B0604020202020204" pitchFamily="34" charset="0"/>
              </a:rPr>
              <a:t>is part of the process in achieving the national unity. </a:t>
            </a:r>
          </a:p>
          <a:p>
            <a:pPr marL="342900" lvl="0" indent="-34290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Integration has a wider meaning as compared to unity. It is a process of uniting groups with different backgrounds into one entity which is bound by common norms, values and interests.</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0" indent="0">
              <a:buNone/>
            </a:pPr>
            <a:endParaRPr lang="en-US" sz="2400" b="1" dirty="0">
              <a:effectLst/>
              <a:latin typeface="Times New Roman" panose="02020603050405020304" pitchFamily="18" charset="0"/>
              <a:ea typeface="Times New Roman" panose="02020603050405020304" pitchFamily="18" charset="0"/>
            </a:endParaRPr>
          </a:p>
          <a:p>
            <a:pPr marL="0" indent="0" algn="l">
              <a:spcAft>
                <a:spcPts val="800"/>
              </a:spcAft>
              <a:buNone/>
            </a:pPr>
            <a:endParaRPr lang="en-MY"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81778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442E31F-211F-DCEA-D8DA-6DC60889835E}"/>
              </a:ext>
            </a:extLst>
          </p:cNvPr>
          <p:cNvSpPr>
            <a:spLocks noGrp="1"/>
          </p:cNvSpPr>
          <p:nvPr>
            <p:ph sz="half" idx="2"/>
          </p:nvPr>
        </p:nvSpPr>
        <p:spPr>
          <a:xfrm>
            <a:off x="144668" y="119271"/>
            <a:ext cx="11951253" cy="6559824"/>
          </a:xfrm>
          <a:solidFill>
            <a:schemeClr val="tx2">
              <a:lumMod val="20000"/>
              <a:lumOff val="80000"/>
            </a:schemeClr>
          </a:solidFill>
        </p:spPr>
        <p:txBody>
          <a:bodyPr>
            <a:normAutofit fontScale="92500" lnSpcReduction="10000"/>
          </a:bodyPr>
          <a:lstStyle/>
          <a:p>
            <a:pPr marL="342900" lvl="0" indent="-342900" algn="just">
              <a:spcAft>
                <a:spcPts val="800"/>
              </a:spcAft>
              <a:buFont typeface="Arial" panose="020B0604020202020204" pitchFamily="34" charset="0"/>
              <a:buChar char="•"/>
            </a:pPr>
            <a:r>
              <a:rPr lang="en-US" sz="2400" b="1" dirty="0">
                <a:effectLst/>
                <a:latin typeface="Arial" panose="020B0604020202020204" pitchFamily="34" charset="0"/>
                <a:ea typeface="Arial" panose="020B0604020202020204" pitchFamily="34" charset="0"/>
                <a:cs typeface="Arial" panose="020B0604020202020204" pitchFamily="34" charset="0"/>
              </a:rPr>
              <a:t>Integration</a:t>
            </a:r>
            <a:r>
              <a:rPr lang="en-US" sz="2400" dirty="0">
                <a:effectLst/>
                <a:latin typeface="Arial" panose="020B0604020202020204" pitchFamily="34" charset="0"/>
                <a:ea typeface="Arial" panose="020B0604020202020204" pitchFamily="34" charset="0"/>
                <a:cs typeface="Arial" panose="020B0604020202020204" pitchFamily="34" charset="0"/>
              </a:rPr>
              <a:t> is an act of bringing people from diverse background and culture to be united, yet at the same time keeping their original identity without changing it.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b="1" dirty="0">
                <a:effectLst/>
                <a:latin typeface="Arial" panose="020B0604020202020204" pitchFamily="34" charset="0"/>
                <a:ea typeface="Arial" panose="020B0604020202020204" pitchFamily="34" charset="0"/>
                <a:cs typeface="Arial" panose="020B0604020202020204" pitchFamily="34" charset="0"/>
              </a:rPr>
              <a:t>Integration</a:t>
            </a:r>
            <a:r>
              <a:rPr lang="en-US" sz="2400" dirty="0">
                <a:effectLst/>
                <a:latin typeface="Arial" panose="020B0604020202020204" pitchFamily="34" charset="0"/>
                <a:ea typeface="Arial" panose="020B0604020202020204" pitchFamily="34" charset="0"/>
                <a:cs typeface="Arial" panose="020B0604020202020204" pitchFamily="34" charset="0"/>
              </a:rPr>
              <a:t> is a highly normative concept consisting of complex and multi layered economic, social and cultural practices especially when applied in the context of </a:t>
            </a:r>
            <a:r>
              <a:rPr lang="en-US" sz="2400" b="1" dirty="0">
                <a:effectLst/>
                <a:latin typeface="Arial" panose="020B0604020202020204" pitchFamily="34" charset="0"/>
                <a:ea typeface="Arial" panose="020B0604020202020204" pitchFamily="34" charset="0"/>
                <a:cs typeface="Arial" panose="020B0604020202020204" pitchFamily="34" charset="0"/>
              </a:rPr>
              <a:t>nation-building</a:t>
            </a:r>
            <a:r>
              <a:rPr lang="en-US" sz="2400" dirty="0">
                <a:effectLst/>
                <a:latin typeface="Arial" panose="020B0604020202020204" pitchFamily="34" charset="0"/>
                <a:ea typeface="Arial" panose="020B0604020202020204" pitchFamily="34" charset="0"/>
                <a:cs typeface="Arial" panose="020B0604020202020204" pitchFamily="34" charset="0"/>
              </a:rPr>
              <a:t>.</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When the </a:t>
            </a:r>
            <a:r>
              <a:rPr lang="en-US" sz="2400" b="1" dirty="0">
                <a:effectLst/>
                <a:latin typeface="Arial" panose="020B0604020202020204" pitchFamily="34" charset="0"/>
                <a:ea typeface="Arial" panose="020B0604020202020204" pitchFamily="34" charset="0"/>
                <a:cs typeface="Arial" panose="020B0604020202020204" pitchFamily="34" charset="0"/>
              </a:rPr>
              <a:t>integration </a:t>
            </a:r>
            <a:r>
              <a:rPr lang="en-US" sz="2400" dirty="0">
                <a:effectLst/>
                <a:latin typeface="Arial" panose="020B0604020202020204" pitchFamily="34" charset="0"/>
                <a:ea typeface="Arial" panose="020B0604020202020204" pitchFamily="34" charset="0"/>
                <a:cs typeface="Arial" panose="020B0604020202020204" pitchFamily="34" charset="0"/>
              </a:rPr>
              <a:t>takes place, there will be a sense of belonging and ties of feelings between people themselves. There will be a sharing of heart and minds that goes beyond cultural and ethnic differences. It is difficult, challenging and long process but efforts must be always there to achieve the national integration.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The </a:t>
            </a:r>
            <a:r>
              <a:rPr lang="en-US" sz="2400" b="1" dirty="0">
                <a:effectLst/>
                <a:latin typeface="Arial" panose="020B0604020202020204" pitchFamily="34" charset="0"/>
                <a:ea typeface="Arial" panose="020B0604020202020204" pitchFamily="34" charset="0"/>
                <a:cs typeface="Arial" panose="020B0604020202020204" pitchFamily="34" charset="0"/>
              </a:rPr>
              <a:t>national integration </a:t>
            </a:r>
            <a:r>
              <a:rPr lang="en-US" sz="2400" dirty="0">
                <a:effectLst/>
                <a:latin typeface="Arial" panose="020B0604020202020204" pitchFamily="34" charset="0"/>
                <a:ea typeface="Arial" panose="020B0604020202020204" pitchFamily="34" charset="0"/>
                <a:cs typeface="Arial" panose="020B0604020202020204" pitchFamily="34" charset="0"/>
              </a:rPr>
              <a:t>becomes the ultimate aim of the government to ensure stability and national development.</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In Malaysia – there are various national integration program and policies take place since the independence. This includes developing the national identity of Malaysia through nation building process and aiming to instill  the values of patriotism. </a:t>
            </a:r>
            <a:endParaRPr lang="en-MY" sz="2400" dirty="0">
              <a:effectLst/>
              <a:latin typeface="Arial" panose="020B0604020202020204" pitchFamily="34" charset="0"/>
              <a:ea typeface="Arial" panose="020B0604020202020204" pitchFamily="34" charset="0"/>
              <a:cs typeface="Arial" panose="020B0604020202020204" pitchFamily="34" charset="0"/>
            </a:endParaRPr>
          </a:p>
          <a:p>
            <a:r>
              <a:rPr lang="en-US" sz="2400" b="1" u="sng" dirty="0">
                <a:effectLst/>
                <a:latin typeface="Times New Roman" panose="02020603050405020304" pitchFamily="18" charset="0"/>
                <a:ea typeface="Times New Roman" panose="02020603050405020304" pitchFamily="18" charset="0"/>
              </a:rPr>
              <a:t>National identity </a:t>
            </a:r>
            <a:r>
              <a:rPr lang="en-US" sz="2400" dirty="0">
                <a:effectLst/>
                <a:latin typeface="Times New Roman" panose="02020603050405020304" pitchFamily="18" charset="0"/>
                <a:ea typeface="Times New Roman" panose="02020603050405020304" pitchFamily="18" charset="0"/>
              </a:rPr>
              <a:t>is a sense of a nation as a cohesive whole, as represented by distinctive traditions, culture, and language. Also, can be defined as a sense  of  belonging  to  one  country  or  to  one  nation  with  its  history, commonly  perceived  values,  and  traditions.</a:t>
            </a:r>
            <a:endParaRPr lang="en-MY"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1753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2.png">
            <a:extLst>
              <a:ext uri="{FF2B5EF4-FFF2-40B4-BE49-F238E27FC236}">
                <a16:creationId xmlns:a16="http://schemas.microsoft.com/office/drawing/2014/main" id="{C55331F4-8DAF-853C-770B-98C7110579D9}"/>
              </a:ext>
            </a:extLst>
          </p:cNvPr>
          <p:cNvPicPr>
            <a:picLocks noGrp="1"/>
          </p:cNvPicPr>
          <p:nvPr>
            <p:ph sz="half" idx="2"/>
          </p:nvPr>
        </p:nvPicPr>
        <p:blipFill>
          <a:blip r:embed="rId2"/>
          <a:srcRect l="3048" r="3917" b="1908"/>
          <a:stretch>
            <a:fillRect/>
          </a:stretch>
        </p:blipFill>
        <p:spPr>
          <a:xfrm>
            <a:off x="1484243" y="218205"/>
            <a:ext cx="5732463" cy="2495839"/>
          </a:xfrm>
          <a:prstGeom prst="rect">
            <a:avLst/>
          </a:prstGeom>
          <a:ln/>
        </p:spPr>
      </p:pic>
      <p:pic>
        <p:nvPicPr>
          <p:cNvPr id="11" name="image1.png">
            <a:extLst>
              <a:ext uri="{FF2B5EF4-FFF2-40B4-BE49-F238E27FC236}">
                <a16:creationId xmlns:a16="http://schemas.microsoft.com/office/drawing/2014/main" id="{F3FDC3A1-A38B-3499-0172-048764141880}"/>
              </a:ext>
            </a:extLst>
          </p:cNvPr>
          <p:cNvPicPr/>
          <p:nvPr/>
        </p:nvPicPr>
        <p:blipFill>
          <a:blip r:embed="rId3"/>
          <a:srcRect l="3483" t="5815" r="2177" b="5308"/>
          <a:stretch>
            <a:fillRect/>
          </a:stretch>
        </p:blipFill>
        <p:spPr>
          <a:xfrm>
            <a:off x="3135324" y="2876826"/>
            <a:ext cx="8314553" cy="3425038"/>
          </a:xfrm>
          <a:prstGeom prst="rect">
            <a:avLst/>
          </a:prstGeom>
          <a:ln/>
        </p:spPr>
      </p:pic>
      <p:sp>
        <p:nvSpPr>
          <p:cNvPr id="12" name="TextBox 11">
            <a:extLst>
              <a:ext uri="{FF2B5EF4-FFF2-40B4-BE49-F238E27FC236}">
                <a16:creationId xmlns:a16="http://schemas.microsoft.com/office/drawing/2014/main" id="{E267A2C8-44AC-AD40-A93E-BED17DDB2326}"/>
              </a:ext>
            </a:extLst>
          </p:cNvPr>
          <p:cNvSpPr txBox="1"/>
          <p:nvPr/>
        </p:nvSpPr>
        <p:spPr>
          <a:xfrm>
            <a:off x="4243231" y="6301864"/>
            <a:ext cx="5946949" cy="646331"/>
          </a:xfrm>
          <a:prstGeom prst="rect">
            <a:avLst/>
          </a:prstGeom>
          <a:noFill/>
        </p:spPr>
        <p:txBody>
          <a:bodyPr wrap="none" rtlCol="0">
            <a:spAutoFit/>
          </a:bodyPr>
          <a:lstStyle/>
          <a:p>
            <a:r>
              <a:rPr lang="en-US" sz="1800" b="1" dirty="0">
                <a:effectLst/>
                <a:latin typeface="Times New Roman" panose="02020603050405020304" pitchFamily="18" charset="0"/>
                <a:ea typeface="Times New Roman" panose="02020603050405020304" pitchFamily="18" charset="0"/>
              </a:rPr>
              <a:t>UNDERSTANDING THE PROCESS OF INTEGRATION</a:t>
            </a:r>
            <a:endParaRPr lang="en-MY" sz="1800" dirty="0">
              <a:effectLst/>
              <a:latin typeface="Times New Roman" panose="02020603050405020304" pitchFamily="18" charset="0"/>
              <a:ea typeface="Times New Roman" panose="02020603050405020304" pitchFamily="18" charset="0"/>
            </a:endParaRPr>
          </a:p>
          <a:p>
            <a:endParaRPr lang="en-MY" dirty="0"/>
          </a:p>
        </p:txBody>
      </p:sp>
    </p:spTree>
    <p:extLst>
      <p:ext uri="{BB962C8B-B14F-4D97-AF65-F5344CB8AC3E}">
        <p14:creationId xmlns:p14="http://schemas.microsoft.com/office/powerpoint/2010/main" val="3578377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6175517" y="178905"/>
            <a:ext cx="5798930" cy="6500189"/>
          </a:xfrm>
          <a:solidFill>
            <a:schemeClr val="tx2">
              <a:lumMod val="20000"/>
              <a:lumOff val="80000"/>
            </a:schemeClr>
          </a:solidFill>
        </p:spPr>
        <p:txBody>
          <a:bodyPr>
            <a:normAutofit fontScale="92500"/>
          </a:bodyPr>
          <a:lstStyle/>
          <a:p>
            <a:pPr marL="0" indent="0" algn="ctr">
              <a:spcAft>
                <a:spcPts val="800"/>
              </a:spcAft>
              <a:buNone/>
            </a:pPr>
            <a:r>
              <a:rPr lang="en-US" sz="3000" b="1" dirty="0">
                <a:effectLst/>
                <a:latin typeface="Times New Roman" panose="02020603050405020304" pitchFamily="18" charset="0"/>
                <a:ea typeface="Times New Roman" panose="02020603050405020304" pitchFamily="18" charset="0"/>
              </a:rPr>
              <a:t>Accommodation</a:t>
            </a:r>
            <a:endParaRPr lang="en-MY" sz="3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900" dirty="0">
                <a:effectLst/>
                <a:latin typeface="Times New Roman" panose="02020603050405020304" pitchFamily="18" charset="0"/>
                <a:ea typeface="Arial" panose="020B0604020202020204" pitchFamily="34" charset="0"/>
                <a:cs typeface="Times New Roman" panose="02020603050405020304" pitchFamily="18" charset="0"/>
              </a:rPr>
              <a:t>A process by which individuals and groups aware of each other’s values and norms and make the necessary adjustments to social situations to prevent or reduce conflict in order to carry on together in their varied life activities.</a:t>
            </a:r>
            <a:endParaRPr lang="en-MY" sz="1900" dirty="0">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900" dirty="0">
                <a:effectLst/>
                <a:latin typeface="Times New Roman" panose="02020603050405020304" pitchFamily="18" charset="0"/>
                <a:ea typeface="Arial" panose="020B0604020202020204" pitchFamily="34" charset="0"/>
                <a:cs typeface="Times New Roman" panose="02020603050405020304" pitchFamily="18" charset="0"/>
              </a:rPr>
              <a:t>This is seen as the first stage towards integration. Ethnic groups are aware of each other’s norms and  values – they still continue to safeguard their own  living culture .</a:t>
            </a:r>
            <a:endParaRPr lang="en-MY" sz="1900" dirty="0">
              <a:effectLst/>
              <a:latin typeface="Times New Roman" panose="02020603050405020304" pitchFamily="18" charset="0"/>
              <a:ea typeface="Arial" panose="020B0604020202020204" pitchFamily="34" charset="0"/>
              <a:cs typeface="Times New Roman" panose="02020603050405020304" pitchFamily="18" charset="0"/>
            </a:endParaRPr>
          </a:p>
          <a:p>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They live in harmony and respect one and another.</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dirty="0"/>
          </a:p>
        </p:txBody>
      </p:sp>
      <p:sp>
        <p:nvSpPr>
          <p:cNvPr id="7" name="Content Placeholder 6">
            <a:extLst>
              <a:ext uri="{FF2B5EF4-FFF2-40B4-BE49-F238E27FC236}">
                <a16:creationId xmlns:a16="http://schemas.microsoft.com/office/drawing/2014/main" id="{9442E31F-211F-DCEA-D8DA-6DC60889835E}"/>
              </a:ext>
            </a:extLst>
          </p:cNvPr>
          <p:cNvSpPr>
            <a:spLocks noGrp="1"/>
          </p:cNvSpPr>
          <p:nvPr>
            <p:ph sz="half" idx="2"/>
          </p:nvPr>
        </p:nvSpPr>
        <p:spPr>
          <a:xfrm>
            <a:off x="144669" y="178905"/>
            <a:ext cx="5798930" cy="6500190"/>
          </a:xfrm>
          <a:solidFill>
            <a:schemeClr val="tx2">
              <a:lumMod val="20000"/>
              <a:lumOff val="80000"/>
            </a:schemeClr>
          </a:solidFill>
        </p:spPr>
        <p:txBody>
          <a:bodyPr>
            <a:normAutofit fontScale="92500"/>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Segregation</a:t>
            </a:r>
            <a:endParaRPr lang="en-MY" sz="32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rPr>
              <a:t>Segregation refers to the physical separation of two or many groups, particularly in residence, workplace and social functions. Two types of segregation de jure segregation (segregation that is enforced by law) and de facto segregation (segregation that occurs without laws but because of other factors). </a:t>
            </a: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rPr>
              <a:t>Example of de jure segregation is the apartheid movement of South Africa, which existed from 1948 to 1994. Under apartheid, black South Africans were stripped of their civil rights and forcibly relocated to areas that segregated them physically from their white compatriots. Only after decades of degradation, violent uprisings, and international advocacy was apartheid finally abolished.</a:t>
            </a: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rPr>
              <a:t>De facto segregation happens due to many reasons such as segregated by neighborhood, district, language or geographical area. It  cannot be easily abolished by law or any court mandate.</a:t>
            </a:r>
          </a:p>
          <a:p>
            <a:pPr marL="0" indent="0">
              <a:buNone/>
            </a:pPr>
            <a:endParaRPr lang="en-MY" sz="1800" dirty="0"/>
          </a:p>
        </p:txBody>
      </p:sp>
    </p:spTree>
    <p:extLst>
      <p:ext uri="{BB962C8B-B14F-4D97-AF65-F5344CB8AC3E}">
        <p14:creationId xmlns:p14="http://schemas.microsoft.com/office/powerpoint/2010/main" val="3873421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6175517" y="178905"/>
            <a:ext cx="5798930" cy="6500189"/>
          </a:xfrm>
          <a:solidFill>
            <a:schemeClr val="tx2">
              <a:lumMod val="20000"/>
              <a:lumOff val="80000"/>
            </a:schemeClr>
          </a:solidFill>
        </p:spPr>
        <p:txBody>
          <a:bodyPr>
            <a:normAutofit/>
          </a:bodyPr>
          <a:lstStyle/>
          <a:p>
            <a:pPr marL="0" indent="0" algn="ctr">
              <a:spcAft>
                <a:spcPts val="800"/>
              </a:spcAft>
              <a:buNone/>
            </a:pPr>
            <a:r>
              <a:rPr lang="en-US" sz="3000" b="1" dirty="0">
                <a:effectLst/>
                <a:latin typeface="Times New Roman" panose="02020603050405020304" pitchFamily="18" charset="0"/>
                <a:ea typeface="Times New Roman" panose="02020603050405020304" pitchFamily="18" charset="0"/>
              </a:rPr>
              <a:t>Assimilation</a:t>
            </a:r>
            <a:endParaRPr lang="en-MY" sz="3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A process of boundary reduction that sees groups incorporating elements of the dominant group’s culture and traits while still maintaining their own distinctive ethnic and cultural identities.</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There is a blending of behaviors and values through social interaction leading to greater homogeneity in society.</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r>
              <a:rPr lang="en-US" sz="2000" dirty="0">
                <a:effectLst/>
                <a:latin typeface="Arial" panose="020B0604020202020204" pitchFamily="34" charset="0"/>
                <a:ea typeface="Times New Roman" panose="02020603050405020304" pitchFamily="18" charset="0"/>
                <a:cs typeface="Arial" panose="020B0604020202020204" pitchFamily="34" charset="0"/>
              </a:rPr>
              <a:t>In some countries such as Indonesia and Thailand - Entry into a dominant society through friendship and close connection. One-way process of unity, which will generate one culture, one language and one religion.</a:t>
            </a:r>
            <a:endParaRPr lang="en-MY" sz="2400" dirty="0">
              <a:effectLst/>
              <a:latin typeface="Arial" panose="020B0604020202020204" pitchFamily="34" charset="0"/>
              <a:ea typeface="Times New Roman" panose="02020603050405020304" pitchFamily="18" charset="0"/>
              <a:cs typeface="Arial" panose="020B0604020202020204" pitchFamily="34" charset="0"/>
            </a:endParaRPr>
          </a:p>
          <a:p>
            <a:endParaRPr lang="en-MY" dirty="0"/>
          </a:p>
        </p:txBody>
      </p:sp>
      <p:sp>
        <p:nvSpPr>
          <p:cNvPr id="7" name="Content Placeholder 6">
            <a:extLst>
              <a:ext uri="{FF2B5EF4-FFF2-40B4-BE49-F238E27FC236}">
                <a16:creationId xmlns:a16="http://schemas.microsoft.com/office/drawing/2014/main" id="{9442E31F-211F-DCEA-D8DA-6DC60889835E}"/>
              </a:ext>
            </a:extLst>
          </p:cNvPr>
          <p:cNvSpPr>
            <a:spLocks noGrp="1"/>
          </p:cNvSpPr>
          <p:nvPr>
            <p:ph sz="half" idx="2"/>
          </p:nvPr>
        </p:nvSpPr>
        <p:spPr>
          <a:xfrm>
            <a:off x="144669" y="178905"/>
            <a:ext cx="5798930" cy="6500190"/>
          </a:xfrm>
          <a:solidFill>
            <a:schemeClr val="tx2">
              <a:lumMod val="20000"/>
              <a:lumOff val="80000"/>
            </a:schemeClr>
          </a:solidFill>
        </p:spPr>
        <p:txBody>
          <a:bodyPr>
            <a:normAutofit/>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Acculturation</a:t>
            </a:r>
            <a:endParaRPr lang="en-MY" sz="32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This process is known as cultural assimilation. An adaptive process by which a group acquires, retains and/or relinquishes distinctive characteristics of its culture or traits to conform to those of the dominant group.</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A minority group accepts the norms, values and patterns of  behavior (culture ) of a majority group. Process of borrowing or accepting the cultural elements of the  majority group, without changing the original cultural elements.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0" lvl="0" indent="0" algn="just">
              <a:spcAft>
                <a:spcPts val="800"/>
              </a:spcAft>
              <a:buNone/>
            </a:pPr>
            <a:endParaRPr lang="en-US" sz="2000" dirty="0">
              <a:effectLst/>
              <a:latin typeface="Times New Roman" panose="02020603050405020304" pitchFamily="18" charset="0"/>
              <a:ea typeface="Times New Roman" panose="02020603050405020304" pitchFamily="18" charset="0"/>
            </a:endParaRPr>
          </a:p>
          <a:p>
            <a:pPr marL="0" indent="0">
              <a:buNone/>
            </a:pPr>
            <a:endParaRPr lang="en-MY" sz="1800" dirty="0"/>
          </a:p>
        </p:txBody>
      </p:sp>
    </p:spTree>
    <p:extLst>
      <p:ext uri="{BB962C8B-B14F-4D97-AF65-F5344CB8AC3E}">
        <p14:creationId xmlns:p14="http://schemas.microsoft.com/office/powerpoint/2010/main" val="2445084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2935360" y="178905"/>
            <a:ext cx="6089370" cy="6500189"/>
          </a:xfrm>
          <a:solidFill>
            <a:schemeClr val="tx2">
              <a:lumMod val="20000"/>
              <a:lumOff val="80000"/>
            </a:schemeClr>
          </a:solidFill>
        </p:spPr>
        <p:txBody>
          <a:bodyPr>
            <a:normAutofit/>
          </a:bodyPr>
          <a:lstStyle/>
          <a:p>
            <a:pPr marL="0" indent="0" algn="ctr">
              <a:spcAft>
                <a:spcPts val="800"/>
              </a:spcAft>
              <a:buNone/>
            </a:pPr>
            <a:r>
              <a:rPr lang="en-US" sz="3000" b="1" dirty="0">
                <a:effectLst/>
                <a:latin typeface="Times New Roman" panose="02020603050405020304" pitchFamily="18" charset="0"/>
                <a:ea typeface="Times New Roman" panose="02020603050405020304" pitchFamily="18" charset="0"/>
              </a:rPr>
              <a:t>Amalgamation</a:t>
            </a:r>
            <a:endParaRPr lang="en-MY" sz="3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This construct is regarded as the highest level of integration and is viewed as an indicator that social distance between groups is weakening and ethnicity is becoming less salient.</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It is a process that happens when culture or race mixes to form types of  new culture and race (US). Usually happens through inter-marriage between ethnic groups or races and involve biological combination (mixed marriages) this process will  produce a new group with a new culture.</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Amalgamation creates “melting pot”. Example: US society?</a:t>
            </a:r>
            <a:endParaRPr lang="en-MY" sz="2000" dirty="0">
              <a:effectLst/>
              <a:latin typeface="Arial" panose="020B0604020202020204" pitchFamily="34" charset="0"/>
              <a:ea typeface="Arial" panose="020B0604020202020204" pitchFamily="34" charset="0"/>
              <a:cs typeface="Arial" panose="020B0604020202020204" pitchFamily="34" charset="0"/>
            </a:endParaRPr>
          </a:p>
          <a:p>
            <a:r>
              <a:rPr lang="en-US" sz="2000" dirty="0">
                <a:effectLst/>
                <a:latin typeface="Arial" panose="020B0604020202020204" pitchFamily="34" charset="0"/>
                <a:ea typeface="Times New Roman" panose="02020603050405020304" pitchFamily="18" charset="0"/>
                <a:cs typeface="Arial" panose="020B0604020202020204" pitchFamily="34" charset="0"/>
              </a:rPr>
              <a:t>This process may take several generations</a:t>
            </a:r>
            <a:r>
              <a:rPr lang="en-US" sz="2400" dirty="0">
                <a:effectLst/>
                <a:latin typeface="Arial" panose="020B0604020202020204" pitchFamily="34" charset="0"/>
                <a:ea typeface="Times New Roman" panose="02020603050405020304" pitchFamily="18" charset="0"/>
                <a:cs typeface="Arial" panose="020B0604020202020204" pitchFamily="34" charset="0"/>
              </a:rPr>
              <a:t>.</a:t>
            </a:r>
            <a:endParaRPr lang="en-MY" dirty="0">
              <a:effectLst/>
              <a:latin typeface="Arial" panose="020B0604020202020204" pitchFamily="34" charset="0"/>
              <a:ea typeface="Times New Roman" panose="02020603050405020304" pitchFamily="18" charset="0"/>
              <a:cs typeface="Arial" panose="020B0604020202020204" pitchFamily="34" charset="0"/>
            </a:endParaRPr>
          </a:p>
          <a:p>
            <a:endParaRPr lang="en-MY" dirty="0"/>
          </a:p>
        </p:txBody>
      </p:sp>
    </p:spTree>
    <p:extLst>
      <p:ext uri="{BB962C8B-B14F-4D97-AF65-F5344CB8AC3E}">
        <p14:creationId xmlns:p14="http://schemas.microsoft.com/office/powerpoint/2010/main" val="4063726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DC2DDA61-CAD2-F61A-45D7-ED98CF21F99D}"/>
              </a:ext>
            </a:extLst>
          </p:cNvPr>
          <p:cNvSpPr>
            <a:spLocks noGrp="1"/>
          </p:cNvSpPr>
          <p:nvPr>
            <p:ph type="body" idx="1"/>
          </p:nvPr>
        </p:nvSpPr>
        <p:spPr>
          <a:xfrm>
            <a:off x="480392" y="89452"/>
            <a:ext cx="11386930" cy="783397"/>
          </a:xfrm>
        </p:spPr>
        <p:txBody>
          <a:bodyPr>
            <a:normAutofit fontScale="25000" lnSpcReduction="20000"/>
          </a:bodyPr>
          <a:lstStyle/>
          <a:p>
            <a:pPr algn="ctr"/>
            <a:endParaRPr lang="en-US" sz="2400" b="1" dirty="0">
              <a:effectLst/>
              <a:latin typeface="Times New Roman" panose="02020603050405020304" pitchFamily="18" charset="0"/>
              <a:ea typeface="Times New Roman" panose="02020603050405020304" pitchFamily="18" charset="0"/>
            </a:endParaRPr>
          </a:p>
          <a:p>
            <a:pPr algn="ctr"/>
            <a:r>
              <a:rPr lang="en-US" sz="12800" b="1" dirty="0">
                <a:effectLst/>
                <a:latin typeface="Times New Roman" panose="02020603050405020304" pitchFamily="18" charset="0"/>
                <a:ea typeface="Times New Roman" panose="02020603050405020304" pitchFamily="18" charset="0"/>
              </a:rPr>
              <a:t>SOCIAL COHESION IN MALAYSIA: CHALLENGES</a:t>
            </a:r>
            <a:endParaRPr lang="en-MY" dirty="0"/>
          </a:p>
        </p:txBody>
      </p:sp>
      <p:sp>
        <p:nvSpPr>
          <p:cNvPr id="12" name="Content Placeholder 11">
            <a:extLst>
              <a:ext uri="{FF2B5EF4-FFF2-40B4-BE49-F238E27FC236}">
                <a16:creationId xmlns:a16="http://schemas.microsoft.com/office/drawing/2014/main" id="{46BF300C-A46D-ED8F-6721-591DB9E8A04E}"/>
              </a:ext>
            </a:extLst>
          </p:cNvPr>
          <p:cNvSpPr>
            <a:spLocks noGrp="1"/>
          </p:cNvSpPr>
          <p:nvPr>
            <p:ph sz="half" idx="2"/>
          </p:nvPr>
        </p:nvSpPr>
        <p:spPr>
          <a:xfrm>
            <a:off x="109330" y="872849"/>
            <a:ext cx="11847443" cy="5895699"/>
          </a:xfrm>
        </p:spPr>
        <p:txBody>
          <a:bodyPr>
            <a:normAutofit fontScale="92500" lnSpcReduction="10000"/>
          </a:bodyPr>
          <a:lstStyle/>
          <a:p>
            <a:pPr marL="342900" lvl="0"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Achieving national unity is not an easy task. Yet, Malaysia’s story This is due to the existence of economic, social, cultural, residential and world view among the people. </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Therefore, the Malaysian government since the independence of the country has put endless efforts towards achieving the national integration. </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900" i="1" dirty="0">
                <a:effectLst/>
                <a:latin typeface="Arial" panose="020B0604020202020204" pitchFamily="34" charset="0"/>
                <a:ea typeface="Arial" panose="020B0604020202020204" pitchFamily="34" charset="0"/>
                <a:cs typeface="Arial" panose="020B0604020202020204" pitchFamily="34" charset="0"/>
              </a:rPr>
              <a:t>Multi-ethnic society – is the key to national unity</a:t>
            </a:r>
            <a:endParaRPr lang="en-MY" sz="1900" dirty="0">
              <a:effectLst/>
              <a:latin typeface="Arial" panose="020B0604020202020204" pitchFamily="34" charset="0"/>
              <a:ea typeface="Arial" panose="020B0604020202020204" pitchFamily="34" charset="0"/>
              <a:cs typeface="Arial" panose="020B0604020202020204" pitchFamily="34" charset="0"/>
            </a:endParaRPr>
          </a:p>
          <a:p>
            <a:r>
              <a:rPr lang="en-US" sz="1900" dirty="0">
                <a:effectLst/>
                <a:latin typeface="Arial" panose="020B0604020202020204" pitchFamily="34" charset="0"/>
                <a:ea typeface="Times New Roman" panose="02020603050405020304" pitchFamily="18" charset="0"/>
                <a:cs typeface="Arial" panose="020B0604020202020204" pitchFamily="34" charset="0"/>
              </a:rPr>
              <a:t>The condition of Malaysia = stable tension</a:t>
            </a:r>
          </a:p>
          <a:p>
            <a:pPr marL="0" indent="0">
              <a:buNone/>
            </a:pPr>
            <a:endParaRPr lang="en-US" sz="1800" dirty="0">
              <a:effectLst/>
              <a:latin typeface="Times New Roman" panose="02020603050405020304" pitchFamily="18" charset="0"/>
              <a:ea typeface="Times New Roman" panose="02020603050405020304" pitchFamily="18" charset="0"/>
            </a:endParaRPr>
          </a:p>
          <a:p>
            <a:pPr marL="0" indent="0">
              <a:buNone/>
            </a:pPr>
            <a:r>
              <a:rPr lang="en-US" sz="3000" b="1" dirty="0"/>
              <a:t>ISSUES and CHALLENGES</a:t>
            </a:r>
          </a:p>
          <a:p>
            <a:pPr marL="0" indent="0">
              <a:buNone/>
            </a:pPr>
            <a:r>
              <a:rPr lang="en-US" dirty="0"/>
              <a:t>Before 1969</a:t>
            </a:r>
          </a:p>
          <a:p>
            <a:pPr lvl="1">
              <a:buFont typeface="Wingdings" panose="05000000000000000000" pitchFamily="2" charset="2"/>
              <a:buChar char="q"/>
            </a:pPr>
            <a:r>
              <a:rPr lang="en-US" dirty="0"/>
              <a:t>Divide and conquer</a:t>
            </a:r>
          </a:p>
          <a:p>
            <a:pPr lvl="1">
              <a:buFont typeface="Wingdings" panose="05000000000000000000" pitchFamily="2" charset="2"/>
              <a:buChar char="q"/>
            </a:pPr>
            <a:r>
              <a:rPr lang="en-US" dirty="0"/>
              <a:t>Japanese occupation</a:t>
            </a:r>
          </a:p>
          <a:p>
            <a:pPr lvl="1">
              <a:buFont typeface="Wingdings" panose="05000000000000000000" pitchFamily="2" charset="2"/>
              <a:buChar char="q"/>
            </a:pPr>
            <a:r>
              <a:rPr lang="en-US" dirty="0"/>
              <a:t>Suspicion between races</a:t>
            </a:r>
          </a:p>
          <a:p>
            <a:pPr lvl="1">
              <a:buFont typeface="Wingdings" panose="05000000000000000000" pitchFamily="2" charset="2"/>
              <a:buChar char="q"/>
            </a:pPr>
            <a:r>
              <a:rPr lang="en-US" dirty="0"/>
              <a:t>Differences in religion, culture and language</a:t>
            </a:r>
          </a:p>
          <a:p>
            <a:pPr lvl="1">
              <a:buFont typeface="Wingdings" panose="05000000000000000000" pitchFamily="2" charset="2"/>
              <a:buChar char="q"/>
            </a:pPr>
            <a:r>
              <a:rPr lang="en-US" dirty="0"/>
              <a:t>Education system</a:t>
            </a:r>
          </a:p>
          <a:p>
            <a:pPr lvl="1">
              <a:buFont typeface="Wingdings" panose="05000000000000000000" pitchFamily="2" charset="2"/>
              <a:buChar char="q"/>
            </a:pPr>
            <a:r>
              <a:rPr lang="en-US" dirty="0"/>
              <a:t>Socio-economic disparities</a:t>
            </a:r>
          </a:p>
          <a:p>
            <a:pPr lvl="1">
              <a:buFont typeface="Wingdings" panose="05000000000000000000" pitchFamily="2" charset="2"/>
              <a:buChar char="q"/>
            </a:pPr>
            <a:r>
              <a:rPr lang="en-US" dirty="0"/>
              <a:t>Racial politics</a:t>
            </a:r>
          </a:p>
          <a:p>
            <a:pPr lvl="1">
              <a:buFont typeface="Wingdings" panose="05000000000000000000" pitchFamily="2" charset="2"/>
              <a:buChar char="q"/>
            </a:pPr>
            <a:r>
              <a:rPr lang="en-US" dirty="0"/>
              <a:t>Segregation / Physical separation (place of residence and work)</a:t>
            </a:r>
          </a:p>
          <a:p>
            <a:endParaRPr lang="en-MY" dirty="0"/>
          </a:p>
        </p:txBody>
      </p:sp>
      <p:pic>
        <p:nvPicPr>
          <p:cNvPr id="13" name="Picture 12">
            <a:extLst>
              <a:ext uri="{FF2B5EF4-FFF2-40B4-BE49-F238E27FC236}">
                <a16:creationId xmlns:a16="http://schemas.microsoft.com/office/drawing/2014/main" id="{D19D2816-E618-70D6-E5B2-D14A718D587A}"/>
              </a:ext>
            </a:extLst>
          </p:cNvPr>
          <p:cNvPicPr>
            <a:picLocks noChangeAspect="1"/>
          </p:cNvPicPr>
          <p:nvPr/>
        </p:nvPicPr>
        <p:blipFill>
          <a:blip r:embed="rId2"/>
          <a:stretch>
            <a:fillRect/>
          </a:stretch>
        </p:blipFill>
        <p:spPr>
          <a:xfrm>
            <a:off x="8075214" y="3748525"/>
            <a:ext cx="2044805" cy="1746340"/>
          </a:xfrm>
          <a:prstGeom prst="rect">
            <a:avLst/>
          </a:prstGeom>
        </p:spPr>
      </p:pic>
      <p:cxnSp>
        <p:nvCxnSpPr>
          <p:cNvPr id="14" name="Straight Arrow Connector 13">
            <a:extLst>
              <a:ext uri="{FF2B5EF4-FFF2-40B4-BE49-F238E27FC236}">
                <a16:creationId xmlns:a16="http://schemas.microsoft.com/office/drawing/2014/main" id="{5DF6BE5B-6CDB-7EB1-EF9D-C39510D46004}"/>
              </a:ext>
            </a:extLst>
          </p:cNvPr>
          <p:cNvCxnSpPr/>
          <p:nvPr/>
        </p:nvCxnSpPr>
        <p:spPr>
          <a:xfrm>
            <a:off x="6173857" y="4366591"/>
            <a:ext cx="1371600" cy="152400"/>
          </a:xfrm>
          <a:prstGeom prst="straightConnector1">
            <a:avLst/>
          </a:prstGeom>
          <a:noFill/>
          <a:ln w="76200" cap="flat" cmpd="sng">
            <a:solidFill>
              <a:srgbClr val="CC0000"/>
            </a:solidFill>
            <a:prstDash val="solid"/>
            <a:round/>
            <a:headEnd type="none" w="sm" len="sm"/>
            <a:tailEnd type="triangle" w="med" len="med"/>
          </a:ln>
        </p:spPr>
      </p:cxnSp>
    </p:spTree>
    <p:extLst>
      <p:ext uri="{BB962C8B-B14F-4D97-AF65-F5344CB8AC3E}">
        <p14:creationId xmlns:p14="http://schemas.microsoft.com/office/powerpoint/2010/main" val="986830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6BF300C-A46D-ED8F-6721-591DB9E8A04E}"/>
              </a:ext>
            </a:extLst>
          </p:cNvPr>
          <p:cNvSpPr>
            <a:spLocks noGrp="1"/>
          </p:cNvSpPr>
          <p:nvPr>
            <p:ph sz="half" idx="2"/>
          </p:nvPr>
        </p:nvSpPr>
        <p:spPr>
          <a:xfrm>
            <a:off x="99391" y="79513"/>
            <a:ext cx="12006469" cy="6778487"/>
          </a:xfrm>
        </p:spPr>
        <p:txBody>
          <a:bodyPr>
            <a:normAutofit/>
          </a:bodyPr>
          <a:lstStyle/>
          <a:p>
            <a:pPr marL="0" indent="0" algn="just">
              <a:spcAft>
                <a:spcPts val="800"/>
              </a:spcAft>
              <a:buNone/>
            </a:pPr>
            <a:r>
              <a:rPr lang="en-US" sz="3600" b="1" dirty="0">
                <a:effectLst/>
                <a:latin typeface="Times New Roman" panose="02020603050405020304" pitchFamily="18" charset="0"/>
                <a:ea typeface="Times New Roman" panose="02020603050405020304" pitchFamily="18" charset="0"/>
              </a:rPr>
              <a:t>LESSONS FROM 13 MAY 1969</a:t>
            </a:r>
            <a:endParaRPr lang="en-MY" sz="36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Uphold democracy</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Importance of living together </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Love for the country</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Abide by the law and the constitution</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Unity is the key to social welfare</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spcAft>
                <a:spcPts val="800"/>
              </a:spcAft>
              <a:buNone/>
            </a:pPr>
            <a:endParaRPr lang="en-MY" sz="1800" dirty="0">
              <a:effectLst/>
              <a:ea typeface="Noto Sans Symbols"/>
              <a:cs typeface="Noto Sans Symbols"/>
            </a:endParaRPr>
          </a:p>
        </p:txBody>
      </p:sp>
    </p:spTree>
    <p:extLst>
      <p:ext uri="{BB962C8B-B14F-4D97-AF65-F5344CB8AC3E}">
        <p14:creationId xmlns:p14="http://schemas.microsoft.com/office/powerpoint/2010/main" val="2821568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DFB08-D8E0-5870-D5F9-6F6CACA84667}"/>
              </a:ext>
            </a:extLst>
          </p:cNvPr>
          <p:cNvSpPr>
            <a:spLocks noGrp="1"/>
          </p:cNvSpPr>
          <p:nvPr>
            <p:ph type="title"/>
          </p:nvPr>
        </p:nvSpPr>
        <p:spPr>
          <a:xfrm>
            <a:off x="609600" y="274638"/>
            <a:ext cx="10972800" cy="828605"/>
          </a:xfrm>
        </p:spPr>
        <p:txBody>
          <a:bodyPr>
            <a:normAutofit/>
          </a:bodyPr>
          <a:lstStyle/>
          <a:p>
            <a:r>
              <a:rPr lang="en-US" sz="4000" b="1" dirty="0"/>
              <a:t>Effort Towards Unity And National Integration</a:t>
            </a:r>
            <a:endParaRPr lang="en-MY" sz="4000" b="1" dirty="0"/>
          </a:p>
        </p:txBody>
      </p:sp>
      <p:sp>
        <p:nvSpPr>
          <p:cNvPr id="12" name="Content Placeholder 11">
            <a:extLst>
              <a:ext uri="{FF2B5EF4-FFF2-40B4-BE49-F238E27FC236}">
                <a16:creationId xmlns:a16="http://schemas.microsoft.com/office/drawing/2014/main" id="{46BF300C-A46D-ED8F-6721-591DB9E8A04E}"/>
              </a:ext>
            </a:extLst>
          </p:cNvPr>
          <p:cNvSpPr>
            <a:spLocks noGrp="1"/>
          </p:cNvSpPr>
          <p:nvPr>
            <p:ph idx="1"/>
          </p:nvPr>
        </p:nvSpPr>
        <p:spPr>
          <a:xfrm>
            <a:off x="168965" y="1103243"/>
            <a:ext cx="11936896" cy="5565914"/>
          </a:xfrm>
        </p:spPr>
        <p:txBody>
          <a:bodyPr>
            <a:normAutofit lnSpcReduction="10000"/>
          </a:bodyPr>
          <a:lstStyle/>
          <a:p>
            <a:pPr algn="just">
              <a:spcAft>
                <a:spcPts val="800"/>
              </a:spcAft>
            </a:pPr>
            <a:r>
              <a:rPr lang="en-US"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Economy </a:t>
            </a:r>
            <a:endParaRPr lang="en-MY"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solidFill>
                  <a:srgbClr val="000000"/>
                </a:solidFill>
                <a:effectLst/>
                <a:latin typeface="Arial" panose="020B0604020202020204" pitchFamily="34" charset="0"/>
                <a:ea typeface="Noto Sans Symbols"/>
                <a:cs typeface="Arial" panose="020B0604020202020204" pitchFamily="34" charset="0"/>
              </a:rPr>
              <a:t>New Economic Policy (MP 1971-1975) NDP </a:t>
            </a:r>
            <a:endParaRPr lang="en-MY" sz="2000" dirty="0">
              <a:effectLst/>
              <a:latin typeface="Arial" panose="020B0604020202020204" pitchFamily="34" charset="0"/>
              <a:ea typeface="Times New Roman" panose="02020603050405020304" pitchFamily="18" charset="0"/>
              <a:cs typeface="Arial" panose="020B0604020202020204" pitchFamily="34" charset="0"/>
            </a:endParaRPr>
          </a:p>
          <a:p>
            <a:pPr algn="just">
              <a:spcAft>
                <a:spcPts val="800"/>
              </a:spcAft>
            </a:pPr>
            <a:r>
              <a:rPr lang="en-US"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Social </a:t>
            </a:r>
            <a:endParaRPr lang="en-MY"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000" i="1" dirty="0" err="1">
                <a:solidFill>
                  <a:srgbClr val="000000"/>
                </a:solidFill>
                <a:effectLst/>
                <a:latin typeface="Arial" panose="020B0604020202020204" pitchFamily="34" charset="0"/>
                <a:ea typeface="Noto Sans Symbols"/>
                <a:cs typeface="Arial" panose="020B0604020202020204" pitchFamily="34" charset="0"/>
              </a:rPr>
              <a:t>Rukun</a:t>
            </a:r>
            <a:r>
              <a:rPr lang="en-US" sz="2000" i="1" dirty="0">
                <a:solidFill>
                  <a:srgbClr val="000000"/>
                </a:solidFill>
                <a:effectLst/>
                <a:latin typeface="Arial" panose="020B0604020202020204" pitchFamily="34" charset="0"/>
                <a:ea typeface="Noto Sans Symbols"/>
                <a:cs typeface="Arial" panose="020B0604020202020204" pitchFamily="34" charset="0"/>
              </a:rPr>
              <a:t> Negara </a:t>
            </a:r>
            <a:endParaRPr lang="en-MY" sz="2000" dirty="0">
              <a:effectLst/>
              <a:latin typeface="Arial" panose="020B0604020202020204" pitchFamily="34" charset="0"/>
              <a:ea typeface="Noto Sans Symbols"/>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solidFill>
                  <a:srgbClr val="000000"/>
                </a:solidFill>
                <a:effectLst/>
                <a:latin typeface="Arial" panose="020B0604020202020204" pitchFamily="34" charset="0"/>
                <a:ea typeface="Noto Sans Symbols"/>
                <a:cs typeface="Arial" panose="020B0604020202020204" pitchFamily="34" charset="0"/>
              </a:rPr>
              <a:t>National Education Policy </a:t>
            </a:r>
            <a:endParaRPr lang="en-MY" sz="2000" dirty="0">
              <a:effectLst/>
              <a:latin typeface="Arial" panose="020B0604020202020204" pitchFamily="34" charset="0"/>
              <a:ea typeface="Noto Sans Symbols"/>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solidFill>
                  <a:srgbClr val="000000"/>
                </a:solidFill>
                <a:effectLst/>
                <a:latin typeface="Arial" panose="020B0604020202020204" pitchFamily="34" charset="0"/>
                <a:ea typeface="Noto Sans Symbols"/>
                <a:cs typeface="Arial" panose="020B0604020202020204" pitchFamily="34" charset="0"/>
              </a:rPr>
              <a:t>National Cultural Policy </a:t>
            </a:r>
            <a:endParaRPr lang="en-MY" sz="2000" dirty="0">
              <a:effectLst/>
              <a:latin typeface="Arial" panose="020B0604020202020204" pitchFamily="34" charset="0"/>
              <a:ea typeface="Noto Sans Symbols"/>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solidFill>
                  <a:srgbClr val="000000"/>
                </a:solidFill>
                <a:effectLst/>
                <a:latin typeface="Arial" panose="020B0604020202020204" pitchFamily="34" charset="0"/>
                <a:ea typeface="Noto Sans Symbols"/>
                <a:cs typeface="Arial" panose="020B0604020202020204" pitchFamily="34" charset="0"/>
              </a:rPr>
              <a:t>1Malaysia </a:t>
            </a:r>
            <a:endParaRPr lang="en-MY" sz="2000" dirty="0">
              <a:effectLst/>
              <a:latin typeface="Arial" panose="020B0604020202020204" pitchFamily="34" charset="0"/>
              <a:ea typeface="Times New Roman" panose="02020603050405020304" pitchFamily="18" charset="0"/>
              <a:cs typeface="Arial" panose="020B0604020202020204" pitchFamily="34" charset="0"/>
            </a:endParaRPr>
          </a:p>
          <a:p>
            <a:pPr algn="just">
              <a:spcAft>
                <a:spcPts val="800"/>
              </a:spcAft>
            </a:pPr>
            <a:r>
              <a:rPr lang="en-US"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Malaysian Nation </a:t>
            </a:r>
            <a:endParaRPr lang="en-MY"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lvl="1" indent="-342900" algn="just">
              <a:spcAft>
                <a:spcPts val="800"/>
              </a:spcAft>
              <a:buFont typeface="Arial" panose="020B0604020202020204" pitchFamily="34" charset="0"/>
              <a:buChar char="●"/>
            </a:pPr>
            <a:r>
              <a:rPr lang="en-US" sz="2000" dirty="0">
                <a:solidFill>
                  <a:srgbClr val="000000"/>
                </a:solidFill>
                <a:effectLst/>
                <a:latin typeface="Arial" panose="020B0604020202020204" pitchFamily="34" charset="0"/>
                <a:ea typeface="Noto Sans Symbols"/>
                <a:cs typeface="Arial" panose="020B0604020202020204" pitchFamily="34" charset="0"/>
              </a:rPr>
              <a:t>Respect </a:t>
            </a:r>
            <a:endParaRPr lang="en-MY" sz="2000" dirty="0">
              <a:effectLst/>
              <a:latin typeface="Arial" panose="020B0604020202020204" pitchFamily="34" charset="0"/>
              <a:ea typeface="Noto Sans Symbols"/>
              <a:cs typeface="Arial" panose="020B0604020202020204" pitchFamily="34" charset="0"/>
            </a:endParaRPr>
          </a:p>
          <a:p>
            <a:pPr lvl="1" indent="-342900" algn="just">
              <a:spcAft>
                <a:spcPts val="800"/>
              </a:spcAft>
              <a:buFont typeface="Arial" panose="020B0604020202020204" pitchFamily="34" charset="0"/>
              <a:buChar char="●"/>
            </a:pPr>
            <a:r>
              <a:rPr lang="en-US" sz="2000" dirty="0">
                <a:solidFill>
                  <a:srgbClr val="000000"/>
                </a:solidFill>
                <a:effectLst/>
                <a:latin typeface="Arial" panose="020B0604020202020204" pitchFamily="34" charset="0"/>
                <a:ea typeface="Noto Sans Symbols"/>
                <a:cs typeface="Arial" panose="020B0604020202020204" pitchFamily="34" charset="0"/>
              </a:rPr>
              <a:t>Relationship beyond ethnic lines </a:t>
            </a:r>
            <a:endParaRPr lang="en-MY" sz="2000" dirty="0">
              <a:effectLst/>
              <a:latin typeface="Arial" panose="020B0604020202020204" pitchFamily="34" charset="0"/>
              <a:ea typeface="Times New Roman" panose="02020603050405020304" pitchFamily="18" charset="0"/>
              <a:cs typeface="Arial" panose="020B0604020202020204" pitchFamily="34" charset="0"/>
            </a:endParaRPr>
          </a:p>
          <a:p>
            <a:pPr algn="just">
              <a:spcAft>
                <a:spcPts val="800"/>
              </a:spcAft>
            </a:pPr>
            <a:r>
              <a:rPr lang="en-US"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Politics </a:t>
            </a:r>
            <a:endParaRPr lang="en-MY"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lvl="1" indent="-342900" algn="just">
              <a:spcAft>
                <a:spcPts val="800"/>
              </a:spcAft>
              <a:buFont typeface="Arial" panose="020B0604020202020204" pitchFamily="34" charset="0"/>
              <a:buChar char="●"/>
            </a:pPr>
            <a:r>
              <a:rPr lang="en-US" sz="2000" dirty="0">
                <a:solidFill>
                  <a:srgbClr val="000000"/>
                </a:solidFill>
                <a:effectLst/>
                <a:latin typeface="Arial" panose="020B0604020202020204" pitchFamily="34" charset="0"/>
                <a:ea typeface="Noto Sans Symbols"/>
                <a:cs typeface="Arial" panose="020B0604020202020204" pitchFamily="34" charset="0"/>
              </a:rPr>
              <a:t>Sedition Act 1948 (Amendment 2012) – Power sharing </a:t>
            </a:r>
            <a:endParaRPr lang="en-MY" sz="2000" dirty="0">
              <a:effectLst/>
              <a:latin typeface="Arial" panose="020B0604020202020204" pitchFamily="34" charset="0"/>
              <a:ea typeface="Noto Sans Symbols"/>
              <a:cs typeface="Arial" panose="020B0604020202020204" pitchFamily="34" charset="0"/>
            </a:endParaRPr>
          </a:p>
          <a:p>
            <a:pPr marL="0" indent="0" algn="just">
              <a:spcAft>
                <a:spcPts val="800"/>
              </a:spcAft>
              <a:buNone/>
            </a:pPr>
            <a:endParaRPr lang="en-MY" sz="1800" dirty="0"/>
          </a:p>
        </p:txBody>
      </p:sp>
    </p:spTree>
    <p:extLst>
      <p:ext uri="{BB962C8B-B14F-4D97-AF65-F5344CB8AC3E}">
        <p14:creationId xmlns:p14="http://schemas.microsoft.com/office/powerpoint/2010/main" val="1084533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7C56-707A-4BBC-A470-FF063BDC6268}"/>
              </a:ext>
            </a:extLst>
          </p:cNvPr>
          <p:cNvSpPr>
            <a:spLocks noGrp="1"/>
          </p:cNvSpPr>
          <p:nvPr>
            <p:ph type="title"/>
          </p:nvPr>
        </p:nvSpPr>
        <p:spPr>
          <a:xfrm>
            <a:off x="129209" y="247651"/>
            <a:ext cx="9921625" cy="646872"/>
          </a:xfrm>
        </p:spPr>
        <p:txBody>
          <a:bodyPr/>
          <a:lstStyle/>
          <a:p>
            <a:pPr algn="ctr"/>
            <a:r>
              <a:rPr lang="en-US" sz="3600" b="1" dirty="0"/>
              <a:t>Government efforts to increase PATRIOTISM</a:t>
            </a:r>
            <a:endParaRPr lang="en-MY" sz="3600" b="1" dirty="0"/>
          </a:p>
        </p:txBody>
      </p:sp>
      <p:sp>
        <p:nvSpPr>
          <p:cNvPr id="3" name="Content Placeholder 2">
            <a:extLst>
              <a:ext uri="{FF2B5EF4-FFF2-40B4-BE49-F238E27FC236}">
                <a16:creationId xmlns:a16="http://schemas.microsoft.com/office/drawing/2014/main" id="{90B961A5-318F-4819-A170-3CF0E0DD79BB}"/>
              </a:ext>
            </a:extLst>
          </p:cNvPr>
          <p:cNvSpPr>
            <a:spLocks noGrp="1"/>
          </p:cNvSpPr>
          <p:nvPr>
            <p:ph sz="half" idx="1"/>
          </p:nvPr>
        </p:nvSpPr>
        <p:spPr>
          <a:xfrm>
            <a:off x="228600" y="894522"/>
            <a:ext cx="11658600" cy="5715829"/>
          </a:xfrm>
        </p:spPr>
        <p:txBody>
          <a:bodyPr>
            <a:normAutofit/>
          </a:bodyPr>
          <a:lstStyle/>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Celebrating national events such as Independence Day, Malaysia Day, Youth Day, participation in cultural and religious celebrations of ethnic groups such as Hari Raya (Muslim), Chinese New Year (Chinese), Deepavali (Indian), </a:t>
            </a:r>
            <a:r>
              <a:rPr lang="en-US" sz="2400" dirty="0" err="1">
                <a:effectLst/>
                <a:latin typeface="Noto Sans Symbols"/>
                <a:ea typeface="Noto Sans Symbols"/>
                <a:cs typeface="Noto Sans Symbols"/>
              </a:rPr>
              <a:t>Gawai</a:t>
            </a:r>
            <a:r>
              <a:rPr lang="en-US" sz="2400" dirty="0">
                <a:effectLst/>
                <a:latin typeface="Noto Sans Symbols"/>
                <a:ea typeface="Noto Sans Symbols"/>
                <a:cs typeface="Noto Sans Symbols"/>
              </a:rPr>
              <a:t> Day (Iban) </a:t>
            </a:r>
            <a:r>
              <a:rPr lang="en-US" sz="2400" dirty="0" err="1">
                <a:effectLst/>
                <a:latin typeface="Noto Sans Symbols"/>
                <a:ea typeface="Noto Sans Symbols"/>
                <a:cs typeface="Noto Sans Symbols"/>
              </a:rPr>
              <a:t>etc</a:t>
            </a:r>
            <a:r>
              <a:rPr lang="en-US" sz="2400" dirty="0">
                <a:effectLst/>
                <a:latin typeface="Noto Sans Symbols"/>
                <a:ea typeface="Noto Sans Symbols"/>
                <a:cs typeface="Noto Sans Symbols"/>
              </a:rPr>
              <a:t>, National Open House.</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Programs like BTN (National Civics Bureau Courses) and PLKN (National Services)</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Empower the national language (Bahasa </a:t>
            </a:r>
            <a:r>
              <a:rPr lang="en-US" sz="2400" dirty="0" err="1">
                <a:effectLst/>
                <a:latin typeface="Noto Sans Symbols"/>
                <a:ea typeface="Noto Sans Symbols"/>
                <a:cs typeface="Noto Sans Symbols"/>
              </a:rPr>
              <a:t>Melayu</a:t>
            </a:r>
            <a:r>
              <a:rPr lang="en-US" sz="2400" dirty="0">
                <a:effectLst/>
                <a:latin typeface="Noto Sans Symbols"/>
                <a:ea typeface="Noto Sans Symbols"/>
                <a:cs typeface="Noto Sans Symbols"/>
              </a:rPr>
              <a:t>)</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Unity in Education Policy- national education system</a:t>
            </a:r>
            <a:endParaRPr lang="en-MY" sz="2400" dirty="0">
              <a:effectLst/>
              <a:latin typeface="Noto Sans Symbols"/>
              <a:ea typeface="Noto Sans Symbols"/>
              <a:cs typeface="Noto Sans Symbols"/>
            </a:endParaRPr>
          </a:p>
          <a:p>
            <a:pPr marL="0" indent="0">
              <a:buNone/>
            </a:pPr>
            <a:endParaRPr lang="en-MY" sz="2000" dirty="0">
              <a:effectLst/>
              <a:latin typeface="Calibri" panose="020F0502020204030204" pitchFamily="34" charset="0"/>
              <a:ea typeface="Times New Roman" panose="02020603050405020304" pitchFamily="18" charset="0"/>
              <a:cs typeface="Calibri" panose="020F0502020204030204" pitchFamily="34" charset="0"/>
            </a:endParaRPr>
          </a:p>
          <a:p>
            <a:pPr marL="457200" indent="-457200" algn="just">
              <a:buAutoNum type="arabicPeriod"/>
            </a:pPr>
            <a:endParaRPr lang="en-MY" sz="2000" dirty="0"/>
          </a:p>
        </p:txBody>
      </p:sp>
    </p:spTree>
    <p:extLst>
      <p:ext uri="{BB962C8B-B14F-4D97-AF65-F5344CB8AC3E}">
        <p14:creationId xmlns:p14="http://schemas.microsoft.com/office/powerpoint/2010/main" val="1109193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558906-63F5-E02B-E208-D73389C401A9}"/>
              </a:ext>
            </a:extLst>
          </p:cNvPr>
          <p:cNvSpPr>
            <a:spLocks noGrp="1"/>
          </p:cNvSpPr>
          <p:nvPr>
            <p:ph sz="half" idx="1"/>
          </p:nvPr>
        </p:nvSpPr>
        <p:spPr>
          <a:xfrm>
            <a:off x="318051" y="387627"/>
            <a:ext cx="11628783" cy="6013174"/>
          </a:xfrm>
        </p:spPr>
        <p:txBody>
          <a:bodyPr>
            <a:normAutofit/>
          </a:bodyPr>
          <a:lstStyle/>
          <a:p>
            <a:pPr marL="0" indent="0" algn="ctr">
              <a:spcAft>
                <a:spcPts val="800"/>
              </a:spcAft>
              <a:buNone/>
            </a:pPr>
            <a:r>
              <a:rPr lang="en-US" sz="3600" b="1" dirty="0">
                <a:effectLst/>
                <a:latin typeface="Times New Roman" panose="02020603050405020304" pitchFamily="18" charset="0"/>
                <a:ea typeface="Times New Roman" panose="02020603050405020304" pitchFamily="18" charset="0"/>
              </a:rPr>
              <a:t>NATIONAL IDENTITY</a:t>
            </a:r>
            <a:endParaRPr lang="en-MY" sz="3600" dirty="0">
              <a:effectLst/>
              <a:latin typeface="Times New Roman" panose="02020603050405020304" pitchFamily="18" charset="0"/>
              <a:ea typeface="Times New Roman" panose="02020603050405020304" pitchFamily="18"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National identity can be defined as an example of an exclusively unique trait among different nations.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Huntington (1997) - national identity can be perceived as a theoretical construct that is formed based upon a number of distinctive factors associated with a particular culture practiced inside a particular political state.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r>
              <a:rPr lang="en-US" sz="2000" dirty="0">
                <a:effectLst/>
                <a:latin typeface="Arial" panose="020B0604020202020204" pitchFamily="34" charset="0"/>
                <a:ea typeface="Times New Roman" panose="02020603050405020304" pitchFamily="18" charset="0"/>
                <a:cs typeface="Arial" panose="020B0604020202020204" pitchFamily="34" charset="0"/>
              </a:rPr>
              <a:t>National identity associated with the culture of a society, individual members of that society may develop a personal and social identity that is in accord with its dominant personal and social values.</a:t>
            </a:r>
            <a:endParaRPr lang="en-MY"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5508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47C5C-A2EF-6A8F-24CC-F4C4D6ECD36F}"/>
              </a:ext>
            </a:extLst>
          </p:cNvPr>
          <p:cNvSpPr>
            <a:spLocks noGrp="1"/>
          </p:cNvSpPr>
          <p:nvPr>
            <p:ph idx="1"/>
          </p:nvPr>
        </p:nvSpPr>
        <p:spPr>
          <a:xfrm>
            <a:off x="357809" y="129209"/>
            <a:ext cx="11598965" cy="6500191"/>
          </a:xfrm>
        </p:spPr>
        <p:txBody>
          <a:bodyPr>
            <a:normAutofit/>
          </a:bodyPr>
          <a:lstStyle/>
          <a:p>
            <a:pPr algn="just">
              <a:spcAft>
                <a:spcPts val="800"/>
              </a:spcAft>
            </a:pPr>
            <a:r>
              <a:rPr lang="en-US" sz="1800" b="1" dirty="0">
                <a:effectLst/>
                <a:latin typeface="Arial" panose="020B0604020202020204" pitchFamily="34" charset="0"/>
                <a:ea typeface="Times New Roman" panose="02020603050405020304" pitchFamily="18" charset="0"/>
                <a:cs typeface="Arial" panose="020B0604020202020204" pitchFamily="34" charset="0"/>
              </a:rPr>
              <a:t>NATIONAL IDENTITY = nation building process?</a:t>
            </a:r>
            <a:endParaRPr lang="en-MY" sz="1800"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b="1" u="sng" dirty="0">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rPr>
              <a:t>Federal Constitution</a:t>
            </a:r>
            <a:endParaRPr lang="en-MY" sz="1800" b="1" u="sng" dirty="0">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Compromise between the races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Bahasa </a:t>
            </a:r>
            <a:r>
              <a:rPr lang="en-US" sz="1800" dirty="0" err="1">
                <a:effectLst/>
                <a:latin typeface="Arial" panose="020B0604020202020204" pitchFamily="34" charset="0"/>
                <a:ea typeface="Arial" panose="020B0604020202020204" pitchFamily="34" charset="0"/>
                <a:cs typeface="Arial" panose="020B0604020202020204" pitchFamily="34" charset="0"/>
              </a:rPr>
              <a:t>Melayu</a:t>
            </a:r>
            <a:r>
              <a:rPr lang="en-US" sz="1800" dirty="0">
                <a:effectLst/>
                <a:latin typeface="Arial" panose="020B0604020202020204" pitchFamily="34" charset="0"/>
                <a:ea typeface="Arial" panose="020B0604020202020204" pitchFamily="34" charset="0"/>
                <a:cs typeface="Arial" panose="020B0604020202020204" pitchFamily="34" charset="0"/>
              </a:rPr>
              <a:t> as the national language</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Islam as the religion of the Federation</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Religious freedom</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b="1" u="sng" dirty="0" err="1">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rPr>
              <a:t>Rukun</a:t>
            </a:r>
            <a:r>
              <a:rPr lang="en-US" sz="1800" b="1" u="sng" dirty="0">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rPr>
              <a:t> Negara = National Ideology</a:t>
            </a:r>
            <a:endParaRPr lang="en-MY" sz="1800" b="1" u="sng" dirty="0">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Philosophy that respects and celebrates diversity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b="1" u="sng" dirty="0">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rPr>
              <a:t> “Malaysian Nation”</a:t>
            </a:r>
            <a:endParaRPr lang="en-MY" sz="1800" b="1" u="sng" dirty="0">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Vision 2020 – Tun Mahathir</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One Malaysia – Dato’ Seri Najib Tun Razak</a:t>
            </a:r>
            <a:endParaRPr lang="en-MY"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b="1" u="sng" dirty="0">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rPr>
              <a:t>National Education system – national school</a:t>
            </a:r>
            <a:endParaRPr lang="en-MY" sz="1800" b="1" u="sng" dirty="0">
              <a:effectLst>
                <a:outerShdw blurRad="38100" dist="38100" dir="2700000" algn="tl">
                  <a:srgbClr val="000000">
                    <a:alpha val="43137"/>
                  </a:srgbClr>
                </a:outerShdw>
              </a:effectLst>
              <a:latin typeface="Arial" panose="020B0604020202020204" pitchFamily="34" charset="0"/>
              <a:ea typeface="Noto Sans Symbols"/>
              <a:cs typeface="Arial" panose="020B0604020202020204" pitchFamily="34" charset="0"/>
            </a:endParaRPr>
          </a:p>
          <a:p>
            <a:pPr>
              <a:buFont typeface="Wingdings" panose="05000000000000000000" pitchFamily="2" charset="2"/>
              <a:buChar char="q"/>
            </a:pPr>
            <a:r>
              <a:rPr lang="en-US" sz="1800" b="1" u="sng"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National Cultural Policy – 3 pillars</a:t>
            </a:r>
            <a:endParaRPr lang="en-MY" sz="1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427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6E95C-12FF-4D3C-8374-ED370A9AE484}"/>
              </a:ext>
            </a:extLst>
          </p:cNvPr>
          <p:cNvSpPr>
            <a:spLocks noGrp="1"/>
          </p:cNvSpPr>
          <p:nvPr>
            <p:ph type="title"/>
          </p:nvPr>
        </p:nvSpPr>
        <p:spPr>
          <a:xfrm>
            <a:off x="268358" y="179976"/>
            <a:ext cx="10048458" cy="859247"/>
          </a:xfrm>
        </p:spPr>
        <p:txBody>
          <a:bodyPr/>
          <a:lstStyle/>
          <a:p>
            <a:pPr algn="ctr"/>
            <a:r>
              <a:rPr lang="en-US" sz="3600" b="1" dirty="0">
                <a:effectLst>
                  <a:outerShdw blurRad="38100" dist="38100" dir="2700000" algn="tl">
                    <a:srgbClr val="000000">
                      <a:alpha val="43137"/>
                    </a:srgbClr>
                  </a:outerShdw>
                </a:effectLst>
              </a:rPr>
              <a:t>RUKUN NEGARA (NATIONAL IDEOLOGY)</a:t>
            </a:r>
          </a:p>
        </p:txBody>
      </p:sp>
      <p:sp>
        <p:nvSpPr>
          <p:cNvPr id="6" name="Content Placeholder 5">
            <a:extLst>
              <a:ext uri="{FF2B5EF4-FFF2-40B4-BE49-F238E27FC236}">
                <a16:creationId xmlns:a16="http://schemas.microsoft.com/office/drawing/2014/main" id="{1A10FE49-C253-4256-B7D0-D48311AD821E}"/>
              </a:ext>
            </a:extLst>
          </p:cNvPr>
          <p:cNvSpPr>
            <a:spLocks noGrp="1"/>
          </p:cNvSpPr>
          <p:nvPr>
            <p:ph idx="1"/>
          </p:nvPr>
        </p:nvSpPr>
        <p:spPr>
          <a:xfrm>
            <a:off x="268358" y="1039223"/>
            <a:ext cx="11655284" cy="5366058"/>
          </a:xfrm>
        </p:spPr>
        <p:txBody>
          <a:bodyPr>
            <a:normAutofit/>
          </a:bodyPr>
          <a:lstStyle/>
          <a:p>
            <a:pPr marL="0" indent="0" algn="just">
              <a:buNone/>
            </a:pPr>
            <a:endParaRPr lang="en-MY" dirty="0"/>
          </a:p>
          <a:p>
            <a:pPr marL="342900" lvl="0" indent="-342900" algn="just">
              <a:spcAft>
                <a:spcPts val="800"/>
              </a:spcAft>
              <a:buFont typeface="Arial" panose="020B0604020202020204" pitchFamily="34" charset="0"/>
              <a:buChar char="•"/>
            </a:pPr>
            <a:r>
              <a:rPr lang="en-US" sz="2400" dirty="0" err="1">
                <a:effectLst/>
                <a:latin typeface="Arial" panose="020B0604020202020204" pitchFamily="34" charset="0"/>
                <a:ea typeface="Arial" panose="020B0604020202020204" pitchFamily="34" charset="0"/>
                <a:cs typeface="Arial" panose="020B0604020202020204" pitchFamily="34" charset="0"/>
              </a:rPr>
              <a:t>Rukun</a:t>
            </a:r>
            <a:r>
              <a:rPr lang="en-US" sz="2400" dirty="0">
                <a:effectLst/>
                <a:latin typeface="Arial" panose="020B0604020202020204" pitchFamily="34" charset="0"/>
                <a:ea typeface="Arial" panose="020B0604020202020204" pitchFamily="34" charset="0"/>
                <a:cs typeface="Arial" panose="020B0604020202020204" pitchFamily="34" charset="0"/>
              </a:rPr>
              <a:t> Negara was </a:t>
            </a:r>
            <a:r>
              <a:rPr lang="en-US" sz="2400" dirty="0" err="1">
                <a:effectLst/>
                <a:latin typeface="Arial" panose="020B0604020202020204" pitchFamily="34" charset="0"/>
                <a:ea typeface="Arial" panose="020B0604020202020204" pitchFamily="34" charset="0"/>
                <a:cs typeface="Arial" panose="020B0604020202020204" pitchFamily="34" charset="0"/>
              </a:rPr>
              <a:t>formalised</a:t>
            </a:r>
            <a:r>
              <a:rPr lang="en-US" sz="2400" dirty="0">
                <a:effectLst/>
                <a:latin typeface="Arial" panose="020B0604020202020204" pitchFamily="34" charset="0"/>
                <a:ea typeface="Arial" panose="020B0604020202020204" pitchFamily="34" charset="0"/>
                <a:cs typeface="Arial" panose="020B0604020202020204" pitchFamily="34" charset="0"/>
              </a:rPr>
              <a:t> in 31 August 1970</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Response to the ethnic riot tragedy of 13 May 1969</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Objectives of </a:t>
            </a:r>
            <a:r>
              <a:rPr lang="en-US" sz="2400" dirty="0" err="1">
                <a:effectLst/>
                <a:latin typeface="Arial" panose="020B0604020202020204" pitchFamily="34" charset="0"/>
                <a:ea typeface="Arial" panose="020B0604020202020204" pitchFamily="34" charset="0"/>
                <a:cs typeface="Arial" panose="020B0604020202020204" pitchFamily="34" charset="0"/>
              </a:rPr>
              <a:t>Rukun</a:t>
            </a:r>
            <a:r>
              <a:rPr lang="en-US" sz="2400" dirty="0">
                <a:effectLst/>
                <a:latin typeface="Arial" panose="020B0604020202020204" pitchFamily="34" charset="0"/>
                <a:ea typeface="Arial" panose="020B0604020202020204" pitchFamily="34" charset="0"/>
                <a:cs typeface="Arial" panose="020B0604020202020204" pitchFamily="34" charset="0"/>
              </a:rPr>
              <a:t> Negara are directed towards developing a modern and progressive nation where the people together enjoy the nation’s riches in a fair and just manner, in a peaceful environment, respecting each other, despite ethnic and cultural differences</a:t>
            </a:r>
            <a:r>
              <a:rPr lang="en-US" sz="1800" dirty="0">
                <a:effectLst/>
                <a:latin typeface="Arial" panose="020B0604020202020204" pitchFamily="34" charset="0"/>
                <a:ea typeface="Arial" panose="020B0604020202020204" pitchFamily="34" charset="0"/>
                <a:cs typeface="Arial" panose="020B0604020202020204" pitchFamily="34" charset="0"/>
              </a:rPr>
              <a:t>.</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0" indent="0" algn="just">
              <a:buNone/>
            </a:pPr>
            <a:endParaRPr lang="en-MY" dirty="0"/>
          </a:p>
        </p:txBody>
      </p:sp>
    </p:spTree>
    <p:extLst>
      <p:ext uri="{BB962C8B-B14F-4D97-AF65-F5344CB8AC3E}">
        <p14:creationId xmlns:p14="http://schemas.microsoft.com/office/powerpoint/2010/main" val="794449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CAD9A-15C1-42B3-BFD0-13A9EC962C6B}"/>
              </a:ext>
            </a:extLst>
          </p:cNvPr>
          <p:cNvSpPr>
            <a:spLocks noGrp="1"/>
          </p:cNvSpPr>
          <p:nvPr>
            <p:ph type="title"/>
          </p:nvPr>
        </p:nvSpPr>
        <p:spPr>
          <a:xfrm>
            <a:off x="318052" y="149088"/>
            <a:ext cx="10008705" cy="822946"/>
          </a:xfrm>
        </p:spPr>
        <p:txBody>
          <a:bodyPr/>
          <a:lstStyle/>
          <a:p>
            <a:pPr algn="ctr"/>
            <a:r>
              <a:rPr lang="en-US" sz="3600" b="1" dirty="0"/>
              <a:t>RUKUN NEGARA (NATIONAL IDEOLOGY)</a:t>
            </a:r>
            <a:br>
              <a:rPr lang="en-US" sz="3600" b="1" dirty="0"/>
            </a:br>
            <a:endParaRPr lang="en-US" sz="3600" b="1" dirty="0"/>
          </a:p>
        </p:txBody>
      </p:sp>
      <p:sp>
        <p:nvSpPr>
          <p:cNvPr id="4" name="Content Placeholder 3">
            <a:extLst>
              <a:ext uri="{FF2B5EF4-FFF2-40B4-BE49-F238E27FC236}">
                <a16:creationId xmlns:a16="http://schemas.microsoft.com/office/drawing/2014/main" id="{1B25F48A-ECA0-4228-ABFC-A90E981D78F3}"/>
              </a:ext>
            </a:extLst>
          </p:cNvPr>
          <p:cNvSpPr>
            <a:spLocks noGrp="1"/>
          </p:cNvSpPr>
          <p:nvPr>
            <p:ph sz="half" idx="1"/>
          </p:nvPr>
        </p:nvSpPr>
        <p:spPr>
          <a:xfrm>
            <a:off x="318052" y="795131"/>
            <a:ext cx="11678478" cy="5913782"/>
          </a:xfrm>
        </p:spPr>
        <p:txBody>
          <a:bodyPr>
            <a:normAutofit/>
          </a:bodyPr>
          <a:lstStyle/>
          <a:p>
            <a:pPr marL="0" indent="0">
              <a:buNone/>
            </a:pPr>
            <a:endParaRPr lang="en-US" dirty="0"/>
          </a:p>
          <a:p>
            <a:pPr marL="742950" lvl="1" indent="-285750">
              <a:spcAft>
                <a:spcPts val="800"/>
              </a:spcAft>
              <a:buFont typeface="Arial" panose="020B0604020202020204" pitchFamily="34" charset="0"/>
              <a:buChar char="•"/>
            </a:pPr>
            <a:r>
              <a:rPr lang="en-US" sz="1800" dirty="0">
                <a:solidFill>
                  <a:srgbClr val="000000"/>
                </a:solidFill>
                <a:effectLst/>
                <a:latin typeface="Arial" panose="020B0604020202020204" pitchFamily="34" charset="0"/>
                <a:ea typeface="Arial" panose="020B0604020202020204" pitchFamily="34" charset="0"/>
                <a:cs typeface="Arial" panose="020B0604020202020204" pitchFamily="34" charset="0"/>
              </a:rPr>
              <a:t>WHEREAS OUR COUNTRY MALAYSIA nurtures the ambitions of: </a:t>
            </a:r>
            <a: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t>achieving a more perfect unity amongst the whole of her society;</a:t>
            </a:r>
            <a:b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t>preserving a democratic way of life;</a:t>
            </a:r>
            <a:b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t>creating a just society where the prosperity of the country can be enjoyed together in a fair and equitable manner;</a:t>
            </a:r>
            <a:b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t>guaranteeing a liberal approach towards her rich and varied cultural traditions; and</a:t>
            </a:r>
            <a:b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t>building a progressive society that will make use of science and modern technology.</a:t>
            </a:r>
            <a:b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br>
            <a:r>
              <a:rPr lang="en-US" sz="1800" b="1" i="1" dirty="0">
                <a:solidFill>
                  <a:srgbClr val="000000"/>
                </a:solidFill>
                <a:effectLst/>
                <a:latin typeface="Arial" panose="020B0604020202020204" pitchFamily="34" charset="0"/>
                <a:ea typeface="Arial" panose="020B0604020202020204" pitchFamily="34" charset="0"/>
                <a:cs typeface="Arial" panose="020B0604020202020204" pitchFamily="34" charset="0"/>
              </a:rPr>
              <a:t>NOW THEREFORE WE, the people of Malaysia, pledge to concentrate the whole of our energy and efforts to achieve these ambitions based on the following principles: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algn="just">
              <a:spcAft>
                <a:spcPts val="800"/>
              </a:spcAft>
              <a:buFont typeface="Arial" panose="020B0604020202020204" pitchFamily="34" charset="0"/>
              <a:buChar char="•"/>
            </a:pPr>
            <a:r>
              <a:rPr lang="en-US" sz="1800" b="1" dirty="0">
                <a:effectLst/>
                <a:latin typeface="Arial" panose="020B0604020202020204" pitchFamily="34" charset="0"/>
                <a:ea typeface="Arial" panose="020B0604020202020204" pitchFamily="34" charset="0"/>
                <a:cs typeface="Arial" panose="020B0604020202020204" pitchFamily="34" charset="0"/>
              </a:rPr>
              <a:t>BELIEF IN GOD</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algn="just">
              <a:spcAft>
                <a:spcPts val="800"/>
              </a:spcAft>
              <a:buFont typeface="Arial" panose="020B0604020202020204" pitchFamily="34" charset="0"/>
              <a:buChar char="•"/>
            </a:pPr>
            <a:r>
              <a:rPr lang="en-US" sz="1800" b="1" dirty="0">
                <a:effectLst/>
                <a:latin typeface="Arial" panose="020B0604020202020204" pitchFamily="34" charset="0"/>
                <a:ea typeface="Arial" panose="020B0604020202020204" pitchFamily="34" charset="0"/>
                <a:cs typeface="Arial" panose="020B0604020202020204" pitchFamily="34" charset="0"/>
              </a:rPr>
              <a:t>LOYALTY TO KING AND COUNTRY</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algn="just">
              <a:spcAft>
                <a:spcPts val="800"/>
              </a:spcAft>
              <a:buFont typeface="Arial" panose="020B0604020202020204" pitchFamily="34" charset="0"/>
              <a:buChar char="•"/>
            </a:pPr>
            <a:r>
              <a:rPr lang="en-US" sz="1800" b="1" dirty="0">
                <a:effectLst/>
                <a:latin typeface="Arial" panose="020B0604020202020204" pitchFamily="34" charset="0"/>
                <a:ea typeface="Arial" panose="020B0604020202020204" pitchFamily="34" charset="0"/>
                <a:cs typeface="Arial" panose="020B0604020202020204" pitchFamily="34" charset="0"/>
              </a:rPr>
              <a:t>THE SUPREMACY OF THE CONSTITUTION</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algn="just">
              <a:spcAft>
                <a:spcPts val="800"/>
              </a:spcAft>
              <a:buFont typeface="Arial" panose="020B0604020202020204" pitchFamily="34" charset="0"/>
              <a:buChar char="•"/>
            </a:pPr>
            <a:r>
              <a:rPr lang="en-US" sz="1800" b="1" dirty="0">
                <a:effectLst/>
                <a:latin typeface="Arial" panose="020B0604020202020204" pitchFamily="34" charset="0"/>
                <a:ea typeface="Arial" panose="020B0604020202020204" pitchFamily="34" charset="0"/>
                <a:cs typeface="Arial" panose="020B0604020202020204" pitchFamily="34" charset="0"/>
              </a:rPr>
              <a:t>THE RULE OF LAW</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a:buFont typeface="Arial" panose="020B0604020202020204" pitchFamily="34" charset="0"/>
              <a:buChar char="•"/>
            </a:pPr>
            <a:r>
              <a:rPr lang="en-US" b="1" dirty="0">
                <a:effectLst/>
                <a:latin typeface="Arial" panose="020B0604020202020204" pitchFamily="34" charset="0"/>
                <a:ea typeface="Times New Roman" panose="02020603050405020304" pitchFamily="18" charset="0"/>
                <a:cs typeface="Arial" panose="020B0604020202020204" pitchFamily="34" charset="0"/>
              </a:rPr>
              <a:t>MANNERS AND MORALITY</a:t>
            </a:r>
            <a:endParaRPr lang="en-MY"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726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7AA6-FB52-4C4F-9559-6F72ABDE2700}"/>
              </a:ext>
            </a:extLst>
          </p:cNvPr>
          <p:cNvSpPr>
            <a:spLocks noGrp="1"/>
          </p:cNvSpPr>
          <p:nvPr>
            <p:ph type="title"/>
          </p:nvPr>
        </p:nvSpPr>
        <p:spPr>
          <a:xfrm>
            <a:off x="646111" y="452718"/>
            <a:ext cx="9404723" cy="899004"/>
          </a:xfrm>
        </p:spPr>
        <p:txBody>
          <a:bodyPr/>
          <a:lstStyle/>
          <a:p>
            <a:pPr algn="ctr"/>
            <a:r>
              <a:rPr lang="en-MY" b="1" dirty="0"/>
              <a:t>CONCLUSION</a:t>
            </a:r>
          </a:p>
        </p:txBody>
      </p:sp>
      <p:sp>
        <p:nvSpPr>
          <p:cNvPr id="3" name="Content Placeholder 2">
            <a:extLst>
              <a:ext uri="{FF2B5EF4-FFF2-40B4-BE49-F238E27FC236}">
                <a16:creationId xmlns:a16="http://schemas.microsoft.com/office/drawing/2014/main" id="{3AB5A741-A473-4191-98A3-6D9DD96CA3D7}"/>
              </a:ext>
            </a:extLst>
          </p:cNvPr>
          <p:cNvSpPr>
            <a:spLocks noGrp="1"/>
          </p:cNvSpPr>
          <p:nvPr>
            <p:ph idx="1"/>
          </p:nvPr>
        </p:nvSpPr>
        <p:spPr>
          <a:xfrm>
            <a:off x="467140" y="1351722"/>
            <a:ext cx="11320670" cy="4896677"/>
          </a:xfrm>
        </p:spPr>
        <p:txBody>
          <a:bodyPr/>
          <a:lstStyle/>
          <a:p>
            <a:pPr algn="just">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Malaysia – multi-ethnic society with a unique historical background and challenges. Maintaining the racial harmony and social stability are the main priority of the government.</a:t>
            </a:r>
          </a:p>
          <a:p>
            <a:pPr algn="just">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All program and policies in Malaysia are meant for social cohesion, national unity and integration</a:t>
            </a:r>
          </a:p>
          <a:p>
            <a:pPr marL="0" indent="0">
              <a:buNone/>
            </a:pPr>
            <a:endParaRPr lang="en-US" sz="2400" dirty="0"/>
          </a:p>
          <a:p>
            <a:pPr marL="457200" indent="-457200" algn="just" eaLnBrk="1" fontAlgn="auto" hangingPunct="1">
              <a:spcBef>
                <a:spcPts val="0"/>
              </a:spcBef>
              <a:spcAft>
                <a:spcPts val="0"/>
              </a:spcAft>
              <a:buFont typeface="Arial" charset="0"/>
              <a:buNone/>
              <a:defRPr/>
            </a:pPr>
            <a:endParaRPr lang="en-MY" dirty="0"/>
          </a:p>
        </p:txBody>
      </p:sp>
    </p:spTree>
    <p:extLst>
      <p:ext uri="{BB962C8B-B14F-4D97-AF65-F5344CB8AC3E}">
        <p14:creationId xmlns:p14="http://schemas.microsoft.com/office/powerpoint/2010/main" val="3180923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7FDE30-B8BA-486D-C42F-59DE79C053F7}"/>
              </a:ext>
            </a:extLst>
          </p:cNvPr>
          <p:cNvSpPr>
            <a:spLocks noGrp="1"/>
          </p:cNvSpPr>
          <p:nvPr>
            <p:ph idx="1"/>
          </p:nvPr>
        </p:nvSpPr>
        <p:spPr>
          <a:xfrm>
            <a:off x="447262" y="298174"/>
            <a:ext cx="6182138" cy="6341165"/>
          </a:xfrm>
        </p:spPr>
        <p:txBody>
          <a:bodyPr>
            <a:normAutofit/>
          </a:bodyPr>
          <a:lstStyle/>
          <a:p>
            <a:pPr algn="just">
              <a:spcAft>
                <a:spcPts val="800"/>
              </a:spcAft>
            </a:pPr>
            <a:r>
              <a:rPr lang="en-US" sz="30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Reflection</a:t>
            </a:r>
            <a:endParaRPr lang="en-MY" sz="22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algn="just">
              <a:spcAft>
                <a:spcPts val="800"/>
              </a:spcAft>
              <a:buFont typeface="Wingdings" panose="05000000000000000000" pitchFamily="2" charset="2"/>
              <a:buChar char="v"/>
            </a:pPr>
            <a:r>
              <a:rPr lang="en-US" sz="1800" dirty="0">
                <a:effectLst/>
                <a:latin typeface="Noto Sans Symbols"/>
                <a:ea typeface="Noto Sans Symbols"/>
                <a:cs typeface="Noto Sans Symbols"/>
              </a:rPr>
              <a:t>What is the meaning of social cohesion and national unity?</a:t>
            </a:r>
            <a:endParaRPr lang="en-MY" sz="1800" dirty="0">
              <a:effectLst/>
              <a:latin typeface="Noto Sans Symbols"/>
              <a:ea typeface="Noto Sans Symbols"/>
              <a:cs typeface="Noto Sans Symbols"/>
            </a:endParaRPr>
          </a:p>
          <a:p>
            <a:pPr algn="just">
              <a:spcAft>
                <a:spcPts val="800"/>
              </a:spcAft>
              <a:buFont typeface="Wingdings" panose="05000000000000000000" pitchFamily="2" charset="2"/>
              <a:buChar char="v"/>
            </a:pPr>
            <a:r>
              <a:rPr lang="en-US" sz="1800" dirty="0">
                <a:effectLst/>
                <a:latin typeface="Noto Sans Symbols"/>
                <a:ea typeface="Noto Sans Symbols"/>
                <a:cs typeface="Noto Sans Symbols"/>
              </a:rPr>
              <a:t>What is the stage of national unity and integration in Malaysia?</a:t>
            </a:r>
            <a:endParaRPr lang="en-MY" sz="1800" dirty="0">
              <a:effectLst/>
              <a:latin typeface="Noto Sans Symbols"/>
              <a:ea typeface="Noto Sans Symbols"/>
              <a:cs typeface="Noto Sans Symbols"/>
            </a:endParaRPr>
          </a:p>
          <a:p>
            <a:pPr>
              <a:buFont typeface="Wingdings" panose="05000000000000000000" pitchFamily="2" charset="2"/>
              <a:buChar char="v"/>
            </a:pPr>
            <a:r>
              <a:rPr lang="en-US" sz="1800" dirty="0">
                <a:effectLst/>
                <a:latin typeface="Times New Roman" panose="02020603050405020304" pitchFamily="18" charset="0"/>
                <a:ea typeface="Times New Roman" panose="02020603050405020304" pitchFamily="18" charset="0"/>
              </a:rPr>
              <a:t>What are the examples of Malaysian government efforts in maintaining the social and racial harmony of the multi-ethnic society?</a:t>
            </a:r>
            <a:endParaRPr lang="en-MY" dirty="0"/>
          </a:p>
        </p:txBody>
      </p:sp>
    </p:spTree>
    <p:extLst>
      <p:ext uri="{BB962C8B-B14F-4D97-AF65-F5344CB8AC3E}">
        <p14:creationId xmlns:p14="http://schemas.microsoft.com/office/powerpoint/2010/main" val="19806343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953</TotalTime>
  <Words>2185</Words>
  <Application>Microsoft Office PowerPoint</Application>
  <PresentationFormat>Widescreen</PresentationFormat>
  <Paragraphs>144</Paragraphs>
  <Slides>22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22</vt:i4>
      </vt:variant>
    </vt:vector>
  </HeadingPairs>
  <TitlesOfParts>
    <vt:vector size="31" baseType="lpstr">
      <vt:lpstr>Arial</vt:lpstr>
      <vt:lpstr>Calibri</vt:lpstr>
      <vt:lpstr>Century Gothic</vt:lpstr>
      <vt:lpstr>Noto Sans Symbols</vt:lpstr>
      <vt:lpstr>Times New Roman</vt:lpstr>
      <vt:lpstr>Wingdings</vt:lpstr>
      <vt:lpstr>Wingdings 3</vt:lpstr>
      <vt:lpstr>Ion</vt:lpstr>
      <vt:lpstr>1_Office Theme</vt:lpstr>
      <vt:lpstr> FEM2401 Malaysian Politics &amp; Society  TOPIC 11: SOCIETY AND NATIONAL IDENTITY </vt:lpstr>
      <vt:lpstr>PowerPoint Presentation</vt:lpstr>
      <vt:lpstr>MALAYSIAN SOCIETY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Effort Towards Unity And National Integration</vt:lpstr>
      <vt:lpstr>Government efforts to increase PATRIOTISM</vt:lpstr>
      <vt:lpstr>PowerPoint Presentation</vt:lpstr>
      <vt:lpstr>PowerPoint Presentation</vt:lpstr>
      <vt:lpstr>RUKUN NEGARA (NATIONAL IDEOLOGY)</vt:lpstr>
      <vt:lpstr>RUKUN NEGARA (NATIONAL IDEOLOGY)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MPU2163 Pengajian Malaysia 2</dc:title>
  <dc:creator>Fitri</dc:creator>
  <cp:lastModifiedBy>Amir Munshi</cp:lastModifiedBy>
  <cp:revision>275</cp:revision>
  <dcterms:created xsi:type="dcterms:W3CDTF">2021-06-21T02:18:24Z</dcterms:created>
  <dcterms:modified xsi:type="dcterms:W3CDTF">2024-01-11T09:43:41Z</dcterms:modified>
</cp:coreProperties>
</file>