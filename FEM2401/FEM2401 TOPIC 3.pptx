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377" r:id="rId4"/>
    <p:sldId id="259" r:id="rId5"/>
    <p:sldId id="260" r:id="rId6"/>
    <p:sldId id="270" r:id="rId7"/>
    <p:sldId id="378" r:id="rId8"/>
    <p:sldId id="379" r:id="rId9"/>
    <p:sldId id="380" r:id="rId10"/>
    <p:sldId id="261" r:id="rId11"/>
    <p:sldId id="262" r:id="rId12"/>
    <p:sldId id="354" r:id="rId13"/>
    <p:sldId id="381" r:id="rId14"/>
    <p:sldId id="263" r:id="rId15"/>
    <p:sldId id="355" r:id="rId16"/>
    <p:sldId id="264" r:id="rId17"/>
    <p:sldId id="356" r:id="rId18"/>
    <p:sldId id="382" r:id="rId19"/>
    <p:sldId id="265" r:id="rId20"/>
    <p:sldId id="357" r:id="rId21"/>
    <p:sldId id="266" r:id="rId22"/>
    <p:sldId id="359" r:id="rId23"/>
    <p:sldId id="358" r:id="rId24"/>
    <p:sldId id="267" r:id="rId25"/>
    <p:sldId id="360" r:id="rId26"/>
    <p:sldId id="337"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8936A220-9818-4017-BD16-45B9541CEFF6}" type="datetimeFigureOut">
              <a:rPr lang="en-MY" smtClean="0"/>
              <a:t>17/11/2023</a:t>
            </a:fld>
            <a:endParaRPr lang="en-MY"/>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MY"/>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D9C9A1EF-0EC5-4510-AD9E-9F9249C0BAE8}" type="slidenum">
              <a:rPr lang="en-MY" smtClean="0"/>
              <a:t>‹#›</a:t>
            </a:fld>
            <a:endParaRPr lang="en-MY"/>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006084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36A220-9818-4017-BD16-45B9541CEFF6}" type="datetimeFigureOut">
              <a:rPr lang="en-MY" smtClean="0"/>
              <a:t>17/11/2023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312984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36A220-9818-4017-BD16-45B9541CEFF6}" type="datetimeFigureOut">
              <a:rPr lang="en-MY" smtClean="0"/>
              <a:t>17/11/2023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1186809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36A220-9818-4017-BD16-45B9541CEFF6}" type="datetimeFigureOut">
              <a:rPr lang="en-MY" smtClean="0"/>
              <a:t>17/11/2023</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2182860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36A220-9818-4017-BD16-45B9541CEFF6}" type="datetimeFigureOut">
              <a:rPr lang="en-MY" smtClean="0"/>
              <a:t>17/11/2023</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4237567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36A220-9818-4017-BD16-45B9541CEFF6}" type="datetimeFigureOut">
              <a:rPr lang="en-MY" smtClean="0"/>
              <a:t>17/11/2023</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2001263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36A220-9818-4017-BD16-45B9541CEFF6}" type="datetimeFigureOut">
              <a:rPr lang="en-MY" smtClean="0"/>
              <a:t>17/11/2023</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4244622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36A220-9818-4017-BD16-45B9541CEFF6}" type="datetimeFigureOut">
              <a:rPr lang="en-MY" smtClean="0"/>
              <a:t>17/11/2023</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1632029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36A220-9818-4017-BD16-45B9541CEFF6}" type="datetimeFigureOut">
              <a:rPr lang="en-MY" smtClean="0"/>
              <a:t>17/11/2023</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3545652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36A220-9818-4017-BD16-45B9541CEFF6}" type="datetimeFigureOut">
              <a:rPr lang="en-MY" smtClean="0"/>
              <a:t>17/11/2023</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1160007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36A220-9818-4017-BD16-45B9541CEFF6}" type="datetimeFigureOut">
              <a:rPr lang="en-MY" smtClean="0"/>
              <a:t>17/11/2023</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37017526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36A220-9818-4017-BD16-45B9541CEFF6}" type="datetimeFigureOut">
              <a:rPr lang="en-MY" smtClean="0"/>
              <a:t>17/11/2023</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9C9A1EF-0EC5-4510-AD9E-9F9249C0BAE8}" type="slidenum">
              <a:rPr lang="en-MY" smtClean="0"/>
              <a:t>‹#›</a:t>
            </a:fld>
            <a:endParaRPr lang="en-MY"/>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379281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936A220-9818-4017-BD16-45B9541CEFF6}" type="datetimeFigureOut">
              <a:rPr lang="en-MY" smtClean="0"/>
              <a:t>17/11/2023</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14298320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936A220-9818-4017-BD16-45B9541CEFF6}" type="datetimeFigureOut">
              <a:rPr lang="en-MY" smtClean="0"/>
              <a:t>17/11/2023</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3292486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936A220-9818-4017-BD16-45B9541CEFF6}" type="datetimeFigureOut">
              <a:rPr lang="en-MY" smtClean="0"/>
              <a:t>17/11/2023</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2667019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36A220-9818-4017-BD16-45B9541CEFF6}" type="datetimeFigureOut">
              <a:rPr lang="en-MY" smtClean="0"/>
              <a:t>17/11/2023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15196504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36A220-9818-4017-BD16-45B9541CEFF6}" type="datetimeFigureOut">
              <a:rPr lang="en-MY" smtClean="0"/>
              <a:t>17/11/2023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15135634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03E5B-1DF6-496E-86FE-634CCC8CB0C3}"/>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FB668B98-5C2C-481C-AF68-B0DE0A8303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C412F2A1-7DCB-4816-9DDE-A66FB539E6AD}"/>
              </a:ext>
            </a:extLst>
          </p:cNvPr>
          <p:cNvSpPr>
            <a:spLocks noGrp="1"/>
          </p:cNvSpPr>
          <p:nvPr>
            <p:ph type="dt" sz="half" idx="10"/>
          </p:nvPr>
        </p:nvSpPr>
        <p:spPr/>
        <p:txBody>
          <a:bodyPr/>
          <a:lstStyle/>
          <a:p>
            <a:fld id="{8936A220-9818-4017-BD16-45B9541CEFF6}" type="datetimeFigureOut">
              <a:rPr lang="en-MY" smtClean="0"/>
              <a:t>17/11/2023</a:t>
            </a:fld>
            <a:endParaRPr lang="en-MY"/>
          </a:p>
        </p:txBody>
      </p:sp>
      <p:sp>
        <p:nvSpPr>
          <p:cNvPr id="5" name="Footer Placeholder 4">
            <a:extLst>
              <a:ext uri="{FF2B5EF4-FFF2-40B4-BE49-F238E27FC236}">
                <a16:creationId xmlns:a16="http://schemas.microsoft.com/office/drawing/2014/main" id="{56119364-FB81-4B0A-AEE6-C39E10C39146}"/>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A2669003-DC3D-4DC9-A0DB-531D9C70E196}"/>
              </a:ext>
            </a:extLst>
          </p:cNvPr>
          <p:cNvSpPr>
            <a:spLocks noGrp="1"/>
          </p:cNvSpPr>
          <p:nvPr>
            <p:ph type="sldNum" sz="quarter" idx="12"/>
          </p:nvPr>
        </p:nvSpPr>
        <p:spPr/>
        <p:txBody>
          <a:bodyPr/>
          <a:lstStyle/>
          <a:p>
            <a:fld id="{D9C9A1EF-0EC5-4510-AD9E-9F9249C0BAE8}" type="slidenum">
              <a:rPr lang="en-MY" smtClean="0"/>
              <a:t>‹#›</a:t>
            </a:fld>
            <a:endParaRPr lang="en-MY"/>
          </a:p>
        </p:txBody>
      </p:sp>
    </p:spTree>
    <p:extLst>
      <p:ext uri="{BB962C8B-B14F-4D97-AF65-F5344CB8AC3E}">
        <p14:creationId xmlns:p14="http://schemas.microsoft.com/office/powerpoint/2010/main" val="2457994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8936A220-9818-4017-BD16-45B9541CEFF6}" type="datetimeFigureOut">
              <a:rPr lang="en-MY" smtClean="0"/>
              <a:t>17/11/2023</a:t>
            </a:fld>
            <a:endParaRPr lang="en-MY"/>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MY"/>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D9C9A1EF-0EC5-4510-AD9E-9F9249C0BAE8}" type="slidenum">
              <a:rPr lang="en-MY" smtClean="0"/>
              <a:t>‹#›</a:t>
            </a:fld>
            <a:endParaRPr lang="en-MY"/>
          </a:p>
        </p:txBody>
      </p:sp>
    </p:spTree>
    <p:extLst>
      <p:ext uri="{BB962C8B-B14F-4D97-AF65-F5344CB8AC3E}">
        <p14:creationId xmlns:p14="http://schemas.microsoft.com/office/powerpoint/2010/main" val="35988219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1D04A-6424-45AE-B5E7-7F06300B0972}"/>
              </a:ext>
            </a:extLst>
          </p:cNvPr>
          <p:cNvSpPr>
            <a:spLocks noGrp="1"/>
          </p:cNvSpPr>
          <p:nvPr>
            <p:ph type="ctrTitle"/>
          </p:nvPr>
        </p:nvSpPr>
        <p:spPr>
          <a:xfrm>
            <a:off x="109330" y="506897"/>
            <a:ext cx="10863470" cy="3449586"/>
          </a:xfrm>
        </p:spPr>
        <p:txBody>
          <a:bodyPr>
            <a:noAutofit/>
          </a:bodyPr>
          <a:lstStyle/>
          <a:p>
            <a:pPr algn="ctr"/>
            <a:r>
              <a:rPr lang="en-US" sz="4800" dirty="0"/>
              <a:t>FEM2401 Malaysian Politics and Society</a:t>
            </a:r>
            <a:br>
              <a:rPr lang="en-US" sz="4800" dirty="0"/>
            </a:br>
            <a:br>
              <a:rPr lang="en-US" sz="4800" dirty="0"/>
            </a:br>
            <a:r>
              <a:rPr lang="en-US" sz="4800" dirty="0"/>
              <a:t>TOPIC 3: CULTURE, RELIGION, AND TRADITIONAL PRACTICES OF THE MULTI-ETHNIC SOCIETY</a:t>
            </a:r>
            <a:endParaRPr lang="en-MY" sz="4800" dirty="0"/>
          </a:p>
        </p:txBody>
      </p:sp>
      <p:sp>
        <p:nvSpPr>
          <p:cNvPr id="3" name="Subtitle 2">
            <a:extLst>
              <a:ext uri="{FF2B5EF4-FFF2-40B4-BE49-F238E27FC236}">
                <a16:creationId xmlns:a16="http://schemas.microsoft.com/office/drawing/2014/main" id="{81C0A348-4F31-4359-AF21-1556C1BD4406}"/>
              </a:ext>
            </a:extLst>
          </p:cNvPr>
          <p:cNvSpPr>
            <a:spLocks noGrp="1"/>
          </p:cNvSpPr>
          <p:nvPr>
            <p:ph type="subTitle" idx="1"/>
          </p:nvPr>
        </p:nvSpPr>
        <p:spPr>
          <a:xfrm>
            <a:off x="1777464" y="3956483"/>
            <a:ext cx="8637072" cy="863995"/>
          </a:xfrm>
        </p:spPr>
        <p:txBody>
          <a:bodyPr>
            <a:normAutofit/>
          </a:bodyPr>
          <a:lstStyle/>
          <a:p>
            <a:pPr algn="ctr"/>
            <a:r>
              <a:rPr lang="en-US" sz="2000" dirty="0">
                <a:solidFill>
                  <a:schemeClr val="tx1"/>
                </a:solidFill>
              </a:rPr>
              <a:t>Lecturer:   MUHAMMAD AMIR BIN MUNSHI</a:t>
            </a:r>
          </a:p>
          <a:p>
            <a:pPr algn="ctr"/>
            <a:endParaRPr lang="en-US" sz="2000" dirty="0">
              <a:solidFill>
                <a:schemeClr val="tx1"/>
              </a:solidFill>
            </a:endParaRPr>
          </a:p>
        </p:txBody>
      </p:sp>
    </p:spTree>
    <p:extLst>
      <p:ext uri="{BB962C8B-B14F-4D97-AF65-F5344CB8AC3E}">
        <p14:creationId xmlns:p14="http://schemas.microsoft.com/office/powerpoint/2010/main" val="4064793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B25593-3521-48C3-A41B-D468F1578C6A}"/>
              </a:ext>
            </a:extLst>
          </p:cNvPr>
          <p:cNvSpPr>
            <a:spLocks noGrp="1"/>
          </p:cNvSpPr>
          <p:nvPr>
            <p:ph idx="1"/>
          </p:nvPr>
        </p:nvSpPr>
        <p:spPr>
          <a:xfrm>
            <a:off x="198784" y="298174"/>
            <a:ext cx="11280912" cy="5076411"/>
          </a:xfrm>
        </p:spPr>
        <p:txBody>
          <a:bodyPr>
            <a:normAutofit/>
          </a:bodyPr>
          <a:lstStyle/>
          <a:p>
            <a:pPr marL="0" indent="0" algn="just">
              <a:buNone/>
            </a:pPr>
            <a:endParaRPr lang="en-US" sz="3200" dirty="0"/>
          </a:p>
          <a:p>
            <a:pPr algn="just"/>
            <a:r>
              <a:rPr lang="en-US" sz="3200" dirty="0"/>
              <a:t>Learning outcome: </a:t>
            </a:r>
          </a:p>
          <a:p>
            <a:pPr lvl="1" algn="just"/>
            <a:r>
              <a:rPr lang="en-US" sz="3000" dirty="0"/>
              <a:t>To describe the culture, religion and traditional practices of the society</a:t>
            </a:r>
          </a:p>
          <a:p>
            <a:pPr lvl="1" algn="just"/>
            <a:r>
              <a:rPr lang="en-US" sz="3000" dirty="0"/>
              <a:t>To explain the social structure of Malaysian society (majority, minority and indigenous) </a:t>
            </a:r>
          </a:p>
        </p:txBody>
      </p:sp>
    </p:spTree>
    <p:extLst>
      <p:ext uri="{BB962C8B-B14F-4D97-AF65-F5344CB8AC3E}">
        <p14:creationId xmlns:p14="http://schemas.microsoft.com/office/powerpoint/2010/main" val="46099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57655-9877-882E-6688-F03BD136C191}"/>
              </a:ext>
            </a:extLst>
          </p:cNvPr>
          <p:cNvSpPr>
            <a:spLocks noGrp="1"/>
          </p:cNvSpPr>
          <p:nvPr>
            <p:ph type="title"/>
          </p:nvPr>
        </p:nvSpPr>
        <p:spPr>
          <a:xfrm>
            <a:off x="566531" y="109330"/>
            <a:ext cx="10396882" cy="1151965"/>
          </a:xfrm>
        </p:spPr>
        <p:txBody>
          <a:bodyPr/>
          <a:lstStyle/>
          <a:p>
            <a:pPr algn="ctr"/>
            <a:r>
              <a:rPr lang="en-MY" dirty="0"/>
              <a:t>OVERVIEW</a:t>
            </a:r>
          </a:p>
        </p:txBody>
      </p:sp>
      <p:sp>
        <p:nvSpPr>
          <p:cNvPr id="3" name="Content Placeholder 2">
            <a:extLst>
              <a:ext uri="{FF2B5EF4-FFF2-40B4-BE49-F238E27FC236}">
                <a16:creationId xmlns:a16="http://schemas.microsoft.com/office/drawing/2014/main" id="{5F90C5A5-164C-10FE-9814-20EEF0B48C4D}"/>
              </a:ext>
            </a:extLst>
          </p:cNvPr>
          <p:cNvSpPr>
            <a:spLocks noGrp="1"/>
          </p:cNvSpPr>
          <p:nvPr>
            <p:ph idx="1"/>
          </p:nvPr>
        </p:nvSpPr>
        <p:spPr>
          <a:xfrm>
            <a:off x="387626" y="1133062"/>
            <a:ext cx="10695057" cy="4241524"/>
          </a:xfrm>
        </p:spPr>
        <p:txBody>
          <a:bodyPr>
            <a:normAutofit lnSpcReduction="10000"/>
          </a:bodyPr>
          <a:lstStyle/>
          <a:p>
            <a:pPr marL="0" indent="0">
              <a:buNone/>
            </a:pPr>
            <a:r>
              <a:rPr lang="en-US" dirty="0"/>
              <a:t>Multi-ethnic society</a:t>
            </a:r>
          </a:p>
          <a:p>
            <a:r>
              <a:rPr lang="en-US" dirty="0"/>
              <a:t>The majority</a:t>
            </a:r>
          </a:p>
          <a:p>
            <a:r>
              <a:rPr lang="en-US" dirty="0"/>
              <a:t>The indigenous</a:t>
            </a:r>
          </a:p>
          <a:p>
            <a:r>
              <a:rPr lang="en-US" dirty="0"/>
              <a:t>The minority</a:t>
            </a:r>
          </a:p>
          <a:p>
            <a:pPr marL="0" indent="0">
              <a:buNone/>
            </a:pPr>
            <a:endParaRPr lang="en-US" dirty="0"/>
          </a:p>
          <a:p>
            <a:pPr marL="0" indent="0">
              <a:buNone/>
            </a:pPr>
            <a:r>
              <a:rPr lang="en-US" dirty="0"/>
              <a:t>Multi-ethnic society</a:t>
            </a:r>
          </a:p>
          <a:p>
            <a:r>
              <a:rPr lang="en-US" dirty="0"/>
              <a:t>Religion</a:t>
            </a:r>
          </a:p>
          <a:p>
            <a:r>
              <a:rPr lang="en-US" dirty="0"/>
              <a:t>Culture </a:t>
            </a:r>
          </a:p>
          <a:p>
            <a:r>
              <a:rPr lang="en-US" dirty="0"/>
              <a:t>Traditional practices</a:t>
            </a:r>
          </a:p>
          <a:p>
            <a:pPr marL="0" indent="0">
              <a:buNone/>
            </a:pPr>
            <a:endParaRPr lang="en-MY" dirty="0"/>
          </a:p>
        </p:txBody>
      </p:sp>
    </p:spTree>
    <p:extLst>
      <p:ext uri="{BB962C8B-B14F-4D97-AF65-F5344CB8AC3E}">
        <p14:creationId xmlns:p14="http://schemas.microsoft.com/office/powerpoint/2010/main" val="2715865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792DA-B3D1-4FF2-9B0A-78DDB28FA2E7}"/>
              </a:ext>
            </a:extLst>
          </p:cNvPr>
          <p:cNvSpPr>
            <a:spLocks noGrp="1"/>
          </p:cNvSpPr>
          <p:nvPr>
            <p:ph type="title"/>
          </p:nvPr>
        </p:nvSpPr>
        <p:spPr>
          <a:xfrm>
            <a:off x="99391" y="238539"/>
            <a:ext cx="11559209" cy="1151965"/>
          </a:xfrm>
        </p:spPr>
        <p:txBody>
          <a:bodyPr>
            <a:normAutofit fontScale="90000"/>
          </a:bodyPr>
          <a:lstStyle/>
          <a:p>
            <a:pPr algn="ctr"/>
            <a:r>
              <a:rPr lang="en-MY" dirty="0"/>
              <a:t>Ethnic Composition in Malaysia before Independence</a:t>
            </a:r>
          </a:p>
        </p:txBody>
      </p:sp>
      <p:sp>
        <p:nvSpPr>
          <p:cNvPr id="3" name="Content Placeholder 2">
            <a:extLst>
              <a:ext uri="{FF2B5EF4-FFF2-40B4-BE49-F238E27FC236}">
                <a16:creationId xmlns:a16="http://schemas.microsoft.com/office/drawing/2014/main" id="{10ECDA21-2AE7-4F04-B9DF-DD160DF2757B}"/>
              </a:ext>
            </a:extLst>
          </p:cNvPr>
          <p:cNvSpPr>
            <a:spLocks noGrp="1"/>
          </p:cNvSpPr>
          <p:nvPr>
            <p:ph idx="1"/>
          </p:nvPr>
        </p:nvSpPr>
        <p:spPr>
          <a:xfrm>
            <a:off x="99391" y="1620078"/>
            <a:ext cx="11559209" cy="4045226"/>
          </a:xfrm>
        </p:spPr>
        <p:txBody>
          <a:bodyPr>
            <a:normAutofit fontScale="62500" lnSpcReduction="20000"/>
          </a:bodyPr>
          <a:lstStyle/>
          <a:p>
            <a:pPr marL="533400" indent="-533400" algn="just" eaLnBrk="1" fontAlgn="auto" hangingPunct="1">
              <a:spcBef>
                <a:spcPct val="0"/>
              </a:spcBef>
              <a:spcAft>
                <a:spcPts val="0"/>
              </a:spcAft>
              <a:buFont typeface="Wingdings 2"/>
              <a:buChar char=""/>
              <a:defRPr/>
            </a:pPr>
            <a:r>
              <a:rPr lang="en-US" sz="3400" dirty="0">
                <a:latin typeface="Calibri" pitchFamily="34" charset="0"/>
                <a:cs typeface="Calibri" pitchFamily="34" charset="0"/>
              </a:rPr>
              <a:t>The three largest ethnic groups in Malaya are the </a:t>
            </a:r>
            <a:r>
              <a:rPr lang="en-US" sz="3400" b="1" dirty="0">
                <a:latin typeface="Calibri" pitchFamily="34" charset="0"/>
                <a:cs typeface="Calibri" pitchFamily="34" charset="0"/>
              </a:rPr>
              <a:t>Malays, Chinese, and Indians. </a:t>
            </a:r>
            <a:r>
              <a:rPr lang="en-US" sz="3400" dirty="0">
                <a:latin typeface="Calibri" pitchFamily="34" charset="0"/>
                <a:cs typeface="Calibri" pitchFamily="34" charset="0"/>
              </a:rPr>
              <a:t>Meanwhile, in Sabah and Sarawak, the </a:t>
            </a:r>
            <a:r>
              <a:rPr lang="en-US" sz="3400" i="1" dirty="0" err="1">
                <a:latin typeface="Calibri" pitchFamily="34" charset="0"/>
                <a:cs typeface="Calibri" pitchFamily="34" charset="0"/>
              </a:rPr>
              <a:t>Bumiputeras</a:t>
            </a:r>
            <a:r>
              <a:rPr lang="en-US" sz="3400" i="1" dirty="0">
                <a:latin typeface="Calibri" pitchFamily="34" charset="0"/>
                <a:cs typeface="Calibri" pitchFamily="34" charset="0"/>
              </a:rPr>
              <a:t> </a:t>
            </a:r>
            <a:r>
              <a:rPr lang="en-US" sz="3400" dirty="0">
                <a:latin typeface="Calibri" pitchFamily="34" charset="0"/>
                <a:cs typeface="Calibri" pitchFamily="34" charset="0"/>
              </a:rPr>
              <a:t>or natives form the majority, consisting of various ethnic groups.</a:t>
            </a:r>
            <a:endParaRPr lang="en-US" sz="3400" b="1" dirty="0">
              <a:latin typeface="Calibri" pitchFamily="34" charset="0"/>
              <a:cs typeface="Calibri" pitchFamily="34" charset="0"/>
            </a:endParaRPr>
          </a:p>
          <a:p>
            <a:pPr marL="533400" indent="-533400" algn="just" eaLnBrk="1" fontAlgn="auto" hangingPunct="1">
              <a:spcBef>
                <a:spcPct val="0"/>
              </a:spcBef>
              <a:spcAft>
                <a:spcPts val="0"/>
              </a:spcAft>
              <a:buFont typeface="Wingdings 2"/>
              <a:buChar char=""/>
              <a:defRPr/>
            </a:pPr>
            <a:r>
              <a:rPr lang="en-US" sz="3400" dirty="0">
                <a:latin typeface="Calibri" pitchFamily="34" charset="0"/>
                <a:cs typeface="Calibri" pitchFamily="34" charset="0"/>
              </a:rPr>
              <a:t>In the beginning, the majority population of Malaya were the Malays</a:t>
            </a:r>
            <a:r>
              <a:rPr lang="en-US" sz="3400" b="1" dirty="0">
                <a:latin typeface="Calibri" pitchFamily="34" charset="0"/>
                <a:cs typeface="Calibri" pitchFamily="34" charset="0"/>
              </a:rPr>
              <a:t> (90%)</a:t>
            </a:r>
          </a:p>
          <a:p>
            <a:pPr marL="533400" indent="-533400" algn="just" eaLnBrk="1" fontAlgn="auto" hangingPunct="1">
              <a:spcBef>
                <a:spcPct val="0"/>
              </a:spcBef>
              <a:spcAft>
                <a:spcPts val="0"/>
              </a:spcAft>
              <a:buFont typeface="Wingdings 2"/>
              <a:buChar char=""/>
              <a:defRPr/>
            </a:pPr>
            <a:r>
              <a:rPr lang="en-US" sz="3400" dirty="0">
                <a:latin typeface="Calibri" pitchFamily="34" charset="0"/>
                <a:cs typeface="Calibri" pitchFamily="34" charset="0"/>
              </a:rPr>
              <a:t>A small number of Chinese came to Malaya as traders.</a:t>
            </a:r>
          </a:p>
          <a:p>
            <a:pPr marL="533400" indent="-533400" algn="just" eaLnBrk="1" fontAlgn="auto" hangingPunct="1">
              <a:spcBef>
                <a:spcPct val="0"/>
              </a:spcBef>
              <a:spcAft>
                <a:spcPts val="0"/>
              </a:spcAft>
              <a:buFont typeface="Wingdings 2"/>
              <a:buChar char=""/>
              <a:defRPr/>
            </a:pPr>
            <a:r>
              <a:rPr lang="en-US" sz="3400" dirty="0">
                <a:latin typeface="Calibri" pitchFamily="34" charset="0"/>
                <a:cs typeface="Calibri" pitchFamily="34" charset="0"/>
              </a:rPr>
              <a:t>Only a small number of Indians came to Malaya to work in the plantations, although some were here as religious teachers and traders</a:t>
            </a:r>
          </a:p>
          <a:p>
            <a:pPr marL="533400" indent="-533400" algn="just" eaLnBrk="1" fontAlgn="auto" hangingPunct="1">
              <a:spcBef>
                <a:spcPct val="0"/>
              </a:spcBef>
              <a:spcAft>
                <a:spcPts val="0"/>
              </a:spcAft>
              <a:buFont typeface="Wingdings 2"/>
              <a:buChar char=""/>
              <a:defRPr/>
            </a:pPr>
            <a:r>
              <a:rPr lang="en-US" sz="3400" dirty="0">
                <a:latin typeface="Calibri" pitchFamily="34" charset="0"/>
                <a:cs typeface="Calibri" pitchFamily="34" charset="0"/>
              </a:rPr>
              <a:t>In the mid-19</a:t>
            </a:r>
            <a:r>
              <a:rPr lang="en-US" sz="3400" baseline="30000" dirty="0">
                <a:latin typeface="Calibri" pitchFamily="34" charset="0"/>
                <a:cs typeface="Calibri" pitchFamily="34" charset="0"/>
              </a:rPr>
              <a:t>th</a:t>
            </a:r>
            <a:r>
              <a:rPr lang="en-US" sz="3400" dirty="0">
                <a:latin typeface="Calibri" pitchFamily="34" charset="0"/>
                <a:cs typeface="Calibri" pitchFamily="34" charset="0"/>
              </a:rPr>
              <a:t> century, an influx of Chinese and Indian immigrants to Malaya and Borneo</a:t>
            </a:r>
          </a:p>
          <a:p>
            <a:pPr marL="533400" indent="-533400" algn="just" eaLnBrk="1" fontAlgn="auto" hangingPunct="1">
              <a:spcBef>
                <a:spcPct val="0"/>
              </a:spcBef>
              <a:spcAft>
                <a:spcPts val="0"/>
              </a:spcAft>
              <a:buFont typeface="Wingdings 2"/>
              <a:buChar char=""/>
              <a:defRPr/>
            </a:pPr>
            <a:r>
              <a:rPr lang="en-US" sz="3400" dirty="0">
                <a:latin typeface="Calibri" pitchFamily="34" charset="0"/>
                <a:cs typeface="Calibri" pitchFamily="34" charset="0"/>
              </a:rPr>
              <a:t>the influx of Chinese and Indian workers - The Chinese immigrants were brought using the system called </a:t>
            </a:r>
            <a:r>
              <a:rPr lang="en-US" sz="3400" b="1" dirty="0" err="1">
                <a:latin typeface="Calibri" pitchFamily="34" charset="0"/>
                <a:cs typeface="Calibri" pitchFamily="34" charset="0"/>
              </a:rPr>
              <a:t>Kangchu</a:t>
            </a:r>
            <a:r>
              <a:rPr lang="en-US" sz="3400" dirty="0">
                <a:latin typeface="Calibri" pitchFamily="34" charset="0"/>
                <a:cs typeface="Calibri" pitchFamily="34" charset="0"/>
              </a:rPr>
              <a:t>, meanwhile the Indian through the </a:t>
            </a:r>
            <a:r>
              <a:rPr lang="en-US" sz="3400" b="1" dirty="0" err="1">
                <a:latin typeface="Calibri" pitchFamily="34" charset="0"/>
                <a:cs typeface="Calibri" pitchFamily="34" charset="0"/>
              </a:rPr>
              <a:t>Kangany</a:t>
            </a:r>
            <a:r>
              <a:rPr lang="en-US" sz="3400" dirty="0">
                <a:latin typeface="Calibri" pitchFamily="34" charset="0"/>
                <a:cs typeface="Calibri" pitchFamily="34" charset="0"/>
              </a:rPr>
              <a:t> system.</a:t>
            </a:r>
            <a:endParaRPr lang="en-MY" dirty="0"/>
          </a:p>
        </p:txBody>
      </p:sp>
    </p:spTree>
    <p:extLst>
      <p:ext uri="{BB962C8B-B14F-4D97-AF65-F5344CB8AC3E}">
        <p14:creationId xmlns:p14="http://schemas.microsoft.com/office/powerpoint/2010/main" val="342384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C41D3B-7562-42CA-88EC-C610E4BFAD8B}"/>
              </a:ext>
            </a:extLst>
          </p:cNvPr>
          <p:cNvSpPr>
            <a:spLocks noGrp="1"/>
          </p:cNvSpPr>
          <p:nvPr>
            <p:ph idx="1"/>
          </p:nvPr>
        </p:nvSpPr>
        <p:spPr>
          <a:xfrm>
            <a:off x="188843" y="99392"/>
            <a:ext cx="11439939" cy="5486400"/>
          </a:xfrm>
        </p:spPr>
        <p:txBody>
          <a:bodyPr>
            <a:normAutofit fontScale="92500" lnSpcReduction="10000"/>
          </a:bodyPr>
          <a:lstStyle/>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British recruited and brought them to work in Malaya - to work in cash crop plantation (such as rubber, coffee and spices like pepper, </a:t>
            </a:r>
            <a:r>
              <a:rPr lang="en-US" sz="1800" i="1" dirty="0" err="1">
                <a:effectLst/>
                <a:latin typeface="Arial" panose="020B0604020202020204" pitchFamily="34" charset="0"/>
                <a:ea typeface="Arial" panose="020B0604020202020204" pitchFamily="34" charset="0"/>
                <a:cs typeface="Arial" panose="020B0604020202020204" pitchFamily="34" charset="0"/>
              </a:rPr>
              <a:t>gambir</a:t>
            </a:r>
            <a:r>
              <a:rPr lang="en-US" sz="1800" dirty="0">
                <a:effectLst/>
                <a:latin typeface="Arial" panose="020B0604020202020204" pitchFamily="34" charset="0"/>
                <a:ea typeface="Arial" panose="020B0604020202020204" pitchFamily="34" charset="0"/>
                <a:cs typeface="Arial" panose="020B0604020202020204" pitchFamily="34" charset="0"/>
              </a:rPr>
              <a:t> </a:t>
            </a:r>
            <a:r>
              <a:rPr lang="en-US" sz="1800" dirty="0" err="1">
                <a:effectLst/>
                <a:latin typeface="Arial" panose="020B0604020202020204" pitchFamily="34" charset="0"/>
                <a:ea typeface="Arial" panose="020B0604020202020204" pitchFamily="34" charset="0"/>
                <a:cs typeface="Arial" panose="020B0604020202020204" pitchFamily="34" charset="0"/>
              </a:rPr>
              <a:t>etc</a:t>
            </a:r>
            <a:r>
              <a:rPr lang="en-US" sz="1800" dirty="0">
                <a:effectLst/>
                <a:latin typeface="Arial" panose="020B0604020202020204" pitchFamily="34" charset="0"/>
                <a:ea typeface="Arial" panose="020B0604020202020204" pitchFamily="34" charset="0"/>
                <a:cs typeface="Arial" panose="020B0604020202020204" pitchFamily="34" charset="0"/>
              </a:rPr>
              <a:t>) and tin mining.</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The composition of the society changed. Most of the Malays were in the traditional farming and fishing occupations, Indians were in the rubber plantations and Chinese in the tin mining</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British rule created division of </a:t>
            </a:r>
            <a:r>
              <a:rPr lang="en-US" sz="1800" dirty="0" err="1">
                <a:effectLst/>
                <a:latin typeface="Arial" panose="020B0604020202020204" pitchFamily="34" charset="0"/>
                <a:ea typeface="Arial" panose="020B0604020202020204" pitchFamily="34" charset="0"/>
                <a:cs typeface="Arial" panose="020B0604020202020204" pitchFamily="34" charset="0"/>
              </a:rPr>
              <a:t>labour</a:t>
            </a:r>
            <a:r>
              <a:rPr lang="en-US" sz="1800" dirty="0">
                <a:effectLst/>
                <a:latin typeface="Arial" panose="020B0604020202020204" pitchFamily="34" charset="0"/>
                <a:ea typeface="Arial" panose="020B0604020202020204" pitchFamily="34" charset="0"/>
                <a:cs typeface="Arial" panose="020B0604020202020204" pitchFamily="34" charset="0"/>
              </a:rPr>
              <a:t> based on the ethnicity, with a particular economic role – also later impacted on the social and education system segmentation.</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During British rule, the society were not much integrated and assimilated. The situation was similar to the description of J.S. Furnivall on the society in Myanmar in 1950s under British colonial.</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J.S. Furnivall definition of </a:t>
            </a:r>
            <a:r>
              <a:rPr lang="en-US" sz="1800" b="1" dirty="0">
                <a:effectLst/>
                <a:latin typeface="Arial" panose="020B0604020202020204" pitchFamily="34" charset="0"/>
                <a:ea typeface="Arial" panose="020B0604020202020204" pitchFamily="34" charset="0"/>
                <a:cs typeface="Arial" panose="020B0604020202020204" pitchFamily="34" charset="0"/>
              </a:rPr>
              <a:t>a</a:t>
            </a:r>
            <a:r>
              <a:rPr lang="en-US" sz="1800" dirty="0">
                <a:effectLst/>
                <a:latin typeface="Arial" panose="020B0604020202020204" pitchFamily="34" charset="0"/>
                <a:ea typeface="Arial" panose="020B0604020202020204" pitchFamily="34" charset="0"/>
                <a:cs typeface="Arial" panose="020B0604020202020204" pitchFamily="34" charset="0"/>
              </a:rPr>
              <a:t> </a:t>
            </a:r>
            <a:r>
              <a:rPr lang="en-US" sz="1800" b="1" u="sng" dirty="0">
                <a:effectLst/>
                <a:latin typeface="Arial" panose="020B0604020202020204" pitchFamily="34" charset="0"/>
                <a:ea typeface="Arial" panose="020B0604020202020204" pitchFamily="34" charset="0"/>
                <a:cs typeface="Arial" panose="020B0604020202020204" pitchFamily="34" charset="0"/>
              </a:rPr>
              <a:t>plural society </a:t>
            </a:r>
            <a:r>
              <a:rPr lang="en-US" sz="1800" dirty="0">
                <a:effectLst/>
                <a:latin typeface="Arial" panose="020B0604020202020204" pitchFamily="34" charset="0"/>
                <a:ea typeface="Arial" panose="020B0604020202020204" pitchFamily="34" charset="0"/>
                <a:cs typeface="Arial" panose="020B0604020202020204" pitchFamily="34" charset="0"/>
              </a:rPr>
              <a:t>– “A plural society is one in which many races or ethnic groups live side by side in separate geographical and sociocultural enclaves, meeting only in the marketplace.</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The most significant impact of the British rule – the formation of multi-ethnic society.</a:t>
            </a:r>
            <a:endParaRPr lang="en-MY" sz="1800" dirty="0">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4700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022-6365-4B51-995C-3327A69EA593}"/>
              </a:ext>
            </a:extLst>
          </p:cNvPr>
          <p:cNvSpPr>
            <a:spLocks noGrp="1"/>
          </p:cNvSpPr>
          <p:nvPr>
            <p:ph type="title"/>
          </p:nvPr>
        </p:nvSpPr>
        <p:spPr>
          <a:xfrm>
            <a:off x="897559" y="99391"/>
            <a:ext cx="10396882" cy="1151965"/>
          </a:xfrm>
        </p:spPr>
        <p:txBody>
          <a:bodyPr>
            <a:normAutofit fontScale="90000"/>
          </a:bodyPr>
          <a:lstStyle/>
          <a:p>
            <a:r>
              <a:rPr lang="en-US" sz="4400" b="1" dirty="0">
                <a:solidFill>
                  <a:schemeClr val="tx1"/>
                </a:solidFill>
                <a:latin typeface="Arial" panose="020B0604020202020204" pitchFamily="34" charset="0"/>
                <a:cs typeface="Arial" panose="020B0604020202020204" pitchFamily="34" charset="0"/>
              </a:rPr>
              <a:t>The Concept of a Plural Society</a:t>
            </a:r>
            <a:endParaRPr lang="en-MY" dirty="0">
              <a:solidFill>
                <a:schemeClr val="tx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E3AEB22-E988-4703-99DB-96180FC5672D}"/>
              </a:ext>
            </a:extLst>
          </p:cNvPr>
          <p:cNvSpPr>
            <a:spLocks noGrp="1"/>
          </p:cNvSpPr>
          <p:nvPr>
            <p:ph idx="1"/>
          </p:nvPr>
        </p:nvSpPr>
        <p:spPr>
          <a:xfrm>
            <a:off x="268357" y="1560444"/>
            <a:ext cx="11330607" cy="3814142"/>
          </a:xfrm>
        </p:spPr>
        <p:txBody>
          <a:bodyPr>
            <a:normAutofit/>
          </a:bodyPr>
          <a:lstStyle/>
          <a:p>
            <a:pPr algn="just" eaLnBrk="1" hangingPunct="1">
              <a:spcBef>
                <a:spcPts val="0"/>
              </a:spcBef>
              <a:spcAft>
                <a:spcPts val="0"/>
              </a:spcAft>
              <a:buClr>
                <a:schemeClr val="tx1"/>
              </a:buClr>
            </a:pPr>
            <a:r>
              <a:rPr lang="en-US" dirty="0">
                <a:latin typeface="Calibri" pitchFamily="34" charset="0"/>
                <a:cs typeface="Calibri" pitchFamily="34" charset="0"/>
              </a:rPr>
              <a:t>According to JS Furnivall (1956) in his study on a number of countries in Southeast Asia, </a:t>
            </a:r>
            <a:r>
              <a:rPr lang="en-US" i="1" dirty="0">
                <a:latin typeface="Calibri" pitchFamily="34" charset="0"/>
                <a:cs typeface="Calibri" pitchFamily="34" charset="0"/>
              </a:rPr>
              <a:t>Plural Society </a:t>
            </a:r>
            <a:r>
              <a:rPr lang="en-US" dirty="0">
                <a:latin typeface="Calibri" pitchFamily="34" charset="0"/>
                <a:cs typeface="Calibri" pitchFamily="34" charset="0"/>
              </a:rPr>
              <a:t>means </a:t>
            </a:r>
            <a:r>
              <a:rPr lang="en-US" b="1" dirty="0">
                <a:latin typeface="Calibri" pitchFamily="34" charset="0"/>
                <a:cs typeface="Calibri" pitchFamily="34" charset="0"/>
              </a:rPr>
              <a:t>a society that consists of a variety of ethnic groups that reside within a political unit, but to not merge</a:t>
            </a:r>
            <a:endParaRPr lang="en-US" dirty="0">
              <a:latin typeface="Calibri" pitchFamily="34" charset="0"/>
              <a:cs typeface="Calibri" pitchFamily="34" charset="0"/>
            </a:endParaRPr>
          </a:p>
          <a:p>
            <a:pPr algn="just" eaLnBrk="1" hangingPunct="1">
              <a:spcBef>
                <a:spcPts val="0"/>
              </a:spcBef>
              <a:spcAft>
                <a:spcPts val="0"/>
              </a:spcAft>
              <a:buClr>
                <a:schemeClr val="tx1"/>
              </a:buClr>
            </a:pPr>
            <a:r>
              <a:rPr lang="en-US" b="1" dirty="0">
                <a:latin typeface="Calibri" pitchFamily="34" charset="0"/>
                <a:cs typeface="Calibri" pitchFamily="34" charset="0"/>
              </a:rPr>
              <a:t>The main factor </a:t>
            </a:r>
            <a:r>
              <a:rPr lang="en-US" dirty="0">
                <a:latin typeface="Calibri" pitchFamily="34" charset="0"/>
                <a:cs typeface="Calibri" pitchFamily="34" charset="0"/>
              </a:rPr>
              <a:t>for the plural society in Malaysia was the </a:t>
            </a:r>
            <a:r>
              <a:rPr lang="en-US" b="1" dirty="0">
                <a:latin typeface="Calibri" pitchFamily="34" charset="0"/>
                <a:cs typeface="Calibri" pitchFamily="34" charset="0"/>
              </a:rPr>
              <a:t>colonial policy </a:t>
            </a:r>
            <a:r>
              <a:rPr lang="en-US" dirty="0">
                <a:latin typeface="Calibri" pitchFamily="34" charset="0"/>
                <a:cs typeface="Calibri" pitchFamily="34" charset="0"/>
              </a:rPr>
              <a:t>that led to the mass migration of Chinese and Indians to Malaysia in the mid-19</a:t>
            </a:r>
            <a:r>
              <a:rPr lang="en-US" baseline="30000" dirty="0">
                <a:latin typeface="Calibri" pitchFamily="34" charset="0"/>
                <a:cs typeface="Calibri" pitchFamily="34" charset="0"/>
              </a:rPr>
              <a:t>th</a:t>
            </a:r>
            <a:r>
              <a:rPr lang="en-US" dirty="0">
                <a:latin typeface="Calibri" pitchFamily="34" charset="0"/>
                <a:cs typeface="Calibri" pitchFamily="34" charset="0"/>
              </a:rPr>
              <a:t> century to work in the mines and estates</a:t>
            </a:r>
          </a:p>
          <a:p>
            <a:pPr algn="just" eaLnBrk="1" hangingPunct="1">
              <a:spcBef>
                <a:spcPts val="0"/>
              </a:spcBef>
              <a:spcAft>
                <a:spcPts val="0"/>
              </a:spcAft>
              <a:buClr>
                <a:schemeClr val="tx1"/>
              </a:buClr>
            </a:pPr>
            <a:r>
              <a:rPr lang="en-US" dirty="0">
                <a:latin typeface="Calibri" pitchFamily="34" charset="0"/>
                <a:cs typeface="Calibri" pitchFamily="34" charset="0"/>
              </a:rPr>
              <a:t>Plural society in characterized by Furnivall as: cultural diversity, physical separation, identification of ethnicity and economic function, lack of social contract, and one ethnic group dominating politics</a:t>
            </a:r>
          </a:p>
          <a:p>
            <a:endParaRPr lang="en-MY" dirty="0"/>
          </a:p>
        </p:txBody>
      </p:sp>
    </p:spTree>
    <p:extLst>
      <p:ext uri="{BB962C8B-B14F-4D97-AF65-F5344CB8AC3E}">
        <p14:creationId xmlns:p14="http://schemas.microsoft.com/office/powerpoint/2010/main" val="2667099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2A512-754D-AF82-C364-D05623867BC0}"/>
              </a:ext>
            </a:extLst>
          </p:cNvPr>
          <p:cNvSpPr>
            <a:spLocks noGrp="1"/>
          </p:cNvSpPr>
          <p:nvPr>
            <p:ph type="title"/>
          </p:nvPr>
        </p:nvSpPr>
        <p:spPr>
          <a:xfrm>
            <a:off x="685801" y="248478"/>
            <a:ext cx="10396882" cy="576470"/>
          </a:xfrm>
        </p:spPr>
        <p:txBody>
          <a:bodyPr>
            <a:normAutofit fontScale="90000"/>
          </a:bodyPr>
          <a:lstStyle/>
          <a:p>
            <a:pPr algn="ctr">
              <a:spcAft>
                <a:spcPts val="800"/>
              </a:spcAft>
            </a:pPr>
            <a:br>
              <a:rPr lang="en-US" sz="4400" b="1" dirty="0">
                <a:effectLst/>
                <a:latin typeface="Times New Roman" panose="02020603050405020304" pitchFamily="18" charset="0"/>
                <a:ea typeface="Times New Roman" panose="02020603050405020304" pitchFamily="18" charset="0"/>
              </a:rPr>
            </a:br>
            <a:br>
              <a:rPr lang="en-US" sz="4400" b="1" dirty="0">
                <a:effectLst/>
                <a:latin typeface="Times New Roman" panose="02020603050405020304" pitchFamily="18" charset="0"/>
                <a:ea typeface="Times New Roman" panose="02020603050405020304" pitchFamily="18" charset="0"/>
              </a:rPr>
            </a:br>
            <a:r>
              <a:rPr lang="en-US" sz="4000" b="1" dirty="0">
                <a:effectLst/>
                <a:latin typeface="Times New Roman" panose="02020603050405020304" pitchFamily="18" charset="0"/>
                <a:ea typeface="Times New Roman" panose="02020603050405020304" pitchFamily="18" charset="0"/>
              </a:rPr>
              <a:t>THE MULTI-ETHNIC SOCIETY IN MALAYSIA</a:t>
            </a:r>
            <a:br>
              <a:rPr lang="en-MY" sz="5300" dirty="0">
                <a:effectLst/>
                <a:latin typeface="Times New Roman" panose="02020603050405020304" pitchFamily="18" charset="0"/>
                <a:ea typeface="Times New Roman" panose="02020603050405020304" pitchFamily="18" charset="0"/>
              </a:rPr>
            </a:br>
            <a:endParaRPr lang="en-MY" dirty="0"/>
          </a:p>
        </p:txBody>
      </p:sp>
      <p:sp>
        <p:nvSpPr>
          <p:cNvPr id="3" name="Content Placeholder 2">
            <a:extLst>
              <a:ext uri="{FF2B5EF4-FFF2-40B4-BE49-F238E27FC236}">
                <a16:creationId xmlns:a16="http://schemas.microsoft.com/office/drawing/2014/main" id="{10F208F5-EEA0-569D-B388-2F0F7D57C51A}"/>
              </a:ext>
            </a:extLst>
          </p:cNvPr>
          <p:cNvSpPr>
            <a:spLocks noGrp="1"/>
          </p:cNvSpPr>
          <p:nvPr>
            <p:ph idx="1"/>
          </p:nvPr>
        </p:nvSpPr>
        <p:spPr>
          <a:xfrm>
            <a:off x="119270" y="934278"/>
            <a:ext cx="11459817" cy="4860235"/>
          </a:xfrm>
        </p:spPr>
        <p:txBody>
          <a:bodyPr>
            <a:normAutofit fontScale="62500" lnSpcReduction="20000"/>
          </a:bodyPr>
          <a:lstStyle/>
          <a:p>
            <a:pPr marL="342900" lvl="0" indent="-342900" algn="just">
              <a:spcAft>
                <a:spcPts val="800"/>
              </a:spcAft>
              <a:buFont typeface="Arial" panose="020B0604020202020204" pitchFamily="34" charset="0"/>
              <a:buChar char="•"/>
            </a:pPr>
            <a:endParaRPr lang="en-US" sz="12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200" dirty="0">
                <a:effectLst/>
                <a:latin typeface="Arial" panose="020B0604020202020204" pitchFamily="34" charset="0"/>
                <a:ea typeface="Arial" panose="020B0604020202020204" pitchFamily="34" charset="0"/>
                <a:cs typeface="Arial" panose="020B0604020202020204" pitchFamily="34" charset="0"/>
              </a:rPr>
              <a:t>Currently (2020) Malaysia's population is about 32 million </a:t>
            </a:r>
            <a:endParaRPr lang="en-MY" sz="22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200" b="1" i="1" dirty="0">
                <a:effectLst/>
                <a:latin typeface="Arial" panose="020B0604020202020204" pitchFamily="34" charset="0"/>
                <a:ea typeface="Arial" panose="020B0604020202020204" pitchFamily="34" charset="0"/>
                <a:cs typeface="Arial" panose="020B0604020202020204" pitchFamily="34" charset="0"/>
              </a:rPr>
              <a:t>Bumiputera</a:t>
            </a:r>
            <a:r>
              <a:rPr lang="en-US" sz="2200" i="1" dirty="0">
                <a:effectLst/>
                <a:latin typeface="Arial" panose="020B0604020202020204" pitchFamily="34" charset="0"/>
                <a:ea typeface="Arial" panose="020B0604020202020204" pitchFamily="34" charset="0"/>
                <a:cs typeface="Arial" panose="020B0604020202020204" pitchFamily="34" charset="0"/>
              </a:rPr>
              <a:t> </a:t>
            </a:r>
            <a:r>
              <a:rPr lang="en-US" sz="2200" dirty="0">
                <a:effectLst/>
                <a:latin typeface="Arial" panose="020B0604020202020204" pitchFamily="34" charset="0"/>
                <a:ea typeface="Arial" panose="020B0604020202020204" pitchFamily="34" charset="0"/>
                <a:cs typeface="Arial" panose="020B0604020202020204" pitchFamily="34" charset="0"/>
              </a:rPr>
              <a:t>(literally means sons of soil) or the indigenous  - 69.9%</a:t>
            </a:r>
            <a:endParaRPr lang="en-MY" sz="22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200" dirty="0">
                <a:effectLst/>
                <a:latin typeface="Arial" panose="020B0604020202020204" pitchFamily="34" charset="0"/>
                <a:ea typeface="Arial" panose="020B0604020202020204" pitchFamily="34" charset="0"/>
                <a:cs typeface="Arial" panose="020B0604020202020204" pitchFamily="34" charset="0"/>
              </a:rPr>
              <a:t>Malays 65%</a:t>
            </a:r>
            <a:endParaRPr lang="en-MY" sz="22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200" b="1" dirty="0">
                <a:effectLst/>
                <a:latin typeface="Arial" panose="020B0604020202020204" pitchFamily="34" charset="0"/>
                <a:ea typeface="Arial" panose="020B0604020202020204" pitchFamily="34" charset="0"/>
                <a:cs typeface="Arial" panose="020B0604020202020204" pitchFamily="34" charset="0"/>
              </a:rPr>
              <a:t>Non-</a:t>
            </a:r>
            <a:r>
              <a:rPr lang="en-US" sz="2200" b="1" i="1" dirty="0" err="1">
                <a:effectLst/>
                <a:latin typeface="Arial" panose="020B0604020202020204" pitchFamily="34" charset="0"/>
                <a:ea typeface="Arial" panose="020B0604020202020204" pitchFamily="34" charset="0"/>
                <a:cs typeface="Arial" panose="020B0604020202020204" pitchFamily="34" charset="0"/>
              </a:rPr>
              <a:t>bumiputera</a:t>
            </a:r>
            <a:endParaRPr lang="en-MY" sz="2200" b="1"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200" dirty="0">
                <a:effectLst/>
                <a:latin typeface="Arial" panose="020B0604020202020204" pitchFamily="34" charset="0"/>
                <a:ea typeface="Arial" panose="020B0604020202020204" pitchFamily="34" charset="0"/>
                <a:cs typeface="Arial" panose="020B0604020202020204" pitchFamily="34" charset="0"/>
              </a:rPr>
              <a:t>Chinese – 22.6%</a:t>
            </a:r>
            <a:endParaRPr lang="en-MY" sz="22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200" dirty="0">
                <a:effectLst/>
                <a:latin typeface="Arial" panose="020B0604020202020204" pitchFamily="34" charset="0"/>
                <a:ea typeface="Arial" panose="020B0604020202020204" pitchFamily="34" charset="0"/>
                <a:cs typeface="Arial" panose="020B0604020202020204" pitchFamily="34" charset="0"/>
              </a:rPr>
              <a:t>Indian- 6.8%</a:t>
            </a:r>
            <a:endParaRPr lang="en-MY" sz="22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200" dirty="0">
                <a:effectLst/>
                <a:latin typeface="Arial" panose="020B0604020202020204" pitchFamily="34" charset="0"/>
                <a:ea typeface="Arial" panose="020B0604020202020204" pitchFamily="34" charset="0"/>
                <a:cs typeface="Arial" panose="020B0604020202020204" pitchFamily="34" charset="0"/>
              </a:rPr>
              <a:t>Others (minority ethnic groups) – 0.7%</a:t>
            </a:r>
            <a:endParaRPr lang="en-MY" sz="22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200" dirty="0">
                <a:effectLst/>
                <a:latin typeface="Arial" panose="020B0604020202020204" pitchFamily="34" charset="0"/>
                <a:ea typeface="Arial" panose="020B0604020202020204" pitchFamily="34" charset="0"/>
                <a:cs typeface="Arial" panose="020B0604020202020204" pitchFamily="34" charset="0"/>
              </a:rPr>
              <a:t>Malaysian citizens consist of the ethnic groups Bumiputera (67.4%), Chinese (24.6%), Indians (7.3%) and Others (0.7%).</a:t>
            </a:r>
            <a:endParaRPr lang="en-MY" sz="22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200" dirty="0">
                <a:effectLst/>
                <a:latin typeface="Arial" panose="020B0604020202020204" pitchFamily="34" charset="0"/>
                <a:ea typeface="Arial" panose="020B0604020202020204" pitchFamily="34" charset="0"/>
                <a:cs typeface="Arial" panose="020B0604020202020204" pitchFamily="34" charset="0"/>
              </a:rPr>
              <a:t>Among the Malaysian citizens, the Malays was the predominant ethnic group in Peninsular Malaysia which constituted 63.1 per cent. The </a:t>
            </a:r>
            <a:r>
              <a:rPr lang="en-US" sz="2200" b="1" dirty="0">
                <a:effectLst/>
                <a:latin typeface="Arial" panose="020B0604020202020204" pitchFamily="34" charset="0"/>
                <a:ea typeface="Arial" panose="020B0604020202020204" pitchFamily="34" charset="0"/>
                <a:cs typeface="Arial" panose="020B0604020202020204" pitchFamily="34" charset="0"/>
              </a:rPr>
              <a:t>Ibans</a:t>
            </a:r>
            <a:r>
              <a:rPr lang="en-US" sz="2200" dirty="0">
                <a:effectLst/>
                <a:latin typeface="Arial" panose="020B0604020202020204" pitchFamily="34" charset="0"/>
                <a:ea typeface="Arial" panose="020B0604020202020204" pitchFamily="34" charset="0"/>
                <a:cs typeface="Arial" panose="020B0604020202020204" pitchFamily="34" charset="0"/>
              </a:rPr>
              <a:t> constituted 30.3 per cent of the total citizens in Sarawak while </a:t>
            </a:r>
            <a:r>
              <a:rPr lang="en-US" sz="2200" b="1" dirty="0" err="1">
                <a:effectLst/>
                <a:latin typeface="Arial" panose="020B0604020202020204" pitchFamily="34" charset="0"/>
                <a:ea typeface="Arial" panose="020B0604020202020204" pitchFamily="34" charset="0"/>
                <a:cs typeface="Arial" panose="020B0604020202020204" pitchFamily="34" charset="0"/>
              </a:rPr>
              <a:t>Kadazan</a:t>
            </a:r>
            <a:r>
              <a:rPr lang="en-US" sz="2200" b="1" dirty="0">
                <a:effectLst/>
                <a:latin typeface="Arial" panose="020B0604020202020204" pitchFamily="34" charset="0"/>
                <a:ea typeface="Arial" panose="020B0604020202020204" pitchFamily="34" charset="0"/>
                <a:cs typeface="Arial" panose="020B0604020202020204" pitchFamily="34" charset="0"/>
              </a:rPr>
              <a:t>/Dusun </a:t>
            </a:r>
            <a:r>
              <a:rPr lang="en-US" sz="2200" dirty="0">
                <a:effectLst/>
                <a:latin typeface="Arial" panose="020B0604020202020204" pitchFamily="34" charset="0"/>
                <a:ea typeface="Arial" panose="020B0604020202020204" pitchFamily="34" charset="0"/>
                <a:cs typeface="Arial" panose="020B0604020202020204" pitchFamily="34" charset="0"/>
              </a:rPr>
              <a:t>made up 24.5 per cent in Sabah.</a:t>
            </a:r>
            <a:endParaRPr lang="en-MY" sz="2200" dirty="0">
              <a:effectLst/>
              <a:latin typeface="Arial" panose="020B0604020202020204" pitchFamily="34" charset="0"/>
              <a:ea typeface="Arial" panose="020B0604020202020204" pitchFamily="34" charset="0"/>
              <a:cs typeface="Arial" panose="020B0604020202020204" pitchFamily="34" charset="0"/>
            </a:endParaRPr>
          </a:p>
          <a:p>
            <a:endParaRPr lang="en-MY" dirty="0"/>
          </a:p>
        </p:txBody>
      </p:sp>
    </p:spTree>
    <p:extLst>
      <p:ext uri="{BB962C8B-B14F-4D97-AF65-F5344CB8AC3E}">
        <p14:creationId xmlns:p14="http://schemas.microsoft.com/office/powerpoint/2010/main" val="2173461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6AE4636-DF41-CE1F-4027-1FCE5ED83B01}"/>
              </a:ext>
            </a:extLst>
          </p:cNvPr>
          <p:cNvSpPr>
            <a:spLocks noGrp="1"/>
          </p:cNvSpPr>
          <p:nvPr>
            <p:ph sz="quarter" idx="13"/>
          </p:nvPr>
        </p:nvSpPr>
        <p:spPr>
          <a:xfrm>
            <a:off x="208722" y="278296"/>
            <a:ext cx="5086538" cy="5486399"/>
          </a:xfrm>
        </p:spPr>
        <p:txBody>
          <a:bodyPr>
            <a:normAutofit fontScale="92500" lnSpcReduction="10000"/>
          </a:bodyPr>
          <a:lstStyle/>
          <a:p>
            <a:pPr algn="ctr"/>
            <a:r>
              <a:rPr lang="en-MY" dirty="0"/>
              <a:t>Ethnic/religious composition in Malaysia  (2015 statistics)</a:t>
            </a:r>
          </a:p>
          <a:p>
            <a:pPr marL="457200" indent="-457200">
              <a:buFont typeface="+mj-lt"/>
              <a:buAutoNum type="arabicPeriod"/>
            </a:pPr>
            <a:r>
              <a:rPr lang="en-MY" dirty="0"/>
              <a:t>Bumiputera (69%) </a:t>
            </a:r>
          </a:p>
          <a:p>
            <a:pPr lvl="1"/>
            <a:r>
              <a:rPr lang="en-MY" dirty="0"/>
              <a:t>Malays (63.1%) </a:t>
            </a:r>
          </a:p>
          <a:p>
            <a:pPr lvl="2"/>
            <a:r>
              <a:rPr lang="en-MY" sz="2000" dirty="0"/>
              <a:t>Islam (61%) </a:t>
            </a:r>
          </a:p>
          <a:p>
            <a:r>
              <a:rPr lang="en-MY" dirty="0"/>
              <a:t>Other indigenous groups in Sabah and Sarawak (11%) </a:t>
            </a:r>
          </a:p>
          <a:p>
            <a:pPr lvl="2"/>
            <a:r>
              <a:rPr lang="en-MY" sz="2000" dirty="0"/>
              <a:t>Various religions </a:t>
            </a:r>
          </a:p>
          <a:p>
            <a:endParaRPr lang="en-MY" dirty="0"/>
          </a:p>
          <a:p>
            <a:pPr marL="457200" indent="-457200">
              <a:buFont typeface="+mj-lt"/>
              <a:buAutoNum type="arabicPeriod" startAt="2"/>
            </a:pPr>
            <a:r>
              <a:rPr lang="en-MY" dirty="0"/>
              <a:t>Chinese (24%) </a:t>
            </a:r>
          </a:p>
          <a:p>
            <a:r>
              <a:rPr lang="en-MY" dirty="0"/>
              <a:t>Buddhism (19%) </a:t>
            </a:r>
          </a:p>
          <a:p>
            <a:r>
              <a:rPr lang="en-MY" dirty="0"/>
              <a:t>Possible Christians (4.7%) </a:t>
            </a:r>
          </a:p>
          <a:p>
            <a:r>
              <a:rPr lang="en-MY" dirty="0"/>
              <a:t>Other traditional Chinese beliefs (1.3%) </a:t>
            </a:r>
          </a:p>
          <a:p>
            <a:endParaRPr lang="en-MY" dirty="0"/>
          </a:p>
          <a:p>
            <a:endParaRPr lang="en-MY" dirty="0"/>
          </a:p>
        </p:txBody>
      </p:sp>
      <p:sp>
        <p:nvSpPr>
          <p:cNvPr id="6" name="Content Placeholder 5">
            <a:extLst>
              <a:ext uri="{FF2B5EF4-FFF2-40B4-BE49-F238E27FC236}">
                <a16:creationId xmlns:a16="http://schemas.microsoft.com/office/drawing/2014/main" id="{FE1948C6-34B7-4E73-D214-AD18B2349FB4}"/>
              </a:ext>
            </a:extLst>
          </p:cNvPr>
          <p:cNvSpPr>
            <a:spLocks noGrp="1"/>
          </p:cNvSpPr>
          <p:nvPr>
            <p:ph sz="quarter" idx="14"/>
          </p:nvPr>
        </p:nvSpPr>
        <p:spPr>
          <a:xfrm>
            <a:off x="5476461" y="278297"/>
            <a:ext cx="5635487" cy="2782956"/>
          </a:xfrm>
        </p:spPr>
        <p:txBody>
          <a:bodyPr/>
          <a:lstStyle/>
          <a:p>
            <a:pPr marL="0" indent="0">
              <a:buNone/>
            </a:pPr>
            <a:r>
              <a:rPr lang="en-US" dirty="0"/>
              <a:t>3.  Indian </a:t>
            </a:r>
          </a:p>
          <a:p>
            <a:pPr lvl="1"/>
            <a:r>
              <a:rPr lang="en-US" dirty="0"/>
              <a:t>Hinduism (6.3%) </a:t>
            </a:r>
          </a:p>
          <a:p>
            <a:endParaRPr lang="en-US" dirty="0"/>
          </a:p>
          <a:p>
            <a:r>
              <a:rPr lang="en-US" dirty="0"/>
              <a:t>4. Others </a:t>
            </a:r>
          </a:p>
          <a:p>
            <a:pPr lvl="1"/>
            <a:r>
              <a:rPr lang="en-US" dirty="0"/>
              <a:t>Sikhism, Bahai’ and traditional beliefs (0.4%) </a:t>
            </a:r>
          </a:p>
          <a:p>
            <a:endParaRPr lang="en-MY" dirty="0"/>
          </a:p>
        </p:txBody>
      </p:sp>
      <p:pic>
        <p:nvPicPr>
          <p:cNvPr id="7" name="Picture 6">
            <a:extLst>
              <a:ext uri="{FF2B5EF4-FFF2-40B4-BE49-F238E27FC236}">
                <a16:creationId xmlns:a16="http://schemas.microsoft.com/office/drawing/2014/main" id="{1728EC14-DF35-E47A-6612-B76DDE6B1529}"/>
              </a:ext>
            </a:extLst>
          </p:cNvPr>
          <p:cNvPicPr>
            <a:picLocks noChangeAspect="1"/>
          </p:cNvPicPr>
          <p:nvPr/>
        </p:nvPicPr>
        <p:blipFill>
          <a:blip r:embed="rId2"/>
          <a:stretch>
            <a:fillRect/>
          </a:stretch>
        </p:blipFill>
        <p:spPr>
          <a:xfrm>
            <a:off x="6098247" y="2666873"/>
            <a:ext cx="5194902" cy="3586596"/>
          </a:xfrm>
          <a:prstGeom prst="rect">
            <a:avLst/>
          </a:prstGeom>
        </p:spPr>
      </p:pic>
    </p:spTree>
    <p:extLst>
      <p:ext uri="{BB962C8B-B14F-4D97-AF65-F5344CB8AC3E}">
        <p14:creationId xmlns:p14="http://schemas.microsoft.com/office/powerpoint/2010/main" val="941533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F6FA6B59-3F42-1BB1-9A7D-3BC4197D77E6}"/>
              </a:ext>
            </a:extLst>
          </p:cNvPr>
          <p:cNvSpPr>
            <a:spLocks noGrp="1"/>
          </p:cNvSpPr>
          <p:nvPr>
            <p:ph sz="quarter" idx="13"/>
          </p:nvPr>
        </p:nvSpPr>
        <p:spPr>
          <a:xfrm>
            <a:off x="178905" y="99391"/>
            <a:ext cx="6430617" cy="5374587"/>
          </a:xfrm>
          <a:ln>
            <a:solidFill>
              <a:srgbClr val="0070C0"/>
            </a:solidFill>
          </a:ln>
        </p:spPr>
        <p:txBody>
          <a:bodyPr>
            <a:normAutofit fontScale="92500" lnSpcReduction="10000"/>
          </a:bodyPr>
          <a:lstStyle/>
          <a:p>
            <a:pPr marL="0" indent="0" algn="ctr">
              <a:spcAft>
                <a:spcPts val="800"/>
              </a:spcAft>
              <a:buNone/>
            </a:pPr>
            <a:endParaRPr lang="en-US" sz="2000" b="1" dirty="0">
              <a:effectLst/>
              <a:latin typeface="Times New Roman" panose="02020603050405020304" pitchFamily="18" charset="0"/>
              <a:ea typeface="Times New Roman" panose="02020603050405020304" pitchFamily="18" charset="0"/>
            </a:endParaRPr>
          </a:p>
          <a:p>
            <a:pPr marL="0" indent="0" algn="ctr">
              <a:spcAft>
                <a:spcPts val="800"/>
              </a:spcAft>
              <a:buNone/>
            </a:pPr>
            <a:r>
              <a:rPr lang="en-US" sz="22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THE MULTI-ETHNIC SOCIETY IN MALAYSIA</a:t>
            </a:r>
            <a:endParaRPr lang="en-MY" sz="22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pPr algn="just"/>
            <a:r>
              <a:rPr lang="en-MY" dirty="0"/>
              <a:t>In brief, major (dominant) ethnic groups in Malaysia are the Malays,  Chinese and  Indian.</a:t>
            </a:r>
          </a:p>
          <a:p>
            <a:pPr algn="just"/>
            <a:r>
              <a:rPr lang="en-MY" dirty="0"/>
              <a:t>Bumiputera (Malays, Native of Sarawak and Sabah, and Orang Asli) – the largest group</a:t>
            </a:r>
          </a:p>
          <a:p>
            <a:pPr algn="just"/>
            <a:r>
              <a:rPr lang="en-MY" dirty="0"/>
              <a:t>Native of Sarawak: Iban (Majority), Bidayuh, Orang Ulu, Melanau etc</a:t>
            </a:r>
          </a:p>
          <a:p>
            <a:pPr algn="just"/>
            <a:r>
              <a:rPr lang="en-MY" dirty="0"/>
              <a:t>Native of Sabah: </a:t>
            </a:r>
            <a:r>
              <a:rPr lang="en-MY" dirty="0" err="1"/>
              <a:t>Kadazan-Dusut</a:t>
            </a:r>
            <a:r>
              <a:rPr lang="en-MY" dirty="0"/>
              <a:t>, Bajau, Murut, Suluk etc.</a:t>
            </a:r>
          </a:p>
          <a:p>
            <a:pPr algn="just"/>
            <a:r>
              <a:rPr lang="en-MY" dirty="0"/>
              <a:t>Major religions : Islam, Buddhism, Christianity, Hindu</a:t>
            </a:r>
          </a:p>
          <a:p>
            <a:pPr algn="just"/>
            <a:r>
              <a:rPr lang="en-MY" dirty="0"/>
              <a:t>The society of Malaysia – closely intertwined with ethnicity and religions. Most of the celebration and festivals are either religious or cultural in origin</a:t>
            </a:r>
          </a:p>
          <a:p>
            <a:endParaRPr lang="en-MY" dirty="0"/>
          </a:p>
        </p:txBody>
      </p:sp>
      <p:sp>
        <p:nvSpPr>
          <p:cNvPr id="12" name="TextBox 11">
            <a:extLst>
              <a:ext uri="{FF2B5EF4-FFF2-40B4-BE49-F238E27FC236}">
                <a16:creationId xmlns:a16="http://schemas.microsoft.com/office/drawing/2014/main" id="{D7D496D9-B3C3-06FB-4E6F-2861DD794744}"/>
              </a:ext>
            </a:extLst>
          </p:cNvPr>
          <p:cNvSpPr txBox="1"/>
          <p:nvPr/>
        </p:nvSpPr>
        <p:spPr>
          <a:xfrm>
            <a:off x="6818245" y="99391"/>
            <a:ext cx="4544976" cy="5262338"/>
          </a:xfrm>
          <a:prstGeom prst="rect">
            <a:avLst/>
          </a:prstGeom>
          <a:noFill/>
          <a:ln>
            <a:solidFill>
              <a:schemeClr val="accent1">
                <a:lumMod val="60000"/>
                <a:lumOff val="40000"/>
              </a:schemeClr>
            </a:solidFill>
          </a:ln>
        </p:spPr>
        <p:txBody>
          <a:bodyPr wrap="square" rtlCol="0">
            <a:spAutoFit/>
          </a:bodyPr>
          <a:lstStyle/>
          <a:p>
            <a:pPr algn="ctr"/>
            <a:r>
              <a:rPr lang="en-MY" sz="2000" dirty="0"/>
              <a:t>LOCAL LANGUAGES</a:t>
            </a:r>
          </a:p>
          <a:p>
            <a:endParaRPr lang="en-MY" sz="2000" dirty="0"/>
          </a:p>
          <a:p>
            <a:pPr algn="just">
              <a:lnSpc>
                <a:spcPct val="150000"/>
              </a:lnSpc>
            </a:pPr>
            <a:r>
              <a:rPr lang="en-MY" sz="2000" dirty="0"/>
              <a:t>•	136 listed languages spoken in Malaysia (112 are indigenous)</a:t>
            </a:r>
          </a:p>
          <a:p>
            <a:pPr algn="just">
              <a:lnSpc>
                <a:spcPct val="150000"/>
              </a:lnSpc>
            </a:pPr>
            <a:r>
              <a:rPr lang="en-MY" sz="2000" dirty="0"/>
              <a:t>•	Bahasa </a:t>
            </a:r>
            <a:r>
              <a:rPr lang="en-MY" sz="2000" dirty="0" err="1"/>
              <a:t>Melayu</a:t>
            </a:r>
            <a:r>
              <a:rPr lang="en-MY" sz="2000" dirty="0"/>
              <a:t>/Malay (official) </a:t>
            </a:r>
          </a:p>
          <a:p>
            <a:pPr algn="just">
              <a:lnSpc>
                <a:spcPct val="150000"/>
              </a:lnSpc>
            </a:pPr>
            <a:r>
              <a:rPr lang="en-MY" sz="2000" dirty="0"/>
              <a:t>•	Chinese (Cantonese, Mandarin, </a:t>
            </a:r>
            <a:r>
              <a:rPr lang="en-MY" sz="2000" dirty="0" err="1"/>
              <a:t>Hokkien</a:t>
            </a:r>
            <a:r>
              <a:rPr lang="en-MY" sz="2000" dirty="0"/>
              <a:t>, Hakka, Hainan, Foochow), </a:t>
            </a:r>
          </a:p>
          <a:p>
            <a:pPr algn="just">
              <a:lnSpc>
                <a:spcPct val="150000"/>
              </a:lnSpc>
            </a:pPr>
            <a:r>
              <a:rPr lang="en-MY" sz="2000" dirty="0"/>
              <a:t>•	Indians (Tamil, Telugu, Malayalam, Panjabi</a:t>
            </a:r>
          </a:p>
          <a:p>
            <a:pPr algn="just">
              <a:lnSpc>
                <a:spcPct val="150000"/>
              </a:lnSpc>
            </a:pPr>
            <a:r>
              <a:rPr lang="en-MY" sz="2000" dirty="0"/>
              <a:t>•	Natives of East Malaysian – several indigenous languages such as Iban and </a:t>
            </a:r>
            <a:r>
              <a:rPr lang="en-MY" sz="2000" dirty="0" err="1"/>
              <a:t>Kadazan</a:t>
            </a:r>
            <a:endParaRPr lang="en-MY" sz="2000" dirty="0"/>
          </a:p>
        </p:txBody>
      </p:sp>
    </p:spTree>
    <p:extLst>
      <p:ext uri="{BB962C8B-B14F-4D97-AF65-F5344CB8AC3E}">
        <p14:creationId xmlns:p14="http://schemas.microsoft.com/office/powerpoint/2010/main" val="2224558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44046-4C8B-44E9-98BD-DD7748A0439D}"/>
              </a:ext>
            </a:extLst>
          </p:cNvPr>
          <p:cNvSpPr>
            <a:spLocks noGrp="1"/>
          </p:cNvSpPr>
          <p:nvPr>
            <p:ph type="title"/>
          </p:nvPr>
        </p:nvSpPr>
        <p:spPr/>
        <p:txBody>
          <a:bodyPr>
            <a:normAutofit fontScale="90000"/>
          </a:bodyPr>
          <a:lstStyle/>
          <a:p>
            <a:pPr algn="ctr"/>
            <a:r>
              <a:rPr lang="en-US" sz="4400" b="1" dirty="0">
                <a:solidFill>
                  <a:schemeClr val="tx1"/>
                </a:solidFill>
                <a:latin typeface="Arial" pitchFamily="34" charset="0"/>
                <a:cs typeface="Arial" pitchFamily="34" charset="0"/>
              </a:rPr>
              <a:t>Background of the Main Ethnic Groups in Malaysia</a:t>
            </a:r>
            <a:endParaRPr lang="en-MY" dirty="0"/>
          </a:p>
        </p:txBody>
      </p:sp>
      <p:sp>
        <p:nvSpPr>
          <p:cNvPr id="3" name="Content Placeholder 2">
            <a:extLst>
              <a:ext uri="{FF2B5EF4-FFF2-40B4-BE49-F238E27FC236}">
                <a16:creationId xmlns:a16="http://schemas.microsoft.com/office/drawing/2014/main" id="{D8D93D45-5C75-4EEE-BDAA-F57DF91B405E}"/>
              </a:ext>
            </a:extLst>
          </p:cNvPr>
          <p:cNvSpPr>
            <a:spLocks noGrp="1"/>
          </p:cNvSpPr>
          <p:nvPr>
            <p:ph sz="quarter" idx="13"/>
          </p:nvPr>
        </p:nvSpPr>
        <p:spPr/>
        <p:txBody>
          <a:bodyPr/>
          <a:lstStyle/>
          <a:p>
            <a:pPr marL="457200" indent="-457200" algn="just">
              <a:buFont typeface="+mj-lt"/>
              <a:buAutoNum type="alphaUcPeriod"/>
            </a:pPr>
            <a:r>
              <a:rPr lang="en-MY" b="1" dirty="0">
                <a:latin typeface="Arial" panose="020B0604020202020204" pitchFamily="34" charset="0"/>
                <a:cs typeface="Arial" panose="020B0604020202020204" pitchFamily="34" charset="0"/>
              </a:rPr>
              <a:t>Malays</a:t>
            </a:r>
          </a:p>
          <a:p>
            <a:pPr marL="457200" indent="-457200" algn="just">
              <a:buFont typeface="+mj-lt"/>
              <a:buAutoNum type="alphaUcPeriod"/>
            </a:pPr>
            <a:r>
              <a:rPr lang="en-MY" b="1" dirty="0">
                <a:latin typeface="Arial" panose="020B0604020202020204" pitchFamily="34" charset="0"/>
                <a:cs typeface="Arial" panose="020B0604020202020204" pitchFamily="34" charset="0"/>
              </a:rPr>
              <a:t>Chinese</a:t>
            </a:r>
          </a:p>
          <a:p>
            <a:pPr marL="457200" indent="-457200" algn="just">
              <a:buFont typeface="+mj-lt"/>
              <a:buAutoNum type="alphaUcPeriod"/>
            </a:pPr>
            <a:r>
              <a:rPr lang="en-MY" b="1" dirty="0">
                <a:latin typeface="Arial" panose="020B0604020202020204" pitchFamily="34" charset="0"/>
                <a:cs typeface="Arial" panose="020B0604020202020204" pitchFamily="34" charset="0"/>
              </a:rPr>
              <a:t>Indians</a:t>
            </a:r>
          </a:p>
          <a:p>
            <a:pPr marL="457200" indent="-457200" algn="just">
              <a:buFont typeface="+mj-lt"/>
              <a:buAutoNum type="alphaUcPeriod"/>
            </a:pPr>
            <a:r>
              <a:rPr lang="en-MY" b="1" dirty="0">
                <a:latin typeface="Arial" panose="020B0604020202020204" pitchFamily="34" charset="0"/>
                <a:cs typeface="Arial" panose="020B0604020202020204" pitchFamily="34" charset="0"/>
              </a:rPr>
              <a:t>Orang Asli</a:t>
            </a:r>
          </a:p>
          <a:p>
            <a:pPr marL="457200" indent="-457200" algn="just">
              <a:buFont typeface="+mj-lt"/>
              <a:buAutoNum type="alphaUcPeriod"/>
            </a:pPr>
            <a:r>
              <a:rPr lang="en-MY" b="1" dirty="0">
                <a:latin typeface="Arial" panose="020B0604020202020204" pitchFamily="34" charset="0"/>
                <a:cs typeface="Arial" panose="020B0604020202020204" pitchFamily="34" charset="0"/>
              </a:rPr>
              <a:t>Other Ethnic Groups</a:t>
            </a:r>
          </a:p>
        </p:txBody>
      </p:sp>
      <p:sp>
        <p:nvSpPr>
          <p:cNvPr id="4" name="Content Placeholder 3">
            <a:extLst>
              <a:ext uri="{FF2B5EF4-FFF2-40B4-BE49-F238E27FC236}">
                <a16:creationId xmlns:a16="http://schemas.microsoft.com/office/drawing/2014/main" id="{CCC34B50-1CB2-43AF-A034-B15EB559FFBC}"/>
              </a:ext>
            </a:extLst>
          </p:cNvPr>
          <p:cNvSpPr>
            <a:spLocks noGrp="1"/>
          </p:cNvSpPr>
          <p:nvPr>
            <p:ph sz="quarter" idx="14"/>
          </p:nvPr>
        </p:nvSpPr>
        <p:spPr/>
        <p:txBody>
          <a:bodyPr/>
          <a:lstStyle/>
          <a:p>
            <a:pPr marL="514350" indent="-514350">
              <a:buFont typeface="+mj-lt"/>
              <a:buAutoNum type="romanUcPeriod"/>
            </a:pPr>
            <a:r>
              <a:rPr lang="en-MY" b="1" dirty="0">
                <a:latin typeface="Arial" panose="020B0604020202020204" pitchFamily="34" charset="0"/>
                <a:cs typeface="Arial" panose="020B0604020202020204" pitchFamily="34" charset="0"/>
              </a:rPr>
              <a:t>Bumiputera of Sarawak</a:t>
            </a:r>
          </a:p>
          <a:p>
            <a:pPr marL="514350" indent="-514350">
              <a:buFont typeface="+mj-lt"/>
              <a:buAutoNum type="romanUcPeriod"/>
            </a:pPr>
            <a:r>
              <a:rPr lang="en-MY" b="1" dirty="0">
                <a:latin typeface="Arial" panose="020B0604020202020204" pitchFamily="34" charset="0"/>
                <a:cs typeface="Arial" panose="020B0604020202020204" pitchFamily="34" charset="0"/>
              </a:rPr>
              <a:t>Bumiputera of Sabah</a:t>
            </a:r>
          </a:p>
        </p:txBody>
      </p:sp>
    </p:spTree>
    <p:extLst>
      <p:ext uri="{BB962C8B-B14F-4D97-AF65-F5344CB8AC3E}">
        <p14:creationId xmlns:p14="http://schemas.microsoft.com/office/powerpoint/2010/main" val="2655668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CC767-6043-4715-9E62-F6AB9F6812D2}"/>
              </a:ext>
            </a:extLst>
          </p:cNvPr>
          <p:cNvSpPr>
            <a:spLocks noGrp="1"/>
          </p:cNvSpPr>
          <p:nvPr>
            <p:ph type="title"/>
          </p:nvPr>
        </p:nvSpPr>
        <p:spPr/>
        <p:txBody>
          <a:bodyPr>
            <a:normAutofit fontScale="90000"/>
          </a:bodyPr>
          <a:lstStyle/>
          <a:p>
            <a:r>
              <a:rPr lang="en-US" sz="4400" b="1" u="sng" dirty="0">
                <a:latin typeface="Arial" pitchFamily="34" charset="0"/>
                <a:cs typeface="Arial" pitchFamily="34" charset="0"/>
              </a:rPr>
              <a:t>a) Malays</a:t>
            </a:r>
            <a:br>
              <a:rPr lang="en-US" sz="4400" dirty="0">
                <a:latin typeface="Arial" pitchFamily="34" charset="0"/>
                <a:cs typeface="Arial" pitchFamily="34" charset="0"/>
              </a:rPr>
            </a:br>
            <a:endParaRPr lang="en-MY" dirty="0"/>
          </a:p>
        </p:txBody>
      </p:sp>
      <p:sp>
        <p:nvSpPr>
          <p:cNvPr id="3" name="Content Placeholder 2">
            <a:extLst>
              <a:ext uri="{FF2B5EF4-FFF2-40B4-BE49-F238E27FC236}">
                <a16:creationId xmlns:a16="http://schemas.microsoft.com/office/drawing/2014/main" id="{3BC10B46-7114-4366-A069-C5649A70F770}"/>
              </a:ext>
            </a:extLst>
          </p:cNvPr>
          <p:cNvSpPr>
            <a:spLocks noGrp="1"/>
          </p:cNvSpPr>
          <p:nvPr>
            <p:ph idx="1"/>
          </p:nvPr>
        </p:nvSpPr>
        <p:spPr>
          <a:xfrm>
            <a:off x="178904" y="1232452"/>
            <a:ext cx="11400183" cy="4346713"/>
          </a:xfrm>
        </p:spPr>
        <p:txBody>
          <a:bodyPr>
            <a:normAutofit/>
          </a:bodyPr>
          <a:lstStyle/>
          <a:p>
            <a:pPr algn="just" eaLnBrk="1" hangingPunct="1">
              <a:spcBef>
                <a:spcPct val="0"/>
              </a:spcBef>
              <a:defRPr/>
            </a:pPr>
            <a:r>
              <a:rPr lang="en-US" sz="2400" dirty="0">
                <a:latin typeface="Arial" pitchFamily="34" charset="0"/>
                <a:cs typeface="Arial" pitchFamily="34" charset="0"/>
              </a:rPr>
              <a:t>The largest and dominant community</a:t>
            </a:r>
          </a:p>
          <a:p>
            <a:pPr algn="just" eaLnBrk="1" hangingPunct="1">
              <a:spcBef>
                <a:spcPct val="0"/>
              </a:spcBef>
              <a:defRPr/>
            </a:pPr>
            <a:r>
              <a:rPr lang="en-US" sz="2400" dirty="0">
                <a:latin typeface="Arial" pitchFamily="34" charset="0"/>
                <a:cs typeface="Arial" pitchFamily="34" charset="0"/>
              </a:rPr>
              <a:t>The indigenous people of Malaya. There are many Malay sub-ethnic groups, mainly:</a:t>
            </a:r>
          </a:p>
          <a:p>
            <a:pPr lvl="1" algn="just">
              <a:spcBef>
                <a:spcPct val="0"/>
              </a:spcBef>
              <a:defRPr/>
            </a:pPr>
            <a:r>
              <a:rPr lang="en-US" sz="2400" dirty="0">
                <a:latin typeface="Arial" pitchFamily="34" charset="0"/>
                <a:cs typeface="Arial" pitchFamily="34" charset="0"/>
              </a:rPr>
              <a:t>(</a:t>
            </a:r>
            <a:r>
              <a:rPr lang="en-US" sz="2400" dirty="0" err="1">
                <a:latin typeface="Arial" pitchFamily="34" charset="0"/>
                <a:cs typeface="Arial" pitchFamily="34" charset="0"/>
              </a:rPr>
              <a:t>i</a:t>
            </a:r>
            <a:r>
              <a:rPr lang="en-US" sz="2400" dirty="0">
                <a:latin typeface="Arial" pitchFamily="34" charset="0"/>
                <a:cs typeface="Arial" pitchFamily="34" charset="0"/>
              </a:rPr>
              <a:t>) Island Malays, originated from the Malay Archipelago, such as the </a:t>
            </a:r>
            <a:r>
              <a:rPr lang="en-US" sz="2400" b="1" dirty="0">
                <a:latin typeface="Arial" pitchFamily="34" charset="0"/>
                <a:cs typeface="Arial" pitchFamily="34" charset="0"/>
              </a:rPr>
              <a:t>Javanese, Banjar, Bugis, </a:t>
            </a:r>
            <a:r>
              <a:rPr lang="en-US" sz="2400" b="1" dirty="0" err="1">
                <a:latin typeface="Arial" pitchFamily="34" charset="0"/>
                <a:cs typeface="Arial" pitchFamily="34" charset="0"/>
              </a:rPr>
              <a:t>Boyan</a:t>
            </a:r>
            <a:r>
              <a:rPr lang="en-US" sz="2400" b="1" dirty="0">
                <a:latin typeface="Arial" pitchFamily="34" charset="0"/>
                <a:cs typeface="Arial" pitchFamily="34" charset="0"/>
              </a:rPr>
              <a:t>, Minangkabau, Acehnese, Kampar, </a:t>
            </a:r>
            <a:r>
              <a:rPr lang="en-US" sz="2400" b="1" dirty="0" err="1">
                <a:latin typeface="Arial" pitchFamily="34" charset="0"/>
                <a:cs typeface="Arial" pitchFamily="34" charset="0"/>
              </a:rPr>
              <a:t>Mandailing</a:t>
            </a:r>
            <a:r>
              <a:rPr lang="en-US" sz="2400" b="1" dirty="0">
                <a:latin typeface="Arial" pitchFamily="34" charset="0"/>
                <a:cs typeface="Arial" pitchFamily="34" charset="0"/>
              </a:rPr>
              <a:t>, </a:t>
            </a:r>
            <a:r>
              <a:rPr lang="en-US" sz="2400" dirty="0" err="1">
                <a:latin typeface="Arial" pitchFamily="34" charset="0"/>
                <a:cs typeface="Arial" pitchFamily="34" charset="0"/>
              </a:rPr>
              <a:t>Rawa</a:t>
            </a:r>
            <a:r>
              <a:rPr lang="en-US" sz="2400" dirty="0">
                <a:latin typeface="Arial" pitchFamily="34" charset="0"/>
                <a:cs typeface="Arial" pitchFamily="34" charset="0"/>
              </a:rPr>
              <a:t> and so on</a:t>
            </a:r>
          </a:p>
          <a:p>
            <a:pPr lvl="1" algn="just">
              <a:spcBef>
                <a:spcPct val="0"/>
              </a:spcBef>
              <a:defRPr/>
            </a:pPr>
            <a:r>
              <a:rPr lang="en-US" sz="2400" dirty="0">
                <a:latin typeface="Arial" pitchFamily="34" charset="0"/>
                <a:cs typeface="Arial" pitchFamily="34" charset="0"/>
              </a:rPr>
              <a:t>(II) Peninsula Malays, those originating from the Malay Peninsula, such as the Kedah Northerners or those from the East Coast (Kelantan and Terengganu)</a:t>
            </a:r>
          </a:p>
          <a:p>
            <a:endParaRPr lang="en-MY" dirty="0"/>
          </a:p>
        </p:txBody>
      </p:sp>
    </p:spTree>
    <p:extLst>
      <p:ext uri="{BB962C8B-B14F-4D97-AF65-F5344CB8AC3E}">
        <p14:creationId xmlns:p14="http://schemas.microsoft.com/office/powerpoint/2010/main" val="1955655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483F43-BA8F-4AAC-B237-00286E74DE21}"/>
              </a:ext>
            </a:extLst>
          </p:cNvPr>
          <p:cNvSpPr>
            <a:spLocks noGrp="1"/>
          </p:cNvSpPr>
          <p:nvPr>
            <p:ph sz="quarter" idx="13"/>
          </p:nvPr>
        </p:nvSpPr>
        <p:spPr>
          <a:xfrm>
            <a:off x="258417" y="331304"/>
            <a:ext cx="5638802" cy="5043281"/>
          </a:xfrm>
        </p:spPr>
        <p:txBody>
          <a:bodyPr>
            <a:normAutofit/>
          </a:bodyPr>
          <a:lstStyle/>
          <a:p>
            <a:pPr eaLnBrk="1" hangingPunct="1">
              <a:spcBef>
                <a:spcPct val="0"/>
              </a:spcBef>
              <a:defRPr/>
            </a:pPr>
            <a:endParaRPr lang="en-US" sz="2000" dirty="0">
              <a:latin typeface="Arial" pitchFamily="34" charset="0"/>
              <a:cs typeface="Arial" pitchFamily="34" charset="0"/>
            </a:endParaRPr>
          </a:p>
          <a:p>
            <a:pPr algn="just" eaLnBrk="1" hangingPunct="1">
              <a:spcBef>
                <a:spcPct val="0"/>
              </a:spcBef>
              <a:defRPr/>
            </a:pPr>
            <a:r>
              <a:rPr lang="en-US" sz="2000" dirty="0">
                <a:latin typeface="Arial" pitchFamily="34" charset="0"/>
                <a:cs typeface="Arial" pitchFamily="34" charset="0"/>
              </a:rPr>
              <a:t>Dominant in politics – leading major political parties in Malaysia (UMNO, PAS, Bersatu/</a:t>
            </a:r>
            <a:r>
              <a:rPr lang="en-US" sz="2000" dirty="0" err="1">
                <a:latin typeface="Arial" pitchFamily="34" charset="0"/>
                <a:cs typeface="Arial" pitchFamily="34" charset="0"/>
              </a:rPr>
              <a:t>Pribumi</a:t>
            </a:r>
            <a:r>
              <a:rPr lang="en-US" sz="2000" dirty="0">
                <a:latin typeface="Arial" pitchFamily="34" charset="0"/>
                <a:cs typeface="Arial" pitchFamily="34" charset="0"/>
              </a:rPr>
              <a:t> and Amanah) </a:t>
            </a:r>
          </a:p>
          <a:p>
            <a:pPr algn="just" eaLnBrk="1" hangingPunct="1">
              <a:spcBef>
                <a:spcPct val="0"/>
              </a:spcBef>
              <a:defRPr/>
            </a:pPr>
            <a:r>
              <a:rPr lang="en-US" sz="2000" dirty="0">
                <a:latin typeface="Arial" pitchFamily="34" charset="0"/>
                <a:cs typeface="Arial" pitchFamily="34" charset="0"/>
              </a:rPr>
              <a:t>Islam is the religion – commonly associated with Islam – The Malays are culturally influenced by Islam and Malay custom/tradition - Halal certification in food and banking system</a:t>
            </a:r>
          </a:p>
          <a:p>
            <a:endParaRPr lang="en-MY" dirty="0"/>
          </a:p>
        </p:txBody>
      </p:sp>
      <p:pic>
        <p:nvPicPr>
          <p:cNvPr id="13" name="Content Placeholder 12">
            <a:extLst>
              <a:ext uri="{FF2B5EF4-FFF2-40B4-BE49-F238E27FC236}">
                <a16:creationId xmlns:a16="http://schemas.microsoft.com/office/drawing/2014/main" id="{AE81A691-D3DE-4CA5-8EDE-E1D3A1208220}"/>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6096000" y="331304"/>
            <a:ext cx="5194852" cy="3813906"/>
          </a:xfrm>
        </p:spPr>
      </p:pic>
      <p:sp>
        <p:nvSpPr>
          <p:cNvPr id="14" name="TextBox 13">
            <a:extLst>
              <a:ext uri="{FF2B5EF4-FFF2-40B4-BE49-F238E27FC236}">
                <a16:creationId xmlns:a16="http://schemas.microsoft.com/office/drawing/2014/main" id="{37DAF31A-6F54-4E29-B953-E7E6A714D71C}"/>
              </a:ext>
            </a:extLst>
          </p:cNvPr>
          <p:cNvSpPr txBox="1"/>
          <p:nvPr/>
        </p:nvSpPr>
        <p:spPr>
          <a:xfrm>
            <a:off x="6294782" y="4304236"/>
            <a:ext cx="4797287" cy="646331"/>
          </a:xfrm>
          <a:prstGeom prst="rect">
            <a:avLst/>
          </a:prstGeom>
          <a:noFill/>
        </p:spPr>
        <p:txBody>
          <a:bodyPr wrap="square" rtlCol="0">
            <a:spAutoFit/>
          </a:bodyPr>
          <a:lstStyle/>
          <a:p>
            <a:pPr algn="ctr"/>
            <a:r>
              <a:rPr lang="en-MY" dirty="0"/>
              <a:t>The image of Malay fishermen in the East Coast in the 1940s</a:t>
            </a:r>
          </a:p>
        </p:txBody>
      </p:sp>
    </p:spTree>
    <p:extLst>
      <p:ext uri="{BB962C8B-B14F-4D97-AF65-F5344CB8AC3E}">
        <p14:creationId xmlns:p14="http://schemas.microsoft.com/office/powerpoint/2010/main" val="2617933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F5E0B1-0285-4CED-F970-3F982EB41809}"/>
              </a:ext>
            </a:extLst>
          </p:cNvPr>
          <p:cNvSpPr>
            <a:spLocks noGrp="1"/>
          </p:cNvSpPr>
          <p:nvPr>
            <p:ph type="title"/>
          </p:nvPr>
        </p:nvSpPr>
        <p:spPr>
          <a:xfrm>
            <a:off x="447261" y="129209"/>
            <a:ext cx="10645361" cy="1151965"/>
          </a:xfrm>
        </p:spPr>
        <p:txBody>
          <a:bodyPr>
            <a:normAutofit fontScale="90000"/>
          </a:bodyPr>
          <a:lstStyle/>
          <a:p>
            <a:pPr algn="ctr"/>
            <a:r>
              <a:rPr lang="en-US" dirty="0"/>
              <a:t>THE MALAYS : THE CULTURE AND TRADITION</a:t>
            </a:r>
            <a:endParaRPr lang="en-MY" dirty="0"/>
          </a:p>
        </p:txBody>
      </p:sp>
      <p:sp>
        <p:nvSpPr>
          <p:cNvPr id="6" name="Content Placeholder 5">
            <a:extLst>
              <a:ext uri="{FF2B5EF4-FFF2-40B4-BE49-F238E27FC236}">
                <a16:creationId xmlns:a16="http://schemas.microsoft.com/office/drawing/2014/main" id="{B5639DF2-17DF-5D5A-E221-117A2DD92F9E}"/>
              </a:ext>
            </a:extLst>
          </p:cNvPr>
          <p:cNvSpPr>
            <a:spLocks noGrp="1"/>
          </p:cNvSpPr>
          <p:nvPr>
            <p:ph sz="quarter" idx="13"/>
          </p:nvPr>
        </p:nvSpPr>
        <p:spPr>
          <a:xfrm>
            <a:off x="238539" y="1192696"/>
            <a:ext cx="11290851" cy="4181889"/>
          </a:xfrm>
        </p:spPr>
        <p:txBody>
          <a:bodyPr>
            <a:normAutofit/>
          </a:bodyPr>
          <a:lstStyle/>
          <a:p>
            <a:pPr algn="just"/>
            <a:r>
              <a:rPr lang="en-US" dirty="0"/>
              <a:t>Festival: Main celebration - Eid-</a:t>
            </a:r>
            <a:r>
              <a:rPr lang="en-US" dirty="0" err="1"/>
              <a:t>ul</a:t>
            </a:r>
            <a:r>
              <a:rPr lang="en-US" dirty="0"/>
              <a:t> </a:t>
            </a:r>
            <a:r>
              <a:rPr lang="en-US" dirty="0" err="1"/>
              <a:t>fitr</a:t>
            </a:r>
            <a:r>
              <a:rPr lang="en-US" dirty="0"/>
              <a:t> and Eid-</a:t>
            </a:r>
            <a:r>
              <a:rPr lang="en-US" dirty="0" err="1"/>
              <a:t>ul</a:t>
            </a:r>
            <a:r>
              <a:rPr lang="en-US" dirty="0"/>
              <a:t> </a:t>
            </a:r>
            <a:r>
              <a:rPr lang="en-US" dirty="0" err="1"/>
              <a:t>Adha</a:t>
            </a:r>
            <a:r>
              <a:rPr lang="en-US" dirty="0"/>
              <a:t>, other Islamic observations based on Islamic calendar such as, Awal Muharram - the first day of Hijrah calendar, etc.</a:t>
            </a:r>
          </a:p>
          <a:p>
            <a:pPr algn="just"/>
            <a:r>
              <a:rPr lang="en-US" dirty="0"/>
              <a:t>Malay culture and tradition is similar with Indonesian, Brunei and Malay in Singapore and Thailand - it came from the same root.  </a:t>
            </a:r>
          </a:p>
          <a:p>
            <a:pPr algn="just"/>
            <a:r>
              <a:rPr lang="en-US" dirty="0"/>
              <a:t>Traditional food similar with the Malays in Singapore and traditional cuisine in  Indonesia and Brunei</a:t>
            </a:r>
          </a:p>
          <a:p>
            <a:pPr algn="just"/>
            <a:r>
              <a:rPr lang="en-US" dirty="0"/>
              <a:t>Traditional attire – Baju </a:t>
            </a:r>
            <a:r>
              <a:rPr lang="en-US" dirty="0" err="1"/>
              <a:t>Kurung</a:t>
            </a:r>
            <a:r>
              <a:rPr lang="en-US" dirty="0"/>
              <a:t> (female)(few types of baju </a:t>
            </a:r>
            <a:r>
              <a:rPr lang="en-US" dirty="0" err="1"/>
              <a:t>kurung</a:t>
            </a:r>
            <a:r>
              <a:rPr lang="en-US" dirty="0"/>
              <a:t> based on the state) and Baju </a:t>
            </a:r>
            <a:r>
              <a:rPr lang="en-US" dirty="0" err="1"/>
              <a:t>Melayu</a:t>
            </a:r>
            <a:r>
              <a:rPr lang="en-US" dirty="0"/>
              <a:t> (male)</a:t>
            </a:r>
          </a:p>
          <a:p>
            <a:endParaRPr lang="en-MY" dirty="0"/>
          </a:p>
        </p:txBody>
      </p:sp>
    </p:spTree>
    <p:extLst>
      <p:ext uri="{BB962C8B-B14F-4D97-AF65-F5344CB8AC3E}">
        <p14:creationId xmlns:p14="http://schemas.microsoft.com/office/powerpoint/2010/main" val="2117628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5474A-F109-4DE5-9FC8-8BDFF1A44AEB}"/>
              </a:ext>
            </a:extLst>
          </p:cNvPr>
          <p:cNvSpPr>
            <a:spLocks noGrp="1"/>
          </p:cNvSpPr>
          <p:nvPr>
            <p:ph type="title"/>
          </p:nvPr>
        </p:nvSpPr>
        <p:spPr>
          <a:xfrm>
            <a:off x="765314" y="188845"/>
            <a:ext cx="10396882" cy="725556"/>
          </a:xfrm>
        </p:spPr>
        <p:txBody>
          <a:bodyPr>
            <a:normAutofit fontScale="90000"/>
          </a:bodyPr>
          <a:lstStyle/>
          <a:p>
            <a:br>
              <a:rPr lang="en-US" sz="4400" b="1" u="sng" dirty="0">
                <a:latin typeface="Arial" pitchFamily="34" charset="0"/>
                <a:cs typeface="Arial" pitchFamily="34" charset="0"/>
              </a:rPr>
            </a:br>
            <a:r>
              <a:rPr lang="en-US" sz="4400" b="1" u="sng" dirty="0">
                <a:latin typeface="Arial" pitchFamily="34" charset="0"/>
                <a:cs typeface="Arial" pitchFamily="34" charset="0"/>
              </a:rPr>
              <a:t>b) Chinese</a:t>
            </a:r>
            <a:br>
              <a:rPr lang="en-US" sz="4400" dirty="0">
                <a:latin typeface="Arial" pitchFamily="34" charset="0"/>
                <a:cs typeface="Arial" pitchFamily="34" charset="0"/>
              </a:rPr>
            </a:br>
            <a:endParaRPr lang="en-MY" dirty="0"/>
          </a:p>
        </p:txBody>
      </p:sp>
      <p:sp>
        <p:nvSpPr>
          <p:cNvPr id="3" name="Content Placeholder 2">
            <a:extLst>
              <a:ext uri="{FF2B5EF4-FFF2-40B4-BE49-F238E27FC236}">
                <a16:creationId xmlns:a16="http://schemas.microsoft.com/office/drawing/2014/main" id="{1895E27B-2BC6-4467-A9E9-A51D6CAFF1AC}"/>
              </a:ext>
            </a:extLst>
          </p:cNvPr>
          <p:cNvSpPr>
            <a:spLocks noGrp="1"/>
          </p:cNvSpPr>
          <p:nvPr>
            <p:ph idx="1"/>
          </p:nvPr>
        </p:nvSpPr>
        <p:spPr>
          <a:xfrm>
            <a:off x="99392" y="914401"/>
            <a:ext cx="11579087" cy="4611756"/>
          </a:xfrm>
        </p:spPr>
        <p:txBody>
          <a:bodyPr>
            <a:normAutofit fontScale="92500" lnSpcReduction="10000"/>
          </a:bodyPr>
          <a:lstStyle/>
          <a:p>
            <a:pPr marL="0" indent="0" algn="just" eaLnBrk="1" hangingPunct="1">
              <a:spcBef>
                <a:spcPct val="0"/>
              </a:spcBef>
              <a:buNone/>
              <a:defRPr/>
            </a:pPr>
            <a:endParaRPr lang="en-US" sz="2400" dirty="0">
              <a:latin typeface="Arial" pitchFamily="34" charset="0"/>
              <a:cs typeface="Arial" pitchFamily="34" charset="0"/>
            </a:endParaRPr>
          </a:p>
          <a:p>
            <a:pPr algn="just" eaLnBrk="1" hangingPunct="1">
              <a:spcBef>
                <a:spcPct val="0"/>
              </a:spcBef>
              <a:defRPr/>
            </a:pPr>
            <a:r>
              <a:rPr lang="en-US" sz="2400" dirty="0">
                <a:latin typeface="Arial" pitchFamily="34" charset="0"/>
                <a:cs typeface="Arial" pitchFamily="34" charset="0"/>
              </a:rPr>
              <a:t>Second largest ethnic group - major non-indigenous group</a:t>
            </a:r>
          </a:p>
          <a:p>
            <a:pPr algn="just" eaLnBrk="1" hangingPunct="1">
              <a:spcBef>
                <a:spcPct val="0"/>
              </a:spcBef>
              <a:defRPr/>
            </a:pPr>
            <a:r>
              <a:rPr lang="en-US" sz="2400" dirty="0">
                <a:latin typeface="Arial" pitchFamily="34" charset="0"/>
                <a:cs typeface="Arial" pitchFamily="34" charset="0"/>
              </a:rPr>
              <a:t>In history – besides in tin mining, they were involved in trading and  commercial activity. Most of them were from southern provinces of China</a:t>
            </a:r>
          </a:p>
          <a:p>
            <a:pPr algn="just" eaLnBrk="1" hangingPunct="1">
              <a:spcBef>
                <a:spcPct val="0"/>
              </a:spcBef>
              <a:defRPr/>
            </a:pPr>
            <a:r>
              <a:rPr lang="en-US" sz="2400" dirty="0">
                <a:latin typeface="Arial" pitchFamily="34" charset="0"/>
                <a:cs typeface="Arial" pitchFamily="34" charset="0"/>
              </a:rPr>
              <a:t>After independence – the Chinese dominant in trading and commercial business – economic power</a:t>
            </a:r>
          </a:p>
          <a:p>
            <a:pPr algn="just" eaLnBrk="1" hangingPunct="1">
              <a:spcBef>
                <a:spcPct val="0"/>
              </a:spcBef>
              <a:defRPr/>
            </a:pPr>
            <a:r>
              <a:rPr lang="en-US" sz="2400" dirty="0">
                <a:latin typeface="Arial" pitchFamily="34" charset="0"/>
                <a:cs typeface="Arial" pitchFamily="34" charset="0"/>
              </a:rPr>
              <a:t>Politically dominant after the Malays – contribution during the process of the Malaya independence. The political party - Malaysian Chinese Association (MCA)</a:t>
            </a:r>
          </a:p>
          <a:p>
            <a:pPr algn="just" eaLnBrk="1" hangingPunct="1">
              <a:spcBef>
                <a:spcPct val="0"/>
              </a:spcBef>
              <a:defRPr/>
            </a:pPr>
            <a:r>
              <a:rPr lang="en-US" sz="2400" dirty="0">
                <a:latin typeface="Arial" pitchFamily="34" charset="0"/>
                <a:cs typeface="Arial" pitchFamily="34" charset="0"/>
              </a:rPr>
              <a:t>Ethnic tension between the Malay and Chinese yet also influence of the culture and tradition on the Malays and vice versa</a:t>
            </a:r>
          </a:p>
          <a:p>
            <a:endParaRPr lang="en-MY" dirty="0"/>
          </a:p>
        </p:txBody>
      </p:sp>
    </p:spTree>
    <p:extLst>
      <p:ext uri="{BB962C8B-B14F-4D97-AF65-F5344CB8AC3E}">
        <p14:creationId xmlns:p14="http://schemas.microsoft.com/office/powerpoint/2010/main" val="976184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E946E0-1F36-7FDB-8D2A-7A27002A2524}"/>
              </a:ext>
            </a:extLst>
          </p:cNvPr>
          <p:cNvSpPr>
            <a:spLocks noGrp="1"/>
          </p:cNvSpPr>
          <p:nvPr>
            <p:ph type="title"/>
          </p:nvPr>
        </p:nvSpPr>
        <p:spPr>
          <a:xfrm>
            <a:off x="303143" y="119270"/>
            <a:ext cx="10992678" cy="854765"/>
          </a:xfrm>
        </p:spPr>
        <p:txBody>
          <a:bodyPr>
            <a:normAutofit/>
          </a:bodyPr>
          <a:lstStyle/>
          <a:p>
            <a:pPr algn="ctr"/>
            <a:r>
              <a:rPr lang="en-US" sz="3600" b="1" dirty="0">
                <a:effectLst/>
                <a:latin typeface="Times New Roman" panose="02020603050405020304" pitchFamily="18" charset="0"/>
                <a:ea typeface="Times New Roman" panose="02020603050405020304" pitchFamily="18" charset="0"/>
              </a:rPr>
              <a:t>THE CHINESE: THE CULTURE &amp; TRADITION</a:t>
            </a:r>
            <a:endParaRPr lang="en-MY" sz="8800" dirty="0"/>
          </a:p>
        </p:txBody>
      </p:sp>
      <p:sp>
        <p:nvSpPr>
          <p:cNvPr id="5" name="Content Placeholder 4">
            <a:extLst>
              <a:ext uri="{FF2B5EF4-FFF2-40B4-BE49-F238E27FC236}">
                <a16:creationId xmlns:a16="http://schemas.microsoft.com/office/drawing/2014/main" id="{CCD42570-3613-44AE-8989-3B6B5547C42E}"/>
              </a:ext>
            </a:extLst>
          </p:cNvPr>
          <p:cNvSpPr>
            <a:spLocks noGrp="1"/>
          </p:cNvSpPr>
          <p:nvPr>
            <p:ph sz="quarter" idx="13"/>
          </p:nvPr>
        </p:nvSpPr>
        <p:spPr>
          <a:xfrm>
            <a:off x="0" y="974034"/>
            <a:ext cx="11598965" cy="4532243"/>
          </a:xfrm>
        </p:spPr>
        <p:txBody>
          <a:bodyPr>
            <a:normAutofit lnSpcReduction="10000"/>
          </a:bodyPr>
          <a:lstStyle/>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Largely adherents of Buddhism and Taoism. Language based on the sub-ethnics groups - </a:t>
            </a:r>
            <a:r>
              <a:rPr lang="en-US" sz="1800" dirty="0" err="1">
                <a:effectLst/>
                <a:latin typeface="Arial" panose="020B0604020202020204" pitchFamily="34" charset="0"/>
                <a:ea typeface="Arial" panose="020B0604020202020204" pitchFamily="34" charset="0"/>
                <a:cs typeface="Arial" panose="020B0604020202020204" pitchFamily="34" charset="0"/>
              </a:rPr>
              <a:t>Hokkien</a:t>
            </a:r>
            <a:r>
              <a:rPr lang="en-US" sz="1800" dirty="0">
                <a:effectLst/>
                <a:latin typeface="Arial" panose="020B0604020202020204" pitchFamily="34" charset="0"/>
                <a:ea typeface="Arial" panose="020B0604020202020204" pitchFamily="34" charset="0"/>
                <a:cs typeface="Arial" panose="020B0604020202020204" pitchFamily="34" charset="0"/>
              </a:rPr>
              <a:t>, Hakka, Cantonese, Teochew and </a:t>
            </a:r>
            <a:r>
              <a:rPr lang="en-US" sz="1800" dirty="0" err="1">
                <a:effectLst/>
                <a:latin typeface="Arial" panose="020B0604020202020204" pitchFamily="34" charset="0"/>
                <a:ea typeface="Arial" panose="020B0604020202020204" pitchFamily="34" charset="0"/>
                <a:cs typeface="Arial" panose="020B0604020202020204" pitchFamily="34" charset="0"/>
              </a:rPr>
              <a:t>Hailam</a:t>
            </a:r>
            <a:r>
              <a:rPr lang="en-US" sz="1800" dirty="0">
                <a:effectLst/>
                <a:latin typeface="Arial" panose="020B0604020202020204" pitchFamily="34" charset="0"/>
                <a:ea typeface="Arial" panose="020B0604020202020204" pitchFamily="34" charset="0"/>
                <a:cs typeface="Arial" panose="020B0604020202020204" pitchFamily="34" charset="0"/>
              </a:rPr>
              <a:t>. A number of the Chinese also embraces Christianity</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Peranakan or Baba Nyonya – minority/sub-ethnic group – result of mix-marriage between Chinese and Malay during Malacca empire</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Festival and celebration: Chinese New Year, Chap Goh Mei, Ching Ming, Hungry Ghost, Wesak Day (Buddhist), </a:t>
            </a:r>
            <a:r>
              <a:rPr lang="en-US" sz="1800" i="1" dirty="0" err="1">
                <a:effectLst/>
                <a:latin typeface="Arial" panose="020B0604020202020204" pitchFamily="34" charset="0"/>
                <a:ea typeface="Arial" panose="020B0604020202020204" pitchFamily="34" charset="0"/>
                <a:cs typeface="Arial" panose="020B0604020202020204" pitchFamily="34" charset="0"/>
              </a:rPr>
              <a:t>Tanglung</a:t>
            </a:r>
            <a:r>
              <a:rPr lang="en-US" sz="1800" dirty="0">
                <a:effectLst/>
                <a:latin typeface="Arial" panose="020B0604020202020204" pitchFamily="34" charset="0"/>
                <a:ea typeface="Arial" panose="020B0604020202020204" pitchFamily="34" charset="0"/>
                <a:cs typeface="Arial" panose="020B0604020202020204" pitchFamily="34" charset="0"/>
              </a:rPr>
              <a:t>  or Lantern Festival or the Mooncake Festival, Dragon Boat Festival etc.</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Traditional attire – </a:t>
            </a:r>
            <a:r>
              <a:rPr lang="en-US" sz="1800" dirty="0" err="1">
                <a:effectLst/>
                <a:latin typeface="Arial" panose="020B0604020202020204" pitchFamily="34" charset="0"/>
                <a:ea typeface="Arial" panose="020B0604020202020204" pitchFamily="34" charset="0"/>
                <a:cs typeface="Arial" panose="020B0604020202020204" pitchFamily="34" charset="0"/>
              </a:rPr>
              <a:t>Samfoo</a:t>
            </a:r>
            <a:r>
              <a:rPr lang="en-US" sz="1800" dirty="0">
                <a:effectLst/>
                <a:latin typeface="Arial" panose="020B0604020202020204" pitchFamily="34" charset="0"/>
                <a:ea typeface="Arial" panose="020B0604020202020204" pitchFamily="34" charset="0"/>
                <a:cs typeface="Arial" panose="020B0604020202020204" pitchFamily="34" charset="0"/>
              </a:rPr>
              <a:t>, Cheongsam (female) and Tang Suit (male)</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Traditional food – Southern China influence, from the community of Cantonese, </a:t>
            </a:r>
            <a:r>
              <a:rPr lang="en-US" sz="1800" dirty="0" err="1">
                <a:effectLst/>
                <a:latin typeface="Arial" panose="020B0604020202020204" pitchFamily="34" charset="0"/>
                <a:ea typeface="Arial" panose="020B0604020202020204" pitchFamily="34" charset="0"/>
                <a:cs typeface="Arial" panose="020B0604020202020204" pitchFamily="34" charset="0"/>
              </a:rPr>
              <a:t>Hokkien</a:t>
            </a:r>
            <a:r>
              <a:rPr lang="en-US" sz="1800" dirty="0">
                <a:effectLst/>
                <a:latin typeface="Arial" panose="020B0604020202020204" pitchFamily="34" charset="0"/>
                <a:ea typeface="Arial" panose="020B0604020202020204" pitchFamily="34" charset="0"/>
                <a:cs typeface="Arial" panose="020B0604020202020204" pitchFamily="34" charset="0"/>
              </a:rPr>
              <a:t> and Szechuan</a:t>
            </a:r>
            <a:endParaRPr lang="en-MY" sz="1800" dirty="0">
              <a:effectLst/>
              <a:latin typeface="Arial" panose="020B0604020202020204" pitchFamily="34" charset="0"/>
              <a:ea typeface="Arial" panose="020B0604020202020204" pitchFamily="34" charset="0"/>
              <a:cs typeface="Arial" panose="020B0604020202020204" pitchFamily="34" charset="0"/>
            </a:endParaRPr>
          </a:p>
          <a:p>
            <a:endParaRPr lang="en-MY" dirty="0"/>
          </a:p>
        </p:txBody>
      </p:sp>
    </p:spTree>
    <p:extLst>
      <p:ext uri="{BB962C8B-B14F-4D97-AF65-F5344CB8AC3E}">
        <p14:creationId xmlns:p14="http://schemas.microsoft.com/office/powerpoint/2010/main" val="1777986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556C2-E4E7-4E63-AD5F-B5DC9712ED65}"/>
              </a:ext>
            </a:extLst>
          </p:cNvPr>
          <p:cNvSpPr>
            <a:spLocks noGrp="1"/>
          </p:cNvSpPr>
          <p:nvPr>
            <p:ph type="title"/>
          </p:nvPr>
        </p:nvSpPr>
        <p:spPr>
          <a:xfrm>
            <a:off x="521806" y="159027"/>
            <a:ext cx="10396882" cy="646043"/>
          </a:xfrm>
        </p:spPr>
        <p:txBody>
          <a:bodyPr>
            <a:normAutofit fontScale="90000"/>
          </a:bodyPr>
          <a:lstStyle/>
          <a:p>
            <a:br>
              <a:rPr lang="en-US" b="1" u="sng" dirty="0">
                <a:latin typeface="Arial" pitchFamily="34" charset="0"/>
                <a:cs typeface="Arial" pitchFamily="34" charset="0"/>
              </a:rPr>
            </a:br>
            <a:r>
              <a:rPr lang="en-US" b="1" u="sng" dirty="0">
                <a:latin typeface="Arial" pitchFamily="34" charset="0"/>
                <a:cs typeface="Arial" pitchFamily="34" charset="0"/>
              </a:rPr>
              <a:t>c)</a:t>
            </a:r>
            <a:r>
              <a:rPr lang="en-US" b="1" u="sng" dirty="0" err="1">
                <a:latin typeface="Arial" pitchFamily="34" charset="0"/>
                <a:cs typeface="Arial" pitchFamily="34" charset="0"/>
              </a:rPr>
              <a:t>INDIAns</a:t>
            </a:r>
            <a:br>
              <a:rPr lang="en-US" dirty="0">
                <a:latin typeface="Arial" pitchFamily="34" charset="0"/>
                <a:cs typeface="Arial" pitchFamily="34" charset="0"/>
              </a:rPr>
            </a:br>
            <a:endParaRPr lang="en-MY" dirty="0"/>
          </a:p>
        </p:txBody>
      </p:sp>
      <p:sp>
        <p:nvSpPr>
          <p:cNvPr id="3" name="Content Placeholder 2">
            <a:extLst>
              <a:ext uri="{FF2B5EF4-FFF2-40B4-BE49-F238E27FC236}">
                <a16:creationId xmlns:a16="http://schemas.microsoft.com/office/drawing/2014/main" id="{14A63041-06ED-4DA7-951A-6C2FA88C0DEE}"/>
              </a:ext>
            </a:extLst>
          </p:cNvPr>
          <p:cNvSpPr>
            <a:spLocks noGrp="1"/>
          </p:cNvSpPr>
          <p:nvPr>
            <p:ph idx="1"/>
          </p:nvPr>
        </p:nvSpPr>
        <p:spPr>
          <a:xfrm>
            <a:off x="168965" y="1013791"/>
            <a:ext cx="11380305" cy="4360795"/>
          </a:xfrm>
        </p:spPr>
        <p:txBody>
          <a:bodyPr>
            <a:normAutofit/>
          </a:bodyPr>
          <a:lstStyle/>
          <a:p>
            <a:pPr algn="just" eaLnBrk="1" hangingPunct="1">
              <a:spcBef>
                <a:spcPct val="0"/>
              </a:spcBef>
              <a:defRPr/>
            </a:pPr>
            <a:r>
              <a:rPr lang="en-US" dirty="0">
                <a:latin typeface="Arial" pitchFamily="34" charset="0"/>
                <a:cs typeface="Arial" pitchFamily="34" charset="0"/>
              </a:rPr>
              <a:t>Most of them originally from Southern India (Tamil Nadu and Kerala) and settled in Malay Peninsular. They  were mostly recruited to work as  workers in the rubber, tea and oil palm estates. They were lived mainly in plantation estates on the west coast. </a:t>
            </a:r>
          </a:p>
          <a:p>
            <a:pPr algn="just" eaLnBrk="1" hangingPunct="1">
              <a:spcBef>
                <a:spcPct val="0"/>
              </a:spcBef>
              <a:defRPr/>
            </a:pPr>
            <a:r>
              <a:rPr lang="en-US" dirty="0">
                <a:latin typeface="Arial" pitchFamily="34" charset="0"/>
                <a:cs typeface="Arial" pitchFamily="34" charset="0"/>
              </a:rPr>
              <a:t>Among them – there are differences in terms of culture and tradition. </a:t>
            </a:r>
          </a:p>
          <a:p>
            <a:pPr algn="just" eaLnBrk="1" hangingPunct="1">
              <a:spcBef>
                <a:spcPct val="0"/>
              </a:spcBef>
              <a:defRPr/>
            </a:pPr>
            <a:r>
              <a:rPr lang="en-US" dirty="0">
                <a:latin typeface="Arial" pitchFamily="34" charset="0"/>
                <a:cs typeface="Arial" pitchFamily="34" charset="0"/>
              </a:rPr>
              <a:t>Most of them are Hindus, a number of them are Christians. Language - Tamil, Telugu, Malayalam and some Hindi. </a:t>
            </a:r>
          </a:p>
          <a:p>
            <a:pPr algn="just" eaLnBrk="1" hangingPunct="1">
              <a:spcBef>
                <a:spcPct val="0"/>
              </a:spcBef>
              <a:defRPr/>
            </a:pPr>
            <a:r>
              <a:rPr lang="en-US" dirty="0">
                <a:latin typeface="Arial" pitchFamily="34" charset="0"/>
                <a:cs typeface="Arial" pitchFamily="34" charset="0"/>
              </a:rPr>
              <a:t>Also includes a sizeable number of Sikh minority community – were recruited by British in paramilitary and police units. </a:t>
            </a:r>
          </a:p>
          <a:p>
            <a:pPr algn="just" eaLnBrk="1" hangingPunct="1">
              <a:spcBef>
                <a:spcPct val="0"/>
              </a:spcBef>
              <a:defRPr/>
            </a:pPr>
            <a:r>
              <a:rPr lang="en-US" dirty="0">
                <a:latin typeface="Arial" pitchFamily="34" charset="0"/>
                <a:cs typeface="Arial" pitchFamily="34" charset="0"/>
              </a:rPr>
              <a:t>The Indians also contributed to the process of Malaya independence – Malayan Indian Congress Party (MIC)</a:t>
            </a:r>
          </a:p>
          <a:p>
            <a:endParaRPr lang="en-MY" dirty="0"/>
          </a:p>
        </p:txBody>
      </p:sp>
    </p:spTree>
    <p:extLst>
      <p:ext uri="{BB962C8B-B14F-4D97-AF65-F5344CB8AC3E}">
        <p14:creationId xmlns:p14="http://schemas.microsoft.com/office/powerpoint/2010/main" val="1447562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50DDA22-801F-E39F-B403-6E5314A9E6D3}"/>
              </a:ext>
            </a:extLst>
          </p:cNvPr>
          <p:cNvSpPr>
            <a:spLocks noGrp="1"/>
          </p:cNvSpPr>
          <p:nvPr>
            <p:ph type="title"/>
          </p:nvPr>
        </p:nvSpPr>
        <p:spPr>
          <a:xfrm>
            <a:off x="596349" y="129209"/>
            <a:ext cx="10396882" cy="1151965"/>
          </a:xfrm>
        </p:spPr>
        <p:txBody>
          <a:bodyPr>
            <a:normAutofit/>
          </a:bodyPr>
          <a:lstStyle/>
          <a:p>
            <a:pPr algn="ctr"/>
            <a:r>
              <a:rPr lang="en-US" sz="3200" b="1" dirty="0">
                <a:effectLst/>
                <a:latin typeface="Times New Roman" panose="02020603050405020304" pitchFamily="18" charset="0"/>
                <a:ea typeface="Times New Roman" panose="02020603050405020304" pitchFamily="18" charset="0"/>
              </a:rPr>
              <a:t>THE INDIAN: THE CULTURE AND TRADITION</a:t>
            </a:r>
            <a:endParaRPr lang="en-MY" sz="8000" dirty="0"/>
          </a:p>
        </p:txBody>
      </p:sp>
      <p:sp>
        <p:nvSpPr>
          <p:cNvPr id="10" name="Content Placeholder 9">
            <a:extLst>
              <a:ext uri="{FF2B5EF4-FFF2-40B4-BE49-F238E27FC236}">
                <a16:creationId xmlns:a16="http://schemas.microsoft.com/office/drawing/2014/main" id="{CA909EAD-0469-D0C2-5CDC-0BA00B7F02DB}"/>
              </a:ext>
            </a:extLst>
          </p:cNvPr>
          <p:cNvSpPr>
            <a:spLocks noGrp="1"/>
          </p:cNvSpPr>
          <p:nvPr>
            <p:ph sz="quarter" idx="13"/>
          </p:nvPr>
        </p:nvSpPr>
        <p:spPr>
          <a:xfrm>
            <a:off x="278296" y="1033670"/>
            <a:ext cx="11317355" cy="4340915"/>
          </a:xfrm>
        </p:spPr>
        <p:txBody>
          <a:bodyPr/>
          <a:lstStyle/>
          <a:p>
            <a:pPr algn="just"/>
            <a:r>
              <a:rPr lang="en-US" dirty="0"/>
              <a:t>The Indian celebrates two main festivals (one of the major Malaysian festivals)</a:t>
            </a:r>
          </a:p>
          <a:p>
            <a:pPr algn="just"/>
            <a:r>
              <a:rPr lang="en-US" dirty="0"/>
              <a:t>Deepavali - the festival of lights</a:t>
            </a:r>
          </a:p>
          <a:p>
            <a:pPr algn="just"/>
            <a:r>
              <a:rPr lang="en-US" dirty="0"/>
              <a:t>Thaipusam - an annual fair of the Hindu deity Murugan -  held at Batu Caves, Selangor </a:t>
            </a:r>
          </a:p>
          <a:p>
            <a:pPr algn="just"/>
            <a:r>
              <a:rPr lang="en-US" dirty="0"/>
              <a:t>Other smaller religious events every year such as Thai </a:t>
            </a:r>
            <a:r>
              <a:rPr lang="en-US" dirty="0" err="1"/>
              <a:t>Ponggal</a:t>
            </a:r>
            <a:r>
              <a:rPr lang="en-US" dirty="0"/>
              <a:t> (harvest celebration – celebrated more in the rural area as compared to the urban)</a:t>
            </a:r>
          </a:p>
          <a:p>
            <a:pPr algn="just"/>
            <a:r>
              <a:rPr lang="en-US" dirty="0"/>
              <a:t>Malays and Indian  shared similar culture in terms of food and other culture – due to the influence of Hinduism in the ancient days and the traders during the Malacca empire. Influence of Indian cuisine on the Malays - has resulted in the creation of a variety of popular dishes. Popular cuisine – Mamak food</a:t>
            </a:r>
          </a:p>
          <a:p>
            <a:endParaRPr lang="en-MY" dirty="0"/>
          </a:p>
        </p:txBody>
      </p:sp>
    </p:spTree>
    <p:extLst>
      <p:ext uri="{BB962C8B-B14F-4D97-AF65-F5344CB8AC3E}">
        <p14:creationId xmlns:p14="http://schemas.microsoft.com/office/powerpoint/2010/main" val="2573300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21EC96-4E22-0F3D-84BF-75FBFD9A150C}"/>
              </a:ext>
            </a:extLst>
          </p:cNvPr>
          <p:cNvSpPr>
            <a:spLocks noGrp="1"/>
          </p:cNvSpPr>
          <p:nvPr>
            <p:ph sz="quarter" idx="13"/>
          </p:nvPr>
        </p:nvSpPr>
        <p:spPr>
          <a:xfrm>
            <a:off x="327992" y="437322"/>
            <a:ext cx="10752516" cy="4937263"/>
          </a:xfrm>
        </p:spPr>
        <p:txBody>
          <a:bodyPr/>
          <a:lstStyle/>
          <a:p>
            <a:pPr marL="342900" lvl="0" indent="-342900" algn="just">
              <a:spcAft>
                <a:spcPts val="800"/>
              </a:spcAft>
              <a:buFont typeface="Arial" panose="020B0604020202020204" pitchFamily="34" charset="0"/>
              <a:buChar char="•"/>
            </a:pPr>
            <a:r>
              <a:rPr lang="en-US" sz="1800" dirty="0">
                <a:effectLst/>
                <a:ea typeface="Arial" panose="020B0604020202020204" pitchFamily="34" charset="0"/>
                <a:cs typeface="Arial" panose="020B0604020202020204" pitchFamily="34" charset="0"/>
              </a:rPr>
              <a:t>Similar to Baba and </a:t>
            </a:r>
            <a:r>
              <a:rPr lang="en-US" sz="1800" dirty="0" err="1">
                <a:effectLst/>
                <a:ea typeface="Arial" panose="020B0604020202020204" pitchFamily="34" charset="0"/>
                <a:cs typeface="Arial" panose="020B0604020202020204" pitchFamily="34" charset="0"/>
              </a:rPr>
              <a:t>Nyonyas</a:t>
            </a:r>
            <a:r>
              <a:rPr lang="en-US" sz="1800" dirty="0">
                <a:effectLst/>
                <a:ea typeface="Arial" panose="020B0604020202020204" pitchFamily="34" charset="0"/>
                <a:cs typeface="Arial" panose="020B0604020202020204" pitchFamily="34" charset="0"/>
              </a:rPr>
              <a:t>, there are amalgamation/mix-marriage between the immigrants and local - the Chitty community in Malacca and Muslim Peranakan (</a:t>
            </a:r>
            <a:r>
              <a:rPr lang="en-US" sz="1800" dirty="0" err="1">
                <a:effectLst/>
                <a:ea typeface="Arial" panose="020B0604020202020204" pitchFamily="34" charset="0"/>
                <a:cs typeface="Arial" panose="020B0604020202020204" pitchFamily="34" charset="0"/>
              </a:rPr>
              <a:t>Jawi</a:t>
            </a:r>
            <a:r>
              <a:rPr lang="en-US" sz="1800" dirty="0">
                <a:effectLst/>
                <a:ea typeface="Arial" panose="020B0604020202020204" pitchFamily="34" charset="0"/>
                <a:cs typeface="Arial" panose="020B0604020202020204" pitchFamily="34" charset="0"/>
              </a:rPr>
              <a:t> Pekan) in Penang. Chitty - they remain Hindu, adopts the Malay and Chinese culture and speak Malay. Their women dress in sarong kebayas instead of sarees. </a:t>
            </a:r>
            <a:r>
              <a:rPr lang="en-US" sz="1800" dirty="0" err="1">
                <a:effectLst/>
                <a:ea typeface="Arial" panose="020B0604020202020204" pitchFamily="34" charset="0"/>
                <a:cs typeface="Arial" panose="020B0604020202020204" pitchFamily="34" charset="0"/>
              </a:rPr>
              <a:t>Jawi</a:t>
            </a:r>
            <a:r>
              <a:rPr lang="en-US" sz="1800" dirty="0">
                <a:effectLst/>
                <a:ea typeface="Arial" panose="020B0604020202020204" pitchFamily="34" charset="0"/>
                <a:cs typeface="Arial" panose="020B0604020202020204" pitchFamily="34" charset="0"/>
              </a:rPr>
              <a:t> Pekan are Muslims.</a:t>
            </a:r>
            <a:endParaRPr lang="en-MY" sz="1800" dirty="0">
              <a:effectLst/>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ea typeface="Arial" panose="020B0604020202020204" pitchFamily="34" charset="0"/>
                <a:cs typeface="Arial" panose="020B0604020202020204" pitchFamily="34" charset="0"/>
              </a:rPr>
              <a:t>Indian traditional attire - Most Indian women wear saree and blouse. Indian men wear kurta-</a:t>
            </a:r>
            <a:r>
              <a:rPr lang="en-US" sz="1800" dirty="0" err="1">
                <a:effectLst/>
                <a:ea typeface="Arial" panose="020B0604020202020204" pitchFamily="34" charset="0"/>
                <a:cs typeface="Arial" panose="020B0604020202020204" pitchFamily="34" charset="0"/>
              </a:rPr>
              <a:t>pyjama</a:t>
            </a:r>
            <a:r>
              <a:rPr lang="en-US" sz="1800" dirty="0">
                <a:effectLst/>
                <a:ea typeface="Arial" panose="020B0604020202020204" pitchFamily="34" charset="0"/>
                <a:cs typeface="Arial" panose="020B0604020202020204" pitchFamily="34" charset="0"/>
              </a:rPr>
              <a:t>, dhoti-kurta or lungi-kurta. Sherwani – a type of kurta during wedding or festivals.</a:t>
            </a:r>
            <a:endParaRPr lang="en-MY" sz="1800" dirty="0">
              <a:effectLst/>
              <a:ea typeface="Arial" panose="020B0604020202020204" pitchFamily="34" charset="0"/>
              <a:cs typeface="Arial" panose="020B0604020202020204" pitchFamily="34" charset="0"/>
            </a:endParaRPr>
          </a:p>
          <a:p>
            <a:endParaRPr lang="en-MY" dirty="0"/>
          </a:p>
        </p:txBody>
      </p:sp>
    </p:spTree>
    <p:extLst>
      <p:ext uri="{BB962C8B-B14F-4D97-AF65-F5344CB8AC3E}">
        <p14:creationId xmlns:p14="http://schemas.microsoft.com/office/powerpoint/2010/main" val="2559810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47C3F-129F-4B5B-87CC-CDEB1D780FCE}"/>
              </a:ext>
            </a:extLst>
          </p:cNvPr>
          <p:cNvSpPr>
            <a:spLocks noGrp="1"/>
          </p:cNvSpPr>
          <p:nvPr>
            <p:ph type="title"/>
          </p:nvPr>
        </p:nvSpPr>
        <p:spPr>
          <a:xfrm>
            <a:off x="564296" y="147199"/>
            <a:ext cx="10396882" cy="1158140"/>
          </a:xfrm>
        </p:spPr>
        <p:txBody>
          <a:bodyPr>
            <a:normAutofit/>
          </a:bodyPr>
          <a:lstStyle/>
          <a:p>
            <a:r>
              <a:rPr lang="en-MY" dirty="0"/>
              <a:t>d) Orang Asli</a:t>
            </a:r>
          </a:p>
        </p:txBody>
      </p:sp>
      <p:sp>
        <p:nvSpPr>
          <p:cNvPr id="3" name="Content Placeholder 2">
            <a:extLst>
              <a:ext uri="{FF2B5EF4-FFF2-40B4-BE49-F238E27FC236}">
                <a16:creationId xmlns:a16="http://schemas.microsoft.com/office/drawing/2014/main" id="{6CFDA3E5-6CE8-4B9F-BF36-44F5202C4593}"/>
              </a:ext>
            </a:extLst>
          </p:cNvPr>
          <p:cNvSpPr>
            <a:spLocks noGrp="1"/>
          </p:cNvSpPr>
          <p:nvPr>
            <p:ph sz="quarter" idx="13"/>
          </p:nvPr>
        </p:nvSpPr>
        <p:spPr>
          <a:xfrm>
            <a:off x="129209" y="1702536"/>
            <a:ext cx="5853063" cy="3850125"/>
          </a:xfrm>
        </p:spPr>
        <p:txBody>
          <a:bodyPr>
            <a:normAutofit fontScale="92500" lnSpcReduction="10000"/>
          </a:bodyPr>
          <a:lstStyle/>
          <a:p>
            <a:r>
              <a:rPr lang="en-MY" dirty="0">
                <a:latin typeface="Arial" panose="020B0604020202020204" pitchFamily="34" charset="0"/>
                <a:cs typeface="Arial" panose="020B0604020202020204" pitchFamily="34" charset="0"/>
              </a:rPr>
              <a:t>The Orang Asli are the indigenous people of Peninsular Malaysia</a:t>
            </a:r>
          </a:p>
          <a:p>
            <a:r>
              <a:rPr lang="en-MY" dirty="0">
                <a:latin typeface="Arial" panose="020B0604020202020204" pitchFamily="34" charset="0"/>
                <a:cs typeface="Arial" panose="020B0604020202020204" pitchFamily="34" charset="0"/>
              </a:rPr>
              <a:t>Consists of at least 19 sub-ethnics, divided into three large groups:</a:t>
            </a:r>
          </a:p>
          <a:p>
            <a:pPr marL="800100" lvl="1" indent="-342900">
              <a:buFont typeface="+mj-lt"/>
              <a:buAutoNum type="arabicPeriod"/>
            </a:pPr>
            <a:r>
              <a:rPr lang="en-MY" dirty="0">
                <a:latin typeface="Arial" panose="020B0604020202020204" pitchFamily="34" charset="0"/>
                <a:cs typeface="Arial" panose="020B0604020202020204" pitchFamily="34" charset="0"/>
              </a:rPr>
              <a:t>Negrito (</a:t>
            </a:r>
            <a:r>
              <a:rPr lang="en-MY" dirty="0" err="1">
                <a:latin typeface="Arial" panose="020B0604020202020204" pitchFamily="34" charset="0"/>
                <a:cs typeface="Arial" panose="020B0604020202020204" pitchFamily="34" charset="0"/>
              </a:rPr>
              <a:t>Semang</a:t>
            </a:r>
            <a:r>
              <a:rPr lang="en-MY" dirty="0">
                <a:latin typeface="Arial" panose="020B0604020202020204" pitchFamily="34" charset="0"/>
                <a:cs typeface="Arial" panose="020B0604020202020204" pitchFamily="34" charset="0"/>
              </a:rPr>
              <a:t>) – </a:t>
            </a:r>
            <a:r>
              <a:rPr lang="en-MY" dirty="0" err="1">
                <a:latin typeface="Arial" panose="020B0604020202020204" pitchFamily="34" charset="0"/>
                <a:cs typeface="Arial" panose="020B0604020202020204" pitchFamily="34" charset="0"/>
              </a:rPr>
              <a:t>Kensiu</a:t>
            </a:r>
            <a:r>
              <a:rPr lang="en-MY" dirty="0">
                <a:latin typeface="Arial" panose="020B0604020202020204" pitchFamily="34" charset="0"/>
                <a:cs typeface="Arial" panose="020B0604020202020204" pitchFamily="34" charset="0"/>
              </a:rPr>
              <a:t>, </a:t>
            </a:r>
            <a:r>
              <a:rPr lang="en-MY" dirty="0" err="1">
                <a:latin typeface="Arial" panose="020B0604020202020204" pitchFamily="34" charset="0"/>
                <a:cs typeface="Arial" panose="020B0604020202020204" pitchFamily="34" charset="0"/>
              </a:rPr>
              <a:t>Kintak</a:t>
            </a:r>
            <a:r>
              <a:rPr lang="en-MY" dirty="0">
                <a:latin typeface="Arial" panose="020B0604020202020204" pitchFamily="34" charset="0"/>
                <a:cs typeface="Arial" panose="020B0604020202020204" pitchFamily="34" charset="0"/>
              </a:rPr>
              <a:t>, </a:t>
            </a:r>
            <a:r>
              <a:rPr lang="en-MY" dirty="0" err="1">
                <a:latin typeface="Arial" panose="020B0604020202020204" pitchFamily="34" charset="0"/>
                <a:cs typeface="Arial" panose="020B0604020202020204" pitchFamily="34" charset="0"/>
              </a:rPr>
              <a:t>Jahai</a:t>
            </a:r>
            <a:r>
              <a:rPr lang="en-MY" dirty="0">
                <a:latin typeface="Arial" panose="020B0604020202020204" pitchFamily="34" charset="0"/>
                <a:cs typeface="Arial" panose="020B0604020202020204" pitchFamily="34" charset="0"/>
              </a:rPr>
              <a:t>, </a:t>
            </a:r>
            <a:r>
              <a:rPr lang="en-MY" dirty="0" err="1">
                <a:latin typeface="Arial" panose="020B0604020202020204" pitchFamily="34" charset="0"/>
                <a:cs typeface="Arial" panose="020B0604020202020204" pitchFamily="34" charset="0"/>
              </a:rPr>
              <a:t>Lanoh</a:t>
            </a:r>
            <a:r>
              <a:rPr lang="en-MY" dirty="0">
                <a:latin typeface="Arial" panose="020B0604020202020204" pitchFamily="34" charset="0"/>
                <a:cs typeface="Arial" panose="020B0604020202020204" pitchFamily="34" charset="0"/>
              </a:rPr>
              <a:t>, </a:t>
            </a:r>
            <a:r>
              <a:rPr lang="en-MY" dirty="0" err="1">
                <a:latin typeface="Arial" panose="020B0604020202020204" pitchFamily="34" charset="0"/>
                <a:cs typeface="Arial" panose="020B0604020202020204" pitchFamily="34" charset="0"/>
              </a:rPr>
              <a:t>Mendriq</a:t>
            </a:r>
            <a:r>
              <a:rPr lang="en-MY" dirty="0">
                <a:latin typeface="Arial" panose="020B0604020202020204" pitchFamily="34" charset="0"/>
                <a:cs typeface="Arial" panose="020B0604020202020204" pitchFamily="34" charset="0"/>
              </a:rPr>
              <a:t>, </a:t>
            </a:r>
            <a:r>
              <a:rPr lang="en-MY" dirty="0" err="1">
                <a:latin typeface="Arial" panose="020B0604020202020204" pitchFamily="34" charset="0"/>
                <a:cs typeface="Arial" panose="020B0604020202020204" pitchFamily="34" charset="0"/>
              </a:rPr>
              <a:t>Batek</a:t>
            </a:r>
            <a:r>
              <a:rPr lang="en-MY" dirty="0">
                <a:latin typeface="Arial" panose="020B0604020202020204" pitchFamily="34" charset="0"/>
                <a:cs typeface="Arial" panose="020B0604020202020204" pitchFamily="34" charset="0"/>
              </a:rPr>
              <a:t>  </a:t>
            </a:r>
          </a:p>
          <a:p>
            <a:pPr marL="800100" lvl="1" indent="-342900">
              <a:buFont typeface="+mj-lt"/>
              <a:buAutoNum type="arabicPeriod"/>
            </a:pPr>
            <a:r>
              <a:rPr lang="en-MY" dirty="0">
                <a:latin typeface="Arial" panose="020B0604020202020204" pitchFamily="34" charset="0"/>
                <a:cs typeface="Arial" panose="020B0604020202020204" pitchFamily="34" charset="0"/>
              </a:rPr>
              <a:t> </a:t>
            </a:r>
            <a:r>
              <a:rPr lang="en-MY" dirty="0" err="1">
                <a:latin typeface="Arial" panose="020B0604020202020204" pitchFamily="34" charset="0"/>
                <a:cs typeface="Arial" panose="020B0604020202020204" pitchFamily="34" charset="0"/>
              </a:rPr>
              <a:t>Senoi</a:t>
            </a:r>
            <a:r>
              <a:rPr lang="en-MY" dirty="0">
                <a:latin typeface="Arial" panose="020B0604020202020204" pitchFamily="34" charset="0"/>
                <a:cs typeface="Arial" panose="020B0604020202020204" pitchFamily="34" charset="0"/>
              </a:rPr>
              <a:t> – </a:t>
            </a:r>
            <a:r>
              <a:rPr lang="en-MY" dirty="0" err="1">
                <a:latin typeface="Arial" panose="020B0604020202020204" pitchFamily="34" charset="0"/>
                <a:cs typeface="Arial" panose="020B0604020202020204" pitchFamily="34" charset="0"/>
              </a:rPr>
              <a:t>Semai</a:t>
            </a:r>
            <a:r>
              <a:rPr lang="en-MY" dirty="0">
                <a:latin typeface="Arial" panose="020B0604020202020204" pitchFamily="34" charset="0"/>
                <a:cs typeface="Arial" panose="020B0604020202020204" pitchFamily="34" charset="0"/>
              </a:rPr>
              <a:t>, </a:t>
            </a:r>
            <a:r>
              <a:rPr lang="en-MY" dirty="0" err="1">
                <a:latin typeface="Arial" panose="020B0604020202020204" pitchFamily="34" charset="0"/>
                <a:cs typeface="Arial" panose="020B0604020202020204" pitchFamily="34" charset="0"/>
              </a:rPr>
              <a:t>Temiar</a:t>
            </a:r>
            <a:r>
              <a:rPr lang="en-MY" dirty="0">
                <a:latin typeface="Arial" panose="020B0604020202020204" pitchFamily="34" charset="0"/>
                <a:cs typeface="Arial" panose="020B0604020202020204" pitchFamily="34" charset="0"/>
              </a:rPr>
              <a:t>, Jah Hut, Che Wong, </a:t>
            </a:r>
            <a:r>
              <a:rPr lang="en-MY" dirty="0" err="1">
                <a:latin typeface="Arial" panose="020B0604020202020204" pitchFamily="34" charset="0"/>
                <a:cs typeface="Arial" panose="020B0604020202020204" pitchFamily="34" charset="0"/>
              </a:rPr>
              <a:t>Mah</a:t>
            </a:r>
            <a:r>
              <a:rPr lang="en-MY" dirty="0">
                <a:latin typeface="Arial" panose="020B0604020202020204" pitchFamily="34" charset="0"/>
                <a:cs typeface="Arial" panose="020B0604020202020204" pitchFamily="34" charset="0"/>
              </a:rPr>
              <a:t> Meri, </a:t>
            </a:r>
            <a:r>
              <a:rPr lang="en-MY" dirty="0" err="1">
                <a:latin typeface="Arial" panose="020B0604020202020204" pitchFamily="34" charset="0"/>
                <a:cs typeface="Arial" panose="020B0604020202020204" pitchFamily="34" charset="0"/>
              </a:rPr>
              <a:t>Semaq</a:t>
            </a:r>
            <a:r>
              <a:rPr lang="en-MY" dirty="0">
                <a:latin typeface="Arial" panose="020B0604020202020204" pitchFamily="34" charset="0"/>
                <a:cs typeface="Arial" panose="020B0604020202020204" pitchFamily="34" charset="0"/>
              </a:rPr>
              <a:t> Beri</a:t>
            </a:r>
          </a:p>
          <a:p>
            <a:pPr marL="800100" lvl="1" indent="-342900">
              <a:buFont typeface="+mj-lt"/>
              <a:buAutoNum type="arabicPeriod"/>
            </a:pPr>
            <a:r>
              <a:rPr lang="en-MY" dirty="0">
                <a:latin typeface="Arial" panose="020B0604020202020204" pitchFamily="34" charset="0"/>
                <a:cs typeface="Arial" panose="020B0604020202020204" pitchFamily="34" charset="0"/>
              </a:rPr>
              <a:t> </a:t>
            </a:r>
            <a:r>
              <a:rPr lang="en-MY" dirty="0" err="1">
                <a:latin typeface="Arial" panose="020B0604020202020204" pitchFamily="34" charset="0"/>
                <a:cs typeface="Arial" panose="020B0604020202020204" pitchFamily="34" charset="0"/>
              </a:rPr>
              <a:t>Melayu</a:t>
            </a:r>
            <a:r>
              <a:rPr lang="en-MY" dirty="0">
                <a:latin typeface="Arial" panose="020B0604020202020204" pitchFamily="34" charset="0"/>
                <a:cs typeface="Arial" panose="020B0604020202020204" pitchFamily="34" charset="0"/>
              </a:rPr>
              <a:t>-Proto – </a:t>
            </a:r>
            <a:r>
              <a:rPr lang="en-MY" dirty="0" err="1">
                <a:latin typeface="Arial" panose="020B0604020202020204" pitchFamily="34" charset="0"/>
                <a:cs typeface="Arial" panose="020B0604020202020204" pitchFamily="34" charset="0"/>
              </a:rPr>
              <a:t>Temuan</a:t>
            </a:r>
            <a:r>
              <a:rPr lang="en-MY" dirty="0">
                <a:latin typeface="Arial" panose="020B0604020202020204" pitchFamily="34" charset="0"/>
                <a:cs typeface="Arial" panose="020B0604020202020204" pitchFamily="34" charset="0"/>
              </a:rPr>
              <a:t>, </a:t>
            </a:r>
            <a:r>
              <a:rPr lang="en-MY" dirty="0" err="1">
                <a:latin typeface="Arial" panose="020B0604020202020204" pitchFamily="34" charset="0"/>
                <a:cs typeface="Arial" panose="020B0604020202020204" pitchFamily="34" charset="0"/>
              </a:rPr>
              <a:t>Semelai</a:t>
            </a:r>
            <a:r>
              <a:rPr lang="en-MY" dirty="0">
                <a:latin typeface="Arial" panose="020B0604020202020204" pitchFamily="34" charset="0"/>
                <a:cs typeface="Arial" panose="020B0604020202020204" pitchFamily="34" charset="0"/>
              </a:rPr>
              <a:t>, </a:t>
            </a:r>
            <a:r>
              <a:rPr lang="en-MY" dirty="0" err="1">
                <a:latin typeface="Arial" panose="020B0604020202020204" pitchFamily="34" charset="0"/>
                <a:cs typeface="Arial" panose="020B0604020202020204" pitchFamily="34" charset="0"/>
              </a:rPr>
              <a:t>Jakun</a:t>
            </a:r>
            <a:r>
              <a:rPr lang="en-MY" dirty="0">
                <a:latin typeface="Arial" panose="020B0604020202020204" pitchFamily="34" charset="0"/>
                <a:cs typeface="Arial" panose="020B0604020202020204" pitchFamily="34" charset="0"/>
              </a:rPr>
              <a:t>, Orang </a:t>
            </a:r>
            <a:r>
              <a:rPr lang="en-MY" dirty="0" err="1">
                <a:latin typeface="Arial" panose="020B0604020202020204" pitchFamily="34" charset="0"/>
                <a:cs typeface="Arial" panose="020B0604020202020204" pitchFamily="34" charset="0"/>
              </a:rPr>
              <a:t>Kanaq</a:t>
            </a:r>
            <a:r>
              <a:rPr lang="en-MY" dirty="0">
                <a:latin typeface="Arial" panose="020B0604020202020204" pitchFamily="34" charset="0"/>
                <a:cs typeface="Arial" panose="020B0604020202020204" pitchFamily="34" charset="0"/>
              </a:rPr>
              <a:t>, Orang Kuala, Orang Seletar, </a:t>
            </a:r>
            <a:r>
              <a:rPr lang="en-MY" dirty="0" err="1">
                <a:latin typeface="Arial" panose="020B0604020202020204" pitchFamily="34" charset="0"/>
                <a:cs typeface="Arial" panose="020B0604020202020204" pitchFamily="34" charset="0"/>
              </a:rPr>
              <a:t>Temoq</a:t>
            </a:r>
            <a:endParaRPr lang="en-MY" dirty="0">
              <a:latin typeface="Arial" panose="020B0604020202020204" pitchFamily="34" charset="0"/>
              <a:cs typeface="Arial" panose="020B0604020202020204" pitchFamily="34" charset="0"/>
            </a:endParaRPr>
          </a:p>
        </p:txBody>
      </p:sp>
      <p:pic>
        <p:nvPicPr>
          <p:cNvPr id="6" name="Content Placeholder 5">
            <a:extLst>
              <a:ext uri="{FF2B5EF4-FFF2-40B4-BE49-F238E27FC236}">
                <a16:creationId xmlns:a16="http://schemas.microsoft.com/office/drawing/2014/main" id="{615016D6-6A12-4F4A-A481-AEEBF3D8CC4A}"/>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6185788" y="1509183"/>
            <a:ext cx="4896895" cy="3311525"/>
          </a:xfrm>
        </p:spPr>
      </p:pic>
      <p:sp>
        <p:nvSpPr>
          <p:cNvPr id="7" name="TextBox 6">
            <a:extLst>
              <a:ext uri="{FF2B5EF4-FFF2-40B4-BE49-F238E27FC236}">
                <a16:creationId xmlns:a16="http://schemas.microsoft.com/office/drawing/2014/main" id="{130CADE9-5787-4B38-9BEA-EE072BE4FA04}"/>
              </a:ext>
            </a:extLst>
          </p:cNvPr>
          <p:cNvSpPr txBox="1"/>
          <p:nvPr/>
        </p:nvSpPr>
        <p:spPr>
          <a:xfrm>
            <a:off x="6307291" y="4917963"/>
            <a:ext cx="4653887" cy="369332"/>
          </a:xfrm>
          <a:prstGeom prst="rect">
            <a:avLst/>
          </a:prstGeom>
          <a:noFill/>
        </p:spPr>
        <p:txBody>
          <a:bodyPr wrap="square" rtlCol="0">
            <a:spAutoFit/>
          </a:bodyPr>
          <a:lstStyle/>
          <a:p>
            <a:pPr algn="ctr"/>
            <a:r>
              <a:rPr lang="en-MY" dirty="0"/>
              <a:t>Image of an modern-day Orang Asli</a:t>
            </a:r>
          </a:p>
        </p:txBody>
      </p:sp>
    </p:spTree>
    <p:extLst>
      <p:ext uri="{BB962C8B-B14F-4D97-AF65-F5344CB8AC3E}">
        <p14:creationId xmlns:p14="http://schemas.microsoft.com/office/powerpoint/2010/main" val="348596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03772-D41A-471E-B3E7-32D18CE44B33}"/>
              </a:ext>
            </a:extLst>
          </p:cNvPr>
          <p:cNvSpPr>
            <a:spLocks noGrp="1"/>
          </p:cNvSpPr>
          <p:nvPr>
            <p:ph type="title"/>
          </p:nvPr>
        </p:nvSpPr>
        <p:spPr/>
        <p:txBody>
          <a:bodyPr>
            <a:normAutofit/>
          </a:bodyPr>
          <a:lstStyle/>
          <a:p>
            <a:r>
              <a:rPr lang="en-MY" dirty="0"/>
              <a:t>e) Other Ethnic Groups in Malaya</a:t>
            </a:r>
          </a:p>
        </p:txBody>
      </p:sp>
      <p:sp>
        <p:nvSpPr>
          <p:cNvPr id="3" name="Content Placeholder 2">
            <a:extLst>
              <a:ext uri="{FF2B5EF4-FFF2-40B4-BE49-F238E27FC236}">
                <a16:creationId xmlns:a16="http://schemas.microsoft.com/office/drawing/2014/main" id="{DD033C0C-1FC2-4D10-8C51-1196865882AA}"/>
              </a:ext>
            </a:extLst>
          </p:cNvPr>
          <p:cNvSpPr>
            <a:spLocks noGrp="1"/>
          </p:cNvSpPr>
          <p:nvPr>
            <p:ph sz="quarter" idx="13"/>
          </p:nvPr>
        </p:nvSpPr>
        <p:spPr/>
        <p:txBody>
          <a:bodyPr>
            <a:normAutofit/>
          </a:bodyPr>
          <a:lstStyle/>
          <a:p>
            <a:r>
              <a:rPr lang="en-MY" dirty="0">
                <a:latin typeface="Arial" panose="020B0604020202020204" pitchFamily="34" charset="0"/>
                <a:cs typeface="Arial" panose="020B0604020202020204" pitchFamily="34" charset="0"/>
              </a:rPr>
              <a:t>Aside from Malays, Chinese, Indians, and Orang Asli, there are also other ethnic minority groups in Malaya, such as:</a:t>
            </a:r>
          </a:p>
          <a:p>
            <a:pPr marL="914400" lvl="1" indent="-457200">
              <a:buFont typeface="+mj-lt"/>
              <a:buAutoNum type="arabicPeriod"/>
            </a:pPr>
            <a:r>
              <a:rPr lang="en-MY" sz="2000" dirty="0">
                <a:latin typeface="Arial" panose="020B0604020202020204" pitchFamily="34" charset="0"/>
                <a:cs typeface="Arial" panose="020B0604020202020204" pitchFamily="34" charset="0"/>
              </a:rPr>
              <a:t>Eurasian </a:t>
            </a:r>
          </a:p>
          <a:p>
            <a:pPr marL="914400" lvl="1" indent="-457200">
              <a:buFont typeface="+mj-lt"/>
              <a:buAutoNum type="arabicPeriod"/>
            </a:pPr>
            <a:r>
              <a:rPr lang="en-MY" sz="2000" dirty="0">
                <a:latin typeface="Arial" panose="020B0604020202020204" pitchFamily="34" charset="0"/>
                <a:cs typeface="Arial" panose="020B0604020202020204" pitchFamily="34" charset="0"/>
              </a:rPr>
              <a:t>Straits-Born Indian/Chitty</a:t>
            </a:r>
          </a:p>
          <a:p>
            <a:pPr marL="914400" lvl="1" indent="-457200">
              <a:buFont typeface="+mj-lt"/>
              <a:buAutoNum type="arabicPeriod"/>
            </a:pPr>
            <a:r>
              <a:rPr lang="en-MY" sz="2000" dirty="0">
                <a:latin typeface="Arial" panose="020B0604020202020204" pitchFamily="34" charset="0"/>
                <a:cs typeface="Arial" panose="020B0604020202020204" pitchFamily="34" charset="0"/>
              </a:rPr>
              <a:t>Straits-Born Chinese/Baba-Nyonya</a:t>
            </a:r>
          </a:p>
          <a:p>
            <a:pPr marL="914400" lvl="1" indent="-457200">
              <a:buFont typeface="+mj-lt"/>
              <a:buAutoNum type="arabicPeriod"/>
            </a:pPr>
            <a:r>
              <a:rPr lang="en-MY" sz="2000" dirty="0">
                <a:latin typeface="Arial" panose="020B0604020202020204" pitchFamily="34" charset="0"/>
                <a:cs typeface="Arial" panose="020B0604020202020204" pitchFamily="34" charset="0"/>
              </a:rPr>
              <a:t>Siam/Thai</a:t>
            </a:r>
          </a:p>
          <a:p>
            <a:pPr marL="914400" lvl="1" indent="-457200">
              <a:buFont typeface="+mj-lt"/>
              <a:buAutoNum type="arabicPeriod"/>
            </a:pPr>
            <a:r>
              <a:rPr lang="en-MY" sz="2000" dirty="0">
                <a:latin typeface="Arial" panose="020B0604020202020204" pitchFamily="34" charset="0"/>
                <a:cs typeface="Arial" panose="020B0604020202020204" pitchFamily="34" charset="0"/>
              </a:rPr>
              <a:t>Ceylonese</a:t>
            </a:r>
          </a:p>
        </p:txBody>
      </p:sp>
    </p:spTree>
    <p:extLst>
      <p:ext uri="{BB962C8B-B14F-4D97-AF65-F5344CB8AC3E}">
        <p14:creationId xmlns:p14="http://schemas.microsoft.com/office/powerpoint/2010/main" val="478594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CE4EF-A027-4E15-945B-6D56D5522A60}"/>
              </a:ext>
            </a:extLst>
          </p:cNvPr>
          <p:cNvSpPr>
            <a:spLocks noGrp="1"/>
          </p:cNvSpPr>
          <p:nvPr>
            <p:ph type="title"/>
          </p:nvPr>
        </p:nvSpPr>
        <p:spPr>
          <a:xfrm>
            <a:off x="496958" y="139148"/>
            <a:ext cx="10396882" cy="735495"/>
          </a:xfrm>
        </p:spPr>
        <p:txBody>
          <a:bodyPr>
            <a:normAutofit/>
          </a:bodyPr>
          <a:lstStyle/>
          <a:p>
            <a:pPr algn="ctr"/>
            <a:r>
              <a:rPr lang="en-MY" sz="4400" dirty="0"/>
              <a:t>I) Bumiputera of Sarawak</a:t>
            </a:r>
          </a:p>
        </p:txBody>
      </p:sp>
      <p:sp>
        <p:nvSpPr>
          <p:cNvPr id="3" name="Content Placeholder 2">
            <a:extLst>
              <a:ext uri="{FF2B5EF4-FFF2-40B4-BE49-F238E27FC236}">
                <a16:creationId xmlns:a16="http://schemas.microsoft.com/office/drawing/2014/main" id="{7D7EED35-3C14-4CA5-859D-511C63CD262A}"/>
              </a:ext>
            </a:extLst>
          </p:cNvPr>
          <p:cNvSpPr>
            <a:spLocks noGrp="1"/>
          </p:cNvSpPr>
          <p:nvPr>
            <p:ph idx="1"/>
          </p:nvPr>
        </p:nvSpPr>
        <p:spPr>
          <a:xfrm>
            <a:off x="-1" y="974035"/>
            <a:ext cx="11738113" cy="4661451"/>
          </a:xfrm>
        </p:spPr>
        <p:txBody>
          <a:bodyPr>
            <a:normAutofit fontScale="85000" lnSpcReduction="20000"/>
          </a:bodyPr>
          <a:lstStyle/>
          <a:p>
            <a:r>
              <a:rPr lang="en-US" dirty="0"/>
              <a:t>Sarawak also known as </a:t>
            </a:r>
            <a:r>
              <a:rPr lang="en-US" dirty="0" err="1"/>
              <a:t>Bumi</a:t>
            </a:r>
            <a:r>
              <a:rPr lang="en-US" dirty="0"/>
              <a:t> </a:t>
            </a:r>
            <a:r>
              <a:rPr lang="en-US" dirty="0" err="1"/>
              <a:t>Kenyalang</a:t>
            </a:r>
            <a:r>
              <a:rPr lang="en-US" dirty="0"/>
              <a:t> (it means Land of the Hornbills), has about 30 different ethnic groups -  population of more than 2.6 million </a:t>
            </a:r>
          </a:p>
          <a:p>
            <a:r>
              <a:rPr lang="en-US" dirty="0"/>
              <a:t>The largest ethnic - the non-Muslim native communities are collectively called Iban (or Sea Dayaks) most of whom are Christians or </a:t>
            </a:r>
            <a:r>
              <a:rPr lang="en-US" dirty="0" err="1"/>
              <a:t>practise</a:t>
            </a:r>
            <a:r>
              <a:rPr lang="en-US" dirty="0"/>
              <a:t> animist beliefs.  Bidayuh – the second largest ethnic group.</a:t>
            </a:r>
          </a:p>
          <a:p>
            <a:r>
              <a:rPr lang="en-US" dirty="0"/>
              <a:t>Others include the </a:t>
            </a:r>
            <a:r>
              <a:rPr lang="en-US" dirty="0" err="1"/>
              <a:t>Kenyah</a:t>
            </a:r>
            <a:r>
              <a:rPr lang="en-US" dirty="0"/>
              <a:t>, Kayan, </a:t>
            </a:r>
            <a:r>
              <a:rPr lang="en-US" dirty="0" err="1"/>
              <a:t>Kedayan</a:t>
            </a:r>
            <a:r>
              <a:rPr lang="en-US" dirty="0"/>
              <a:t>, Murut, </a:t>
            </a:r>
            <a:r>
              <a:rPr lang="en-US" dirty="0" err="1"/>
              <a:t>Punan</a:t>
            </a:r>
            <a:r>
              <a:rPr lang="en-US" dirty="0"/>
              <a:t>, </a:t>
            </a:r>
            <a:r>
              <a:rPr lang="en-US" dirty="0" err="1"/>
              <a:t>Bisayah</a:t>
            </a:r>
            <a:r>
              <a:rPr lang="en-US" dirty="0"/>
              <a:t>, </a:t>
            </a:r>
            <a:r>
              <a:rPr lang="en-US" dirty="0" err="1"/>
              <a:t>Kelabit</a:t>
            </a:r>
            <a:r>
              <a:rPr lang="en-US" dirty="0"/>
              <a:t>, </a:t>
            </a:r>
            <a:r>
              <a:rPr lang="en-US" dirty="0" err="1"/>
              <a:t>Berawan</a:t>
            </a:r>
            <a:r>
              <a:rPr lang="en-US" dirty="0"/>
              <a:t> and </a:t>
            </a:r>
            <a:r>
              <a:rPr lang="en-US" dirty="0" err="1"/>
              <a:t>Penan</a:t>
            </a:r>
            <a:r>
              <a:rPr lang="en-US" dirty="0"/>
              <a:t>. </a:t>
            </a:r>
          </a:p>
          <a:p>
            <a:r>
              <a:rPr lang="en-US" dirty="0"/>
              <a:t>Dayaks who live in the interior of Sarawak are sometimes referred to as Orang Ulu  (or people from the interior). Dayaks typically live in longhouses and </a:t>
            </a:r>
            <a:r>
              <a:rPr lang="en-US" dirty="0" err="1"/>
              <a:t>practise</a:t>
            </a:r>
            <a:r>
              <a:rPr lang="en-US" dirty="0"/>
              <a:t> shifting cultivation – some also live near a river and do fishing. </a:t>
            </a:r>
          </a:p>
          <a:p>
            <a:r>
              <a:rPr lang="en-US" dirty="0"/>
              <a:t>The Iban language is widely spoken that many non-Ibans, including Malays and Chinese – Iban language is not the same as the Sarawak Malay language.</a:t>
            </a:r>
          </a:p>
          <a:p>
            <a:r>
              <a:rPr lang="en-US" dirty="0"/>
              <a:t>The festival of </a:t>
            </a:r>
            <a:r>
              <a:rPr lang="en-US" u="sng" dirty="0"/>
              <a:t>Hari </a:t>
            </a:r>
            <a:r>
              <a:rPr lang="en-US" u="sng" dirty="0" err="1"/>
              <a:t>Gawai</a:t>
            </a:r>
            <a:r>
              <a:rPr lang="en-US" u="sng" dirty="0"/>
              <a:t>  or </a:t>
            </a:r>
            <a:r>
              <a:rPr lang="en-US" u="sng" dirty="0" err="1"/>
              <a:t>Gawai</a:t>
            </a:r>
            <a:r>
              <a:rPr lang="en-US" u="sng" dirty="0"/>
              <a:t> Dayak </a:t>
            </a:r>
            <a:r>
              <a:rPr lang="en-US" dirty="0"/>
              <a:t>is a celebration of the Dayaks to mark the end of the paddy harvesting season (harvest festival)-  also marks the beginning of the new planting season, and activities such as dancing, singing, and a considerable amount of drinking </a:t>
            </a:r>
            <a:r>
              <a:rPr lang="en-US" dirty="0" err="1"/>
              <a:t>tuak</a:t>
            </a:r>
            <a:r>
              <a:rPr lang="en-US" dirty="0"/>
              <a:t> (rice wine) take place in the longhouses.</a:t>
            </a:r>
          </a:p>
          <a:p>
            <a:r>
              <a:rPr lang="en-US" dirty="0"/>
              <a:t>The festival Kaul - celebrated by the Melanau fishermen,  they sail miniature wooden boats into the sea, an offering to the spirits. </a:t>
            </a:r>
          </a:p>
          <a:p>
            <a:endParaRPr lang="en-MY" dirty="0"/>
          </a:p>
        </p:txBody>
      </p:sp>
    </p:spTree>
    <p:extLst>
      <p:ext uri="{BB962C8B-B14F-4D97-AF65-F5344CB8AC3E}">
        <p14:creationId xmlns:p14="http://schemas.microsoft.com/office/powerpoint/2010/main" val="1360577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5A41BED-9514-47A7-8329-F501533186CE}"/>
              </a:ext>
            </a:extLst>
          </p:cNvPr>
          <p:cNvGraphicFramePr>
            <a:graphicFrameLocks noGrp="1"/>
          </p:cNvGraphicFramePr>
          <p:nvPr>
            <p:ph idx="1"/>
            <p:extLst>
              <p:ext uri="{D42A27DB-BD31-4B8C-83A1-F6EECF244321}">
                <p14:modId xmlns:p14="http://schemas.microsoft.com/office/powerpoint/2010/main" val="2950822499"/>
              </p:ext>
            </p:extLst>
          </p:nvPr>
        </p:nvGraphicFramePr>
        <p:xfrm>
          <a:off x="1282148" y="963820"/>
          <a:ext cx="9067800" cy="4205378"/>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228599">
                <a:tc>
                  <a:txBody>
                    <a:bodyPr/>
                    <a:lstStyle/>
                    <a:p>
                      <a:r>
                        <a:rPr lang="en-US" sz="1500" dirty="0">
                          <a:solidFill>
                            <a:schemeClr val="tx1"/>
                          </a:solidFill>
                          <a:latin typeface="Arial" pitchFamily="34" charset="0"/>
                          <a:cs typeface="Arial" pitchFamily="34" charset="0"/>
                        </a:rPr>
                        <a:t>Ethnic Group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500" dirty="0">
                          <a:solidFill>
                            <a:schemeClr val="tx1"/>
                          </a:solidFill>
                          <a:latin typeface="Arial" pitchFamily="34" charset="0"/>
                          <a:cs typeface="Arial" pitchFamily="34" charset="0"/>
                        </a:rPr>
                        <a:t>Background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6576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b="1" dirty="0">
                          <a:solidFill>
                            <a:schemeClr val="tx1"/>
                          </a:solidFill>
                          <a:latin typeface="Arial" pitchFamily="34" charset="0"/>
                          <a:cs typeface="Arial" pitchFamily="34" charset="0"/>
                        </a:rPr>
                        <a:t>Iban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latin typeface="Arial" pitchFamily="34" charset="0"/>
                          <a:cs typeface="Arial" pitchFamily="34" charset="0"/>
                        </a:rPr>
                        <a:t>Lives in all parts of Sarawak (especially around the river banks)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0001"/>
                  </a:ext>
                </a:extLst>
              </a:tr>
              <a:tr h="31810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b="1" dirty="0">
                          <a:solidFill>
                            <a:schemeClr val="tx1"/>
                          </a:solidFill>
                          <a:latin typeface="Arial" pitchFamily="34" charset="0"/>
                          <a:cs typeface="Arial" pitchFamily="34" charset="0"/>
                        </a:rPr>
                        <a:t>Bidayuh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latin typeface="Arial" pitchFamily="34" charset="0"/>
                          <a:cs typeface="Arial" pitchFamily="34" charset="0"/>
                        </a:rPr>
                        <a:t>Focused in Serian, Kuching, </a:t>
                      </a:r>
                      <a:r>
                        <a:rPr lang="en-US" sz="1500" dirty="0" err="1">
                          <a:solidFill>
                            <a:schemeClr val="tx1"/>
                          </a:solidFill>
                          <a:latin typeface="Arial" pitchFamily="34" charset="0"/>
                          <a:cs typeface="Arial" pitchFamily="34" charset="0"/>
                        </a:rPr>
                        <a:t>Bau</a:t>
                      </a:r>
                      <a:r>
                        <a:rPr lang="en-US" sz="1500" dirty="0">
                          <a:solidFill>
                            <a:schemeClr val="tx1"/>
                          </a:solidFill>
                          <a:latin typeface="Arial" pitchFamily="34" charset="0"/>
                          <a:cs typeface="Arial" pitchFamily="34" charset="0"/>
                        </a:rPr>
                        <a:t>, and </a:t>
                      </a:r>
                      <a:r>
                        <a:rPr lang="en-US" sz="1500" dirty="0" err="1">
                          <a:solidFill>
                            <a:schemeClr val="tx1"/>
                          </a:solidFill>
                          <a:latin typeface="Arial" pitchFamily="34" charset="0"/>
                          <a:cs typeface="Arial" pitchFamily="34" charset="0"/>
                        </a:rPr>
                        <a:t>Lundu</a:t>
                      </a:r>
                      <a:endParaRPr lang="en-US" sz="1500" dirty="0">
                        <a:solidFill>
                          <a:schemeClr val="tx1"/>
                        </a:solidFill>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002"/>
                  </a:ext>
                </a:extLst>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b="1" dirty="0">
                          <a:solidFill>
                            <a:schemeClr val="tx1"/>
                          </a:solidFill>
                          <a:latin typeface="Arial" pitchFamily="34" charset="0"/>
                          <a:cs typeface="Arial" pitchFamily="34" charset="0"/>
                        </a:rPr>
                        <a:t>Malays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latin typeface="Arial" pitchFamily="34" charset="0"/>
                          <a:cs typeface="Arial" pitchFamily="34" charset="0"/>
                        </a:rPr>
                        <a:t>Lives in downstream of river valleys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10003"/>
                  </a:ext>
                </a:extLst>
              </a:tr>
              <a:tr h="31810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b="1" dirty="0">
                          <a:solidFill>
                            <a:schemeClr val="tx1"/>
                          </a:solidFill>
                          <a:latin typeface="Arial" pitchFamily="34" charset="0"/>
                          <a:cs typeface="Arial" pitchFamily="34" charset="0"/>
                        </a:rPr>
                        <a:t>Melanau, Kadayan, Bisaya’ </a:t>
                      </a:r>
                      <a:endParaRPr lang="en-US" sz="1500" dirty="0">
                        <a:solidFill>
                          <a:schemeClr val="tx1"/>
                        </a:solidFill>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latin typeface="Arial" pitchFamily="34" charset="0"/>
                          <a:cs typeface="Arial" pitchFamily="34" charset="0"/>
                        </a:rPr>
                        <a:t>Coastal areas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r h="5453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b="1" dirty="0">
                          <a:solidFill>
                            <a:schemeClr val="tx1"/>
                          </a:solidFill>
                          <a:latin typeface="Arial" pitchFamily="34" charset="0"/>
                          <a:cs typeface="Arial" pitchFamily="34" charset="0"/>
                        </a:rPr>
                        <a:t>Land Dayaks and Sea Dayaks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r>
                        <a:rPr lang="en-US" sz="1500" dirty="0">
                          <a:solidFill>
                            <a:schemeClr val="tx1"/>
                          </a:solidFill>
                          <a:latin typeface="Arial" pitchFamily="34" charset="0"/>
                          <a:cs typeface="Arial" pitchFamily="34" charset="0"/>
                        </a:rPr>
                        <a:t>Lives in plains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0005"/>
                  </a:ext>
                </a:extLst>
              </a:tr>
              <a:tr h="5453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b="1" dirty="0">
                          <a:solidFill>
                            <a:schemeClr val="tx1"/>
                          </a:solidFill>
                          <a:latin typeface="Arial" pitchFamily="34" charset="0"/>
                          <a:cs typeface="Arial" pitchFamily="34" charset="0"/>
                        </a:rPr>
                        <a:t>Orang Ulu </a:t>
                      </a:r>
                      <a:r>
                        <a:rPr lang="en-US" sz="1500" b="0" dirty="0">
                          <a:solidFill>
                            <a:schemeClr val="tx1"/>
                          </a:solidFill>
                          <a:latin typeface="Arial" pitchFamily="34" charset="0"/>
                          <a:cs typeface="Arial" pitchFamily="34" charset="0"/>
                        </a:rPr>
                        <a:t>such as </a:t>
                      </a:r>
                      <a:r>
                        <a:rPr lang="en-US" sz="1500" b="1" dirty="0" err="1">
                          <a:solidFill>
                            <a:schemeClr val="tx1"/>
                          </a:solidFill>
                          <a:latin typeface="Arial" pitchFamily="34" charset="0"/>
                          <a:cs typeface="Arial" pitchFamily="34" charset="0"/>
                        </a:rPr>
                        <a:t>Kelabit</a:t>
                      </a:r>
                      <a:r>
                        <a:rPr lang="en-US" sz="1500" b="1" dirty="0">
                          <a:solidFill>
                            <a:schemeClr val="tx1"/>
                          </a:solidFill>
                          <a:latin typeface="Arial" pitchFamily="34" charset="0"/>
                          <a:cs typeface="Arial" pitchFamily="34" charset="0"/>
                        </a:rPr>
                        <a:t>, Murut dan Pekan.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sz="1500" dirty="0">
                          <a:solidFill>
                            <a:schemeClr val="tx1"/>
                          </a:solidFill>
                          <a:latin typeface="Arial" pitchFamily="34" charset="0"/>
                          <a:cs typeface="Arial" pitchFamily="34" charset="0"/>
                        </a:rPr>
                        <a:t>Mountainous areas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10006"/>
                  </a:ext>
                </a:extLst>
              </a:tr>
              <a:tr h="5453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b="1" dirty="0">
                          <a:solidFill>
                            <a:schemeClr val="tx1"/>
                          </a:solidFill>
                          <a:latin typeface="Arial" pitchFamily="34" charset="0"/>
                          <a:cs typeface="Arial" pitchFamily="34" charset="0"/>
                        </a:rPr>
                        <a:t>Orang Penan </a:t>
                      </a:r>
                      <a:endParaRPr lang="en-US" sz="1500" dirty="0">
                        <a:solidFill>
                          <a:schemeClr val="tx1"/>
                        </a:solidFill>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latin typeface="Arial" pitchFamily="34" charset="0"/>
                          <a:cs typeface="Arial" pitchFamily="34" charset="0"/>
                        </a:rPr>
                        <a:t>Nomadic lifestyle and in forest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0007"/>
                  </a:ext>
                </a:extLst>
              </a:tr>
              <a:tr h="7372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b="1" dirty="0">
                          <a:solidFill>
                            <a:schemeClr val="tx1"/>
                          </a:solidFill>
                          <a:latin typeface="Arial" pitchFamily="34" charset="0"/>
                          <a:cs typeface="Arial" pitchFamily="34" charset="0"/>
                        </a:rPr>
                        <a:t>Orang Kelabit </a:t>
                      </a:r>
                      <a:endParaRPr lang="en-US" sz="1500" dirty="0">
                        <a:solidFill>
                          <a:schemeClr val="tx1"/>
                        </a:solidFill>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latin typeface="Arial" pitchFamily="34" charset="0"/>
                          <a:cs typeface="Arial" pitchFamily="34" charset="0"/>
                        </a:rPr>
                        <a:t>Focused in the </a:t>
                      </a:r>
                      <a:r>
                        <a:rPr lang="en-US" sz="1500" dirty="0" err="1">
                          <a:solidFill>
                            <a:schemeClr val="tx1"/>
                          </a:solidFill>
                          <a:latin typeface="Arial" pitchFamily="34" charset="0"/>
                          <a:cs typeface="Arial" pitchFamily="34" charset="0"/>
                        </a:rPr>
                        <a:t>Baram</a:t>
                      </a:r>
                      <a:r>
                        <a:rPr lang="en-US" sz="1500" dirty="0">
                          <a:solidFill>
                            <a:schemeClr val="tx1"/>
                          </a:solidFill>
                          <a:latin typeface="Arial" pitchFamily="34" charset="0"/>
                          <a:cs typeface="Arial" pitchFamily="34" charset="0"/>
                        </a:rPr>
                        <a:t> River and Rejang River. Their famous village in </a:t>
                      </a:r>
                      <a:r>
                        <a:rPr lang="en-US" sz="1500" dirty="0" err="1">
                          <a:solidFill>
                            <a:schemeClr val="tx1"/>
                          </a:solidFill>
                          <a:latin typeface="Arial" pitchFamily="34" charset="0"/>
                          <a:cs typeface="Arial" pitchFamily="34" charset="0"/>
                        </a:rPr>
                        <a:t>Bario</a:t>
                      </a:r>
                      <a:endParaRPr lang="en-US" sz="1500" dirty="0">
                        <a:solidFill>
                          <a:schemeClr val="tx1"/>
                        </a:solidFill>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430639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CB0D3-D3A5-4F0B-BDEC-5C707E2746A3}"/>
              </a:ext>
            </a:extLst>
          </p:cNvPr>
          <p:cNvSpPr>
            <a:spLocks noGrp="1"/>
          </p:cNvSpPr>
          <p:nvPr>
            <p:ph type="title"/>
          </p:nvPr>
        </p:nvSpPr>
        <p:spPr>
          <a:xfrm>
            <a:off x="685801" y="149087"/>
            <a:ext cx="10396882" cy="1151965"/>
          </a:xfrm>
        </p:spPr>
        <p:txBody>
          <a:bodyPr/>
          <a:lstStyle/>
          <a:p>
            <a:pPr algn="ctr"/>
            <a:r>
              <a:rPr lang="en-MY" dirty="0"/>
              <a:t>ii) Bumiputera of Sabah</a:t>
            </a:r>
          </a:p>
        </p:txBody>
      </p:sp>
      <p:sp>
        <p:nvSpPr>
          <p:cNvPr id="3" name="Content Placeholder 2">
            <a:extLst>
              <a:ext uri="{FF2B5EF4-FFF2-40B4-BE49-F238E27FC236}">
                <a16:creationId xmlns:a16="http://schemas.microsoft.com/office/drawing/2014/main" id="{4E5D1E85-44A0-4EFF-B458-CF1690A56A6A}"/>
              </a:ext>
            </a:extLst>
          </p:cNvPr>
          <p:cNvSpPr>
            <a:spLocks noGrp="1"/>
          </p:cNvSpPr>
          <p:nvPr>
            <p:ph idx="1"/>
          </p:nvPr>
        </p:nvSpPr>
        <p:spPr>
          <a:xfrm>
            <a:off x="99391" y="1202636"/>
            <a:ext cx="11579087" cy="4393094"/>
          </a:xfrm>
        </p:spPr>
        <p:txBody>
          <a:bodyPr>
            <a:normAutofit fontScale="70000" lnSpcReduction="20000"/>
          </a:bodyPr>
          <a:lstStyle/>
          <a:p>
            <a:endParaRPr lang="en-US" sz="2800" dirty="0">
              <a:latin typeface="Arial" panose="020B0604020202020204" pitchFamily="34" charset="0"/>
              <a:cs typeface="Arial" panose="020B0604020202020204" pitchFamily="34" charset="0"/>
            </a:endParaRPr>
          </a:p>
          <a:p>
            <a:pPr algn="just"/>
            <a:r>
              <a:rPr lang="en-US" sz="2800" dirty="0">
                <a:latin typeface="Arial" panose="020B0604020202020204" pitchFamily="34" charset="0"/>
                <a:cs typeface="Arial" panose="020B0604020202020204" pitchFamily="34" charset="0"/>
              </a:rPr>
              <a:t>33 indigenous groups communicating in over 50 languages and 80 ethnic dialects. </a:t>
            </a:r>
          </a:p>
          <a:p>
            <a:pPr algn="just"/>
            <a:r>
              <a:rPr lang="en-US" sz="2800" b="1" dirty="0" err="1">
                <a:latin typeface="Arial" panose="020B0604020202020204" pitchFamily="34" charset="0"/>
                <a:cs typeface="Arial" panose="020B0604020202020204" pitchFamily="34" charset="0"/>
              </a:rPr>
              <a:t>Kadazan</a:t>
            </a:r>
            <a:r>
              <a:rPr lang="en-US" sz="2800" b="1" dirty="0">
                <a:latin typeface="Arial" panose="020B0604020202020204" pitchFamily="34" charset="0"/>
                <a:cs typeface="Arial" panose="020B0604020202020204" pitchFamily="34" charset="0"/>
              </a:rPr>
              <a:t>-Dusun</a:t>
            </a:r>
            <a:r>
              <a:rPr lang="en-US" sz="2800" dirty="0">
                <a:latin typeface="Arial" panose="020B0604020202020204" pitchFamily="34" charset="0"/>
                <a:cs typeface="Arial" panose="020B0604020202020204" pitchFamily="34" charset="0"/>
              </a:rPr>
              <a:t> - the largest ethnic group in Sabah - almost 30% of the total population. The Bajaus, or also known as "Cowboys of the East", the second largest, and Muruts, and third largest ethnic group.</a:t>
            </a:r>
          </a:p>
          <a:p>
            <a:pPr algn="just"/>
            <a:r>
              <a:rPr lang="en-US" sz="2800" dirty="0">
                <a:latin typeface="Arial" panose="020B0604020202020204" pitchFamily="34" charset="0"/>
                <a:cs typeface="Arial" panose="020B0604020202020204" pitchFamily="34" charset="0"/>
              </a:rPr>
              <a:t>Other indigenous tribes include the Bisaya, Brunei Malay, Bugis, </a:t>
            </a:r>
            <a:r>
              <a:rPr lang="en-US" sz="2800" dirty="0" err="1">
                <a:latin typeface="Arial" panose="020B0604020202020204" pitchFamily="34" charset="0"/>
                <a:cs typeface="Arial" panose="020B0604020202020204" pitchFamily="34" charset="0"/>
              </a:rPr>
              <a:t>Kedayan</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Lotud</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Ludayeh</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Rungus</a:t>
            </a:r>
            <a:r>
              <a:rPr lang="en-US" sz="2800" dirty="0">
                <a:latin typeface="Arial" panose="020B0604020202020204" pitchFamily="34" charset="0"/>
                <a:cs typeface="Arial" panose="020B0604020202020204" pitchFamily="34" charset="0"/>
              </a:rPr>
              <a:t>, Suluk, </a:t>
            </a:r>
            <a:r>
              <a:rPr lang="en-US" sz="2800" dirty="0" err="1">
                <a:latin typeface="Arial" panose="020B0604020202020204" pitchFamily="34" charset="0"/>
                <a:cs typeface="Arial" panose="020B0604020202020204" pitchFamily="34" charset="0"/>
              </a:rPr>
              <a:t>Minokok</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Bonggi</a:t>
            </a:r>
            <a:r>
              <a:rPr lang="en-US" sz="2800" dirty="0">
                <a:latin typeface="Arial" panose="020B0604020202020204" pitchFamily="34" charset="0"/>
                <a:cs typeface="Arial" panose="020B0604020202020204" pitchFamily="34" charset="0"/>
              </a:rPr>
              <a:t>, the </a:t>
            </a:r>
            <a:r>
              <a:rPr lang="en-US" sz="2800" dirty="0" err="1">
                <a:latin typeface="Arial" panose="020B0604020202020204" pitchFamily="34" charset="0"/>
                <a:cs typeface="Arial" panose="020B0604020202020204" pitchFamily="34" charset="0"/>
              </a:rPr>
              <a:t>Ida'an</a:t>
            </a:r>
            <a:r>
              <a:rPr lang="en-US" sz="2800" dirty="0">
                <a:latin typeface="Arial" panose="020B0604020202020204" pitchFamily="34" charset="0"/>
                <a:cs typeface="Arial" panose="020B0604020202020204" pitchFamily="34" charset="0"/>
              </a:rPr>
              <a:t>, and many more. The Chinese makes up the main non-indigenous group of the population.</a:t>
            </a:r>
          </a:p>
          <a:p>
            <a:pPr algn="just"/>
            <a:r>
              <a:rPr lang="en-US" sz="2800" b="1" dirty="0" err="1">
                <a:latin typeface="Arial" panose="020B0604020202020204" pitchFamily="34" charset="0"/>
                <a:cs typeface="Arial" panose="020B0604020202020204" pitchFamily="34" charset="0"/>
              </a:rPr>
              <a:t>Pesta</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Keamatan</a:t>
            </a:r>
            <a:r>
              <a:rPr lang="en-US" sz="2800" b="1" dirty="0">
                <a:latin typeface="Arial" panose="020B0604020202020204" pitchFamily="34" charset="0"/>
                <a:cs typeface="Arial" panose="020B0604020202020204" pitchFamily="34" charset="0"/>
              </a:rPr>
              <a:t> or the Harvest Festival </a:t>
            </a:r>
            <a:r>
              <a:rPr lang="en-US" sz="2800" dirty="0">
                <a:latin typeface="Arial" panose="020B0604020202020204" pitchFamily="34" charset="0"/>
                <a:cs typeface="Arial" panose="020B0604020202020204" pitchFamily="34" charset="0"/>
              </a:rPr>
              <a:t>is the most celebrated holiday of the year by the </a:t>
            </a:r>
            <a:r>
              <a:rPr lang="en-US" sz="2800" dirty="0" err="1">
                <a:latin typeface="Arial" panose="020B0604020202020204" pitchFamily="34" charset="0"/>
                <a:cs typeface="Arial" panose="020B0604020202020204" pitchFamily="34" charset="0"/>
              </a:rPr>
              <a:t>Kadazan</a:t>
            </a:r>
            <a:r>
              <a:rPr lang="en-US" sz="2800" dirty="0">
                <a:latin typeface="Arial" panose="020B0604020202020204" pitchFamily="34" charset="0"/>
                <a:cs typeface="Arial" panose="020B0604020202020204" pitchFamily="34" charset="0"/>
              </a:rPr>
              <a:t>-Dusun to honor the Rice Spirit and to give thanks for a bountiful harvest. Celebrate annually on 30th &amp; 31st May</a:t>
            </a:r>
          </a:p>
          <a:p>
            <a:pPr marL="0" indent="0">
              <a:buNone/>
            </a:pPr>
            <a:endParaRPr lang="en-US" sz="2800" dirty="0">
              <a:latin typeface="Arial" panose="020B0604020202020204" pitchFamily="34" charset="0"/>
              <a:cs typeface="Arial" panose="020B0604020202020204" pitchFamily="34" charset="0"/>
            </a:endParaRPr>
          </a:p>
          <a:p>
            <a:endParaRPr lang="en-MY"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63897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58">
            <a:extLst>
              <a:ext uri="{FF2B5EF4-FFF2-40B4-BE49-F238E27FC236}">
                <a16:creationId xmlns:a16="http://schemas.microsoft.com/office/drawing/2014/main" id="{33FB06B6-9951-4841-8A03-43F7E71ADE80}"/>
              </a:ext>
            </a:extLst>
          </p:cNvPr>
          <p:cNvGraphicFramePr>
            <a:graphicFrameLocks noGrp="1"/>
          </p:cNvGraphicFramePr>
          <p:nvPr>
            <p:extLst>
              <p:ext uri="{D42A27DB-BD31-4B8C-83A1-F6EECF244321}">
                <p14:modId xmlns:p14="http://schemas.microsoft.com/office/powerpoint/2010/main" val="998958848"/>
              </p:ext>
            </p:extLst>
          </p:nvPr>
        </p:nvGraphicFramePr>
        <p:xfrm>
          <a:off x="1431233" y="200003"/>
          <a:ext cx="8746435" cy="5506210"/>
        </p:xfrm>
        <a:graphic>
          <a:graphicData uri="http://schemas.openxmlformats.org/drawingml/2006/table">
            <a:tbl>
              <a:tblPr/>
              <a:tblGrid>
                <a:gridCol w="1895063">
                  <a:extLst>
                    <a:ext uri="{9D8B030D-6E8A-4147-A177-3AD203B41FA5}">
                      <a16:colId xmlns:a16="http://schemas.microsoft.com/office/drawing/2014/main" val="20000"/>
                    </a:ext>
                  </a:extLst>
                </a:gridCol>
                <a:gridCol w="6851372">
                  <a:extLst>
                    <a:ext uri="{9D8B030D-6E8A-4147-A177-3AD203B41FA5}">
                      <a16:colId xmlns:a16="http://schemas.microsoft.com/office/drawing/2014/main" val="20001"/>
                    </a:ext>
                  </a:extLst>
                </a:gridCol>
              </a:tblGrid>
              <a:tr h="374200">
                <a:tc>
                  <a:txBody>
                    <a:bodyPr/>
                    <a:lstStyle/>
                    <a:p>
                      <a:pPr marL="0" marR="0" lvl="0" indent="0" algn="ctr" defTabSz="914400" rtl="0" eaLnBrk="0" fontAlgn="base" latinLnBrk="0" hangingPunct="0">
                        <a:lnSpc>
                          <a:spcPct val="100000"/>
                        </a:lnSpc>
                        <a:spcBef>
                          <a:spcPts val="0"/>
                        </a:spcBef>
                        <a:spcAft>
                          <a:spcPct val="0"/>
                        </a:spcAft>
                        <a:buClr>
                          <a:schemeClr val="folHlink"/>
                        </a:buClr>
                        <a:buSzPct val="90000"/>
                        <a:buFont typeface="Wingdings" pitchFamily="2" charset="2"/>
                        <a:buNone/>
                        <a:tabLst/>
                      </a:pPr>
                      <a:r>
                        <a:rPr kumimoji="0" lang="en-US" sz="1800" b="1" i="0" u="none" strike="noStrike" cap="none" normalizeH="0" baseline="0" dirty="0">
                          <a:ln>
                            <a:noFill/>
                          </a:ln>
                          <a:solidFill>
                            <a:schemeClr val="tx1"/>
                          </a:solidFill>
                          <a:effectLst/>
                          <a:latin typeface="Arial" charset="0"/>
                        </a:rPr>
                        <a:t>Ethnic group</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ts val="0"/>
                        </a:spcBef>
                        <a:spcAft>
                          <a:spcPct val="0"/>
                        </a:spcAft>
                        <a:buClr>
                          <a:schemeClr val="folHlink"/>
                        </a:buClr>
                        <a:buSzPct val="90000"/>
                        <a:buFont typeface="Wingdings" pitchFamily="2" charset="2"/>
                        <a:buNone/>
                        <a:tabLst/>
                      </a:pPr>
                      <a:r>
                        <a:rPr kumimoji="0" lang="en-US" sz="1800" b="1" i="0" u="none" strike="noStrike" cap="none" normalizeH="0" baseline="0" dirty="0">
                          <a:ln>
                            <a:noFill/>
                          </a:ln>
                          <a:solidFill>
                            <a:schemeClr val="tx1"/>
                          </a:solidFill>
                          <a:effectLst/>
                          <a:latin typeface="Arial" charset="0"/>
                        </a:rPr>
                        <a:t>Background</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06322">
                <a:tc>
                  <a:txBody>
                    <a:bodyPr/>
                    <a:lstStyle/>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None/>
                        <a:tabLst/>
                      </a:pPr>
                      <a:r>
                        <a:rPr kumimoji="0" lang="en-US" sz="1800" b="0" i="0" u="none" strike="noStrike" cap="none" normalizeH="0" baseline="0" dirty="0">
                          <a:ln>
                            <a:noFill/>
                          </a:ln>
                          <a:solidFill>
                            <a:schemeClr val="tx1"/>
                          </a:solidFill>
                          <a:effectLst/>
                          <a:latin typeface="Arial" charset="0"/>
                        </a:rPr>
                        <a:t>Orang </a:t>
                      </a:r>
                      <a:r>
                        <a:rPr kumimoji="0" lang="en-US" sz="1800" b="0" i="0" u="none" strike="noStrike" cap="none" normalizeH="0" baseline="0" dirty="0" err="1">
                          <a:ln>
                            <a:noFill/>
                          </a:ln>
                          <a:solidFill>
                            <a:schemeClr val="tx1"/>
                          </a:solidFill>
                          <a:effectLst/>
                          <a:latin typeface="Arial" charset="0"/>
                        </a:rPr>
                        <a:t>Kadazandusun</a:t>
                      </a:r>
                      <a:endParaRPr kumimoji="0" lang="en-US" sz="1800" b="0" i="0" u="none" strike="noStrike" cap="none" normalizeH="0" baseline="0" dirty="0">
                        <a:ln>
                          <a:noFill/>
                        </a:ln>
                        <a:solidFill>
                          <a:schemeClr val="tx1"/>
                        </a:solidFill>
                        <a:effectLst/>
                        <a:latin typeface="Arial"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tc>
                  <a:txBody>
                    <a:bodyPr/>
                    <a:lstStyle/>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Char char="n"/>
                        <a:tabLst/>
                      </a:pPr>
                      <a:r>
                        <a:rPr kumimoji="0" lang="en-US" sz="1800" b="0" i="0" u="none" strike="noStrike" cap="none" normalizeH="0" baseline="0" dirty="0">
                          <a:ln>
                            <a:noFill/>
                          </a:ln>
                          <a:solidFill>
                            <a:schemeClr val="tx1"/>
                          </a:solidFill>
                          <a:effectLst/>
                          <a:latin typeface="Arial" charset="0"/>
                        </a:rPr>
                        <a:t>Live in hinterland</a:t>
                      </a:r>
                    </a:p>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Char char="n"/>
                        <a:tabLst/>
                      </a:pPr>
                      <a:r>
                        <a:rPr kumimoji="0" lang="en-US" sz="1800" b="0" i="0" u="none" strike="noStrike" cap="none" normalizeH="0" baseline="0" dirty="0">
                          <a:ln>
                            <a:noFill/>
                          </a:ln>
                          <a:solidFill>
                            <a:schemeClr val="tx1"/>
                          </a:solidFill>
                          <a:effectLst/>
                          <a:latin typeface="Arial" charset="0"/>
                        </a:rPr>
                        <a:t>Focused in the </a:t>
                      </a:r>
                      <a:r>
                        <a:rPr kumimoji="0" lang="en-US" sz="1800" b="0" i="0" u="none" strike="noStrike" cap="none" normalizeH="0" baseline="0" dirty="0" err="1">
                          <a:ln>
                            <a:noFill/>
                          </a:ln>
                          <a:solidFill>
                            <a:schemeClr val="tx1"/>
                          </a:solidFill>
                          <a:effectLst/>
                          <a:latin typeface="Arial" charset="0"/>
                        </a:rPr>
                        <a:t>Ranau</a:t>
                      </a:r>
                      <a:r>
                        <a:rPr kumimoji="0" lang="en-US" sz="1800" b="0" i="0" u="none" strike="noStrike" cap="none" normalizeH="0" baseline="0" dirty="0">
                          <a:ln>
                            <a:noFill/>
                          </a:ln>
                          <a:solidFill>
                            <a:schemeClr val="tx1"/>
                          </a:solidFill>
                          <a:effectLst/>
                          <a:latin typeface="Arial" charset="0"/>
                        </a:rPr>
                        <a:t> and </a:t>
                      </a:r>
                      <a:r>
                        <a:rPr kumimoji="0" lang="en-US" sz="1800" b="0" i="0" u="none" strike="noStrike" cap="none" normalizeH="0" baseline="0" dirty="0" err="1">
                          <a:ln>
                            <a:noFill/>
                          </a:ln>
                          <a:solidFill>
                            <a:schemeClr val="tx1"/>
                          </a:solidFill>
                          <a:effectLst/>
                          <a:latin typeface="Arial" charset="0"/>
                        </a:rPr>
                        <a:t>Tambunan</a:t>
                      </a:r>
                      <a:r>
                        <a:rPr kumimoji="0" lang="en-US" sz="1800" b="0" i="0" u="none" strike="noStrike" cap="none" normalizeH="0" baseline="0" dirty="0">
                          <a:ln>
                            <a:noFill/>
                          </a:ln>
                          <a:solidFill>
                            <a:schemeClr val="tx1"/>
                          </a:solidFill>
                          <a:effectLst/>
                          <a:latin typeface="Arial" charset="0"/>
                        </a:rPr>
                        <a:t> valleys</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CC"/>
                    </a:solidFill>
                  </a:tcPr>
                </a:tc>
                <a:extLst>
                  <a:ext uri="{0D108BD9-81ED-4DB2-BD59-A6C34878D82A}">
                    <a16:rowId xmlns:a16="http://schemas.microsoft.com/office/drawing/2014/main" val="10001"/>
                  </a:ext>
                </a:extLst>
              </a:tr>
              <a:tr h="1272897">
                <a:tc>
                  <a:txBody>
                    <a:bodyPr/>
                    <a:lstStyle/>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None/>
                        <a:tabLst/>
                      </a:pPr>
                      <a:r>
                        <a:rPr kumimoji="0" lang="en-US" sz="1800" b="0" i="0" u="none" strike="noStrike" cap="none" normalizeH="0" baseline="0" dirty="0">
                          <a:ln>
                            <a:noFill/>
                          </a:ln>
                          <a:solidFill>
                            <a:schemeClr val="tx1"/>
                          </a:solidFill>
                          <a:effectLst/>
                          <a:latin typeface="Arial" charset="0"/>
                        </a:rPr>
                        <a:t>Orang Bajau</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Char char="n"/>
                        <a:tabLst/>
                      </a:pPr>
                      <a:r>
                        <a:rPr kumimoji="0" lang="en-US" sz="1800" b="0" i="0" u="none" strike="noStrike" cap="none" normalizeH="0" baseline="0" dirty="0">
                          <a:ln>
                            <a:noFill/>
                          </a:ln>
                          <a:solidFill>
                            <a:schemeClr val="tx1"/>
                          </a:solidFill>
                          <a:effectLst/>
                          <a:latin typeface="Arial" charset="0"/>
                        </a:rPr>
                        <a:t>from Mindanao and Sulu islands</a:t>
                      </a:r>
                    </a:p>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Char char="n"/>
                        <a:tabLst/>
                      </a:pPr>
                      <a:r>
                        <a:rPr kumimoji="0" lang="en-US" sz="1800" b="0" i="0" u="none" strike="noStrike" cap="none" normalizeH="0" baseline="0" dirty="0">
                          <a:ln>
                            <a:noFill/>
                          </a:ln>
                          <a:solidFill>
                            <a:schemeClr val="tx1"/>
                          </a:solidFill>
                          <a:effectLst/>
                          <a:latin typeface="Arial" charset="0"/>
                        </a:rPr>
                        <a:t>Also known as the Orang </a:t>
                      </a:r>
                      <a:r>
                        <a:rPr kumimoji="0" lang="en-US" sz="1800" b="0" i="0" u="none" strike="noStrike" cap="none" normalizeH="0" baseline="0" dirty="0" err="1">
                          <a:ln>
                            <a:noFill/>
                          </a:ln>
                          <a:solidFill>
                            <a:schemeClr val="tx1"/>
                          </a:solidFill>
                          <a:effectLst/>
                          <a:latin typeface="Arial" charset="0"/>
                        </a:rPr>
                        <a:t>Laut</a:t>
                      </a:r>
                      <a:endParaRPr kumimoji="0" lang="en-US" sz="18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Char char="n"/>
                        <a:tabLst/>
                      </a:pPr>
                      <a:r>
                        <a:rPr kumimoji="0" lang="en-US" sz="1800" b="0" i="0" u="none" strike="noStrike" cap="none" normalizeH="0" baseline="0" dirty="0">
                          <a:ln>
                            <a:noFill/>
                          </a:ln>
                          <a:solidFill>
                            <a:schemeClr val="tx1"/>
                          </a:solidFill>
                          <a:effectLst/>
                          <a:latin typeface="Arial" charset="0"/>
                        </a:rPr>
                        <a:t>Focused in Semporna, Kota </a:t>
                      </a:r>
                      <a:r>
                        <a:rPr kumimoji="0" lang="en-US" sz="1800" b="0" i="0" u="none" strike="noStrike" cap="none" normalizeH="0" baseline="0" dirty="0" err="1">
                          <a:ln>
                            <a:noFill/>
                          </a:ln>
                          <a:solidFill>
                            <a:schemeClr val="tx1"/>
                          </a:solidFill>
                          <a:effectLst/>
                          <a:latin typeface="Arial" charset="0"/>
                        </a:rPr>
                        <a:t>Belud</a:t>
                      </a:r>
                      <a:r>
                        <a:rPr kumimoji="0" lang="en-US" sz="1800" b="0" i="0" u="none" strike="noStrike" cap="none" normalizeH="0" baseline="0" dirty="0">
                          <a:ln>
                            <a:noFill/>
                          </a:ln>
                          <a:solidFill>
                            <a:schemeClr val="tx1"/>
                          </a:solidFill>
                          <a:effectLst/>
                          <a:latin typeface="Arial" charset="0"/>
                        </a:rPr>
                        <a:t>, and </a:t>
                      </a:r>
                      <a:r>
                        <a:rPr kumimoji="0" lang="en-US" sz="1800" b="0" i="0" u="none" strike="noStrike" cap="none" normalizeH="0" baseline="0" dirty="0" err="1">
                          <a:ln>
                            <a:noFill/>
                          </a:ln>
                          <a:solidFill>
                            <a:schemeClr val="tx1"/>
                          </a:solidFill>
                          <a:effectLst/>
                          <a:latin typeface="Arial" charset="0"/>
                        </a:rPr>
                        <a:t>Pulau</a:t>
                      </a:r>
                      <a:r>
                        <a:rPr kumimoji="0" lang="en-US" sz="1800" b="0" i="0" u="none" strike="noStrike" cap="none" normalizeH="0" baseline="0" dirty="0">
                          <a:ln>
                            <a:noFill/>
                          </a:ln>
                          <a:solidFill>
                            <a:schemeClr val="tx1"/>
                          </a:solidFill>
                          <a:effectLst/>
                          <a:latin typeface="Arial" charset="0"/>
                        </a:rPr>
                        <a:t> </a:t>
                      </a:r>
                      <a:r>
                        <a:rPr kumimoji="0" lang="en-US" sz="1800" b="0" i="0" u="none" strike="noStrike" cap="none" normalizeH="0" baseline="0" dirty="0" err="1">
                          <a:ln>
                            <a:noFill/>
                          </a:ln>
                          <a:solidFill>
                            <a:schemeClr val="tx1"/>
                          </a:solidFill>
                          <a:effectLst/>
                          <a:latin typeface="Arial" charset="0"/>
                        </a:rPr>
                        <a:t>Timbang</a:t>
                      </a:r>
                      <a:r>
                        <a:rPr kumimoji="0" lang="en-US" sz="1800" b="0" i="0" u="none" strike="noStrike" cap="none" normalizeH="0" baseline="0" dirty="0">
                          <a:ln>
                            <a:noFill/>
                          </a:ln>
                          <a:solidFill>
                            <a:schemeClr val="tx1"/>
                          </a:solidFill>
                          <a:effectLst/>
                          <a:latin typeface="Arial" charset="0"/>
                        </a:rPr>
                        <a:t> in Sandakan Bay</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1237738">
                <a:tc>
                  <a:txBody>
                    <a:bodyPr/>
                    <a:lstStyle/>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None/>
                        <a:tabLst/>
                      </a:pPr>
                      <a:r>
                        <a:rPr kumimoji="0" lang="en-US" sz="1800" b="0" i="0" u="none" strike="noStrike" cap="none" normalizeH="0" baseline="0" dirty="0">
                          <a:ln>
                            <a:noFill/>
                          </a:ln>
                          <a:solidFill>
                            <a:schemeClr val="tx1"/>
                          </a:solidFill>
                          <a:effectLst/>
                          <a:latin typeface="Arial" charset="0"/>
                        </a:rPr>
                        <a:t>Orang Murut</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Char char="n"/>
                        <a:tabLst/>
                      </a:pPr>
                      <a:r>
                        <a:rPr kumimoji="0" lang="en-US" sz="1800" b="0" i="0" u="none" strike="noStrike" cap="none" normalizeH="0" baseline="0" dirty="0">
                          <a:ln>
                            <a:noFill/>
                          </a:ln>
                          <a:solidFill>
                            <a:schemeClr val="tx1"/>
                          </a:solidFill>
                          <a:effectLst/>
                          <a:latin typeface="Arial" charset="0"/>
                        </a:rPr>
                        <a:t>Live in hinterland such as </a:t>
                      </a:r>
                      <a:r>
                        <a:rPr kumimoji="0" lang="en-US" sz="1800" b="0" i="0" u="none" strike="noStrike" cap="none" normalizeH="0" baseline="0" dirty="0" err="1">
                          <a:ln>
                            <a:noFill/>
                          </a:ln>
                          <a:solidFill>
                            <a:schemeClr val="tx1"/>
                          </a:solidFill>
                          <a:effectLst/>
                          <a:latin typeface="Arial" charset="0"/>
                        </a:rPr>
                        <a:t>Tenom</a:t>
                      </a:r>
                      <a:r>
                        <a:rPr kumimoji="0" lang="en-US" sz="1800" b="0" i="0" u="none" strike="noStrike" cap="none" normalizeH="0" baseline="0" dirty="0">
                          <a:ln>
                            <a:noFill/>
                          </a:ln>
                          <a:solidFill>
                            <a:schemeClr val="tx1"/>
                          </a:solidFill>
                          <a:effectLst/>
                          <a:latin typeface="Arial" charset="0"/>
                        </a:rPr>
                        <a:t>, Rundu, and </a:t>
                      </a:r>
                      <a:r>
                        <a:rPr kumimoji="0" lang="en-US" sz="1800" b="0" i="0" u="none" strike="noStrike" cap="none" normalizeH="0" baseline="0" dirty="0" err="1">
                          <a:ln>
                            <a:noFill/>
                          </a:ln>
                          <a:solidFill>
                            <a:schemeClr val="tx1"/>
                          </a:solidFill>
                          <a:effectLst/>
                          <a:latin typeface="Arial" charset="0"/>
                        </a:rPr>
                        <a:t>Pensiangan</a:t>
                      </a:r>
                      <a:endParaRPr kumimoji="0" lang="en-US" sz="18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Char char="n"/>
                        <a:tabLst/>
                      </a:pPr>
                      <a:r>
                        <a:rPr kumimoji="0" lang="en-US" sz="1800" b="0" i="0" u="none" strike="noStrike" cap="none" normalizeH="0" baseline="0" dirty="0">
                          <a:ln>
                            <a:noFill/>
                          </a:ln>
                          <a:solidFill>
                            <a:schemeClr val="tx1"/>
                          </a:solidFill>
                          <a:effectLst/>
                          <a:latin typeface="Arial" charset="0"/>
                        </a:rPr>
                        <a:t>Some still live in longhouses and are nomadic</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3"/>
                  </a:ext>
                </a:extLst>
              </a:tr>
              <a:tr h="662046">
                <a:tc>
                  <a:txBody>
                    <a:bodyPr/>
                    <a:lstStyle/>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None/>
                        <a:tabLst/>
                      </a:pPr>
                      <a:r>
                        <a:rPr kumimoji="0" lang="en-US" sz="1800" b="0" i="0" u="none" strike="noStrike" cap="none" normalizeH="0" baseline="0" dirty="0">
                          <a:ln>
                            <a:noFill/>
                          </a:ln>
                          <a:solidFill>
                            <a:schemeClr val="tx1"/>
                          </a:solidFill>
                          <a:effectLst/>
                          <a:latin typeface="Arial" charset="0"/>
                        </a:rPr>
                        <a:t>Orang Suluk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Char char="n"/>
                        <a:tabLst/>
                      </a:pPr>
                      <a:r>
                        <a:rPr kumimoji="0" lang="en-US" sz="1800" b="0" i="0" u="none" strike="noStrike" cap="none" normalizeH="0" baseline="0" dirty="0">
                          <a:ln>
                            <a:noFill/>
                          </a:ln>
                          <a:solidFill>
                            <a:schemeClr val="tx1"/>
                          </a:solidFill>
                          <a:effectLst/>
                          <a:latin typeface="Arial" charset="0"/>
                        </a:rPr>
                        <a:t> from Sulu islands and focused at </a:t>
                      </a:r>
                      <a:r>
                        <a:rPr kumimoji="0" lang="en-US" sz="1800" b="0" i="0" u="none" strike="noStrike" cap="none" normalizeH="0" baseline="0" dirty="0" err="1">
                          <a:ln>
                            <a:noFill/>
                          </a:ln>
                          <a:solidFill>
                            <a:schemeClr val="tx1"/>
                          </a:solidFill>
                          <a:effectLst/>
                          <a:latin typeface="Arial" charset="0"/>
                        </a:rPr>
                        <a:t>Sugut</a:t>
                      </a:r>
                      <a:r>
                        <a:rPr kumimoji="0" lang="en-US" sz="1800" b="0" i="0" u="none" strike="noStrike" cap="none" normalizeH="0" baseline="0" dirty="0">
                          <a:ln>
                            <a:noFill/>
                          </a:ln>
                          <a:solidFill>
                            <a:schemeClr val="tx1"/>
                          </a:solidFill>
                          <a:effectLst/>
                          <a:latin typeface="Arial" charset="0"/>
                        </a:rPr>
                        <a:t> River</a:t>
                      </a:r>
                    </a:p>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Char char="n"/>
                        <a:tabLst/>
                      </a:pPr>
                      <a:r>
                        <a:rPr kumimoji="0" lang="en-US" sz="1800" b="0" i="0" u="none" strike="noStrike" cap="none" normalizeH="0" baseline="0" dirty="0">
                          <a:ln>
                            <a:noFill/>
                          </a:ln>
                          <a:solidFill>
                            <a:schemeClr val="tx1"/>
                          </a:solidFill>
                          <a:effectLst/>
                          <a:latin typeface="Arial" charset="0"/>
                        </a:rPr>
                        <a:t>Are Muslim</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4"/>
                  </a:ext>
                </a:extLst>
              </a:tr>
              <a:tr h="953007">
                <a:tc>
                  <a:txBody>
                    <a:bodyPr/>
                    <a:lstStyle/>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None/>
                        <a:tabLst/>
                      </a:pPr>
                      <a:r>
                        <a:rPr kumimoji="0" lang="en-US" sz="1800" b="0" i="0" u="none" strike="noStrike" cap="none" normalizeH="0" baseline="0" dirty="0">
                          <a:ln>
                            <a:noFill/>
                          </a:ln>
                          <a:solidFill>
                            <a:schemeClr val="tx1"/>
                          </a:solidFill>
                          <a:effectLst/>
                          <a:latin typeface="Arial" charset="0"/>
                        </a:rPr>
                        <a:t>Brunei Malay</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CC00"/>
                    </a:solidFill>
                  </a:tcPr>
                </a:tc>
                <a:tc>
                  <a:txBody>
                    <a:bodyPr/>
                    <a:lstStyle/>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Char char="n"/>
                        <a:tabLst/>
                      </a:pPr>
                      <a:r>
                        <a:rPr kumimoji="0" lang="en-US" sz="1800" b="0" i="0" u="none" strike="noStrike" cap="none" normalizeH="0" baseline="0" dirty="0">
                          <a:ln>
                            <a:noFill/>
                          </a:ln>
                          <a:solidFill>
                            <a:schemeClr val="tx1"/>
                          </a:solidFill>
                          <a:effectLst/>
                          <a:latin typeface="Arial" charset="0"/>
                        </a:rPr>
                        <a:t>From Brunei, live in Beaufort, </a:t>
                      </a:r>
                      <a:r>
                        <a:rPr kumimoji="0" lang="en-US" sz="1800" b="0" i="0" u="none" strike="noStrike" cap="none" normalizeH="0" baseline="0" dirty="0" err="1">
                          <a:ln>
                            <a:noFill/>
                          </a:ln>
                          <a:solidFill>
                            <a:schemeClr val="tx1"/>
                          </a:solidFill>
                          <a:effectLst/>
                          <a:latin typeface="Arial" charset="0"/>
                        </a:rPr>
                        <a:t>Kimanis</a:t>
                      </a:r>
                      <a:r>
                        <a:rPr kumimoji="0" lang="en-US" sz="1800" b="0" i="0" u="none" strike="noStrike" cap="none" normalizeH="0" baseline="0" dirty="0">
                          <a:ln>
                            <a:noFill/>
                          </a:ln>
                          <a:solidFill>
                            <a:schemeClr val="tx1"/>
                          </a:solidFill>
                          <a:effectLst/>
                          <a:latin typeface="Arial" charset="0"/>
                        </a:rPr>
                        <a:t>, and </a:t>
                      </a:r>
                      <a:r>
                        <a:rPr kumimoji="0" lang="en-US" sz="1800" b="0" i="0" u="none" strike="noStrike" cap="none" normalizeH="0" baseline="0" dirty="0" err="1">
                          <a:ln>
                            <a:noFill/>
                          </a:ln>
                          <a:solidFill>
                            <a:schemeClr val="tx1"/>
                          </a:solidFill>
                          <a:effectLst/>
                          <a:latin typeface="Arial" charset="0"/>
                        </a:rPr>
                        <a:t>Papar</a:t>
                      </a:r>
                      <a:endParaRPr kumimoji="0" lang="en-US" sz="18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ts val="0"/>
                        </a:spcBef>
                        <a:spcAft>
                          <a:spcPct val="0"/>
                        </a:spcAft>
                        <a:buClr>
                          <a:schemeClr val="folHlink"/>
                        </a:buClr>
                        <a:buSzPct val="90000"/>
                        <a:buFont typeface="Wingdings" pitchFamily="2" charset="2"/>
                        <a:buChar char="n"/>
                        <a:tabLst/>
                      </a:pPr>
                      <a:r>
                        <a:rPr kumimoji="0" lang="en-US" sz="1800" b="0" i="0" u="none" strike="noStrike" cap="none" normalizeH="0" baseline="0" dirty="0">
                          <a:ln>
                            <a:noFill/>
                          </a:ln>
                          <a:solidFill>
                            <a:schemeClr val="tx1"/>
                          </a:solidFill>
                          <a:effectLst/>
                          <a:latin typeface="Arial" charset="0"/>
                        </a:rPr>
                        <a:t>Are Muslim</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CC00"/>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046178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FC998-FA6C-DEB9-7F4D-214A79039BA3}"/>
              </a:ext>
            </a:extLst>
          </p:cNvPr>
          <p:cNvSpPr>
            <a:spLocks noGrp="1"/>
          </p:cNvSpPr>
          <p:nvPr>
            <p:ph type="title"/>
          </p:nvPr>
        </p:nvSpPr>
        <p:spPr>
          <a:xfrm>
            <a:off x="683625" y="178905"/>
            <a:ext cx="10396882" cy="1151965"/>
          </a:xfrm>
        </p:spPr>
        <p:txBody>
          <a:bodyPr>
            <a:normAutofit/>
          </a:bodyPr>
          <a:lstStyle/>
          <a:p>
            <a:pPr algn="ctr">
              <a:spcAft>
                <a:spcPts val="800"/>
              </a:spcAft>
            </a:pPr>
            <a:r>
              <a:rPr lang="en-US" sz="5400" b="1" dirty="0">
                <a:effectLst/>
                <a:latin typeface="Times New Roman" panose="02020603050405020304" pitchFamily="18" charset="0"/>
                <a:ea typeface="Times New Roman" panose="02020603050405020304" pitchFamily="18" charset="0"/>
              </a:rPr>
              <a:t>ETHNIC MINORITY</a:t>
            </a:r>
            <a:endParaRPr lang="en-MY" dirty="0"/>
          </a:p>
        </p:txBody>
      </p:sp>
      <p:sp>
        <p:nvSpPr>
          <p:cNvPr id="4" name="Content Placeholder 3">
            <a:extLst>
              <a:ext uri="{FF2B5EF4-FFF2-40B4-BE49-F238E27FC236}">
                <a16:creationId xmlns:a16="http://schemas.microsoft.com/office/drawing/2014/main" id="{5A375078-A29C-395C-9F1B-14D952B40660}"/>
              </a:ext>
            </a:extLst>
          </p:cNvPr>
          <p:cNvSpPr>
            <a:spLocks noGrp="1"/>
          </p:cNvSpPr>
          <p:nvPr>
            <p:ph sz="quarter" idx="13"/>
          </p:nvPr>
        </p:nvSpPr>
        <p:spPr>
          <a:xfrm>
            <a:off x="218661" y="1330870"/>
            <a:ext cx="11289713" cy="4043715"/>
          </a:xfrm>
        </p:spPr>
        <p:txBody>
          <a:bodyPr>
            <a:normAutofit/>
          </a:bodyPr>
          <a:lstStyle/>
          <a:p>
            <a:r>
              <a:rPr lang="en-US" dirty="0"/>
              <a:t>Sikhs  or also known as Punjabi – an important minority group in Malaysia – Celebrate festival, the Sikh New Year called </a:t>
            </a:r>
            <a:r>
              <a:rPr lang="en-US" dirty="0" err="1"/>
              <a:t>Vasakhi</a:t>
            </a:r>
            <a:r>
              <a:rPr lang="en-US" dirty="0"/>
              <a:t>, each April and the birthdays and martyrdom of Sikh Gurus.  </a:t>
            </a:r>
          </a:p>
          <a:p>
            <a:r>
              <a:rPr lang="en-US" dirty="0"/>
              <a:t>The amalgamation of the immigrants with local community since Malacca empire and also during colonial rule</a:t>
            </a:r>
          </a:p>
          <a:p>
            <a:r>
              <a:rPr lang="en-US" dirty="0"/>
              <a:t>Chitty (Indian and Malays – non Muslim)</a:t>
            </a:r>
          </a:p>
          <a:p>
            <a:r>
              <a:rPr lang="en-US" dirty="0"/>
              <a:t>Baba Nyonya (Chinese and Malays- non Muslim)</a:t>
            </a:r>
          </a:p>
          <a:p>
            <a:r>
              <a:rPr lang="en-US" dirty="0"/>
              <a:t>Serani (Eurasians – Portuguese and local)– mix marriage of Portuguese and local</a:t>
            </a:r>
          </a:p>
          <a:p>
            <a:endParaRPr lang="en-MY" dirty="0"/>
          </a:p>
        </p:txBody>
      </p:sp>
    </p:spTree>
    <p:extLst>
      <p:ext uri="{BB962C8B-B14F-4D97-AF65-F5344CB8AC3E}">
        <p14:creationId xmlns:p14="http://schemas.microsoft.com/office/powerpoint/2010/main" val="2265220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D311078-0AA5-5C02-4750-EB9F8AFB2CBE}"/>
              </a:ext>
            </a:extLst>
          </p:cNvPr>
          <p:cNvSpPr>
            <a:spLocks noGrp="1"/>
          </p:cNvSpPr>
          <p:nvPr>
            <p:ph type="title"/>
          </p:nvPr>
        </p:nvSpPr>
        <p:spPr/>
        <p:txBody>
          <a:bodyPr>
            <a:normAutofit/>
          </a:bodyPr>
          <a:lstStyle/>
          <a:p>
            <a:pPr algn="ctr"/>
            <a:r>
              <a:rPr lang="en-US" sz="4400" b="1" dirty="0">
                <a:effectLst/>
                <a:latin typeface="Times New Roman" panose="02020603050405020304" pitchFamily="18" charset="0"/>
                <a:ea typeface="Times New Roman" panose="02020603050405020304" pitchFamily="18" charset="0"/>
              </a:rPr>
              <a:t>CONCLUSION</a:t>
            </a:r>
            <a:endParaRPr lang="en-MY" sz="11500" dirty="0"/>
          </a:p>
        </p:txBody>
      </p:sp>
      <p:sp>
        <p:nvSpPr>
          <p:cNvPr id="7" name="Content Placeholder 6">
            <a:extLst>
              <a:ext uri="{FF2B5EF4-FFF2-40B4-BE49-F238E27FC236}">
                <a16:creationId xmlns:a16="http://schemas.microsoft.com/office/drawing/2014/main" id="{49ADB62D-8A25-6673-BF56-C896A2C0DC0E}"/>
              </a:ext>
            </a:extLst>
          </p:cNvPr>
          <p:cNvSpPr>
            <a:spLocks noGrp="1"/>
          </p:cNvSpPr>
          <p:nvPr>
            <p:ph idx="1"/>
          </p:nvPr>
        </p:nvSpPr>
        <p:spPr/>
        <p:txBody>
          <a:bodyPr/>
          <a:lstStyle/>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The multi-ethnic society of Malaysia is an inherited of the long history</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Malaysia is rich  culture and traditions.</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The assimilation and amalgamation of the culture and celebrations – food, dress, language etc.</a:t>
            </a:r>
            <a:endParaRPr lang="en-MY" sz="1800" dirty="0">
              <a:effectLst/>
              <a:latin typeface="Arial" panose="020B0604020202020204" pitchFamily="34" charset="0"/>
              <a:ea typeface="Arial" panose="020B0604020202020204" pitchFamily="34" charset="0"/>
              <a:cs typeface="Arial" panose="020B0604020202020204" pitchFamily="34" charset="0"/>
            </a:endParaRPr>
          </a:p>
          <a:p>
            <a:endParaRPr lang="en-MY" dirty="0"/>
          </a:p>
        </p:txBody>
      </p:sp>
    </p:spTree>
    <p:extLst>
      <p:ext uri="{BB962C8B-B14F-4D97-AF65-F5344CB8AC3E}">
        <p14:creationId xmlns:p14="http://schemas.microsoft.com/office/powerpoint/2010/main" val="341309777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emplate>Main Event</Template>
  <TotalTime>477</TotalTime>
  <Words>2548</Words>
  <Application>Microsoft Office PowerPoint</Application>
  <PresentationFormat>Widescreen</PresentationFormat>
  <Paragraphs>198</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Impact</vt:lpstr>
      <vt:lpstr>Times New Roman</vt:lpstr>
      <vt:lpstr>Wingdings</vt:lpstr>
      <vt:lpstr>Wingdings 2</vt:lpstr>
      <vt:lpstr>Main Event</vt:lpstr>
      <vt:lpstr>FEM2401 Malaysian Politics and Society  TOPIC 3: CULTURE, RELIGION, AND TRADITIONAL PRACTICES OF THE MULTI-ETHNIC SOCIETY</vt:lpstr>
      <vt:lpstr>PowerPoint Presentation</vt:lpstr>
      <vt:lpstr>OVERVIEW</vt:lpstr>
      <vt:lpstr>Ethnic Composition in Malaysia before Independence</vt:lpstr>
      <vt:lpstr>PowerPoint Presentation</vt:lpstr>
      <vt:lpstr>The Concept of a Plural Society</vt:lpstr>
      <vt:lpstr>  THE MULTI-ETHNIC SOCIETY IN MALAYSIA </vt:lpstr>
      <vt:lpstr>PowerPoint Presentation</vt:lpstr>
      <vt:lpstr>PowerPoint Presentation</vt:lpstr>
      <vt:lpstr>Background of the Main Ethnic Groups in Malaysia</vt:lpstr>
      <vt:lpstr>a) Malays </vt:lpstr>
      <vt:lpstr>PowerPoint Presentation</vt:lpstr>
      <vt:lpstr>THE MALAYS : THE CULTURE AND TRADITION</vt:lpstr>
      <vt:lpstr> b) Chinese </vt:lpstr>
      <vt:lpstr>THE CHINESE: THE CULTURE &amp; TRADITION</vt:lpstr>
      <vt:lpstr> c)INDIAns </vt:lpstr>
      <vt:lpstr>THE INDIAN: THE CULTURE AND TRADITION</vt:lpstr>
      <vt:lpstr>PowerPoint Presentation</vt:lpstr>
      <vt:lpstr>d) Orang Asli</vt:lpstr>
      <vt:lpstr>e) Other Ethnic Groups in Malaya</vt:lpstr>
      <vt:lpstr>I) Bumiputera of Sarawak</vt:lpstr>
      <vt:lpstr>PowerPoint Presentation</vt:lpstr>
      <vt:lpstr>ii) Bumiputera of Sabah</vt:lpstr>
      <vt:lpstr>PowerPoint Presentation</vt:lpstr>
      <vt:lpstr>ETHNIC MINORITY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MPU2163 Pengajian Malaysia 2</dc:title>
  <dc:creator>Fitri</dc:creator>
  <cp:lastModifiedBy>Amir Munshi</cp:lastModifiedBy>
  <cp:revision>239</cp:revision>
  <dcterms:created xsi:type="dcterms:W3CDTF">2021-07-20T23:55:36Z</dcterms:created>
  <dcterms:modified xsi:type="dcterms:W3CDTF">2023-11-17T03:35:25Z</dcterms:modified>
</cp:coreProperties>
</file>