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81" r:id="rId5"/>
    <p:sldId id="260" r:id="rId6"/>
    <p:sldId id="274" r:id="rId7"/>
    <p:sldId id="261" r:id="rId8"/>
    <p:sldId id="275" r:id="rId9"/>
    <p:sldId id="267" r:id="rId10"/>
    <p:sldId id="270" r:id="rId11"/>
    <p:sldId id="269" r:id="rId12"/>
    <p:sldId id="282" r:id="rId13"/>
    <p:sldId id="276" r:id="rId14"/>
    <p:sldId id="277" r:id="rId15"/>
    <p:sldId id="268" r:id="rId16"/>
    <p:sldId id="262" r:id="rId17"/>
    <p:sldId id="279" r:id="rId18"/>
    <p:sldId id="263" r:id="rId19"/>
    <p:sldId id="273" r:id="rId20"/>
    <p:sldId id="280" r:id="rId21"/>
    <p:sldId id="264" r:id="rId22"/>
    <p:sldId id="266" r:id="rId23"/>
    <p:sldId id="265" r:id="rId24"/>
    <p:sldId id="27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47" autoAdjust="0"/>
    <p:restoredTop sz="94660"/>
  </p:normalViewPr>
  <p:slideViewPr>
    <p:cSldViewPr snapToGrid="0">
      <p:cViewPr varScale="1">
        <p:scale>
          <a:sx n="64" d="100"/>
          <a:sy n="64" d="100"/>
        </p:scale>
        <p:origin x="55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586FAF-8F8D-4ABF-8783-D94267D371DB}" type="datetimeFigureOut">
              <a:rPr lang="en-MY" smtClean="0"/>
              <a:t>9/8/2024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132371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586FAF-8F8D-4ABF-8783-D94267D371DB}" type="datetimeFigureOut">
              <a:rPr lang="en-MY" smtClean="0"/>
              <a:t>9/8/2024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75062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586FAF-8F8D-4ABF-8783-D94267D371DB}" type="datetimeFigureOut">
              <a:rPr lang="en-MY" smtClean="0"/>
              <a:t>9/8/2024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2032871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586FAF-8F8D-4ABF-8783-D94267D371DB}" type="datetimeFigureOut">
              <a:rPr lang="en-MY" smtClean="0"/>
              <a:t>9/8/2024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2781160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586FAF-8F8D-4ABF-8783-D94267D371DB}" type="datetimeFigureOut">
              <a:rPr lang="en-MY" smtClean="0"/>
              <a:t>9/8/2024</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256811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586FAF-8F8D-4ABF-8783-D94267D371DB}" type="datetimeFigureOut">
              <a:rPr lang="en-MY" smtClean="0"/>
              <a:t>9/8/2024</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3959670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586FAF-8F8D-4ABF-8783-D94267D371DB}" type="datetimeFigureOut">
              <a:rPr lang="en-MY" smtClean="0"/>
              <a:t>9/8/2024</a:t>
            </a:fld>
            <a:endParaRPr lang="en-MY"/>
          </a:p>
        </p:txBody>
      </p:sp>
      <p:sp>
        <p:nvSpPr>
          <p:cNvPr id="3" name="Footer Placeholder 2"/>
          <p:cNvSpPr>
            <a:spLocks noGrp="1"/>
          </p:cNvSpPr>
          <p:nvPr>
            <p:ph type="ftr" sz="quarter" idx="11"/>
          </p:nvPr>
        </p:nvSpPr>
        <p:spPr/>
        <p:txBody>
          <a:bodyPr/>
          <a:lstStyle/>
          <a:p>
            <a:endParaRPr lang="en-MY"/>
          </a:p>
        </p:txBody>
      </p:sp>
      <p:sp>
        <p:nvSpPr>
          <p:cNvPr id="4" name="Slide Number Placeholder 3"/>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166370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586FAF-8F8D-4ABF-8783-D94267D371DB}" type="datetimeFigureOut">
              <a:rPr lang="en-MY" smtClean="0"/>
              <a:t>9/8/2024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3220559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AC586FAF-8F8D-4ABF-8783-D94267D371DB}" type="datetimeFigureOut">
              <a:rPr lang="en-MY" smtClean="0"/>
              <a:t>9/8/2024</a:t>
            </a:fld>
            <a:endParaRPr lang="en-MY"/>
          </a:p>
        </p:txBody>
      </p:sp>
      <p:sp>
        <p:nvSpPr>
          <p:cNvPr id="6" name="Footer Placeholder 5"/>
          <p:cNvSpPr>
            <a:spLocks noGrp="1"/>
          </p:cNvSpPr>
          <p:nvPr>
            <p:ph type="ftr" sz="quarter" idx="11"/>
          </p:nvPr>
        </p:nvSpPr>
        <p:spPr>
          <a:xfrm>
            <a:off x="1141412" y="5883275"/>
            <a:ext cx="5105400" cy="365125"/>
          </a:xfrm>
        </p:spPr>
        <p:txBody>
          <a:bodyPr/>
          <a:lstStyle/>
          <a:p>
            <a:endParaRPr lang="en-MY"/>
          </a:p>
        </p:txBody>
      </p:sp>
      <p:sp>
        <p:nvSpPr>
          <p:cNvPr id="7" name="Slide Number Placeholder 6"/>
          <p:cNvSpPr>
            <a:spLocks noGrp="1"/>
          </p:cNvSpPr>
          <p:nvPr>
            <p:ph type="sldNum" sz="quarter" idx="12"/>
          </p:nvPr>
        </p:nvSpPr>
        <p:spPr>
          <a:xfrm>
            <a:off x="10742612" y="5883275"/>
            <a:ext cx="322567" cy="365125"/>
          </a:xfrm>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2724100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586FAF-8F8D-4ABF-8783-D94267D371DB}" type="datetimeFigureOut">
              <a:rPr lang="en-MY" smtClean="0"/>
              <a:t>9/8/2024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554365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586FAF-8F8D-4ABF-8783-D94267D371DB}" type="datetimeFigureOut">
              <a:rPr lang="en-MY" smtClean="0"/>
              <a:t>9/8/2024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1544382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AC586FAF-8F8D-4ABF-8783-D94267D371DB}" type="datetimeFigureOut">
              <a:rPr lang="en-MY" smtClean="0"/>
              <a:t>9/8/2024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34463186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AC586FAF-8F8D-4ABF-8783-D94267D371DB}" type="datetimeFigureOut">
              <a:rPr lang="en-MY" smtClean="0"/>
              <a:t>9/8/2024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24245308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586FAF-8F8D-4ABF-8783-D94267D371DB}" type="datetimeFigureOut">
              <a:rPr lang="en-MY" smtClean="0"/>
              <a:t>9/8/2024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3200534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586FAF-8F8D-4ABF-8783-D94267D371DB}" type="datetimeFigureOut">
              <a:rPr lang="en-MY" smtClean="0"/>
              <a:t>9/8/2024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38572141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586FAF-8F8D-4ABF-8783-D94267D371DB}" type="datetimeFigureOut">
              <a:rPr lang="en-MY" smtClean="0"/>
              <a:t>9/8/2024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31631294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586FAF-8F8D-4ABF-8783-D94267D371DB}" type="datetimeFigureOut">
              <a:rPr lang="en-MY" smtClean="0"/>
              <a:t>9/8/2024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1E76CAB-9481-4838-A66E-38599B60BB91}" type="slidenum">
              <a:rPr lang="en-MY" smtClean="0"/>
              <a:t>‹#›</a:t>
            </a:fld>
            <a:endParaRPr lang="en-MY"/>
          </a:p>
        </p:txBody>
      </p:sp>
    </p:spTree>
    <p:extLst>
      <p:ext uri="{BB962C8B-B14F-4D97-AF65-F5344CB8AC3E}">
        <p14:creationId xmlns:p14="http://schemas.microsoft.com/office/powerpoint/2010/main" val="2129703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AC586FAF-8F8D-4ABF-8783-D94267D371DB}" type="datetimeFigureOut">
              <a:rPr lang="en-MY" smtClean="0"/>
              <a:t>9/8/2024</a:t>
            </a:fld>
            <a:endParaRPr lang="en-MY"/>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MY"/>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1E76CAB-9481-4838-A66E-38599B60BB91}" type="slidenum">
              <a:rPr lang="en-MY" smtClean="0"/>
              <a:t>‹#›</a:t>
            </a:fld>
            <a:endParaRPr lang="en-MY"/>
          </a:p>
        </p:txBody>
      </p:sp>
    </p:spTree>
    <p:extLst>
      <p:ext uri="{BB962C8B-B14F-4D97-AF65-F5344CB8AC3E}">
        <p14:creationId xmlns:p14="http://schemas.microsoft.com/office/powerpoint/2010/main" val="290827606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1D04A-6424-45AE-B5E7-7F06300B0972}"/>
              </a:ext>
            </a:extLst>
          </p:cNvPr>
          <p:cNvSpPr>
            <a:spLocks noGrp="1"/>
          </p:cNvSpPr>
          <p:nvPr>
            <p:ph type="ctrTitle"/>
          </p:nvPr>
        </p:nvSpPr>
        <p:spPr>
          <a:xfrm>
            <a:off x="228600" y="853556"/>
            <a:ext cx="11499574" cy="3440148"/>
          </a:xfrm>
        </p:spPr>
        <p:txBody>
          <a:bodyPr>
            <a:normAutofit fontScale="90000"/>
          </a:bodyPr>
          <a:lstStyle/>
          <a:p>
            <a:pPr algn="ctr"/>
            <a:r>
              <a:rPr lang="en-US" sz="4800" dirty="0"/>
              <a:t>FEM2401 Malaysian Politics and Society</a:t>
            </a:r>
            <a:br>
              <a:rPr lang="en-US" sz="4800" dirty="0"/>
            </a:br>
            <a:br>
              <a:rPr lang="en-US" sz="4800" dirty="0"/>
            </a:br>
            <a:r>
              <a:rPr lang="en-US" sz="4800" dirty="0"/>
              <a:t>TOPIC 4: The Federal Constitution of Malaysia</a:t>
            </a:r>
            <a:endParaRPr lang="en-MY" dirty="0"/>
          </a:p>
        </p:txBody>
      </p:sp>
      <p:sp>
        <p:nvSpPr>
          <p:cNvPr id="3" name="Subtitle 2">
            <a:extLst>
              <a:ext uri="{FF2B5EF4-FFF2-40B4-BE49-F238E27FC236}">
                <a16:creationId xmlns:a16="http://schemas.microsoft.com/office/drawing/2014/main" id="{81C0A348-4F31-4359-AF21-1556C1BD4406}"/>
              </a:ext>
            </a:extLst>
          </p:cNvPr>
          <p:cNvSpPr>
            <a:spLocks noGrp="1"/>
          </p:cNvSpPr>
          <p:nvPr>
            <p:ph type="subTitle" idx="1"/>
          </p:nvPr>
        </p:nvSpPr>
        <p:spPr>
          <a:xfrm>
            <a:off x="1578681" y="4850296"/>
            <a:ext cx="8637072" cy="1760435"/>
          </a:xfrm>
        </p:spPr>
        <p:txBody>
          <a:bodyPr>
            <a:normAutofit/>
          </a:bodyPr>
          <a:lstStyle/>
          <a:p>
            <a:pPr algn="ctr"/>
            <a:r>
              <a:rPr lang="en-US" sz="2000" dirty="0"/>
              <a:t>LECTURER:</a:t>
            </a:r>
          </a:p>
          <a:p>
            <a:pPr algn="ctr"/>
            <a:r>
              <a:rPr lang="en-US" sz="2000" dirty="0"/>
              <a:t>MUHAMMAD AMIR BIN MUNSHI</a:t>
            </a:r>
          </a:p>
        </p:txBody>
      </p:sp>
    </p:spTree>
    <p:extLst>
      <p:ext uri="{BB962C8B-B14F-4D97-AF65-F5344CB8AC3E}">
        <p14:creationId xmlns:p14="http://schemas.microsoft.com/office/powerpoint/2010/main" val="4064793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9B955-02B7-4161-B685-1D6321BD0DD1}"/>
              </a:ext>
            </a:extLst>
          </p:cNvPr>
          <p:cNvSpPr>
            <a:spLocks noGrp="1"/>
          </p:cNvSpPr>
          <p:nvPr>
            <p:ph type="title"/>
          </p:nvPr>
        </p:nvSpPr>
        <p:spPr>
          <a:xfrm>
            <a:off x="477078" y="319709"/>
            <a:ext cx="10570333" cy="1219200"/>
          </a:xfrm>
        </p:spPr>
        <p:txBody>
          <a:bodyPr/>
          <a:lstStyle/>
          <a:p>
            <a:r>
              <a:rPr lang="en-US" dirty="0"/>
              <a:t>Lesson 4: The Federal Constitution of Malaysia</a:t>
            </a:r>
            <a:endParaRPr lang="en-MY" dirty="0"/>
          </a:p>
        </p:txBody>
      </p:sp>
      <p:sp>
        <p:nvSpPr>
          <p:cNvPr id="3" name="Content Placeholder 2">
            <a:extLst>
              <a:ext uri="{FF2B5EF4-FFF2-40B4-BE49-F238E27FC236}">
                <a16:creationId xmlns:a16="http://schemas.microsoft.com/office/drawing/2014/main" id="{24951236-292F-41D6-B0CE-337B69D2C739}"/>
              </a:ext>
            </a:extLst>
          </p:cNvPr>
          <p:cNvSpPr>
            <a:spLocks noGrp="1"/>
          </p:cNvSpPr>
          <p:nvPr>
            <p:ph idx="1"/>
          </p:nvPr>
        </p:nvSpPr>
        <p:spPr>
          <a:xfrm>
            <a:off x="228600" y="2095500"/>
            <a:ext cx="10818811" cy="4643229"/>
          </a:xfrm>
        </p:spPr>
        <p:txBody>
          <a:bodyPr>
            <a:normAutofit/>
          </a:bodyPr>
          <a:lstStyle/>
          <a:p>
            <a:pPr marL="0" indent="0">
              <a:buNone/>
            </a:pPr>
            <a:r>
              <a:rPr lang="en-US" sz="2800" dirty="0"/>
              <a:t>Outline:</a:t>
            </a:r>
          </a:p>
          <a:p>
            <a:pPr marL="0" indent="0">
              <a:buNone/>
            </a:pPr>
            <a:r>
              <a:rPr lang="en-US" sz="2800" dirty="0"/>
              <a:t>•	Main provisions and traditional elements in the constitution</a:t>
            </a:r>
          </a:p>
          <a:p>
            <a:pPr marL="0" indent="0">
              <a:buNone/>
            </a:pPr>
            <a:r>
              <a:rPr lang="en-US" sz="2800" dirty="0"/>
              <a:t>•	Amendments and current Issues</a:t>
            </a:r>
          </a:p>
          <a:p>
            <a:pPr marL="0" indent="0">
              <a:buNone/>
            </a:pPr>
            <a:r>
              <a:rPr lang="en-US" sz="2800" dirty="0"/>
              <a:t>LEARNING OUTCOMES:</a:t>
            </a:r>
          </a:p>
          <a:p>
            <a:pPr marL="0" indent="0">
              <a:buNone/>
            </a:pPr>
            <a:r>
              <a:rPr lang="en-US" sz="2800" dirty="0"/>
              <a:t>•	To explain the basic concept of a constitution</a:t>
            </a:r>
          </a:p>
          <a:p>
            <a:pPr marL="0" indent="0">
              <a:buNone/>
            </a:pPr>
            <a:r>
              <a:rPr lang="en-US" sz="2800" dirty="0"/>
              <a:t>•	To describe the major content of the Constitution</a:t>
            </a:r>
          </a:p>
          <a:p>
            <a:pPr marL="0" indent="0">
              <a:buNone/>
            </a:pPr>
            <a:endParaRPr lang="en-US" sz="2800" dirty="0"/>
          </a:p>
        </p:txBody>
      </p:sp>
      <p:pic>
        <p:nvPicPr>
          <p:cNvPr id="1026" name="Picture 2">
            <a:extLst>
              <a:ext uri="{FF2B5EF4-FFF2-40B4-BE49-F238E27FC236}">
                <a16:creationId xmlns:a16="http://schemas.microsoft.com/office/drawing/2014/main" id="{2C267119-1891-48F9-B9BA-F478D95DE2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5852" y="1099103"/>
            <a:ext cx="2189922" cy="1642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5823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44D-2096-4F8F-8D08-2DC79D6D5C51}"/>
              </a:ext>
            </a:extLst>
          </p:cNvPr>
          <p:cNvSpPr>
            <a:spLocks noGrp="1"/>
          </p:cNvSpPr>
          <p:nvPr>
            <p:ph type="title"/>
          </p:nvPr>
        </p:nvSpPr>
        <p:spPr>
          <a:xfrm>
            <a:off x="477079" y="609600"/>
            <a:ext cx="5897218" cy="831574"/>
          </a:xfrm>
        </p:spPr>
        <p:txBody>
          <a:bodyPr>
            <a:normAutofit/>
          </a:bodyPr>
          <a:lstStyle/>
          <a:p>
            <a:pPr algn="ctr"/>
            <a:r>
              <a:rPr lang="en-US" dirty="0"/>
              <a:t>WHAT IS A CONSTITUTION?</a:t>
            </a:r>
            <a:endParaRPr lang="en-MY" dirty="0"/>
          </a:p>
        </p:txBody>
      </p:sp>
      <p:sp>
        <p:nvSpPr>
          <p:cNvPr id="4" name="Content Placeholder 3">
            <a:extLst>
              <a:ext uri="{FF2B5EF4-FFF2-40B4-BE49-F238E27FC236}">
                <a16:creationId xmlns:a16="http://schemas.microsoft.com/office/drawing/2014/main" id="{35A189D1-4F9A-486C-867E-944A8A2235F1}"/>
              </a:ext>
            </a:extLst>
          </p:cNvPr>
          <p:cNvSpPr>
            <a:spLocks noGrp="1"/>
          </p:cNvSpPr>
          <p:nvPr>
            <p:ph sz="half" idx="1"/>
          </p:nvPr>
        </p:nvSpPr>
        <p:spPr>
          <a:xfrm>
            <a:off x="248477" y="1441174"/>
            <a:ext cx="7474227" cy="5029199"/>
          </a:xfrm>
        </p:spPr>
        <p:txBody>
          <a:bodyPr>
            <a:normAutofit/>
          </a:bodyPr>
          <a:lstStyle/>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A </a:t>
            </a:r>
            <a:r>
              <a:rPr lang="en-US" sz="2000" i="1" dirty="0">
                <a:effectLst/>
                <a:latin typeface="Arial" panose="020B0604020202020204" pitchFamily="34" charset="0"/>
                <a:ea typeface="Arial" panose="020B0604020202020204" pitchFamily="34" charset="0"/>
                <a:cs typeface="Arial" panose="020B0604020202020204" pitchFamily="34" charset="0"/>
              </a:rPr>
              <a:t>constitution</a:t>
            </a:r>
            <a:r>
              <a:rPr lang="en-US" sz="2000" dirty="0">
                <a:effectLst/>
                <a:latin typeface="Arial" panose="020B0604020202020204" pitchFamily="34" charset="0"/>
                <a:ea typeface="Arial" panose="020B0604020202020204" pitchFamily="34" charset="0"/>
                <a:cs typeface="Arial" panose="020B0604020202020204" pitchFamily="34" charset="0"/>
              </a:rPr>
              <a:t> is a statement of the basic principles and laws of a nation, state, or group </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The basic principles and laws of a nation, state, or social group that determine the powers and duties of the government and guarantee certain rights to the people in it. </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The basic fundamental laws of most modern nations and the highest source of legal authority (Joseph M. Fernando 2007)</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A set of rules which determine the manner the institutions are to be set up, the powers to be distributed and the justice to be administered (Abdul Aziz Bari 2003)</a:t>
            </a:r>
            <a:endParaRPr lang="en-MY" sz="2000" dirty="0">
              <a:effectLst/>
              <a:latin typeface="Arial" panose="020B0604020202020204" pitchFamily="34" charset="0"/>
              <a:ea typeface="Arial" panose="020B0604020202020204" pitchFamily="34" charset="0"/>
              <a:cs typeface="Arial" panose="020B0604020202020204" pitchFamily="34" charset="0"/>
            </a:endParaRPr>
          </a:p>
          <a:p>
            <a:endParaRPr lang="en-MY" dirty="0"/>
          </a:p>
        </p:txBody>
      </p:sp>
      <p:pic>
        <p:nvPicPr>
          <p:cNvPr id="7" name="Content Placeholder 6">
            <a:extLst>
              <a:ext uri="{FF2B5EF4-FFF2-40B4-BE49-F238E27FC236}">
                <a16:creationId xmlns:a16="http://schemas.microsoft.com/office/drawing/2014/main" id="{AD3419A8-DEA2-4993-9C75-4EAE86829AA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rot="5400000">
            <a:off x="7388912" y="875471"/>
            <a:ext cx="4565375" cy="3424031"/>
          </a:xfrm>
        </p:spPr>
      </p:pic>
    </p:spTree>
    <p:extLst>
      <p:ext uri="{BB962C8B-B14F-4D97-AF65-F5344CB8AC3E}">
        <p14:creationId xmlns:p14="http://schemas.microsoft.com/office/powerpoint/2010/main" val="2344285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a:bodyPr>
          <a:lstStyle/>
          <a:p>
            <a:r>
              <a:rPr lang="en-US" b="1" dirty="0"/>
              <a:t>Constitution around the World</a:t>
            </a:r>
          </a:p>
        </p:txBody>
      </p:sp>
      <p:sp>
        <p:nvSpPr>
          <p:cNvPr id="3" name="Content Placeholder 2"/>
          <p:cNvSpPr>
            <a:spLocks noGrp="1"/>
          </p:cNvSpPr>
          <p:nvPr>
            <p:ph idx="1"/>
          </p:nvPr>
        </p:nvSpPr>
        <p:spPr>
          <a:xfrm>
            <a:off x="665922" y="1219201"/>
            <a:ext cx="10972800" cy="4906963"/>
          </a:xfrm>
        </p:spPr>
        <p:txBody>
          <a:bodyPr>
            <a:normAutofit/>
          </a:bodyPr>
          <a:lstStyle/>
          <a:p>
            <a:r>
              <a:rPr lang="en-US" sz="2400" dirty="0"/>
              <a:t>The constitution of the United States of America is the </a:t>
            </a:r>
            <a:r>
              <a:rPr lang="en-US" sz="2400" b="1" dirty="0"/>
              <a:t>oldest </a:t>
            </a:r>
            <a:r>
              <a:rPr lang="en-US" sz="2400" dirty="0"/>
              <a:t>federal constitution of any existing country in the world today ( it written in 1787)</a:t>
            </a:r>
          </a:p>
          <a:p>
            <a:r>
              <a:rPr lang="en-US" sz="2400" b="1" dirty="0"/>
              <a:t>Shortest</a:t>
            </a:r>
            <a:r>
              <a:rPr lang="en-US" sz="2400" dirty="0"/>
              <a:t> Constitution : Monaco (3,814 words)</a:t>
            </a:r>
          </a:p>
          <a:p>
            <a:r>
              <a:rPr lang="en-US" sz="2400" b="1" dirty="0"/>
              <a:t>Longest</a:t>
            </a:r>
            <a:r>
              <a:rPr lang="en-US" sz="2400" dirty="0"/>
              <a:t> written Constitution : India (146,385-word)</a:t>
            </a:r>
          </a:p>
          <a:p>
            <a:r>
              <a:rPr lang="en-US" sz="2400" dirty="0"/>
              <a:t>Country with the </a:t>
            </a:r>
            <a:r>
              <a:rPr lang="en-US" sz="2400" b="1" dirty="0"/>
              <a:t>largest number </a:t>
            </a:r>
            <a:r>
              <a:rPr lang="en-US" sz="2400" dirty="0"/>
              <a:t>of constitution : Dominican Republic</a:t>
            </a:r>
          </a:p>
        </p:txBody>
      </p:sp>
    </p:spTree>
    <p:extLst>
      <p:ext uri="{BB962C8B-B14F-4D97-AF65-F5344CB8AC3E}">
        <p14:creationId xmlns:p14="http://schemas.microsoft.com/office/powerpoint/2010/main" val="1455808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44C4DB0-53EF-4A28-B68C-F829A987638B}"/>
              </a:ext>
            </a:extLst>
          </p:cNvPr>
          <p:cNvSpPr>
            <a:spLocks noGrp="1"/>
          </p:cNvSpPr>
          <p:nvPr>
            <p:ph type="title"/>
          </p:nvPr>
        </p:nvSpPr>
        <p:spPr>
          <a:xfrm>
            <a:off x="1141413" y="304800"/>
            <a:ext cx="9905998" cy="980661"/>
          </a:xfrm>
        </p:spPr>
        <p:txBody>
          <a:bodyPr/>
          <a:lstStyle/>
          <a:p>
            <a:pPr algn="ctr"/>
            <a:r>
              <a:rPr lang="en-US" dirty="0"/>
              <a:t>WHAT ARE THE PURPOSES OF A CONSTITUTION?</a:t>
            </a:r>
            <a:endParaRPr lang="en-MY" dirty="0"/>
          </a:p>
        </p:txBody>
      </p:sp>
      <p:sp>
        <p:nvSpPr>
          <p:cNvPr id="6" name="Content Placeholder 5">
            <a:extLst>
              <a:ext uri="{FF2B5EF4-FFF2-40B4-BE49-F238E27FC236}">
                <a16:creationId xmlns:a16="http://schemas.microsoft.com/office/drawing/2014/main" id="{393A682B-5B68-44EA-BAC1-F463A761DE3D}"/>
              </a:ext>
            </a:extLst>
          </p:cNvPr>
          <p:cNvSpPr>
            <a:spLocks noGrp="1"/>
          </p:cNvSpPr>
          <p:nvPr>
            <p:ph idx="1"/>
          </p:nvPr>
        </p:nvSpPr>
        <p:spPr>
          <a:xfrm>
            <a:off x="487017" y="1550504"/>
            <a:ext cx="11340547" cy="4810539"/>
          </a:xfrm>
        </p:spPr>
        <p:txBody>
          <a:bodyPr>
            <a:normAutofit/>
          </a:bodyPr>
          <a:lstStyle/>
          <a:p>
            <a:pPr marL="342900" lvl="0" indent="-342900" algn="just">
              <a:spcAft>
                <a:spcPts val="800"/>
              </a:spcAft>
              <a:buFont typeface="Arial" panose="020B0604020202020204" pitchFamily="34" charset="0"/>
              <a:buChar char="•"/>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To guide a government to administer the country</a:t>
            </a:r>
            <a:endParaRPr lang="en-MY"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To maintain the sovereignty and stability of a nation</a:t>
            </a:r>
            <a:endParaRPr lang="en-MY"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To protect the rights of the people and the institutions in the country</a:t>
            </a:r>
            <a:endParaRPr lang="en-MY"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MY" dirty="0"/>
          </a:p>
        </p:txBody>
      </p:sp>
    </p:spTree>
    <p:extLst>
      <p:ext uri="{BB962C8B-B14F-4D97-AF65-F5344CB8AC3E}">
        <p14:creationId xmlns:p14="http://schemas.microsoft.com/office/powerpoint/2010/main" val="819479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8EF35-EE76-6DD3-75BB-E97AE3A68C9B}"/>
              </a:ext>
            </a:extLst>
          </p:cNvPr>
          <p:cNvSpPr>
            <a:spLocks noGrp="1"/>
          </p:cNvSpPr>
          <p:nvPr>
            <p:ph type="title"/>
          </p:nvPr>
        </p:nvSpPr>
        <p:spPr>
          <a:xfrm>
            <a:off x="1141413" y="609600"/>
            <a:ext cx="9905998" cy="1338470"/>
          </a:xfrm>
        </p:spPr>
        <p:txBody>
          <a:bodyPr>
            <a:normAutofit/>
          </a:bodyPr>
          <a:lstStyle/>
          <a:p>
            <a:pPr algn="ctr">
              <a:spcAft>
                <a:spcPts val="800"/>
              </a:spcAft>
            </a:pPr>
            <a:r>
              <a:rPr lang="en-US" sz="4000" b="1" dirty="0">
                <a:effectLst/>
                <a:latin typeface="Times New Roman" panose="02020603050405020304" pitchFamily="18" charset="0"/>
                <a:ea typeface="Times New Roman" panose="02020603050405020304" pitchFamily="18" charset="0"/>
              </a:rPr>
              <a:t>“SUPREMACY OF LAW”</a:t>
            </a:r>
            <a:endParaRPr lang="en-MY" sz="4000" dirty="0"/>
          </a:p>
        </p:txBody>
      </p:sp>
      <p:sp>
        <p:nvSpPr>
          <p:cNvPr id="3" name="Content Placeholder 2">
            <a:extLst>
              <a:ext uri="{FF2B5EF4-FFF2-40B4-BE49-F238E27FC236}">
                <a16:creationId xmlns:a16="http://schemas.microsoft.com/office/drawing/2014/main" id="{15408914-FEA7-18A9-B6D2-F4BD3D9CF761}"/>
              </a:ext>
            </a:extLst>
          </p:cNvPr>
          <p:cNvSpPr>
            <a:spLocks noGrp="1"/>
          </p:cNvSpPr>
          <p:nvPr>
            <p:ph idx="1"/>
          </p:nvPr>
        </p:nvSpPr>
        <p:spPr>
          <a:xfrm>
            <a:off x="496956" y="1948071"/>
            <a:ext cx="11390243" cy="3843130"/>
          </a:xfrm>
        </p:spPr>
        <p:txBody>
          <a:bodyPr/>
          <a:lstStyle/>
          <a:p>
            <a:pPr marL="342900" lvl="0" indent="-342900" algn="just">
              <a:spcAft>
                <a:spcPts val="800"/>
              </a:spcAft>
              <a:buFont typeface="Arial" panose="020B0604020202020204" pitchFamily="34" charset="0"/>
              <a:buChar char="•"/>
            </a:pPr>
            <a:r>
              <a:rPr lang="en-US" sz="2800" dirty="0">
                <a:effectLst/>
                <a:latin typeface="Arial" panose="020B0604020202020204" pitchFamily="34" charset="0"/>
                <a:ea typeface="Arial" panose="020B0604020202020204" pitchFamily="34" charset="0"/>
                <a:cs typeface="Arial" panose="020B0604020202020204" pitchFamily="34" charset="0"/>
              </a:rPr>
              <a:t>A constitution as law is the supreme authority in the country</a:t>
            </a:r>
            <a:endParaRPr lang="en-MY" sz="2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800" dirty="0">
                <a:effectLst/>
                <a:latin typeface="Arial" panose="020B0604020202020204" pitchFamily="34" charset="0"/>
                <a:ea typeface="Arial" panose="020B0604020202020204" pitchFamily="34" charset="0"/>
                <a:cs typeface="Arial" panose="020B0604020202020204" pitchFamily="34" charset="0"/>
              </a:rPr>
              <a:t>No one above the Constitution – it is supreme over Parliament, the executive or even the judiciary.</a:t>
            </a:r>
            <a:endParaRPr lang="en-MY" sz="2800" dirty="0">
              <a:effectLst/>
              <a:latin typeface="Arial" panose="020B0604020202020204" pitchFamily="34" charset="0"/>
              <a:ea typeface="Arial" panose="020B0604020202020204" pitchFamily="34" charset="0"/>
              <a:cs typeface="Arial" panose="020B0604020202020204" pitchFamily="34" charset="0"/>
            </a:endParaRPr>
          </a:p>
          <a:p>
            <a:endParaRPr lang="en-MY" dirty="0"/>
          </a:p>
        </p:txBody>
      </p:sp>
    </p:spTree>
    <p:extLst>
      <p:ext uri="{BB962C8B-B14F-4D97-AF65-F5344CB8AC3E}">
        <p14:creationId xmlns:p14="http://schemas.microsoft.com/office/powerpoint/2010/main" val="2823068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2ACA4-C8F0-47D9-BA48-8E13C7F2D9FC}"/>
              </a:ext>
            </a:extLst>
          </p:cNvPr>
          <p:cNvSpPr>
            <a:spLocks noGrp="1"/>
          </p:cNvSpPr>
          <p:nvPr>
            <p:ph type="title"/>
          </p:nvPr>
        </p:nvSpPr>
        <p:spPr>
          <a:xfrm>
            <a:off x="1008028" y="215348"/>
            <a:ext cx="9905998" cy="1905000"/>
          </a:xfrm>
        </p:spPr>
        <p:txBody>
          <a:bodyPr/>
          <a:lstStyle/>
          <a:p>
            <a:pPr algn="ctr"/>
            <a:r>
              <a:rPr lang="en-US" dirty="0"/>
              <a:t>FORMS OF THE CONSTITUTION</a:t>
            </a:r>
            <a:endParaRPr lang="en-MY" dirty="0"/>
          </a:p>
        </p:txBody>
      </p:sp>
      <p:graphicFrame>
        <p:nvGraphicFramePr>
          <p:cNvPr id="6" name="Table 4">
            <a:extLst>
              <a:ext uri="{FF2B5EF4-FFF2-40B4-BE49-F238E27FC236}">
                <a16:creationId xmlns:a16="http://schemas.microsoft.com/office/drawing/2014/main" id="{330CF035-2E73-437B-9CE6-0D3E8C37A5A1}"/>
              </a:ext>
            </a:extLst>
          </p:cNvPr>
          <p:cNvGraphicFramePr>
            <a:graphicFrameLocks noGrp="1"/>
          </p:cNvGraphicFramePr>
          <p:nvPr>
            <p:extLst>
              <p:ext uri="{D42A27DB-BD31-4B8C-83A1-F6EECF244321}">
                <p14:modId xmlns:p14="http://schemas.microsoft.com/office/powerpoint/2010/main" val="377091487"/>
              </p:ext>
            </p:extLst>
          </p:nvPr>
        </p:nvGraphicFramePr>
        <p:xfrm>
          <a:off x="799549" y="1673822"/>
          <a:ext cx="10938563" cy="4691700"/>
        </p:xfrm>
        <a:graphic>
          <a:graphicData uri="http://schemas.openxmlformats.org/drawingml/2006/table">
            <a:tbl>
              <a:tblPr firstRow="1" bandRow="1">
                <a:tableStyleId>{5C22544A-7EE6-4342-B048-85BDC9FD1C3A}</a:tableStyleId>
              </a:tblPr>
              <a:tblGrid>
                <a:gridCol w="2977321">
                  <a:extLst>
                    <a:ext uri="{9D8B030D-6E8A-4147-A177-3AD203B41FA5}">
                      <a16:colId xmlns:a16="http://schemas.microsoft.com/office/drawing/2014/main" val="3374345447"/>
                    </a:ext>
                  </a:extLst>
                </a:gridCol>
                <a:gridCol w="7961242">
                  <a:extLst>
                    <a:ext uri="{9D8B030D-6E8A-4147-A177-3AD203B41FA5}">
                      <a16:colId xmlns:a16="http://schemas.microsoft.com/office/drawing/2014/main" val="2558149569"/>
                    </a:ext>
                  </a:extLst>
                </a:gridCol>
              </a:tblGrid>
              <a:tr h="412365">
                <a:tc>
                  <a:txBody>
                    <a:bodyPr/>
                    <a:lstStyle/>
                    <a:p>
                      <a:r>
                        <a:rPr lang="en-US" dirty="0"/>
                        <a:t>TYPE</a:t>
                      </a:r>
                      <a:endParaRPr lang="en-MY" dirty="0"/>
                    </a:p>
                  </a:txBody>
                  <a:tcPr/>
                </a:tc>
                <a:tc>
                  <a:txBody>
                    <a:bodyPr/>
                    <a:lstStyle/>
                    <a:p>
                      <a:r>
                        <a:rPr lang="en-US" dirty="0"/>
                        <a:t>DETAILS</a:t>
                      </a:r>
                      <a:endParaRPr lang="en-MY" dirty="0"/>
                    </a:p>
                  </a:txBody>
                  <a:tcPr/>
                </a:tc>
                <a:extLst>
                  <a:ext uri="{0D108BD9-81ED-4DB2-BD59-A6C34878D82A}">
                    <a16:rowId xmlns:a16="http://schemas.microsoft.com/office/drawing/2014/main" val="2556406143"/>
                  </a:ext>
                </a:extLst>
              </a:tr>
              <a:tr h="1626864">
                <a:tc>
                  <a:txBody>
                    <a:bodyPr/>
                    <a:lstStyle/>
                    <a:p>
                      <a:r>
                        <a:rPr lang="en-US" dirty="0"/>
                        <a:t>Written Constitution</a:t>
                      </a:r>
                      <a:endParaRPr lang="en-MY" dirty="0"/>
                    </a:p>
                  </a:txBody>
                  <a:tcPr/>
                </a:tc>
                <a:tc>
                  <a:txBody>
                    <a:bodyPr/>
                    <a:lstStyle/>
                    <a:p>
                      <a:pPr marL="285750" indent="-285750">
                        <a:buFont typeface="Arial" panose="020B0604020202020204" pitchFamily="34" charset="0"/>
                        <a:buChar char="•"/>
                      </a:pPr>
                      <a:r>
                        <a:rPr lang="en-US" dirty="0"/>
                        <a:t>One or more legal documents duly enacted in the form of laws. </a:t>
                      </a:r>
                    </a:p>
                    <a:p>
                      <a:pPr marL="285750" indent="-285750">
                        <a:buFont typeface="Arial" panose="020B0604020202020204" pitchFamily="34" charset="0"/>
                        <a:buChar char="•"/>
                      </a:pPr>
                      <a:r>
                        <a:rPr lang="en-US" dirty="0"/>
                        <a:t>Precise, definite and systematic. </a:t>
                      </a:r>
                    </a:p>
                    <a:p>
                      <a:pPr marL="285750" indent="-285750">
                        <a:buFont typeface="Arial" panose="020B0604020202020204" pitchFamily="34" charset="0"/>
                        <a:buChar char="•"/>
                      </a:pPr>
                      <a:r>
                        <a:rPr lang="en-US" dirty="0"/>
                        <a:t>It is the result of the conscious and deliberate efforts of the people. It is framed by a representative body duly elected by the people at a particular period in history.	</a:t>
                      </a:r>
                    </a:p>
                    <a:p>
                      <a:pPr marL="285750" indent="-285750">
                        <a:buFont typeface="Arial" panose="020B0604020202020204" pitchFamily="34" charset="0"/>
                        <a:buChar char="•"/>
                      </a:pPr>
                      <a:r>
                        <a:rPr lang="en-US" dirty="0"/>
                        <a:t>Most states of the world  such as Malaysia, India, US etc. </a:t>
                      </a:r>
                    </a:p>
                  </a:txBody>
                  <a:tcPr/>
                </a:tc>
                <a:extLst>
                  <a:ext uri="{0D108BD9-81ED-4DB2-BD59-A6C34878D82A}">
                    <a16:rowId xmlns:a16="http://schemas.microsoft.com/office/drawing/2014/main" val="813537778"/>
                  </a:ext>
                </a:extLst>
              </a:tr>
              <a:tr h="2541975">
                <a:tc>
                  <a:txBody>
                    <a:bodyPr/>
                    <a:lstStyle/>
                    <a:p>
                      <a:r>
                        <a:rPr lang="en-US" dirty="0"/>
                        <a:t>Unwritten Constitution</a:t>
                      </a:r>
                      <a:endParaRPr lang="en-MY" dirty="0"/>
                    </a:p>
                  </a:txBody>
                  <a:tcPr/>
                </a:tc>
                <a:tc>
                  <a:txBody>
                    <a:bodyPr/>
                    <a:lstStyle/>
                    <a:p>
                      <a:r>
                        <a:rPr lang="en-US" dirty="0"/>
                        <a:t>•	The principles of the government have never been enacted in  </a:t>
                      </a:r>
                    </a:p>
                    <a:p>
                      <a:r>
                        <a:rPr lang="en-US" dirty="0"/>
                        <a:t>        the form of laws. </a:t>
                      </a:r>
                    </a:p>
                    <a:p>
                      <a:r>
                        <a:rPr lang="en-US" dirty="0"/>
                        <a:t>•	It consists of customs, conventions, traditions, and some written </a:t>
                      </a:r>
                    </a:p>
                    <a:p>
                      <a:r>
                        <a:rPr lang="en-US" dirty="0"/>
                        <a:t>        laws bearing different dates. </a:t>
                      </a:r>
                    </a:p>
                    <a:p>
                      <a:r>
                        <a:rPr lang="en-US" dirty="0"/>
                        <a:t>•	Unsystematic, indefinite and un-precise. </a:t>
                      </a:r>
                    </a:p>
                    <a:p>
                      <a:r>
                        <a:rPr lang="en-US" dirty="0"/>
                        <a:t>•	Not the result of conscious and deliberate efforts of the people.</a:t>
                      </a:r>
                    </a:p>
                    <a:p>
                      <a:r>
                        <a:rPr lang="en-US" dirty="0"/>
                        <a:t>•	UK, Canada, New Zealand</a:t>
                      </a:r>
                    </a:p>
                  </a:txBody>
                  <a:tcPr/>
                </a:tc>
                <a:extLst>
                  <a:ext uri="{0D108BD9-81ED-4DB2-BD59-A6C34878D82A}">
                    <a16:rowId xmlns:a16="http://schemas.microsoft.com/office/drawing/2014/main" val="339554867"/>
                  </a:ext>
                </a:extLst>
              </a:tr>
            </a:tbl>
          </a:graphicData>
        </a:graphic>
      </p:graphicFrame>
    </p:spTree>
    <p:extLst>
      <p:ext uri="{BB962C8B-B14F-4D97-AF65-F5344CB8AC3E}">
        <p14:creationId xmlns:p14="http://schemas.microsoft.com/office/powerpoint/2010/main" val="141331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A07B4-469F-42EC-BF78-0371697F450D}"/>
              </a:ext>
            </a:extLst>
          </p:cNvPr>
          <p:cNvSpPr>
            <a:spLocks noGrp="1"/>
          </p:cNvSpPr>
          <p:nvPr>
            <p:ph type="title"/>
          </p:nvPr>
        </p:nvSpPr>
        <p:spPr>
          <a:xfrm>
            <a:off x="929379" y="212034"/>
            <a:ext cx="9905998" cy="778565"/>
          </a:xfrm>
        </p:spPr>
        <p:txBody>
          <a:bodyPr>
            <a:normAutofit/>
          </a:bodyPr>
          <a:lstStyle/>
          <a:p>
            <a:r>
              <a:rPr lang="en-US" dirty="0"/>
              <a:t>BACKGROUND OF THE FEDERAL CONSTITUTION (</a:t>
            </a:r>
            <a:r>
              <a:rPr lang="en-US" dirty="0" err="1"/>
              <a:t>i</a:t>
            </a:r>
            <a:r>
              <a:rPr lang="en-US" dirty="0"/>
              <a:t>)</a:t>
            </a:r>
            <a:endParaRPr lang="en-MY" dirty="0"/>
          </a:p>
        </p:txBody>
      </p:sp>
      <p:pic>
        <p:nvPicPr>
          <p:cNvPr id="7" name="Picture 6">
            <a:extLst>
              <a:ext uri="{FF2B5EF4-FFF2-40B4-BE49-F238E27FC236}">
                <a16:creationId xmlns:a16="http://schemas.microsoft.com/office/drawing/2014/main" id="{55D27270-3801-C921-4195-18EE71BCC3FC}"/>
              </a:ext>
            </a:extLst>
          </p:cNvPr>
          <p:cNvPicPr>
            <a:picLocks noChangeAspect="1"/>
          </p:cNvPicPr>
          <p:nvPr/>
        </p:nvPicPr>
        <p:blipFill>
          <a:blip r:embed="rId2"/>
          <a:stretch>
            <a:fillRect/>
          </a:stretch>
        </p:blipFill>
        <p:spPr>
          <a:xfrm>
            <a:off x="525494" y="1511917"/>
            <a:ext cx="10561370" cy="4928640"/>
          </a:xfrm>
          <a:prstGeom prst="rect">
            <a:avLst/>
          </a:prstGeom>
        </p:spPr>
      </p:pic>
    </p:spTree>
    <p:extLst>
      <p:ext uri="{BB962C8B-B14F-4D97-AF65-F5344CB8AC3E}">
        <p14:creationId xmlns:p14="http://schemas.microsoft.com/office/powerpoint/2010/main" val="3660313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A07B4-469F-42EC-BF78-0371697F450D}"/>
              </a:ext>
            </a:extLst>
          </p:cNvPr>
          <p:cNvSpPr>
            <a:spLocks noGrp="1"/>
          </p:cNvSpPr>
          <p:nvPr>
            <p:ph type="title"/>
          </p:nvPr>
        </p:nvSpPr>
        <p:spPr>
          <a:xfrm>
            <a:off x="929379" y="212034"/>
            <a:ext cx="9905998" cy="778565"/>
          </a:xfrm>
        </p:spPr>
        <p:txBody>
          <a:bodyPr>
            <a:normAutofit/>
          </a:bodyPr>
          <a:lstStyle/>
          <a:p>
            <a:r>
              <a:rPr lang="en-US" dirty="0"/>
              <a:t>BACKGROUND OF THE FEDERAL CONSTITUTION (</a:t>
            </a:r>
            <a:r>
              <a:rPr lang="en-US" dirty="0" err="1"/>
              <a:t>i</a:t>
            </a:r>
            <a:r>
              <a:rPr lang="en-US" dirty="0"/>
              <a:t>)</a:t>
            </a:r>
            <a:endParaRPr lang="en-MY" dirty="0"/>
          </a:p>
        </p:txBody>
      </p:sp>
      <p:graphicFrame>
        <p:nvGraphicFramePr>
          <p:cNvPr id="4" name="Table 4">
            <a:extLst>
              <a:ext uri="{FF2B5EF4-FFF2-40B4-BE49-F238E27FC236}">
                <a16:creationId xmlns:a16="http://schemas.microsoft.com/office/drawing/2014/main" id="{A60F027E-C6EB-4390-BE9E-9E762A242B44}"/>
              </a:ext>
            </a:extLst>
          </p:cNvPr>
          <p:cNvGraphicFramePr>
            <a:graphicFrameLocks noGrp="1"/>
          </p:cNvGraphicFramePr>
          <p:nvPr>
            <p:ph idx="1"/>
            <p:extLst>
              <p:ext uri="{D42A27DB-BD31-4B8C-83A1-F6EECF244321}">
                <p14:modId xmlns:p14="http://schemas.microsoft.com/office/powerpoint/2010/main" val="3680141116"/>
              </p:ext>
            </p:extLst>
          </p:nvPr>
        </p:nvGraphicFramePr>
        <p:xfrm>
          <a:off x="786848" y="929325"/>
          <a:ext cx="10401300" cy="4789037"/>
        </p:xfrm>
        <a:graphic>
          <a:graphicData uri="http://schemas.openxmlformats.org/drawingml/2006/table">
            <a:tbl>
              <a:tblPr firstRow="1" bandRow="1">
                <a:tableStyleId>{5C22544A-7EE6-4342-B048-85BDC9FD1C3A}</a:tableStyleId>
              </a:tblPr>
              <a:tblGrid>
                <a:gridCol w="2764735">
                  <a:extLst>
                    <a:ext uri="{9D8B030D-6E8A-4147-A177-3AD203B41FA5}">
                      <a16:colId xmlns:a16="http://schemas.microsoft.com/office/drawing/2014/main" val="2994933947"/>
                    </a:ext>
                  </a:extLst>
                </a:gridCol>
                <a:gridCol w="7636565">
                  <a:extLst>
                    <a:ext uri="{9D8B030D-6E8A-4147-A177-3AD203B41FA5}">
                      <a16:colId xmlns:a16="http://schemas.microsoft.com/office/drawing/2014/main" val="1134026885"/>
                    </a:ext>
                  </a:extLst>
                </a:gridCol>
              </a:tblGrid>
              <a:tr h="436493">
                <a:tc>
                  <a:txBody>
                    <a:bodyPr/>
                    <a:lstStyle/>
                    <a:p>
                      <a:r>
                        <a:rPr lang="en-US" dirty="0"/>
                        <a:t>Constitution</a:t>
                      </a:r>
                      <a:endParaRPr lang="en-MY" dirty="0"/>
                    </a:p>
                  </a:txBody>
                  <a:tcPr/>
                </a:tc>
                <a:tc>
                  <a:txBody>
                    <a:bodyPr/>
                    <a:lstStyle/>
                    <a:p>
                      <a:r>
                        <a:rPr lang="en-US" dirty="0"/>
                        <a:t>Information</a:t>
                      </a:r>
                      <a:endParaRPr lang="en-MY" dirty="0"/>
                    </a:p>
                  </a:txBody>
                  <a:tcPr/>
                </a:tc>
                <a:extLst>
                  <a:ext uri="{0D108BD9-81ED-4DB2-BD59-A6C34878D82A}">
                    <a16:rowId xmlns:a16="http://schemas.microsoft.com/office/drawing/2014/main" val="3604428865"/>
                  </a:ext>
                </a:extLst>
              </a:tr>
              <a:tr h="816332">
                <a:tc>
                  <a:txBody>
                    <a:bodyPr/>
                    <a:lstStyle/>
                    <a:p>
                      <a:r>
                        <a:rPr lang="en-US" dirty="0"/>
                        <a:t>Malayan Union 1946</a:t>
                      </a:r>
                      <a:endParaRPr lang="en-MY" dirty="0"/>
                    </a:p>
                  </a:txBody>
                  <a:tcPr/>
                </a:tc>
                <a:tc>
                  <a:txBody>
                    <a:bodyPr/>
                    <a:lstStyle/>
                    <a:p>
                      <a:pPr marL="274320" indent="-274320" eaLnBrk="1" fontAlgn="auto" hangingPunct="1">
                        <a:lnSpc>
                          <a:spcPct val="110000"/>
                        </a:lnSpc>
                        <a:spcBef>
                          <a:spcPts val="0"/>
                        </a:spcBef>
                        <a:spcAft>
                          <a:spcPts val="0"/>
                        </a:spcAft>
                        <a:buFont typeface="Wingdings 2"/>
                        <a:buChar char=""/>
                        <a:defRPr/>
                      </a:pPr>
                      <a:r>
                        <a:rPr lang="en-US" sz="1800" dirty="0">
                          <a:latin typeface="Arial" pitchFamily="34" charset="0"/>
                          <a:ea typeface="ＭＳ Ｐゴシック" pitchFamily="34" charset="-128"/>
                          <a:cs typeface="Arial" pitchFamily="34" charset="0"/>
                        </a:rPr>
                        <a:t>After the end of the Second World War and Japan’s defeat, the British returned to Malaya and established the Malayan Union</a:t>
                      </a:r>
                    </a:p>
                    <a:p>
                      <a:pPr marL="274320" indent="-274320" eaLnBrk="1" fontAlgn="auto" hangingPunct="1">
                        <a:lnSpc>
                          <a:spcPct val="110000"/>
                        </a:lnSpc>
                        <a:spcBef>
                          <a:spcPts val="0"/>
                        </a:spcBef>
                        <a:spcAft>
                          <a:spcPts val="0"/>
                        </a:spcAft>
                        <a:buFont typeface="Wingdings 2"/>
                        <a:buChar char=""/>
                        <a:defRPr/>
                      </a:pPr>
                      <a:r>
                        <a:rPr lang="en-US" sz="1800" dirty="0">
                          <a:latin typeface="Arial" pitchFamily="34" charset="0"/>
                          <a:ea typeface="ＭＳ Ｐゴシック" pitchFamily="34" charset="-128"/>
                          <a:cs typeface="Arial" pitchFamily="34" charset="0"/>
                        </a:rPr>
                        <a:t>The introduction of the Malayan Union in April 1946 was opposed by the Malays and was eventually abolished</a:t>
                      </a:r>
                    </a:p>
                    <a:p>
                      <a:endParaRPr lang="en-MY" dirty="0"/>
                    </a:p>
                  </a:txBody>
                  <a:tcPr/>
                </a:tc>
                <a:extLst>
                  <a:ext uri="{0D108BD9-81ED-4DB2-BD59-A6C34878D82A}">
                    <a16:rowId xmlns:a16="http://schemas.microsoft.com/office/drawing/2014/main" val="3234350034"/>
                  </a:ext>
                </a:extLst>
              </a:tr>
              <a:tr h="816332">
                <a:tc>
                  <a:txBody>
                    <a:bodyPr/>
                    <a:lstStyle/>
                    <a:p>
                      <a:r>
                        <a:rPr lang="en-US" dirty="0"/>
                        <a:t>Federation of Malaya 1948</a:t>
                      </a:r>
                      <a:endParaRPr lang="en-MY" dirty="0"/>
                    </a:p>
                  </a:txBody>
                  <a:tcPr/>
                </a:tc>
                <a:tc>
                  <a:txBody>
                    <a:bodyPr/>
                    <a:lstStyle/>
                    <a:p>
                      <a:pPr marL="352425" indent="-352425" eaLnBrk="1" fontAlgn="auto" hangingPunct="1">
                        <a:lnSpc>
                          <a:spcPct val="110000"/>
                        </a:lnSpc>
                        <a:spcBef>
                          <a:spcPts val="0"/>
                        </a:spcBef>
                        <a:spcAft>
                          <a:spcPts val="0"/>
                        </a:spcAft>
                        <a:buFont typeface="Wingdings 2"/>
                        <a:buChar char=""/>
                        <a:defRPr/>
                      </a:pPr>
                      <a:r>
                        <a:rPr lang="en-US" sz="1800" dirty="0">
                          <a:latin typeface="Arial" pitchFamily="34" charset="0"/>
                          <a:ea typeface="ＭＳ Ｐゴシック" pitchFamily="34" charset="-128"/>
                          <a:cs typeface="Arial" pitchFamily="34" charset="0"/>
                        </a:rPr>
                        <a:t>When the Malayan Union was abolished, an agreement was made between the Malay Rulers and the British authorities, known as the Federation Agreement 1948</a:t>
                      </a:r>
                    </a:p>
                    <a:p>
                      <a:pPr marL="352425" indent="-352425" eaLnBrk="1" fontAlgn="auto" hangingPunct="1">
                        <a:lnSpc>
                          <a:spcPct val="110000"/>
                        </a:lnSpc>
                        <a:spcBef>
                          <a:spcPts val="0"/>
                        </a:spcBef>
                        <a:spcAft>
                          <a:spcPts val="0"/>
                        </a:spcAft>
                        <a:buFont typeface="Wingdings 2"/>
                        <a:buChar char=""/>
                        <a:defRPr/>
                      </a:pPr>
                      <a:r>
                        <a:rPr lang="en-US" sz="1800" dirty="0">
                          <a:latin typeface="Arial" pitchFamily="34" charset="0"/>
                          <a:ea typeface="ＭＳ Ｐゴシック" pitchFamily="34" charset="-128"/>
                          <a:cs typeface="Arial" pitchFamily="34" charset="0"/>
                        </a:rPr>
                        <a:t>The agreement led to the formation of a central government, consisting of a British High Commissioner, a Legislative Council, and an Executive Council</a:t>
                      </a:r>
                    </a:p>
                    <a:p>
                      <a:pPr marL="352425" indent="-352425" eaLnBrk="1" fontAlgn="auto" hangingPunct="1">
                        <a:lnSpc>
                          <a:spcPct val="110000"/>
                        </a:lnSpc>
                        <a:spcBef>
                          <a:spcPts val="0"/>
                        </a:spcBef>
                        <a:spcAft>
                          <a:spcPts val="0"/>
                        </a:spcAft>
                        <a:buFont typeface="Wingdings 2"/>
                        <a:buChar char=""/>
                        <a:defRPr/>
                      </a:pPr>
                      <a:r>
                        <a:rPr lang="en-US" sz="1800" dirty="0">
                          <a:latin typeface="Arial" pitchFamily="34" charset="0"/>
                          <a:ea typeface="ＭＳ Ｐゴシック" pitchFamily="34" charset="-128"/>
                          <a:cs typeface="Arial" pitchFamily="34" charset="0"/>
                        </a:rPr>
                        <a:t>This agreement also produced a new constitution for Malaya on 1 February 1948</a:t>
                      </a:r>
                    </a:p>
                    <a:p>
                      <a:endParaRPr lang="en-MY" dirty="0"/>
                    </a:p>
                  </a:txBody>
                  <a:tcPr/>
                </a:tc>
                <a:extLst>
                  <a:ext uri="{0D108BD9-81ED-4DB2-BD59-A6C34878D82A}">
                    <a16:rowId xmlns:a16="http://schemas.microsoft.com/office/drawing/2014/main" val="522196732"/>
                  </a:ext>
                </a:extLst>
              </a:tr>
            </a:tbl>
          </a:graphicData>
        </a:graphic>
      </p:graphicFrame>
    </p:spTree>
    <p:extLst>
      <p:ext uri="{BB962C8B-B14F-4D97-AF65-F5344CB8AC3E}">
        <p14:creationId xmlns:p14="http://schemas.microsoft.com/office/powerpoint/2010/main" val="2810988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C7195-CBA3-44C6-96D7-E9EAD49B2E96}"/>
              </a:ext>
            </a:extLst>
          </p:cNvPr>
          <p:cNvSpPr>
            <a:spLocks noGrp="1"/>
          </p:cNvSpPr>
          <p:nvPr>
            <p:ph type="title"/>
          </p:nvPr>
        </p:nvSpPr>
        <p:spPr>
          <a:xfrm>
            <a:off x="1141413" y="609600"/>
            <a:ext cx="9905998" cy="543339"/>
          </a:xfrm>
        </p:spPr>
        <p:txBody>
          <a:bodyPr>
            <a:normAutofit fontScale="90000"/>
          </a:bodyPr>
          <a:lstStyle/>
          <a:p>
            <a:pPr algn="ctr"/>
            <a:r>
              <a:rPr lang="en-US" dirty="0"/>
              <a:t>BACKGROUND OF THE FEDERAL CONSTITUTION (</a:t>
            </a:r>
            <a:r>
              <a:rPr lang="en-US" dirty="0" err="1"/>
              <a:t>iI</a:t>
            </a:r>
            <a:r>
              <a:rPr lang="en-US" dirty="0"/>
              <a:t>)</a:t>
            </a:r>
            <a:endParaRPr lang="en-MY" dirty="0"/>
          </a:p>
        </p:txBody>
      </p:sp>
      <p:graphicFrame>
        <p:nvGraphicFramePr>
          <p:cNvPr id="4" name="Table 4">
            <a:extLst>
              <a:ext uri="{FF2B5EF4-FFF2-40B4-BE49-F238E27FC236}">
                <a16:creationId xmlns:a16="http://schemas.microsoft.com/office/drawing/2014/main" id="{5E2A3BC7-F5D1-4BF6-B7D2-8D7D7C9377CE}"/>
              </a:ext>
            </a:extLst>
          </p:cNvPr>
          <p:cNvGraphicFramePr>
            <a:graphicFrameLocks noGrp="1"/>
          </p:cNvGraphicFramePr>
          <p:nvPr>
            <p:ph idx="1"/>
            <p:extLst>
              <p:ext uri="{D42A27DB-BD31-4B8C-83A1-F6EECF244321}">
                <p14:modId xmlns:p14="http://schemas.microsoft.com/office/powerpoint/2010/main" val="2933283684"/>
              </p:ext>
            </p:extLst>
          </p:nvPr>
        </p:nvGraphicFramePr>
        <p:xfrm>
          <a:off x="1141411" y="1152939"/>
          <a:ext cx="9905998" cy="4936186"/>
        </p:xfrm>
        <a:graphic>
          <a:graphicData uri="http://schemas.openxmlformats.org/drawingml/2006/table">
            <a:tbl>
              <a:tblPr firstRow="1" bandRow="1">
                <a:tableStyleId>{5C22544A-7EE6-4342-B048-85BDC9FD1C3A}</a:tableStyleId>
              </a:tblPr>
              <a:tblGrid>
                <a:gridCol w="3266816">
                  <a:extLst>
                    <a:ext uri="{9D8B030D-6E8A-4147-A177-3AD203B41FA5}">
                      <a16:colId xmlns:a16="http://schemas.microsoft.com/office/drawing/2014/main" val="4038601271"/>
                    </a:ext>
                  </a:extLst>
                </a:gridCol>
                <a:gridCol w="6639182">
                  <a:extLst>
                    <a:ext uri="{9D8B030D-6E8A-4147-A177-3AD203B41FA5}">
                      <a16:colId xmlns:a16="http://schemas.microsoft.com/office/drawing/2014/main" val="1792186266"/>
                    </a:ext>
                  </a:extLst>
                </a:gridCol>
              </a:tblGrid>
              <a:tr h="306374">
                <a:tc>
                  <a:txBody>
                    <a:bodyPr/>
                    <a:lstStyle/>
                    <a:p>
                      <a:r>
                        <a:rPr lang="en-US" dirty="0"/>
                        <a:t>Constitution</a:t>
                      </a:r>
                      <a:endParaRPr lang="en-MY" dirty="0"/>
                    </a:p>
                  </a:txBody>
                  <a:tcPr/>
                </a:tc>
                <a:tc>
                  <a:txBody>
                    <a:bodyPr/>
                    <a:lstStyle/>
                    <a:p>
                      <a:r>
                        <a:rPr lang="en-US" dirty="0"/>
                        <a:t>Information</a:t>
                      </a:r>
                      <a:endParaRPr lang="en-MY" dirty="0"/>
                    </a:p>
                  </a:txBody>
                  <a:tcPr/>
                </a:tc>
                <a:extLst>
                  <a:ext uri="{0D108BD9-81ED-4DB2-BD59-A6C34878D82A}">
                    <a16:rowId xmlns:a16="http://schemas.microsoft.com/office/drawing/2014/main" val="1922208398"/>
                  </a:ext>
                </a:extLst>
              </a:tr>
              <a:tr h="336171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Reid Commission (1956) and Federation of Malaya 1957</a:t>
                      </a:r>
                      <a:endParaRPr lang="en-MY" sz="1600" dirty="0"/>
                    </a:p>
                    <a:p>
                      <a:endParaRPr lang="en-MY" sz="1600" dirty="0"/>
                    </a:p>
                  </a:txBody>
                  <a:tcPr/>
                </a:tc>
                <a:tc>
                  <a:txBody>
                    <a:bodyPr/>
                    <a:lstStyle/>
                    <a:p>
                      <a:pPr marL="514350" indent="-514350" eaLnBrk="1" hangingPunct="1">
                        <a:lnSpc>
                          <a:spcPct val="90000"/>
                        </a:lnSpc>
                      </a:pPr>
                      <a:r>
                        <a:rPr lang="en-US" sz="2000" dirty="0">
                          <a:latin typeface="Arial" pitchFamily="34" charset="0"/>
                          <a:ea typeface="ＭＳ Ｐゴシック" pitchFamily="34" charset="-128"/>
                          <a:cs typeface="Arial" pitchFamily="34" charset="0"/>
                        </a:rPr>
                        <a:t>The Reid Commission held a referendum for all the people of Malaya,. Including the civilian, political parties, public bodies, and others, </a:t>
                      </a:r>
                      <a:r>
                        <a:rPr lang="en-US" sz="2000" b="1" dirty="0">
                          <a:latin typeface="Arial" pitchFamily="34" charset="0"/>
                          <a:ea typeface="ＭＳ Ｐゴシック" pitchFamily="34" charset="-128"/>
                          <a:cs typeface="Arial" pitchFamily="34" charset="0"/>
                        </a:rPr>
                        <a:t>receiving 131 proposals</a:t>
                      </a:r>
                      <a:r>
                        <a:rPr lang="en-US" sz="2000" dirty="0">
                          <a:latin typeface="Arial" pitchFamily="34" charset="0"/>
                          <a:ea typeface="ＭＳ Ｐゴシック" pitchFamily="34" charset="-128"/>
                          <a:cs typeface="Arial" pitchFamily="34" charset="0"/>
                        </a:rPr>
                        <a:t>.</a:t>
                      </a:r>
                    </a:p>
                    <a:p>
                      <a:pPr marL="514350" indent="-514350" eaLnBrk="1" hangingPunct="1">
                        <a:lnSpc>
                          <a:spcPct val="90000"/>
                        </a:lnSpc>
                      </a:pPr>
                      <a:r>
                        <a:rPr lang="en-US" sz="2000" dirty="0">
                          <a:latin typeface="Arial" pitchFamily="34" charset="0"/>
                          <a:ea typeface="ＭＳ Ｐゴシック" pitchFamily="34" charset="-128"/>
                          <a:cs typeface="Arial" pitchFamily="34" charset="0"/>
                        </a:rPr>
                        <a:t>A draft constitution for the Federation was formed in 1957. After contributions from the Alliance and Malay rulers, the final draft was adopted into the </a:t>
                      </a:r>
                      <a:r>
                        <a:rPr lang="en-US" sz="2000" b="1" dirty="0">
                          <a:latin typeface="Arial" pitchFamily="34" charset="0"/>
                          <a:ea typeface="ＭＳ Ｐゴシック" pitchFamily="34" charset="-128"/>
                          <a:cs typeface="Arial" pitchFamily="34" charset="0"/>
                        </a:rPr>
                        <a:t>Constitution of the Federation of Malaya</a:t>
                      </a:r>
                      <a:r>
                        <a:rPr lang="en-US" sz="2000" dirty="0">
                          <a:latin typeface="Arial" pitchFamily="34" charset="0"/>
                          <a:ea typeface="ＭＳ Ｐゴシック" pitchFamily="34" charset="-128"/>
                          <a:cs typeface="Arial" pitchFamily="34" charset="0"/>
                        </a:rPr>
                        <a:t> on 31 August 1957 as a free and sovereign country</a:t>
                      </a:r>
                    </a:p>
                    <a:p>
                      <a:endParaRPr lang="en-MY" sz="1600" dirty="0"/>
                    </a:p>
                  </a:txBody>
                  <a:tcPr/>
                </a:tc>
                <a:extLst>
                  <a:ext uri="{0D108BD9-81ED-4DB2-BD59-A6C34878D82A}">
                    <a16:rowId xmlns:a16="http://schemas.microsoft.com/office/drawing/2014/main" val="2481573818"/>
                  </a:ext>
                </a:extLst>
              </a:tr>
              <a:tr h="120870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Constitution of Malaysia 1963</a:t>
                      </a:r>
                      <a:endParaRPr lang="en-MY" sz="1600" dirty="0"/>
                    </a:p>
                    <a:p>
                      <a:endParaRPr lang="en-MY"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Amendments in the 1957 Constitution was made to take into account Singapore, Sarawak, and Sabah’s entry into the Federation of Malaysia</a:t>
                      </a:r>
                      <a:endParaRPr lang="en-MY" sz="1600" dirty="0"/>
                    </a:p>
                    <a:p>
                      <a:endParaRPr lang="en-MY" sz="1600" dirty="0"/>
                    </a:p>
                  </a:txBody>
                  <a:tcPr/>
                </a:tc>
                <a:extLst>
                  <a:ext uri="{0D108BD9-81ED-4DB2-BD59-A6C34878D82A}">
                    <a16:rowId xmlns:a16="http://schemas.microsoft.com/office/drawing/2014/main" val="403222783"/>
                  </a:ext>
                </a:extLst>
              </a:tr>
            </a:tbl>
          </a:graphicData>
        </a:graphic>
      </p:graphicFrame>
    </p:spTree>
    <p:extLst>
      <p:ext uri="{BB962C8B-B14F-4D97-AF65-F5344CB8AC3E}">
        <p14:creationId xmlns:p14="http://schemas.microsoft.com/office/powerpoint/2010/main" val="3906174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404EF-DC10-4987-BE6C-882B0EAC28BE}"/>
              </a:ext>
            </a:extLst>
          </p:cNvPr>
          <p:cNvSpPr>
            <a:spLocks noGrp="1"/>
          </p:cNvSpPr>
          <p:nvPr>
            <p:ph type="title"/>
          </p:nvPr>
        </p:nvSpPr>
        <p:spPr>
          <a:xfrm>
            <a:off x="784329" y="344555"/>
            <a:ext cx="10623341" cy="579783"/>
          </a:xfrm>
        </p:spPr>
        <p:txBody>
          <a:bodyPr/>
          <a:lstStyle/>
          <a:p>
            <a:pPr algn="ctr"/>
            <a:r>
              <a:rPr lang="en-US" dirty="0"/>
              <a:t>REID COMMISSION</a:t>
            </a:r>
            <a:endParaRPr lang="en-MY" dirty="0"/>
          </a:p>
        </p:txBody>
      </p:sp>
      <p:sp>
        <p:nvSpPr>
          <p:cNvPr id="3" name="Content Placeholder 2">
            <a:extLst>
              <a:ext uri="{FF2B5EF4-FFF2-40B4-BE49-F238E27FC236}">
                <a16:creationId xmlns:a16="http://schemas.microsoft.com/office/drawing/2014/main" id="{2CA604E5-754A-4B92-8A64-30DF73124552}"/>
              </a:ext>
            </a:extLst>
          </p:cNvPr>
          <p:cNvSpPr>
            <a:spLocks noGrp="1"/>
          </p:cNvSpPr>
          <p:nvPr>
            <p:ph idx="1"/>
          </p:nvPr>
        </p:nvSpPr>
        <p:spPr>
          <a:xfrm>
            <a:off x="1205947" y="1089992"/>
            <a:ext cx="9284872" cy="1905000"/>
          </a:xfrm>
        </p:spPr>
        <p:txBody>
          <a:bodyPr>
            <a:normAutofit/>
          </a:bodyPr>
          <a:lstStyle/>
          <a:p>
            <a:r>
              <a:rPr lang="en-US" dirty="0"/>
              <a:t>After the General Elections of 1955, the Alliance Party, which </a:t>
            </a:r>
            <a:r>
              <a:rPr lang="en-US" dirty="0" err="1"/>
              <a:t>wonwith</a:t>
            </a:r>
            <a:r>
              <a:rPr lang="en-US" dirty="0"/>
              <a:t> a convincing majority, demanded the British to hold a Constitutional Conference in London to enact a constitution for an independent Malaya.</a:t>
            </a:r>
          </a:p>
          <a:p>
            <a:r>
              <a:rPr lang="en-US" dirty="0"/>
              <a:t>This Conference formed the </a:t>
            </a:r>
            <a:r>
              <a:rPr lang="en-US" b="1" dirty="0"/>
              <a:t>Federation of Malaya Constitutional Commission</a:t>
            </a:r>
            <a:endParaRPr lang="en-MY" b="1" dirty="0"/>
          </a:p>
        </p:txBody>
      </p:sp>
      <p:graphicFrame>
        <p:nvGraphicFramePr>
          <p:cNvPr id="5" name="Table 5">
            <a:extLst>
              <a:ext uri="{FF2B5EF4-FFF2-40B4-BE49-F238E27FC236}">
                <a16:creationId xmlns:a16="http://schemas.microsoft.com/office/drawing/2014/main" id="{148EBC09-D02C-41AF-B6E3-5980C91A2635}"/>
              </a:ext>
            </a:extLst>
          </p:cNvPr>
          <p:cNvGraphicFramePr>
            <a:graphicFrameLocks noGrp="1"/>
          </p:cNvGraphicFramePr>
          <p:nvPr>
            <p:extLst>
              <p:ext uri="{D42A27DB-BD31-4B8C-83A1-F6EECF244321}">
                <p14:modId xmlns:p14="http://schemas.microsoft.com/office/powerpoint/2010/main" val="1817536119"/>
              </p:ext>
            </p:extLst>
          </p:nvPr>
        </p:nvGraphicFramePr>
        <p:xfrm>
          <a:off x="1435652" y="3160646"/>
          <a:ext cx="8914296" cy="2935356"/>
        </p:xfrm>
        <a:graphic>
          <a:graphicData uri="http://schemas.openxmlformats.org/drawingml/2006/table">
            <a:tbl>
              <a:tblPr firstRow="1" bandRow="1">
                <a:tableStyleId>{5C22544A-7EE6-4342-B048-85BDC9FD1C3A}</a:tableStyleId>
              </a:tblPr>
              <a:tblGrid>
                <a:gridCol w="4457148">
                  <a:extLst>
                    <a:ext uri="{9D8B030D-6E8A-4147-A177-3AD203B41FA5}">
                      <a16:colId xmlns:a16="http://schemas.microsoft.com/office/drawing/2014/main" val="1608553074"/>
                    </a:ext>
                  </a:extLst>
                </a:gridCol>
                <a:gridCol w="4457148">
                  <a:extLst>
                    <a:ext uri="{9D8B030D-6E8A-4147-A177-3AD203B41FA5}">
                      <a16:colId xmlns:a16="http://schemas.microsoft.com/office/drawing/2014/main" val="2671244579"/>
                    </a:ext>
                  </a:extLst>
                </a:gridCol>
              </a:tblGrid>
              <a:tr h="489226">
                <a:tc>
                  <a:txBody>
                    <a:bodyPr/>
                    <a:lstStyle/>
                    <a:p>
                      <a:r>
                        <a:rPr lang="en-US" dirty="0"/>
                        <a:t>Commission members</a:t>
                      </a:r>
                      <a:endParaRPr lang="en-MY" dirty="0"/>
                    </a:p>
                  </a:txBody>
                  <a:tcPr/>
                </a:tc>
                <a:tc>
                  <a:txBody>
                    <a:bodyPr/>
                    <a:lstStyle/>
                    <a:p>
                      <a:r>
                        <a:rPr lang="en-US" dirty="0"/>
                        <a:t>Country</a:t>
                      </a:r>
                      <a:endParaRPr lang="en-MY" dirty="0"/>
                    </a:p>
                  </a:txBody>
                  <a:tcPr/>
                </a:tc>
                <a:extLst>
                  <a:ext uri="{0D108BD9-81ED-4DB2-BD59-A6C34878D82A}">
                    <a16:rowId xmlns:a16="http://schemas.microsoft.com/office/drawing/2014/main" val="1008603353"/>
                  </a:ext>
                </a:extLst>
              </a:tr>
              <a:tr h="489226">
                <a:tc>
                  <a:txBody>
                    <a:bodyPr/>
                    <a:lstStyle/>
                    <a:p>
                      <a:r>
                        <a:rPr lang="en-US" dirty="0"/>
                        <a:t>Lord Reid (chairman)</a:t>
                      </a:r>
                      <a:endParaRPr lang="en-MY" dirty="0"/>
                    </a:p>
                  </a:txBody>
                  <a:tcPr/>
                </a:tc>
                <a:tc>
                  <a:txBody>
                    <a:bodyPr/>
                    <a:lstStyle/>
                    <a:p>
                      <a:r>
                        <a:rPr lang="en-US" dirty="0"/>
                        <a:t>UK</a:t>
                      </a:r>
                      <a:endParaRPr lang="en-MY" dirty="0"/>
                    </a:p>
                  </a:txBody>
                  <a:tcPr/>
                </a:tc>
                <a:extLst>
                  <a:ext uri="{0D108BD9-81ED-4DB2-BD59-A6C34878D82A}">
                    <a16:rowId xmlns:a16="http://schemas.microsoft.com/office/drawing/2014/main" val="3484953347"/>
                  </a:ext>
                </a:extLst>
              </a:tr>
              <a:tr h="489226">
                <a:tc>
                  <a:txBody>
                    <a:bodyPr/>
                    <a:lstStyle/>
                    <a:p>
                      <a:r>
                        <a:rPr lang="en-US" dirty="0"/>
                        <a:t>Sir Ivor Jennings</a:t>
                      </a:r>
                      <a:endParaRPr lang="en-MY" dirty="0"/>
                    </a:p>
                  </a:txBody>
                  <a:tcPr/>
                </a:tc>
                <a:tc>
                  <a:txBody>
                    <a:bodyPr/>
                    <a:lstStyle/>
                    <a:p>
                      <a:r>
                        <a:rPr lang="en-US" dirty="0"/>
                        <a:t>UK</a:t>
                      </a:r>
                      <a:endParaRPr lang="en-MY" dirty="0"/>
                    </a:p>
                  </a:txBody>
                  <a:tcPr/>
                </a:tc>
                <a:extLst>
                  <a:ext uri="{0D108BD9-81ED-4DB2-BD59-A6C34878D82A}">
                    <a16:rowId xmlns:a16="http://schemas.microsoft.com/office/drawing/2014/main" val="2720894283"/>
                  </a:ext>
                </a:extLst>
              </a:tr>
              <a:tr h="489226">
                <a:tc>
                  <a:txBody>
                    <a:bodyPr/>
                    <a:lstStyle/>
                    <a:p>
                      <a:r>
                        <a:rPr lang="en-US" dirty="0"/>
                        <a:t>Sir William </a:t>
                      </a:r>
                      <a:r>
                        <a:rPr lang="en-US" dirty="0" err="1"/>
                        <a:t>McKell</a:t>
                      </a:r>
                      <a:endParaRPr lang="en-MY" dirty="0"/>
                    </a:p>
                  </a:txBody>
                  <a:tcPr/>
                </a:tc>
                <a:tc>
                  <a:txBody>
                    <a:bodyPr/>
                    <a:lstStyle/>
                    <a:p>
                      <a:r>
                        <a:rPr lang="en-US" dirty="0"/>
                        <a:t>Australia</a:t>
                      </a:r>
                      <a:endParaRPr lang="en-MY" dirty="0"/>
                    </a:p>
                  </a:txBody>
                  <a:tcPr/>
                </a:tc>
                <a:extLst>
                  <a:ext uri="{0D108BD9-81ED-4DB2-BD59-A6C34878D82A}">
                    <a16:rowId xmlns:a16="http://schemas.microsoft.com/office/drawing/2014/main" val="1841969251"/>
                  </a:ext>
                </a:extLst>
              </a:tr>
              <a:tr h="489226">
                <a:tc>
                  <a:txBody>
                    <a:bodyPr/>
                    <a:lstStyle/>
                    <a:p>
                      <a:r>
                        <a:rPr lang="en-US" dirty="0"/>
                        <a:t>B. Malik</a:t>
                      </a:r>
                      <a:endParaRPr lang="en-MY" dirty="0"/>
                    </a:p>
                  </a:txBody>
                  <a:tcPr/>
                </a:tc>
                <a:tc>
                  <a:txBody>
                    <a:bodyPr/>
                    <a:lstStyle/>
                    <a:p>
                      <a:r>
                        <a:rPr lang="en-US" dirty="0"/>
                        <a:t>India</a:t>
                      </a:r>
                      <a:endParaRPr lang="en-MY" dirty="0"/>
                    </a:p>
                  </a:txBody>
                  <a:tcPr/>
                </a:tc>
                <a:extLst>
                  <a:ext uri="{0D108BD9-81ED-4DB2-BD59-A6C34878D82A}">
                    <a16:rowId xmlns:a16="http://schemas.microsoft.com/office/drawing/2014/main" val="814968240"/>
                  </a:ext>
                </a:extLst>
              </a:tr>
              <a:tr h="489226">
                <a:tc>
                  <a:txBody>
                    <a:bodyPr/>
                    <a:lstStyle/>
                    <a:p>
                      <a:r>
                        <a:rPr lang="en-US" dirty="0"/>
                        <a:t>Hakim Abdul Hamid</a:t>
                      </a:r>
                      <a:endParaRPr lang="en-MY" dirty="0"/>
                    </a:p>
                  </a:txBody>
                  <a:tcPr/>
                </a:tc>
                <a:tc>
                  <a:txBody>
                    <a:bodyPr/>
                    <a:lstStyle/>
                    <a:p>
                      <a:r>
                        <a:rPr lang="en-US" dirty="0"/>
                        <a:t>Pakistan</a:t>
                      </a:r>
                      <a:endParaRPr lang="en-MY" dirty="0"/>
                    </a:p>
                  </a:txBody>
                  <a:tcPr/>
                </a:tc>
                <a:extLst>
                  <a:ext uri="{0D108BD9-81ED-4DB2-BD59-A6C34878D82A}">
                    <a16:rowId xmlns:a16="http://schemas.microsoft.com/office/drawing/2014/main" val="1710864600"/>
                  </a:ext>
                </a:extLst>
              </a:tr>
            </a:tbl>
          </a:graphicData>
        </a:graphic>
      </p:graphicFrame>
    </p:spTree>
    <p:extLst>
      <p:ext uri="{BB962C8B-B14F-4D97-AF65-F5344CB8AC3E}">
        <p14:creationId xmlns:p14="http://schemas.microsoft.com/office/powerpoint/2010/main" val="3482983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9905998" cy="841513"/>
          </a:xfrm>
        </p:spPr>
        <p:txBody>
          <a:bodyPr/>
          <a:lstStyle/>
          <a:p>
            <a:pPr algn="ctr"/>
            <a:r>
              <a:rPr lang="en-US" b="1" dirty="0"/>
              <a:t>Reid </a:t>
            </a:r>
            <a:r>
              <a:rPr lang="en-US" b="1" dirty="0" err="1"/>
              <a:t>Commision</a:t>
            </a:r>
            <a:endParaRPr lang="en-US" dirty="0"/>
          </a:p>
        </p:txBody>
      </p:sp>
      <p:pic>
        <p:nvPicPr>
          <p:cNvPr id="4" name="Content Placeholder 3"/>
          <p:cNvPicPr>
            <a:picLocks noGrp="1" noChangeAspect="1"/>
          </p:cNvPicPr>
          <p:nvPr>
            <p:ph idx="1"/>
          </p:nvPr>
        </p:nvPicPr>
        <p:blipFill>
          <a:blip r:embed="rId2" cstate="print">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2448339" y="1451112"/>
            <a:ext cx="7182678" cy="492295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166935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2ACA4-C8F0-47D9-BA48-8E13C7F2D9FC}"/>
              </a:ext>
            </a:extLst>
          </p:cNvPr>
          <p:cNvSpPr>
            <a:spLocks noGrp="1"/>
          </p:cNvSpPr>
          <p:nvPr>
            <p:ph type="title"/>
          </p:nvPr>
        </p:nvSpPr>
        <p:spPr>
          <a:xfrm>
            <a:off x="626165" y="215348"/>
            <a:ext cx="10938563" cy="1186069"/>
          </a:xfrm>
        </p:spPr>
        <p:txBody>
          <a:bodyPr/>
          <a:lstStyle/>
          <a:p>
            <a:pPr algn="ctr"/>
            <a:r>
              <a:rPr lang="en-US" dirty="0"/>
              <a:t>MALAYSIAN CONSTITUTIONS</a:t>
            </a:r>
            <a:endParaRPr lang="en-MY" dirty="0"/>
          </a:p>
        </p:txBody>
      </p:sp>
      <p:graphicFrame>
        <p:nvGraphicFramePr>
          <p:cNvPr id="6" name="Table 4">
            <a:extLst>
              <a:ext uri="{FF2B5EF4-FFF2-40B4-BE49-F238E27FC236}">
                <a16:creationId xmlns:a16="http://schemas.microsoft.com/office/drawing/2014/main" id="{330CF035-2E73-437B-9CE6-0D3E8C37A5A1}"/>
              </a:ext>
            </a:extLst>
          </p:cNvPr>
          <p:cNvGraphicFramePr>
            <a:graphicFrameLocks noGrp="1"/>
          </p:cNvGraphicFramePr>
          <p:nvPr>
            <p:extLst>
              <p:ext uri="{D42A27DB-BD31-4B8C-83A1-F6EECF244321}">
                <p14:modId xmlns:p14="http://schemas.microsoft.com/office/powerpoint/2010/main" val="265533296"/>
              </p:ext>
            </p:extLst>
          </p:nvPr>
        </p:nvGraphicFramePr>
        <p:xfrm>
          <a:off x="347871" y="1673822"/>
          <a:ext cx="11390242" cy="3989414"/>
        </p:xfrm>
        <a:graphic>
          <a:graphicData uri="http://schemas.openxmlformats.org/drawingml/2006/table">
            <a:tbl>
              <a:tblPr firstRow="1" bandRow="1">
                <a:tableStyleId>{5C22544A-7EE6-4342-B048-85BDC9FD1C3A}</a:tableStyleId>
              </a:tblPr>
              <a:tblGrid>
                <a:gridCol w="3100262">
                  <a:extLst>
                    <a:ext uri="{9D8B030D-6E8A-4147-A177-3AD203B41FA5}">
                      <a16:colId xmlns:a16="http://schemas.microsoft.com/office/drawing/2014/main" val="3374345447"/>
                    </a:ext>
                  </a:extLst>
                </a:gridCol>
                <a:gridCol w="8289980">
                  <a:extLst>
                    <a:ext uri="{9D8B030D-6E8A-4147-A177-3AD203B41FA5}">
                      <a16:colId xmlns:a16="http://schemas.microsoft.com/office/drawing/2014/main" val="2558149569"/>
                    </a:ext>
                  </a:extLst>
                </a:gridCol>
              </a:tblGrid>
              <a:tr h="335863">
                <a:tc>
                  <a:txBody>
                    <a:bodyPr/>
                    <a:lstStyle/>
                    <a:p>
                      <a:r>
                        <a:rPr lang="en-US" dirty="0"/>
                        <a:t>TYPE</a:t>
                      </a:r>
                      <a:endParaRPr lang="en-MY" dirty="0"/>
                    </a:p>
                  </a:txBody>
                  <a:tcPr/>
                </a:tc>
                <a:tc>
                  <a:txBody>
                    <a:bodyPr/>
                    <a:lstStyle/>
                    <a:p>
                      <a:r>
                        <a:rPr lang="en-US" dirty="0"/>
                        <a:t>DETAILS</a:t>
                      </a:r>
                      <a:endParaRPr lang="en-MY" dirty="0"/>
                    </a:p>
                  </a:txBody>
                  <a:tcPr/>
                </a:tc>
                <a:extLst>
                  <a:ext uri="{0D108BD9-81ED-4DB2-BD59-A6C34878D82A}">
                    <a16:rowId xmlns:a16="http://schemas.microsoft.com/office/drawing/2014/main" val="2556406143"/>
                  </a:ext>
                </a:extLst>
              </a:tr>
              <a:tr h="1427419">
                <a:tc>
                  <a:txBody>
                    <a:bodyPr/>
                    <a:lstStyle/>
                    <a:p>
                      <a:pPr lvl="0"/>
                      <a:r>
                        <a:rPr lang="en-US" sz="2400" kern="1200" dirty="0">
                          <a:solidFill>
                            <a:schemeClr val="dk1"/>
                          </a:solidFill>
                          <a:effectLst/>
                          <a:latin typeface="+mn-lt"/>
                          <a:ea typeface="+mn-ea"/>
                          <a:cs typeface="+mn-cs"/>
                        </a:rPr>
                        <a:t>Federal constitution (The Federal Constitution of Malaysia 1963)</a:t>
                      </a:r>
                      <a:endParaRPr lang="en-MY" sz="2400" kern="1200" dirty="0">
                        <a:solidFill>
                          <a:schemeClr val="dk1"/>
                        </a:solidFill>
                        <a:effectLst/>
                        <a:latin typeface="+mn-lt"/>
                        <a:ea typeface="+mn-ea"/>
                        <a:cs typeface="+mn-cs"/>
                      </a:endParaRPr>
                    </a:p>
                  </a:txBody>
                  <a:tcPr/>
                </a:tc>
                <a:tc>
                  <a:txBody>
                    <a:bodyPr/>
                    <a:lstStyle/>
                    <a:p>
                      <a:pPr marL="742950" lvl="1" indent="-285750">
                        <a:buFont typeface="Arial" panose="020B0604020202020204" pitchFamily="34" charset="0"/>
                        <a:buChar char="•"/>
                      </a:pPr>
                      <a:r>
                        <a:rPr lang="en-US" sz="2400" kern="1200" dirty="0">
                          <a:solidFill>
                            <a:schemeClr val="dk1"/>
                          </a:solidFill>
                          <a:effectLst/>
                          <a:latin typeface="+mn-lt"/>
                          <a:ea typeface="+mn-ea"/>
                          <a:cs typeface="+mn-cs"/>
                        </a:rPr>
                        <a:t>Basic framework that provides the foundation for the whole country and federation – the merger of Malaysia with Sabah and Sarawak</a:t>
                      </a:r>
                      <a:endParaRPr lang="en-MY" sz="2400" kern="1200" dirty="0">
                        <a:solidFill>
                          <a:schemeClr val="dk1"/>
                        </a:solidFill>
                        <a:effectLst/>
                        <a:latin typeface="+mn-lt"/>
                        <a:ea typeface="+mn-ea"/>
                        <a:cs typeface="+mn-cs"/>
                      </a:endParaRPr>
                    </a:p>
                    <a:p>
                      <a:pPr marL="285750" indent="-285750">
                        <a:buFont typeface="Arial" panose="020B0604020202020204" pitchFamily="34" charset="0"/>
                        <a:buChar char="•"/>
                      </a:pPr>
                      <a:endParaRPr lang="en-US" dirty="0"/>
                    </a:p>
                  </a:txBody>
                  <a:tcPr/>
                </a:tc>
                <a:extLst>
                  <a:ext uri="{0D108BD9-81ED-4DB2-BD59-A6C34878D82A}">
                    <a16:rowId xmlns:a16="http://schemas.microsoft.com/office/drawing/2014/main" val="813537778"/>
                  </a:ext>
                </a:extLst>
              </a:tr>
              <a:tr h="2069174">
                <a:tc>
                  <a:txBody>
                    <a:bodyPr/>
                    <a:lstStyle/>
                    <a:p>
                      <a:pPr lvl="0"/>
                      <a:endParaRPr lang="en-US" sz="2400" kern="1200" dirty="0">
                        <a:solidFill>
                          <a:schemeClr val="dk1"/>
                        </a:solidFill>
                        <a:effectLst/>
                        <a:latin typeface="+mn-lt"/>
                        <a:ea typeface="+mn-ea"/>
                        <a:cs typeface="+mn-cs"/>
                      </a:endParaRPr>
                    </a:p>
                    <a:p>
                      <a:pPr lvl="0"/>
                      <a:endParaRPr lang="en-US" sz="2400" kern="1200" dirty="0">
                        <a:solidFill>
                          <a:schemeClr val="dk1"/>
                        </a:solidFill>
                        <a:effectLst/>
                        <a:latin typeface="+mn-lt"/>
                        <a:ea typeface="+mn-ea"/>
                        <a:cs typeface="+mn-cs"/>
                      </a:endParaRPr>
                    </a:p>
                    <a:p>
                      <a:pPr lvl="0"/>
                      <a:r>
                        <a:rPr lang="en-US" sz="2400" kern="1200" dirty="0">
                          <a:solidFill>
                            <a:schemeClr val="dk1"/>
                          </a:solidFill>
                          <a:effectLst/>
                          <a:latin typeface="+mn-lt"/>
                          <a:ea typeface="+mn-ea"/>
                          <a:cs typeface="+mn-cs"/>
                        </a:rPr>
                        <a:t>State constitution</a:t>
                      </a:r>
                      <a:endParaRPr lang="en-MY" sz="2400" kern="1200" dirty="0">
                        <a:solidFill>
                          <a:schemeClr val="dk1"/>
                        </a:solidFill>
                        <a:effectLst/>
                        <a:latin typeface="+mn-lt"/>
                        <a:ea typeface="+mn-ea"/>
                        <a:cs typeface="+mn-cs"/>
                      </a:endParaRPr>
                    </a:p>
                  </a:txBody>
                  <a:tcPr/>
                </a:tc>
                <a:tc>
                  <a:txBody>
                    <a:bodyPr/>
                    <a:lstStyle/>
                    <a:p>
                      <a:pPr lvl="1"/>
                      <a:r>
                        <a:rPr lang="en-US" dirty="0"/>
                        <a:t>•	</a:t>
                      </a:r>
                      <a:r>
                        <a:rPr lang="en-US" sz="2400" kern="1200" dirty="0">
                          <a:solidFill>
                            <a:schemeClr val="dk1"/>
                          </a:solidFill>
                          <a:effectLst/>
                          <a:latin typeface="+mn-lt"/>
                          <a:ea typeface="+mn-ea"/>
                          <a:cs typeface="+mn-cs"/>
                        </a:rPr>
                        <a:t>Each state has their own constitution (13 states)</a:t>
                      </a:r>
                      <a:endParaRPr lang="en-MY" sz="2400" kern="1200" dirty="0">
                        <a:solidFill>
                          <a:schemeClr val="dk1"/>
                        </a:solidFill>
                        <a:effectLst/>
                        <a:latin typeface="+mn-lt"/>
                        <a:ea typeface="+mn-ea"/>
                        <a:cs typeface="+mn-cs"/>
                      </a:endParaRPr>
                    </a:p>
                    <a:p>
                      <a:pPr lvl="1"/>
                      <a:r>
                        <a:rPr lang="en-US" sz="2400" kern="1200" dirty="0">
                          <a:solidFill>
                            <a:schemeClr val="dk1"/>
                          </a:solidFill>
                          <a:effectLst/>
                          <a:latin typeface="+mn-lt"/>
                          <a:ea typeface="+mn-ea"/>
                          <a:cs typeface="+mn-cs"/>
                        </a:rPr>
                        <a:t>Based on the provision given by the Federal Constitution</a:t>
                      </a:r>
                      <a:endParaRPr lang="en-MY" sz="2400" kern="1200" dirty="0">
                        <a:solidFill>
                          <a:schemeClr val="dk1"/>
                        </a:solidFill>
                        <a:effectLst/>
                        <a:latin typeface="+mn-lt"/>
                        <a:ea typeface="+mn-ea"/>
                        <a:cs typeface="+mn-cs"/>
                      </a:endParaRPr>
                    </a:p>
                  </a:txBody>
                  <a:tcPr/>
                </a:tc>
                <a:extLst>
                  <a:ext uri="{0D108BD9-81ED-4DB2-BD59-A6C34878D82A}">
                    <a16:rowId xmlns:a16="http://schemas.microsoft.com/office/drawing/2014/main" val="339554867"/>
                  </a:ext>
                </a:extLst>
              </a:tr>
            </a:tbl>
          </a:graphicData>
        </a:graphic>
      </p:graphicFrame>
    </p:spTree>
    <p:extLst>
      <p:ext uri="{BB962C8B-B14F-4D97-AF65-F5344CB8AC3E}">
        <p14:creationId xmlns:p14="http://schemas.microsoft.com/office/powerpoint/2010/main" val="2361161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EA0F2-B77A-5EFF-5E22-A5DFD85E47B0}"/>
              </a:ext>
            </a:extLst>
          </p:cNvPr>
          <p:cNvSpPr>
            <a:spLocks noGrp="1"/>
          </p:cNvSpPr>
          <p:nvPr>
            <p:ph type="title"/>
          </p:nvPr>
        </p:nvSpPr>
        <p:spPr>
          <a:xfrm>
            <a:off x="389351" y="321366"/>
            <a:ext cx="11410122" cy="1348408"/>
          </a:xfrm>
        </p:spPr>
        <p:txBody>
          <a:bodyPr/>
          <a:lstStyle/>
          <a:p>
            <a:pPr algn="ctr">
              <a:spcAft>
                <a:spcPts val="800"/>
              </a:spcAft>
            </a:pPr>
            <a:r>
              <a:rPr lang="en-US" sz="3200" b="1" dirty="0">
                <a:effectLst/>
                <a:latin typeface="Times New Roman" panose="02020603050405020304" pitchFamily="18" charset="0"/>
                <a:ea typeface="Times New Roman" panose="02020603050405020304" pitchFamily="18" charset="0"/>
              </a:rPr>
              <a:t>THE POSITION OF THE CONSTITUTION IN MALAYSIAN LEGAL SYSTEM</a:t>
            </a:r>
            <a:endParaRPr lang="en-MY" dirty="0"/>
          </a:p>
        </p:txBody>
      </p:sp>
      <p:pic>
        <p:nvPicPr>
          <p:cNvPr id="4" name="Picture 3">
            <a:extLst>
              <a:ext uri="{FF2B5EF4-FFF2-40B4-BE49-F238E27FC236}">
                <a16:creationId xmlns:a16="http://schemas.microsoft.com/office/drawing/2014/main" id="{75000F7D-7A8D-BBED-2469-56E40BD1A7E3}"/>
              </a:ext>
            </a:extLst>
          </p:cNvPr>
          <p:cNvPicPr>
            <a:picLocks noChangeAspect="1"/>
          </p:cNvPicPr>
          <p:nvPr/>
        </p:nvPicPr>
        <p:blipFill>
          <a:blip r:embed="rId2"/>
          <a:stretch>
            <a:fillRect/>
          </a:stretch>
        </p:blipFill>
        <p:spPr>
          <a:xfrm>
            <a:off x="824948" y="1958008"/>
            <a:ext cx="10744200" cy="4651513"/>
          </a:xfrm>
          <a:prstGeom prst="rect">
            <a:avLst/>
          </a:prstGeom>
        </p:spPr>
      </p:pic>
    </p:spTree>
    <p:extLst>
      <p:ext uri="{BB962C8B-B14F-4D97-AF65-F5344CB8AC3E}">
        <p14:creationId xmlns:p14="http://schemas.microsoft.com/office/powerpoint/2010/main" val="3008008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E1362-DD00-4CF4-B3A8-2699C2801C70}"/>
              </a:ext>
            </a:extLst>
          </p:cNvPr>
          <p:cNvSpPr>
            <a:spLocks noGrp="1"/>
          </p:cNvSpPr>
          <p:nvPr>
            <p:ph type="title"/>
          </p:nvPr>
        </p:nvSpPr>
        <p:spPr>
          <a:xfrm>
            <a:off x="278296" y="419100"/>
            <a:ext cx="11439939" cy="843170"/>
          </a:xfrm>
        </p:spPr>
        <p:txBody>
          <a:bodyPr>
            <a:normAutofit/>
          </a:bodyPr>
          <a:lstStyle/>
          <a:p>
            <a:pPr algn="ctr"/>
            <a:r>
              <a:rPr lang="en-US" dirty="0"/>
              <a:t>BASIS OF THE FEDERAL CONSTITUTION OF MALAYSIA </a:t>
            </a:r>
            <a:endParaRPr lang="en-MY" dirty="0"/>
          </a:p>
        </p:txBody>
      </p:sp>
      <p:sp>
        <p:nvSpPr>
          <p:cNvPr id="5" name="Content Placeholder 4">
            <a:extLst>
              <a:ext uri="{FF2B5EF4-FFF2-40B4-BE49-F238E27FC236}">
                <a16:creationId xmlns:a16="http://schemas.microsoft.com/office/drawing/2014/main" id="{01CCE812-2944-D3D8-D337-AC43D5FDB766}"/>
              </a:ext>
            </a:extLst>
          </p:cNvPr>
          <p:cNvSpPr>
            <a:spLocks noGrp="1"/>
          </p:cNvSpPr>
          <p:nvPr>
            <p:ph idx="1"/>
          </p:nvPr>
        </p:nvSpPr>
        <p:spPr>
          <a:xfrm>
            <a:off x="357809" y="1500809"/>
            <a:ext cx="11678477" cy="5138530"/>
          </a:xfrm>
        </p:spPr>
        <p:txBody>
          <a:bodyPr/>
          <a:lstStyle/>
          <a:p>
            <a:r>
              <a:rPr lang="en-US" sz="2800" b="1" dirty="0"/>
              <a:t>Parliamentary Democracy </a:t>
            </a:r>
          </a:p>
          <a:p>
            <a:r>
              <a:rPr lang="en-US" sz="2800" b="1" dirty="0"/>
              <a:t>Constitutional Monarchy </a:t>
            </a:r>
          </a:p>
          <a:p>
            <a:r>
              <a:rPr lang="en-US" sz="2800" b="1" dirty="0"/>
              <a:t>Federation Country (Federal and State Governments) </a:t>
            </a:r>
          </a:p>
          <a:p>
            <a:r>
              <a:rPr lang="en-US" sz="2800" b="1" dirty="0"/>
              <a:t>Doctrine of Separation of Powers (Executive, Legislative &amp; Judiciary) </a:t>
            </a:r>
          </a:p>
          <a:p>
            <a:r>
              <a:rPr lang="en-US" sz="2800" b="1" dirty="0"/>
              <a:t>The Supremacy and Freedom of Law </a:t>
            </a:r>
          </a:p>
          <a:p>
            <a:r>
              <a:rPr lang="en-US" sz="2800" b="1" dirty="0"/>
              <a:t>Islam is the religion of federation but other religions may be practices in peace and harmony </a:t>
            </a:r>
          </a:p>
          <a:p>
            <a:endParaRPr lang="en-MY" dirty="0"/>
          </a:p>
        </p:txBody>
      </p:sp>
    </p:spTree>
    <p:extLst>
      <p:ext uri="{BB962C8B-B14F-4D97-AF65-F5344CB8AC3E}">
        <p14:creationId xmlns:p14="http://schemas.microsoft.com/office/powerpoint/2010/main" val="3531303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1687A-D6E6-4087-8A0F-7EAD054D802B}"/>
              </a:ext>
            </a:extLst>
          </p:cNvPr>
          <p:cNvSpPr>
            <a:spLocks noGrp="1"/>
          </p:cNvSpPr>
          <p:nvPr>
            <p:ph type="title"/>
          </p:nvPr>
        </p:nvSpPr>
        <p:spPr>
          <a:xfrm>
            <a:off x="1141413" y="344557"/>
            <a:ext cx="9905998" cy="857250"/>
          </a:xfrm>
        </p:spPr>
        <p:txBody>
          <a:bodyPr>
            <a:normAutofit/>
          </a:bodyPr>
          <a:lstStyle/>
          <a:p>
            <a:pPr algn="ctr"/>
            <a:r>
              <a:rPr lang="en-US" dirty="0"/>
              <a:t>THE SUPREMACY OF THE CONSTITUTION</a:t>
            </a:r>
            <a:endParaRPr lang="en-MY" dirty="0"/>
          </a:p>
        </p:txBody>
      </p:sp>
      <p:graphicFrame>
        <p:nvGraphicFramePr>
          <p:cNvPr id="4" name="Table 4">
            <a:extLst>
              <a:ext uri="{FF2B5EF4-FFF2-40B4-BE49-F238E27FC236}">
                <a16:creationId xmlns:a16="http://schemas.microsoft.com/office/drawing/2014/main" id="{F6B9A5E6-53D2-41FE-85B1-F465E211E56A}"/>
              </a:ext>
            </a:extLst>
          </p:cNvPr>
          <p:cNvGraphicFramePr>
            <a:graphicFrameLocks noGrp="1"/>
          </p:cNvGraphicFramePr>
          <p:nvPr>
            <p:ph idx="1"/>
            <p:extLst>
              <p:ext uri="{D42A27DB-BD31-4B8C-83A1-F6EECF244321}">
                <p14:modId xmlns:p14="http://schemas.microsoft.com/office/powerpoint/2010/main" val="1902595138"/>
              </p:ext>
            </p:extLst>
          </p:nvPr>
        </p:nvGraphicFramePr>
        <p:xfrm>
          <a:off x="815009" y="3349487"/>
          <a:ext cx="9939130" cy="3363504"/>
        </p:xfrm>
        <a:graphic>
          <a:graphicData uri="http://schemas.openxmlformats.org/drawingml/2006/table">
            <a:tbl>
              <a:tblPr firstRow="1" bandRow="1">
                <a:tableStyleId>{9D7B26C5-4107-4FEC-AEDC-1716B250A1EF}</a:tableStyleId>
              </a:tblPr>
              <a:tblGrid>
                <a:gridCol w="2421294">
                  <a:extLst>
                    <a:ext uri="{9D8B030D-6E8A-4147-A177-3AD203B41FA5}">
                      <a16:colId xmlns:a16="http://schemas.microsoft.com/office/drawing/2014/main" val="3405227891"/>
                    </a:ext>
                  </a:extLst>
                </a:gridCol>
                <a:gridCol w="7517836">
                  <a:extLst>
                    <a:ext uri="{9D8B030D-6E8A-4147-A177-3AD203B41FA5}">
                      <a16:colId xmlns:a16="http://schemas.microsoft.com/office/drawing/2014/main" val="577291007"/>
                    </a:ext>
                  </a:extLst>
                </a:gridCol>
              </a:tblGrid>
              <a:tr h="318108">
                <a:tc>
                  <a:txBody>
                    <a:bodyPr/>
                    <a:lstStyle/>
                    <a:p>
                      <a:pPr algn="ctr"/>
                      <a:r>
                        <a:rPr lang="en-US" sz="1600" dirty="0"/>
                        <a:t>Provision</a:t>
                      </a:r>
                      <a:endParaRPr lang="en-MY"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Details</a:t>
                      </a:r>
                      <a:endParaRPr lang="en-MY"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4958526"/>
                  </a:ext>
                </a:extLst>
              </a:tr>
              <a:tr h="318108">
                <a:tc>
                  <a:txBody>
                    <a:bodyPr/>
                    <a:lstStyle/>
                    <a:p>
                      <a:r>
                        <a:rPr lang="en-US" sz="1600" dirty="0"/>
                        <a:t>Parliament</a:t>
                      </a:r>
                      <a:endParaRPr lang="en-MY"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Derives its authority from the Constitution</a:t>
                      </a:r>
                      <a:endParaRPr lang="en-MY"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1548544"/>
                  </a:ext>
                </a:extLst>
              </a:tr>
              <a:tr h="623328">
                <a:tc>
                  <a:txBody>
                    <a:bodyPr/>
                    <a:lstStyle/>
                    <a:p>
                      <a:r>
                        <a:rPr lang="en-US" sz="1600" dirty="0"/>
                        <a:t>Constitution</a:t>
                      </a:r>
                      <a:endParaRPr lang="en-MY"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Determine the concurrent list for laws which can be enacted by Parliament or State Legislative Assembly</a:t>
                      </a:r>
                      <a:endParaRPr lang="en-MY"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5553094"/>
                  </a:ext>
                </a:extLst>
              </a:tr>
              <a:tr h="808017">
                <a:tc>
                  <a:txBody>
                    <a:bodyPr/>
                    <a:lstStyle/>
                    <a:p>
                      <a:r>
                        <a:rPr lang="en-US" sz="1600" dirty="0"/>
                        <a:t>Position of the King</a:t>
                      </a:r>
                      <a:endParaRPr lang="en-MY"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His Majesty is Constitutional Monarch, Head of State, symbol of the state, symbol of the loyalty of the people. His power is derived from and limited by the Constitution</a:t>
                      </a:r>
                      <a:endParaRPr lang="en-MY"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3601244"/>
                  </a:ext>
                </a:extLst>
              </a:tr>
              <a:tr h="623328">
                <a:tc>
                  <a:txBody>
                    <a:bodyPr/>
                    <a:lstStyle/>
                    <a:p>
                      <a:r>
                        <a:rPr lang="en-US" sz="1600" dirty="0"/>
                        <a:t>Legislative powers</a:t>
                      </a:r>
                      <a:endParaRPr lang="en-MY"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The courts guarantee the supremacy of the Constitution, and ensures the law of the land is in concordance with the Constitution</a:t>
                      </a:r>
                      <a:endParaRPr lang="en-MY"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6399410"/>
                  </a:ext>
                </a:extLst>
              </a:tr>
              <a:tr h="623328">
                <a:tc>
                  <a:txBody>
                    <a:bodyPr/>
                    <a:lstStyle/>
                    <a:p>
                      <a:r>
                        <a:rPr lang="en-US" sz="1600" dirty="0"/>
                        <a:t>Fundamental rights</a:t>
                      </a:r>
                      <a:endParaRPr lang="en-MY"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The fundamental rights of Malaysians cannot be stripped by the government except in accordance with the Constitution</a:t>
                      </a:r>
                      <a:endParaRPr lang="en-MY"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181594"/>
                  </a:ext>
                </a:extLst>
              </a:tr>
            </a:tbl>
          </a:graphicData>
        </a:graphic>
      </p:graphicFrame>
      <p:sp>
        <p:nvSpPr>
          <p:cNvPr id="3" name="TextBox 2">
            <a:extLst>
              <a:ext uri="{FF2B5EF4-FFF2-40B4-BE49-F238E27FC236}">
                <a16:creationId xmlns:a16="http://schemas.microsoft.com/office/drawing/2014/main" id="{CBB53FFC-CEA0-B2F6-9DE6-606BD4CDD6D8}"/>
              </a:ext>
            </a:extLst>
          </p:cNvPr>
          <p:cNvSpPr txBox="1"/>
          <p:nvPr/>
        </p:nvSpPr>
        <p:spPr>
          <a:xfrm>
            <a:off x="268357" y="1201807"/>
            <a:ext cx="11598965" cy="1631216"/>
          </a:xfrm>
          <a:prstGeom prst="rect">
            <a:avLst/>
          </a:prstGeom>
          <a:noFill/>
        </p:spPr>
        <p:txBody>
          <a:bodyPr wrap="square" rtlCol="0">
            <a:spAutoFit/>
          </a:bodyPr>
          <a:lstStyle/>
          <a:p>
            <a:r>
              <a:rPr lang="en-US" dirty="0"/>
              <a:t>•	</a:t>
            </a:r>
            <a:r>
              <a:rPr lang="en-US" sz="2000" dirty="0"/>
              <a:t>Supremacy means the highest in authority.</a:t>
            </a:r>
          </a:p>
          <a:p>
            <a:r>
              <a:rPr lang="en-US" sz="2000" dirty="0"/>
              <a:t>•	The Federal Constitution of Malaysia  is the </a:t>
            </a:r>
            <a:r>
              <a:rPr lang="en-US" sz="2000" u="sng" dirty="0"/>
              <a:t>supreme law in Malaysia.</a:t>
            </a:r>
          </a:p>
          <a:p>
            <a:r>
              <a:rPr lang="en-US" sz="2000" dirty="0"/>
              <a:t>•	Article 4 (1) “This Constitution is the supreme law of the Federation and any law passed after Merdeka Day which is inconsistent with this Constitution shall, to the extent of the inconsistency, be void”. </a:t>
            </a:r>
          </a:p>
        </p:txBody>
      </p:sp>
    </p:spTree>
    <p:extLst>
      <p:ext uri="{BB962C8B-B14F-4D97-AF65-F5344CB8AC3E}">
        <p14:creationId xmlns:p14="http://schemas.microsoft.com/office/powerpoint/2010/main" val="855611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5F246-D8A2-9BB5-5EF0-22CA88164D08}"/>
              </a:ext>
            </a:extLst>
          </p:cNvPr>
          <p:cNvSpPr>
            <a:spLocks noGrp="1"/>
          </p:cNvSpPr>
          <p:nvPr>
            <p:ph type="title"/>
          </p:nvPr>
        </p:nvSpPr>
        <p:spPr>
          <a:xfrm>
            <a:off x="1143001" y="66261"/>
            <a:ext cx="9905998" cy="1000539"/>
          </a:xfrm>
        </p:spPr>
        <p:txBody>
          <a:bodyPr/>
          <a:lstStyle/>
          <a:p>
            <a:pPr algn="ctr"/>
            <a:r>
              <a:rPr lang="en-US" dirty="0"/>
              <a:t>THE CONTENT OF THE CONSTITUTION</a:t>
            </a:r>
            <a:endParaRPr lang="en-MY" dirty="0"/>
          </a:p>
        </p:txBody>
      </p:sp>
      <p:sp>
        <p:nvSpPr>
          <p:cNvPr id="3" name="Content Placeholder 2">
            <a:extLst>
              <a:ext uri="{FF2B5EF4-FFF2-40B4-BE49-F238E27FC236}">
                <a16:creationId xmlns:a16="http://schemas.microsoft.com/office/drawing/2014/main" id="{05F440FD-8DC8-C840-B014-101C7ADFC8F0}"/>
              </a:ext>
            </a:extLst>
          </p:cNvPr>
          <p:cNvSpPr>
            <a:spLocks noGrp="1"/>
          </p:cNvSpPr>
          <p:nvPr>
            <p:ph idx="1"/>
          </p:nvPr>
        </p:nvSpPr>
        <p:spPr>
          <a:xfrm>
            <a:off x="159026" y="1066801"/>
            <a:ext cx="7115077" cy="5502964"/>
          </a:xfrm>
        </p:spPr>
        <p:txBody>
          <a:bodyPr>
            <a:normAutofit/>
          </a:bodyPr>
          <a:lstStyle/>
          <a:p>
            <a:pPr algn="ctr">
              <a:spcAft>
                <a:spcPts val="800"/>
              </a:spcAft>
            </a:pPr>
            <a:r>
              <a:rPr lang="en-US" sz="2400" b="1" u="sng" dirty="0">
                <a:effectLst/>
                <a:latin typeface="Times New Roman" panose="02020603050405020304" pitchFamily="18" charset="0"/>
                <a:ea typeface="Times New Roman" panose="02020603050405020304" pitchFamily="18" charset="0"/>
              </a:rPr>
              <a:t>15 Parts, 183 Articles dan 13 Tables</a:t>
            </a:r>
            <a:endParaRPr lang="en-MY" sz="2400" dirty="0">
              <a:effectLst/>
              <a:latin typeface="Times New Roman" panose="02020603050405020304" pitchFamily="18" charset="0"/>
              <a:ea typeface="Times New Roman" panose="02020603050405020304" pitchFamily="18" charset="0"/>
            </a:endParaRPr>
          </a:p>
          <a:p>
            <a:pPr marL="800100" lvl="1" indent="-34290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Part 1: Name, states and territories of the Federation</a:t>
            </a:r>
            <a:endParaRPr lang="en-MY" dirty="0">
              <a:effectLst/>
              <a:latin typeface="Arial" panose="020B0604020202020204" pitchFamily="34" charset="0"/>
              <a:ea typeface="Arial" panose="020B0604020202020204" pitchFamily="34" charset="0"/>
              <a:cs typeface="Arial" panose="020B0604020202020204" pitchFamily="34" charset="0"/>
            </a:endParaRPr>
          </a:p>
          <a:p>
            <a:pPr marL="800100" lvl="1" indent="-34290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Part 2: Fundamental Liberties</a:t>
            </a:r>
            <a:endParaRPr lang="en-MY" dirty="0">
              <a:effectLst/>
              <a:latin typeface="Arial" panose="020B0604020202020204" pitchFamily="34" charset="0"/>
              <a:ea typeface="Arial" panose="020B0604020202020204" pitchFamily="34" charset="0"/>
              <a:cs typeface="Arial" panose="020B0604020202020204" pitchFamily="34" charset="0"/>
            </a:endParaRPr>
          </a:p>
          <a:p>
            <a:pPr marL="800100" lvl="1" indent="-34290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Part 3: Citizenship</a:t>
            </a:r>
            <a:endParaRPr lang="en-MY" dirty="0">
              <a:effectLst/>
              <a:latin typeface="Arial" panose="020B0604020202020204" pitchFamily="34" charset="0"/>
              <a:ea typeface="Arial" panose="020B0604020202020204" pitchFamily="34" charset="0"/>
              <a:cs typeface="Arial" panose="020B0604020202020204" pitchFamily="34" charset="0"/>
            </a:endParaRPr>
          </a:p>
          <a:p>
            <a:pPr marL="800100" lvl="1" indent="-34290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Part 4: The Federation</a:t>
            </a:r>
            <a:endParaRPr lang="en-MY" dirty="0">
              <a:effectLst/>
              <a:latin typeface="Arial" panose="020B0604020202020204" pitchFamily="34" charset="0"/>
              <a:ea typeface="Arial" panose="020B0604020202020204" pitchFamily="34" charset="0"/>
              <a:cs typeface="Arial" panose="020B0604020202020204" pitchFamily="34" charset="0"/>
            </a:endParaRPr>
          </a:p>
          <a:p>
            <a:pPr marL="800100" lvl="1" indent="-34290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Part 5: The States</a:t>
            </a:r>
            <a:endParaRPr lang="en-MY" dirty="0">
              <a:effectLst/>
              <a:latin typeface="Arial" panose="020B0604020202020204" pitchFamily="34" charset="0"/>
              <a:ea typeface="Arial" panose="020B0604020202020204" pitchFamily="34" charset="0"/>
              <a:cs typeface="Arial" panose="020B0604020202020204" pitchFamily="34" charset="0"/>
            </a:endParaRPr>
          </a:p>
          <a:p>
            <a:pPr marL="800100" lvl="1" indent="-34290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Part 6: Relations between the Federation and the States</a:t>
            </a:r>
            <a:endParaRPr lang="en-MY" dirty="0">
              <a:effectLst/>
              <a:latin typeface="Arial" panose="020B0604020202020204" pitchFamily="34" charset="0"/>
              <a:ea typeface="Arial" panose="020B0604020202020204" pitchFamily="34" charset="0"/>
              <a:cs typeface="Arial" panose="020B0604020202020204" pitchFamily="34" charset="0"/>
            </a:endParaRPr>
          </a:p>
          <a:p>
            <a:pPr marL="800100" lvl="1" indent="-34290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Part 7: Financial Provision</a:t>
            </a:r>
            <a:endParaRPr lang="en-MY" dirty="0">
              <a:effectLst/>
              <a:latin typeface="Arial" panose="020B0604020202020204" pitchFamily="34" charset="0"/>
              <a:ea typeface="Arial" panose="020B0604020202020204" pitchFamily="34" charset="0"/>
              <a:cs typeface="Arial" panose="020B0604020202020204" pitchFamily="34" charset="0"/>
            </a:endParaRPr>
          </a:p>
          <a:p>
            <a:pPr marL="800100" marR="0" lvl="1" indent="-342900" algn="just" defTabSz="457200" rtl="0" eaLnBrk="1" fontAlgn="auto" latinLnBrk="0" hangingPunct="1">
              <a:lnSpc>
                <a:spcPct val="100000"/>
              </a:lnSpc>
              <a:spcBef>
                <a:spcPct val="20000"/>
              </a:spcBef>
              <a:spcAft>
                <a:spcPts val="800"/>
              </a:spcAft>
              <a:buClr>
                <a:prstClr val="white"/>
              </a:buClr>
              <a:buSzPct val="100000"/>
              <a:buFont typeface="Arial" panose="020B0604020202020204" pitchFamily="34" charset="0"/>
              <a:buChar char="•"/>
              <a:tabLst/>
              <a:defRPr/>
            </a:pPr>
            <a:r>
              <a:rPr kumimoji="0" lang="en-US" sz="2000"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rPr>
              <a:t>Part 8: Elections</a:t>
            </a:r>
            <a:endParaRPr kumimoji="0" lang="en-MY" sz="2000"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endParaRPr>
          </a:p>
          <a:p>
            <a:pPr marL="800100" marR="0" lvl="1" indent="-342900" algn="just" defTabSz="457200" rtl="0" eaLnBrk="1" fontAlgn="auto" latinLnBrk="0" hangingPunct="1">
              <a:lnSpc>
                <a:spcPct val="100000"/>
              </a:lnSpc>
              <a:spcBef>
                <a:spcPct val="20000"/>
              </a:spcBef>
              <a:spcAft>
                <a:spcPts val="800"/>
              </a:spcAft>
              <a:buClr>
                <a:prstClr val="white"/>
              </a:buClr>
              <a:buSzPct val="100000"/>
              <a:buFont typeface="Arial" panose="020B0604020202020204" pitchFamily="34" charset="0"/>
              <a:buChar char="•"/>
              <a:tabLst/>
              <a:defRPr/>
            </a:pPr>
            <a:r>
              <a:rPr kumimoji="0" lang="en-US" sz="2000"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rPr>
              <a:t>Part 9: The Judiciary</a:t>
            </a:r>
            <a:endParaRPr kumimoji="0" lang="en-MY" sz="2000"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endParaRPr>
          </a:p>
          <a:p>
            <a:pPr marL="800100" marR="0" lvl="1" indent="-342900" algn="just" defTabSz="457200" rtl="0" eaLnBrk="1" fontAlgn="auto" latinLnBrk="0" hangingPunct="1">
              <a:lnSpc>
                <a:spcPct val="100000"/>
              </a:lnSpc>
              <a:spcBef>
                <a:spcPct val="20000"/>
              </a:spcBef>
              <a:spcAft>
                <a:spcPts val="800"/>
              </a:spcAft>
              <a:buClr>
                <a:prstClr val="white"/>
              </a:buClr>
              <a:buSzPct val="100000"/>
              <a:buFont typeface="Arial" panose="020B0604020202020204" pitchFamily="34" charset="0"/>
              <a:buChar char="•"/>
              <a:tabLst/>
              <a:defRPr/>
            </a:pPr>
            <a:r>
              <a:rPr kumimoji="0" lang="en-US" sz="2000"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rPr>
              <a:t>Part 10: Public Services</a:t>
            </a:r>
            <a:endParaRPr kumimoji="0" lang="en-MY" sz="2000"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endParaRPr>
          </a:p>
          <a:p>
            <a:endParaRPr lang="en-MY" dirty="0"/>
          </a:p>
        </p:txBody>
      </p:sp>
      <p:sp>
        <p:nvSpPr>
          <p:cNvPr id="4" name="TextBox 3">
            <a:extLst>
              <a:ext uri="{FF2B5EF4-FFF2-40B4-BE49-F238E27FC236}">
                <a16:creationId xmlns:a16="http://schemas.microsoft.com/office/drawing/2014/main" id="{BC51E7FA-3976-CC44-C751-3123A1F86736}"/>
              </a:ext>
            </a:extLst>
          </p:cNvPr>
          <p:cNvSpPr txBox="1"/>
          <p:nvPr/>
        </p:nvSpPr>
        <p:spPr>
          <a:xfrm>
            <a:off x="7155392" y="1402555"/>
            <a:ext cx="4783179" cy="4325287"/>
          </a:xfrm>
          <a:prstGeom prst="rect">
            <a:avLst/>
          </a:prstGeom>
          <a:noFill/>
        </p:spPr>
        <p:txBody>
          <a:bodyPr wrap="square" rtlCol="0">
            <a:spAutoFit/>
          </a:bodyPr>
          <a:lstStyle/>
          <a:p>
            <a:pPr marL="800100" marR="0" lvl="1" indent="-342900" algn="just" defTabSz="457200" rtl="0" eaLnBrk="1" fontAlgn="auto" latinLnBrk="0" hangingPunct="1">
              <a:lnSpc>
                <a:spcPct val="100000"/>
              </a:lnSpc>
              <a:spcBef>
                <a:spcPct val="20000"/>
              </a:spcBef>
              <a:spcAft>
                <a:spcPts val="800"/>
              </a:spcAft>
              <a:buClr>
                <a:prstClr val="white"/>
              </a:buClr>
              <a:buSzPct val="100000"/>
              <a:buFont typeface="Arial" panose="020B0604020202020204" pitchFamily="34" charset="0"/>
              <a:buChar char="•"/>
              <a:tabLst/>
              <a:defRPr/>
            </a:pPr>
            <a:r>
              <a:rPr kumimoji="0" lang="en-US"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rPr>
              <a:t>Part 11: Special Powers Against Subversion, </a:t>
            </a:r>
            <a:r>
              <a:rPr kumimoji="0" lang="en-US" b="0" i="0" u="none" strike="noStrike" kern="1200" cap="small" spc="0" normalizeH="0" baseline="0" noProof="0" dirty="0" err="1">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rPr>
              <a:t>Organised</a:t>
            </a:r>
            <a:r>
              <a:rPr kumimoji="0" lang="en-US"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rPr>
              <a:t> Violence, and Acts and Crimes Prejudicial To The Public and Emergency Powers</a:t>
            </a:r>
            <a:endParaRPr kumimoji="0" lang="en-MY"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endParaRPr>
          </a:p>
          <a:p>
            <a:pPr marL="800100" marR="0" lvl="1" indent="-342900" algn="just" defTabSz="457200" rtl="0" eaLnBrk="1" fontAlgn="auto" latinLnBrk="0" hangingPunct="1">
              <a:lnSpc>
                <a:spcPct val="100000"/>
              </a:lnSpc>
              <a:spcBef>
                <a:spcPct val="20000"/>
              </a:spcBef>
              <a:spcAft>
                <a:spcPts val="800"/>
              </a:spcAft>
              <a:buClr>
                <a:prstClr val="white"/>
              </a:buClr>
              <a:buSzPct val="100000"/>
              <a:buFont typeface="Arial" panose="020B0604020202020204" pitchFamily="34" charset="0"/>
              <a:buChar char="•"/>
              <a:tabLst/>
              <a:defRPr/>
            </a:pPr>
            <a:r>
              <a:rPr kumimoji="0" lang="en-US"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rPr>
              <a:t>Part 12: General and Miscellaneous</a:t>
            </a:r>
            <a:endParaRPr kumimoji="0" lang="en-MY"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endParaRPr>
          </a:p>
          <a:p>
            <a:pPr marL="800100" marR="0" lvl="1" indent="-342900" algn="just" defTabSz="457200" rtl="0" eaLnBrk="1" fontAlgn="auto" latinLnBrk="0" hangingPunct="1">
              <a:lnSpc>
                <a:spcPct val="100000"/>
              </a:lnSpc>
              <a:spcBef>
                <a:spcPct val="20000"/>
              </a:spcBef>
              <a:spcAft>
                <a:spcPts val="800"/>
              </a:spcAft>
              <a:buClr>
                <a:prstClr val="white"/>
              </a:buClr>
              <a:buSzPct val="100000"/>
              <a:buFont typeface="Arial" panose="020B0604020202020204" pitchFamily="34" charset="0"/>
              <a:buChar char="•"/>
              <a:tabLst/>
              <a:defRPr/>
            </a:pPr>
            <a:r>
              <a:rPr kumimoji="0" lang="en-US"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rPr>
              <a:t>Part 13: Additional Protection For States of Sabah and Sarawak</a:t>
            </a:r>
            <a:endParaRPr kumimoji="0" lang="en-MY"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endParaRPr>
          </a:p>
          <a:p>
            <a:pPr marL="800100" marR="0" lvl="1" indent="-342900" algn="just" defTabSz="457200" rtl="0" eaLnBrk="1" fontAlgn="auto" latinLnBrk="0" hangingPunct="1">
              <a:lnSpc>
                <a:spcPct val="100000"/>
              </a:lnSpc>
              <a:spcBef>
                <a:spcPct val="20000"/>
              </a:spcBef>
              <a:spcAft>
                <a:spcPts val="800"/>
              </a:spcAft>
              <a:buClr>
                <a:prstClr val="white"/>
              </a:buClr>
              <a:buSzPct val="100000"/>
              <a:buFont typeface="Arial" panose="020B0604020202020204" pitchFamily="34" charset="0"/>
              <a:buChar char="•"/>
              <a:tabLst/>
              <a:defRPr/>
            </a:pPr>
            <a:r>
              <a:rPr kumimoji="0" lang="en-US"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rPr>
              <a:t>Part 14: Temporary and Transitional Provisions</a:t>
            </a:r>
            <a:endParaRPr kumimoji="0" lang="en-MY"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endParaRPr>
          </a:p>
          <a:p>
            <a:pPr marL="800100" marR="0" lvl="1" indent="-342900" algn="just" defTabSz="457200" rtl="0" eaLnBrk="1" fontAlgn="auto" latinLnBrk="0" hangingPunct="1">
              <a:lnSpc>
                <a:spcPct val="100000"/>
              </a:lnSpc>
              <a:spcBef>
                <a:spcPct val="20000"/>
              </a:spcBef>
              <a:spcAft>
                <a:spcPts val="800"/>
              </a:spcAft>
              <a:buClr>
                <a:prstClr val="white"/>
              </a:buClr>
              <a:buSzPct val="100000"/>
              <a:buFont typeface="Arial" panose="020B0604020202020204" pitchFamily="34" charset="0"/>
              <a:buChar char="•"/>
              <a:tabLst/>
              <a:defRPr/>
            </a:pPr>
            <a:r>
              <a:rPr kumimoji="0" lang="en-US"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rPr>
              <a:t>Part 15: Saving for Rulers’ Sovereignty</a:t>
            </a:r>
            <a:endParaRPr kumimoji="0" lang="en-MY" b="0" i="0" u="none" strike="noStrike" kern="1200" cap="small" spc="0" normalizeH="0" baseline="0" noProof="0" dirty="0">
              <a:ln>
                <a:noFill/>
              </a:ln>
              <a:gradFill flip="none" rotWithShape="1">
                <a:gsLst>
                  <a:gs pos="0">
                    <a:prstClr val="white"/>
                  </a:gs>
                  <a:gs pos="100000">
                    <a:prstClr val="white">
                      <a:lumMod val="75000"/>
                    </a:prstClr>
                  </a:gs>
                </a:gsLst>
                <a:lin ang="5580000" scaled="0"/>
                <a:tileRect/>
              </a:gradFill>
              <a:effectLst/>
              <a:uLnTx/>
              <a:uFillTx/>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2779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2">
            <a:extLst>
              <a:ext uri="{FF2B5EF4-FFF2-40B4-BE49-F238E27FC236}">
                <a16:creationId xmlns:a16="http://schemas.microsoft.com/office/drawing/2014/main" id="{13477246-DB27-403F-85C1-800500EFDD1E}"/>
              </a:ext>
            </a:extLst>
          </p:cNvPr>
          <p:cNvGraphicFramePr>
            <a:graphicFrameLocks noGrp="1"/>
          </p:cNvGraphicFramePr>
          <p:nvPr>
            <p:ph idx="1"/>
            <p:extLst>
              <p:ext uri="{D42A27DB-BD31-4B8C-83A1-F6EECF244321}">
                <p14:modId xmlns:p14="http://schemas.microsoft.com/office/powerpoint/2010/main" val="3110295887"/>
              </p:ext>
            </p:extLst>
          </p:nvPr>
        </p:nvGraphicFramePr>
        <p:xfrm>
          <a:off x="1104900" y="647700"/>
          <a:ext cx="10066683" cy="4789002"/>
        </p:xfrm>
        <a:graphic>
          <a:graphicData uri="http://schemas.openxmlformats.org/drawingml/2006/table">
            <a:tbl>
              <a:tblPr firstRow="1" bandRow="1">
                <a:tableStyleId>{5C22544A-7EE6-4342-B048-85BDC9FD1C3A}</a:tableStyleId>
              </a:tblPr>
              <a:tblGrid>
                <a:gridCol w="10066683">
                  <a:extLst>
                    <a:ext uri="{9D8B030D-6E8A-4147-A177-3AD203B41FA5}">
                      <a16:colId xmlns:a16="http://schemas.microsoft.com/office/drawing/2014/main" val="150926133"/>
                    </a:ext>
                  </a:extLst>
                </a:gridCol>
              </a:tblGrid>
              <a:tr h="798167">
                <a:tc>
                  <a:txBody>
                    <a:bodyPr/>
                    <a:lstStyle/>
                    <a:p>
                      <a:pPr algn="ctr"/>
                      <a:r>
                        <a:rPr lang="en-US" dirty="0"/>
                        <a:t>MAIN FEATURES IN THE CONSTITUTION</a:t>
                      </a:r>
                      <a:endParaRPr lang="en-MY" dirty="0"/>
                    </a:p>
                  </a:txBody>
                  <a:tcPr/>
                </a:tc>
                <a:extLst>
                  <a:ext uri="{0D108BD9-81ED-4DB2-BD59-A6C34878D82A}">
                    <a16:rowId xmlns:a16="http://schemas.microsoft.com/office/drawing/2014/main" val="1191598455"/>
                  </a:ext>
                </a:extLst>
              </a:tr>
              <a:tr h="798167">
                <a:tc>
                  <a:txBody>
                    <a:bodyPr/>
                    <a:lstStyle/>
                    <a:p>
                      <a:r>
                        <a:rPr lang="en-MY" dirty="0"/>
                        <a:t>•	National Language – Bahasa </a:t>
                      </a:r>
                      <a:r>
                        <a:rPr lang="en-MY" dirty="0" err="1"/>
                        <a:t>Melayu</a:t>
                      </a:r>
                      <a:r>
                        <a:rPr lang="en-MY" dirty="0"/>
                        <a:t>/Malay Language (Article 152 (1))</a:t>
                      </a:r>
                    </a:p>
                  </a:txBody>
                  <a:tcPr/>
                </a:tc>
                <a:extLst>
                  <a:ext uri="{0D108BD9-81ED-4DB2-BD59-A6C34878D82A}">
                    <a16:rowId xmlns:a16="http://schemas.microsoft.com/office/drawing/2014/main" val="2165291039"/>
                  </a:ext>
                </a:extLst>
              </a:tr>
              <a:tr h="79816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	Religion of the Federation– Islam (Article 3(1))</a:t>
                      </a:r>
                      <a:endParaRPr lang="en-MY" dirty="0"/>
                    </a:p>
                  </a:txBody>
                  <a:tcPr/>
                </a:tc>
                <a:extLst>
                  <a:ext uri="{0D108BD9-81ED-4DB2-BD59-A6C34878D82A}">
                    <a16:rowId xmlns:a16="http://schemas.microsoft.com/office/drawing/2014/main" val="2010428772"/>
                  </a:ext>
                </a:extLst>
              </a:tr>
              <a:tr h="798167">
                <a:tc>
                  <a:txBody>
                    <a:bodyPr/>
                    <a:lstStyle/>
                    <a:p>
                      <a:r>
                        <a:rPr lang="en-MY" dirty="0"/>
                        <a:t>•	Citizenship (Article 14 – 22)</a:t>
                      </a:r>
                    </a:p>
                  </a:txBody>
                  <a:tcPr/>
                </a:tc>
                <a:extLst>
                  <a:ext uri="{0D108BD9-81ED-4DB2-BD59-A6C34878D82A}">
                    <a16:rowId xmlns:a16="http://schemas.microsoft.com/office/drawing/2014/main" val="2231784975"/>
                  </a:ext>
                </a:extLst>
              </a:tr>
              <a:tr h="798167">
                <a:tc>
                  <a:txBody>
                    <a:bodyPr/>
                    <a:lstStyle/>
                    <a:p>
                      <a:r>
                        <a:rPr lang="en-US" dirty="0"/>
                        <a:t>•	Special Positions of the Malays and the Natives of Sabah and Sarawak (Article.153)</a:t>
                      </a:r>
                      <a:endParaRPr lang="en-MY" dirty="0"/>
                    </a:p>
                  </a:txBody>
                  <a:tcPr/>
                </a:tc>
                <a:extLst>
                  <a:ext uri="{0D108BD9-81ED-4DB2-BD59-A6C34878D82A}">
                    <a16:rowId xmlns:a16="http://schemas.microsoft.com/office/drawing/2014/main" val="1599119347"/>
                  </a:ext>
                </a:extLst>
              </a:tr>
              <a:tr h="798167">
                <a:tc>
                  <a:txBody>
                    <a:bodyPr/>
                    <a:lstStyle/>
                    <a:p>
                      <a:r>
                        <a:rPr lang="en-MY" dirty="0"/>
                        <a:t>•	Fundamental Liberties (Article 5 – 13)</a:t>
                      </a:r>
                    </a:p>
                  </a:txBody>
                  <a:tcPr/>
                </a:tc>
                <a:extLst>
                  <a:ext uri="{0D108BD9-81ED-4DB2-BD59-A6C34878D82A}">
                    <a16:rowId xmlns:a16="http://schemas.microsoft.com/office/drawing/2014/main" val="2834848295"/>
                  </a:ext>
                </a:extLst>
              </a:tr>
            </a:tbl>
          </a:graphicData>
        </a:graphic>
      </p:graphicFrame>
    </p:spTree>
    <p:extLst>
      <p:ext uri="{BB962C8B-B14F-4D97-AF65-F5344CB8AC3E}">
        <p14:creationId xmlns:p14="http://schemas.microsoft.com/office/powerpoint/2010/main" val="724994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2D3F7-6BB9-40B7-8E59-09A78C566C06}"/>
              </a:ext>
            </a:extLst>
          </p:cNvPr>
          <p:cNvSpPr>
            <a:spLocks noGrp="1"/>
          </p:cNvSpPr>
          <p:nvPr>
            <p:ph type="title"/>
          </p:nvPr>
        </p:nvSpPr>
        <p:spPr>
          <a:xfrm>
            <a:off x="208722" y="238738"/>
            <a:ext cx="11618843" cy="1262071"/>
          </a:xfrm>
        </p:spPr>
        <p:txBody>
          <a:bodyPr>
            <a:normAutofit/>
          </a:bodyPr>
          <a:lstStyle/>
          <a:p>
            <a:pPr algn="ctr"/>
            <a:r>
              <a:rPr lang="en-MY" sz="2800" dirty="0">
                <a:effectLst/>
                <a:latin typeface="Arial" panose="020B0604020202020204" pitchFamily="34" charset="0"/>
                <a:ea typeface="DengXian" panose="02010600030101010101" pitchFamily="2" charset="-122"/>
                <a:cs typeface="Times New Roman" panose="02020603050405020304" pitchFamily="18" charset="0"/>
              </a:rPr>
              <a:t>INDIGENOUS (TRADITIONAL) ELEMENTS/CHARACTERS IN THE CONSTITUTION</a:t>
            </a:r>
            <a:endParaRPr lang="en-MY" dirty="0"/>
          </a:p>
        </p:txBody>
      </p:sp>
      <p:sp>
        <p:nvSpPr>
          <p:cNvPr id="5" name="Content Placeholder 4">
            <a:extLst>
              <a:ext uri="{FF2B5EF4-FFF2-40B4-BE49-F238E27FC236}">
                <a16:creationId xmlns:a16="http://schemas.microsoft.com/office/drawing/2014/main" id="{77F005B2-E4C0-A771-8263-CA6850547EE1}"/>
              </a:ext>
            </a:extLst>
          </p:cNvPr>
          <p:cNvSpPr>
            <a:spLocks noGrp="1"/>
          </p:cNvSpPr>
          <p:nvPr>
            <p:ph idx="1"/>
          </p:nvPr>
        </p:nvSpPr>
        <p:spPr>
          <a:xfrm>
            <a:off x="286578" y="735496"/>
            <a:ext cx="11696700" cy="4955605"/>
          </a:xfrm>
        </p:spPr>
        <p:txBody>
          <a:bodyPr>
            <a:normAutofit/>
          </a:bodyPr>
          <a:lstStyle/>
          <a:p>
            <a:r>
              <a:rPr lang="en-US" sz="1800" dirty="0"/>
              <a:t>What are the indigenous elements?</a:t>
            </a:r>
          </a:p>
          <a:p>
            <a:r>
              <a:rPr lang="en-US" sz="1800" dirty="0"/>
              <a:t>•	Unique elements in the constitution and could only found in Malaysian constitution</a:t>
            </a:r>
          </a:p>
          <a:p>
            <a:r>
              <a:rPr lang="en-US" sz="1800" dirty="0"/>
              <a:t>•	Based on the characteristics of the Malays history and tradition</a:t>
            </a:r>
          </a:p>
          <a:p>
            <a:r>
              <a:rPr lang="en-US" sz="1800" dirty="0"/>
              <a:t>⮚	Monarchy system </a:t>
            </a:r>
          </a:p>
          <a:p>
            <a:r>
              <a:rPr lang="en-US" sz="1800" dirty="0"/>
              <a:t>⮚	Islam </a:t>
            </a:r>
          </a:p>
          <a:p>
            <a:r>
              <a:rPr lang="en-US" sz="1800" dirty="0"/>
              <a:t>⮚	Malay language </a:t>
            </a:r>
          </a:p>
          <a:p>
            <a:r>
              <a:rPr lang="en-US" sz="1800" dirty="0"/>
              <a:t>⮚	Special position of the Malays </a:t>
            </a:r>
          </a:p>
          <a:p>
            <a:endParaRPr lang="en-MY" dirty="0"/>
          </a:p>
        </p:txBody>
      </p:sp>
      <p:graphicFrame>
        <p:nvGraphicFramePr>
          <p:cNvPr id="6" name="Table 5">
            <a:extLst>
              <a:ext uri="{FF2B5EF4-FFF2-40B4-BE49-F238E27FC236}">
                <a16:creationId xmlns:a16="http://schemas.microsoft.com/office/drawing/2014/main" id="{C7A423BE-DE04-59E4-B1D8-B86768C7CD50}"/>
              </a:ext>
            </a:extLst>
          </p:cNvPr>
          <p:cNvGraphicFramePr>
            <a:graphicFrameLocks/>
          </p:cNvGraphicFramePr>
          <p:nvPr>
            <p:extLst>
              <p:ext uri="{D42A27DB-BD31-4B8C-83A1-F6EECF244321}">
                <p14:modId xmlns:p14="http://schemas.microsoft.com/office/powerpoint/2010/main" val="606914587"/>
              </p:ext>
            </p:extLst>
          </p:nvPr>
        </p:nvGraphicFramePr>
        <p:xfrm>
          <a:off x="4701210" y="3339548"/>
          <a:ext cx="7359924" cy="3399180"/>
        </p:xfrm>
        <a:graphic>
          <a:graphicData uri="http://schemas.openxmlformats.org/drawingml/2006/table">
            <a:tbl>
              <a:tblPr firstRow="1" bandRow="1">
                <a:tableStyleId>{0505E3EF-67EA-436B-97B2-0124C06EBD24}</a:tableStyleId>
              </a:tblPr>
              <a:tblGrid>
                <a:gridCol w="2513831">
                  <a:extLst>
                    <a:ext uri="{9D8B030D-6E8A-4147-A177-3AD203B41FA5}">
                      <a16:colId xmlns:a16="http://schemas.microsoft.com/office/drawing/2014/main" val="3642588323"/>
                    </a:ext>
                  </a:extLst>
                </a:gridCol>
                <a:gridCol w="4846093">
                  <a:extLst>
                    <a:ext uri="{9D8B030D-6E8A-4147-A177-3AD203B41FA5}">
                      <a16:colId xmlns:a16="http://schemas.microsoft.com/office/drawing/2014/main" val="1009635771"/>
                    </a:ext>
                  </a:extLst>
                </a:gridCol>
              </a:tblGrid>
              <a:tr h="699831">
                <a:tc>
                  <a:txBody>
                    <a:bodyPr/>
                    <a:lstStyle/>
                    <a:p>
                      <a:pPr algn="ctr"/>
                      <a:r>
                        <a:rPr lang="en-MY" dirty="0"/>
                        <a:t>A.	Monarchy system</a:t>
                      </a:r>
                    </a:p>
                  </a:txBody>
                  <a:tcPr/>
                </a:tc>
                <a:tc>
                  <a:txBody>
                    <a:bodyPr/>
                    <a:lstStyle/>
                    <a:p>
                      <a:r>
                        <a:rPr lang="en-US" dirty="0"/>
                        <a:t>•	</a:t>
                      </a:r>
                      <a:r>
                        <a:rPr lang="en-US" b="0" dirty="0"/>
                        <a:t>Legacy of feudalism – traditional political system of the Malay states</a:t>
                      </a:r>
                      <a:endParaRPr lang="en-MY" b="0" dirty="0"/>
                    </a:p>
                  </a:txBody>
                  <a:tcPr/>
                </a:tc>
                <a:extLst>
                  <a:ext uri="{0D108BD9-81ED-4DB2-BD59-A6C34878D82A}">
                    <a16:rowId xmlns:a16="http://schemas.microsoft.com/office/drawing/2014/main" val="1519428528"/>
                  </a:ext>
                </a:extLst>
              </a:tr>
              <a:tr h="699831">
                <a:tc>
                  <a:txBody>
                    <a:bodyPr/>
                    <a:lstStyle/>
                    <a:p>
                      <a:pPr algn="ctr"/>
                      <a:r>
                        <a:rPr lang="en-MY" b="1" dirty="0"/>
                        <a:t>B.	Islam</a:t>
                      </a:r>
                    </a:p>
                  </a:txBody>
                  <a:tcPr/>
                </a:tc>
                <a:tc>
                  <a:txBody>
                    <a:bodyPr/>
                    <a:lstStyle/>
                    <a:p>
                      <a:r>
                        <a:rPr lang="en-US" dirty="0"/>
                        <a:t>•	More than 600 years – is part of the Malays – religion and culture</a:t>
                      </a:r>
                      <a:endParaRPr lang="en-MY" dirty="0"/>
                    </a:p>
                  </a:txBody>
                  <a:tcPr/>
                </a:tc>
                <a:extLst>
                  <a:ext uri="{0D108BD9-81ED-4DB2-BD59-A6C34878D82A}">
                    <a16:rowId xmlns:a16="http://schemas.microsoft.com/office/drawing/2014/main" val="1221197851"/>
                  </a:ext>
                </a:extLst>
              </a:tr>
              <a:tr h="699831">
                <a:tc>
                  <a:txBody>
                    <a:bodyPr/>
                    <a:lstStyle/>
                    <a:p>
                      <a:pPr algn="ctr"/>
                      <a:r>
                        <a:rPr lang="en-MY" b="1" dirty="0"/>
                        <a:t>C.	Malay language</a:t>
                      </a:r>
                    </a:p>
                  </a:txBody>
                  <a:tcPr/>
                </a:tc>
                <a:tc>
                  <a:txBody>
                    <a:bodyPr/>
                    <a:lstStyle/>
                    <a:p>
                      <a:r>
                        <a:rPr lang="en-US" dirty="0"/>
                        <a:t>•	lingua franca during the golden age of Malacca in the region</a:t>
                      </a:r>
                      <a:endParaRPr lang="en-MY" dirty="0"/>
                    </a:p>
                  </a:txBody>
                  <a:tcPr/>
                </a:tc>
                <a:extLst>
                  <a:ext uri="{0D108BD9-81ED-4DB2-BD59-A6C34878D82A}">
                    <a16:rowId xmlns:a16="http://schemas.microsoft.com/office/drawing/2014/main" val="1910628694"/>
                  </a:ext>
                </a:extLst>
              </a:tr>
              <a:tr h="1299687">
                <a:tc>
                  <a:txBody>
                    <a:bodyPr/>
                    <a:lstStyle/>
                    <a:p>
                      <a:pPr algn="ctr"/>
                      <a:r>
                        <a:rPr lang="en-US" b="1" dirty="0"/>
                        <a:t>D.	Special position of the Malays</a:t>
                      </a:r>
                      <a:endParaRPr lang="en-MY" b="1" dirty="0"/>
                    </a:p>
                  </a:txBody>
                  <a:tcPr/>
                </a:tc>
                <a:tc>
                  <a:txBody>
                    <a:bodyPr/>
                    <a:lstStyle/>
                    <a:p>
                      <a:r>
                        <a:rPr lang="en-US" dirty="0"/>
                        <a:t>•	Malays are one of the earliest inhabitants and the native of Malaysia</a:t>
                      </a:r>
                    </a:p>
                    <a:p>
                      <a:r>
                        <a:rPr lang="en-US" dirty="0"/>
                        <a:t>•	The largest population </a:t>
                      </a:r>
                    </a:p>
                    <a:p>
                      <a:endParaRPr lang="en-MY" dirty="0"/>
                    </a:p>
                  </a:txBody>
                  <a:tcPr/>
                </a:tc>
                <a:extLst>
                  <a:ext uri="{0D108BD9-81ED-4DB2-BD59-A6C34878D82A}">
                    <a16:rowId xmlns:a16="http://schemas.microsoft.com/office/drawing/2014/main" val="349362422"/>
                  </a:ext>
                </a:extLst>
              </a:tr>
            </a:tbl>
          </a:graphicData>
        </a:graphic>
      </p:graphicFrame>
    </p:spTree>
    <p:extLst>
      <p:ext uri="{BB962C8B-B14F-4D97-AF65-F5344CB8AC3E}">
        <p14:creationId xmlns:p14="http://schemas.microsoft.com/office/powerpoint/2010/main" val="3262470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90473-D5E3-4263-49F3-8DD5F03B76BB}"/>
              </a:ext>
            </a:extLst>
          </p:cNvPr>
          <p:cNvSpPr>
            <a:spLocks noGrp="1"/>
          </p:cNvSpPr>
          <p:nvPr>
            <p:ph type="title"/>
          </p:nvPr>
        </p:nvSpPr>
        <p:spPr>
          <a:xfrm>
            <a:off x="1240804" y="278296"/>
            <a:ext cx="9905998" cy="960783"/>
          </a:xfrm>
        </p:spPr>
        <p:txBody>
          <a:bodyPr/>
          <a:lstStyle/>
          <a:p>
            <a:pPr algn="ctr"/>
            <a:r>
              <a:rPr lang="en-US" b="1" dirty="0"/>
              <a:t>Fundamental liberties in the Constitution</a:t>
            </a:r>
            <a:endParaRPr lang="en-MY" b="1" dirty="0"/>
          </a:p>
        </p:txBody>
      </p:sp>
      <p:sp>
        <p:nvSpPr>
          <p:cNvPr id="3" name="Content Placeholder 2">
            <a:extLst>
              <a:ext uri="{FF2B5EF4-FFF2-40B4-BE49-F238E27FC236}">
                <a16:creationId xmlns:a16="http://schemas.microsoft.com/office/drawing/2014/main" id="{64907983-BBA9-C562-B382-00FDA6EAE936}"/>
              </a:ext>
            </a:extLst>
          </p:cNvPr>
          <p:cNvSpPr>
            <a:spLocks noGrp="1"/>
          </p:cNvSpPr>
          <p:nvPr>
            <p:ph idx="1"/>
          </p:nvPr>
        </p:nvSpPr>
        <p:spPr>
          <a:xfrm>
            <a:off x="457200" y="1639957"/>
            <a:ext cx="11499574" cy="4939747"/>
          </a:xfrm>
        </p:spPr>
        <p:txBody>
          <a:bodyPr>
            <a:normAutofit/>
          </a:bodyPr>
          <a:lstStyle/>
          <a:p>
            <a:r>
              <a:rPr lang="en-US" dirty="0"/>
              <a:t>•	Article 5 – Life and Liberty of the Person.</a:t>
            </a:r>
          </a:p>
          <a:p>
            <a:r>
              <a:rPr lang="en-US" dirty="0"/>
              <a:t>•	Article 6 – Prohibition of slavery and forced </a:t>
            </a:r>
            <a:r>
              <a:rPr lang="en-US" dirty="0" err="1"/>
              <a:t>labour</a:t>
            </a:r>
            <a:endParaRPr lang="en-US" dirty="0"/>
          </a:p>
          <a:p>
            <a:r>
              <a:rPr lang="en-US" dirty="0"/>
              <a:t>•	Article 7 – Protection against retrospective criminal and repeated trials.</a:t>
            </a:r>
          </a:p>
          <a:p>
            <a:r>
              <a:rPr lang="en-US" dirty="0"/>
              <a:t>•	Article 8 – Equality.</a:t>
            </a:r>
          </a:p>
          <a:p>
            <a:r>
              <a:rPr lang="en-US" dirty="0"/>
              <a:t>•	Article 9 – Prohibition of banishment and freedom of movement.</a:t>
            </a:r>
          </a:p>
          <a:p>
            <a:r>
              <a:rPr lang="en-US" dirty="0"/>
              <a:t>•	Article 10 – Freedom of speech, assembly and association.</a:t>
            </a:r>
          </a:p>
          <a:p>
            <a:r>
              <a:rPr lang="en-US" dirty="0"/>
              <a:t>•	Article 11 – Freedom of religion.</a:t>
            </a:r>
          </a:p>
          <a:p>
            <a:r>
              <a:rPr lang="en-US" dirty="0"/>
              <a:t>•	Article 12 – Right to education.</a:t>
            </a:r>
          </a:p>
          <a:p>
            <a:r>
              <a:rPr lang="en-US" dirty="0"/>
              <a:t>•	Article 13 – Right to property.</a:t>
            </a:r>
          </a:p>
          <a:p>
            <a:endParaRPr lang="en-US" dirty="0"/>
          </a:p>
          <a:p>
            <a:endParaRPr lang="en-MY" dirty="0"/>
          </a:p>
        </p:txBody>
      </p:sp>
    </p:spTree>
    <p:extLst>
      <p:ext uri="{BB962C8B-B14F-4D97-AF65-F5344CB8AC3E}">
        <p14:creationId xmlns:p14="http://schemas.microsoft.com/office/powerpoint/2010/main" val="3076244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F58-D779-4A61-B4BD-DC833A006E19}"/>
              </a:ext>
            </a:extLst>
          </p:cNvPr>
          <p:cNvSpPr>
            <a:spLocks noGrp="1"/>
          </p:cNvSpPr>
          <p:nvPr>
            <p:ph type="title"/>
          </p:nvPr>
        </p:nvSpPr>
        <p:spPr>
          <a:xfrm>
            <a:off x="1020417" y="334617"/>
            <a:ext cx="9905998" cy="1136374"/>
          </a:xfrm>
        </p:spPr>
        <p:txBody>
          <a:bodyPr/>
          <a:lstStyle/>
          <a:p>
            <a:pPr algn="ctr"/>
            <a:r>
              <a:rPr lang="en-US" dirty="0"/>
              <a:t>THE AMENDMENT OF THE CONSTITUTION</a:t>
            </a:r>
            <a:endParaRPr lang="en-MY" dirty="0"/>
          </a:p>
        </p:txBody>
      </p:sp>
      <p:sp>
        <p:nvSpPr>
          <p:cNvPr id="3" name="Content Placeholder 2">
            <a:extLst>
              <a:ext uri="{FF2B5EF4-FFF2-40B4-BE49-F238E27FC236}">
                <a16:creationId xmlns:a16="http://schemas.microsoft.com/office/drawing/2014/main" id="{8FE24CCB-02C1-4564-B467-1B10364C8505}"/>
              </a:ext>
            </a:extLst>
          </p:cNvPr>
          <p:cNvSpPr>
            <a:spLocks noGrp="1"/>
          </p:cNvSpPr>
          <p:nvPr>
            <p:ph idx="1"/>
          </p:nvPr>
        </p:nvSpPr>
        <p:spPr>
          <a:xfrm>
            <a:off x="168964" y="1222513"/>
            <a:ext cx="11857383" cy="5476461"/>
          </a:xfrm>
        </p:spPr>
        <p:txBody>
          <a:bodyPr>
            <a:normAutofit/>
          </a:bodyPr>
          <a:lstStyle/>
          <a:p>
            <a:pPr eaLnBrk="1" hangingPunct="1">
              <a:lnSpc>
                <a:spcPct val="80000"/>
              </a:lnSpc>
            </a:pPr>
            <a:r>
              <a:rPr lang="en-US" sz="2400" dirty="0">
                <a:latin typeface="Arial" pitchFamily="34" charset="0"/>
                <a:ea typeface="ＭＳ Ｐゴシック" pitchFamily="34" charset="-128"/>
                <a:cs typeface="Arial" pitchFamily="34" charset="0"/>
              </a:rPr>
              <a:t>The purpose of amendments</a:t>
            </a:r>
          </a:p>
          <a:p>
            <a:pPr lvl="1">
              <a:lnSpc>
                <a:spcPct val="80000"/>
              </a:lnSpc>
            </a:pPr>
            <a:r>
              <a:rPr lang="en-US" sz="2200" dirty="0">
                <a:latin typeface="Arial" pitchFamily="34" charset="0"/>
                <a:ea typeface="ＭＳ Ｐゴシック" pitchFamily="34" charset="-128"/>
                <a:cs typeface="Arial" pitchFamily="34" charset="0"/>
              </a:rPr>
              <a:t>To abolish a provision that is considered not suitable to current needs  </a:t>
            </a:r>
          </a:p>
          <a:p>
            <a:pPr lvl="1">
              <a:lnSpc>
                <a:spcPct val="80000"/>
              </a:lnSpc>
            </a:pPr>
            <a:r>
              <a:rPr lang="en-US" sz="2200" dirty="0">
                <a:latin typeface="Arial" pitchFamily="34" charset="0"/>
                <a:ea typeface="ＭＳ Ｐゴシック" pitchFamily="34" charset="-128"/>
                <a:cs typeface="Arial" pitchFamily="34" charset="0"/>
              </a:rPr>
              <a:t>To add a new provision that reflects the current wishes and desires of the people and the country</a:t>
            </a:r>
          </a:p>
          <a:p>
            <a:pPr lvl="1">
              <a:lnSpc>
                <a:spcPct val="80000"/>
              </a:lnSpc>
            </a:pPr>
            <a:r>
              <a:rPr lang="en-US" sz="2200" dirty="0">
                <a:latin typeface="Arial" pitchFamily="34" charset="0"/>
                <a:ea typeface="ＭＳ Ｐゴシック" pitchFamily="34" charset="-128"/>
                <a:cs typeface="Arial" pitchFamily="34" charset="0"/>
              </a:rPr>
              <a:t>It is stated in Article 159 and 161E</a:t>
            </a:r>
          </a:p>
          <a:p>
            <a:pPr>
              <a:lnSpc>
                <a:spcPct val="80000"/>
              </a:lnSpc>
            </a:pPr>
            <a:r>
              <a:rPr lang="en-US" sz="2400" dirty="0">
                <a:latin typeface="Arial" pitchFamily="34" charset="0"/>
                <a:ea typeface="ＭＳ Ｐゴシック" pitchFamily="34" charset="-128"/>
                <a:cs typeface="Arial" pitchFamily="34" charset="0"/>
              </a:rPr>
              <a:t>Four methods of amendments of different provisions of the Constitution:</a:t>
            </a:r>
          </a:p>
          <a:p>
            <a:pPr marL="914400" lvl="1" indent="-457200">
              <a:lnSpc>
                <a:spcPct val="80000"/>
              </a:lnSpc>
              <a:buFont typeface="+mj-lt"/>
              <a:buAutoNum type="arabicPeriod"/>
            </a:pPr>
            <a:r>
              <a:rPr lang="en-US" sz="2200" dirty="0">
                <a:latin typeface="Arial" pitchFamily="34" charset="0"/>
                <a:ea typeface="ＭＳ Ｐゴシック" pitchFamily="34" charset="-128"/>
                <a:cs typeface="Arial" pitchFamily="34" charset="0"/>
              </a:rPr>
              <a:t>Requires  a simple majority from both Houses of Parliament</a:t>
            </a:r>
          </a:p>
          <a:p>
            <a:pPr marL="914400" lvl="1" indent="-457200">
              <a:lnSpc>
                <a:spcPct val="80000"/>
              </a:lnSpc>
              <a:buFont typeface="+mj-lt"/>
              <a:buAutoNum type="arabicPeriod"/>
            </a:pPr>
            <a:r>
              <a:rPr lang="en-US" sz="2200" dirty="0">
                <a:latin typeface="Arial" pitchFamily="34" charset="0"/>
                <a:ea typeface="ＭＳ Ｐゴシック" pitchFamily="34" charset="-128"/>
                <a:cs typeface="Arial" pitchFamily="34" charset="0"/>
              </a:rPr>
              <a:t>Requires a two-thirds majority in both Houses of Parliament AND the Consent of the Conference of Rulers</a:t>
            </a:r>
          </a:p>
          <a:p>
            <a:pPr marL="914400" lvl="1" indent="-457200">
              <a:lnSpc>
                <a:spcPct val="80000"/>
              </a:lnSpc>
              <a:buFont typeface="+mj-lt"/>
              <a:buAutoNum type="arabicPeriod"/>
            </a:pPr>
            <a:r>
              <a:rPr lang="en-US" sz="2200" dirty="0">
                <a:latin typeface="Arial" pitchFamily="34" charset="0"/>
                <a:ea typeface="ＭＳ Ｐゴシック" pitchFamily="34" charset="-128"/>
                <a:cs typeface="Arial" pitchFamily="34" charset="0"/>
              </a:rPr>
              <a:t>Requires a two-thirds majority in both Houses of Parliament AND the Consent of the Governor of the East Malaysian State</a:t>
            </a:r>
          </a:p>
          <a:p>
            <a:pPr marL="914400" lvl="1" indent="-457200">
              <a:lnSpc>
                <a:spcPct val="80000"/>
              </a:lnSpc>
              <a:buFont typeface="+mj-lt"/>
              <a:buAutoNum type="arabicPeriod"/>
            </a:pPr>
            <a:r>
              <a:rPr lang="en-US" sz="2200" dirty="0">
                <a:latin typeface="Arial" pitchFamily="34" charset="0"/>
                <a:ea typeface="ＭＳ Ｐゴシック" pitchFamily="34" charset="-128"/>
                <a:cs typeface="Arial" pitchFamily="34" charset="0"/>
              </a:rPr>
              <a:t>Requires a majority of two-third in both Houses of Parliament.</a:t>
            </a:r>
          </a:p>
        </p:txBody>
      </p:sp>
    </p:spTree>
    <p:extLst>
      <p:ext uri="{BB962C8B-B14F-4D97-AF65-F5344CB8AC3E}">
        <p14:creationId xmlns:p14="http://schemas.microsoft.com/office/powerpoint/2010/main" val="18482436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4AE69-865A-4428-B5C9-3D1D8E365475}"/>
              </a:ext>
            </a:extLst>
          </p:cNvPr>
          <p:cNvSpPr>
            <a:spLocks noGrp="1"/>
          </p:cNvSpPr>
          <p:nvPr>
            <p:ph type="title"/>
          </p:nvPr>
        </p:nvSpPr>
        <p:spPr>
          <a:xfrm>
            <a:off x="675860" y="609600"/>
            <a:ext cx="10982739" cy="887896"/>
          </a:xfrm>
        </p:spPr>
        <p:txBody>
          <a:bodyPr>
            <a:normAutofit fontScale="90000"/>
          </a:bodyPr>
          <a:lstStyle/>
          <a:p>
            <a:pPr algn="ctr"/>
            <a:r>
              <a:rPr lang="en-US" dirty="0"/>
              <a:t>THE EXAMPLES OF THE AMENDMENTS OF THE FEDERAL CONSTITUTION</a:t>
            </a:r>
            <a:endParaRPr lang="en-MY" dirty="0"/>
          </a:p>
        </p:txBody>
      </p:sp>
      <p:graphicFrame>
        <p:nvGraphicFramePr>
          <p:cNvPr id="4" name="Table 4">
            <a:extLst>
              <a:ext uri="{FF2B5EF4-FFF2-40B4-BE49-F238E27FC236}">
                <a16:creationId xmlns:a16="http://schemas.microsoft.com/office/drawing/2014/main" id="{495AC32E-9AD0-4633-96AE-BE8440C87E10}"/>
              </a:ext>
            </a:extLst>
          </p:cNvPr>
          <p:cNvGraphicFramePr>
            <a:graphicFrameLocks noGrp="1"/>
          </p:cNvGraphicFramePr>
          <p:nvPr>
            <p:ph idx="1"/>
            <p:extLst>
              <p:ext uri="{D42A27DB-BD31-4B8C-83A1-F6EECF244321}">
                <p14:modId xmlns:p14="http://schemas.microsoft.com/office/powerpoint/2010/main" val="638616913"/>
              </p:ext>
            </p:extLst>
          </p:nvPr>
        </p:nvGraphicFramePr>
        <p:xfrm>
          <a:off x="808382" y="1709530"/>
          <a:ext cx="10442714" cy="4636936"/>
        </p:xfrm>
        <a:graphic>
          <a:graphicData uri="http://schemas.openxmlformats.org/drawingml/2006/table">
            <a:tbl>
              <a:tblPr firstRow="1" bandRow="1">
                <a:tableStyleId>{5C22544A-7EE6-4342-B048-85BDC9FD1C3A}</a:tableStyleId>
              </a:tblPr>
              <a:tblGrid>
                <a:gridCol w="5221357">
                  <a:extLst>
                    <a:ext uri="{9D8B030D-6E8A-4147-A177-3AD203B41FA5}">
                      <a16:colId xmlns:a16="http://schemas.microsoft.com/office/drawing/2014/main" val="2758048341"/>
                    </a:ext>
                  </a:extLst>
                </a:gridCol>
                <a:gridCol w="5221357">
                  <a:extLst>
                    <a:ext uri="{9D8B030D-6E8A-4147-A177-3AD203B41FA5}">
                      <a16:colId xmlns:a16="http://schemas.microsoft.com/office/drawing/2014/main" val="3923501982"/>
                    </a:ext>
                  </a:extLst>
                </a:gridCol>
              </a:tblGrid>
              <a:tr h="437322">
                <a:tc>
                  <a:txBody>
                    <a:bodyPr/>
                    <a:lstStyle/>
                    <a:p>
                      <a:pPr algn="ctr"/>
                      <a:r>
                        <a:rPr lang="en-US" dirty="0"/>
                        <a:t>Issue</a:t>
                      </a:r>
                      <a:endParaRPr lang="en-MY" dirty="0"/>
                    </a:p>
                  </a:txBody>
                  <a:tcPr/>
                </a:tc>
                <a:tc>
                  <a:txBody>
                    <a:bodyPr/>
                    <a:lstStyle/>
                    <a:p>
                      <a:pPr algn="ctr"/>
                      <a:r>
                        <a:rPr lang="en-US" dirty="0"/>
                        <a:t>Amendment</a:t>
                      </a:r>
                      <a:endParaRPr lang="en-MY" dirty="0"/>
                    </a:p>
                  </a:txBody>
                  <a:tcPr/>
                </a:tc>
                <a:extLst>
                  <a:ext uri="{0D108BD9-81ED-4DB2-BD59-A6C34878D82A}">
                    <a16:rowId xmlns:a16="http://schemas.microsoft.com/office/drawing/2014/main" val="2963976348"/>
                  </a:ext>
                </a:extLst>
              </a:tr>
              <a:tr h="907774">
                <a:tc>
                  <a:txBody>
                    <a:bodyPr/>
                    <a:lstStyle/>
                    <a:p>
                      <a:r>
                        <a:rPr lang="en-US" dirty="0"/>
                        <a:t>Separation of Singapore</a:t>
                      </a:r>
                      <a:endParaRPr lang="en-MY" dirty="0"/>
                    </a:p>
                  </a:txBody>
                  <a:tcPr/>
                </a:tc>
                <a:tc>
                  <a:txBody>
                    <a:bodyPr/>
                    <a:lstStyle/>
                    <a:p>
                      <a:r>
                        <a:rPr lang="en-US" dirty="0"/>
                        <a:t>Amendment made upon having 2/3 majority support of Parliament and consent of Conference of Rulers. Singapore left the Federation in August 1965</a:t>
                      </a:r>
                      <a:endParaRPr lang="en-MY" dirty="0"/>
                    </a:p>
                  </a:txBody>
                  <a:tcPr/>
                </a:tc>
                <a:extLst>
                  <a:ext uri="{0D108BD9-81ED-4DB2-BD59-A6C34878D82A}">
                    <a16:rowId xmlns:a16="http://schemas.microsoft.com/office/drawing/2014/main" val="2168378752"/>
                  </a:ext>
                </a:extLst>
              </a:tr>
              <a:tr h="907774">
                <a:tc>
                  <a:txBody>
                    <a:bodyPr/>
                    <a:lstStyle/>
                    <a:p>
                      <a:r>
                        <a:rPr lang="en-US" dirty="0"/>
                        <a:t>On Gender</a:t>
                      </a:r>
                      <a:endParaRPr lang="en-MY" dirty="0"/>
                    </a:p>
                  </a:txBody>
                  <a:tcPr/>
                </a:tc>
                <a:tc>
                  <a:txBody>
                    <a:bodyPr/>
                    <a:lstStyle/>
                    <a:p>
                      <a:r>
                        <a:rPr lang="en-US" dirty="0"/>
                        <a:t>Amended Article 8 to include the word gender – no longer laws that discriminate women</a:t>
                      </a:r>
                      <a:endParaRPr lang="en-MY" dirty="0"/>
                    </a:p>
                  </a:txBody>
                  <a:tcPr/>
                </a:tc>
                <a:extLst>
                  <a:ext uri="{0D108BD9-81ED-4DB2-BD59-A6C34878D82A}">
                    <a16:rowId xmlns:a16="http://schemas.microsoft.com/office/drawing/2014/main" val="1739254460"/>
                  </a:ext>
                </a:extLst>
              </a:tr>
              <a:tr h="907774">
                <a:tc>
                  <a:txBody>
                    <a:bodyPr/>
                    <a:lstStyle/>
                    <a:p>
                      <a:r>
                        <a:rPr lang="en-US" dirty="0"/>
                        <a:t>Ruler Immunity</a:t>
                      </a:r>
                      <a:endParaRPr lang="en-MY" dirty="0"/>
                    </a:p>
                  </a:txBody>
                  <a:tcPr/>
                </a:tc>
                <a:tc>
                  <a:txBody>
                    <a:bodyPr/>
                    <a:lstStyle/>
                    <a:p>
                      <a:r>
                        <a:rPr lang="en-US" dirty="0"/>
                        <a:t>Amendment on ruler immunity, and rulers can be brought to court</a:t>
                      </a:r>
                      <a:endParaRPr lang="en-MY" dirty="0"/>
                    </a:p>
                  </a:txBody>
                  <a:tcPr/>
                </a:tc>
                <a:extLst>
                  <a:ext uri="{0D108BD9-81ED-4DB2-BD59-A6C34878D82A}">
                    <a16:rowId xmlns:a16="http://schemas.microsoft.com/office/drawing/2014/main" val="1307885278"/>
                  </a:ext>
                </a:extLst>
              </a:tr>
              <a:tr h="907774">
                <a:tc>
                  <a:txBody>
                    <a:bodyPr/>
                    <a:lstStyle/>
                    <a:p>
                      <a:r>
                        <a:rPr lang="en-US" dirty="0"/>
                        <a:t>Water Supply Management</a:t>
                      </a:r>
                      <a:endParaRPr lang="en-MY" dirty="0"/>
                    </a:p>
                  </a:txBody>
                  <a:tcPr/>
                </a:tc>
                <a:tc>
                  <a:txBody>
                    <a:bodyPr/>
                    <a:lstStyle/>
                    <a:p>
                      <a:r>
                        <a:rPr lang="en-US" dirty="0"/>
                        <a:t>Allows the Federal Government to monitor and supervise water supply management at the state level, except in Sabah and Sarawak</a:t>
                      </a:r>
                      <a:endParaRPr lang="en-MY" dirty="0"/>
                    </a:p>
                  </a:txBody>
                  <a:tcPr/>
                </a:tc>
                <a:extLst>
                  <a:ext uri="{0D108BD9-81ED-4DB2-BD59-A6C34878D82A}">
                    <a16:rowId xmlns:a16="http://schemas.microsoft.com/office/drawing/2014/main" val="647442123"/>
                  </a:ext>
                </a:extLst>
              </a:tr>
            </a:tbl>
          </a:graphicData>
        </a:graphic>
      </p:graphicFrame>
    </p:spTree>
    <p:extLst>
      <p:ext uri="{BB962C8B-B14F-4D97-AF65-F5344CB8AC3E}">
        <p14:creationId xmlns:p14="http://schemas.microsoft.com/office/powerpoint/2010/main" val="3702876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96050-A610-4B92-962F-D47EC1D5B40A}"/>
              </a:ext>
            </a:extLst>
          </p:cNvPr>
          <p:cNvSpPr>
            <a:spLocks noGrp="1"/>
          </p:cNvSpPr>
          <p:nvPr>
            <p:ph type="title"/>
          </p:nvPr>
        </p:nvSpPr>
        <p:spPr>
          <a:xfrm>
            <a:off x="655982" y="247650"/>
            <a:ext cx="11072191" cy="895350"/>
          </a:xfrm>
        </p:spPr>
        <p:txBody>
          <a:bodyPr>
            <a:normAutofit/>
          </a:bodyPr>
          <a:lstStyle/>
          <a:p>
            <a:pPr algn="ctr"/>
            <a:r>
              <a:rPr lang="en-US" dirty="0"/>
              <a:t>THE ISSUES/DISPUTES  REGARDING THE CONSTITUTION</a:t>
            </a:r>
            <a:endParaRPr lang="en-MY" dirty="0"/>
          </a:p>
        </p:txBody>
      </p:sp>
      <p:graphicFrame>
        <p:nvGraphicFramePr>
          <p:cNvPr id="5" name="Table 5">
            <a:extLst>
              <a:ext uri="{FF2B5EF4-FFF2-40B4-BE49-F238E27FC236}">
                <a16:creationId xmlns:a16="http://schemas.microsoft.com/office/drawing/2014/main" id="{711291E3-FE0B-43E0-BB2F-CB789C7FB516}"/>
              </a:ext>
            </a:extLst>
          </p:cNvPr>
          <p:cNvGraphicFramePr>
            <a:graphicFrameLocks noGrp="1"/>
          </p:cNvGraphicFramePr>
          <p:nvPr>
            <p:ph idx="1"/>
            <p:extLst>
              <p:ext uri="{D42A27DB-BD31-4B8C-83A1-F6EECF244321}">
                <p14:modId xmlns:p14="http://schemas.microsoft.com/office/powerpoint/2010/main" val="2588134094"/>
              </p:ext>
            </p:extLst>
          </p:nvPr>
        </p:nvGraphicFramePr>
        <p:xfrm>
          <a:off x="865498" y="1451113"/>
          <a:ext cx="10461004" cy="4469462"/>
        </p:xfrm>
        <a:graphic>
          <a:graphicData uri="http://schemas.openxmlformats.org/drawingml/2006/table">
            <a:tbl>
              <a:tblPr firstRow="1" bandRow="1">
                <a:tableStyleId>{93296810-A885-4BE3-A3E7-6D5BEEA58F35}</a:tableStyleId>
              </a:tblPr>
              <a:tblGrid>
                <a:gridCol w="5230502">
                  <a:extLst>
                    <a:ext uri="{9D8B030D-6E8A-4147-A177-3AD203B41FA5}">
                      <a16:colId xmlns:a16="http://schemas.microsoft.com/office/drawing/2014/main" val="3642588323"/>
                    </a:ext>
                  </a:extLst>
                </a:gridCol>
                <a:gridCol w="5230502">
                  <a:extLst>
                    <a:ext uri="{9D8B030D-6E8A-4147-A177-3AD203B41FA5}">
                      <a16:colId xmlns:a16="http://schemas.microsoft.com/office/drawing/2014/main" val="1009635771"/>
                    </a:ext>
                  </a:extLst>
                </a:gridCol>
              </a:tblGrid>
              <a:tr h="745435">
                <a:tc>
                  <a:txBody>
                    <a:bodyPr/>
                    <a:lstStyle/>
                    <a:p>
                      <a:pPr algn="ctr"/>
                      <a:r>
                        <a:rPr lang="en-US" sz="3200" dirty="0"/>
                        <a:t>Issues</a:t>
                      </a:r>
                      <a:endParaRPr lang="en-MY" sz="3200" dirty="0"/>
                    </a:p>
                  </a:txBody>
                  <a:tcPr>
                    <a:lnB w="12700" cap="flat" cmpd="sng" algn="ctr">
                      <a:solidFill>
                        <a:schemeClr val="tx1"/>
                      </a:solidFill>
                      <a:prstDash val="solid"/>
                      <a:round/>
                      <a:headEnd type="none" w="med" len="med"/>
                      <a:tailEnd type="none" w="med" len="med"/>
                    </a:lnB>
                  </a:tcPr>
                </a:tc>
                <a:tc>
                  <a:txBody>
                    <a:bodyPr/>
                    <a:lstStyle/>
                    <a:p>
                      <a:pPr algn="ctr"/>
                      <a:r>
                        <a:rPr lang="en-US" sz="3200" dirty="0"/>
                        <a:t>Details</a:t>
                      </a:r>
                      <a:endParaRPr lang="en-MY" sz="32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0146037"/>
                  </a:ext>
                </a:extLst>
              </a:tr>
              <a:tr h="706507">
                <a:tc>
                  <a:txBody>
                    <a:bodyPr/>
                    <a:lstStyle/>
                    <a:p>
                      <a:r>
                        <a:rPr lang="en-US" dirty="0"/>
                        <a:t>•	Judiciary line between Civil and Syariah law</a:t>
                      </a:r>
                      <a:endParaRPr lang="en-MY"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MY"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9428528"/>
                  </a:ext>
                </a:extLst>
              </a:tr>
              <a:tr h="616226">
                <a:tc>
                  <a:txBody>
                    <a:bodyPr/>
                    <a:lstStyle/>
                    <a:p>
                      <a:r>
                        <a:rPr lang="en-US" dirty="0"/>
                        <a:t>•	Federal and state government relations	</a:t>
                      </a:r>
                      <a:endParaRPr lang="en-MY"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dk1"/>
                          </a:solidFill>
                          <a:effectLst/>
                          <a:latin typeface="+mn-lt"/>
                          <a:ea typeface="+mn-ea"/>
                          <a:cs typeface="+mn-cs"/>
                        </a:rPr>
                        <a:t>Finance provision</a:t>
                      </a:r>
                      <a:endParaRPr lang="en-MY" sz="1800" kern="1200" dirty="0">
                        <a:solidFill>
                          <a:schemeClr val="dk1"/>
                        </a:solidFill>
                        <a:effectLst/>
                        <a:latin typeface="+mn-lt"/>
                        <a:ea typeface="+mn-ea"/>
                        <a:cs typeface="+mn-cs"/>
                      </a:endParaRPr>
                    </a:p>
                    <a:p>
                      <a:endParaRPr lang="en-MY"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1197851"/>
                  </a:ext>
                </a:extLst>
              </a:tr>
              <a:tr h="983145">
                <a:tc>
                  <a:txBody>
                    <a:bodyPr/>
                    <a:lstStyle/>
                    <a:p>
                      <a:r>
                        <a:rPr lang="en-MY" dirty="0"/>
                        <a:t>•	Religious disputes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	Conversion to Islam – children custody </a:t>
                      </a:r>
                    </a:p>
                    <a:p>
                      <a:r>
                        <a:rPr lang="en-US" dirty="0"/>
                        <a:t>•	Apostasy</a:t>
                      </a:r>
                    </a:p>
                    <a:p>
                      <a:r>
                        <a:rPr lang="en-US" dirty="0"/>
                        <a:t>•	The use of ‘Allah’ term</a:t>
                      </a:r>
                    </a:p>
                    <a:p>
                      <a:endParaRPr lang="en-MY"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0628694"/>
                  </a:ext>
                </a:extLst>
              </a:tr>
              <a:tr h="1162050">
                <a:tc>
                  <a:txBody>
                    <a:bodyPr/>
                    <a:lstStyle/>
                    <a:p>
                      <a:r>
                        <a:rPr lang="en-MY" dirty="0"/>
                        <a:t>•	Ethnic tension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	“sensitive matter”</a:t>
                      </a:r>
                    </a:p>
                    <a:p>
                      <a:r>
                        <a:rPr lang="en-US" dirty="0"/>
                        <a:t>•	Special position of the Malays and the </a:t>
                      </a:r>
                    </a:p>
                    <a:p>
                      <a:r>
                        <a:rPr lang="en-US" dirty="0"/>
                        <a:t>       natives</a:t>
                      </a:r>
                    </a:p>
                    <a:p>
                      <a:endParaRPr lang="en-MY"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362422"/>
                  </a:ext>
                </a:extLst>
              </a:tr>
            </a:tbl>
          </a:graphicData>
        </a:graphic>
      </p:graphicFrame>
    </p:spTree>
    <p:extLst>
      <p:ext uri="{BB962C8B-B14F-4D97-AF65-F5344CB8AC3E}">
        <p14:creationId xmlns:p14="http://schemas.microsoft.com/office/powerpoint/2010/main" val="4772357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4180-4C56-C9AF-CAC1-FC5117F8AEC9}"/>
              </a:ext>
            </a:extLst>
          </p:cNvPr>
          <p:cNvSpPr>
            <a:spLocks noGrp="1"/>
          </p:cNvSpPr>
          <p:nvPr>
            <p:ph type="title"/>
          </p:nvPr>
        </p:nvSpPr>
        <p:spPr>
          <a:xfrm>
            <a:off x="1141413" y="609600"/>
            <a:ext cx="9905998" cy="1219200"/>
          </a:xfrm>
        </p:spPr>
        <p:txBody>
          <a:bodyPr>
            <a:normAutofit/>
          </a:bodyPr>
          <a:lstStyle/>
          <a:p>
            <a:pPr algn="ctr"/>
            <a:r>
              <a:rPr lang="en-US" sz="4400" b="1" dirty="0">
                <a:effectLst/>
                <a:latin typeface="Times New Roman" panose="02020603050405020304" pitchFamily="18" charset="0"/>
                <a:ea typeface="Times New Roman" panose="02020603050405020304" pitchFamily="18" charset="0"/>
              </a:rPr>
              <a:t>CONCLUSION</a:t>
            </a:r>
            <a:endParaRPr lang="en-MY" sz="6600" dirty="0"/>
          </a:p>
        </p:txBody>
      </p:sp>
      <p:sp>
        <p:nvSpPr>
          <p:cNvPr id="3" name="Content Placeholder 2">
            <a:extLst>
              <a:ext uri="{FF2B5EF4-FFF2-40B4-BE49-F238E27FC236}">
                <a16:creationId xmlns:a16="http://schemas.microsoft.com/office/drawing/2014/main" id="{808622FD-A197-47F5-5EA4-67C793F2A0D5}"/>
              </a:ext>
            </a:extLst>
          </p:cNvPr>
          <p:cNvSpPr>
            <a:spLocks noGrp="1"/>
          </p:cNvSpPr>
          <p:nvPr>
            <p:ph idx="1"/>
          </p:nvPr>
        </p:nvSpPr>
        <p:spPr>
          <a:xfrm>
            <a:off x="496957" y="1981199"/>
            <a:ext cx="10972800" cy="3124201"/>
          </a:xfrm>
        </p:spPr>
        <p:txBody>
          <a:bodyPr/>
          <a:lstStyle/>
          <a:p>
            <a:pPr algn="just">
              <a:spcAft>
                <a:spcPts val="800"/>
              </a:spcAft>
            </a:pPr>
            <a:r>
              <a:rPr lang="en-US" sz="2400" dirty="0">
                <a:effectLst/>
                <a:latin typeface="Times New Roman" panose="02020603050405020304" pitchFamily="18" charset="0"/>
                <a:ea typeface="Times New Roman" panose="02020603050405020304" pitchFamily="18" charset="0"/>
              </a:rPr>
              <a:t>The constitution of Malaysia:</a:t>
            </a:r>
            <a:endParaRPr lang="en-MY" sz="2400" dirty="0">
              <a:effectLst/>
              <a:latin typeface="Times New Roman" panose="02020603050405020304" pitchFamily="18" charset="0"/>
              <a:ea typeface="Times New Roman" panose="02020603050405020304" pitchFamily="18" charset="0"/>
            </a:endParaRPr>
          </a:p>
          <a:p>
            <a:pPr marL="800100" lvl="1"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 combination of democracy principles, local characteristics, traditional elements and influence of British colonial.</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highest of law of the country  </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MY" dirty="0"/>
          </a:p>
        </p:txBody>
      </p:sp>
    </p:spTree>
    <p:extLst>
      <p:ext uri="{BB962C8B-B14F-4D97-AF65-F5344CB8AC3E}">
        <p14:creationId xmlns:p14="http://schemas.microsoft.com/office/powerpoint/2010/main" val="6275450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Mesh</Template>
  <TotalTime>456</TotalTime>
  <Words>1828</Words>
  <Application>Microsoft Office PowerPoint</Application>
  <PresentationFormat>Widescreen</PresentationFormat>
  <Paragraphs>201</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Century Gothic</vt:lpstr>
      <vt:lpstr>Times New Roman</vt:lpstr>
      <vt:lpstr>Wingdings 2</vt:lpstr>
      <vt:lpstr>Mesh</vt:lpstr>
      <vt:lpstr>FEM2401 Malaysian Politics and Society  TOPIC 4: The Federal Constitution of Malaysia</vt:lpstr>
      <vt:lpstr>Lesson 4: The Federal Constitution of Malaysia</vt:lpstr>
      <vt:lpstr>WHAT IS A CONSTITUTION?</vt:lpstr>
      <vt:lpstr>Constitution around the World</vt:lpstr>
      <vt:lpstr>WHAT ARE THE PURPOSES OF A CONSTITUTION?</vt:lpstr>
      <vt:lpstr>“SUPREMACY OF LAW”</vt:lpstr>
      <vt:lpstr>FORMS OF THE CONSTITUTION</vt:lpstr>
      <vt:lpstr>BACKGROUND OF THE FEDERAL CONSTITUTION (i)</vt:lpstr>
      <vt:lpstr>BACKGROUND OF THE FEDERAL CONSTITUTION (i)</vt:lpstr>
      <vt:lpstr>BACKGROUND OF THE FEDERAL CONSTITUTION (iI)</vt:lpstr>
      <vt:lpstr>REID COMMISSION</vt:lpstr>
      <vt:lpstr>Reid Commision</vt:lpstr>
      <vt:lpstr>MALAYSIAN CONSTITUTIONS</vt:lpstr>
      <vt:lpstr>THE POSITION OF THE CONSTITUTION IN MALAYSIAN LEGAL SYSTEM</vt:lpstr>
      <vt:lpstr>BASIS OF THE FEDERAL CONSTITUTION OF MALAYSIA </vt:lpstr>
      <vt:lpstr>THE SUPREMACY OF THE CONSTITUTION</vt:lpstr>
      <vt:lpstr>THE CONTENT OF THE CONSTITUTION</vt:lpstr>
      <vt:lpstr>PowerPoint Presentation</vt:lpstr>
      <vt:lpstr>INDIGENOUS (TRADITIONAL) ELEMENTS/CHARACTERS IN THE CONSTITUTION</vt:lpstr>
      <vt:lpstr>Fundamental liberties in the Constitution</vt:lpstr>
      <vt:lpstr>THE AMENDMENT OF THE CONSTITUTION</vt:lpstr>
      <vt:lpstr>THE EXAMPLES OF THE AMENDMENTS OF THE FEDERAL CONSTITUTION</vt:lpstr>
      <vt:lpstr>THE ISSUES/DISPUTES  REGARDING THE CONSTITUTION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Fitri</dc:creator>
  <cp:lastModifiedBy>Amir Munshi</cp:lastModifiedBy>
  <cp:revision>116</cp:revision>
  <dcterms:created xsi:type="dcterms:W3CDTF">2021-07-04T09:43:01Z</dcterms:created>
  <dcterms:modified xsi:type="dcterms:W3CDTF">2024-08-09T03:47:35Z</dcterms:modified>
</cp:coreProperties>
</file>