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695" r:id="rId2"/>
    <p:sldMasterId id="2147483707" r:id="rId3"/>
  </p:sldMasterIdLst>
  <p:sldIdLst>
    <p:sldId id="257" r:id="rId4"/>
    <p:sldId id="258" r:id="rId5"/>
    <p:sldId id="297" r:id="rId6"/>
    <p:sldId id="307" r:id="rId7"/>
    <p:sldId id="301" r:id="rId8"/>
    <p:sldId id="303" r:id="rId9"/>
    <p:sldId id="293" r:id="rId10"/>
    <p:sldId id="305" r:id="rId11"/>
    <p:sldId id="306" r:id="rId12"/>
    <p:sldId id="309" r:id="rId13"/>
    <p:sldId id="308" r:id="rId14"/>
    <p:sldId id="263" r:id="rId15"/>
    <p:sldId id="266" r:id="rId16"/>
    <p:sldId id="270" r:id="rId17"/>
    <p:sldId id="310" r:id="rId18"/>
    <p:sldId id="298" r:id="rId19"/>
    <p:sldId id="267" r:id="rId20"/>
    <p:sldId id="272" r:id="rId21"/>
    <p:sldId id="264" r:id="rId22"/>
    <p:sldId id="260" r:id="rId23"/>
    <p:sldId id="273" r:id="rId24"/>
    <p:sldId id="274" r:id="rId25"/>
    <p:sldId id="265" r:id="rId26"/>
    <p:sldId id="275" r:id="rId27"/>
    <p:sldId id="268" r:id="rId28"/>
    <p:sldId id="276" r:id="rId29"/>
    <p:sldId id="279" r:id="rId30"/>
    <p:sldId id="28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tri" initials="F" lastIdx="1" clrIdx="0">
    <p:extLst>
      <p:ext uri="{19B8F6BF-5375-455C-9EA6-DF929625EA0E}">
        <p15:presenceInfo xmlns:p15="http://schemas.microsoft.com/office/powerpoint/2012/main" userId="Fitr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031135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404130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538075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A877A6-B9F5-4867-A3A3-392470B18AE2}" type="datetimeFigureOut">
              <a:rPr lang="en-MY" smtClean="0"/>
              <a:t>16/8/2024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117566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A877A6-B9F5-4867-A3A3-392470B18AE2}" type="datetimeFigureOut">
              <a:rPr lang="en-MY" smtClean="0"/>
              <a:t>16/8/2024</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540901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3"/>
          <p:cNvSpPr>
            <a:spLocks noGrp="1"/>
          </p:cNvSpPr>
          <p:nvPr>
            <p:ph type="ftr" sz="quarter" idx="11"/>
          </p:nvPr>
        </p:nvSpPr>
        <p:spPr/>
        <p:txBody>
          <a:bodyPr/>
          <a:lstStyle/>
          <a:p>
            <a:endParaRPr lang="en-MY"/>
          </a:p>
        </p:txBody>
      </p:sp>
      <p:sp>
        <p:nvSpPr>
          <p:cNvPr id="6" name="Slide Number Placeholder 4"/>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409658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2"/>
          <p:cNvSpPr>
            <a:spLocks noGrp="1"/>
          </p:cNvSpPr>
          <p:nvPr>
            <p:ph type="ftr" sz="quarter" idx="11"/>
          </p:nvPr>
        </p:nvSpPr>
        <p:spPr/>
        <p:txBody>
          <a:bodyPr/>
          <a:lstStyle/>
          <a:p>
            <a:endParaRPr lang="en-MY"/>
          </a:p>
        </p:txBody>
      </p:sp>
      <p:sp>
        <p:nvSpPr>
          <p:cNvPr id="6" name="Slide Number Placeholder 3"/>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056494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5"/>
          <p:cNvSpPr>
            <a:spLocks noGrp="1"/>
          </p:cNvSpPr>
          <p:nvPr>
            <p:ph type="ftr" sz="quarter" idx="11"/>
          </p:nvPr>
        </p:nvSpPr>
        <p:spPr/>
        <p:txBody>
          <a:bodyPr/>
          <a:lstStyle/>
          <a:p>
            <a:endParaRPr lang="en-MY"/>
          </a:p>
        </p:txBody>
      </p:sp>
      <p:sp>
        <p:nvSpPr>
          <p:cNvPr id="6"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395239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16/8/2024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5940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16/8/2024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927716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031378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40301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3449068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3217090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330266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569834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16/8/2024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468046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94664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77451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73238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264110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19849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010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71187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465150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833906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22154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811470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14E152-5AF6-4A32-9BB5-E2D5EA3B01E3}"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6656139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42752252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4E152-5AF6-4A32-9BB5-E2D5EA3B01E3}"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9570003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14E152-5AF6-4A32-9BB5-E2D5EA3B01E3}" type="datetimeFigureOut">
              <a:rPr lang="en-US" smtClean="0"/>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5099276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14E152-5AF6-4A32-9BB5-E2D5EA3B01E3}" type="datetimeFigureOut">
              <a:rPr lang="en-US" smtClean="0"/>
              <a:t>8/16/2024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5789121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14E152-5AF6-4A32-9BB5-E2D5EA3B01E3}" type="datetimeFigureOut">
              <a:rPr lang="en-US" smtClean="0"/>
              <a:t>8/16/2024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0426974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4E152-5AF6-4A32-9BB5-E2D5EA3B01E3}" type="datetimeFigureOut">
              <a:rPr lang="en-US" smtClean="0"/>
              <a:t>8/16/2024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004936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4E152-5AF6-4A32-9BB5-E2D5EA3B01E3}" type="datetimeFigureOut">
              <a:rPr lang="en-US" smtClean="0"/>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163956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4E152-5AF6-4A32-9BB5-E2D5EA3B01E3}" type="datetimeFigureOut">
              <a:rPr lang="en-US" smtClean="0"/>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30285076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1393179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4205193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8A877A6-B9F5-4867-A3A3-392470B18AE2}" type="datetimeFigureOut">
              <a:rPr lang="en-MY" smtClean="0"/>
              <a:t>16/8/2024</a:t>
            </a:fld>
            <a:endParaRPr lang="en-MY"/>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MY"/>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330625C-0DFE-48EE-B4CF-6F31E8BA3B9A}" type="slidenum">
              <a:rPr lang="en-MY" smtClean="0"/>
              <a:t>‹#›</a:t>
            </a:fld>
            <a:endParaRPr lang="en-MY"/>
          </a:p>
        </p:txBody>
      </p:sp>
    </p:spTree>
    <p:extLst>
      <p:ext uri="{BB962C8B-B14F-4D97-AF65-F5344CB8AC3E}">
        <p14:creationId xmlns:p14="http://schemas.microsoft.com/office/powerpoint/2010/main" val="1589244053"/>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EFD1"/>
            </a:gs>
            <a:gs pos="64999">
              <a:srgbClr val="F0EBD5"/>
            </a:gs>
            <a:gs pos="100000">
              <a:srgbClr val="D1C39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43EDA-DEC2-4A58-BAD0-B33D6BFF9C88}" type="datetimeFigureOut">
              <a:rPr lang="en-US" smtClean="0">
                <a:solidFill>
                  <a:prstClr val="black">
                    <a:tint val="75000"/>
                  </a:prstClr>
                </a:solidFill>
              </a:rPr>
              <a:pPr/>
              <a:t>8/16/2024</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447513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4E152-5AF6-4A32-9BB5-E2D5EA3B01E3}" type="datetimeFigureOut">
              <a:rPr lang="en-US" smtClean="0"/>
              <a:t>8/16/2024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04647-6617-4D77-871B-7F401C13A077}" type="slidenum">
              <a:rPr lang="en-US" smtClean="0"/>
              <a:t>‹#›</a:t>
            </a:fld>
            <a:endParaRPr lang="en-US"/>
          </a:p>
        </p:txBody>
      </p:sp>
    </p:spTree>
    <p:extLst>
      <p:ext uri="{BB962C8B-B14F-4D97-AF65-F5344CB8AC3E}">
        <p14:creationId xmlns:p14="http://schemas.microsoft.com/office/powerpoint/2010/main" val="314388043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www.parlimen.gov.my/yda-senarai-yang-di-pertuan-agong.html?uweb=yg&amp;lang=en"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1D04A-6424-45AE-B5E7-7F06300B0972}"/>
              </a:ext>
            </a:extLst>
          </p:cNvPr>
          <p:cNvSpPr>
            <a:spLocks noGrp="1"/>
          </p:cNvSpPr>
          <p:nvPr>
            <p:ph type="ctrTitle"/>
          </p:nvPr>
        </p:nvSpPr>
        <p:spPr>
          <a:xfrm>
            <a:off x="168965" y="387626"/>
            <a:ext cx="11748052" cy="4005470"/>
          </a:xfrm>
        </p:spPr>
        <p:txBody>
          <a:bodyPr>
            <a:noAutofit/>
          </a:bodyPr>
          <a:lstStyle/>
          <a:p>
            <a:pPr algn="ctr"/>
            <a:r>
              <a:rPr lang="en-US" sz="4800" dirty="0"/>
              <a:t>FEM2401 Malaysian Politics and Society</a:t>
            </a:r>
            <a:br>
              <a:rPr lang="en-US" sz="4800" dirty="0"/>
            </a:br>
            <a:br>
              <a:rPr lang="en-US" sz="4800" dirty="0"/>
            </a:br>
            <a:r>
              <a:rPr lang="en-US" sz="4800" dirty="0"/>
              <a:t>TOPIC 4: CONSTITUTIONAL MONARCHY</a:t>
            </a:r>
            <a:endParaRPr lang="en-MY" sz="4800" dirty="0"/>
          </a:p>
        </p:txBody>
      </p:sp>
      <p:sp>
        <p:nvSpPr>
          <p:cNvPr id="3" name="Subtitle 2">
            <a:extLst>
              <a:ext uri="{FF2B5EF4-FFF2-40B4-BE49-F238E27FC236}">
                <a16:creationId xmlns:a16="http://schemas.microsoft.com/office/drawing/2014/main" id="{81C0A348-4F31-4359-AF21-1556C1BD4406}"/>
              </a:ext>
            </a:extLst>
          </p:cNvPr>
          <p:cNvSpPr>
            <a:spLocks noGrp="1"/>
          </p:cNvSpPr>
          <p:nvPr>
            <p:ph type="subTitle" idx="1"/>
          </p:nvPr>
        </p:nvSpPr>
        <p:spPr>
          <a:xfrm>
            <a:off x="1697951" y="5029200"/>
            <a:ext cx="8637072" cy="1441174"/>
          </a:xfrm>
        </p:spPr>
        <p:txBody>
          <a:bodyPr>
            <a:normAutofit/>
          </a:bodyPr>
          <a:lstStyle/>
          <a:p>
            <a:pPr algn="ctr"/>
            <a:r>
              <a:rPr lang="en-US" sz="2000" dirty="0">
                <a:solidFill>
                  <a:schemeClr val="tx1"/>
                </a:solidFill>
              </a:rPr>
              <a:t>Lecturer:</a:t>
            </a:r>
          </a:p>
          <a:p>
            <a:pPr algn="ctr"/>
            <a:r>
              <a:rPr lang="en-US" sz="2000" dirty="0">
                <a:solidFill>
                  <a:schemeClr val="tx1"/>
                </a:solidFill>
              </a:rPr>
              <a:t>MUHAMMAD AMIR BIN MUNSHI</a:t>
            </a:r>
          </a:p>
          <a:p>
            <a:pPr algn="ctr"/>
            <a:endParaRPr lang="en-US" sz="2000" dirty="0">
              <a:solidFill>
                <a:schemeClr val="tx1"/>
              </a:solidFill>
            </a:endParaRPr>
          </a:p>
        </p:txBody>
      </p:sp>
    </p:spTree>
    <p:extLst>
      <p:ext uri="{BB962C8B-B14F-4D97-AF65-F5344CB8AC3E}">
        <p14:creationId xmlns:p14="http://schemas.microsoft.com/office/powerpoint/2010/main" val="4064793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129D9-F11E-46DB-ACDB-BB2128B45864}"/>
              </a:ext>
            </a:extLst>
          </p:cNvPr>
          <p:cNvSpPr>
            <a:spLocks noGrp="1"/>
          </p:cNvSpPr>
          <p:nvPr>
            <p:ph type="title"/>
          </p:nvPr>
        </p:nvSpPr>
        <p:spPr>
          <a:xfrm>
            <a:off x="208722" y="452718"/>
            <a:ext cx="10416208" cy="1127604"/>
          </a:xfrm>
        </p:spPr>
        <p:txBody>
          <a:bodyPr/>
          <a:lstStyle/>
          <a:p>
            <a:pPr algn="ctr"/>
            <a:r>
              <a:rPr lang="en-US" b="1" dirty="0"/>
              <a:t>TOPIC 4: CONSTITUTIONAL MONARCHY</a:t>
            </a:r>
            <a:endParaRPr lang="en-MY" b="1" dirty="0"/>
          </a:p>
        </p:txBody>
      </p:sp>
      <p:sp>
        <p:nvSpPr>
          <p:cNvPr id="3" name="Content Placeholder 2">
            <a:extLst>
              <a:ext uri="{FF2B5EF4-FFF2-40B4-BE49-F238E27FC236}">
                <a16:creationId xmlns:a16="http://schemas.microsoft.com/office/drawing/2014/main" id="{6AE6AEBA-5E32-4CF4-AC91-E90CAD078BC6}"/>
              </a:ext>
            </a:extLst>
          </p:cNvPr>
          <p:cNvSpPr>
            <a:spLocks noGrp="1"/>
          </p:cNvSpPr>
          <p:nvPr>
            <p:ph idx="1"/>
          </p:nvPr>
        </p:nvSpPr>
        <p:spPr>
          <a:xfrm>
            <a:off x="208723" y="2047461"/>
            <a:ext cx="11648660" cy="4522304"/>
          </a:xfrm>
        </p:spPr>
        <p:txBody>
          <a:bodyPr>
            <a:normAutofit lnSpcReduction="10000"/>
          </a:bodyPr>
          <a:lstStyle/>
          <a:p>
            <a:pPr marL="0" indent="0">
              <a:buNone/>
            </a:pPr>
            <a:r>
              <a:rPr lang="en-US" sz="2400" dirty="0"/>
              <a:t>LEARNING OUTCOME :</a:t>
            </a:r>
          </a:p>
          <a:p>
            <a:pPr marL="0" indent="0">
              <a:buNone/>
            </a:pPr>
            <a:r>
              <a:rPr lang="en-US" sz="2400" dirty="0"/>
              <a:t>●	To explain the concept constitutional monarchy</a:t>
            </a:r>
          </a:p>
          <a:p>
            <a:pPr marL="0" indent="0">
              <a:buNone/>
            </a:pPr>
            <a:r>
              <a:rPr lang="en-US" sz="2400" dirty="0"/>
              <a:t>●	To understand the structure and role of the institution of constitutional monarchy </a:t>
            </a:r>
          </a:p>
          <a:p>
            <a:pPr marL="0" indent="0">
              <a:buNone/>
            </a:pPr>
            <a:endParaRPr lang="en-US" sz="2400" dirty="0"/>
          </a:p>
          <a:p>
            <a:pPr marL="0" indent="0">
              <a:buNone/>
            </a:pPr>
            <a:r>
              <a:rPr lang="en-US" sz="2400" dirty="0"/>
              <a:t>Overview :</a:t>
            </a:r>
          </a:p>
          <a:p>
            <a:pPr marL="0" indent="0">
              <a:buNone/>
            </a:pPr>
            <a:r>
              <a:rPr lang="en-US" sz="2400" dirty="0"/>
              <a:t>-	Background of the monarchy system</a:t>
            </a:r>
          </a:p>
          <a:p>
            <a:pPr marL="0" indent="0">
              <a:buNone/>
            </a:pPr>
            <a:r>
              <a:rPr lang="en-US" sz="2400" dirty="0"/>
              <a:t>-	The concept of constitutional monarchy</a:t>
            </a:r>
          </a:p>
          <a:p>
            <a:pPr marL="0" indent="0">
              <a:buNone/>
            </a:pPr>
            <a:r>
              <a:rPr lang="en-US" sz="2400" dirty="0"/>
              <a:t>-	Yang di-</a:t>
            </a:r>
            <a:r>
              <a:rPr lang="en-US" sz="2400" dirty="0" err="1"/>
              <a:t>Pertuan</a:t>
            </a:r>
            <a:r>
              <a:rPr lang="en-US" sz="2400" dirty="0"/>
              <a:t> </a:t>
            </a:r>
            <a:r>
              <a:rPr lang="en-US" sz="2400" dirty="0" err="1"/>
              <a:t>Agong</a:t>
            </a:r>
            <a:r>
              <a:rPr lang="en-US" sz="2400" dirty="0"/>
              <a:t> (The King)</a:t>
            </a:r>
          </a:p>
          <a:p>
            <a:pPr marL="0" indent="0">
              <a:buNone/>
            </a:pPr>
            <a:r>
              <a:rPr lang="en-US" sz="2400" dirty="0"/>
              <a:t>-	Conference of rulers </a:t>
            </a:r>
          </a:p>
          <a:p>
            <a:pPr marL="0" indent="0">
              <a:buNone/>
            </a:pPr>
            <a:endParaRPr lang="en-MY" dirty="0"/>
          </a:p>
        </p:txBody>
      </p:sp>
    </p:spTree>
    <p:extLst>
      <p:ext uri="{BB962C8B-B14F-4D97-AF65-F5344CB8AC3E}">
        <p14:creationId xmlns:p14="http://schemas.microsoft.com/office/powerpoint/2010/main" val="2847800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a:bodyPr>
          <a:lstStyle/>
          <a:p>
            <a:r>
              <a:rPr lang="en-US" b="1" dirty="0">
                <a:solidFill>
                  <a:schemeClr val="accent1">
                    <a:lumMod val="50000"/>
                  </a:schemeClr>
                </a:solidFill>
              </a:rPr>
              <a:t>Terms</a:t>
            </a:r>
            <a:endParaRPr lang="en-US" sz="3200" b="1" dirty="0">
              <a:solidFill>
                <a:schemeClr val="accent1">
                  <a:lumMod val="50000"/>
                </a:schemeClr>
              </a:solidFill>
            </a:endParaRPr>
          </a:p>
        </p:txBody>
      </p:sp>
      <p:sp>
        <p:nvSpPr>
          <p:cNvPr id="3" name="Content Placeholder 2"/>
          <p:cNvSpPr>
            <a:spLocks noGrp="1"/>
          </p:cNvSpPr>
          <p:nvPr>
            <p:ph idx="1"/>
          </p:nvPr>
        </p:nvSpPr>
        <p:spPr>
          <a:xfrm>
            <a:off x="198782" y="1219200"/>
            <a:ext cx="11847443" cy="5410200"/>
          </a:xfrm>
        </p:spPr>
        <p:txBody>
          <a:bodyPr>
            <a:normAutofit lnSpcReduction="10000"/>
          </a:bodyPr>
          <a:lstStyle/>
          <a:p>
            <a:pPr algn="just"/>
            <a:r>
              <a:rPr lang="en-US" b="1" dirty="0"/>
              <a:t>Yang di-</a:t>
            </a:r>
            <a:r>
              <a:rPr lang="en-US" b="1" dirty="0" err="1"/>
              <a:t>Pertuan</a:t>
            </a:r>
            <a:r>
              <a:rPr lang="en-US" b="1" dirty="0"/>
              <a:t> </a:t>
            </a:r>
            <a:r>
              <a:rPr lang="en-US" b="1" dirty="0" err="1"/>
              <a:t>Agong</a:t>
            </a:r>
            <a:r>
              <a:rPr lang="en-US" b="1" dirty="0"/>
              <a:t> (YDPA) </a:t>
            </a:r>
            <a:r>
              <a:rPr lang="en-US" dirty="0"/>
              <a:t>= The King = The Head of Country/State/Federation</a:t>
            </a:r>
          </a:p>
          <a:p>
            <a:pPr algn="just"/>
            <a:r>
              <a:rPr lang="en-US" b="1" dirty="0"/>
              <a:t>Sultan = Raja = Malay Ruler/Ruler </a:t>
            </a:r>
            <a:r>
              <a:rPr lang="en-US" dirty="0"/>
              <a:t>= Head of nine states [Perlis, Kedah, Perak, Selangor, Negeri Sembilan (</a:t>
            </a:r>
            <a:r>
              <a:rPr lang="en-US" dirty="0" err="1"/>
              <a:t>Yamtuan</a:t>
            </a:r>
            <a:r>
              <a:rPr lang="en-US" dirty="0"/>
              <a:t>), Johor, Pahang, Terengganu, Kelantan] </a:t>
            </a:r>
          </a:p>
          <a:p>
            <a:pPr algn="just"/>
            <a:r>
              <a:rPr lang="en-US" b="1" dirty="0" err="1"/>
              <a:t>Timbalan</a:t>
            </a:r>
            <a:r>
              <a:rPr lang="en-US" b="1" dirty="0"/>
              <a:t> Yang di-</a:t>
            </a:r>
            <a:r>
              <a:rPr lang="en-US" b="1" dirty="0" err="1"/>
              <a:t>Pertuan</a:t>
            </a:r>
            <a:r>
              <a:rPr lang="en-US" b="1" dirty="0"/>
              <a:t> </a:t>
            </a:r>
            <a:r>
              <a:rPr lang="en-US" b="1" dirty="0" err="1"/>
              <a:t>Agong</a:t>
            </a:r>
            <a:r>
              <a:rPr lang="en-US" b="1" dirty="0"/>
              <a:t> </a:t>
            </a:r>
            <a:r>
              <a:rPr lang="en-US" dirty="0"/>
              <a:t>= Deputy of the Yang di-</a:t>
            </a:r>
            <a:r>
              <a:rPr lang="en-US" dirty="0" err="1"/>
              <a:t>Pertuan</a:t>
            </a:r>
            <a:r>
              <a:rPr lang="en-US" dirty="0"/>
              <a:t> </a:t>
            </a:r>
            <a:r>
              <a:rPr lang="en-US" dirty="0" err="1"/>
              <a:t>Agong</a:t>
            </a:r>
            <a:endParaRPr lang="en-US" dirty="0"/>
          </a:p>
          <a:p>
            <a:pPr algn="just"/>
            <a:r>
              <a:rPr lang="en-US" b="1" dirty="0"/>
              <a:t>Yang di-</a:t>
            </a:r>
            <a:r>
              <a:rPr lang="en-US" b="1" dirty="0" err="1"/>
              <a:t>Pertua</a:t>
            </a:r>
            <a:r>
              <a:rPr lang="en-US" b="1" dirty="0"/>
              <a:t> Negeri </a:t>
            </a:r>
            <a:r>
              <a:rPr lang="en-US" dirty="0"/>
              <a:t>= State Governor = Head of four states (</a:t>
            </a:r>
            <a:r>
              <a:rPr lang="en-US" dirty="0" err="1"/>
              <a:t>Pulau</a:t>
            </a:r>
            <a:r>
              <a:rPr lang="en-US" dirty="0"/>
              <a:t> Pinang, Melaka, Sabah and Sarawak)</a:t>
            </a:r>
          </a:p>
          <a:p>
            <a:pPr algn="just"/>
            <a:r>
              <a:rPr lang="en-US" b="1" dirty="0"/>
              <a:t>Raja </a:t>
            </a:r>
            <a:r>
              <a:rPr lang="en-US" b="1" dirty="0" err="1"/>
              <a:t>Permaisuri</a:t>
            </a:r>
            <a:r>
              <a:rPr lang="en-US" b="1" dirty="0"/>
              <a:t> </a:t>
            </a:r>
            <a:r>
              <a:rPr lang="en-US" b="1" dirty="0" err="1"/>
              <a:t>Agong</a:t>
            </a:r>
            <a:r>
              <a:rPr lang="en-US" b="1" dirty="0"/>
              <a:t> </a:t>
            </a:r>
            <a:r>
              <a:rPr lang="en-US" dirty="0"/>
              <a:t>= The Queen (wife to the King)</a:t>
            </a:r>
          </a:p>
          <a:p>
            <a:pPr algn="just"/>
            <a:r>
              <a:rPr lang="en-US" b="1" dirty="0"/>
              <a:t>Majlis Raja-raja</a:t>
            </a:r>
            <a:r>
              <a:rPr lang="en-US" dirty="0"/>
              <a:t> = Conference of Rulers / Council of Rulers</a:t>
            </a:r>
          </a:p>
        </p:txBody>
      </p:sp>
    </p:spTree>
    <p:extLst>
      <p:ext uri="{BB962C8B-B14F-4D97-AF65-F5344CB8AC3E}">
        <p14:creationId xmlns:p14="http://schemas.microsoft.com/office/powerpoint/2010/main" val="3578377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B4E2F-19D8-5BFB-C14A-FEBB5C003CE7}"/>
              </a:ext>
            </a:extLst>
          </p:cNvPr>
          <p:cNvSpPr>
            <a:spLocks noGrp="1"/>
          </p:cNvSpPr>
          <p:nvPr>
            <p:ph type="title"/>
          </p:nvPr>
        </p:nvSpPr>
        <p:spPr/>
        <p:txBody>
          <a:bodyPr/>
          <a:lstStyle/>
          <a:p>
            <a:r>
              <a:rPr lang="en-US" b="1" dirty="0"/>
              <a:t>BACKGROUND OF THE MONARCHY SYSTEM</a:t>
            </a:r>
            <a:endParaRPr lang="en-MY" b="1" dirty="0"/>
          </a:p>
        </p:txBody>
      </p:sp>
      <p:sp>
        <p:nvSpPr>
          <p:cNvPr id="3" name="Content Placeholder 2">
            <a:extLst>
              <a:ext uri="{FF2B5EF4-FFF2-40B4-BE49-F238E27FC236}">
                <a16:creationId xmlns:a16="http://schemas.microsoft.com/office/drawing/2014/main" id="{CE319B62-EFD1-6114-F3DC-54B4335B6D69}"/>
              </a:ext>
            </a:extLst>
          </p:cNvPr>
          <p:cNvSpPr>
            <a:spLocks noGrp="1"/>
          </p:cNvSpPr>
          <p:nvPr>
            <p:ph idx="1"/>
          </p:nvPr>
        </p:nvSpPr>
        <p:spPr>
          <a:xfrm>
            <a:off x="159025" y="1600201"/>
            <a:ext cx="11877261" cy="5088834"/>
          </a:xfrm>
        </p:spPr>
        <p:txBody>
          <a:bodyPr>
            <a:normAutofit fontScale="92500" lnSpcReduction="20000"/>
          </a:bodyPr>
          <a:lstStyle/>
          <a:p>
            <a:r>
              <a:rPr lang="en-US" sz="2400" dirty="0"/>
              <a:t>FROM ABSOLUTE POWER → LIMITED BY CONSTITUTION </a:t>
            </a:r>
          </a:p>
          <a:p>
            <a:endParaRPr lang="en-US" sz="2400" dirty="0"/>
          </a:p>
          <a:p>
            <a:r>
              <a:rPr lang="en-US" sz="2400" b="1" dirty="0"/>
              <a:t>Malacca Sultanate/Empire </a:t>
            </a:r>
          </a:p>
          <a:p>
            <a:pPr lvl="1"/>
            <a:r>
              <a:rPr lang="en-US" sz="2200" dirty="0"/>
              <a:t>Sultan was the head of the state - control every aspect of the state administration (absolute) such as economy, politics and social</a:t>
            </a:r>
          </a:p>
          <a:p>
            <a:pPr lvl="1"/>
            <a:r>
              <a:rPr lang="en-US" sz="2200" dirty="0"/>
              <a:t>The Malay and Islam were given the highest position</a:t>
            </a:r>
          </a:p>
          <a:p>
            <a:pPr lvl="1"/>
            <a:endParaRPr lang="en-US" sz="2200" dirty="0"/>
          </a:p>
          <a:p>
            <a:r>
              <a:rPr lang="en-US" sz="2400" b="1" dirty="0"/>
              <a:t>Portuguese and Dutch’s Colonial</a:t>
            </a:r>
            <a:r>
              <a:rPr lang="en-US" sz="2400" dirty="0"/>
              <a:t> </a:t>
            </a:r>
          </a:p>
          <a:p>
            <a:pPr lvl="1"/>
            <a:r>
              <a:rPr lang="en-US" sz="2200" dirty="0"/>
              <a:t>The structure of the state administration not much different during Portuguese and Dutch colonialization – Sultan was the highest position</a:t>
            </a:r>
          </a:p>
          <a:p>
            <a:pPr marL="457200" lvl="1" indent="0">
              <a:buNone/>
            </a:pPr>
            <a:endParaRPr lang="en-US" sz="2400" dirty="0"/>
          </a:p>
          <a:p>
            <a:r>
              <a:rPr lang="en-US" sz="2400" b="1" dirty="0"/>
              <a:t>British colonial </a:t>
            </a:r>
          </a:p>
          <a:p>
            <a:pPr lvl="1"/>
            <a:r>
              <a:rPr lang="en-US" sz="2200" dirty="0"/>
              <a:t>Indirect rule of the British changed of powers of the Sultan/Malay rulers (Residential system, Malayan Union, Federated Malay States)</a:t>
            </a:r>
          </a:p>
          <a:p>
            <a:pPr lvl="1"/>
            <a:r>
              <a:rPr lang="en-US" sz="2200" dirty="0"/>
              <a:t>Sultan’s powers reduced in matters of Islamic matters and Malay custom </a:t>
            </a:r>
          </a:p>
          <a:p>
            <a:pPr lvl="1"/>
            <a:r>
              <a:rPr lang="en-US" sz="2200" dirty="0"/>
              <a:t>Conference of Rulers was established in 1897</a:t>
            </a:r>
          </a:p>
          <a:p>
            <a:endParaRPr lang="en-MY" sz="2400" dirty="0"/>
          </a:p>
        </p:txBody>
      </p:sp>
    </p:spTree>
    <p:extLst>
      <p:ext uri="{BB962C8B-B14F-4D97-AF65-F5344CB8AC3E}">
        <p14:creationId xmlns:p14="http://schemas.microsoft.com/office/powerpoint/2010/main" val="1986207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D4A6F40E-BF7D-05EE-AAF0-0F00F4CF1E86}"/>
              </a:ext>
            </a:extLst>
          </p:cNvPr>
          <p:cNvPicPr>
            <a:picLocks noGrp="1" noChangeAspect="1"/>
          </p:cNvPicPr>
          <p:nvPr>
            <p:ph idx="1"/>
          </p:nvPr>
        </p:nvPicPr>
        <p:blipFill>
          <a:blip r:embed="rId2"/>
          <a:stretch>
            <a:fillRect/>
          </a:stretch>
        </p:blipFill>
        <p:spPr>
          <a:xfrm>
            <a:off x="986104" y="1822600"/>
            <a:ext cx="9998483" cy="2461165"/>
          </a:xfrm>
          <a:prstGeom prst="rect">
            <a:avLst/>
          </a:prstGeom>
        </p:spPr>
      </p:pic>
    </p:spTree>
    <p:extLst>
      <p:ext uri="{BB962C8B-B14F-4D97-AF65-F5344CB8AC3E}">
        <p14:creationId xmlns:p14="http://schemas.microsoft.com/office/powerpoint/2010/main" val="781778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t>CONCEPT OF CONSTITUTIONAL MONARCHY</a:t>
            </a:r>
          </a:p>
        </p:txBody>
      </p:sp>
      <p:sp>
        <p:nvSpPr>
          <p:cNvPr id="3" name="Content Placeholder 2"/>
          <p:cNvSpPr>
            <a:spLocks noGrp="1"/>
          </p:cNvSpPr>
          <p:nvPr>
            <p:ph idx="1"/>
          </p:nvPr>
        </p:nvSpPr>
        <p:spPr>
          <a:xfrm>
            <a:off x="248478" y="1600200"/>
            <a:ext cx="11708295" cy="4953000"/>
          </a:xfrm>
        </p:spPr>
        <p:txBody>
          <a:bodyPr>
            <a:normAutofit/>
          </a:bodyPr>
          <a:lstStyle/>
          <a:p>
            <a:pPr algn="just"/>
            <a:r>
              <a:rPr lang="en-US" sz="2800" dirty="0"/>
              <a:t>A constitutional monarch is a hereditary symbolic head of state (who may be an emperor, king or queen, prince or grand duke) who mainly performs representative and civic roles but does not exercise (the actual) executive or policymaking power. </a:t>
            </a:r>
          </a:p>
          <a:p>
            <a:pPr algn="just"/>
            <a:r>
              <a:rPr lang="en-US" sz="2800" dirty="0"/>
              <a:t>Constitutional monarchies are found in some countries such as in UK, Belgium, the Netherlands, Sweden, Thailand, Japan and Malaysia. </a:t>
            </a:r>
          </a:p>
          <a:p>
            <a:pPr algn="just"/>
            <a:r>
              <a:rPr lang="en-US" sz="2800" dirty="0"/>
              <a:t>The role of constitutional monarchs in parliamentary democracies </a:t>
            </a:r>
          </a:p>
          <a:p>
            <a:pPr lvl="1" algn="just"/>
            <a:r>
              <a:rPr lang="en-US" sz="2400" dirty="0"/>
              <a:t>the effective powers of government are hold by a Prime Minister and cabinet who are politically responsible to the parliamentary majority;</a:t>
            </a:r>
          </a:p>
          <a:p>
            <a:pPr lvl="1" algn="just"/>
            <a:r>
              <a:rPr lang="en-US" sz="2400" dirty="0"/>
              <a:t>there is a hereditary monarch who is restricted to representative, ceremonial and civic duties, and sometimes to the role of a constitutional arbiter. </a:t>
            </a:r>
          </a:p>
        </p:txBody>
      </p:sp>
    </p:spTree>
    <p:extLst>
      <p:ext uri="{BB962C8B-B14F-4D97-AF65-F5344CB8AC3E}">
        <p14:creationId xmlns:p14="http://schemas.microsoft.com/office/powerpoint/2010/main" val="1529013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9575" y="1232452"/>
            <a:ext cx="11506200" cy="4893712"/>
          </a:xfrm>
        </p:spPr>
        <p:txBody>
          <a:bodyPr>
            <a:normAutofit/>
          </a:bodyPr>
          <a:lstStyle/>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r>
              <a:rPr lang="en-US" sz="2400" dirty="0"/>
              <a:t>Monarchy system according to rules/ constitutional provisions</a:t>
            </a:r>
          </a:p>
          <a:p>
            <a:pPr algn="just"/>
            <a:r>
              <a:rPr lang="en-US" sz="2400" dirty="0"/>
              <a:t>Indirect powers– represented by the People’s Representatives </a:t>
            </a:r>
          </a:p>
          <a:p>
            <a:pPr algn="just"/>
            <a:r>
              <a:rPr lang="en-US" sz="2400" dirty="0"/>
              <a:t>Yang Di-</a:t>
            </a:r>
            <a:r>
              <a:rPr lang="en-US" sz="2400" dirty="0" err="1"/>
              <a:t>Pertuan</a:t>
            </a:r>
            <a:r>
              <a:rPr lang="en-US" sz="2400" dirty="0"/>
              <a:t> </a:t>
            </a:r>
            <a:r>
              <a:rPr lang="en-US" sz="2400" dirty="0" err="1"/>
              <a:t>Agong</a:t>
            </a:r>
            <a:r>
              <a:rPr lang="en-US" sz="2400" dirty="0"/>
              <a:t> (YDPA) – head of the country: YDPA has symbolic duties </a:t>
            </a:r>
          </a:p>
          <a:p>
            <a:pPr algn="just"/>
            <a:r>
              <a:rPr lang="en-US" sz="2400" dirty="0"/>
              <a:t>Acts in accordance to advice given</a:t>
            </a:r>
          </a:p>
          <a:p>
            <a:pPr algn="just"/>
            <a:endParaRPr lang="en-US" sz="2400" dirty="0"/>
          </a:p>
        </p:txBody>
      </p:sp>
      <p:pic>
        <p:nvPicPr>
          <p:cNvPr id="6" name="Picture 5">
            <a:extLst>
              <a:ext uri="{FF2B5EF4-FFF2-40B4-BE49-F238E27FC236}">
                <a16:creationId xmlns:a16="http://schemas.microsoft.com/office/drawing/2014/main" id="{AE46C70D-CD4D-3E22-5830-AA0170217FA6}"/>
              </a:ext>
            </a:extLst>
          </p:cNvPr>
          <p:cNvPicPr>
            <a:picLocks noChangeAspect="1"/>
          </p:cNvPicPr>
          <p:nvPr/>
        </p:nvPicPr>
        <p:blipFill>
          <a:blip r:embed="rId2"/>
          <a:stretch>
            <a:fillRect/>
          </a:stretch>
        </p:blipFill>
        <p:spPr>
          <a:xfrm>
            <a:off x="1682455" y="731836"/>
            <a:ext cx="8648533" cy="2284728"/>
          </a:xfrm>
          <a:prstGeom prst="rect">
            <a:avLst/>
          </a:prstGeom>
        </p:spPr>
      </p:pic>
    </p:spTree>
    <p:extLst>
      <p:ext uri="{BB962C8B-B14F-4D97-AF65-F5344CB8AC3E}">
        <p14:creationId xmlns:p14="http://schemas.microsoft.com/office/powerpoint/2010/main" val="399707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73137"/>
          </a:xfrm>
        </p:spPr>
        <p:txBody>
          <a:bodyPr/>
          <a:lstStyle/>
          <a:p>
            <a:r>
              <a:rPr lang="it-IT" b="1" dirty="0"/>
              <a:t>APPOINTMENT OF YDPA</a:t>
            </a:r>
            <a:endParaRPr lang="en-US" b="1" dirty="0"/>
          </a:p>
        </p:txBody>
      </p:sp>
      <p:sp>
        <p:nvSpPr>
          <p:cNvPr id="3" name="Content Placeholder 2"/>
          <p:cNvSpPr>
            <a:spLocks noGrp="1"/>
          </p:cNvSpPr>
          <p:nvPr>
            <p:ph idx="1"/>
          </p:nvPr>
        </p:nvSpPr>
        <p:spPr>
          <a:xfrm>
            <a:off x="238125" y="1133061"/>
            <a:ext cx="11639550" cy="5572539"/>
          </a:xfrm>
          <a:solidFill>
            <a:srgbClr val="FFFF00"/>
          </a:solidFill>
        </p:spPr>
        <p:txBody>
          <a:bodyPr>
            <a:normAutofit lnSpcReduction="10000"/>
          </a:bodyPr>
          <a:lstStyle/>
          <a:p>
            <a:pPr marL="0" indent="0" algn="just">
              <a:buNone/>
            </a:pPr>
            <a:r>
              <a:rPr lang="en-US" sz="2400" dirty="0"/>
              <a:t>Based on Table 3 of The Federal Constitution</a:t>
            </a:r>
          </a:p>
          <a:p>
            <a:pPr algn="just"/>
            <a:r>
              <a:rPr lang="en-US" sz="2400" dirty="0"/>
              <a:t>Only rulers are chosen based on their seniority (according to the duration they are rulers in their respective states) </a:t>
            </a:r>
          </a:p>
          <a:p>
            <a:pPr algn="just"/>
            <a:r>
              <a:rPr lang="en-US" sz="2400" dirty="0"/>
              <a:t>Vote is only done by the rulers- in attendance are the rulers and </a:t>
            </a:r>
            <a:r>
              <a:rPr lang="en-US" sz="2400" dirty="0" err="1"/>
              <a:t>Penyimpan</a:t>
            </a:r>
            <a:r>
              <a:rPr lang="en-US" sz="2400" dirty="0"/>
              <a:t> Mohor </a:t>
            </a:r>
            <a:r>
              <a:rPr lang="en-US" sz="2400" dirty="0" err="1"/>
              <a:t>Besar</a:t>
            </a:r>
            <a:r>
              <a:rPr lang="en-US" sz="2400" dirty="0"/>
              <a:t> Raja-raja or PMBRR (the Keeper of the Rules’ Seal)</a:t>
            </a:r>
          </a:p>
          <a:p>
            <a:pPr algn="just"/>
            <a:r>
              <a:rPr lang="en-US" sz="2400" dirty="0"/>
              <a:t>The Keeper of the Rules’ Seal will conduct the voting process</a:t>
            </a:r>
          </a:p>
          <a:p>
            <a:pPr algn="just"/>
            <a:r>
              <a:rPr lang="en-US" sz="2400" dirty="0"/>
              <a:t>Appointment in rotation- cannot be chosen twice in one turn (appointment is every 5 years)</a:t>
            </a:r>
          </a:p>
          <a:p>
            <a:pPr algn="just"/>
            <a:r>
              <a:rPr lang="en-US" sz="2400" dirty="0"/>
              <a:t>Results of the votes are private and confidential </a:t>
            </a:r>
          </a:p>
          <a:p>
            <a:pPr algn="just"/>
            <a:r>
              <a:rPr lang="en-US" sz="2400" dirty="0"/>
              <a:t>Minimum 5 votes from the Conference of Rulers</a:t>
            </a:r>
          </a:p>
          <a:p>
            <a:pPr marL="0" indent="0" algn="just">
              <a:buNone/>
            </a:pPr>
            <a:r>
              <a:rPr lang="en-US" sz="2400" dirty="0"/>
              <a:t>Appointment can be hastened if:</a:t>
            </a:r>
          </a:p>
          <a:p>
            <a:pPr algn="just"/>
            <a:r>
              <a:rPr lang="en-US" sz="2400" dirty="0"/>
              <a:t>YDPA passes away</a:t>
            </a:r>
          </a:p>
          <a:p>
            <a:pPr algn="just"/>
            <a:r>
              <a:rPr lang="en-US" sz="2400" dirty="0"/>
              <a:t>A ruler that is eligible and has been appointed turns down the position </a:t>
            </a:r>
          </a:p>
          <a:p>
            <a:pPr algn="just"/>
            <a:r>
              <a:rPr lang="en-US" sz="2400" dirty="0"/>
              <a:t>Conference of Rulers finds the candidate not suitable</a:t>
            </a:r>
          </a:p>
          <a:p>
            <a:pPr algn="just"/>
            <a:endParaRPr lang="en-US" sz="2400" dirty="0"/>
          </a:p>
        </p:txBody>
      </p:sp>
    </p:spTree>
    <p:extLst>
      <p:ext uri="{BB962C8B-B14F-4D97-AF65-F5344CB8AC3E}">
        <p14:creationId xmlns:p14="http://schemas.microsoft.com/office/powerpoint/2010/main" val="3863361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11534775" cy="6553200"/>
          </a:xfrm>
          <a:solidFill>
            <a:srgbClr val="FFFF00"/>
          </a:solidFill>
        </p:spPr>
        <p:txBody>
          <a:bodyPr>
            <a:normAutofit/>
          </a:bodyPr>
          <a:lstStyle/>
          <a:p>
            <a:pPr algn="just"/>
            <a:r>
              <a:rPr lang="en-US" sz="2400" dirty="0"/>
              <a:t>Two main principles about the power of YDPA</a:t>
            </a:r>
          </a:p>
          <a:p>
            <a:pPr lvl="1" algn="just">
              <a:buFont typeface="Wingdings" panose="05000000000000000000" pitchFamily="2" charset="2"/>
              <a:buChar char="Ø"/>
            </a:pPr>
            <a:r>
              <a:rPr lang="en-US" sz="2400" dirty="0"/>
              <a:t>YDPA must act based on principle of ‘</a:t>
            </a:r>
            <a:r>
              <a:rPr lang="en-US" sz="2400" b="1" dirty="0"/>
              <a:t>acting on advice</a:t>
            </a:r>
            <a:r>
              <a:rPr lang="en-US" sz="2400" dirty="0"/>
              <a:t>’</a:t>
            </a:r>
          </a:p>
          <a:p>
            <a:pPr lvl="1" algn="just">
              <a:buFont typeface="Wingdings" panose="05000000000000000000" pitchFamily="2" charset="2"/>
              <a:buChar char="Ø"/>
            </a:pPr>
            <a:r>
              <a:rPr lang="en-US" sz="2400" dirty="0"/>
              <a:t>YDPA has </a:t>
            </a:r>
            <a:r>
              <a:rPr lang="en-US" sz="2400" b="1" dirty="0"/>
              <a:t>discretionary power </a:t>
            </a:r>
          </a:p>
          <a:p>
            <a:pPr lvl="2" algn="just"/>
            <a:r>
              <a:rPr lang="en-US" sz="2000" dirty="0"/>
              <a:t>Discretionary power (a power granted to a head of state or government to act on his own discretion under certain conditions).</a:t>
            </a:r>
          </a:p>
          <a:p>
            <a:pPr lvl="2" algn="just"/>
            <a:endParaRPr lang="en-US" sz="2000" dirty="0"/>
          </a:p>
          <a:p>
            <a:pPr marL="0" indent="0" algn="just">
              <a:buNone/>
            </a:pPr>
            <a:endParaRPr lang="en-US" sz="2800" dirty="0"/>
          </a:p>
          <a:p>
            <a:pPr marL="0" indent="0" algn="ctr">
              <a:buNone/>
            </a:pPr>
            <a:r>
              <a:rPr lang="en-US" b="1" dirty="0"/>
              <a:t>MAIN ROLES OF YDPA</a:t>
            </a:r>
          </a:p>
          <a:p>
            <a:pPr lvl="1">
              <a:buFont typeface="Arial" panose="020B0604020202020204" pitchFamily="34" charset="0"/>
              <a:buChar char="•"/>
            </a:pPr>
            <a:r>
              <a:rPr lang="en-US" sz="2400" dirty="0"/>
              <a:t>Head of the country/Head of the federation </a:t>
            </a:r>
          </a:p>
          <a:p>
            <a:pPr lvl="1">
              <a:buFont typeface="Arial" panose="020B0604020202020204" pitchFamily="34" charset="0"/>
              <a:buChar char="•"/>
            </a:pPr>
            <a:r>
              <a:rPr lang="en-US" sz="2400" dirty="0"/>
              <a:t>Head of the executive body </a:t>
            </a:r>
          </a:p>
          <a:p>
            <a:pPr lvl="1">
              <a:buFont typeface="Arial" panose="020B0604020202020204" pitchFamily="34" charset="0"/>
              <a:buChar char="•"/>
            </a:pPr>
            <a:r>
              <a:rPr lang="en-US" sz="2400" dirty="0"/>
              <a:t>Head of the legislative body </a:t>
            </a:r>
          </a:p>
          <a:p>
            <a:pPr lvl="1">
              <a:buFont typeface="Arial" panose="020B0604020202020204" pitchFamily="34" charset="0"/>
              <a:buChar char="•"/>
            </a:pPr>
            <a:r>
              <a:rPr lang="en-US" sz="2400" dirty="0"/>
              <a:t>Head of judiciary body </a:t>
            </a:r>
          </a:p>
          <a:p>
            <a:pPr lvl="1">
              <a:buFont typeface="Arial" panose="020B0604020202020204" pitchFamily="34" charset="0"/>
              <a:buChar char="•"/>
            </a:pPr>
            <a:r>
              <a:rPr lang="en-US" sz="2400" dirty="0"/>
              <a:t>Head of armed forces </a:t>
            </a:r>
          </a:p>
          <a:p>
            <a:pPr lvl="1">
              <a:buFont typeface="Arial" panose="020B0604020202020204" pitchFamily="34" charset="0"/>
              <a:buChar char="•"/>
            </a:pPr>
            <a:r>
              <a:rPr lang="en-US" sz="2400" dirty="0"/>
              <a:t>Head of religion/Islam </a:t>
            </a:r>
          </a:p>
          <a:p>
            <a:endParaRPr lang="en-US" sz="2400" dirty="0"/>
          </a:p>
        </p:txBody>
      </p:sp>
    </p:spTree>
    <p:extLst>
      <p:ext uri="{BB962C8B-B14F-4D97-AF65-F5344CB8AC3E}">
        <p14:creationId xmlns:p14="http://schemas.microsoft.com/office/powerpoint/2010/main" val="257245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1F2158-EC58-AACF-0DF7-73CC6574DEB8}"/>
              </a:ext>
            </a:extLst>
          </p:cNvPr>
          <p:cNvPicPr>
            <a:picLocks noChangeAspect="1"/>
          </p:cNvPicPr>
          <p:nvPr/>
        </p:nvPicPr>
        <p:blipFill>
          <a:blip r:embed="rId2"/>
          <a:stretch>
            <a:fillRect/>
          </a:stretch>
        </p:blipFill>
        <p:spPr>
          <a:xfrm>
            <a:off x="269189" y="726313"/>
            <a:ext cx="11677645" cy="5499793"/>
          </a:xfrm>
          <a:prstGeom prst="rect">
            <a:avLst/>
          </a:prstGeom>
        </p:spPr>
      </p:pic>
    </p:spTree>
    <p:extLst>
      <p:ext uri="{BB962C8B-B14F-4D97-AF65-F5344CB8AC3E}">
        <p14:creationId xmlns:p14="http://schemas.microsoft.com/office/powerpoint/2010/main" val="2558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E8AF3A-30D4-0B35-D3D6-D3B85D350AED}"/>
              </a:ext>
            </a:extLst>
          </p:cNvPr>
          <p:cNvSpPr>
            <a:spLocks noGrp="1"/>
          </p:cNvSpPr>
          <p:nvPr>
            <p:ph idx="1"/>
          </p:nvPr>
        </p:nvSpPr>
        <p:spPr>
          <a:xfrm>
            <a:off x="228600" y="298175"/>
            <a:ext cx="11797748" cy="6285188"/>
          </a:xfrm>
        </p:spPr>
        <p:txBody>
          <a:bodyPr>
            <a:normAutofit fontScale="47500" lnSpcReduction="20000"/>
          </a:bodyPr>
          <a:lstStyle/>
          <a:p>
            <a:pPr marL="0" indent="0">
              <a:buNone/>
            </a:pPr>
            <a:r>
              <a:rPr lang="en-US" sz="4400" b="1" dirty="0"/>
              <a:t>What is the rationale of the YDPA being the head of the three government components?</a:t>
            </a:r>
          </a:p>
          <a:p>
            <a:r>
              <a:rPr lang="en-US" sz="4400" dirty="0"/>
              <a:t>Pillar to ensure the objectivity and neutrality as well as transparency of the nation’s administration. </a:t>
            </a:r>
          </a:p>
          <a:p>
            <a:r>
              <a:rPr lang="en-US" sz="4400" dirty="0"/>
              <a:t>Principle of ‘acting on advice’- doesn’t have absolute power BUT has the right to receive ALL information on administrative matters</a:t>
            </a:r>
          </a:p>
          <a:p>
            <a:endParaRPr lang="en-US" sz="4400" dirty="0"/>
          </a:p>
          <a:p>
            <a:endParaRPr lang="en-US" sz="4400" dirty="0"/>
          </a:p>
          <a:p>
            <a:pPr marL="0" indent="0" algn="ctr">
              <a:buNone/>
            </a:pPr>
            <a:r>
              <a:rPr lang="en-US" sz="5900" b="1" dirty="0"/>
              <a:t>RESPONSIBILITIES OF YDPA </a:t>
            </a:r>
          </a:p>
          <a:p>
            <a:pPr marL="514350" indent="-514350">
              <a:buFont typeface="+mj-lt"/>
              <a:buAutoNum type="arabicPeriod"/>
            </a:pPr>
            <a:r>
              <a:rPr lang="en-US" sz="4400" b="1" dirty="0"/>
              <a:t>Legislative duty </a:t>
            </a:r>
          </a:p>
          <a:p>
            <a:pPr marL="914400" lvl="1" indent="-514350"/>
            <a:r>
              <a:rPr lang="en-US" sz="4400" dirty="0"/>
              <a:t>Legislative power in Parliament, approval of the bills </a:t>
            </a:r>
          </a:p>
          <a:p>
            <a:pPr marL="514350" indent="-514350">
              <a:buFont typeface="+mj-lt"/>
              <a:buAutoNum type="arabicPeriod"/>
            </a:pPr>
            <a:r>
              <a:rPr lang="en-US" sz="4400" dirty="0"/>
              <a:t>Executive function: </a:t>
            </a:r>
          </a:p>
          <a:p>
            <a:pPr marL="857250" lvl="1" indent="-457200"/>
            <a:r>
              <a:rPr lang="en-US" sz="4400" dirty="0"/>
              <a:t>Appointment of the highest position in the administration </a:t>
            </a:r>
          </a:p>
          <a:p>
            <a:pPr marL="857250" lvl="1" indent="-457200"/>
            <a:r>
              <a:rPr lang="en-US" sz="4400" dirty="0"/>
              <a:t>Discretionary power </a:t>
            </a:r>
          </a:p>
          <a:p>
            <a:pPr marL="514350" indent="-514350">
              <a:buFont typeface="+mj-lt"/>
              <a:buAutoNum type="arabicPeriod"/>
            </a:pPr>
            <a:r>
              <a:rPr lang="en-US" sz="4400" b="1" dirty="0"/>
              <a:t>Judiciary function </a:t>
            </a:r>
          </a:p>
          <a:p>
            <a:pPr marL="914400" lvl="1" indent="-514350"/>
            <a:r>
              <a:rPr lang="en-US" sz="4400" dirty="0"/>
              <a:t>Pardoning power </a:t>
            </a:r>
          </a:p>
          <a:p>
            <a:pPr marL="514350" indent="-514350">
              <a:buFont typeface="+mj-lt"/>
              <a:buAutoNum type="arabicPeriod"/>
            </a:pPr>
            <a:r>
              <a:rPr lang="en-US" sz="4400" b="1" dirty="0"/>
              <a:t>Protect the welfare/Safety of rakyat (People/Citizen) </a:t>
            </a:r>
          </a:p>
          <a:p>
            <a:pPr marL="914400" lvl="1" indent="-514350"/>
            <a:r>
              <a:rPr lang="en-US" sz="4400" dirty="0"/>
              <a:t>Safeguarding the special </a:t>
            </a:r>
            <a:r>
              <a:rPr lang="en-US" sz="4400" dirty="0" err="1"/>
              <a:t>positon</a:t>
            </a:r>
            <a:r>
              <a:rPr lang="en-US" sz="4400" dirty="0"/>
              <a:t> of the Malays and natives of Sabah and Sarawak; other ethnic as well </a:t>
            </a:r>
          </a:p>
          <a:p>
            <a:pPr marL="514350" indent="-514350">
              <a:buFont typeface="+mj-lt"/>
              <a:buAutoNum type="arabicPeriod"/>
            </a:pPr>
            <a:r>
              <a:rPr lang="en-US" sz="4400" b="1" dirty="0"/>
              <a:t>Head of Islam </a:t>
            </a:r>
          </a:p>
          <a:p>
            <a:pPr marL="914400" lvl="1" indent="-514350"/>
            <a:r>
              <a:rPr lang="en-US" sz="4400" dirty="0"/>
              <a:t>Islamic affair administration in the states and Federal territories </a:t>
            </a:r>
          </a:p>
          <a:p>
            <a:endParaRPr lang="en-MY" dirty="0"/>
          </a:p>
        </p:txBody>
      </p:sp>
    </p:spTree>
    <p:extLst>
      <p:ext uri="{BB962C8B-B14F-4D97-AF65-F5344CB8AC3E}">
        <p14:creationId xmlns:p14="http://schemas.microsoft.com/office/powerpoint/2010/main" val="2771277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61708F-C18F-CE29-435E-26C1D091A965}"/>
              </a:ext>
            </a:extLst>
          </p:cNvPr>
          <p:cNvSpPr>
            <a:spLocks noGrp="1"/>
          </p:cNvSpPr>
          <p:nvPr>
            <p:ph type="title"/>
          </p:nvPr>
        </p:nvSpPr>
        <p:spPr>
          <a:xfrm>
            <a:off x="198783" y="0"/>
            <a:ext cx="10813774" cy="1192696"/>
          </a:xfrm>
        </p:spPr>
        <p:txBody>
          <a:bodyPr/>
          <a:lstStyle/>
          <a:p>
            <a:pPr algn="ctr"/>
            <a:r>
              <a:rPr lang="en-US" sz="4000" dirty="0"/>
              <a:t>YDPA AS HEAD OF THE COUNTRY (Executive Power) </a:t>
            </a:r>
            <a:endParaRPr lang="en-MY" sz="4000" dirty="0"/>
          </a:p>
        </p:txBody>
      </p:sp>
      <p:sp>
        <p:nvSpPr>
          <p:cNvPr id="4" name="Content Placeholder 3">
            <a:extLst>
              <a:ext uri="{FF2B5EF4-FFF2-40B4-BE49-F238E27FC236}">
                <a16:creationId xmlns:a16="http://schemas.microsoft.com/office/drawing/2014/main" id="{238843D9-B4BB-F4A0-B729-B3F07B53BB00}"/>
              </a:ext>
            </a:extLst>
          </p:cNvPr>
          <p:cNvSpPr>
            <a:spLocks noGrp="1"/>
          </p:cNvSpPr>
          <p:nvPr>
            <p:ph sz="half" idx="1"/>
          </p:nvPr>
        </p:nvSpPr>
        <p:spPr>
          <a:xfrm>
            <a:off x="198783" y="1331843"/>
            <a:ext cx="11668539" cy="5307496"/>
          </a:xfrm>
        </p:spPr>
        <p:txBody>
          <a:bodyPr>
            <a:normAutofit fontScale="92500" lnSpcReduction="10000"/>
          </a:bodyPr>
          <a:lstStyle/>
          <a:p>
            <a:r>
              <a:rPr lang="en-US" sz="1900" dirty="0"/>
              <a:t>Article 40(1) – Acts on the advice of the Cabinet or any ministers acting on the powers given by Cabinet.</a:t>
            </a:r>
          </a:p>
          <a:p>
            <a:r>
              <a:rPr lang="en-US" sz="1900" dirty="0"/>
              <a:t>Has the right to receive all information about administrative matters from the Cabinet</a:t>
            </a:r>
          </a:p>
          <a:p>
            <a:r>
              <a:rPr lang="en-US" sz="1900" b="1" dirty="0"/>
              <a:t>Appointment of highest position in the country</a:t>
            </a:r>
          </a:p>
          <a:p>
            <a:pPr lvl="1"/>
            <a:r>
              <a:rPr lang="en-US" sz="1900" dirty="0"/>
              <a:t>Prime Minister and Cabinet ministers</a:t>
            </a:r>
          </a:p>
          <a:p>
            <a:pPr lvl="1"/>
            <a:r>
              <a:rPr lang="en-US" sz="1900" dirty="0"/>
              <a:t>Head of Judiciary (Chief Justice), judges, Auditor General, members of the Public Service Commission and Election Commission etc.</a:t>
            </a:r>
          </a:p>
          <a:p>
            <a:r>
              <a:rPr lang="en-US" sz="1900" dirty="0"/>
              <a:t>Article 40(2):- </a:t>
            </a:r>
            <a:r>
              <a:rPr lang="en-US" sz="1900" b="1" dirty="0"/>
              <a:t>Discretionary power</a:t>
            </a:r>
          </a:p>
          <a:p>
            <a:pPr lvl="1"/>
            <a:r>
              <a:rPr lang="en-US" sz="1900" dirty="0"/>
              <a:t>the  appointment  of  a prime  Minister</a:t>
            </a:r>
          </a:p>
          <a:p>
            <a:pPr lvl="1"/>
            <a:r>
              <a:rPr lang="en-US" sz="1900" dirty="0"/>
              <a:t>the withholding of consent to a request for the dissolution of parliament (to refuse a request for the dissolution)</a:t>
            </a:r>
          </a:p>
          <a:p>
            <a:pPr lvl="1"/>
            <a:r>
              <a:rPr lang="en-US" sz="1900" dirty="0"/>
              <a:t>the requisition of a meeting of the Conference of Rulers concerned  solely  with  the  privileges,  position, </a:t>
            </a:r>
            <a:r>
              <a:rPr lang="en-US" sz="1900" dirty="0" err="1"/>
              <a:t>honours</a:t>
            </a:r>
            <a:r>
              <a:rPr lang="en-US" sz="1900" dirty="0"/>
              <a:t> and dignities of their Royal highnesses, and any action at  such  a  meeting (can request for a session meeting)</a:t>
            </a:r>
          </a:p>
          <a:p>
            <a:pPr lvl="1"/>
            <a:r>
              <a:rPr lang="en-US" sz="1900" dirty="0"/>
              <a:t>other roles and responsibilities mentioned in the Constitution</a:t>
            </a:r>
          </a:p>
          <a:p>
            <a:endParaRPr lang="en-MY" dirty="0"/>
          </a:p>
        </p:txBody>
      </p:sp>
    </p:spTree>
    <p:extLst>
      <p:ext uri="{BB962C8B-B14F-4D97-AF65-F5344CB8AC3E}">
        <p14:creationId xmlns:p14="http://schemas.microsoft.com/office/powerpoint/2010/main" val="794449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B61411-B213-4797-849C-D5BD6A9419B3}"/>
              </a:ext>
            </a:extLst>
          </p:cNvPr>
          <p:cNvSpPr>
            <a:spLocks noGrp="1"/>
          </p:cNvSpPr>
          <p:nvPr>
            <p:ph idx="1"/>
          </p:nvPr>
        </p:nvSpPr>
        <p:spPr>
          <a:xfrm>
            <a:off x="655093" y="491320"/>
            <a:ext cx="10516489" cy="5757080"/>
          </a:xfrm>
        </p:spPr>
        <p:txBody>
          <a:bodyPr>
            <a:normAutofit/>
          </a:bodyPr>
          <a:lstStyle/>
          <a:p>
            <a:pPr algn="just"/>
            <a:r>
              <a:rPr lang="en-US" dirty="0"/>
              <a:t>Power to appoint or to require the resignation of the members of Cabinet or the deputy (on advice of PM) </a:t>
            </a:r>
          </a:p>
          <a:p>
            <a:pPr algn="just"/>
            <a:r>
              <a:rPr lang="en-US" dirty="0"/>
              <a:t>Power to appoint positions such as</a:t>
            </a:r>
          </a:p>
          <a:p>
            <a:pPr lvl="1" algn="just"/>
            <a:r>
              <a:rPr lang="en-US" sz="2000" dirty="0"/>
              <a:t>Members of ; Election Commission and Public Service Commission </a:t>
            </a:r>
          </a:p>
          <a:p>
            <a:pPr lvl="1" algn="just"/>
            <a:r>
              <a:rPr lang="en-US" sz="2000" dirty="0"/>
              <a:t>Auditor General</a:t>
            </a:r>
          </a:p>
          <a:p>
            <a:pPr lvl="1" algn="just"/>
            <a:r>
              <a:rPr lang="en-US" sz="2000" dirty="0"/>
              <a:t>Attorney General</a:t>
            </a:r>
          </a:p>
          <a:p>
            <a:pPr lvl="1" algn="just"/>
            <a:r>
              <a:rPr lang="en-US" sz="2000" dirty="0"/>
              <a:t>Members of Legislative Assembly</a:t>
            </a:r>
          </a:p>
          <a:p>
            <a:pPr lvl="1" algn="just"/>
            <a:r>
              <a:rPr lang="en-US" sz="2000" dirty="0"/>
              <a:t>Yang Di </a:t>
            </a:r>
            <a:r>
              <a:rPr lang="en-US" sz="2000" dirty="0" err="1"/>
              <a:t>Pertua</a:t>
            </a:r>
            <a:r>
              <a:rPr lang="en-US" sz="2000" dirty="0"/>
              <a:t> Negeri (Governor of State)</a:t>
            </a:r>
          </a:p>
          <a:p>
            <a:pPr lvl="1" algn="just"/>
            <a:r>
              <a:rPr lang="en-US" sz="2000" dirty="0"/>
              <a:t>Appoint ambassador and high commissioner of Malaysia to other countries</a:t>
            </a:r>
          </a:p>
          <a:p>
            <a:pPr algn="just"/>
            <a:endParaRPr lang="en-MY" dirty="0"/>
          </a:p>
        </p:txBody>
      </p:sp>
    </p:spTree>
    <p:extLst>
      <p:ext uri="{BB962C8B-B14F-4D97-AF65-F5344CB8AC3E}">
        <p14:creationId xmlns:p14="http://schemas.microsoft.com/office/powerpoint/2010/main" val="3048693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B791FE0-6A25-4049-A35B-1CE4DD8DA8F1}"/>
              </a:ext>
            </a:extLst>
          </p:cNvPr>
          <p:cNvSpPr>
            <a:spLocks noGrp="1"/>
          </p:cNvSpPr>
          <p:nvPr>
            <p:ph idx="1"/>
          </p:nvPr>
        </p:nvSpPr>
        <p:spPr>
          <a:xfrm>
            <a:off x="347870" y="742120"/>
            <a:ext cx="11618843" cy="5976732"/>
          </a:xfrm>
        </p:spPr>
        <p:txBody>
          <a:bodyPr>
            <a:normAutofit fontScale="92500" lnSpcReduction="10000"/>
          </a:bodyPr>
          <a:lstStyle/>
          <a:p>
            <a:pPr marL="0" indent="0" algn="just">
              <a:buNone/>
            </a:pPr>
            <a:r>
              <a:rPr lang="en-US" b="1" dirty="0"/>
              <a:t>YDPA AS HEAD OF THE COUNTRY (Legislative Powers) </a:t>
            </a:r>
          </a:p>
          <a:p>
            <a:pPr algn="just"/>
            <a:r>
              <a:rPr lang="en-US" dirty="0"/>
              <a:t>Article 44 - YDPA the House of Representatives and Senate. YDPA must consent to the legal bill before it can be promulgated as a legal law.</a:t>
            </a:r>
          </a:p>
          <a:p>
            <a:pPr algn="just"/>
            <a:r>
              <a:rPr lang="en-US" dirty="0"/>
              <a:t>Article 55 – YDPA has the power to call, stop and dissolve the Parliament.</a:t>
            </a:r>
          </a:p>
          <a:p>
            <a:pPr algn="just"/>
            <a:r>
              <a:rPr lang="en-US" dirty="0"/>
              <a:t>Agrees/disagrees to legal bills that require the consent of the Conference of Rulers</a:t>
            </a:r>
          </a:p>
          <a:p>
            <a:pPr marL="0" indent="0" algn="just">
              <a:buNone/>
            </a:pPr>
            <a:r>
              <a:rPr lang="en-US" dirty="0"/>
              <a:t> </a:t>
            </a:r>
          </a:p>
          <a:p>
            <a:pPr marL="0" indent="0" algn="just">
              <a:buNone/>
            </a:pPr>
            <a:r>
              <a:rPr lang="en-US" b="1" dirty="0"/>
              <a:t>YDPA AS HEAD OF THE COUNTRY (Judiciary Powers)</a:t>
            </a:r>
          </a:p>
          <a:p>
            <a:pPr algn="just"/>
            <a:r>
              <a:rPr lang="en-US" dirty="0"/>
              <a:t>Article 122 – appoint the head of judiciary (Chief Justice), judges of Federal Court and high court.</a:t>
            </a:r>
          </a:p>
          <a:p>
            <a:pPr algn="just"/>
            <a:r>
              <a:rPr lang="en-US" dirty="0"/>
              <a:t>Must act on the advice of Chief Justice.</a:t>
            </a:r>
          </a:p>
          <a:p>
            <a:pPr algn="just"/>
            <a:r>
              <a:rPr lang="en-US" dirty="0"/>
              <a:t>Article 42 – power to grants pardon </a:t>
            </a:r>
          </a:p>
          <a:p>
            <a:pPr algn="just"/>
            <a:endParaRPr lang="en-US" dirty="0"/>
          </a:p>
          <a:p>
            <a:pPr marL="0" indent="0" algn="just">
              <a:buNone/>
            </a:pPr>
            <a:r>
              <a:rPr lang="en-US" b="1" dirty="0"/>
              <a:t>YDPA AS HEAD OF THE COUNTRY (Head of Islam) </a:t>
            </a:r>
          </a:p>
          <a:p>
            <a:pPr algn="just"/>
            <a:r>
              <a:rPr lang="en-US" dirty="0"/>
              <a:t>For 4 states &amp; 3 Federal Territories</a:t>
            </a:r>
          </a:p>
          <a:p>
            <a:pPr algn="just"/>
            <a:r>
              <a:rPr lang="en-US" dirty="0"/>
              <a:t>Considers things in relation to Islam, as well as cultural and traditional matters </a:t>
            </a:r>
          </a:p>
          <a:p>
            <a:pPr algn="just"/>
            <a:r>
              <a:rPr lang="en-US" dirty="0"/>
              <a:t>Pass the state bills related to Islamic affairs and laws (state enactment)</a:t>
            </a:r>
          </a:p>
          <a:p>
            <a:pPr algn="just"/>
            <a:endParaRPr lang="en-US" dirty="0"/>
          </a:p>
          <a:p>
            <a:pPr algn="just"/>
            <a:endParaRPr lang="en-MY" dirty="0"/>
          </a:p>
        </p:txBody>
      </p:sp>
    </p:spTree>
    <p:extLst>
      <p:ext uri="{BB962C8B-B14F-4D97-AF65-F5344CB8AC3E}">
        <p14:creationId xmlns:p14="http://schemas.microsoft.com/office/powerpoint/2010/main" val="2101635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B791FE0-6A25-4049-A35B-1CE4DD8DA8F1}"/>
              </a:ext>
            </a:extLst>
          </p:cNvPr>
          <p:cNvSpPr>
            <a:spLocks noGrp="1"/>
          </p:cNvSpPr>
          <p:nvPr>
            <p:ph idx="1"/>
          </p:nvPr>
        </p:nvSpPr>
        <p:spPr>
          <a:xfrm>
            <a:off x="347870" y="742120"/>
            <a:ext cx="11011863" cy="5708375"/>
          </a:xfrm>
        </p:spPr>
        <p:txBody>
          <a:bodyPr>
            <a:normAutofit/>
          </a:bodyPr>
          <a:lstStyle/>
          <a:p>
            <a:pPr marL="0" indent="0" algn="just">
              <a:buNone/>
            </a:pPr>
            <a:r>
              <a:rPr lang="en-US" b="1" dirty="0"/>
              <a:t>YDPA AS HEAD OF THE COUNTRY (Other responsibilities) </a:t>
            </a:r>
          </a:p>
          <a:p>
            <a:pPr marL="0" indent="0" algn="just">
              <a:buNone/>
            </a:pPr>
            <a:r>
              <a:rPr lang="en-US" u="sng" dirty="0"/>
              <a:t>STATE ADMINISTRATION </a:t>
            </a:r>
          </a:p>
          <a:p>
            <a:pPr algn="just"/>
            <a:r>
              <a:rPr lang="en-US" dirty="0"/>
              <a:t>Considers state lines and demarcation</a:t>
            </a:r>
          </a:p>
          <a:p>
            <a:pPr algn="just"/>
            <a:r>
              <a:rPr lang="en-US" dirty="0"/>
              <a:t>Power to declare a state of Emergency and introduce emergency laws (Article 150)</a:t>
            </a:r>
          </a:p>
          <a:p>
            <a:pPr algn="just"/>
            <a:r>
              <a:rPr lang="en-US" dirty="0"/>
              <a:t>Expands members of the Federation</a:t>
            </a:r>
          </a:p>
          <a:p>
            <a:pPr marL="0" indent="0" algn="just">
              <a:buNone/>
            </a:pPr>
            <a:endParaRPr lang="en-MY" dirty="0"/>
          </a:p>
          <a:p>
            <a:pPr marL="0" indent="0" algn="just">
              <a:buNone/>
            </a:pPr>
            <a:endParaRPr lang="en-MY" dirty="0"/>
          </a:p>
          <a:p>
            <a:pPr marL="0" indent="0" algn="just">
              <a:buNone/>
            </a:pPr>
            <a:r>
              <a:rPr lang="en-US" b="1" dirty="0"/>
              <a:t>YDPA AS HEAD OF THE COUNTRY (Protect the society, country sovereignty and culture)</a:t>
            </a:r>
          </a:p>
          <a:p>
            <a:pPr algn="just">
              <a:buFont typeface="Wingdings" panose="05000000000000000000" pitchFamily="2" charset="2"/>
              <a:buChar char="Ø"/>
            </a:pPr>
            <a:r>
              <a:rPr lang="en-US" dirty="0"/>
              <a:t>Safeguarding the special  position of the Malays and natives of Sabah and Sarawak</a:t>
            </a:r>
          </a:p>
          <a:p>
            <a:pPr algn="just">
              <a:buFont typeface="Wingdings" panose="05000000000000000000" pitchFamily="2" charset="2"/>
              <a:buChar char="Ø"/>
            </a:pPr>
            <a:r>
              <a:rPr lang="en-US" dirty="0"/>
              <a:t>Ensures and protects the Malay culture and tradition</a:t>
            </a:r>
          </a:p>
          <a:p>
            <a:pPr algn="just">
              <a:buFont typeface="Wingdings" panose="05000000000000000000" pitchFamily="2" charset="2"/>
              <a:buChar char="Ø"/>
            </a:pPr>
            <a:r>
              <a:rPr lang="en-US" dirty="0"/>
              <a:t>Ensure and protect the interests of other races </a:t>
            </a:r>
          </a:p>
          <a:p>
            <a:pPr algn="just">
              <a:buFont typeface="Wingdings" panose="05000000000000000000" pitchFamily="2" charset="2"/>
              <a:buChar char="Ø"/>
            </a:pPr>
            <a:r>
              <a:rPr lang="en-US" dirty="0"/>
              <a:t>Safeguard the privileges, position, </a:t>
            </a:r>
            <a:r>
              <a:rPr lang="en-US" dirty="0" err="1"/>
              <a:t>honours</a:t>
            </a:r>
            <a:r>
              <a:rPr lang="en-US" dirty="0"/>
              <a:t> and dignities of the Malay Rulers / Their Royal Highnesses</a:t>
            </a:r>
          </a:p>
          <a:p>
            <a:pPr marL="0" indent="0" algn="just">
              <a:buNone/>
            </a:pPr>
            <a:endParaRPr lang="en-MY" dirty="0"/>
          </a:p>
        </p:txBody>
      </p:sp>
    </p:spTree>
    <p:extLst>
      <p:ext uri="{BB962C8B-B14F-4D97-AF65-F5344CB8AC3E}">
        <p14:creationId xmlns:p14="http://schemas.microsoft.com/office/powerpoint/2010/main" val="3822001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722" y="274638"/>
            <a:ext cx="11111948" cy="563562"/>
          </a:xfrm>
        </p:spPr>
        <p:txBody>
          <a:bodyPr>
            <a:noAutofit/>
          </a:bodyPr>
          <a:lstStyle/>
          <a:p>
            <a:r>
              <a:rPr lang="en-US" sz="4000" b="1" dirty="0">
                <a:solidFill>
                  <a:srgbClr val="FF0000"/>
                </a:solidFill>
              </a:rPr>
              <a:t>THINGS THAT CANNOT BE DONE BY THE YDPA</a:t>
            </a:r>
          </a:p>
        </p:txBody>
      </p:sp>
      <p:sp>
        <p:nvSpPr>
          <p:cNvPr id="3" name="Content Placeholder 2"/>
          <p:cNvSpPr>
            <a:spLocks noGrp="1"/>
          </p:cNvSpPr>
          <p:nvPr>
            <p:ph idx="1"/>
          </p:nvPr>
        </p:nvSpPr>
        <p:spPr>
          <a:xfrm>
            <a:off x="129209" y="990600"/>
            <a:ext cx="11956774" cy="5638800"/>
          </a:xfrm>
        </p:spPr>
        <p:txBody>
          <a:bodyPr>
            <a:normAutofit/>
          </a:bodyPr>
          <a:lstStyle/>
          <a:p>
            <a:pPr algn="just"/>
            <a:r>
              <a:rPr lang="en-US" sz="2800" dirty="0"/>
              <a:t>He cannot perform functions in his own state except as:</a:t>
            </a:r>
          </a:p>
          <a:p>
            <a:pPr lvl="1" algn="just"/>
            <a:r>
              <a:rPr lang="en-US" sz="2400" dirty="0"/>
              <a:t>Head of religion/Islam</a:t>
            </a:r>
          </a:p>
          <a:p>
            <a:pPr lvl="1" algn="just"/>
            <a:r>
              <a:rPr lang="en-US" sz="2400" dirty="0"/>
              <a:t>Role and power related to constitutional amendments</a:t>
            </a:r>
          </a:p>
          <a:p>
            <a:pPr lvl="1" algn="just"/>
            <a:r>
              <a:rPr lang="en-US" sz="2400" dirty="0"/>
              <a:t>Power to appoint a </a:t>
            </a:r>
            <a:r>
              <a:rPr lang="en-US" sz="2400" dirty="0" err="1"/>
              <a:t>Pemangku</a:t>
            </a:r>
            <a:r>
              <a:rPr lang="en-US" sz="2400" dirty="0"/>
              <a:t> Raja (Regent) and members of  Majlis </a:t>
            </a:r>
            <a:r>
              <a:rPr lang="en-US" sz="2400" dirty="0" err="1"/>
              <a:t>Pangkuan</a:t>
            </a:r>
            <a:r>
              <a:rPr lang="en-US" sz="2400" dirty="0"/>
              <a:t> Raja (Regent Council) in his state</a:t>
            </a:r>
          </a:p>
          <a:p>
            <a:pPr algn="just"/>
            <a:r>
              <a:rPr lang="en-US" sz="2800" dirty="0"/>
              <a:t>Cannot hold position with remuneration </a:t>
            </a:r>
          </a:p>
          <a:p>
            <a:pPr algn="just"/>
            <a:r>
              <a:rPr lang="en-US" sz="2800" dirty="0"/>
              <a:t>Cannot partake in business</a:t>
            </a:r>
          </a:p>
          <a:p>
            <a:pPr algn="just"/>
            <a:r>
              <a:rPr lang="en-US" sz="2800" dirty="0"/>
              <a:t>Cannot accept any salary from his state (as ruler in his own state)</a:t>
            </a:r>
          </a:p>
          <a:p>
            <a:pPr algn="just"/>
            <a:r>
              <a:rPr lang="en-US" sz="2800" dirty="0"/>
              <a:t>Cannot leave Malaysia in the span of 15 days; except with leave from the Conference of Rulers or on official tours</a:t>
            </a:r>
          </a:p>
          <a:p>
            <a:pPr marL="0" indent="0" algn="just">
              <a:buNone/>
            </a:pPr>
            <a:r>
              <a:rPr lang="en-US" sz="2800" dirty="0"/>
              <a:t>* The Queen also cannot hold any position in the Federal or State Government</a:t>
            </a:r>
          </a:p>
          <a:p>
            <a:pPr algn="just"/>
            <a:endParaRPr lang="en-US" sz="3600" dirty="0"/>
          </a:p>
        </p:txBody>
      </p:sp>
    </p:spTree>
    <p:extLst>
      <p:ext uri="{BB962C8B-B14F-4D97-AF65-F5344CB8AC3E}">
        <p14:creationId xmlns:p14="http://schemas.microsoft.com/office/powerpoint/2010/main" val="1362013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CAD9A-15C1-42B3-BFD0-13A9EC962C6B}"/>
              </a:ext>
            </a:extLst>
          </p:cNvPr>
          <p:cNvSpPr>
            <a:spLocks noGrp="1"/>
          </p:cNvSpPr>
          <p:nvPr>
            <p:ph type="title"/>
          </p:nvPr>
        </p:nvSpPr>
        <p:spPr>
          <a:xfrm>
            <a:off x="646111" y="452718"/>
            <a:ext cx="9404723" cy="822946"/>
          </a:xfrm>
        </p:spPr>
        <p:txBody>
          <a:bodyPr/>
          <a:lstStyle/>
          <a:p>
            <a:pPr algn="ctr"/>
            <a:r>
              <a:rPr lang="en-US" dirty="0"/>
              <a:t>TIMBALAN YDPA (DEPUTY OF YDPA)</a:t>
            </a:r>
            <a:endParaRPr lang="en-MY" dirty="0"/>
          </a:p>
        </p:txBody>
      </p:sp>
      <p:sp>
        <p:nvSpPr>
          <p:cNvPr id="4" name="Content Placeholder 3">
            <a:extLst>
              <a:ext uri="{FF2B5EF4-FFF2-40B4-BE49-F238E27FC236}">
                <a16:creationId xmlns:a16="http://schemas.microsoft.com/office/drawing/2014/main" id="{1B25F48A-ECA0-4228-ABFC-A90E981D78F3}"/>
              </a:ext>
            </a:extLst>
          </p:cNvPr>
          <p:cNvSpPr>
            <a:spLocks noGrp="1"/>
          </p:cNvSpPr>
          <p:nvPr>
            <p:ph sz="half" idx="1"/>
          </p:nvPr>
        </p:nvSpPr>
        <p:spPr>
          <a:xfrm>
            <a:off x="288235" y="1331118"/>
            <a:ext cx="11290852" cy="5074164"/>
          </a:xfrm>
        </p:spPr>
        <p:txBody>
          <a:bodyPr>
            <a:normAutofit/>
          </a:bodyPr>
          <a:lstStyle/>
          <a:p>
            <a:r>
              <a:rPr lang="en-US" dirty="0"/>
              <a:t>To execute the responsibilities of the YDPA in his absence</a:t>
            </a:r>
          </a:p>
          <a:p>
            <a:r>
              <a:rPr lang="en-US" dirty="0"/>
              <a:t>Enjoy all the privileges of the YDPA</a:t>
            </a:r>
          </a:p>
          <a:p>
            <a:r>
              <a:rPr lang="en-US" dirty="0"/>
              <a:t>Appointed by the Conference of Rulers for 5 years </a:t>
            </a:r>
          </a:p>
          <a:p>
            <a:r>
              <a:rPr lang="en-US" dirty="0"/>
              <a:t>Can tender written resignation to the Conference of Rulers </a:t>
            </a:r>
          </a:p>
          <a:p>
            <a:r>
              <a:rPr lang="en-US" dirty="0"/>
              <a:t>Not automatically appointed after the YDPA serves his term</a:t>
            </a:r>
          </a:p>
          <a:p>
            <a:endParaRPr lang="en-US" dirty="0"/>
          </a:p>
          <a:p>
            <a:endParaRPr lang="en-MY" dirty="0"/>
          </a:p>
        </p:txBody>
      </p:sp>
    </p:spTree>
    <p:extLst>
      <p:ext uri="{BB962C8B-B14F-4D97-AF65-F5344CB8AC3E}">
        <p14:creationId xmlns:p14="http://schemas.microsoft.com/office/powerpoint/2010/main" val="120726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6FBD9-2EBE-4F4C-B283-0959662D9F23}"/>
              </a:ext>
            </a:extLst>
          </p:cNvPr>
          <p:cNvSpPr>
            <a:spLocks noGrp="1"/>
          </p:cNvSpPr>
          <p:nvPr>
            <p:ph type="title"/>
          </p:nvPr>
        </p:nvSpPr>
        <p:spPr>
          <a:xfrm>
            <a:off x="258417" y="139148"/>
            <a:ext cx="10376453" cy="1159565"/>
          </a:xfrm>
        </p:spPr>
        <p:txBody>
          <a:bodyPr/>
          <a:lstStyle/>
          <a:p>
            <a:pPr algn="ctr"/>
            <a:r>
              <a:rPr lang="en-US" sz="4000" dirty="0"/>
              <a:t>LIST OF SENIORITY OF SERI PADUKA BAGINDA YANG DI-PERTUAN AGONG</a:t>
            </a:r>
            <a:endParaRPr lang="en-MY" sz="4000" dirty="0"/>
          </a:p>
        </p:txBody>
      </p:sp>
      <p:sp>
        <p:nvSpPr>
          <p:cNvPr id="3" name="Content Placeholder 2">
            <a:extLst>
              <a:ext uri="{FF2B5EF4-FFF2-40B4-BE49-F238E27FC236}">
                <a16:creationId xmlns:a16="http://schemas.microsoft.com/office/drawing/2014/main" id="{1247FB26-CC0A-4E70-9ABD-5B8645155D57}"/>
              </a:ext>
            </a:extLst>
          </p:cNvPr>
          <p:cNvSpPr>
            <a:spLocks noGrp="1"/>
          </p:cNvSpPr>
          <p:nvPr>
            <p:ph idx="1"/>
          </p:nvPr>
        </p:nvSpPr>
        <p:spPr>
          <a:xfrm>
            <a:off x="129209" y="1500809"/>
            <a:ext cx="11817626" cy="5128591"/>
          </a:xfrm>
        </p:spPr>
        <p:txBody>
          <a:bodyPr>
            <a:normAutofit/>
          </a:bodyPr>
          <a:lstStyle/>
          <a:p>
            <a:r>
              <a:rPr lang="en-MY" dirty="0"/>
              <a:t>1.	YANG DIPERTUAN BESAR NEGERI SEMBILAN DARUL KHUSUS</a:t>
            </a:r>
          </a:p>
          <a:p>
            <a:r>
              <a:rPr lang="en-MY" dirty="0"/>
              <a:t>2.	SULTAN OF SELANGOR </a:t>
            </a:r>
          </a:p>
          <a:p>
            <a:r>
              <a:rPr lang="en-MY" dirty="0"/>
              <a:t>3.	RAJA OF PERLIS </a:t>
            </a:r>
          </a:p>
          <a:p>
            <a:r>
              <a:rPr lang="en-MY" dirty="0"/>
              <a:t>4.	SULTAN OF TERENGGANU </a:t>
            </a:r>
          </a:p>
          <a:p>
            <a:r>
              <a:rPr lang="en-MY" dirty="0"/>
              <a:t>5.	SULTAN OF KEDAH</a:t>
            </a:r>
          </a:p>
          <a:p>
            <a:r>
              <a:rPr lang="en-MY" dirty="0"/>
              <a:t>6.	SULTAN OF KELANTAN</a:t>
            </a:r>
          </a:p>
          <a:p>
            <a:r>
              <a:rPr lang="en-MY" dirty="0"/>
              <a:t>7.	SULTAN OF PAHANG (Current YDPA)</a:t>
            </a:r>
          </a:p>
          <a:p>
            <a:r>
              <a:rPr lang="en-MY" dirty="0"/>
              <a:t>8.	SULTAN OF JOHOR</a:t>
            </a:r>
          </a:p>
          <a:p>
            <a:r>
              <a:rPr lang="en-MY" dirty="0"/>
              <a:t>9.	SULTAN OF PERAK DARUL RIDZUAN </a:t>
            </a:r>
          </a:p>
          <a:p>
            <a:r>
              <a:rPr lang="en-MY" dirty="0"/>
              <a:t>More info about the list of previous His Majesty King:</a:t>
            </a:r>
          </a:p>
          <a:p>
            <a:pPr marL="0" indent="0">
              <a:buNone/>
            </a:pPr>
            <a:r>
              <a:rPr lang="en-MY" dirty="0">
                <a:hlinkClick r:id="rId2"/>
              </a:rPr>
              <a:t>https://www.parlimen.gov.my/yda-senarai-yang-di-pertuan-agong.html?uweb=yg&amp;lang=en</a:t>
            </a:r>
            <a:endParaRPr lang="en-MY" dirty="0"/>
          </a:p>
        </p:txBody>
      </p:sp>
    </p:spTree>
    <p:extLst>
      <p:ext uri="{BB962C8B-B14F-4D97-AF65-F5344CB8AC3E}">
        <p14:creationId xmlns:p14="http://schemas.microsoft.com/office/powerpoint/2010/main" val="1111185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D0E5F84-A1EE-46B4-8345-B91740BB9466}"/>
              </a:ext>
            </a:extLst>
          </p:cNvPr>
          <p:cNvSpPr txBox="1"/>
          <p:nvPr/>
        </p:nvSpPr>
        <p:spPr>
          <a:xfrm>
            <a:off x="327339" y="5175031"/>
            <a:ext cx="11559861" cy="1323439"/>
          </a:xfrm>
          <a:prstGeom prst="rect">
            <a:avLst/>
          </a:prstGeom>
          <a:noFill/>
        </p:spPr>
        <p:txBody>
          <a:bodyPr wrap="square" rtlCol="0">
            <a:spAutoFit/>
          </a:bodyPr>
          <a:lstStyle/>
          <a:p>
            <a:pPr marL="285750" indent="-285750">
              <a:buFont typeface="Arial" panose="020B0604020202020204" pitchFamily="34" charset="0"/>
              <a:buChar char="•"/>
            </a:pPr>
            <a:r>
              <a:rPr lang="en-MY" sz="2000" dirty="0"/>
              <a:t>Yang di-Pertuan </a:t>
            </a:r>
            <a:r>
              <a:rPr lang="en-MY" sz="2000" dirty="0" err="1"/>
              <a:t>Agong</a:t>
            </a:r>
            <a:r>
              <a:rPr lang="en-MY" sz="2000" dirty="0"/>
              <a:t> His Majesty Yang Maha </a:t>
            </a:r>
            <a:r>
              <a:rPr lang="en-MY" sz="2000" dirty="0" err="1"/>
              <a:t>Mulia</a:t>
            </a:r>
            <a:r>
              <a:rPr lang="en-MY" sz="2000" dirty="0"/>
              <a:t> Seri Paduka </a:t>
            </a:r>
            <a:r>
              <a:rPr lang="en-MY" sz="2000" dirty="0" err="1"/>
              <a:t>Baginda</a:t>
            </a:r>
            <a:r>
              <a:rPr lang="en-MY" sz="2000" dirty="0"/>
              <a:t> Yang di-Pertuan </a:t>
            </a:r>
            <a:r>
              <a:rPr lang="en-MY" sz="2000" dirty="0" err="1"/>
              <a:t>Agong</a:t>
            </a:r>
            <a:r>
              <a:rPr lang="en-MY" sz="2000" dirty="0"/>
              <a:t> XVII Sultan Ibrahim </a:t>
            </a:r>
            <a:r>
              <a:rPr lang="en-MY" sz="2000" dirty="0" err="1"/>
              <a:t>Ibni</a:t>
            </a:r>
            <a:r>
              <a:rPr lang="en-MY" sz="2000" dirty="0"/>
              <a:t> </a:t>
            </a:r>
            <a:r>
              <a:rPr lang="en-MY" sz="2000" dirty="0" err="1"/>
              <a:t>Almarhum</a:t>
            </a:r>
            <a:r>
              <a:rPr lang="en-MY" sz="2000" dirty="0"/>
              <a:t> Sultan Iskandar and the Raja </a:t>
            </a:r>
            <a:r>
              <a:rPr lang="en-MY" sz="2000" dirty="0" err="1"/>
              <a:t>Permaisuri</a:t>
            </a:r>
            <a:r>
              <a:rPr lang="en-MY" sz="2000" dirty="0"/>
              <a:t> </a:t>
            </a:r>
            <a:r>
              <a:rPr lang="en-MY" sz="2000" dirty="0" err="1"/>
              <a:t>Agong</a:t>
            </a:r>
            <a:r>
              <a:rPr lang="en-MY" sz="2000" dirty="0"/>
              <a:t> Raja </a:t>
            </a:r>
            <a:r>
              <a:rPr lang="en-MY" sz="2000" dirty="0" err="1"/>
              <a:t>Zarith</a:t>
            </a:r>
            <a:r>
              <a:rPr lang="en-MY" sz="2000" dirty="0"/>
              <a:t> </a:t>
            </a:r>
            <a:r>
              <a:rPr lang="en-MY" sz="2000" dirty="0" err="1"/>
              <a:t>Sofiah</a:t>
            </a:r>
            <a:r>
              <a:rPr lang="en-MY" sz="2000" dirty="0"/>
              <a:t> binti </a:t>
            </a:r>
            <a:r>
              <a:rPr lang="en-MY" sz="2000" dirty="0" err="1"/>
              <a:t>Almarhum</a:t>
            </a:r>
            <a:r>
              <a:rPr lang="en-MY" sz="2000" dirty="0"/>
              <a:t> Sultan Idris Shah.</a:t>
            </a:r>
          </a:p>
          <a:p>
            <a:pPr marL="285750" indent="-285750">
              <a:buFont typeface="Arial" panose="020B0604020202020204" pitchFamily="34" charset="0"/>
              <a:buChar char="•"/>
            </a:pPr>
            <a:r>
              <a:rPr lang="en-MY" sz="2000" dirty="0"/>
              <a:t>From Johore (Sultan or Ruler of Johor)</a:t>
            </a:r>
          </a:p>
        </p:txBody>
      </p:sp>
      <p:sp>
        <p:nvSpPr>
          <p:cNvPr id="3" name="Content Placeholder 2">
            <a:extLst>
              <a:ext uri="{FF2B5EF4-FFF2-40B4-BE49-F238E27FC236}">
                <a16:creationId xmlns:a16="http://schemas.microsoft.com/office/drawing/2014/main" id="{41BE8D9C-9335-82D6-76F1-A09B67527AAC}"/>
              </a:ext>
            </a:extLst>
          </p:cNvPr>
          <p:cNvSpPr>
            <a:spLocks noGrp="1"/>
          </p:cNvSpPr>
          <p:nvPr>
            <p:ph idx="1"/>
          </p:nvPr>
        </p:nvSpPr>
        <p:spPr>
          <a:xfrm>
            <a:off x="1699590" y="4425511"/>
            <a:ext cx="8368747" cy="633508"/>
          </a:xfrm>
        </p:spPr>
        <p:txBody>
          <a:bodyPr/>
          <a:lstStyle/>
          <a:p>
            <a:r>
              <a:rPr lang="en-US" dirty="0"/>
              <a:t>Current YDPA and Raja </a:t>
            </a:r>
            <a:r>
              <a:rPr lang="en-US" dirty="0" err="1"/>
              <a:t>Permaisuri</a:t>
            </a:r>
            <a:r>
              <a:rPr lang="en-US" dirty="0"/>
              <a:t> </a:t>
            </a:r>
            <a:r>
              <a:rPr lang="en-US" dirty="0" err="1"/>
              <a:t>Agong</a:t>
            </a:r>
            <a:r>
              <a:rPr lang="en-US" dirty="0"/>
              <a:t> (The Queen)</a:t>
            </a:r>
            <a:endParaRPr lang="en-MY" dirty="0"/>
          </a:p>
        </p:txBody>
      </p:sp>
      <p:pic>
        <p:nvPicPr>
          <p:cNvPr id="5" name="Picture 4">
            <a:extLst>
              <a:ext uri="{FF2B5EF4-FFF2-40B4-BE49-F238E27FC236}">
                <a16:creationId xmlns:a16="http://schemas.microsoft.com/office/drawing/2014/main" id="{513A39C2-2217-8DDD-7B10-621BEC18A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807" y="147023"/>
            <a:ext cx="7293071" cy="4078831"/>
          </a:xfrm>
          <a:prstGeom prst="rect">
            <a:avLst/>
          </a:prstGeom>
        </p:spPr>
      </p:pic>
    </p:spTree>
    <p:extLst>
      <p:ext uri="{BB962C8B-B14F-4D97-AF65-F5344CB8AC3E}">
        <p14:creationId xmlns:p14="http://schemas.microsoft.com/office/powerpoint/2010/main" val="2783097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C1E5-06C0-43D8-A2E1-A0A2DA21F2AB}"/>
              </a:ext>
            </a:extLst>
          </p:cNvPr>
          <p:cNvSpPr>
            <a:spLocks noGrp="1"/>
          </p:cNvSpPr>
          <p:nvPr>
            <p:ph type="title"/>
          </p:nvPr>
        </p:nvSpPr>
        <p:spPr>
          <a:xfrm>
            <a:off x="765381" y="144605"/>
            <a:ext cx="9404723" cy="789673"/>
          </a:xfrm>
        </p:spPr>
        <p:txBody>
          <a:bodyPr/>
          <a:lstStyle/>
          <a:p>
            <a:pPr algn="ctr"/>
            <a:r>
              <a:rPr lang="en-MY" b="1" dirty="0"/>
              <a:t>CONFERENCE OF RULERS</a:t>
            </a:r>
          </a:p>
        </p:txBody>
      </p:sp>
      <p:sp>
        <p:nvSpPr>
          <p:cNvPr id="3" name="Content Placeholder 2">
            <a:extLst>
              <a:ext uri="{FF2B5EF4-FFF2-40B4-BE49-F238E27FC236}">
                <a16:creationId xmlns:a16="http://schemas.microsoft.com/office/drawing/2014/main" id="{38D34A72-2092-4B2F-9B0A-F665D2721EE0}"/>
              </a:ext>
            </a:extLst>
          </p:cNvPr>
          <p:cNvSpPr>
            <a:spLocks noGrp="1"/>
          </p:cNvSpPr>
          <p:nvPr>
            <p:ph idx="1"/>
          </p:nvPr>
        </p:nvSpPr>
        <p:spPr>
          <a:xfrm>
            <a:off x="556592" y="1242392"/>
            <a:ext cx="11121886" cy="5006008"/>
          </a:xfrm>
        </p:spPr>
        <p:txBody>
          <a:bodyPr>
            <a:normAutofit/>
          </a:bodyPr>
          <a:lstStyle/>
          <a:p>
            <a:pPr algn="just" eaLnBrk="1" hangingPunct="1">
              <a:spcBef>
                <a:spcPct val="0"/>
              </a:spcBef>
              <a:buSzPct val="83000"/>
              <a:buFont typeface="Wingdings" pitchFamily="2" charset="2"/>
              <a:buChar char="§"/>
            </a:pPr>
            <a:r>
              <a:rPr lang="en-US" sz="2800" dirty="0">
                <a:latin typeface="Calibri" pitchFamily="34" charset="0"/>
                <a:ea typeface="ＭＳ Ｐゴシック" pitchFamily="34" charset="-128"/>
              </a:rPr>
              <a:t>A council comprising nine rulers of Malay states and four governor(head of state) of Sabah, Sarawak, Penang and Malacca.</a:t>
            </a:r>
          </a:p>
          <a:p>
            <a:pPr algn="just" eaLnBrk="1" hangingPunct="1">
              <a:spcBef>
                <a:spcPct val="0"/>
              </a:spcBef>
              <a:buSzPct val="83000"/>
              <a:buFont typeface="Wingdings" pitchFamily="2" charset="2"/>
              <a:buChar char="§"/>
            </a:pPr>
            <a:r>
              <a:rPr lang="en-US" sz="2800" dirty="0">
                <a:latin typeface="Calibri" pitchFamily="34" charset="0"/>
                <a:ea typeface="ＭＳ Ｐゴシック" pitchFamily="34" charset="-128"/>
              </a:rPr>
              <a:t>Established officially in 1948 after the Federation of Malaya was established. </a:t>
            </a:r>
          </a:p>
          <a:p>
            <a:pPr algn="just" eaLnBrk="1" hangingPunct="1">
              <a:spcBef>
                <a:spcPct val="0"/>
              </a:spcBef>
              <a:buSzPct val="83000"/>
              <a:buFont typeface="Wingdings" pitchFamily="2" charset="2"/>
              <a:buChar char="§"/>
            </a:pPr>
            <a:r>
              <a:rPr lang="en-US" sz="2800" dirty="0">
                <a:latin typeface="Calibri" pitchFamily="34" charset="0"/>
                <a:ea typeface="ＭＳ Ｐゴシック" pitchFamily="34" charset="-128"/>
              </a:rPr>
              <a:t>Has close relationship with federal government and governments at the state level</a:t>
            </a:r>
          </a:p>
          <a:p>
            <a:pPr algn="just" eaLnBrk="1" hangingPunct="1">
              <a:spcBef>
                <a:spcPct val="0"/>
              </a:spcBef>
              <a:buSzPct val="83000"/>
              <a:buFont typeface="Wingdings" pitchFamily="2" charset="2"/>
              <a:buChar char="§"/>
            </a:pPr>
            <a:r>
              <a:rPr lang="en-US" sz="2800" dirty="0">
                <a:latin typeface="Calibri" pitchFamily="34" charset="0"/>
                <a:ea typeface="ＭＳ Ｐゴシック" pitchFamily="34" charset="-128"/>
              </a:rPr>
              <a:t>Subject to constitutional provisions</a:t>
            </a:r>
          </a:p>
          <a:p>
            <a:pPr algn="just" eaLnBrk="1" hangingPunct="1">
              <a:spcBef>
                <a:spcPct val="0"/>
              </a:spcBef>
              <a:buSzPct val="83000"/>
              <a:buFont typeface="Wingdings" pitchFamily="2" charset="2"/>
              <a:buChar char="§"/>
            </a:pPr>
            <a:r>
              <a:rPr lang="en-US" sz="2800" dirty="0">
                <a:latin typeface="Calibri" pitchFamily="34" charset="0"/>
                <a:ea typeface="ＭＳ Ｐゴシック" pitchFamily="34" charset="-128"/>
              </a:rPr>
              <a:t>Approval in certain legal amendments, consultations, negotiations and appointments as well as pardoning powers</a:t>
            </a:r>
          </a:p>
          <a:p>
            <a:pPr algn="just" eaLnBrk="1" hangingPunct="1">
              <a:spcBef>
                <a:spcPct val="0"/>
              </a:spcBef>
              <a:buSzPct val="83000"/>
              <a:buFont typeface="Wingdings" pitchFamily="2" charset="2"/>
              <a:buChar char="§"/>
            </a:pPr>
            <a:r>
              <a:rPr lang="en-US" sz="2800" dirty="0">
                <a:latin typeface="Calibri" pitchFamily="34" charset="0"/>
                <a:ea typeface="ＭＳ Ｐゴシック" pitchFamily="34" charset="-128"/>
              </a:rPr>
              <a:t>Has a DISCRETIONARY POWERS </a:t>
            </a:r>
          </a:p>
          <a:p>
            <a:pPr algn="just" eaLnBrk="1" hangingPunct="1">
              <a:spcBef>
                <a:spcPct val="0"/>
              </a:spcBef>
              <a:buSzPct val="83000"/>
              <a:buFont typeface="Wingdings" pitchFamily="2" charset="2"/>
              <a:buChar char="§"/>
            </a:pPr>
            <a:endParaRPr lang="en-US" sz="2800" dirty="0">
              <a:latin typeface="Calibri" pitchFamily="34" charset="0"/>
              <a:ea typeface="ＭＳ Ｐゴシック" pitchFamily="34" charset="-128"/>
            </a:endParaRPr>
          </a:p>
          <a:p>
            <a:endParaRPr lang="en-MY" dirty="0"/>
          </a:p>
        </p:txBody>
      </p:sp>
    </p:spTree>
    <p:extLst>
      <p:ext uri="{BB962C8B-B14F-4D97-AF65-F5344CB8AC3E}">
        <p14:creationId xmlns:p14="http://schemas.microsoft.com/office/powerpoint/2010/main" val="3784115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793C5-2366-4965-B4E4-9D6E58931C29}"/>
              </a:ext>
            </a:extLst>
          </p:cNvPr>
          <p:cNvSpPr>
            <a:spLocks noGrp="1"/>
          </p:cNvSpPr>
          <p:nvPr>
            <p:ph type="title"/>
          </p:nvPr>
        </p:nvSpPr>
        <p:spPr>
          <a:xfrm>
            <a:off x="298242" y="482535"/>
            <a:ext cx="10008636" cy="839369"/>
          </a:xfrm>
        </p:spPr>
        <p:txBody>
          <a:bodyPr/>
          <a:lstStyle/>
          <a:p>
            <a:pPr algn="ctr"/>
            <a:r>
              <a:rPr lang="en-US" sz="3600" b="1" dirty="0"/>
              <a:t>Article 38 (2): Role of Conference of Rulers</a:t>
            </a:r>
            <a:endParaRPr lang="en-MY" sz="3600" b="1" dirty="0"/>
          </a:p>
        </p:txBody>
      </p:sp>
      <p:sp>
        <p:nvSpPr>
          <p:cNvPr id="3" name="Content Placeholder 2">
            <a:extLst>
              <a:ext uri="{FF2B5EF4-FFF2-40B4-BE49-F238E27FC236}">
                <a16:creationId xmlns:a16="http://schemas.microsoft.com/office/drawing/2014/main" id="{9CA23F38-DEBA-4563-BBFD-8AEE735A882E}"/>
              </a:ext>
            </a:extLst>
          </p:cNvPr>
          <p:cNvSpPr>
            <a:spLocks noGrp="1"/>
          </p:cNvSpPr>
          <p:nvPr>
            <p:ph idx="1"/>
          </p:nvPr>
        </p:nvSpPr>
        <p:spPr>
          <a:xfrm>
            <a:off x="298242" y="1321904"/>
            <a:ext cx="11688349" cy="4926495"/>
          </a:xfrm>
        </p:spPr>
        <p:txBody>
          <a:bodyPr>
            <a:normAutofit/>
          </a:bodyPr>
          <a:lstStyle/>
          <a:p>
            <a:r>
              <a:rPr lang="en-US" dirty="0"/>
              <a:t>Electing, in accordance with the provisions of the Third Schedule, the Yang di-</a:t>
            </a:r>
            <a:r>
              <a:rPr lang="en-US" dirty="0" err="1"/>
              <a:t>Pertuan</a:t>
            </a:r>
            <a:r>
              <a:rPr lang="en-US" dirty="0"/>
              <a:t> </a:t>
            </a:r>
            <a:r>
              <a:rPr lang="en-US" dirty="0" err="1"/>
              <a:t>Agong</a:t>
            </a:r>
            <a:r>
              <a:rPr lang="en-US" dirty="0"/>
              <a:t> and </a:t>
            </a:r>
            <a:r>
              <a:rPr lang="en-US" dirty="0" err="1"/>
              <a:t>Timbalan</a:t>
            </a:r>
            <a:r>
              <a:rPr lang="en-US" dirty="0"/>
              <a:t> Yang di-</a:t>
            </a:r>
            <a:r>
              <a:rPr lang="en-US" dirty="0" err="1"/>
              <a:t>Pertuan</a:t>
            </a:r>
            <a:r>
              <a:rPr lang="en-US" dirty="0"/>
              <a:t> </a:t>
            </a:r>
            <a:r>
              <a:rPr lang="en-US" dirty="0" err="1"/>
              <a:t>Agong</a:t>
            </a:r>
            <a:r>
              <a:rPr lang="en-US" dirty="0"/>
              <a:t>;</a:t>
            </a:r>
          </a:p>
          <a:p>
            <a:r>
              <a:rPr lang="en-US" dirty="0"/>
              <a:t>Agreeing or disagreeing to the extension of any religious acts, observances or ceremonies to the Federation as a whole;</a:t>
            </a:r>
          </a:p>
          <a:p>
            <a:r>
              <a:rPr lang="en-US" dirty="0"/>
              <a:t>Consenting or withholding consent to any law and making or giving advice on any appointment which under this Constitution requires the consent of the Conference or is to be made by or after consultation with the Conference;</a:t>
            </a:r>
          </a:p>
          <a:p>
            <a:r>
              <a:rPr lang="en-US" dirty="0"/>
              <a:t>Appointing members of the Special Court under Clause (1) of Article 182; or</a:t>
            </a:r>
          </a:p>
          <a:p>
            <a:r>
              <a:rPr lang="en-US" dirty="0"/>
              <a:t>The granting of pardons, reprieves and respites, or of remitting, suspending or commuting sentences, under Clause (12) of Article 42 and may deliberate on questions of national policy (for example changes in immigration policy) and any other matter that it thinks fit.</a:t>
            </a:r>
          </a:p>
          <a:p>
            <a:endParaRPr lang="en-MY" dirty="0"/>
          </a:p>
        </p:txBody>
      </p:sp>
    </p:spTree>
    <p:extLst>
      <p:ext uri="{BB962C8B-B14F-4D97-AF65-F5344CB8AC3E}">
        <p14:creationId xmlns:p14="http://schemas.microsoft.com/office/powerpoint/2010/main" val="3431161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E584-86AC-423F-A973-C1B656640585}"/>
              </a:ext>
            </a:extLst>
          </p:cNvPr>
          <p:cNvSpPr>
            <a:spLocks noGrp="1"/>
          </p:cNvSpPr>
          <p:nvPr>
            <p:ph type="title"/>
          </p:nvPr>
        </p:nvSpPr>
        <p:spPr>
          <a:xfrm>
            <a:off x="308113" y="452718"/>
            <a:ext cx="10118035" cy="1400530"/>
          </a:xfrm>
        </p:spPr>
        <p:txBody>
          <a:bodyPr/>
          <a:lstStyle/>
          <a:p>
            <a:pPr algn="ctr"/>
            <a:r>
              <a:rPr lang="en-US" sz="3600" b="1" dirty="0"/>
              <a:t>DISCRETIONARY POWERS OF THE CONFERENCE OF RULERS [Article  38(6)]</a:t>
            </a:r>
            <a:endParaRPr lang="en-MY" sz="3600" b="1" dirty="0"/>
          </a:p>
        </p:txBody>
      </p:sp>
      <p:sp>
        <p:nvSpPr>
          <p:cNvPr id="3" name="Content Placeholder 2">
            <a:extLst>
              <a:ext uri="{FF2B5EF4-FFF2-40B4-BE49-F238E27FC236}">
                <a16:creationId xmlns:a16="http://schemas.microsoft.com/office/drawing/2014/main" id="{E067E074-C41C-4B87-989F-752CA0049611}"/>
              </a:ext>
            </a:extLst>
          </p:cNvPr>
          <p:cNvSpPr>
            <a:spLocks noGrp="1"/>
          </p:cNvSpPr>
          <p:nvPr>
            <p:ph idx="1"/>
          </p:nvPr>
        </p:nvSpPr>
        <p:spPr>
          <a:xfrm>
            <a:off x="308113" y="2052918"/>
            <a:ext cx="11618843" cy="4606299"/>
          </a:xfrm>
        </p:spPr>
        <p:txBody>
          <a:bodyPr>
            <a:normAutofit fontScale="92500" lnSpcReduction="10000"/>
          </a:bodyPr>
          <a:lstStyle/>
          <a:p>
            <a:pPr eaLnBrk="1" hangingPunct="1">
              <a:lnSpc>
                <a:spcPct val="90000"/>
              </a:lnSpc>
            </a:pPr>
            <a:r>
              <a:rPr lang="en-US" sz="2800" dirty="0">
                <a:latin typeface="Calibri" pitchFamily="34" charset="0"/>
                <a:ea typeface="ＭＳ Ｐゴシック" pitchFamily="34" charset="-128"/>
              </a:rPr>
              <a:t>the election or removal from office of the Yang di-</a:t>
            </a:r>
            <a:r>
              <a:rPr lang="en-US" sz="2800" dirty="0" err="1">
                <a:latin typeface="Calibri" pitchFamily="34" charset="0"/>
                <a:ea typeface="ＭＳ Ｐゴシック" pitchFamily="34" charset="-128"/>
              </a:rPr>
              <a:t>Pertuan</a:t>
            </a:r>
            <a:r>
              <a:rPr lang="en-US" sz="2800" dirty="0">
                <a:latin typeface="Calibri" pitchFamily="34" charset="0"/>
                <a:ea typeface="ＭＳ Ｐゴシック" pitchFamily="34" charset="-128"/>
              </a:rPr>
              <a:t> </a:t>
            </a:r>
            <a:r>
              <a:rPr lang="en-US" sz="2800" dirty="0" err="1">
                <a:latin typeface="Calibri" pitchFamily="34" charset="0"/>
                <a:ea typeface="ＭＳ Ｐゴシック" pitchFamily="34" charset="-128"/>
              </a:rPr>
              <a:t>Agong</a:t>
            </a:r>
            <a:r>
              <a:rPr lang="en-US" sz="2800" dirty="0">
                <a:latin typeface="Calibri" pitchFamily="34" charset="0"/>
                <a:ea typeface="ＭＳ Ｐゴシック" pitchFamily="34" charset="-128"/>
              </a:rPr>
              <a:t> or the election of the </a:t>
            </a:r>
            <a:r>
              <a:rPr lang="en-US" sz="2800" dirty="0" err="1">
                <a:latin typeface="Calibri" pitchFamily="34" charset="0"/>
                <a:ea typeface="ＭＳ Ｐゴシック" pitchFamily="34" charset="-128"/>
              </a:rPr>
              <a:t>Timbalan</a:t>
            </a:r>
            <a:r>
              <a:rPr lang="en-US" sz="2800" dirty="0">
                <a:latin typeface="Calibri" pitchFamily="34" charset="0"/>
                <a:ea typeface="ＭＳ Ｐゴシック" pitchFamily="34" charset="-128"/>
              </a:rPr>
              <a:t> Yang di-</a:t>
            </a:r>
            <a:r>
              <a:rPr lang="en-US" sz="2800" dirty="0" err="1">
                <a:latin typeface="Calibri" pitchFamily="34" charset="0"/>
                <a:ea typeface="ＭＳ Ｐゴシック" pitchFamily="34" charset="-128"/>
              </a:rPr>
              <a:t>Pertuan</a:t>
            </a:r>
            <a:r>
              <a:rPr lang="en-US" sz="2800" dirty="0">
                <a:latin typeface="Calibri" pitchFamily="34" charset="0"/>
                <a:ea typeface="ＭＳ Ｐゴシック" pitchFamily="34" charset="-128"/>
              </a:rPr>
              <a:t> </a:t>
            </a:r>
            <a:r>
              <a:rPr lang="en-US" sz="2800" dirty="0" err="1">
                <a:latin typeface="Calibri" pitchFamily="34" charset="0"/>
                <a:ea typeface="ＭＳ Ｐゴシック" pitchFamily="34" charset="-128"/>
              </a:rPr>
              <a:t>Agong</a:t>
            </a:r>
            <a:r>
              <a:rPr lang="en-US" sz="2800" dirty="0">
                <a:latin typeface="Calibri" pitchFamily="34" charset="0"/>
                <a:ea typeface="ＭＳ Ｐゴシック" pitchFamily="34" charset="-128"/>
              </a:rPr>
              <a:t>; </a:t>
            </a:r>
          </a:p>
          <a:p>
            <a:pPr eaLnBrk="1" hangingPunct="1">
              <a:lnSpc>
                <a:spcPct val="90000"/>
              </a:lnSpc>
            </a:pPr>
            <a:r>
              <a:rPr lang="en-US" sz="2800" dirty="0">
                <a:latin typeface="Calibri" pitchFamily="34" charset="0"/>
                <a:ea typeface="ＭＳ Ｐゴシック" pitchFamily="34" charset="-128"/>
              </a:rPr>
              <a:t>the advising on any appointment; </a:t>
            </a:r>
          </a:p>
          <a:p>
            <a:pPr eaLnBrk="1" hangingPunct="1">
              <a:lnSpc>
                <a:spcPct val="90000"/>
              </a:lnSpc>
            </a:pPr>
            <a:r>
              <a:rPr lang="en-US" sz="2800" dirty="0">
                <a:latin typeface="Calibri" pitchFamily="34" charset="0"/>
                <a:ea typeface="ＭＳ Ｐゴシック" pitchFamily="34" charset="-128"/>
              </a:rPr>
              <a:t>the giving or withholding of consent to any law altering the boundaries of a State or affecting the privileges, position, </a:t>
            </a:r>
            <a:r>
              <a:rPr lang="en-US" sz="2800" dirty="0" err="1">
                <a:latin typeface="Calibri" pitchFamily="34" charset="0"/>
                <a:ea typeface="ＭＳ Ｐゴシック" pitchFamily="34" charset="-128"/>
              </a:rPr>
              <a:t>honours</a:t>
            </a:r>
            <a:r>
              <a:rPr lang="en-US" sz="2800" dirty="0">
                <a:latin typeface="Calibri" pitchFamily="34" charset="0"/>
                <a:ea typeface="ＭＳ Ｐゴシック" pitchFamily="34" charset="-128"/>
              </a:rPr>
              <a:t> or dignities of the Rulers; </a:t>
            </a:r>
          </a:p>
          <a:p>
            <a:pPr eaLnBrk="1" hangingPunct="1">
              <a:lnSpc>
                <a:spcPct val="90000"/>
              </a:lnSpc>
            </a:pPr>
            <a:r>
              <a:rPr lang="en-US" sz="2800" dirty="0">
                <a:latin typeface="Calibri" pitchFamily="34" charset="0"/>
                <a:ea typeface="ＭＳ Ｐゴシック" pitchFamily="34" charset="-128"/>
              </a:rPr>
              <a:t>the agreeing or disagreeing to the extension of any religious acts, observances or ceremonies to the Federation as a whole; </a:t>
            </a:r>
          </a:p>
          <a:p>
            <a:pPr eaLnBrk="1" hangingPunct="1">
              <a:lnSpc>
                <a:spcPct val="90000"/>
              </a:lnSpc>
            </a:pPr>
            <a:r>
              <a:rPr lang="en-US" sz="2800" dirty="0">
                <a:latin typeface="Calibri" pitchFamily="34" charset="0"/>
                <a:ea typeface="ＭＳ Ｐゴシック" pitchFamily="34" charset="-128"/>
              </a:rPr>
              <a:t>the appointment of members of the Special Court under Clause (1) of Article 182; or </a:t>
            </a:r>
          </a:p>
          <a:p>
            <a:pPr eaLnBrk="1" hangingPunct="1">
              <a:lnSpc>
                <a:spcPct val="90000"/>
              </a:lnSpc>
            </a:pPr>
            <a:r>
              <a:rPr lang="en-US" sz="2800" dirty="0">
                <a:latin typeface="Calibri" pitchFamily="34" charset="0"/>
                <a:ea typeface="ＭＳ Ｐゴシック" pitchFamily="34" charset="-128"/>
              </a:rPr>
              <a:t>the granting of pardons, reprieves and respites, or of remitting, suspending or commuting sentences, under Clause (12) of Article 42. </a:t>
            </a:r>
          </a:p>
          <a:p>
            <a:pPr marL="0" indent="0">
              <a:buNone/>
            </a:pPr>
            <a:endParaRPr lang="en-MY" dirty="0"/>
          </a:p>
        </p:txBody>
      </p:sp>
    </p:spTree>
    <p:extLst>
      <p:ext uri="{BB962C8B-B14F-4D97-AF65-F5344CB8AC3E}">
        <p14:creationId xmlns:p14="http://schemas.microsoft.com/office/powerpoint/2010/main" val="595818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67B0-6D77-4B46-8789-3FDA51FDF8EE}"/>
              </a:ext>
            </a:extLst>
          </p:cNvPr>
          <p:cNvSpPr>
            <a:spLocks noGrp="1"/>
          </p:cNvSpPr>
          <p:nvPr>
            <p:ph type="title"/>
          </p:nvPr>
        </p:nvSpPr>
        <p:spPr>
          <a:xfrm>
            <a:off x="646112" y="452718"/>
            <a:ext cx="9404352" cy="830172"/>
          </a:xfrm>
        </p:spPr>
        <p:txBody>
          <a:bodyPr/>
          <a:lstStyle/>
          <a:p>
            <a:pPr algn="ctr"/>
            <a:r>
              <a:rPr lang="en-US" b="1" dirty="0"/>
              <a:t>"The Keeper of the Rulers' Seal”</a:t>
            </a:r>
            <a:endParaRPr lang="en-MY" b="1" dirty="0"/>
          </a:p>
        </p:txBody>
      </p:sp>
      <p:sp>
        <p:nvSpPr>
          <p:cNvPr id="7" name="Content Placeholder 6">
            <a:extLst>
              <a:ext uri="{FF2B5EF4-FFF2-40B4-BE49-F238E27FC236}">
                <a16:creationId xmlns:a16="http://schemas.microsoft.com/office/drawing/2014/main" id="{8AF1545F-8286-582D-6E9C-AE29B2BFCC3F}"/>
              </a:ext>
            </a:extLst>
          </p:cNvPr>
          <p:cNvSpPr>
            <a:spLocks noGrp="1"/>
          </p:cNvSpPr>
          <p:nvPr>
            <p:ph idx="1"/>
          </p:nvPr>
        </p:nvSpPr>
        <p:spPr>
          <a:xfrm>
            <a:off x="257070" y="1282890"/>
            <a:ext cx="6581052" cy="5316693"/>
          </a:xfrm>
        </p:spPr>
        <p:txBody>
          <a:bodyPr/>
          <a:lstStyle/>
          <a:p>
            <a:pPr algn="just"/>
            <a:r>
              <a:rPr lang="en-US" sz="2400" dirty="0"/>
              <a:t>Secretary to the Conference of Rulers</a:t>
            </a:r>
          </a:p>
          <a:p>
            <a:pPr algn="just"/>
            <a:r>
              <a:rPr lang="en-US" sz="2400" dirty="0"/>
              <a:t>Convene the Conference of Rulers whenever required to do so by the Yang di-</a:t>
            </a:r>
            <a:r>
              <a:rPr lang="en-US" sz="2400" dirty="0" err="1"/>
              <a:t>Pertuan</a:t>
            </a:r>
            <a:r>
              <a:rPr lang="en-US" sz="2400" dirty="0"/>
              <a:t> </a:t>
            </a:r>
            <a:r>
              <a:rPr lang="en-US" sz="2400" dirty="0" err="1"/>
              <a:t>Agong</a:t>
            </a:r>
            <a:r>
              <a:rPr lang="en-US" sz="2400" dirty="0"/>
              <a:t> or by not less than three members of the Conference</a:t>
            </a:r>
          </a:p>
          <a:p>
            <a:pPr algn="just"/>
            <a:r>
              <a:rPr lang="en-US" sz="2400" dirty="0"/>
              <a:t>Conduct the process of the election of the Yang di-</a:t>
            </a:r>
            <a:r>
              <a:rPr lang="en-US" sz="2400" dirty="0" err="1"/>
              <a:t>Pertuan</a:t>
            </a:r>
            <a:r>
              <a:rPr lang="en-US" sz="2400" dirty="0"/>
              <a:t> </a:t>
            </a:r>
            <a:r>
              <a:rPr lang="en-US" sz="2400" dirty="0" err="1"/>
              <a:t>Agong</a:t>
            </a:r>
            <a:endParaRPr lang="en-US" sz="2400" dirty="0"/>
          </a:p>
          <a:p>
            <a:pPr algn="just"/>
            <a:r>
              <a:rPr lang="en-US" sz="2400" dirty="0"/>
              <a:t>Spokesperson for the Conference of the Rulers – announcing the date of the beginning of Ramadan, Eid-</a:t>
            </a:r>
            <a:r>
              <a:rPr lang="en-US" sz="2400" dirty="0" err="1"/>
              <a:t>fitr</a:t>
            </a:r>
            <a:r>
              <a:rPr lang="en-US" sz="2400" dirty="0"/>
              <a:t> and Eid-</a:t>
            </a:r>
            <a:r>
              <a:rPr lang="en-US" sz="2400" dirty="0" err="1"/>
              <a:t>Adha</a:t>
            </a:r>
            <a:r>
              <a:rPr lang="en-US" sz="2400" dirty="0"/>
              <a:t> </a:t>
            </a:r>
            <a:r>
              <a:rPr lang="en-US" sz="2400" dirty="0" err="1"/>
              <a:t>etc</a:t>
            </a:r>
            <a:endParaRPr lang="en-US" sz="2400" dirty="0"/>
          </a:p>
          <a:p>
            <a:endParaRPr lang="en-MY" dirty="0"/>
          </a:p>
        </p:txBody>
      </p:sp>
      <p:pic>
        <p:nvPicPr>
          <p:cNvPr id="8" name="Picture 7">
            <a:extLst>
              <a:ext uri="{FF2B5EF4-FFF2-40B4-BE49-F238E27FC236}">
                <a16:creationId xmlns:a16="http://schemas.microsoft.com/office/drawing/2014/main" id="{1EE2E8B8-D044-230D-DF7B-2EE7B57BAE79}"/>
              </a:ext>
            </a:extLst>
          </p:cNvPr>
          <p:cNvPicPr>
            <a:picLocks noChangeAspect="1"/>
          </p:cNvPicPr>
          <p:nvPr/>
        </p:nvPicPr>
        <p:blipFill>
          <a:blip r:embed="rId2"/>
          <a:stretch>
            <a:fillRect/>
          </a:stretch>
        </p:blipFill>
        <p:spPr>
          <a:xfrm>
            <a:off x="7130557" y="1520686"/>
            <a:ext cx="4948987" cy="3508513"/>
          </a:xfrm>
          <a:prstGeom prst="rect">
            <a:avLst/>
          </a:prstGeom>
        </p:spPr>
      </p:pic>
    </p:spTree>
    <p:extLst>
      <p:ext uri="{BB962C8B-B14F-4D97-AF65-F5344CB8AC3E}">
        <p14:creationId xmlns:p14="http://schemas.microsoft.com/office/powerpoint/2010/main" val="999185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1E762-86DF-44CA-BC33-1BF97A34AC5D}"/>
              </a:ext>
            </a:extLst>
          </p:cNvPr>
          <p:cNvSpPr>
            <a:spLocks noGrp="1"/>
          </p:cNvSpPr>
          <p:nvPr>
            <p:ph type="title"/>
          </p:nvPr>
        </p:nvSpPr>
        <p:spPr>
          <a:xfrm>
            <a:off x="218661" y="452718"/>
            <a:ext cx="9832173" cy="809552"/>
          </a:xfrm>
        </p:spPr>
        <p:txBody>
          <a:bodyPr/>
          <a:lstStyle/>
          <a:p>
            <a:pPr algn="ctr"/>
            <a:r>
              <a:rPr lang="en-US" sz="3600" b="1" dirty="0"/>
              <a:t>MEETING OF THE CONFERENCE OF RULERS</a:t>
            </a:r>
            <a:endParaRPr lang="en-MY" sz="3600" b="1" dirty="0"/>
          </a:p>
        </p:txBody>
      </p:sp>
      <p:sp>
        <p:nvSpPr>
          <p:cNvPr id="3" name="Content Placeholder 2">
            <a:extLst>
              <a:ext uri="{FF2B5EF4-FFF2-40B4-BE49-F238E27FC236}">
                <a16:creationId xmlns:a16="http://schemas.microsoft.com/office/drawing/2014/main" id="{5D3B0790-314D-40C8-9D0C-909279048AAA}"/>
              </a:ext>
            </a:extLst>
          </p:cNvPr>
          <p:cNvSpPr>
            <a:spLocks noGrp="1"/>
          </p:cNvSpPr>
          <p:nvPr>
            <p:ph idx="1"/>
          </p:nvPr>
        </p:nvSpPr>
        <p:spPr>
          <a:xfrm>
            <a:off x="218661" y="1113183"/>
            <a:ext cx="11837503" cy="5645425"/>
          </a:xfrm>
        </p:spPr>
        <p:txBody>
          <a:bodyPr>
            <a:normAutofit fontScale="92500" lnSpcReduction="10000"/>
          </a:bodyPr>
          <a:lstStyle/>
          <a:p>
            <a:pPr eaLnBrk="1" hangingPunct="1">
              <a:spcBef>
                <a:spcPct val="20000"/>
              </a:spcBef>
              <a:buFont typeface="Arial" pitchFamily="34" charset="0"/>
              <a:buChar char="•"/>
            </a:pPr>
            <a:r>
              <a:rPr lang="en-US" sz="2800" dirty="0">
                <a:latin typeface="Calibri" pitchFamily="34" charset="0"/>
              </a:rPr>
              <a:t>3 or 4 times a year for three days. </a:t>
            </a:r>
          </a:p>
          <a:p>
            <a:pPr eaLnBrk="1" hangingPunct="1">
              <a:spcBef>
                <a:spcPct val="20000"/>
              </a:spcBef>
              <a:buFont typeface="Arial" pitchFamily="34" charset="0"/>
              <a:buChar char="•"/>
            </a:pPr>
            <a:r>
              <a:rPr lang="en-US" sz="2800" dirty="0">
                <a:latin typeface="Calibri" pitchFamily="34" charset="0"/>
              </a:rPr>
              <a:t>2/13 members present for meeting </a:t>
            </a:r>
          </a:p>
          <a:p>
            <a:pPr eaLnBrk="1" hangingPunct="1">
              <a:spcBef>
                <a:spcPct val="20000"/>
              </a:spcBef>
              <a:buFont typeface="Arial" pitchFamily="34" charset="0"/>
              <a:buChar char="•"/>
            </a:pPr>
            <a:r>
              <a:rPr lang="en-US" sz="2800" dirty="0">
                <a:latin typeface="Calibri" pitchFamily="34" charset="0"/>
              </a:rPr>
              <a:t>The most senior ruler will be the chairman of the conference.</a:t>
            </a:r>
          </a:p>
          <a:p>
            <a:pPr eaLnBrk="1" hangingPunct="1">
              <a:spcBef>
                <a:spcPct val="20000"/>
              </a:spcBef>
              <a:buFont typeface="Arial" pitchFamily="34" charset="0"/>
              <a:buChar char="•"/>
            </a:pPr>
            <a:r>
              <a:rPr lang="en-US" sz="2800" dirty="0">
                <a:latin typeface="Calibri" pitchFamily="34" charset="0"/>
              </a:rPr>
              <a:t>Meeting of Conference of Rulers accompanied by the YDPA and PM- rulers and CM- YDPN and Chief Minister except in the appointment of the YDPA and his deputy. </a:t>
            </a:r>
          </a:p>
          <a:p>
            <a:pPr eaLnBrk="1" hangingPunct="1">
              <a:spcBef>
                <a:spcPct val="20000"/>
              </a:spcBef>
              <a:buFont typeface="Arial" pitchFamily="34" charset="0"/>
              <a:buChar char="•"/>
            </a:pPr>
            <a:r>
              <a:rPr lang="en-US" sz="2800" dirty="0">
                <a:latin typeface="Calibri" pitchFamily="34" charset="0"/>
              </a:rPr>
              <a:t>Keeper of the Rulers’ Seal (</a:t>
            </a:r>
            <a:r>
              <a:rPr lang="en-US" sz="2800" dirty="0" err="1">
                <a:latin typeface="Calibri" pitchFamily="34" charset="0"/>
              </a:rPr>
              <a:t>Penyimpan</a:t>
            </a:r>
            <a:r>
              <a:rPr lang="en-US" sz="2800" dirty="0">
                <a:latin typeface="Calibri" pitchFamily="34" charset="0"/>
              </a:rPr>
              <a:t> Mohor </a:t>
            </a:r>
            <a:r>
              <a:rPr lang="en-US" sz="2800" dirty="0" err="1">
                <a:latin typeface="Calibri" pitchFamily="34" charset="0"/>
              </a:rPr>
              <a:t>Besar</a:t>
            </a:r>
            <a:r>
              <a:rPr lang="en-US" sz="2800" dirty="0">
                <a:latin typeface="Calibri" pitchFamily="34" charset="0"/>
              </a:rPr>
              <a:t> Raja-raja) as a secretary to the Council.</a:t>
            </a:r>
          </a:p>
          <a:p>
            <a:pPr eaLnBrk="1" hangingPunct="1">
              <a:spcBef>
                <a:spcPct val="20000"/>
              </a:spcBef>
              <a:buFont typeface="Arial" pitchFamily="34" charset="0"/>
              <a:buChar char="•"/>
            </a:pPr>
            <a:r>
              <a:rPr lang="en-US" sz="2800" dirty="0">
                <a:latin typeface="Calibri" pitchFamily="34" charset="0"/>
              </a:rPr>
              <a:t>Special meeting may be held if need arises- particularly when it relates to interests and position of rulers- usually chaired by the YDPA. </a:t>
            </a:r>
          </a:p>
          <a:p>
            <a:pPr eaLnBrk="1" hangingPunct="1">
              <a:spcBef>
                <a:spcPct val="20000"/>
              </a:spcBef>
              <a:buFont typeface="Arial" pitchFamily="34" charset="0"/>
              <a:buChar char="•"/>
            </a:pPr>
            <a:r>
              <a:rPr lang="en-US" sz="2800" dirty="0">
                <a:latin typeface="Calibri" pitchFamily="34" charset="0"/>
              </a:rPr>
              <a:t>Meeting with the people’s representatives- discuss about the country and related interests openly but closed to the public.</a:t>
            </a:r>
          </a:p>
          <a:p>
            <a:pPr eaLnBrk="1" hangingPunct="1">
              <a:spcBef>
                <a:spcPct val="20000"/>
              </a:spcBef>
              <a:buFont typeface="Arial" pitchFamily="34" charset="0"/>
              <a:buChar char="•"/>
            </a:pPr>
            <a:r>
              <a:rPr lang="en-US" sz="2800" dirty="0">
                <a:latin typeface="Calibri" pitchFamily="34" charset="0"/>
              </a:rPr>
              <a:t>YDPN (Head of the state such as Penang, Malacca, Sabah and Sarawak) is not involved in the appointment of the YDPA</a:t>
            </a:r>
          </a:p>
          <a:p>
            <a:endParaRPr lang="en-MY" dirty="0"/>
          </a:p>
        </p:txBody>
      </p:sp>
    </p:spTree>
    <p:extLst>
      <p:ext uri="{BB962C8B-B14F-4D97-AF65-F5344CB8AC3E}">
        <p14:creationId xmlns:p14="http://schemas.microsoft.com/office/powerpoint/2010/main" val="344279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E646DB9-AA18-43D9-9DFB-B722748812DE}"/>
              </a:ext>
            </a:extLst>
          </p:cNvPr>
          <p:cNvSpPr>
            <a:spLocks noGrp="1"/>
          </p:cNvSpPr>
          <p:nvPr>
            <p:ph type="title"/>
          </p:nvPr>
        </p:nvSpPr>
        <p:spPr/>
        <p:txBody>
          <a:bodyPr>
            <a:normAutofit fontScale="90000"/>
          </a:bodyPr>
          <a:lstStyle/>
          <a:p>
            <a:pPr algn="ctr"/>
            <a:r>
              <a:rPr lang="en-US" dirty="0"/>
              <a:t>First Meeting of Conference of Rulers Federated Malay States (DURBAR) 1897</a:t>
            </a:r>
            <a:endParaRPr lang="en-MY" dirty="0"/>
          </a:p>
        </p:txBody>
      </p:sp>
      <p:pic>
        <p:nvPicPr>
          <p:cNvPr id="3" name="Picture 2">
            <a:extLst>
              <a:ext uri="{FF2B5EF4-FFF2-40B4-BE49-F238E27FC236}">
                <a16:creationId xmlns:a16="http://schemas.microsoft.com/office/drawing/2014/main" id="{8FF3D783-B237-6518-CB59-C02299E6C2AD}"/>
              </a:ext>
            </a:extLst>
          </p:cNvPr>
          <p:cNvPicPr>
            <a:picLocks noChangeAspect="1"/>
          </p:cNvPicPr>
          <p:nvPr/>
        </p:nvPicPr>
        <p:blipFill>
          <a:blip r:embed="rId2"/>
          <a:stretch>
            <a:fillRect/>
          </a:stretch>
        </p:blipFill>
        <p:spPr>
          <a:xfrm>
            <a:off x="626439" y="658673"/>
            <a:ext cx="4131090" cy="3098318"/>
          </a:xfrm>
          <a:prstGeom prst="rect">
            <a:avLst/>
          </a:prstGeom>
        </p:spPr>
      </p:pic>
      <p:pic>
        <p:nvPicPr>
          <p:cNvPr id="4" name="Picture 3">
            <a:extLst>
              <a:ext uri="{FF2B5EF4-FFF2-40B4-BE49-F238E27FC236}">
                <a16:creationId xmlns:a16="http://schemas.microsoft.com/office/drawing/2014/main" id="{FB462B0B-2790-650F-EE3A-67E12C57A8D1}"/>
              </a:ext>
            </a:extLst>
          </p:cNvPr>
          <p:cNvPicPr>
            <a:picLocks noChangeAspect="1"/>
          </p:cNvPicPr>
          <p:nvPr/>
        </p:nvPicPr>
        <p:blipFill>
          <a:blip r:embed="rId3"/>
          <a:stretch>
            <a:fillRect/>
          </a:stretch>
        </p:blipFill>
        <p:spPr>
          <a:xfrm>
            <a:off x="5150870" y="673739"/>
            <a:ext cx="5292086" cy="3172885"/>
          </a:xfrm>
          <a:prstGeom prst="rect">
            <a:avLst/>
          </a:prstGeom>
        </p:spPr>
      </p:pic>
    </p:spTree>
    <p:extLst>
      <p:ext uri="{BB962C8B-B14F-4D97-AF65-F5344CB8AC3E}">
        <p14:creationId xmlns:p14="http://schemas.microsoft.com/office/powerpoint/2010/main" val="31203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7AA6-FB52-4C4F-9559-6F72ABDE2700}"/>
              </a:ext>
            </a:extLst>
          </p:cNvPr>
          <p:cNvSpPr>
            <a:spLocks noGrp="1"/>
          </p:cNvSpPr>
          <p:nvPr>
            <p:ph type="title"/>
          </p:nvPr>
        </p:nvSpPr>
        <p:spPr/>
        <p:txBody>
          <a:bodyPr/>
          <a:lstStyle/>
          <a:p>
            <a:pPr algn="ctr"/>
            <a:r>
              <a:rPr lang="en-US" sz="3600" b="1" dirty="0"/>
              <a:t>THE AMENDMENTS THAT REQUIRE THE CONSENT OF CONFERENCE OF RULERS</a:t>
            </a:r>
            <a:endParaRPr lang="en-MY" sz="3600" b="1" dirty="0"/>
          </a:p>
        </p:txBody>
      </p:sp>
      <p:sp>
        <p:nvSpPr>
          <p:cNvPr id="3" name="Content Placeholder 2">
            <a:extLst>
              <a:ext uri="{FF2B5EF4-FFF2-40B4-BE49-F238E27FC236}">
                <a16:creationId xmlns:a16="http://schemas.microsoft.com/office/drawing/2014/main" id="{3AB5A741-A473-4191-98A3-6D9DD96CA3D7}"/>
              </a:ext>
            </a:extLst>
          </p:cNvPr>
          <p:cNvSpPr>
            <a:spLocks noGrp="1"/>
          </p:cNvSpPr>
          <p:nvPr>
            <p:ph idx="1"/>
          </p:nvPr>
        </p:nvSpPr>
        <p:spPr>
          <a:xfrm>
            <a:off x="417444" y="2052918"/>
            <a:ext cx="11559208" cy="4447273"/>
          </a:xfrm>
        </p:spPr>
        <p:txBody>
          <a:bodyPr/>
          <a:lstStyle/>
          <a:p>
            <a:pPr marL="457200" indent="-457200" algn="just" eaLnBrk="1" fontAlgn="auto" hangingPunct="1">
              <a:spcBef>
                <a:spcPts val="0"/>
              </a:spcBef>
              <a:spcAft>
                <a:spcPts val="0"/>
              </a:spcAft>
              <a:buFont typeface="Arial" charset="0"/>
              <a:buNone/>
              <a:defRPr/>
            </a:pPr>
            <a:r>
              <a:rPr lang="en-US" sz="2800" dirty="0">
                <a:latin typeface="Calibri" pitchFamily="34" charset="0"/>
                <a:ea typeface="+mn-ea"/>
                <a:cs typeface="Calibri" pitchFamily="34" charset="0"/>
              </a:rPr>
              <a:t>•	State boundary (Article 2)</a:t>
            </a:r>
          </a:p>
          <a:p>
            <a:pPr marL="457200" indent="-457200" algn="just" eaLnBrk="1" fontAlgn="auto" hangingPunct="1">
              <a:spcBef>
                <a:spcPts val="0"/>
              </a:spcBef>
              <a:spcAft>
                <a:spcPts val="0"/>
              </a:spcAft>
              <a:buFont typeface="Arial" charset="0"/>
              <a:buNone/>
              <a:defRPr/>
            </a:pPr>
            <a:r>
              <a:rPr lang="en-US" sz="2800" dirty="0">
                <a:latin typeface="Calibri" pitchFamily="34" charset="0"/>
                <a:ea typeface="+mn-ea"/>
                <a:cs typeface="Calibri" pitchFamily="34" charset="0"/>
              </a:rPr>
              <a:t>•	Special position of the Malay and the Native (Article 153)</a:t>
            </a:r>
          </a:p>
          <a:p>
            <a:pPr marL="457200" indent="-457200" algn="just" eaLnBrk="1" fontAlgn="auto" hangingPunct="1">
              <a:spcBef>
                <a:spcPts val="0"/>
              </a:spcBef>
              <a:spcAft>
                <a:spcPts val="0"/>
              </a:spcAft>
              <a:buFont typeface="Arial" charset="0"/>
              <a:buNone/>
              <a:defRPr/>
            </a:pPr>
            <a:r>
              <a:rPr lang="en-US" sz="2800" dirty="0">
                <a:latin typeface="Calibri" pitchFamily="34" charset="0"/>
                <a:ea typeface="+mn-ea"/>
                <a:cs typeface="Calibri" pitchFamily="34" charset="0"/>
              </a:rPr>
              <a:t>•	Sovereignty of the Malay language (Article 152)</a:t>
            </a:r>
          </a:p>
          <a:p>
            <a:pPr marL="457200" indent="-457200" algn="just" eaLnBrk="1" fontAlgn="auto" hangingPunct="1">
              <a:spcBef>
                <a:spcPts val="0"/>
              </a:spcBef>
              <a:spcAft>
                <a:spcPts val="0"/>
              </a:spcAft>
              <a:buFont typeface="Arial" charset="0"/>
              <a:buNone/>
              <a:defRPr/>
            </a:pPr>
            <a:r>
              <a:rPr lang="en-US" sz="2800" dirty="0">
                <a:latin typeface="Calibri" pitchFamily="34" charset="0"/>
                <a:ea typeface="+mn-ea"/>
                <a:cs typeface="Calibri" pitchFamily="34" charset="0"/>
              </a:rPr>
              <a:t>•	Sovereignty  of the Malay Rulers (Article 181)</a:t>
            </a:r>
          </a:p>
          <a:p>
            <a:pPr marL="457200" indent="-457200" algn="just" eaLnBrk="1" fontAlgn="auto" hangingPunct="1">
              <a:spcBef>
                <a:spcPts val="0"/>
              </a:spcBef>
              <a:spcAft>
                <a:spcPts val="0"/>
              </a:spcAft>
              <a:buFont typeface="Arial" charset="0"/>
              <a:buNone/>
              <a:defRPr/>
            </a:pPr>
            <a:r>
              <a:rPr lang="en-US" sz="2800" dirty="0">
                <a:latin typeface="Calibri" pitchFamily="34" charset="0"/>
                <a:ea typeface="+mn-ea"/>
                <a:cs typeface="Calibri" pitchFamily="34" charset="0"/>
              </a:rPr>
              <a:t>•	Traditional/Indigenous elements in the constitutions</a:t>
            </a:r>
          </a:p>
          <a:p>
            <a:endParaRPr lang="en-MY" dirty="0"/>
          </a:p>
        </p:txBody>
      </p:sp>
    </p:spTree>
    <p:extLst>
      <p:ext uri="{BB962C8B-B14F-4D97-AF65-F5344CB8AC3E}">
        <p14:creationId xmlns:p14="http://schemas.microsoft.com/office/powerpoint/2010/main" val="3180923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FEBD5A-552B-4289-8DF3-11D1239E9E32}"/>
              </a:ext>
            </a:extLst>
          </p:cNvPr>
          <p:cNvSpPr>
            <a:spLocks noGrp="1"/>
          </p:cNvSpPr>
          <p:nvPr>
            <p:ph type="title"/>
          </p:nvPr>
        </p:nvSpPr>
        <p:spPr>
          <a:xfrm>
            <a:off x="298174" y="452718"/>
            <a:ext cx="10098155" cy="908943"/>
          </a:xfrm>
        </p:spPr>
        <p:txBody>
          <a:bodyPr/>
          <a:lstStyle/>
          <a:p>
            <a:pPr algn="ctr"/>
            <a:r>
              <a:rPr lang="en-MY" b="1" dirty="0"/>
              <a:t>IMMUNITY OF RULERS</a:t>
            </a:r>
          </a:p>
        </p:txBody>
      </p:sp>
      <p:sp>
        <p:nvSpPr>
          <p:cNvPr id="6" name="Content Placeholder 5">
            <a:extLst>
              <a:ext uri="{FF2B5EF4-FFF2-40B4-BE49-F238E27FC236}">
                <a16:creationId xmlns:a16="http://schemas.microsoft.com/office/drawing/2014/main" id="{29686C3E-5C7D-42C6-88FF-734B7FA2C105}"/>
              </a:ext>
            </a:extLst>
          </p:cNvPr>
          <p:cNvSpPr>
            <a:spLocks noGrp="1"/>
          </p:cNvSpPr>
          <p:nvPr>
            <p:ph idx="1"/>
          </p:nvPr>
        </p:nvSpPr>
        <p:spPr>
          <a:xfrm>
            <a:off x="298174" y="1222513"/>
            <a:ext cx="11595652" cy="5446643"/>
          </a:xfrm>
        </p:spPr>
        <p:txBody>
          <a:bodyPr>
            <a:normAutofit/>
          </a:bodyPr>
          <a:lstStyle/>
          <a:p>
            <a:pPr algn="just">
              <a:lnSpc>
                <a:spcPct val="90000"/>
              </a:lnSpc>
              <a:spcBef>
                <a:spcPts val="0"/>
              </a:spcBef>
              <a:defRPr/>
            </a:pPr>
            <a:r>
              <a:rPr lang="en-US" sz="2400" dirty="0">
                <a:latin typeface="Calibri" pitchFamily="34" charset="0"/>
                <a:ea typeface="+mn-ea"/>
                <a:cs typeface="Calibri" pitchFamily="34" charset="0"/>
              </a:rPr>
              <a:t>Since independence The King (YDPA) and the State Rulers had legal immunity – The Constitution provided that the Rulers cannot be prosecuted by Criminal Court unless he/they voluntarily wishes to surrender the immunity.</a:t>
            </a:r>
          </a:p>
          <a:p>
            <a:pPr algn="just">
              <a:lnSpc>
                <a:spcPct val="90000"/>
              </a:lnSpc>
              <a:spcBef>
                <a:spcPts val="0"/>
              </a:spcBef>
              <a:defRPr/>
            </a:pPr>
            <a:r>
              <a:rPr lang="en-US" sz="2400" dirty="0">
                <a:latin typeface="Calibri" pitchFamily="34" charset="0"/>
                <a:ea typeface="+mn-ea"/>
                <a:cs typeface="Calibri" pitchFamily="34" charset="0"/>
              </a:rPr>
              <a:t>1993 – Amendment on the immunity of rulers.</a:t>
            </a:r>
          </a:p>
          <a:p>
            <a:pPr algn="just">
              <a:lnSpc>
                <a:spcPct val="90000"/>
              </a:lnSpc>
              <a:spcBef>
                <a:spcPts val="0"/>
              </a:spcBef>
              <a:defRPr/>
            </a:pPr>
            <a:r>
              <a:rPr lang="en-US" sz="2400" dirty="0">
                <a:latin typeface="Calibri" pitchFamily="34" charset="0"/>
                <a:ea typeface="+mn-ea"/>
                <a:cs typeface="Calibri" pitchFamily="34" charset="0"/>
              </a:rPr>
              <a:t>After the amendment of Article 181, the King (YDPA) and the state Rulers can be prosecuted for any criminal or civil wrongs/transgressions outside of his official capacity.</a:t>
            </a:r>
          </a:p>
          <a:p>
            <a:pPr algn="just">
              <a:lnSpc>
                <a:spcPct val="90000"/>
              </a:lnSpc>
              <a:spcBef>
                <a:spcPts val="0"/>
              </a:spcBef>
              <a:defRPr/>
            </a:pPr>
            <a:r>
              <a:rPr lang="en-US" sz="2400" dirty="0">
                <a:latin typeface="Calibri" pitchFamily="34" charset="0"/>
                <a:ea typeface="+mn-ea"/>
                <a:cs typeface="Calibri" pitchFamily="34" charset="0"/>
              </a:rPr>
              <a:t>Any proceeding shall be brought in a Special Court</a:t>
            </a:r>
          </a:p>
          <a:p>
            <a:pPr algn="just">
              <a:lnSpc>
                <a:spcPct val="90000"/>
              </a:lnSpc>
              <a:spcBef>
                <a:spcPts val="0"/>
              </a:spcBef>
              <a:defRPr/>
            </a:pPr>
            <a:r>
              <a:rPr lang="en-US" sz="2400" dirty="0">
                <a:latin typeface="Calibri" pitchFamily="34" charset="0"/>
                <a:ea typeface="+mn-ea"/>
                <a:cs typeface="Calibri" pitchFamily="34" charset="0"/>
              </a:rPr>
              <a:t>Article 181(2):“There shall be a court which shall be known as the </a:t>
            </a:r>
            <a:r>
              <a:rPr lang="en-US" sz="2400" u="sng" dirty="0">
                <a:effectLst>
                  <a:outerShdw blurRad="38100" dist="38100" dir="2700000" algn="tl">
                    <a:srgbClr val="000000">
                      <a:alpha val="43137"/>
                    </a:srgbClr>
                  </a:outerShdw>
                </a:effectLst>
                <a:latin typeface="Calibri" pitchFamily="34" charset="0"/>
                <a:ea typeface="+mn-ea"/>
                <a:cs typeface="Calibri" pitchFamily="34" charset="0"/>
              </a:rPr>
              <a:t>Special Court </a:t>
            </a:r>
            <a:r>
              <a:rPr lang="en-US" sz="2400" dirty="0">
                <a:latin typeface="Calibri" pitchFamily="34" charset="0"/>
                <a:ea typeface="+mn-ea"/>
                <a:cs typeface="Calibri" pitchFamily="34" charset="0"/>
              </a:rPr>
              <a:t>and shall consist of the Chief Justice of the Federal Court, who shall be the Chairman, the Chief Judges of the High Courts, and two other persons who hold or have held office as judge of the Federal Court or a High Court appointed by the Conference of Rulers”.</a:t>
            </a:r>
          </a:p>
          <a:p>
            <a:pPr algn="just">
              <a:lnSpc>
                <a:spcPct val="90000"/>
              </a:lnSpc>
              <a:spcBef>
                <a:spcPts val="0"/>
              </a:spcBef>
              <a:defRPr/>
            </a:pPr>
            <a:r>
              <a:rPr lang="en-US" sz="2400" dirty="0">
                <a:latin typeface="Calibri" pitchFamily="34" charset="0"/>
                <a:ea typeface="+mn-ea"/>
                <a:cs typeface="Calibri" pitchFamily="34" charset="0"/>
              </a:rPr>
              <a:t>Article 181(2) “Any proceedings by or against the Yang di-</a:t>
            </a:r>
            <a:r>
              <a:rPr lang="en-US" sz="2400" dirty="0" err="1">
                <a:latin typeface="Calibri" pitchFamily="34" charset="0"/>
                <a:ea typeface="+mn-ea"/>
                <a:cs typeface="Calibri" pitchFamily="34" charset="0"/>
              </a:rPr>
              <a:t>Pertuan</a:t>
            </a:r>
            <a:r>
              <a:rPr lang="en-US" sz="2400" dirty="0">
                <a:latin typeface="Calibri" pitchFamily="34" charset="0"/>
                <a:ea typeface="+mn-ea"/>
                <a:cs typeface="Calibri" pitchFamily="34" charset="0"/>
              </a:rPr>
              <a:t> </a:t>
            </a:r>
            <a:r>
              <a:rPr lang="en-US" sz="2400" dirty="0" err="1">
                <a:latin typeface="Calibri" pitchFamily="34" charset="0"/>
                <a:ea typeface="+mn-ea"/>
                <a:cs typeface="Calibri" pitchFamily="34" charset="0"/>
              </a:rPr>
              <a:t>Agong</a:t>
            </a:r>
            <a:r>
              <a:rPr lang="en-US" sz="2400" dirty="0">
                <a:latin typeface="Calibri" pitchFamily="34" charset="0"/>
                <a:ea typeface="+mn-ea"/>
                <a:cs typeface="Calibri" pitchFamily="34" charset="0"/>
              </a:rPr>
              <a:t> or the Ruler of a State in his personal capacity shall be brought in a Special Court established under Clause (1)”. </a:t>
            </a:r>
          </a:p>
          <a:p>
            <a:pPr marL="0" indent="0">
              <a:buNone/>
            </a:pPr>
            <a:endParaRPr lang="en-MY" dirty="0"/>
          </a:p>
        </p:txBody>
      </p:sp>
    </p:spTree>
    <p:extLst>
      <p:ext uri="{BB962C8B-B14F-4D97-AF65-F5344CB8AC3E}">
        <p14:creationId xmlns:p14="http://schemas.microsoft.com/office/powerpoint/2010/main" val="4160057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8B8C-42DE-45DF-9373-A1A06FE2E2CE}"/>
              </a:ext>
            </a:extLst>
          </p:cNvPr>
          <p:cNvSpPr>
            <a:spLocks noGrp="1"/>
          </p:cNvSpPr>
          <p:nvPr>
            <p:ph type="title"/>
          </p:nvPr>
        </p:nvSpPr>
        <p:spPr>
          <a:xfrm>
            <a:off x="646111" y="452718"/>
            <a:ext cx="9404723" cy="869186"/>
          </a:xfrm>
        </p:spPr>
        <p:txBody>
          <a:bodyPr/>
          <a:lstStyle/>
          <a:p>
            <a:pPr algn="ctr"/>
            <a:r>
              <a:rPr lang="en-MY" dirty="0"/>
              <a:t> CONCLUSION</a:t>
            </a:r>
          </a:p>
        </p:txBody>
      </p:sp>
      <p:sp>
        <p:nvSpPr>
          <p:cNvPr id="3" name="Content Placeholder 2">
            <a:extLst>
              <a:ext uri="{FF2B5EF4-FFF2-40B4-BE49-F238E27FC236}">
                <a16:creationId xmlns:a16="http://schemas.microsoft.com/office/drawing/2014/main" id="{43A26656-8530-45DF-BF64-5C51407EB3BF}"/>
              </a:ext>
            </a:extLst>
          </p:cNvPr>
          <p:cNvSpPr>
            <a:spLocks noGrp="1"/>
          </p:cNvSpPr>
          <p:nvPr>
            <p:ph idx="1"/>
          </p:nvPr>
        </p:nvSpPr>
        <p:spPr>
          <a:xfrm>
            <a:off x="228600" y="1480930"/>
            <a:ext cx="11728174" cy="4767469"/>
          </a:xfrm>
        </p:spPr>
        <p:txBody>
          <a:bodyPr/>
          <a:lstStyle/>
          <a:p>
            <a:r>
              <a:rPr lang="en-US" dirty="0"/>
              <a:t>Monarchy system is an inherited political system that demonstrates national/traditional identity</a:t>
            </a:r>
          </a:p>
          <a:p>
            <a:r>
              <a:rPr lang="en-US" dirty="0"/>
              <a:t>Constitutional Monarchy</a:t>
            </a:r>
          </a:p>
          <a:p>
            <a:pPr lvl="1"/>
            <a:r>
              <a:rPr lang="en-US" dirty="0"/>
              <a:t>Has structure and procedures that has been set by the Constitution</a:t>
            </a:r>
          </a:p>
          <a:p>
            <a:pPr lvl="1"/>
            <a:r>
              <a:rPr lang="en-US" dirty="0"/>
              <a:t>Pillar of the Country</a:t>
            </a:r>
          </a:p>
          <a:p>
            <a:pPr lvl="1"/>
            <a:r>
              <a:rPr lang="en-US" dirty="0"/>
              <a:t>Foundation of balance of rights as well as the people’s interests</a:t>
            </a:r>
          </a:p>
          <a:p>
            <a:r>
              <a:rPr lang="en-US" dirty="0"/>
              <a:t>The structure of monarchy system  in Malaysia probably similar to monarchy in UK but the functions and roles are different because the power of the YDPA  is recognized in the written constitution. </a:t>
            </a:r>
            <a:endParaRPr lang="en-MY" dirty="0"/>
          </a:p>
        </p:txBody>
      </p:sp>
    </p:spTree>
    <p:extLst>
      <p:ext uri="{BB962C8B-B14F-4D97-AF65-F5344CB8AC3E}">
        <p14:creationId xmlns:p14="http://schemas.microsoft.com/office/powerpoint/2010/main" val="31573410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520</TotalTime>
  <Words>2567</Words>
  <Application>Microsoft Office PowerPoint</Application>
  <PresentationFormat>Widescreen</PresentationFormat>
  <Paragraphs>222</Paragraphs>
  <Slides>28</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28</vt:i4>
      </vt:variant>
    </vt:vector>
  </HeadingPairs>
  <TitlesOfParts>
    <vt:vector size="36" baseType="lpstr">
      <vt:lpstr>Arial</vt:lpstr>
      <vt:lpstr>Calibri</vt:lpstr>
      <vt:lpstr>Century Gothic</vt:lpstr>
      <vt:lpstr>Wingdings</vt:lpstr>
      <vt:lpstr>Wingdings 3</vt:lpstr>
      <vt:lpstr>Ion</vt:lpstr>
      <vt:lpstr>1_Office Theme</vt:lpstr>
      <vt:lpstr>Office Theme</vt:lpstr>
      <vt:lpstr>FEM2401 Malaysian Politics and Society  TOPIC 4: CONSTITUTIONAL MONARCHY</vt:lpstr>
      <vt:lpstr>TOPIC 4: CONSTITUTIONAL MONARCHY</vt:lpstr>
      <vt:lpstr>Terms</vt:lpstr>
      <vt:lpstr>BACKGROUND OF THE MONARCHY SYSTEM</vt:lpstr>
      <vt:lpstr>PowerPoint Presentation</vt:lpstr>
      <vt:lpstr>CONCEPT OF CONSTITUTIONAL MONARCHY</vt:lpstr>
      <vt:lpstr>PowerPoint Presentation</vt:lpstr>
      <vt:lpstr>APPOINTMENT OF YDPA</vt:lpstr>
      <vt:lpstr>PowerPoint Presentation</vt:lpstr>
      <vt:lpstr>PowerPoint Presentation</vt:lpstr>
      <vt:lpstr>PowerPoint Presentation</vt:lpstr>
      <vt:lpstr>YDPA AS HEAD OF THE COUNTRY (Executive Power) </vt:lpstr>
      <vt:lpstr>PowerPoint Presentation</vt:lpstr>
      <vt:lpstr>PowerPoint Presentation</vt:lpstr>
      <vt:lpstr>PowerPoint Presentation</vt:lpstr>
      <vt:lpstr>THINGS THAT CANNOT BE DONE BY THE YDPA</vt:lpstr>
      <vt:lpstr>TIMBALAN YDPA (DEPUTY OF YDPA)</vt:lpstr>
      <vt:lpstr>LIST OF SENIORITY OF SERI PADUKA BAGINDA YANG DI-PERTUAN AGONG</vt:lpstr>
      <vt:lpstr>PowerPoint Presentation</vt:lpstr>
      <vt:lpstr>CONFERENCE OF RULERS</vt:lpstr>
      <vt:lpstr>Article 38 (2): Role of Conference of Rulers</vt:lpstr>
      <vt:lpstr>DISCRETIONARY POWERS OF THE CONFERENCE OF RULERS [Article  38(6)]</vt:lpstr>
      <vt:lpstr>"The Keeper of the Rulers' Seal”</vt:lpstr>
      <vt:lpstr>MEETING OF THE CONFERENCE OF RULERS</vt:lpstr>
      <vt:lpstr>First Meeting of Conference of Rulers Federated Malay States (DURBAR) 1897</vt:lpstr>
      <vt:lpstr>THE AMENDMENTS THAT REQUIRE THE CONSENT OF CONFERENCE OF RULERS</vt:lpstr>
      <vt:lpstr>IMMUNITY OF RULERS</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MPU2163 Pengajian Malaysia 2</dc:title>
  <dc:creator>Fitri</dc:creator>
  <cp:lastModifiedBy>Amir Munshi</cp:lastModifiedBy>
  <cp:revision>249</cp:revision>
  <dcterms:created xsi:type="dcterms:W3CDTF">2021-06-21T02:18:24Z</dcterms:created>
  <dcterms:modified xsi:type="dcterms:W3CDTF">2024-08-16T00:37:03Z</dcterms:modified>
</cp:coreProperties>
</file>