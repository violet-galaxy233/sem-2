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 id="2147483684" r:id="rId4"/>
    <p:sldMasterId id="2147483696" r:id="rId5"/>
  </p:sldMasterIdLst>
  <p:sldIdLst>
    <p:sldId id="256" r:id="rId6"/>
    <p:sldId id="291" r:id="rId7"/>
    <p:sldId id="281" r:id="rId8"/>
    <p:sldId id="282" r:id="rId9"/>
    <p:sldId id="278" r:id="rId10"/>
    <p:sldId id="258" r:id="rId11"/>
    <p:sldId id="259" r:id="rId12"/>
    <p:sldId id="260" r:id="rId13"/>
    <p:sldId id="292" r:id="rId14"/>
    <p:sldId id="283" r:id="rId15"/>
    <p:sldId id="284" r:id="rId16"/>
    <p:sldId id="262" r:id="rId17"/>
    <p:sldId id="263" r:id="rId18"/>
    <p:sldId id="261" r:id="rId19"/>
    <p:sldId id="275" r:id="rId20"/>
    <p:sldId id="279" r:id="rId21"/>
    <p:sldId id="276" r:id="rId22"/>
    <p:sldId id="289" r:id="rId23"/>
    <p:sldId id="285" r:id="rId24"/>
    <p:sldId id="264" r:id="rId25"/>
    <p:sldId id="293" r:id="rId26"/>
    <p:sldId id="295" r:id="rId27"/>
    <p:sldId id="296" r:id="rId28"/>
    <p:sldId id="265" r:id="rId29"/>
    <p:sldId id="277" r:id="rId30"/>
    <p:sldId id="297" r:id="rId31"/>
    <p:sldId id="298" r:id="rId32"/>
    <p:sldId id="299" r:id="rId33"/>
    <p:sldId id="300" r:id="rId34"/>
    <p:sldId id="301" r:id="rId35"/>
    <p:sldId id="302"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5" d="100"/>
          <a:sy n="105" d="100"/>
        </p:scale>
        <p:origin x="179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heme" Target="theme/theme1.xml"/><Relationship Id="rId21" Type="http://schemas.openxmlformats.org/officeDocument/2006/relationships/slide" Target="slides/slide16.xml"/><Relationship Id="rId34" Type="http://schemas.openxmlformats.org/officeDocument/2006/relationships/slide" Target="slides/slide29.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8" Type="http://schemas.openxmlformats.org/officeDocument/2006/relationships/slide" Target="slides/slide3.xml"/><Relationship Id="rId3" Type="http://schemas.openxmlformats.org/officeDocument/2006/relationships/slideMaster" Target="slideMasters/slideMaster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014E152-5AF6-4A32-9BB5-E2D5EA3B01E3}" type="datetimeFigureOut">
              <a:rPr lang="en-US" smtClean="0"/>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15524694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14E152-5AF6-4A32-9BB5-E2D5EA3B01E3}" type="datetimeFigureOut">
              <a:rPr lang="en-US" smtClean="0"/>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22627952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14E152-5AF6-4A32-9BB5-E2D5EA3B01E3}" type="datetimeFigureOut">
              <a:rPr lang="en-US" smtClean="0"/>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33169529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014E152-5AF6-4A32-9BB5-E2D5EA3B01E3}" type="datetimeFigureOut">
              <a:rPr lang="en-US" smtClean="0"/>
              <a:t>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2359873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014E152-5AF6-4A32-9BB5-E2D5EA3B01E3}" type="datetimeFigureOut">
              <a:rPr lang="en-US" smtClean="0"/>
              <a:t>12/2/2024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977230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014E152-5AF6-4A32-9BB5-E2D5EA3B01E3}" type="datetimeFigureOut">
              <a:rPr lang="en-US" smtClean="0"/>
              <a:t>12/2/2024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39454010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14E152-5AF6-4A32-9BB5-E2D5EA3B01E3}" type="datetimeFigureOut">
              <a:rPr lang="en-US" smtClean="0"/>
              <a:t>12/2/2024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3927674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14E152-5AF6-4A32-9BB5-E2D5EA3B01E3}" type="datetimeFigureOut">
              <a:rPr lang="en-US" smtClean="0"/>
              <a:t>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10895231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14E152-5AF6-4A32-9BB5-E2D5EA3B01E3}" type="datetimeFigureOut">
              <a:rPr lang="en-US" smtClean="0"/>
              <a:t>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12230831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14E152-5AF6-4A32-9BB5-E2D5EA3B01E3}" type="datetimeFigureOut">
              <a:rPr lang="en-US" smtClean="0"/>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1388513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14E152-5AF6-4A32-9BB5-E2D5EA3B01E3}" type="datetimeFigureOut">
              <a:rPr lang="en-US" smtClean="0"/>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20583497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2543EDA-DEC2-4A58-BAD0-B33D6BFF9C88}" type="datetimeFigureOut">
              <a:rPr lang="en-US" smtClean="0">
                <a:solidFill>
                  <a:prstClr val="black">
                    <a:tint val="75000"/>
                  </a:prstClr>
                </a:solidFill>
              </a:rPr>
              <a:pPr/>
              <a:t>12/2/2024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636652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543EDA-DEC2-4A58-BAD0-B33D6BFF9C88}" type="datetimeFigureOut">
              <a:rPr lang="en-US" smtClean="0">
                <a:solidFill>
                  <a:prstClr val="black">
                    <a:tint val="75000"/>
                  </a:prstClr>
                </a:solidFill>
              </a:rPr>
              <a:pPr/>
              <a:t>12/2/2024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707834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543EDA-DEC2-4A58-BAD0-B33D6BFF9C88}" type="datetimeFigureOut">
              <a:rPr lang="en-US" smtClean="0">
                <a:solidFill>
                  <a:prstClr val="black">
                    <a:tint val="75000"/>
                  </a:prstClr>
                </a:solidFill>
              </a:rPr>
              <a:pPr/>
              <a:t>12/2/2024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571372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2543EDA-DEC2-4A58-BAD0-B33D6BFF9C88}" type="datetimeFigureOut">
              <a:rPr lang="en-US" smtClean="0">
                <a:solidFill>
                  <a:prstClr val="black">
                    <a:tint val="75000"/>
                  </a:prstClr>
                </a:solidFill>
              </a:rPr>
              <a:pPr/>
              <a:t>12/2/2024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239485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2543EDA-DEC2-4A58-BAD0-B33D6BFF9C88}" type="datetimeFigureOut">
              <a:rPr lang="en-US" smtClean="0">
                <a:solidFill>
                  <a:prstClr val="black">
                    <a:tint val="75000"/>
                  </a:prstClr>
                </a:solidFill>
              </a:rPr>
              <a:pPr/>
              <a:t>12/2/2024</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860831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2543EDA-DEC2-4A58-BAD0-B33D6BFF9C88}" type="datetimeFigureOut">
              <a:rPr lang="en-US" smtClean="0">
                <a:solidFill>
                  <a:prstClr val="black">
                    <a:tint val="75000"/>
                  </a:prstClr>
                </a:solidFill>
              </a:rPr>
              <a:pPr/>
              <a:t>12/2/2024</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502099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543EDA-DEC2-4A58-BAD0-B33D6BFF9C88}" type="datetimeFigureOut">
              <a:rPr lang="en-US" smtClean="0">
                <a:solidFill>
                  <a:prstClr val="black">
                    <a:tint val="75000"/>
                  </a:prstClr>
                </a:solidFill>
              </a:rPr>
              <a:pPr/>
              <a:t>12/2/2024</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865375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543EDA-DEC2-4A58-BAD0-B33D6BFF9C88}" type="datetimeFigureOut">
              <a:rPr lang="en-US" smtClean="0">
                <a:solidFill>
                  <a:prstClr val="black">
                    <a:tint val="75000"/>
                  </a:prstClr>
                </a:solidFill>
              </a:rPr>
              <a:pPr/>
              <a:t>12/2/2024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606321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543EDA-DEC2-4A58-BAD0-B33D6BFF9C88}" type="datetimeFigureOut">
              <a:rPr lang="en-US" smtClean="0">
                <a:solidFill>
                  <a:prstClr val="black">
                    <a:tint val="75000"/>
                  </a:prstClr>
                </a:solidFill>
              </a:rPr>
              <a:pPr/>
              <a:t>12/2/2024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814041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543EDA-DEC2-4A58-BAD0-B33D6BFF9C88}" type="datetimeFigureOut">
              <a:rPr lang="en-US" smtClean="0">
                <a:solidFill>
                  <a:prstClr val="black">
                    <a:tint val="75000"/>
                  </a:prstClr>
                </a:solidFill>
              </a:rPr>
              <a:pPr/>
              <a:t>12/2/2024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607221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543EDA-DEC2-4A58-BAD0-B33D6BFF9C88}" type="datetimeFigureOut">
              <a:rPr lang="en-US" smtClean="0">
                <a:solidFill>
                  <a:prstClr val="black">
                    <a:tint val="75000"/>
                  </a:prstClr>
                </a:solidFill>
              </a:rPr>
              <a:pPr/>
              <a:t>12/2/2024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050812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2543EDA-DEC2-4A58-BAD0-B33D6BFF9C88}" type="datetimeFigureOut">
              <a:rPr lang="en-US" smtClean="0">
                <a:solidFill>
                  <a:prstClr val="black">
                    <a:tint val="75000"/>
                  </a:prstClr>
                </a:solidFill>
              </a:rPr>
              <a:pPr/>
              <a:t>12/2/2024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3059933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543EDA-DEC2-4A58-BAD0-B33D6BFF9C88}" type="datetimeFigureOut">
              <a:rPr lang="en-US" smtClean="0">
                <a:solidFill>
                  <a:prstClr val="black">
                    <a:tint val="75000"/>
                  </a:prstClr>
                </a:solidFill>
              </a:rPr>
              <a:pPr/>
              <a:t>12/2/2024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648594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543EDA-DEC2-4A58-BAD0-B33D6BFF9C88}" type="datetimeFigureOut">
              <a:rPr lang="en-US" smtClean="0">
                <a:solidFill>
                  <a:prstClr val="black">
                    <a:tint val="75000"/>
                  </a:prstClr>
                </a:solidFill>
              </a:rPr>
              <a:pPr/>
              <a:t>12/2/2024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5982116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2543EDA-DEC2-4A58-BAD0-B33D6BFF9C88}" type="datetimeFigureOut">
              <a:rPr lang="en-US" smtClean="0">
                <a:solidFill>
                  <a:prstClr val="black">
                    <a:tint val="75000"/>
                  </a:prstClr>
                </a:solidFill>
              </a:rPr>
              <a:pPr/>
              <a:t>12/2/2024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7860908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2543EDA-DEC2-4A58-BAD0-B33D6BFF9C88}" type="datetimeFigureOut">
              <a:rPr lang="en-US" smtClean="0">
                <a:solidFill>
                  <a:prstClr val="black">
                    <a:tint val="75000"/>
                  </a:prstClr>
                </a:solidFill>
              </a:rPr>
              <a:pPr/>
              <a:t>12/2/2024</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5336263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2543EDA-DEC2-4A58-BAD0-B33D6BFF9C88}" type="datetimeFigureOut">
              <a:rPr lang="en-US" smtClean="0">
                <a:solidFill>
                  <a:prstClr val="black">
                    <a:tint val="75000"/>
                  </a:prstClr>
                </a:solidFill>
              </a:rPr>
              <a:pPr/>
              <a:t>12/2/2024</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936539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543EDA-DEC2-4A58-BAD0-B33D6BFF9C88}" type="datetimeFigureOut">
              <a:rPr lang="en-US" smtClean="0">
                <a:solidFill>
                  <a:prstClr val="black">
                    <a:tint val="75000"/>
                  </a:prstClr>
                </a:solidFill>
              </a:rPr>
              <a:pPr/>
              <a:t>12/2/2024</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693732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543EDA-DEC2-4A58-BAD0-B33D6BFF9C88}" type="datetimeFigureOut">
              <a:rPr lang="en-US" smtClean="0">
                <a:solidFill>
                  <a:prstClr val="black">
                    <a:tint val="75000"/>
                  </a:prstClr>
                </a:solidFill>
              </a:rPr>
              <a:pPr/>
              <a:t>12/2/2024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9854489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543EDA-DEC2-4A58-BAD0-B33D6BFF9C88}" type="datetimeFigureOut">
              <a:rPr lang="en-US" smtClean="0">
                <a:solidFill>
                  <a:prstClr val="black">
                    <a:tint val="75000"/>
                  </a:prstClr>
                </a:solidFill>
              </a:rPr>
              <a:pPr/>
              <a:t>12/2/2024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268066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543EDA-DEC2-4A58-BAD0-B33D6BFF9C88}" type="datetimeFigureOut">
              <a:rPr lang="en-US" smtClean="0">
                <a:solidFill>
                  <a:prstClr val="black">
                    <a:tint val="75000"/>
                  </a:prstClr>
                </a:solidFill>
              </a:rPr>
              <a:pPr/>
              <a:t>12/2/2024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087336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543EDA-DEC2-4A58-BAD0-B33D6BFF9C88}" type="datetimeFigureOut">
              <a:rPr lang="en-US" smtClean="0">
                <a:solidFill>
                  <a:prstClr val="black">
                    <a:tint val="75000"/>
                  </a:prstClr>
                </a:solidFill>
              </a:rPr>
              <a:pPr/>
              <a:t>12/2/2024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5014734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2543EDA-DEC2-4A58-BAD0-B33D6BFF9C88}" type="datetimeFigureOut">
              <a:rPr lang="en-US" smtClean="0">
                <a:solidFill>
                  <a:prstClr val="black">
                    <a:tint val="75000"/>
                  </a:prstClr>
                </a:solidFill>
              </a:rPr>
              <a:pPr/>
              <a:t>12/2/2024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940522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543EDA-DEC2-4A58-BAD0-B33D6BFF9C88}" type="datetimeFigureOut">
              <a:rPr lang="en-US" smtClean="0">
                <a:solidFill>
                  <a:prstClr val="black">
                    <a:tint val="75000"/>
                  </a:prstClr>
                </a:solidFill>
              </a:rPr>
              <a:pPr/>
              <a:t>12/2/2024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0956329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543EDA-DEC2-4A58-BAD0-B33D6BFF9C88}" type="datetimeFigureOut">
              <a:rPr lang="en-US" smtClean="0">
                <a:solidFill>
                  <a:prstClr val="black">
                    <a:tint val="75000"/>
                  </a:prstClr>
                </a:solidFill>
              </a:rPr>
              <a:pPr/>
              <a:t>12/2/2024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0295172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2543EDA-DEC2-4A58-BAD0-B33D6BFF9C88}" type="datetimeFigureOut">
              <a:rPr lang="en-US" smtClean="0">
                <a:solidFill>
                  <a:prstClr val="black">
                    <a:tint val="75000"/>
                  </a:prstClr>
                </a:solidFill>
              </a:rPr>
              <a:pPr/>
              <a:t>12/2/2024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6572321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2543EDA-DEC2-4A58-BAD0-B33D6BFF9C88}" type="datetimeFigureOut">
              <a:rPr lang="en-US" smtClean="0">
                <a:solidFill>
                  <a:prstClr val="black">
                    <a:tint val="75000"/>
                  </a:prstClr>
                </a:solidFill>
              </a:rPr>
              <a:pPr/>
              <a:t>12/2/2024</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9736746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2543EDA-DEC2-4A58-BAD0-B33D6BFF9C88}" type="datetimeFigureOut">
              <a:rPr lang="en-US" smtClean="0">
                <a:solidFill>
                  <a:prstClr val="black">
                    <a:tint val="75000"/>
                  </a:prstClr>
                </a:solidFill>
              </a:rPr>
              <a:pPr/>
              <a:t>12/2/2024</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6045543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543EDA-DEC2-4A58-BAD0-B33D6BFF9C88}" type="datetimeFigureOut">
              <a:rPr lang="en-US" smtClean="0">
                <a:solidFill>
                  <a:prstClr val="black">
                    <a:tint val="75000"/>
                  </a:prstClr>
                </a:solidFill>
              </a:rPr>
              <a:pPr/>
              <a:t>12/2/2024</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6418780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543EDA-DEC2-4A58-BAD0-B33D6BFF9C88}" type="datetimeFigureOut">
              <a:rPr lang="en-US" smtClean="0">
                <a:solidFill>
                  <a:prstClr val="black">
                    <a:tint val="75000"/>
                  </a:prstClr>
                </a:solidFill>
              </a:rPr>
              <a:pPr/>
              <a:t>12/2/2024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0409532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543EDA-DEC2-4A58-BAD0-B33D6BFF9C88}" type="datetimeFigureOut">
              <a:rPr lang="en-US" smtClean="0">
                <a:solidFill>
                  <a:prstClr val="black">
                    <a:tint val="75000"/>
                  </a:prstClr>
                </a:solidFill>
              </a:rPr>
              <a:pPr/>
              <a:t>12/2/2024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5671540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543EDA-DEC2-4A58-BAD0-B33D6BFF9C88}" type="datetimeFigureOut">
              <a:rPr lang="en-US" smtClean="0">
                <a:solidFill>
                  <a:prstClr val="black">
                    <a:tint val="75000"/>
                  </a:prstClr>
                </a:solidFill>
              </a:rPr>
              <a:pPr/>
              <a:t>12/2/2024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6968181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543EDA-DEC2-4A58-BAD0-B33D6BFF9C88}" type="datetimeFigureOut">
              <a:rPr lang="en-US" smtClean="0">
                <a:solidFill>
                  <a:prstClr val="black">
                    <a:tint val="75000"/>
                  </a:prstClr>
                </a:solidFill>
              </a:rPr>
              <a:pPr/>
              <a:t>12/2/2024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7483975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216" y="1447801"/>
            <a:ext cx="6619244" cy="3329581"/>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66216" y="4777380"/>
            <a:ext cx="6619244" cy="861420"/>
          </a:xfrm>
        </p:spPr>
        <p:txBody>
          <a:bodyPr anchor="t"/>
          <a:lstStyle>
            <a:lvl1pPr marL="0" indent="0" algn="l">
              <a:buNone/>
              <a:defRPr cap="all">
                <a:solidFill>
                  <a:schemeClr val="bg2">
                    <a:lumMod val="40000"/>
                    <a:lumOff val="6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8A877A6-B9F5-4867-A3A3-392470B18AE2}" type="datetimeFigureOut">
              <a:rPr lang="en-MY" smtClean="0"/>
              <a:t>2/12/2024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269623169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B8A877A6-B9F5-4867-A3A3-392470B18AE2}" type="datetimeFigureOut">
              <a:rPr lang="en-MY" smtClean="0"/>
              <a:t>2/12/2024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68660749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217" y="2861734"/>
            <a:ext cx="6619243" cy="1915647"/>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4777381"/>
            <a:ext cx="6619244" cy="860400"/>
          </a:xfrm>
        </p:spPr>
        <p:txBody>
          <a:bodyPr anchor="t"/>
          <a:lstStyle>
            <a:lvl1pPr marL="0" indent="0" algn="l">
              <a:buNone/>
              <a:defRPr sz="1500" cap="all">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A877A6-B9F5-4867-A3A3-392470B18AE2}" type="datetimeFigureOut">
              <a:rPr lang="en-MY" smtClean="0"/>
              <a:t>2/12/2024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124433102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485" y="2060576"/>
            <a:ext cx="3297254" cy="4195763"/>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0870" y="2056093"/>
            <a:ext cx="3297256" cy="4200245"/>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8A877A6-B9F5-4867-A3A3-392470B18AE2}" type="datetimeFigureOut">
              <a:rPr lang="en-MY" smtClean="0"/>
              <a:t>2/12/2024</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70924087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485" y="1905000"/>
            <a:ext cx="3297254" cy="576262"/>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27485" y="2514600"/>
            <a:ext cx="3297254" cy="3741738"/>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0872" y="1905000"/>
            <a:ext cx="3297254" cy="576262"/>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240872" y="2514600"/>
            <a:ext cx="3297254" cy="3741738"/>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8A877A6-B9F5-4867-A3A3-392470B18AE2}" type="datetimeFigureOut">
              <a:rPr lang="en-MY" smtClean="0"/>
              <a:t>2/12/2024</a:t>
            </a:fld>
            <a:endParaRPr lang="en-MY"/>
          </a:p>
        </p:txBody>
      </p:sp>
      <p:sp>
        <p:nvSpPr>
          <p:cNvPr id="8" name="Footer Placeholder 7"/>
          <p:cNvSpPr>
            <a:spLocks noGrp="1"/>
          </p:cNvSpPr>
          <p:nvPr>
            <p:ph type="ftr" sz="quarter" idx="11"/>
          </p:nvPr>
        </p:nvSpPr>
        <p:spPr/>
        <p:txBody>
          <a:bodyPr/>
          <a:lstStyle/>
          <a:p>
            <a:endParaRPr lang="en-MY"/>
          </a:p>
        </p:txBody>
      </p:sp>
      <p:sp>
        <p:nvSpPr>
          <p:cNvPr id="9" name="Slide Number Placeholder 8"/>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165827425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B8A877A6-B9F5-4867-A3A3-392470B18AE2}" type="datetimeFigureOut">
              <a:rPr lang="en-MY" smtClean="0"/>
              <a:t>2/12/2024</a:t>
            </a:fld>
            <a:endParaRPr lang="en-MY"/>
          </a:p>
        </p:txBody>
      </p:sp>
      <p:sp>
        <p:nvSpPr>
          <p:cNvPr id="5" name="Footer Placeholder 3"/>
          <p:cNvSpPr>
            <a:spLocks noGrp="1"/>
          </p:cNvSpPr>
          <p:nvPr>
            <p:ph type="ftr" sz="quarter" idx="11"/>
          </p:nvPr>
        </p:nvSpPr>
        <p:spPr/>
        <p:txBody>
          <a:bodyPr/>
          <a:lstStyle/>
          <a:p>
            <a:endParaRPr lang="en-MY"/>
          </a:p>
        </p:txBody>
      </p:sp>
      <p:sp>
        <p:nvSpPr>
          <p:cNvPr id="6" name="Slide Number Placeholder 4"/>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22509463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B8A877A6-B9F5-4867-A3A3-392470B18AE2}" type="datetimeFigureOut">
              <a:rPr lang="en-MY" smtClean="0"/>
              <a:t>2/12/2024</a:t>
            </a:fld>
            <a:endParaRPr lang="en-MY"/>
          </a:p>
        </p:txBody>
      </p:sp>
      <p:sp>
        <p:nvSpPr>
          <p:cNvPr id="5" name="Footer Placeholder 2"/>
          <p:cNvSpPr>
            <a:spLocks noGrp="1"/>
          </p:cNvSpPr>
          <p:nvPr>
            <p:ph type="ftr" sz="quarter" idx="11"/>
          </p:nvPr>
        </p:nvSpPr>
        <p:spPr/>
        <p:txBody>
          <a:bodyPr/>
          <a:lstStyle/>
          <a:p>
            <a:endParaRPr lang="en-MY"/>
          </a:p>
        </p:txBody>
      </p:sp>
      <p:sp>
        <p:nvSpPr>
          <p:cNvPr id="6" name="Slide Number Placeholder 3"/>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297893430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5" y="1447800"/>
            <a:ext cx="2550798" cy="1447800"/>
          </a:xfrm>
        </p:spPr>
        <p:txBody>
          <a:bodyPr anchor="b"/>
          <a:lstStyle>
            <a:lvl1pPr algn="l">
              <a:defRPr sz="1800" b="0"/>
            </a:lvl1pPr>
          </a:lstStyle>
          <a:p>
            <a:r>
              <a:rPr lang="en-US"/>
              <a:t>Click to edit Master title style</a:t>
            </a:r>
            <a:endParaRPr lang="en-US" dirty="0"/>
          </a:p>
        </p:txBody>
      </p:sp>
      <p:sp>
        <p:nvSpPr>
          <p:cNvPr id="3" name="Content Placeholder 2"/>
          <p:cNvSpPr>
            <a:spLocks noGrp="1"/>
          </p:cNvSpPr>
          <p:nvPr>
            <p:ph idx="1"/>
          </p:nvPr>
        </p:nvSpPr>
        <p:spPr>
          <a:xfrm>
            <a:off x="3588462" y="1447800"/>
            <a:ext cx="3896998" cy="4572000"/>
          </a:xfrm>
        </p:spPr>
        <p:txBody>
          <a:bodyPr anchor="ct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215" y="3129281"/>
            <a:ext cx="2550797" cy="2895599"/>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Date Placeholder 4"/>
          <p:cNvSpPr>
            <a:spLocks noGrp="1"/>
          </p:cNvSpPr>
          <p:nvPr>
            <p:ph type="dt" sz="half" idx="10"/>
          </p:nvPr>
        </p:nvSpPr>
        <p:spPr/>
        <p:txBody>
          <a:bodyPr/>
          <a:lstStyle/>
          <a:p>
            <a:fld id="{B8A877A6-B9F5-4867-A3A3-392470B18AE2}" type="datetimeFigureOut">
              <a:rPr lang="en-MY" smtClean="0"/>
              <a:t>2/12/2024</a:t>
            </a:fld>
            <a:endParaRPr lang="en-MY"/>
          </a:p>
        </p:txBody>
      </p:sp>
      <p:sp>
        <p:nvSpPr>
          <p:cNvPr id="5" name="Footer Placeholder 5"/>
          <p:cNvSpPr>
            <a:spLocks noGrp="1"/>
          </p:cNvSpPr>
          <p:nvPr>
            <p:ph type="ftr" sz="quarter" idx="11"/>
          </p:nvPr>
        </p:nvSpPr>
        <p:spPr/>
        <p:txBody>
          <a:bodyPr/>
          <a:lstStyle/>
          <a:p>
            <a:endParaRPr lang="en-MY"/>
          </a:p>
        </p:txBody>
      </p:sp>
      <p:sp>
        <p:nvSpPr>
          <p:cNvPr id="6" name="Slide Number Placeholder 6"/>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420094257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430" y="1854192"/>
            <a:ext cx="3819680" cy="1574808"/>
          </a:xfrm>
        </p:spPr>
        <p:txBody>
          <a:bodyPr anchor="b">
            <a:normAutofit/>
          </a:bodyPr>
          <a:lstStyle>
            <a:lvl1pPr algn="l">
              <a:defRPr sz="27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2160" y="1143000"/>
            <a:ext cx="24003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6" y="3657600"/>
            <a:ext cx="3813734" cy="1371600"/>
          </a:xfrm>
        </p:spPr>
        <p:txBody>
          <a:bodyPr>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8A877A6-B9F5-4867-A3A3-392470B18AE2}" type="datetimeFigureOut">
              <a:rPr lang="en-MY" smtClean="0"/>
              <a:t>2/12/2024</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85599750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7" y="4800587"/>
            <a:ext cx="6619243" cy="566738"/>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216" y="685800"/>
            <a:ext cx="6619244"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7" y="5367325"/>
            <a:ext cx="6619242" cy="493712"/>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8A877A6-B9F5-4867-A3A3-392470B18AE2}" type="datetimeFigureOut">
              <a:rPr lang="en-MY" smtClean="0"/>
              <a:t>2/12/2024</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17196999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6" y="1447800"/>
            <a:ext cx="6619244" cy="1981200"/>
          </a:xfrm>
        </p:spPr>
        <p:txBody>
          <a:bodyPr/>
          <a:lstStyle>
            <a:lvl1pPr>
              <a:defRPr sz="3600"/>
            </a:lvl1pPr>
          </a:lstStyle>
          <a:p>
            <a:r>
              <a:rPr lang="en-US"/>
              <a:t>Click to edit Master title style</a:t>
            </a:r>
            <a:endParaRPr lang="en-US" dirty="0"/>
          </a:p>
        </p:txBody>
      </p:sp>
      <p:sp>
        <p:nvSpPr>
          <p:cNvPr id="8" name="Text Placeholder 3"/>
          <p:cNvSpPr>
            <a:spLocks noGrp="1"/>
          </p:cNvSpPr>
          <p:nvPr>
            <p:ph type="body" sz="half" idx="2"/>
          </p:nvPr>
        </p:nvSpPr>
        <p:spPr>
          <a:xfrm>
            <a:off x="866216" y="3657600"/>
            <a:ext cx="6619244" cy="236220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B8A877A6-B9F5-4867-A3A3-392470B18AE2}" type="datetimeFigureOut">
              <a:rPr lang="en-MY" smtClean="0"/>
              <a:t>2/12/2024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214946342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101" y="1447800"/>
            <a:ext cx="5999486" cy="2323374"/>
          </a:xfrm>
        </p:spPr>
        <p:txBody>
          <a:bodyPr/>
          <a:lstStyle>
            <a:lvl1pPr>
              <a:defRPr sz="3600"/>
            </a:lvl1pPr>
          </a:lstStyle>
          <a:p>
            <a:r>
              <a:rPr lang="en-US"/>
              <a:t>Click to edit Master title style</a:t>
            </a:r>
            <a:endParaRPr lang="en-US" dirty="0"/>
          </a:p>
        </p:txBody>
      </p:sp>
      <p:sp>
        <p:nvSpPr>
          <p:cNvPr id="11" name="Text Placeholder 3"/>
          <p:cNvSpPr>
            <a:spLocks noGrp="1"/>
          </p:cNvSpPr>
          <p:nvPr>
            <p:ph type="body" sz="half" idx="14"/>
          </p:nvPr>
        </p:nvSpPr>
        <p:spPr>
          <a:xfrm>
            <a:off x="1447800" y="3771174"/>
            <a:ext cx="5459737" cy="342174"/>
          </a:xfrm>
        </p:spPr>
        <p:txBody>
          <a:bodyPr vert="horz" lIns="91440" tIns="45720" rIns="91440" bIns="45720" rtlCol="0" anchor="t">
            <a:normAutofit/>
          </a:bodyPr>
          <a:lstStyle>
            <a:lvl1pPr marL="0" indent="0">
              <a:buNone/>
              <a:defRPr lang="en-US" sz="1050" b="0" i="0" kern="1200" cap="small" dirty="0">
                <a:solidFill>
                  <a:schemeClr val="bg2">
                    <a:lumMod val="40000"/>
                    <a:lumOff val="60000"/>
                  </a:schemeClr>
                </a:solidFill>
                <a:latin typeface="+mj-lt"/>
                <a:ea typeface="+mj-ea"/>
                <a:cs typeface="+mj-cs"/>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marL="0" lvl="0" indent="0">
              <a:buNone/>
            </a:pPr>
            <a:r>
              <a:rPr lang="en-US"/>
              <a:t>Click to edit Master text styles</a:t>
            </a:r>
          </a:p>
        </p:txBody>
      </p:sp>
      <p:sp>
        <p:nvSpPr>
          <p:cNvPr id="10" name="Text Placeholder 3"/>
          <p:cNvSpPr>
            <a:spLocks noGrp="1"/>
          </p:cNvSpPr>
          <p:nvPr>
            <p:ph type="body" sz="half" idx="2"/>
          </p:nvPr>
        </p:nvSpPr>
        <p:spPr>
          <a:xfrm>
            <a:off x="866216" y="4350657"/>
            <a:ext cx="6619244" cy="167640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B8A877A6-B9F5-4867-A3A3-392470B18AE2}" type="datetimeFigureOut">
              <a:rPr lang="en-MY" smtClean="0"/>
              <a:t>2/12/2024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
        <p:nvSpPr>
          <p:cNvPr id="12" name="TextBox 11"/>
          <p:cNvSpPr txBox="1"/>
          <p:nvPr/>
        </p:nvSpPr>
        <p:spPr>
          <a:xfrm>
            <a:off x="673721" y="971254"/>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
        <p:nvSpPr>
          <p:cNvPr id="15" name="TextBox 14"/>
          <p:cNvSpPr txBox="1"/>
          <p:nvPr/>
        </p:nvSpPr>
        <p:spPr>
          <a:xfrm>
            <a:off x="6997868" y="2613788"/>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Tree>
    <p:extLst>
      <p:ext uri="{BB962C8B-B14F-4D97-AF65-F5344CB8AC3E}">
        <p14:creationId xmlns:p14="http://schemas.microsoft.com/office/powerpoint/2010/main" val="369012313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216" y="3124201"/>
            <a:ext cx="6619245" cy="1653180"/>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4777381"/>
            <a:ext cx="6619244" cy="860400"/>
          </a:xfrm>
        </p:spPr>
        <p:txBody>
          <a:bodyPr anchor="t"/>
          <a:lstStyle>
            <a:lvl1pPr marL="0" indent="0" algn="l">
              <a:buNone/>
              <a:defRPr sz="1500" cap="none">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A877A6-B9F5-4867-A3A3-392470B18AE2}" type="datetimeFigureOut">
              <a:rPr lang="en-MY" smtClean="0"/>
              <a:t>2/12/2024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74528771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74710" y="1981200"/>
            <a:ext cx="2210150" cy="576262"/>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6" name="Text Placeholder 3"/>
          <p:cNvSpPr>
            <a:spLocks noGrp="1"/>
          </p:cNvSpPr>
          <p:nvPr>
            <p:ph type="body" sz="half" idx="15"/>
          </p:nvPr>
        </p:nvSpPr>
        <p:spPr>
          <a:xfrm>
            <a:off x="489347" y="2667000"/>
            <a:ext cx="2195513" cy="3589338"/>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2745" y="1981200"/>
            <a:ext cx="2202181" cy="576262"/>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9" name="Text Placeholder 3"/>
          <p:cNvSpPr>
            <a:spLocks noGrp="1"/>
          </p:cNvSpPr>
          <p:nvPr>
            <p:ph type="body" sz="half" idx="16"/>
          </p:nvPr>
        </p:nvSpPr>
        <p:spPr>
          <a:xfrm>
            <a:off x="2904829" y="2667000"/>
            <a:ext cx="2210096" cy="3589338"/>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1981200"/>
            <a:ext cx="2199085" cy="576262"/>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Text Placeholder 3"/>
          <p:cNvSpPr>
            <a:spLocks noGrp="1"/>
          </p:cNvSpPr>
          <p:nvPr>
            <p:ph type="body" sz="half" idx="17"/>
          </p:nvPr>
        </p:nvSpPr>
        <p:spPr>
          <a:xfrm>
            <a:off x="5343525" y="2667000"/>
            <a:ext cx="2199085" cy="3589338"/>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7" name="Straight Connector 16"/>
          <p:cNvCxnSpPr/>
          <p:nvPr/>
        </p:nvCxnSpPr>
        <p:spPr>
          <a:xfrm>
            <a:off x="2794607"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167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8A877A6-B9F5-4867-A3A3-392470B18AE2}" type="datetimeFigureOut">
              <a:rPr lang="en-MY" smtClean="0"/>
              <a:t>2/12/2024</a:t>
            </a:fld>
            <a:endParaRPr lang="en-MY"/>
          </a:p>
        </p:txBody>
      </p:sp>
      <p:sp>
        <p:nvSpPr>
          <p:cNvPr id="4"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286802923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89347" y="4250949"/>
            <a:ext cx="2205038" cy="576262"/>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9" name="Picture Placeholder 2"/>
          <p:cNvSpPr>
            <a:spLocks noGrp="1" noChangeAspect="1"/>
          </p:cNvSpPr>
          <p:nvPr>
            <p:ph type="pic" idx="15"/>
          </p:nvPr>
        </p:nvSpPr>
        <p:spPr>
          <a:xfrm>
            <a:off x="489347" y="2209800"/>
            <a:ext cx="220503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2" name="Text Placeholder 3"/>
          <p:cNvSpPr>
            <a:spLocks noGrp="1"/>
          </p:cNvSpPr>
          <p:nvPr>
            <p:ph type="body" sz="half" idx="18"/>
          </p:nvPr>
        </p:nvSpPr>
        <p:spPr>
          <a:xfrm>
            <a:off x="489347" y="4827212"/>
            <a:ext cx="2205038"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7032" y="4250949"/>
            <a:ext cx="2197894" cy="576262"/>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0" name="Picture Placeholder 2"/>
          <p:cNvSpPr>
            <a:spLocks noGrp="1" noChangeAspect="1"/>
          </p:cNvSpPr>
          <p:nvPr>
            <p:ph type="pic" idx="21"/>
          </p:nvPr>
        </p:nvSpPr>
        <p:spPr>
          <a:xfrm>
            <a:off x="2917031" y="2209800"/>
            <a:ext cx="2197894"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3" name="Text Placeholder 3"/>
          <p:cNvSpPr>
            <a:spLocks noGrp="1"/>
          </p:cNvSpPr>
          <p:nvPr>
            <p:ph type="body" sz="half" idx="19"/>
          </p:nvPr>
        </p:nvSpPr>
        <p:spPr>
          <a:xfrm>
            <a:off x="2916016" y="4827211"/>
            <a:ext cx="2200805"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4250949"/>
            <a:ext cx="2199085" cy="576262"/>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1" name="Picture Placeholder 2"/>
          <p:cNvSpPr>
            <a:spLocks noGrp="1" noChangeAspect="1"/>
          </p:cNvSpPr>
          <p:nvPr>
            <p:ph type="pic" idx="22"/>
          </p:nvPr>
        </p:nvSpPr>
        <p:spPr>
          <a:xfrm>
            <a:off x="5343525" y="2209800"/>
            <a:ext cx="219908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20"/>
          </p:nvPr>
        </p:nvSpPr>
        <p:spPr>
          <a:xfrm>
            <a:off x="5343432" y="4827209"/>
            <a:ext cx="2201998"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9" name="Straight Connector 18"/>
          <p:cNvCxnSpPr/>
          <p:nvPr/>
        </p:nvCxnSpPr>
        <p:spPr>
          <a:xfrm>
            <a:off x="2794607"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167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8A877A6-B9F5-4867-A3A3-392470B18AE2}" type="datetimeFigureOut">
              <a:rPr lang="en-MY" smtClean="0"/>
              <a:t>2/12/2024</a:t>
            </a:fld>
            <a:endParaRPr lang="en-MY"/>
          </a:p>
        </p:txBody>
      </p:sp>
      <p:sp>
        <p:nvSpPr>
          <p:cNvPr id="4"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319125950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A877A6-B9F5-4867-A3A3-392470B18AE2}" type="datetimeFigureOut">
              <a:rPr lang="en-MY" smtClean="0"/>
              <a:t>2/12/2024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291423990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8159" y="430214"/>
            <a:ext cx="131445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348" y="887414"/>
            <a:ext cx="5567362"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A877A6-B9F5-4867-A3A3-392470B18AE2}" type="datetimeFigureOut">
              <a:rPr lang="en-MY" smtClean="0"/>
              <a:t>2/12/2024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2507955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slideLayout" Target="../slideLayouts/slideLayout57.xml"/><Relationship Id="rId18" Type="http://schemas.openxmlformats.org/officeDocument/2006/relationships/theme" Target="../theme/theme5.xml"/><Relationship Id="rId3" Type="http://schemas.openxmlformats.org/officeDocument/2006/relationships/slideLayout" Target="../slideLayouts/slideLayout47.xml"/><Relationship Id="rId21" Type="http://schemas.openxmlformats.org/officeDocument/2006/relationships/image" Target="../media/image4.png"/><Relationship Id="rId7" Type="http://schemas.openxmlformats.org/officeDocument/2006/relationships/slideLayout" Target="../slideLayouts/slideLayout51.xml"/><Relationship Id="rId12" Type="http://schemas.openxmlformats.org/officeDocument/2006/relationships/slideLayout" Target="../slideLayouts/slideLayout56.xml"/><Relationship Id="rId17" Type="http://schemas.openxmlformats.org/officeDocument/2006/relationships/slideLayout" Target="../slideLayouts/slideLayout61.xml"/><Relationship Id="rId2" Type="http://schemas.openxmlformats.org/officeDocument/2006/relationships/slideLayout" Target="../slideLayouts/slideLayout46.xml"/><Relationship Id="rId16" Type="http://schemas.openxmlformats.org/officeDocument/2006/relationships/slideLayout" Target="../slideLayouts/slideLayout60.xml"/><Relationship Id="rId20" Type="http://schemas.openxmlformats.org/officeDocument/2006/relationships/image" Target="../media/image3.png"/><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slideLayout" Target="../slideLayouts/slideLayout59.xml"/><Relationship Id="rId10" Type="http://schemas.openxmlformats.org/officeDocument/2006/relationships/slideLayout" Target="../slideLayouts/slideLayout54.xml"/><Relationship Id="rId19" Type="http://schemas.openxmlformats.org/officeDocument/2006/relationships/image" Target="../media/image2.png"/><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14E152-5AF6-4A32-9BB5-E2D5EA3B01E3}" type="datetimeFigureOut">
              <a:rPr lang="en-US" smtClean="0"/>
              <a:t>12/2/2024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504647-6617-4D77-871B-7F401C13A077}" type="slidenum">
              <a:rPr lang="en-US" smtClean="0"/>
              <a:t>‹#›</a:t>
            </a:fld>
            <a:endParaRPr lang="en-US"/>
          </a:p>
        </p:txBody>
      </p:sp>
    </p:spTree>
    <p:extLst>
      <p:ext uri="{BB962C8B-B14F-4D97-AF65-F5344CB8AC3E}">
        <p14:creationId xmlns:p14="http://schemas.microsoft.com/office/powerpoint/2010/main" val="6328510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FEFD1"/>
            </a:gs>
            <a:gs pos="64999">
              <a:srgbClr val="F0EBD5"/>
            </a:gs>
            <a:gs pos="100000">
              <a:srgbClr val="D1C39F"/>
            </a:gs>
          </a:gsLst>
          <a:lin ang="54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543EDA-DEC2-4A58-BAD0-B33D6BFF9C88}" type="datetimeFigureOut">
              <a:rPr lang="en-US" smtClean="0">
                <a:solidFill>
                  <a:prstClr val="black">
                    <a:tint val="75000"/>
                  </a:prstClr>
                </a:solidFill>
              </a:rPr>
              <a:pPr/>
              <a:t>12/2/2024</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788961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FEFD1"/>
            </a:gs>
            <a:gs pos="64999">
              <a:srgbClr val="F0EBD5"/>
            </a:gs>
            <a:gs pos="100000">
              <a:srgbClr val="D1C39F"/>
            </a:gs>
          </a:gsLst>
          <a:lin ang="54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543EDA-DEC2-4A58-BAD0-B33D6BFF9C88}" type="datetimeFigureOut">
              <a:rPr lang="en-US" smtClean="0">
                <a:solidFill>
                  <a:prstClr val="black">
                    <a:tint val="75000"/>
                  </a:prstClr>
                </a:solidFill>
              </a:rPr>
              <a:pPr/>
              <a:t>12/2/2024</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6471751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FEFD1"/>
            </a:gs>
            <a:gs pos="64999">
              <a:srgbClr val="F0EBD5"/>
            </a:gs>
            <a:gs pos="100000">
              <a:srgbClr val="D1C39F"/>
            </a:gs>
          </a:gsLst>
          <a:lin ang="54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543EDA-DEC2-4A58-BAD0-B33D6BFF9C88}" type="datetimeFigureOut">
              <a:rPr lang="en-US" smtClean="0">
                <a:solidFill>
                  <a:prstClr val="black">
                    <a:tint val="75000"/>
                  </a:prstClr>
                </a:solidFill>
              </a:rPr>
              <a:pPr/>
              <a:t>12/2/2024</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8092962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6"/>
            <a:ext cx="3027759"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8"/>
            <a:ext cx="1141809" cy="2365453"/>
          </a:xfrm>
          <a:prstGeom prst="rect">
            <a:avLst/>
          </a:prstGeom>
        </p:spPr>
      </p:pic>
      <p:sp>
        <p:nvSpPr>
          <p:cNvPr id="16" name="Oval 15"/>
          <p:cNvSpPr/>
          <p:nvPr/>
        </p:nvSpPr>
        <p:spPr>
          <a:xfrm>
            <a:off x="6456759" y="1676400"/>
            <a:ext cx="211455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5999560" y="1"/>
            <a:ext cx="1202540"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6454408" y="6096000"/>
            <a:ext cx="745301" cy="762000"/>
          </a:xfrm>
          <a:prstGeom prst="rect">
            <a:avLst/>
          </a:prstGeom>
        </p:spPr>
      </p:pic>
      <p:sp>
        <p:nvSpPr>
          <p:cNvPr id="14" name="Rectangle 13"/>
          <p:cNvSpPr/>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584" y="452718"/>
            <a:ext cx="7053542"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484" y="2052919"/>
            <a:ext cx="6709906"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492905" y="1828801"/>
            <a:ext cx="990599" cy="228599"/>
          </a:xfrm>
          <a:prstGeom prst="rect">
            <a:avLst/>
          </a:prstGeom>
        </p:spPr>
        <p:txBody>
          <a:bodyPr vert="horz" lIns="91440" tIns="45720" rIns="91440" bIns="45720" rtlCol="0" anchor="t"/>
          <a:lstStyle>
            <a:lvl1pPr algn="l">
              <a:defRPr sz="825" b="0" i="0">
                <a:solidFill>
                  <a:schemeClr val="tx1">
                    <a:tint val="75000"/>
                    <a:alpha val="60000"/>
                  </a:schemeClr>
                </a:solidFill>
              </a:defRPr>
            </a:lvl1pPr>
          </a:lstStyle>
          <a:p>
            <a:fld id="{B8A877A6-B9F5-4867-A3A3-392470B18AE2}" type="datetimeFigureOut">
              <a:rPr lang="en-MY" smtClean="0"/>
              <a:t>2/12/2024</a:t>
            </a:fld>
            <a:endParaRPr lang="en-MY"/>
          </a:p>
        </p:txBody>
      </p:sp>
      <p:sp>
        <p:nvSpPr>
          <p:cNvPr id="5" name="Footer Placeholder 4"/>
          <p:cNvSpPr>
            <a:spLocks noGrp="1"/>
          </p:cNvSpPr>
          <p:nvPr>
            <p:ph type="ftr" sz="quarter" idx="3"/>
          </p:nvPr>
        </p:nvSpPr>
        <p:spPr>
          <a:xfrm rot="5400000">
            <a:off x="6231206" y="3263398"/>
            <a:ext cx="3859795" cy="228601"/>
          </a:xfrm>
          <a:prstGeom prst="rect">
            <a:avLst/>
          </a:prstGeom>
        </p:spPr>
        <p:txBody>
          <a:bodyPr vert="horz" lIns="91440" tIns="45720" rIns="91440" bIns="45720" rtlCol="0" anchor="b"/>
          <a:lstStyle>
            <a:lvl1pPr algn="l">
              <a:defRPr sz="825" b="0" i="0">
                <a:solidFill>
                  <a:schemeClr val="tx1">
                    <a:tint val="75000"/>
                    <a:alpha val="60000"/>
                  </a:schemeClr>
                </a:solidFill>
              </a:defRPr>
            </a:lvl1pPr>
          </a:lstStyle>
          <a:p>
            <a:endParaRPr lang="en-MY"/>
          </a:p>
        </p:txBody>
      </p:sp>
      <p:sp>
        <p:nvSpPr>
          <p:cNvPr id="6" name="Slide Number Placeholder 5"/>
          <p:cNvSpPr>
            <a:spLocks noGrp="1"/>
          </p:cNvSpPr>
          <p:nvPr>
            <p:ph type="sldNum" sz="quarter" idx="4"/>
          </p:nvPr>
        </p:nvSpPr>
        <p:spPr bwMode="gray">
          <a:xfrm>
            <a:off x="7764406" y="295730"/>
            <a:ext cx="628649" cy="767687"/>
          </a:xfrm>
          <a:prstGeom prst="rect">
            <a:avLst/>
          </a:prstGeom>
        </p:spPr>
        <p:txBody>
          <a:bodyPr vert="horz" lIns="91440" tIns="45720" rIns="91440" bIns="45720" rtlCol="0" anchor="b"/>
          <a:lstStyle>
            <a:lvl1pPr algn="ctr">
              <a:defRPr sz="2100" b="0" i="0">
                <a:solidFill>
                  <a:schemeClr val="tx1">
                    <a:tint val="75000"/>
                  </a:schemeClr>
                </a:solidFill>
              </a:defRPr>
            </a:lvl1pPr>
          </a:lstStyle>
          <a:p>
            <a:fld id="{D330625C-0DFE-48EE-B4CF-6F31E8BA3B9A}" type="slidenum">
              <a:rPr lang="en-MY" smtClean="0"/>
              <a:t>‹#›</a:t>
            </a:fld>
            <a:endParaRPr lang="en-MY"/>
          </a:p>
        </p:txBody>
      </p:sp>
    </p:spTree>
    <p:extLst>
      <p:ext uri="{BB962C8B-B14F-4D97-AF65-F5344CB8AC3E}">
        <p14:creationId xmlns:p14="http://schemas.microsoft.com/office/powerpoint/2010/main" val="3389067362"/>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bg2">
            <a:lumMod val="40000"/>
            <a:lumOff val="60000"/>
          </a:schemeClr>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bg2">
            <a:lumMod val="40000"/>
            <a:lumOff val="60000"/>
          </a:schemeClr>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5pPr>
      <a:lvl6pPr marL="187950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3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57200"/>
            <a:ext cx="8229600" cy="6019799"/>
          </a:xfrm>
        </p:spPr>
        <p:txBody>
          <a:bodyPr>
            <a:normAutofit/>
          </a:bodyPr>
          <a:lstStyle/>
          <a:p>
            <a:r>
              <a:rPr lang="en-US" b="1" dirty="0">
                <a:solidFill>
                  <a:srgbClr val="FF0000"/>
                </a:solidFill>
              </a:rPr>
              <a:t>FEM2401 Malaysian Politics and Society</a:t>
            </a:r>
            <a:br>
              <a:rPr lang="en-US" b="1" dirty="0">
                <a:solidFill>
                  <a:srgbClr val="FF0000"/>
                </a:solidFill>
              </a:rPr>
            </a:br>
            <a:br>
              <a:rPr lang="en-US" b="1" dirty="0">
                <a:solidFill>
                  <a:srgbClr val="FF0000"/>
                </a:solidFill>
              </a:rPr>
            </a:br>
            <a:r>
              <a:rPr lang="en-US" sz="3600" b="1" dirty="0">
                <a:solidFill>
                  <a:srgbClr val="002060"/>
                </a:solidFill>
              </a:rPr>
              <a:t>TOPIC 6 :</a:t>
            </a:r>
            <a:br>
              <a:rPr lang="en-US" sz="3600" b="1" dirty="0">
                <a:solidFill>
                  <a:srgbClr val="002060"/>
                </a:solidFill>
              </a:rPr>
            </a:br>
            <a:r>
              <a:rPr lang="en-US" sz="3600" b="1" dirty="0">
                <a:solidFill>
                  <a:srgbClr val="002060"/>
                </a:solidFill>
              </a:rPr>
              <a:t>Parliamentary Democracy</a:t>
            </a:r>
          </a:p>
        </p:txBody>
      </p:sp>
    </p:spTree>
    <p:extLst>
      <p:ext uri="{BB962C8B-B14F-4D97-AF65-F5344CB8AC3E}">
        <p14:creationId xmlns:p14="http://schemas.microsoft.com/office/powerpoint/2010/main" val="41109224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0E5A72-8038-D65E-FA7E-5C5F73010A93}"/>
              </a:ext>
            </a:extLst>
          </p:cNvPr>
          <p:cNvSpPr>
            <a:spLocks noGrp="1"/>
          </p:cNvSpPr>
          <p:nvPr>
            <p:ph idx="1"/>
          </p:nvPr>
        </p:nvSpPr>
        <p:spPr>
          <a:xfrm>
            <a:off x="457200" y="762000"/>
            <a:ext cx="8382000" cy="5364163"/>
          </a:xfrm>
        </p:spPr>
        <p:txBody>
          <a:bodyPr>
            <a:normAutofit fontScale="92500" lnSpcReduction="10000"/>
          </a:bodyPr>
          <a:lstStyle/>
          <a:p>
            <a:endParaRPr lang="en-US" dirty="0"/>
          </a:p>
          <a:p>
            <a:pPr marL="0" indent="0" algn="ctr">
              <a:buNone/>
            </a:pPr>
            <a:r>
              <a:rPr lang="en-US" b="1" dirty="0"/>
              <a:t>OUTLINE :</a:t>
            </a:r>
          </a:p>
          <a:p>
            <a:r>
              <a:rPr lang="en-US" dirty="0"/>
              <a:t>Democracy and parliamentary  democracy</a:t>
            </a:r>
          </a:p>
          <a:p>
            <a:r>
              <a:rPr lang="en-US" dirty="0"/>
              <a:t>Political Parties in Malaysia</a:t>
            </a:r>
          </a:p>
          <a:p>
            <a:r>
              <a:rPr lang="en-US" dirty="0"/>
              <a:t>Election in Malaysia</a:t>
            </a:r>
          </a:p>
          <a:p>
            <a:endParaRPr lang="en-US" dirty="0"/>
          </a:p>
          <a:p>
            <a:pPr marL="0" indent="0" algn="ctr">
              <a:buNone/>
            </a:pPr>
            <a:r>
              <a:rPr lang="en-US" b="1" dirty="0"/>
              <a:t>LEARNING OUTCOMES :</a:t>
            </a:r>
          </a:p>
          <a:p>
            <a:r>
              <a:rPr lang="en-US" dirty="0"/>
              <a:t>To explain the concept of parliamentary democracy </a:t>
            </a:r>
          </a:p>
          <a:p>
            <a:r>
              <a:rPr lang="en-US" dirty="0"/>
              <a:t>To explain the practice of parliamentary democracy in Malaysia </a:t>
            </a:r>
            <a:endParaRPr lang="en-MY" dirty="0"/>
          </a:p>
        </p:txBody>
      </p:sp>
    </p:spTree>
    <p:extLst>
      <p:ext uri="{BB962C8B-B14F-4D97-AF65-F5344CB8AC3E}">
        <p14:creationId xmlns:p14="http://schemas.microsoft.com/office/powerpoint/2010/main" val="157973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t>Who Rules ? What in a name ?</a:t>
            </a:r>
          </a:p>
        </p:txBody>
      </p:sp>
      <p:sp>
        <p:nvSpPr>
          <p:cNvPr id="3" name="Content Placeholder 2"/>
          <p:cNvSpPr>
            <a:spLocks noGrp="1"/>
          </p:cNvSpPr>
          <p:nvPr>
            <p:ph idx="1"/>
          </p:nvPr>
        </p:nvSpPr>
        <p:spPr>
          <a:xfrm>
            <a:off x="228600" y="1219200"/>
            <a:ext cx="8610600" cy="5486400"/>
          </a:xfrm>
        </p:spPr>
        <p:txBody>
          <a:bodyPr>
            <a:normAutofit/>
          </a:bodyPr>
          <a:lstStyle/>
          <a:p>
            <a:r>
              <a:rPr lang="en-US" sz="2400" dirty="0"/>
              <a:t>Rule by one : </a:t>
            </a:r>
            <a:r>
              <a:rPr lang="en-US" sz="2400" b="1" dirty="0"/>
              <a:t>Autocracy</a:t>
            </a:r>
          </a:p>
          <a:p>
            <a:r>
              <a:rPr lang="en-US" sz="2400" dirty="0"/>
              <a:t>Rule by the few : </a:t>
            </a:r>
            <a:r>
              <a:rPr lang="en-US" sz="2400" b="1" dirty="0"/>
              <a:t>Oligarchy</a:t>
            </a:r>
          </a:p>
          <a:p>
            <a:r>
              <a:rPr lang="en-US" sz="2400" dirty="0"/>
              <a:t>Rule by the hereditary king or queen: </a:t>
            </a:r>
            <a:r>
              <a:rPr lang="en-US" sz="2400" b="1" dirty="0"/>
              <a:t>Monarchy</a:t>
            </a:r>
          </a:p>
          <a:p>
            <a:r>
              <a:rPr lang="en-US" sz="2400" dirty="0"/>
              <a:t>Rule by </a:t>
            </a:r>
            <a:r>
              <a:rPr lang="en-US" sz="2400" dirty="0" err="1"/>
              <a:t>by</a:t>
            </a:r>
            <a:r>
              <a:rPr lang="en-US" sz="2400" dirty="0"/>
              <a:t> the </a:t>
            </a:r>
            <a:r>
              <a:rPr lang="en-US" sz="2400" dirty="0" err="1"/>
              <a:t>unsurper</a:t>
            </a:r>
            <a:r>
              <a:rPr lang="en-US" sz="2400" dirty="0"/>
              <a:t> of legal authority :</a:t>
            </a:r>
            <a:r>
              <a:rPr lang="en-US" sz="2400" b="1" dirty="0"/>
              <a:t>Tyranny</a:t>
            </a:r>
          </a:p>
          <a:p>
            <a:r>
              <a:rPr lang="en-US" sz="2400" dirty="0"/>
              <a:t>Rule by best or elite : </a:t>
            </a:r>
            <a:r>
              <a:rPr lang="en-US" sz="2400" b="1" dirty="0"/>
              <a:t>Aristocracy</a:t>
            </a:r>
          </a:p>
          <a:p>
            <a:r>
              <a:rPr lang="en-US" sz="2400" dirty="0"/>
              <a:t>Rule by the people : </a:t>
            </a:r>
            <a:r>
              <a:rPr lang="en-US" sz="2400" b="1" dirty="0"/>
              <a:t>Democracy</a:t>
            </a:r>
          </a:p>
          <a:p>
            <a:r>
              <a:rPr lang="en-US" sz="2400" dirty="0"/>
              <a:t>Rule by the most </a:t>
            </a:r>
            <a:r>
              <a:rPr lang="en-US" sz="2400" dirty="0" err="1"/>
              <a:t>honourable</a:t>
            </a:r>
            <a:r>
              <a:rPr lang="en-US" sz="2400" dirty="0"/>
              <a:t>: </a:t>
            </a:r>
            <a:r>
              <a:rPr lang="en-US" sz="2400" b="1" dirty="0" err="1"/>
              <a:t>Timocracy</a:t>
            </a:r>
            <a:endParaRPr lang="en-US" sz="2400" b="1" dirty="0"/>
          </a:p>
          <a:p>
            <a:r>
              <a:rPr lang="en-US" sz="2400" dirty="0"/>
              <a:t>Rule by the wealthy : </a:t>
            </a:r>
            <a:r>
              <a:rPr lang="en-US" sz="2400" b="1" dirty="0"/>
              <a:t>Plutocracy</a:t>
            </a:r>
          </a:p>
          <a:p>
            <a:r>
              <a:rPr lang="en-US" sz="2400" dirty="0"/>
              <a:t>Rule by thieves : </a:t>
            </a:r>
            <a:r>
              <a:rPr lang="en-US" sz="2400" b="1" dirty="0" err="1"/>
              <a:t>Kleptocracy</a:t>
            </a:r>
            <a:endParaRPr lang="en-US" sz="2400" b="1" dirty="0"/>
          </a:p>
          <a:p>
            <a:r>
              <a:rPr lang="en-US" sz="2400" dirty="0"/>
              <a:t>Rule by the masses: </a:t>
            </a:r>
            <a:r>
              <a:rPr lang="en-US" sz="2400" b="1" dirty="0"/>
              <a:t>Mobocracy</a:t>
            </a:r>
          </a:p>
          <a:p>
            <a:r>
              <a:rPr lang="en-US" sz="2400" dirty="0"/>
              <a:t>Rule by the clerics : </a:t>
            </a:r>
            <a:r>
              <a:rPr lang="en-US" sz="2400" b="1" dirty="0"/>
              <a:t>Theocracy</a:t>
            </a:r>
          </a:p>
          <a:p>
            <a:r>
              <a:rPr lang="en-US" sz="2400" dirty="0"/>
              <a:t>Rule by men: </a:t>
            </a:r>
            <a:r>
              <a:rPr lang="en-US" sz="2400" b="1" dirty="0"/>
              <a:t>Patriarchy</a:t>
            </a:r>
          </a:p>
          <a:p>
            <a:endParaRPr lang="en-US" sz="2400" dirty="0"/>
          </a:p>
          <a:p>
            <a:endParaRPr lang="en-US" sz="2400" dirty="0"/>
          </a:p>
          <a:p>
            <a:endParaRPr lang="en-US" sz="2400" dirty="0"/>
          </a:p>
          <a:p>
            <a:endParaRPr lang="en-US" sz="2400" dirty="0"/>
          </a:p>
          <a:p>
            <a:endParaRPr lang="en-US" sz="2400" dirty="0"/>
          </a:p>
        </p:txBody>
      </p:sp>
    </p:spTree>
    <p:extLst>
      <p:ext uri="{BB962C8B-B14F-4D97-AF65-F5344CB8AC3E}">
        <p14:creationId xmlns:p14="http://schemas.microsoft.com/office/powerpoint/2010/main" val="3233459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a:bodyPr>
          <a:lstStyle/>
          <a:p>
            <a:r>
              <a:rPr lang="en-US" sz="2400" dirty="0"/>
              <a:t>Rule by women : </a:t>
            </a:r>
            <a:r>
              <a:rPr lang="en-US" sz="2400" b="1" dirty="0"/>
              <a:t>Matriarchy</a:t>
            </a:r>
          </a:p>
          <a:p>
            <a:r>
              <a:rPr lang="en-US" sz="2400" dirty="0"/>
              <a:t>Rule by technical experts: </a:t>
            </a:r>
            <a:r>
              <a:rPr lang="en-US" sz="2400" b="1" dirty="0"/>
              <a:t>Technocracy</a:t>
            </a:r>
          </a:p>
          <a:p>
            <a:r>
              <a:rPr lang="en-US" sz="2400" dirty="0"/>
              <a:t>Rule by administrators : </a:t>
            </a:r>
            <a:r>
              <a:rPr lang="en-US" sz="2400" b="1" dirty="0"/>
              <a:t>Bureaucracy</a:t>
            </a:r>
          </a:p>
          <a:p>
            <a:pPr marL="0" indent="0">
              <a:buNone/>
            </a:pPr>
            <a:endParaRPr lang="en-US" sz="2400" dirty="0"/>
          </a:p>
          <a:p>
            <a:endParaRPr lang="en-US" sz="2400" dirty="0"/>
          </a:p>
          <a:p>
            <a:endParaRPr lang="en-US" sz="2400" dirty="0"/>
          </a:p>
        </p:txBody>
      </p:sp>
    </p:spTree>
    <p:extLst>
      <p:ext uri="{BB962C8B-B14F-4D97-AF65-F5344CB8AC3E}">
        <p14:creationId xmlns:p14="http://schemas.microsoft.com/office/powerpoint/2010/main" val="12890577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44562"/>
          </a:xfrm>
        </p:spPr>
        <p:txBody>
          <a:bodyPr>
            <a:normAutofit/>
          </a:bodyPr>
          <a:lstStyle/>
          <a:p>
            <a:r>
              <a:rPr lang="en-US" sz="3200" b="1" dirty="0"/>
              <a:t>Democracy</a:t>
            </a:r>
          </a:p>
        </p:txBody>
      </p:sp>
      <p:sp>
        <p:nvSpPr>
          <p:cNvPr id="3" name="Content Placeholder 2"/>
          <p:cNvSpPr>
            <a:spLocks noGrp="1"/>
          </p:cNvSpPr>
          <p:nvPr>
            <p:ph idx="1"/>
          </p:nvPr>
        </p:nvSpPr>
        <p:spPr>
          <a:xfrm>
            <a:off x="152400" y="1295400"/>
            <a:ext cx="8763000" cy="5334000"/>
          </a:xfrm>
        </p:spPr>
        <p:txBody>
          <a:bodyPr>
            <a:normAutofit/>
          </a:bodyPr>
          <a:lstStyle/>
          <a:p>
            <a:pPr marL="342900" lvl="0" indent="-342900" algn="just">
              <a:spcAft>
                <a:spcPts val="800"/>
              </a:spcAft>
              <a:buFont typeface="Arial" panose="020B0604020202020204" pitchFamily="34" charset="0"/>
              <a:buChar char="●"/>
            </a:pPr>
            <a:r>
              <a:rPr lang="en-US" sz="2400" i="1" dirty="0">
                <a:solidFill>
                  <a:srgbClr val="000000"/>
                </a:solidFill>
                <a:effectLst/>
                <a:latin typeface="Noto Sans Symbols"/>
                <a:ea typeface="Noto Sans Symbols"/>
                <a:cs typeface="Noto Sans Symbols"/>
              </a:rPr>
              <a:t>Demos</a:t>
            </a:r>
            <a:r>
              <a:rPr lang="en-US" sz="2400" dirty="0">
                <a:solidFill>
                  <a:srgbClr val="000000"/>
                </a:solidFill>
                <a:effectLst/>
                <a:latin typeface="Noto Sans Symbols"/>
                <a:ea typeface="Noto Sans Symbols"/>
                <a:cs typeface="Noto Sans Symbols"/>
              </a:rPr>
              <a:t> (people); </a:t>
            </a:r>
            <a:r>
              <a:rPr lang="en-US" sz="2400" i="1" dirty="0" err="1">
                <a:solidFill>
                  <a:srgbClr val="000000"/>
                </a:solidFill>
                <a:effectLst/>
                <a:latin typeface="Noto Sans Symbols"/>
                <a:ea typeface="Noto Sans Symbols"/>
                <a:cs typeface="Noto Sans Symbols"/>
              </a:rPr>
              <a:t>Kratos</a:t>
            </a:r>
            <a:r>
              <a:rPr lang="en-US" sz="2400" dirty="0">
                <a:solidFill>
                  <a:srgbClr val="000000"/>
                </a:solidFill>
                <a:effectLst/>
                <a:latin typeface="Noto Sans Symbols"/>
                <a:ea typeface="Noto Sans Symbols"/>
                <a:cs typeface="Noto Sans Symbols"/>
              </a:rPr>
              <a:t> (power) </a:t>
            </a:r>
            <a:endParaRPr lang="en-MY" sz="2400" dirty="0">
              <a:effectLst/>
              <a:latin typeface="Noto Sans Symbols"/>
              <a:ea typeface="Noto Sans Symbols"/>
              <a:cs typeface="Noto Sans Symbols"/>
            </a:endParaRPr>
          </a:p>
          <a:p>
            <a:pPr marL="342900" lvl="0" indent="-342900" algn="just">
              <a:spcAft>
                <a:spcPts val="800"/>
              </a:spcAft>
              <a:buFont typeface="Arial" panose="020B0604020202020204" pitchFamily="34" charset="0"/>
              <a:buChar char="●"/>
            </a:pPr>
            <a:r>
              <a:rPr lang="en-US" sz="2400" dirty="0">
                <a:solidFill>
                  <a:srgbClr val="000000"/>
                </a:solidFill>
                <a:effectLst/>
                <a:latin typeface="Noto Sans Symbols"/>
                <a:ea typeface="Noto Sans Symbols"/>
                <a:cs typeface="Noto Sans Symbols"/>
              </a:rPr>
              <a:t>Greek =“Government of the people, by the people, for the people” / “Rule by the people”</a:t>
            </a:r>
            <a:endParaRPr lang="en-MY" sz="2400" dirty="0">
              <a:effectLst/>
              <a:latin typeface="Noto Sans Symbols"/>
              <a:ea typeface="Noto Sans Symbols"/>
              <a:cs typeface="Noto Sans Symbols"/>
            </a:endParaRPr>
          </a:p>
          <a:p>
            <a:pPr marL="342900" lvl="0" indent="-342900" algn="just">
              <a:spcAft>
                <a:spcPts val="800"/>
              </a:spcAft>
              <a:buFont typeface="Arial" panose="020B0604020202020204" pitchFamily="34" charset="0"/>
              <a:buChar char="●"/>
            </a:pPr>
            <a:r>
              <a:rPr lang="en-US" sz="2400" dirty="0">
                <a:solidFill>
                  <a:srgbClr val="000000"/>
                </a:solidFill>
                <a:effectLst/>
                <a:latin typeface="Noto Sans Symbols"/>
                <a:ea typeface="Noto Sans Symbols"/>
                <a:cs typeface="Noto Sans Symbols"/>
              </a:rPr>
              <a:t>Popular sovereignty</a:t>
            </a:r>
            <a:endParaRPr lang="en-MY" sz="2400" dirty="0">
              <a:effectLst/>
              <a:latin typeface="Noto Sans Symbols"/>
              <a:ea typeface="Noto Sans Symbols"/>
              <a:cs typeface="Noto Sans Symbols"/>
            </a:endParaRPr>
          </a:p>
          <a:p>
            <a:pPr marL="342900" lvl="0" indent="-342900" algn="just">
              <a:spcAft>
                <a:spcPts val="800"/>
              </a:spcAft>
              <a:buFont typeface="Arial" panose="020B0604020202020204" pitchFamily="34" charset="0"/>
              <a:buChar char="●"/>
            </a:pPr>
            <a:r>
              <a:rPr lang="en-US" sz="2400" dirty="0">
                <a:solidFill>
                  <a:srgbClr val="000000"/>
                </a:solidFill>
                <a:effectLst/>
                <a:latin typeface="Noto Sans Symbols"/>
                <a:ea typeface="Noto Sans Symbols"/>
                <a:cs typeface="Noto Sans Symbols"/>
              </a:rPr>
              <a:t>Fundamental concept in democracy – “</a:t>
            </a:r>
            <a:r>
              <a:rPr lang="en-US" sz="2400" i="1" dirty="0">
                <a:solidFill>
                  <a:srgbClr val="000000"/>
                </a:solidFill>
                <a:effectLst/>
                <a:latin typeface="Noto Sans Symbols"/>
                <a:ea typeface="Noto Sans Symbols"/>
                <a:cs typeface="Noto Sans Symbols"/>
              </a:rPr>
              <a:t>freedom” &amp; “participation</a:t>
            </a:r>
            <a:r>
              <a:rPr lang="en-US" sz="2400" dirty="0">
                <a:solidFill>
                  <a:srgbClr val="000000"/>
                </a:solidFill>
                <a:effectLst/>
                <a:latin typeface="Noto Sans Symbols"/>
                <a:ea typeface="Noto Sans Symbols"/>
                <a:cs typeface="Noto Sans Symbols"/>
              </a:rPr>
              <a:t>”</a:t>
            </a:r>
            <a:endParaRPr lang="en-MY" sz="2400" dirty="0">
              <a:effectLst/>
              <a:latin typeface="Noto Sans Symbols"/>
              <a:ea typeface="Noto Sans Symbols"/>
              <a:cs typeface="Noto Sans Symbols"/>
            </a:endParaRPr>
          </a:p>
          <a:p>
            <a:pPr marL="342900" lvl="0" indent="-342900" algn="just">
              <a:spcAft>
                <a:spcPts val="800"/>
              </a:spcAft>
              <a:buFont typeface="Arial" panose="020B0604020202020204" pitchFamily="34" charset="0"/>
              <a:buChar char="●"/>
            </a:pPr>
            <a:r>
              <a:rPr lang="en-US" sz="2400" dirty="0">
                <a:solidFill>
                  <a:srgbClr val="000000"/>
                </a:solidFill>
                <a:effectLst/>
                <a:latin typeface="Noto Sans Symbols"/>
                <a:ea typeface="Noto Sans Symbols"/>
                <a:cs typeface="Noto Sans Symbols"/>
              </a:rPr>
              <a:t>Freedom: </a:t>
            </a:r>
            <a:endParaRPr lang="en-MY" sz="2400" dirty="0">
              <a:effectLst/>
              <a:latin typeface="Noto Sans Symbols"/>
              <a:ea typeface="Noto Sans Symbols"/>
              <a:cs typeface="Noto Sans Symbols"/>
            </a:endParaRPr>
          </a:p>
          <a:p>
            <a:pPr marL="342900" lvl="0" indent="-342900" algn="just">
              <a:spcAft>
                <a:spcPts val="800"/>
              </a:spcAft>
              <a:buFont typeface="Arial" panose="020B0604020202020204" pitchFamily="34" charset="0"/>
              <a:buChar char="●"/>
            </a:pPr>
            <a:r>
              <a:rPr lang="en-US" sz="2400" dirty="0">
                <a:solidFill>
                  <a:srgbClr val="000000"/>
                </a:solidFill>
                <a:effectLst/>
                <a:latin typeface="Noto Sans Symbols"/>
                <a:ea typeface="Noto Sans Symbols"/>
                <a:cs typeface="Noto Sans Symbols"/>
              </a:rPr>
              <a:t>Free from any pressure or other party interference </a:t>
            </a:r>
            <a:endParaRPr lang="en-MY" sz="2400" dirty="0">
              <a:effectLst/>
              <a:latin typeface="Noto Sans Symbols"/>
              <a:ea typeface="Noto Sans Symbols"/>
              <a:cs typeface="Noto Sans Symbols"/>
            </a:endParaRPr>
          </a:p>
          <a:p>
            <a:pPr marL="342900" lvl="0" indent="-342900" algn="just">
              <a:spcAft>
                <a:spcPts val="800"/>
              </a:spcAft>
              <a:buFont typeface="Arial" panose="020B0604020202020204" pitchFamily="34" charset="0"/>
              <a:buChar char="●"/>
            </a:pPr>
            <a:r>
              <a:rPr lang="en-US" sz="2400" dirty="0">
                <a:solidFill>
                  <a:srgbClr val="000000"/>
                </a:solidFill>
                <a:effectLst/>
                <a:latin typeface="Noto Sans Symbols"/>
                <a:ea typeface="Noto Sans Symbols"/>
                <a:cs typeface="Noto Sans Symbols"/>
              </a:rPr>
              <a:t>Freedom of speech, assembly and association</a:t>
            </a:r>
            <a:endParaRPr lang="en-MY" sz="2400" dirty="0">
              <a:effectLst/>
              <a:latin typeface="Noto Sans Symbols"/>
              <a:ea typeface="Noto Sans Symbols"/>
              <a:cs typeface="Noto Sans Symbols"/>
            </a:endParaRPr>
          </a:p>
          <a:p>
            <a:pPr marL="342900" lvl="0" indent="-342900" algn="just">
              <a:spcAft>
                <a:spcPts val="800"/>
              </a:spcAft>
              <a:buFont typeface="Arial" panose="020B0604020202020204" pitchFamily="34" charset="0"/>
              <a:buChar char="●"/>
            </a:pPr>
            <a:r>
              <a:rPr lang="en-US" sz="2400" dirty="0">
                <a:solidFill>
                  <a:srgbClr val="000000"/>
                </a:solidFill>
                <a:effectLst/>
                <a:latin typeface="Noto Sans Symbols"/>
                <a:ea typeface="Noto Sans Symbols"/>
                <a:cs typeface="Noto Sans Symbols"/>
              </a:rPr>
              <a:t>Participation:</a:t>
            </a:r>
            <a:endParaRPr lang="en-MY" sz="2400" dirty="0">
              <a:effectLst/>
              <a:latin typeface="Noto Sans Symbols"/>
              <a:ea typeface="Noto Sans Symbols"/>
              <a:cs typeface="Noto Sans Symbols"/>
            </a:endParaRPr>
          </a:p>
          <a:p>
            <a:pPr marL="342900" lvl="0" indent="-342900" algn="just">
              <a:spcAft>
                <a:spcPts val="800"/>
              </a:spcAft>
              <a:buFont typeface="Arial" panose="020B0604020202020204" pitchFamily="34" charset="0"/>
              <a:buChar char="●"/>
            </a:pPr>
            <a:r>
              <a:rPr lang="en-US" sz="2400" dirty="0">
                <a:solidFill>
                  <a:srgbClr val="000000"/>
                </a:solidFill>
                <a:effectLst/>
                <a:latin typeface="Noto Sans Symbols"/>
                <a:ea typeface="Noto Sans Symbols"/>
                <a:cs typeface="Noto Sans Symbols"/>
              </a:rPr>
              <a:t>People participation in decision making</a:t>
            </a:r>
            <a:endParaRPr lang="en-MY" sz="2400" dirty="0">
              <a:effectLst/>
              <a:latin typeface="Noto Sans Symbols"/>
              <a:ea typeface="Noto Sans Symbols"/>
              <a:cs typeface="Noto Sans Symbols"/>
            </a:endParaRPr>
          </a:p>
          <a:p>
            <a:endParaRPr lang="en-US" sz="2400" dirty="0"/>
          </a:p>
        </p:txBody>
      </p:sp>
    </p:spTree>
    <p:extLst>
      <p:ext uri="{BB962C8B-B14F-4D97-AF65-F5344CB8AC3E}">
        <p14:creationId xmlns:p14="http://schemas.microsoft.com/office/powerpoint/2010/main" val="36712114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r>
              <a:rPr lang="en-US" sz="3200" b="1" dirty="0">
                <a:solidFill>
                  <a:schemeClr val="accent1">
                    <a:lumMod val="50000"/>
                  </a:schemeClr>
                </a:solidFill>
              </a:rPr>
              <a:t>TYPES OF DEMOCRACY</a:t>
            </a:r>
          </a:p>
        </p:txBody>
      </p:sp>
      <p:sp>
        <p:nvSpPr>
          <p:cNvPr id="3" name="Content Placeholder 2"/>
          <p:cNvSpPr>
            <a:spLocks noGrp="1"/>
          </p:cNvSpPr>
          <p:nvPr>
            <p:ph idx="1"/>
          </p:nvPr>
        </p:nvSpPr>
        <p:spPr>
          <a:xfrm>
            <a:off x="228600" y="1219200"/>
            <a:ext cx="8610600" cy="5410200"/>
          </a:xfrm>
        </p:spPr>
        <p:txBody>
          <a:bodyPr>
            <a:normAutofit lnSpcReduction="10000"/>
          </a:bodyPr>
          <a:lstStyle/>
          <a:p>
            <a:pPr marL="342900" lvl="0" indent="-342900" algn="just">
              <a:spcAft>
                <a:spcPts val="800"/>
              </a:spcAft>
              <a:buFont typeface="Arial" panose="020B0604020202020204" pitchFamily="34" charset="0"/>
              <a:buChar char="•"/>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General classification: Direct and representative</a:t>
            </a:r>
            <a:endParaRPr lang="en-MY"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spcAft>
                <a:spcPts val="800"/>
              </a:spcAft>
              <a:buFont typeface="Arial" panose="020B0604020202020204" pitchFamily="34" charset="0"/>
              <a:buChar char="–"/>
            </a:pP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Direct democracy </a:t>
            </a:r>
            <a:endParaRPr lang="en-MY" sz="24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1143000" lvl="2" indent="-228600" algn="just">
              <a:spcAft>
                <a:spcPts val="800"/>
              </a:spcAft>
              <a:buFont typeface="Arial" panose="020B0604020202020204" pitchFamily="34" charset="0"/>
              <a:buChar char="•"/>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(sometimes ‘classical’, ‘participatory’ or ‘radical’ democracy) </a:t>
            </a:r>
            <a:endParaRPr lang="en-MY"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1143000" lvl="2" indent="-228600" algn="just">
              <a:spcAft>
                <a:spcPts val="800"/>
              </a:spcAft>
              <a:buFont typeface="Arial" panose="020B0604020202020204" pitchFamily="34" charset="0"/>
              <a:buChar char="•"/>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all power in the hands of the individual – ancient Athens</a:t>
            </a:r>
            <a:endParaRPr lang="en-MY"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spcAft>
                <a:spcPts val="800"/>
              </a:spcAft>
              <a:buFont typeface="Arial" panose="020B0604020202020204" pitchFamily="34" charset="0"/>
              <a:buChar char="–"/>
            </a:pP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Representative democracy</a:t>
            </a:r>
            <a:endParaRPr lang="en-MY" sz="24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1143000" lvl="2" indent="-228600" algn="just">
              <a:spcAft>
                <a:spcPts val="800"/>
              </a:spcAft>
              <a:buFont typeface="Arial" panose="020B0604020202020204" pitchFamily="34" charset="0"/>
              <a:buChar char="•"/>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a limited and indirect form of democracy.</a:t>
            </a:r>
            <a:endParaRPr lang="en-MY"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1143000" lvl="2" indent="-228600" algn="just">
              <a:spcAft>
                <a:spcPts val="800"/>
              </a:spcAft>
              <a:buFont typeface="Arial" panose="020B0604020202020204" pitchFamily="34" charset="0"/>
              <a:buChar char="•"/>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the public do not exercise power themselves; they merely select those who will rule on their behalf.</a:t>
            </a:r>
            <a:endParaRPr lang="en-MY"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1143000" lvl="2" indent="-228600" algn="just">
              <a:spcAft>
                <a:spcPts val="800"/>
              </a:spcAft>
              <a:buFont typeface="Arial" panose="020B0604020202020204" pitchFamily="34" charset="0"/>
              <a:buChar char="•"/>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most common type of democracy - It offers a practicable form of democracy </a:t>
            </a:r>
            <a:endParaRPr lang="en-MY"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lvl="1" indent="-457200"/>
            <a:endParaRPr lang="en-US" sz="2000" dirty="0"/>
          </a:p>
        </p:txBody>
      </p:sp>
    </p:spTree>
    <p:extLst>
      <p:ext uri="{BB962C8B-B14F-4D97-AF65-F5344CB8AC3E}">
        <p14:creationId xmlns:p14="http://schemas.microsoft.com/office/powerpoint/2010/main" val="35783778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74638"/>
            <a:ext cx="8839200" cy="563562"/>
          </a:xfrm>
        </p:spPr>
        <p:txBody>
          <a:bodyPr>
            <a:noAutofit/>
          </a:bodyPr>
          <a:lstStyle/>
          <a:p>
            <a:r>
              <a:rPr lang="en-US" sz="3200" dirty="0">
                <a:solidFill>
                  <a:srgbClr val="FF0000"/>
                </a:solidFill>
              </a:rPr>
              <a:t>MAIN IDEAS ABOUT PARLIAMENTARY DEMOCRACY</a:t>
            </a:r>
          </a:p>
        </p:txBody>
      </p:sp>
      <p:sp>
        <p:nvSpPr>
          <p:cNvPr id="3" name="Content Placeholder 2"/>
          <p:cNvSpPr>
            <a:spLocks noGrp="1"/>
          </p:cNvSpPr>
          <p:nvPr>
            <p:ph idx="1"/>
          </p:nvPr>
        </p:nvSpPr>
        <p:spPr>
          <a:xfrm>
            <a:off x="228600" y="990600"/>
            <a:ext cx="8686800" cy="5638800"/>
          </a:xfrm>
        </p:spPr>
        <p:txBody>
          <a:bodyPr>
            <a:normAutofit/>
          </a:bodyPr>
          <a:lstStyle/>
          <a:p>
            <a:r>
              <a:rPr lang="en-US" dirty="0"/>
              <a:t>Representative democracy</a:t>
            </a:r>
          </a:p>
          <a:p>
            <a:r>
              <a:rPr lang="en-US" dirty="0"/>
              <a:t>Political parties</a:t>
            </a:r>
          </a:p>
          <a:p>
            <a:r>
              <a:rPr lang="en-US" dirty="0"/>
              <a:t>Election</a:t>
            </a:r>
          </a:p>
          <a:p>
            <a:r>
              <a:rPr lang="en-US" dirty="0"/>
              <a:t>Parliament</a:t>
            </a:r>
          </a:p>
          <a:p>
            <a:endParaRPr lang="en-US" dirty="0"/>
          </a:p>
        </p:txBody>
      </p:sp>
    </p:spTree>
    <p:extLst>
      <p:ext uri="{BB962C8B-B14F-4D97-AF65-F5344CB8AC3E}">
        <p14:creationId xmlns:p14="http://schemas.microsoft.com/office/powerpoint/2010/main" val="13620135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478C0F-4681-6FBC-0C82-988718E8D0EC}"/>
              </a:ext>
            </a:extLst>
          </p:cNvPr>
          <p:cNvSpPr>
            <a:spLocks noGrp="1"/>
          </p:cNvSpPr>
          <p:nvPr>
            <p:ph type="title"/>
          </p:nvPr>
        </p:nvSpPr>
        <p:spPr>
          <a:xfrm>
            <a:off x="457200" y="160337"/>
            <a:ext cx="8229600" cy="1143000"/>
          </a:xfrm>
        </p:spPr>
        <p:txBody>
          <a:bodyPr>
            <a:normAutofit/>
          </a:bodyPr>
          <a:lstStyle/>
          <a:p>
            <a:r>
              <a:rPr lang="en-MY" sz="4000" dirty="0"/>
              <a:t>PARLIAMENTARY DEMOCRACY</a:t>
            </a:r>
          </a:p>
        </p:txBody>
      </p:sp>
      <p:sp>
        <p:nvSpPr>
          <p:cNvPr id="6" name="Content Placeholder 5">
            <a:extLst>
              <a:ext uri="{FF2B5EF4-FFF2-40B4-BE49-F238E27FC236}">
                <a16:creationId xmlns:a16="http://schemas.microsoft.com/office/drawing/2014/main" id="{5820A6A2-35C0-BB68-CAED-7338EE0EA832}"/>
              </a:ext>
            </a:extLst>
          </p:cNvPr>
          <p:cNvSpPr>
            <a:spLocks noGrp="1"/>
          </p:cNvSpPr>
          <p:nvPr>
            <p:ph idx="1"/>
          </p:nvPr>
        </p:nvSpPr>
        <p:spPr>
          <a:xfrm>
            <a:off x="228600" y="1303338"/>
            <a:ext cx="8686800" cy="5394326"/>
          </a:xfrm>
        </p:spPr>
        <p:txBody>
          <a:bodyPr>
            <a:normAutofit lnSpcReduction="10000"/>
          </a:bodyPr>
          <a:lstStyle/>
          <a:p>
            <a:pPr marL="342900" lvl="0" indent="-342900" algn="just">
              <a:spcAft>
                <a:spcPts val="800"/>
              </a:spcAft>
              <a:buFont typeface="Arial" panose="020B0604020202020204" pitchFamily="34" charset="0"/>
              <a:buChar char="•"/>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 type of representative government – a representative will be chosen to rule a state/territory</a:t>
            </a:r>
            <a:endParaRPr lang="en-MY"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Democratic form of government in which the political party (or a coalition of political parties) with the greatest representation in the </a:t>
            </a: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parliament</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(legislature) forms the government -  the leader of the representation becoming the prime minister. </a:t>
            </a:r>
            <a:endParaRPr lang="en-MY"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Executive functions are exercised by members of the parliament appointed by a prime minister to the cabinet. </a:t>
            </a:r>
            <a:endParaRPr lang="en-MY"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The parties in the minority serve in </a:t>
            </a: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opposition</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to the majority and have the duty to challenge it regularly. </a:t>
            </a:r>
            <a:endParaRPr lang="en-MY"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The prime minister may be removed from power whenever he loses the confidence of a majority of the ruling party or of the parliament. </a:t>
            </a:r>
            <a:endParaRPr lang="en-MY"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MY" sz="2800" dirty="0"/>
          </a:p>
        </p:txBody>
      </p:sp>
    </p:spTree>
    <p:extLst>
      <p:ext uri="{BB962C8B-B14F-4D97-AF65-F5344CB8AC3E}">
        <p14:creationId xmlns:p14="http://schemas.microsoft.com/office/powerpoint/2010/main" val="11711684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64F34A-4318-F75B-799F-560AD49A55FB}"/>
              </a:ext>
            </a:extLst>
          </p:cNvPr>
          <p:cNvSpPr>
            <a:spLocks noGrp="1"/>
          </p:cNvSpPr>
          <p:nvPr>
            <p:ph idx="1"/>
          </p:nvPr>
        </p:nvSpPr>
        <p:spPr>
          <a:xfrm>
            <a:off x="228600" y="381000"/>
            <a:ext cx="8763000" cy="6172200"/>
          </a:xfrm>
        </p:spPr>
        <p:txBody>
          <a:bodyPr>
            <a:normAutofit fontScale="92500" lnSpcReduction="20000"/>
          </a:bodyPr>
          <a:lstStyle/>
          <a:p>
            <a:pPr marL="342900" lvl="0" indent="-342900" algn="just">
              <a:spcAft>
                <a:spcPts val="800"/>
              </a:spcAft>
              <a:buFont typeface="Arial" panose="020B0604020202020204" pitchFamily="34" charset="0"/>
              <a:buChar char="•"/>
            </a:pPr>
            <a:r>
              <a:rPr lang="en-US" sz="2600" dirty="0">
                <a:effectLst/>
                <a:latin typeface="Times New Roman" panose="02020603050405020304" pitchFamily="18" charset="0"/>
                <a:ea typeface="Times New Roman" panose="02020603050405020304" pitchFamily="18" charset="0"/>
                <a:cs typeface="Times New Roman" panose="02020603050405020304" pitchFamily="18" charset="0"/>
              </a:rPr>
              <a:t>In representative democracies such as parliamentary democracy, political parties are the central actors in the governmental framework. </a:t>
            </a:r>
            <a:endParaRPr lang="en-MY" sz="2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2600" dirty="0">
                <a:effectLst/>
                <a:latin typeface="Times New Roman" panose="02020603050405020304" pitchFamily="18" charset="0"/>
                <a:ea typeface="Times New Roman" panose="02020603050405020304" pitchFamily="18" charset="0"/>
                <a:cs typeface="Times New Roman" panose="02020603050405020304" pitchFamily="18" charset="0"/>
              </a:rPr>
              <a:t>Political parties are the “gatekeepers” to democracy. The basic purpose of political parties is to nominate their candidates for public office/legislative. </a:t>
            </a:r>
            <a:endParaRPr lang="en-MY" sz="2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2600" dirty="0">
                <a:effectLst/>
                <a:latin typeface="Times New Roman" panose="02020603050405020304" pitchFamily="18" charset="0"/>
                <a:ea typeface="Times New Roman" panose="02020603050405020304" pitchFamily="18" charset="0"/>
                <a:cs typeface="Times New Roman" panose="02020603050405020304" pitchFamily="18" charset="0"/>
              </a:rPr>
              <a:t>A political party is a group of people that is organized for the purpose of winning government power, by electoral or other means. As a way of participating in political process.</a:t>
            </a:r>
            <a:endParaRPr lang="en-MY" sz="2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2600" dirty="0">
                <a:effectLst/>
                <a:latin typeface="Times New Roman" panose="02020603050405020304" pitchFamily="18" charset="0"/>
                <a:ea typeface="Times New Roman" panose="02020603050405020304" pitchFamily="18" charset="0"/>
                <a:cs typeface="Times New Roman" panose="02020603050405020304" pitchFamily="18" charset="0"/>
              </a:rPr>
              <a:t>Political parties legitimizing the political system by representing the different social groups and involving in political decisions. Through election they seeking votes and government offices and engaging in policy-making, they usually have political programs for the government and society.</a:t>
            </a:r>
            <a:endParaRPr lang="en-MY" sz="2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2600" dirty="0">
                <a:effectLst/>
                <a:latin typeface="Times New Roman" panose="02020603050405020304" pitchFamily="18" charset="0"/>
                <a:ea typeface="Times New Roman" panose="02020603050405020304" pitchFamily="18" charset="0"/>
                <a:cs typeface="Times New Roman" panose="02020603050405020304" pitchFamily="18" charset="0"/>
              </a:rPr>
              <a:t>Political party is important in democracy process in providing opportunities for people to represent their community and participate in political process – through election. </a:t>
            </a:r>
            <a:endParaRPr lang="en-MY" sz="26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MY" sz="2400" dirty="0"/>
          </a:p>
        </p:txBody>
      </p:sp>
    </p:spTree>
    <p:extLst>
      <p:ext uri="{BB962C8B-B14F-4D97-AF65-F5344CB8AC3E}">
        <p14:creationId xmlns:p14="http://schemas.microsoft.com/office/powerpoint/2010/main" val="30459536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914400"/>
          </a:xfrm>
        </p:spPr>
        <p:txBody>
          <a:bodyPr>
            <a:normAutofit/>
          </a:bodyPr>
          <a:lstStyle/>
          <a:p>
            <a:r>
              <a:rPr lang="en-US" sz="3200" b="1" dirty="0"/>
              <a:t>Parliamentary System &amp; Presidential System</a:t>
            </a:r>
          </a:p>
        </p:txBody>
      </p:sp>
      <p:sp>
        <p:nvSpPr>
          <p:cNvPr id="6" name="Content Placeholder 5"/>
          <p:cNvSpPr>
            <a:spLocks noGrp="1"/>
          </p:cNvSpPr>
          <p:nvPr>
            <p:ph idx="1"/>
          </p:nvPr>
        </p:nvSpPr>
        <p:spPr>
          <a:xfrm>
            <a:off x="152400" y="1600200"/>
            <a:ext cx="8839200" cy="5029200"/>
          </a:xfrm>
        </p:spPr>
        <p:txBody>
          <a:bodyPr>
            <a:normAutofit/>
          </a:bodyPr>
          <a:lstStyle/>
          <a:p>
            <a:r>
              <a:rPr lang="en-US" sz="2400" dirty="0"/>
              <a:t>Originated in Great Britain in the 18</a:t>
            </a:r>
            <a:r>
              <a:rPr lang="en-US" sz="2400" baseline="30000" dirty="0"/>
              <a:t>th</a:t>
            </a:r>
            <a:r>
              <a:rPr lang="en-US" sz="2400" dirty="0"/>
              <a:t> century.</a:t>
            </a:r>
          </a:p>
          <a:p>
            <a:r>
              <a:rPr lang="en-US" sz="2400" dirty="0"/>
              <a:t>Example: Canada, Australia, Germany, Japan, Sweden &amp; Malaysia.</a:t>
            </a:r>
          </a:p>
          <a:p>
            <a:r>
              <a:rPr lang="en-US" sz="2400" dirty="0"/>
              <a:t>Have a dual executive consisting of a separate head of state &amp; head of government.</a:t>
            </a:r>
          </a:p>
          <a:p>
            <a:r>
              <a:rPr lang="en-US" sz="2400" dirty="0"/>
              <a:t>Relationship between the executive and the legislative branches of government.</a:t>
            </a:r>
          </a:p>
          <a:p>
            <a:pPr lvl="1"/>
            <a:r>
              <a:rPr lang="en-US" sz="2000" dirty="0"/>
              <a:t>Overlapping of power and personnel between the two branches.</a:t>
            </a:r>
          </a:p>
          <a:p>
            <a:pPr lvl="1"/>
            <a:r>
              <a:rPr lang="en-US" sz="2000" dirty="0"/>
              <a:t>Most of all members of the cabinet are usually members of the parliament who take on executive responsibilities while still maintaining their seats in the parliament.</a:t>
            </a:r>
          </a:p>
          <a:p>
            <a:pPr lvl="1"/>
            <a:r>
              <a:rPr lang="en-US" sz="2000" b="1" dirty="0"/>
              <a:t>“</a:t>
            </a:r>
            <a:r>
              <a:rPr lang="en-US" sz="2000" b="1" dirty="0" err="1"/>
              <a:t>Fussion</a:t>
            </a:r>
            <a:r>
              <a:rPr lang="en-US" sz="2000" b="1" dirty="0"/>
              <a:t> of power”</a:t>
            </a:r>
          </a:p>
          <a:p>
            <a:r>
              <a:rPr lang="en-US" sz="2400" dirty="0"/>
              <a:t>The only vote a citizen cast is for members of the parliament. The executive is then set up by the parliament.</a:t>
            </a:r>
          </a:p>
          <a:p>
            <a:endParaRPr lang="en-US" dirty="0"/>
          </a:p>
        </p:txBody>
      </p:sp>
      <p:sp>
        <p:nvSpPr>
          <p:cNvPr id="5" name="Text Placeholder 4"/>
          <p:cNvSpPr>
            <a:spLocks noGrp="1"/>
          </p:cNvSpPr>
          <p:nvPr>
            <p:ph type="body" idx="4294967295"/>
          </p:nvPr>
        </p:nvSpPr>
        <p:spPr>
          <a:xfrm>
            <a:off x="2133600" y="914400"/>
            <a:ext cx="4040188" cy="639763"/>
          </a:xfrm>
        </p:spPr>
        <p:txBody>
          <a:bodyPr>
            <a:normAutofit/>
          </a:bodyPr>
          <a:lstStyle/>
          <a:p>
            <a:pPr marL="0" indent="0">
              <a:buNone/>
            </a:pPr>
            <a:r>
              <a:rPr lang="en-US" b="1" dirty="0">
                <a:solidFill>
                  <a:srgbClr val="C00000"/>
                </a:solidFill>
              </a:rPr>
              <a:t>Parliamentary System</a:t>
            </a:r>
          </a:p>
        </p:txBody>
      </p:sp>
    </p:spTree>
    <p:extLst>
      <p:ext uri="{BB962C8B-B14F-4D97-AF65-F5344CB8AC3E}">
        <p14:creationId xmlns:p14="http://schemas.microsoft.com/office/powerpoint/2010/main" val="15494104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68362"/>
          </a:xfrm>
        </p:spPr>
        <p:txBody>
          <a:bodyPr>
            <a:noAutofit/>
          </a:bodyPr>
          <a:lstStyle/>
          <a:p>
            <a:r>
              <a:rPr lang="en-US" sz="3200" b="1" dirty="0"/>
              <a:t>Parliamentary System &amp; Presidential System</a:t>
            </a:r>
            <a:endParaRPr lang="en-US" sz="3200" dirty="0"/>
          </a:p>
        </p:txBody>
      </p:sp>
      <p:sp>
        <p:nvSpPr>
          <p:cNvPr id="3" name="Content Placeholder 2"/>
          <p:cNvSpPr>
            <a:spLocks noGrp="1"/>
          </p:cNvSpPr>
          <p:nvPr>
            <p:ph idx="1"/>
          </p:nvPr>
        </p:nvSpPr>
        <p:spPr>
          <a:xfrm>
            <a:off x="152400" y="1540513"/>
            <a:ext cx="8763000" cy="5165088"/>
          </a:xfrm>
        </p:spPr>
        <p:txBody>
          <a:bodyPr>
            <a:normAutofit/>
          </a:bodyPr>
          <a:lstStyle/>
          <a:p>
            <a:r>
              <a:rPr lang="en-US" sz="2400" dirty="0"/>
              <a:t>The presidential (or congressional) form of government  originated in the United Stated in the 1780s.</a:t>
            </a:r>
          </a:p>
          <a:p>
            <a:r>
              <a:rPr lang="en-US" sz="2400" dirty="0"/>
              <a:t>It has been adopted by most Central and South American state ( Mexico, Brazil, Russia, Indonesia).</a:t>
            </a:r>
          </a:p>
          <a:p>
            <a:r>
              <a:rPr lang="en-US" sz="2400" dirty="0"/>
              <a:t>In Presidential government, the executive and legislature are selected in separate elections.</a:t>
            </a:r>
          </a:p>
          <a:p>
            <a:pPr lvl="1"/>
            <a:r>
              <a:rPr lang="en-US" sz="2000" dirty="0"/>
              <a:t>The President is elected by all of the voters in the state.</a:t>
            </a:r>
          </a:p>
          <a:p>
            <a:pPr marL="400050"/>
            <a:r>
              <a:rPr lang="en-US" sz="2400" dirty="0"/>
              <a:t>Legislature and executive exist independently.</a:t>
            </a:r>
          </a:p>
          <a:p>
            <a:pPr marL="400050"/>
            <a:r>
              <a:rPr lang="en-US" sz="2400" dirty="0"/>
              <a:t>The U.S presidential system was designed with a view to avoiding an undue concentration of power ( </a:t>
            </a:r>
            <a:r>
              <a:rPr lang="en-US" sz="2400" b="1" dirty="0"/>
              <a:t>Separation of powers</a:t>
            </a:r>
            <a:r>
              <a:rPr lang="en-US" sz="2400" dirty="0"/>
              <a:t>)</a:t>
            </a:r>
          </a:p>
          <a:p>
            <a:endParaRPr lang="en-US" sz="2400" dirty="0"/>
          </a:p>
        </p:txBody>
      </p:sp>
      <p:sp>
        <p:nvSpPr>
          <p:cNvPr id="4" name="Text Placeholder 4"/>
          <p:cNvSpPr txBox="1">
            <a:spLocks/>
          </p:cNvSpPr>
          <p:nvPr/>
        </p:nvSpPr>
        <p:spPr>
          <a:xfrm>
            <a:off x="2362200" y="900750"/>
            <a:ext cx="4040188" cy="6397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3200" b="1" i="0" u="none" strike="noStrike" kern="1200" cap="none" spc="0" normalizeH="0" baseline="0" noProof="0" dirty="0">
                <a:ln>
                  <a:noFill/>
                </a:ln>
                <a:solidFill>
                  <a:srgbClr val="C00000"/>
                </a:solidFill>
                <a:effectLst/>
                <a:uLnTx/>
                <a:uFillTx/>
                <a:latin typeface="Calibri"/>
                <a:ea typeface="+mn-ea"/>
                <a:cs typeface="+mn-cs"/>
              </a:rPr>
              <a:t>Presidential System</a:t>
            </a:r>
          </a:p>
        </p:txBody>
      </p:sp>
    </p:spTree>
    <p:extLst>
      <p:ext uri="{BB962C8B-B14F-4D97-AF65-F5344CB8AC3E}">
        <p14:creationId xmlns:p14="http://schemas.microsoft.com/office/powerpoint/2010/main" val="29798223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676DFED-414F-6B14-3D0C-05A05D63F71D}"/>
              </a:ext>
            </a:extLst>
          </p:cNvPr>
          <p:cNvSpPr>
            <a:spLocks noGrp="1"/>
          </p:cNvSpPr>
          <p:nvPr>
            <p:ph type="title"/>
          </p:nvPr>
        </p:nvSpPr>
        <p:spPr>
          <a:xfrm>
            <a:off x="207335" y="180753"/>
            <a:ext cx="8686800" cy="792162"/>
          </a:xfrm>
        </p:spPr>
        <p:txBody>
          <a:bodyPr>
            <a:noAutofit/>
          </a:bodyPr>
          <a:lstStyle/>
          <a:p>
            <a:r>
              <a:rPr lang="en-MY" sz="3600" b="1" dirty="0"/>
              <a:t>PARLIAMENTARY DEMOCRACY IN MALAYSIA</a:t>
            </a:r>
          </a:p>
        </p:txBody>
      </p:sp>
      <p:sp>
        <p:nvSpPr>
          <p:cNvPr id="6" name="Content Placeholder 5">
            <a:extLst>
              <a:ext uri="{FF2B5EF4-FFF2-40B4-BE49-F238E27FC236}">
                <a16:creationId xmlns:a16="http://schemas.microsoft.com/office/drawing/2014/main" id="{527BCF36-8736-F195-09A2-D0596059F499}"/>
              </a:ext>
            </a:extLst>
          </p:cNvPr>
          <p:cNvSpPr>
            <a:spLocks noGrp="1"/>
          </p:cNvSpPr>
          <p:nvPr>
            <p:ph idx="1"/>
          </p:nvPr>
        </p:nvSpPr>
        <p:spPr>
          <a:xfrm>
            <a:off x="228600" y="972915"/>
            <a:ext cx="8763000" cy="5732685"/>
          </a:xfrm>
        </p:spPr>
        <p:txBody>
          <a:bodyPr>
            <a:normAutofit fontScale="92500"/>
          </a:bodyPr>
          <a:lstStyle/>
          <a:p>
            <a:pPr lvl="0" algn="just">
              <a:spcAft>
                <a:spcPts val="800"/>
              </a:spcAft>
              <a:buFont typeface="Wingdings" panose="05000000000000000000" pitchFamily="2" charset="2"/>
              <a:buChar char="Ø"/>
            </a:pPr>
            <a:r>
              <a:rPr lang="en-US" sz="1900" dirty="0">
                <a:effectLst/>
                <a:latin typeface="Times New Roman" panose="02020603050405020304" pitchFamily="18" charset="0"/>
                <a:ea typeface="Times New Roman" panose="02020603050405020304" pitchFamily="18" charset="0"/>
                <a:cs typeface="Times New Roman" panose="02020603050405020304" pitchFamily="18" charset="0"/>
              </a:rPr>
              <a:t>Based on English Parliament - Westminster, England</a:t>
            </a:r>
            <a:endParaRPr lang="en-MY" sz="19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lvl="0" algn="just">
              <a:spcAft>
                <a:spcPts val="800"/>
              </a:spcAft>
              <a:buFont typeface="Wingdings" panose="05000000000000000000" pitchFamily="2" charset="2"/>
              <a:buChar char="Ø"/>
            </a:pPr>
            <a:r>
              <a:rPr lang="en-US" sz="1900" dirty="0">
                <a:effectLst/>
                <a:latin typeface="Times New Roman" panose="02020603050405020304" pitchFamily="18" charset="0"/>
                <a:ea typeface="Times New Roman" panose="02020603050405020304" pitchFamily="18" charset="0"/>
                <a:cs typeface="Times New Roman" panose="02020603050405020304" pitchFamily="18" charset="0"/>
              </a:rPr>
              <a:t>The system is practiced together with Constitutional Monarchy and Federation. </a:t>
            </a:r>
            <a:endParaRPr lang="en-MY" sz="19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lvl="0" algn="just">
              <a:spcAft>
                <a:spcPts val="800"/>
              </a:spcAft>
              <a:buFont typeface="Wingdings" panose="05000000000000000000" pitchFamily="2" charset="2"/>
              <a:buChar char="Ø"/>
            </a:pPr>
            <a:r>
              <a:rPr lang="en-US" sz="1900" dirty="0">
                <a:effectLst/>
                <a:latin typeface="Times New Roman" panose="02020603050405020304" pitchFamily="18" charset="0"/>
                <a:ea typeface="Times New Roman" panose="02020603050405020304" pitchFamily="18" charset="0"/>
                <a:cs typeface="Times New Roman" panose="02020603050405020304" pitchFamily="18" charset="0"/>
              </a:rPr>
              <a:t>Parliament forms a government chosen by people </a:t>
            </a:r>
            <a:endParaRPr lang="en-MY" sz="19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lvl="0" algn="just">
              <a:spcAft>
                <a:spcPts val="800"/>
              </a:spcAft>
              <a:buFont typeface="Wingdings" panose="05000000000000000000" pitchFamily="2" charset="2"/>
              <a:buChar char="Ø"/>
            </a:pPr>
            <a:r>
              <a:rPr lang="en-US" sz="1900" dirty="0">
                <a:effectLst/>
                <a:latin typeface="Times New Roman" panose="02020603050405020304" pitchFamily="18" charset="0"/>
                <a:ea typeface="Times New Roman" panose="02020603050405020304" pitchFamily="18" charset="0"/>
                <a:cs typeface="Times New Roman" panose="02020603050405020304" pitchFamily="18" charset="0"/>
              </a:rPr>
              <a:t>Two important institutions</a:t>
            </a:r>
            <a:endParaRPr lang="en-MY" sz="19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lvl="1" algn="just">
              <a:spcAft>
                <a:spcPts val="800"/>
              </a:spcAft>
              <a:buFont typeface="Wingdings" panose="05000000000000000000" pitchFamily="2" charset="2"/>
              <a:buChar char="Ø"/>
            </a:pPr>
            <a:r>
              <a:rPr lang="en-US" sz="1900" dirty="0">
                <a:effectLst/>
                <a:latin typeface="Times New Roman" panose="02020603050405020304" pitchFamily="18" charset="0"/>
                <a:ea typeface="Times New Roman" panose="02020603050405020304" pitchFamily="18" charset="0"/>
                <a:cs typeface="Times New Roman" panose="02020603050405020304" pitchFamily="18" charset="0"/>
              </a:rPr>
              <a:t>Parliament – representing the people</a:t>
            </a:r>
            <a:endParaRPr lang="en-MY" sz="19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lvl="1" algn="just">
              <a:spcAft>
                <a:spcPts val="800"/>
              </a:spcAft>
              <a:buFont typeface="Wingdings" panose="05000000000000000000" pitchFamily="2" charset="2"/>
              <a:buChar char="Ø"/>
            </a:pPr>
            <a:r>
              <a:rPr lang="en-US" sz="1900" dirty="0">
                <a:effectLst/>
                <a:latin typeface="Times New Roman" panose="02020603050405020304" pitchFamily="18" charset="0"/>
                <a:ea typeface="Times New Roman" panose="02020603050405020304" pitchFamily="18" charset="0"/>
                <a:cs typeface="Times New Roman" panose="02020603050405020304" pitchFamily="18" charset="0"/>
              </a:rPr>
              <a:t>Election – the process of electing the representatives</a:t>
            </a:r>
            <a:endParaRPr lang="en-MY" sz="19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lvl="0" algn="just">
              <a:spcAft>
                <a:spcPts val="800"/>
              </a:spcAft>
              <a:buFont typeface="Wingdings" panose="05000000000000000000" pitchFamily="2" charset="2"/>
              <a:buChar char="Ø"/>
            </a:pPr>
            <a:r>
              <a:rPr lang="en-US" sz="1900" dirty="0">
                <a:effectLst/>
                <a:latin typeface="Times New Roman" panose="02020603050405020304" pitchFamily="18" charset="0"/>
                <a:ea typeface="Times New Roman" panose="02020603050405020304" pitchFamily="18" charset="0"/>
                <a:cs typeface="Times New Roman" panose="02020603050405020304" pitchFamily="18" charset="0"/>
              </a:rPr>
              <a:t>People choose the government (representative of people) through General Election</a:t>
            </a:r>
            <a:endParaRPr lang="en-MY" sz="19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lvl="0" algn="just">
              <a:spcAft>
                <a:spcPts val="800"/>
              </a:spcAft>
              <a:buFont typeface="Wingdings" panose="05000000000000000000" pitchFamily="2" charset="2"/>
              <a:buChar char="Ø"/>
            </a:pPr>
            <a:r>
              <a:rPr lang="en-US" sz="1900" dirty="0">
                <a:effectLst/>
                <a:latin typeface="Times New Roman" panose="02020603050405020304" pitchFamily="18" charset="0"/>
                <a:ea typeface="Times New Roman" panose="02020603050405020304" pitchFamily="18" charset="0"/>
                <a:cs typeface="Times New Roman" panose="02020603050405020304" pitchFamily="18" charset="0"/>
              </a:rPr>
              <a:t>People vote for two candidates for two constituencies </a:t>
            </a:r>
            <a:endParaRPr lang="en-MY" sz="19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lvl="1" algn="just">
              <a:spcAft>
                <a:spcPts val="800"/>
              </a:spcAft>
              <a:buFont typeface="Wingdings" panose="05000000000000000000" pitchFamily="2" charset="2"/>
              <a:buChar char="Ø"/>
            </a:pPr>
            <a:r>
              <a:rPr lang="en-US" sz="1900" b="1" dirty="0">
                <a:effectLst/>
                <a:latin typeface="Times New Roman" panose="02020603050405020304" pitchFamily="18" charset="0"/>
                <a:ea typeface="Times New Roman" panose="02020603050405020304" pitchFamily="18" charset="0"/>
                <a:cs typeface="Times New Roman" panose="02020603050405020304" pitchFamily="18" charset="0"/>
              </a:rPr>
              <a:t>Federal candidate– member of Parliament /Parliamentary seat (Federal level)</a:t>
            </a:r>
            <a:endParaRPr lang="en-MY" sz="19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lvl="1" algn="just">
              <a:spcAft>
                <a:spcPts val="800"/>
              </a:spcAft>
              <a:buFont typeface="Wingdings" panose="05000000000000000000" pitchFamily="2" charset="2"/>
              <a:buChar char="Ø"/>
            </a:pPr>
            <a:r>
              <a:rPr lang="en-US" sz="1900" b="1" dirty="0">
                <a:effectLst/>
                <a:latin typeface="Times New Roman" panose="02020603050405020304" pitchFamily="18" charset="0"/>
                <a:ea typeface="Times New Roman" panose="02020603050405020304" pitchFamily="18" charset="0"/>
                <a:cs typeface="Times New Roman" panose="02020603050405020304" pitchFamily="18" charset="0"/>
              </a:rPr>
              <a:t>State candidate – member of  State Assembly/State Assembly seat (State level)</a:t>
            </a:r>
            <a:endParaRPr lang="en-MY" sz="19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lvl="0" algn="just">
              <a:spcAft>
                <a:spcPts val="800"/>
              </a:spcAft>
              <a:buFont typeface="Wingdings" panose="05000000000000000000" pitchFamily="2" charset="2"/>
              <a:buChar char="Ø"/>
            </a:pPr>
            <a:r>
              <a:rPr lang="en-US" sz="1900" dirty="0">
                <a:effectLst/>
                <a:latin typeface="Times New Roman" panose="02020603050405020304" pitchFamily="18" charset="0"/>
                <a:ea typeface="Times New Roman" panose="02020603050405020304" pitchFamily="18" charset="0"/>
                <a:cs typeface="Times New Roman" panose="02020603050405020304" pitchFamily="18" charset="0"/>
              </a:rPr>
              <a:t>The majority winning political party/coalition (Parliamentary seat) will form a government</a:t>
            </a:r>
            <a:endParaRPr lang="en-MY" sz="19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lvl="0" algn="just">
              <a:spcAft>
                <a:spcPts val="800"/>
              </a:spcAft>
              <a:buFont typeface="Wingdings" panose="05000000000000000000" pitchFamily="2" charset="2"/>
              <a:buChar char="Ø"/>
            </a:pPr>
            <a:r>
              <a:rPr lang="en-US" sz="1900" dirty="0">
                <a:effectLst/>
                <a:latin typeface="Times New Roman" panose="02020603050405020304" pitchFamily="18" charset="0"/>
                <a:ea typeface="Times New Roman" panose="02020603050405020304" pitchFamily="18" charset="0"/>
                <a:cs typeface="Times New Roman" panose="02020603050405020304" pitchFamily="18" charset="0"/>
              </a:rPr>
              <a:t>Prime Minister (PM) is elected from the winning political party/coalition </a:t>
            </a:r>
            <a:endParaRPr lang="en-MY" sz="19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MY" sz="2400" dirty="0"/>
          </a:p>
        </p:txBody>
      </p:sp>
    </p:spTree>
    <p:extLst>
      <p:ext uri="{BB962C8B-B14F-4D97-AF65-F5344CB8AC3E}">
        <p14:creationId xmlns:p14="http://schemas.microsoft.com/office/powerpoint/2010/main" val="7817783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426" y="12970"/>
            <a:ext cx="8229600" cy="672830"/>
          </a:xfrm>
        </p:spPr>
        <p:txBody>
          <a:bodyPr>
            <a:normAutofit/>
          </a:bodyPr>
          <a:lstStyle/>
          <a:p>
            <a:r>
              <a:rPr lang="en-US" sz="3200" dirty="0">
                <a:solidFill>
                  <a:srgbClr val="FF0000"/>
                </a:solidFill>
              </a:rPr>
              <a:t>POLITICAL PARTIES IN MALAYSIA</a:t>
            </a:r>
          </a:p>
        </p:txBody>
      </p:sp>
      <p:sp>
        <p:nvSpPr>
          <p:cNvPr id="3" name="Content Placeholder 2"/>
          <p:cNvSpPr>
            <a:spLocks noGrp="1"/>
          </p:cNvSpPr>
          <p:nvPr>
            <p:ph idx="1"/>
          </p:nvPr>
        </p:nvSpPr>
        <p:spPr>
          <a:xfrm>
            <a:off x="152400" y="762001"/>
            <a:ext cx="8839200" cy="6055648"/>
          </a:xfrm>
        </p:spPr>
        <p:txBody>
          <a:bodyPr>
            <a:normAutofit fontScale="92500" lnSpcReduction="20000"/>
          </a:bodyPr>
          <a:lstStyle/>
          <a:p>
            <a:pPr marL="342900" lvl="0" indent="-342900" algn="just">
              <a:spcAft>
                <a:spcPts val="800"/>
              </a:spcAft>
              <a:buFont typeface="Arial" panose="020B0604020202020204" pitchFamily="34" charset="0"/>
              <a:buChar char="•"/>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Since colonial time, most of political parties in Malaysia are based on ethnicity.</a:t>
            </a:r>
            <a:endParaRPr lang="en-MY"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Early political parties</a:t>
            </a:r>
            <a:endParaRPr lang="en-MY"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spcAft>
                <a:spcPts val="800"/>
              </a:spcAft>
              <a:buFont typeface="Arial" panose="020B0604020202020204" pitchFamily="34" charset="0"/>
              <a:buChar char="▪"/>
            </a:pPr>
            <a:r>
              <a:rPr lang="en-US" sz="2400" b="1" dirty="0">
                <a:effectLst/>
                <a:latin typeface="Noto Sans Symbols"/>
                <a:ea typeface="Noto Sans Symbols"/>
                <a:cs typeface="Noto Sans Symbols"/>
              </a:rPr>
              <a:t>UMNO</a:t>
            </a:r>
            <a:r>
              <a:rPr lang="en-US" sz="2400" dirty="0">
                <a:effectLst/>
                <a:latin typeface="Noto Sans Symbols"/>
                <a:ea typeface="Noto Sans Symbols"/>
                <a:cs typeface="Noto Sans Symbols"/>
              </a:rPr>
              <a:t> (United Malay National </a:t>
            </a:r>
            <a:r>
              <a:rPr lang="en-US" sz="2400" dirty="0" err="1">
                <a:effectLst/>
                <a:latin typeface="Noto Sans Symbols"/>
                <a:ea typeface="Noto Sans Symbols"/>
                <a:cs typeface="Noto Sans Symbols"/>
              </a:rPr>
              <a:t>Organisation</a:t>
            </a:r>
            <a:r>
              <a:rPr lang="en-US" sz="2400" dirty="0">
                <a:effectLst/>
                <a:latin typeface="Noto Sans Symbols"/>
                <a:ea typeface="Noto Sans Symbols"/>
                <a:cs typeface="Noto Sans Symbols"/>
              </a:rPr>
              <a:t>):  Malay</a:t>
            </a:r>
            <a:endParaRPr lang="en-MY" sz="2400" dirty="0">
              <a:effectLst/>
              <a:latin typeface="Noto Sans Symbols"/>
              <a:ea typeface="Noto Sans Symbols"/>
              <a:cs typeface="Noto Sans Symbols"/>
            </a:endParaRPr>
          </a:p>
          <a:p>
            <a:pPr marL="742950" lvl="1" indent="-285750" algn="just">
              <a:spcAft>
                <a:spcPts val="800"/>
              </a:spcAft>
              <a:buFont typeface="Arial" panose="020B0604020202020204" pitchFamily="34" charset="0"/>
              <a:buChar char="▪"/>
            </a:pPr>
            <a:r>
              <a:rPr lang="en-US" sz="2400" b="1" dirty="0">
                <a:effectLst/>
                <a:latin typeface="Noto Sans Symbols"/>
                <a:ea typeface="Noto Sans Symbols"/>
                <a:cs typeface="Noto Sans Symbols"/>
              </a:rPr>
              <a:t>MCA</a:t>
            </a:r>
            <a:r>
              <a:rPr lang="en-US" sz="2400" dirty="0">
                <a:effectLst/>
                <a:latin typeface="Noto Sans Symbols"/>
                <a:ea typeface="Noto Sans Symbols"/>
                <a:cs typeface="Noto Sans Symbols"/>
              </a:rPr>
              <a:t> (Malaysian Chinese Association): Chinese</a:t>
            </a:r>
            <a:endParaRPr lang="en-MY" sz="2400" dirty="0">
              <a:effectLst/>
              <a:latin typeface="Noto Sans Symbols"/>
              <a:ea typeface="Noto Sans Symbols"/>
              <a:cs typeface="Noto Sans Symbols"/>
            </a:endParaRPr>
          </a:p>
          <a:p>
            <a:pPr marL="742950" lvl="1" indent="-285750" algn="just">
              <a:spcAft>
                <a:spcPts val="800"/>
              </a:spcAft>
              <a:buFont typeface="Arial" panose="020B0604020202020204" pitchFamily="34" charset="0"/>
              <a:buChar char="▪"/>
            </a:pPr>
            <a:r>
              <a:rPr lang="en-US" sz="2400" b="1" dirty="0">
                <a:effectLst/>
                <a:latin typeface="Noto Sans Symbols"/>
                <a:ea typeface="Noto Sans Symbols"/>
                <a:cs typeface="Noto Sans Symbols"/>
              </a:rPr>
              <a:t>MIC</a:t>
            </a:r>
            <a:r>
              <a:rPr lang="en-US" sz="2400" dirty="0">
                <a:effectLst/>
                <a:latin typeface="Noto Sans Symbols"/>
                <a:ea typeface="Noto Sans Symbols"/>
                <a:cs typeface="Noto Sans Symbols"/>
              </a:rPr>
              <a:t> (Malaysian Indian Congress): Indian </a:t>
            </a:r>
            <a:endParaRPr lang="en-MY" sz="2400" dirty="0">
              <a:effectLst/>
              <a:latin typeface="Noto Sans Symbols"/>
              <a:ea typeface="Noto Sans Symbols"/>
              <a:cs typeface="Noto Sans Symbols"/>
            </a:endParaRPr>
          </a:p>
          <a:p>
            <a:pPr marL="742950" lvl="1" indent="-285750" algn="just">
              <a:spcAft>
                <a:spcPts val="800"/>
              </a:spcAft>
              <a:buFont typeface="Arial" panose="020B0604020202020204" pitchFamily="34" charset="0"/>
              <a:buChar char="▪"/>
            </a:pPr>
            <a:r>
              <a:rPr lang="en-US" sz="2400" b="1" dirty="0">
                <a:effectLst/>
                <a:latin typeface="Noto Sans Symbols"/>
                <a:ea typeface="Noto Sans Symbols"/>
                <a:cs typeface="Noto Sans Symbols"/>
              </a:rPr>
              <a:t>PAS</a:t>
            </a:r>
            <a:r>
              <a:rPr lang="en-US" sz="2400" dirty="0">
                <a:effectLst/>
                <a:latin typeface="Noto Sans Symbols"/>
                <a:ea typeface="Noto Sans Symbols"/>
                <a:cs typeface="Noto Sans Symbols"/>
              </a:rPr>
              <a:t> (Pan-Malaysian Islamic Party): Malay-Muslim</a:t>
            </a:r>
            <a:endParaRPr lang="en-MY" sz="2400" dirty="0">
              <a:effectLst/>
              <a:latin typeface="Noto Sans Symbols"/>
              <a:ea typeface="Noto Sans Symbols"/>
              <a:cs typeface="Noto Sans Symbols"/>
            </a:endParaRPr>
          </a:p>
          <a:p>
            <a:pPr marL="342900" lvl="0" indent="-342900" algn="just">
              <a:spcAft>
                <a:spcPts val="800"/>
              </a:spcAft>
              <a:buFont typeface="Arial" panose="020B0604020202020204" pitchFamily="34" charset="0"/>
              <a:buChar char="▪"/>
            </a:pPr>
            <a:r>
              <a:rPr lang="en-US" sz="2400" u="sng" dirty="0">
                <a:effectLst>
                  <a:outerShdw blurRad="38100" dist="38100" dir="2700000" algn="tl">
                    <a:srgbClr val="000000">
                      <a:alpha val="43137"/>
                    </a:srgbClr>
                  </a:outerShdw>
                </a:effectLst>
                <a:latin typeface="Noto Sans Symbols"/>
                <a:ea typeface="Noto Sans Symbols"/>
                <a:cs typeface="Noto Sans Symbols"/>
              </a:rPr>
              <a:t>Power sharing </a:t>
            </a:r>
            <a:r>
              <a:rPr lang="en-US" sz="2400" dirty="0">
                <a:effectLst/>
                <a:latin typeface="Noto Sans Symbols"/>
                <a:ea typeface="Noto Sans Symbols"/>
                <a:cs typeface="Noto Sans Symbols"/>
              </a:rPr>
              <a:t>concept in government – some position in Cabinet must be represent by certain ethnic group or political party</a:t>
            </a:r>
            <a:endParaRPr lang="en-MY" sz="2400" dirty="0">
              <a:effectLst/>
              <a:latin typeface="Noto Sans Symbols"/>
              <a:ea typeface="Noto Sans Symbols"/>
              <a:cs typeface="Noto Sans Symbols"/>
            </a:endParaRPr>
          </a:p>
          <a:p>
            <a:pPr marL="342900" lvl="0" indent="-342900" algn="just">
              <a:spcAft>
                <a:spcPts val="800"/>
              </a:spcAft>
              <a:buFont typeface="Arial" panose="020B0604020202020204" pitchFamily="34" charset="0"/>
              <a:buChar char="▪"/>
            </a:pPr>
            <a:r>
              <a:rPr lang="en-US" sz="2400" dirty="0">
                <a:effectLst/>
                <a:latin typeface="Noto Sans Symbols"/>
                <a:ea typeface="Noto Sans Symbols"/>
                <a:cs typeface="Noto Sans Symbols"/>
              </a:rPr>
              <a:t>Since independence 1957 until 9 May 2018 – Malaysia was ruled by the same coalition – </a:t>
            </a:r>
            <a:r>
              <a:rPr lang="en-US" sz="2400" u="sng" dirty="0" err="1">
                <a:effectLst>
                  <a:outerShdw blurRad="38100" dist="38100" dir="2700000" algn="tl">
                    <a:srgbClr val="000000">
                      <a:alpha val="43137"/>
                    </a:srgbClr>
                  </a:outerShdw>
                </a:effectLst>
                <a:latin typeface="Noto Sans Symbols"/>
                <a:ea typeface="Noto Sans Symbols"/>
                <a:cs typeface="Noto Sans Symbols"/>
              </a:rPr>
              <a:t>Barisan</a:t>
            </a:r>
            <a:r>
              <a:rPr lang="en-US" sz="2400" u="sng" dirty="0">
                <a:effectLst>
                  <a:outerShdw blurRad="38100" dist="38100" dir="2700000" algn="tl">
                    <a:srgbClr val="000000">
                      <a:alpha val="43137"/>
                    </a:srgbClr>
                  </a:outerShdw>
                </a:effectLst>
                <a:latin typeface="Noto Sans Symbols"/>
                <a:ea typeface="Noto Sans Symbols"/>
                <a:cs typeface="Noto Sans Symbols"/>
              </a:rPr>
              <a:t> Nasional </a:t>
            </a:r>
            <a:r>
              <a:rPr lang="en-US" sz="2400" dirty="0">
                <a:effectLst/>
                <a:latin typeface="Noto Sans Symbols"/>
                <a:ea typeface="Noto Sans Symbols"/>
                <a:cs typeface="Noto Sans Symbols"/>
              </a:rPr>
              <a:t>(National Coalition) or BN Three earliest and dominant political parties in BN are UMNO, MCA and MIC. </a:t>
            </a:r>
            <a:endParaRPr lang="en-MY" sz="2400" dirty="0">
              <a:effectLst/>
              <a:latin typeface="Noto Sans Symbols"/>
              <a:ea typeface="Noto Sans Symbols"/>
              <a:cs typeface="Noto Sans Symbols"/>
            </a:endParaRPr>
          </a:p>
          <a:p>
            <a:pPr marL="342900" lvl="0" indent="-342900" algn="just">
              <a:spcAft>
                <a:spcPts val="800"/>
              </a:spcAft>
              <a:buFont typeface="Arial" panose="020B0604020202020204" pitchFamily="34" charset="0"/>
              <a:buChar char="▪"/>
            </a:pPr>
            <a:r>
              <a:rPr lang="en-US" sz="2400" dirty="0">
                <a:effectLst/>
                <a:latin typeface="Noto Sans Symbols"/>
                <a:ea typeface="Noto Sans Symbols"/>
                <a:cs typeface="Noto Sans Symbols"/>
              </a:rPr>
              <a:t>Later years, the member of coalition was expanded to few political parties from Peninsular Malaysia as well as Sabah and Sarawak. At one time BN has a coalition of 13 political parties.</a:t>
            </a:r>
          </a:p>
          <a:p>
            <a:pPr marL="342900" lvl="0" indent="-342900" algn="just">
              <a:spcAft>
                <a:spcPts val="800"/>
              </a:spcAft>
              <a:buFont typeface="Arial" panose="020B0604020202020204" pitchFamily="34" charset="0"/>
              <a:buChar char="▪"/>
            </a:pPr>
            <a:endParaRPr lang="en-MY" sz="1800" dirty="0">
              <a:effectLst/>
              <a:latin typeface="Noto Sans Symbols"/>
              <a:ea typeface="Noto Sans Symbols"/>
              <a:cs typeface="Noto Sans Symbols"/>
            </a:endParaRPr>
          </a:p>
          <a:p>
            <a:endParaRPr lang="en-US" sz="2400" dirty="0"/>
          </a:p>
        </p:txBody>
      </p:sp>
    </p:spTree>
    <p:extLst>
      <p:ext uri="{BB962C8B-B14F-4D97-AF65-F5344CB8AC3E}">
        <p14:creationId xmlns:p14="http://schemas.microsoft.com/office/powerpoint/2010/main" val="5509875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B12717-2BB0-0ACF-07E5-7704D8C77EA0}"/>
              </a:ext>
            </a:extLst>
          </p:cNvPr>
          <p:cNvSpPr>
            <a:spLocks noGrp="1"/>
          </p:cNvSpPr>
          <p:nvPr>
            <p:ph idx="1"/>
          </p:nvPr>
        </p:nvSpPr>
        <p:spPr>
          <a:xfrm>
            <a:off x="228600" y="304800"/>
            <a:ext cx="8763000" cy="5821363"/>
          </a:xfrm>
        </p:spPr>
        <p:txBody>
          <a:bodyPr>
            <a:normAutofit/>
          </a:bodyPr>
          <a:lstStyle/>
          <a:p>
            <a:pPr marL="342900" lvl="0" indent="-342900" algn="just">
              <a:spcAft>
                <a:spcPts val="800"/>
              </a:spcAft>
              <a:buFont typeface="Arial" panose="020B0604020202020204" pitchFamily="34" charset="0"/>
              <a:buChar char="▪"/>
            </a:pPr>
            <a:r>
              <a:rPr lang="en-US" sz="1800" dirty="0">
                <a:effectLst/>
                <a:latin typeface="Noto Sans Symbols"/>
                <a:ea typeface="Noto Sans Symbols"/>
                <a:cs typeface="Noto Sans Symbols"/>
              </a:rPr>
              <a:t>After 1999, a multi-ethnic party was formed - Parti </a:t>
            </a:r>
            <a:r>
              <a:rPr lang="en-US" sz="1800" dirty="0" err="1">
                <a:effectLst/>
                <a:latin typeface="Noto Sans Symbols"/>
                <a:ea typeface="Noto Sans Symbols"/>
                <a:cs typeface="Noto Sans Symbols"/>
              </a:rPr>
              <a:t>Keadilan</a:t>
            </a:r>
            <a:r>
              <a:rPr lang="en-US" sz="1800" dirty="0">
                <a:effectLst/>
                <a:latin typeface="Noto Sans Symbols"/>
                <a:ea typeface="Noto Sans Symbols"/>
                <a:cs typeface="Noto Sans Symbols"/>
              </a:rPr>
              <a:t> Rakyat or PKR (People's Justice Party) – lead by Anwar Ibrahim</a:t>
            </a:r>
            <a:endParaRPr lang="en-MY" sz="1800" dirty="0">
              <a:effectLst/>
              <a:latin typeface="Noto Sans Symbols"/>
              <a:ea typeface="Noto Sans Symbols"/>
              <a:cs typeface="Noto Sans Symbols"/>
            </a:endParaRPr>
          </a:p>
          <a:p>
            <a:pPr marL="342900" lvl="0" indent="-342900" algn="just">
              <a:spcAft>
                <a:spcPts val="800"/>
              </a:spcAft>
              <a:buFont typeface="Arial" panose="020B0604020202020204" pitchFamily="34" charset="0"/>
              <a:buChar char="▪"/>
            </a:pPr>
            <a:r>
              <a:rPr lang="en-US" sz="1800" dirty="0">
                <a:effectLst/>
                <a:latin typeface="Noto Sans Symbols"/>
                <a:ea typeface="Noto Sans Symbols"/>
                <a:cs typeface="Noto Sans Symbols"/>
              </a:rPr>
              <a:t>After 9 May 2018/ 14</a:t>
            </a:r>
            <a:r>
              <a:rPr lang="en-US" sz="1800" baseline="30000" dirty="0">
                <a:effectLst/>
                <a:latin typeface="Noto Sans Symbols"/>
                <a:ea typeface="Noto Sans Symbols"/>
                <a:cs typeface="Noto Sans Symbols"/>
              </a:rPr>
              <a:t>th</a:t>
            </a:r>
            <a:r>
              <a:rPr lang="en-US" sz="1800" dirty="0">
                <a:effectLst/>
                <a:latin typeface="Noto Sans Symbols"/>
                <a:ea typeface="Noto Sans Symbols"/>
                <a:cs typeface="Noto Sans Symbols"/>
              </a:rPr>
              <a:t> General Election: </a:t>
            </a:r>
            <a:r>
              <a:rPr lang="en-US" sz="1800" b="1" dirty="0">
                <a:effectLst>
                  <a:outerShdw blurRad="38100" dist="38100" dir="2700000" algn="tl">
                    <a:srgbClr val="000000">
                      <a:alpha val="43137"/>
                    </a:srgbClr>
                  </a:outerShdw>
                </a:effectLst>
                <a:latin typeface="Noto Sans Symbols"/>
                <a:ea typeface="Noto Sans Symbols"/>
                <a:cs typeface="Noto Sans Symbols"/>
              </a:rPr>
              <a:t>Pakatan Harapan</a:t>
            </a:r>
            <a:r>
              <a:rPr lang="en-US" sz="1800" dirty="0">
                <a:effectLst/>
                <a:latin typeface="Noto Sans Symbols"/>
                <a:ea typeface="Noto Sans Symbols"/>
                <a:cs typeface="Noto Sans Symbols"/>
              </a:rPr>
              <a:t> or PH (The Alliance of Hope) is ruling the country (Federal Government)</a:t>
            </a:r>
            <a:endParaRPr lang="en-MY" sz="1800" dirty="0">
              <a:effectLst/>
              <a:latin typeface="Noto Sans Symbols"/>
              <a:ea typeface="Noto Sans Symbols"/>
              <a:cs typeface="Noto Sans Symbols"/>
            </a:endParaRPr>
          </a:p>
          <a:p>
            <a:pPr marL="342900" lvl="0" indent="-342900" algn="just">
              <a:spcAft>
                <a:spcPts val="800"/>
              </a:spcAft>
              <a:buFont typeface="Arial" panose="020B0604020202020204" pitchFamily="34" charset="0"/>
              <a:buChar char="▪"/>
            </a:pPr>
            <a:r>
              <a:rPr lang="en-US" sz="1800" i="1" dirty="0">
                <a:effectLst/>
                <a:latin typeface="Noto Sans Symbols"/>
                <a:ea typeface="Noto Sans Symbols"/>
                <a:cs typeface="Noto Sans Symbols"/>
              </a:rPr>
              <a:t>Pakatan Harapan </a:t>
            </a:r>
            <a:r>
              <a:rPr lang="en-US" sz="1800" dirty="0">
                <a:effectLst/>
                <a:latin typeface="Noto Sans Symbols"/>
                <a:ea typeface="Noto Sans Symbols"/>
                <a:cs typeface="Noto Sans Symbols"/>
              </a:rPr>
              <a:t>-  a successor to </a:t>
            </a:r>
            <a:r>
              <a:rPr lang="en-US" sz="1800" i="1" dirty="0">
                <a:effectLst/>
                <a:latin typeface="Noto Sans Symbols"/>
                <a:ea typeface="Noto Sans Symbols"/>
                <a:cs typeface="Noto Sans Symbols"/>
              </a:rPr>
              <a:t>Pakatan Rakyat </a:t>
            </a:r>
            <a:r>
              <a:rPr lang="en-US" sz="1800" dirty="0">
                <a:effectLst/>
                <a:latin typeface="Noto Sans Symbols"/>
                <a:ea typeface="Noto Sans Symbols"/>
                <a:cs typeface="Noto Sans Symbols"/>
              </a:rPr>
              <a:t>(PR) and previous opposition coalition </a:t>
            </a:r>
            <a:endParaRPr lang="en-MY" sz="1800" dirty="0">
              <a:effectLst/>
              <a:latin typeface="Noto Sans Symbols"/>
              <a:ea typeface="Noto Sans Symbols"/>
              <a:cs typeface="Noto Sans Symbols"/>
            </a:endParaRPr>
          </a:p>
          <a:p>
            <a:pPr marL="342900" lvl="0" indent="-342900" algn="just">
              <a:spcAft>
                <a:spcPts val="800"/>
              </a:spcAft>
              <a:buFont typeface="Arial" panose="020B0604020202020204" pitchFamily="34" charset="0"/>
              <a:buChar char="▪"/>
            </a:pPr>
            <a:r>
              <a:rPr lang="en-US" sz="1800" dirty="0">
                <a:effectLst/>
                <a:latin typeface="Noto Sans Symbols"/>
                <a:ea typeface="Noto Sans Symbols"/>
                <a:cs typeface="Noto Sans Symbols"/>
              </a:rPr>
              <a:t>Component of </a:t>
            </a:r>
            <a:r>
              <a:rPr lang="en-US" sz="1800" i="1" dirty="0">
                <a:effectLst/>
                <a:latin typeface="Noto Sans Symbols"/>
                <a:ea typeface="Noto Sans Symbols"/>
                <a:cs typeface="Noto Sans Symbols"/>
              </a:rPr>
              <a:t>Pakatan Harapan</a:t>
            </a:r>
            <a:r>
              <a:rPr lang="en-US" sz="1800" dirty="0">
                <a:effectLst/>
                <a:latin typeface="Noto Sans Symbols"/>
                <a:ea typeface="Noto Sans Symbols"/>
                <a:cs typeface="Noto Sans Symbols"/>
              </a:rPr>
              <a:t>:</a:t>
            </a:r>
            <a:endParaRPr lang="en-MY" sz="1800" dirty="0">
              <a:effectLst/>
              <a:latin typeface="Noto Sans Symbols"/>
              <a:ea typeface="Noto Sans Symbols"/>
              <a:cs typeface="Noto Sans Symbols"/>
            </a:endParaRPr>
          </a:p>
          <a:p>
            <a:pPr marL="742950" lvl="1" indent="-285750" algn="just">
              <a:spcAft>
                <a:spcPts val="800"/>
              </a:spcAft>
              <a:buFont typeface="Arial" panose="020B0604020202020204" pitchFamily="34" charset="0"/>
              <a:buChar char="▪"/>
            </a:pPr>
            <a:r>
              <a:rPr lang="en-US" sz="1800" b="1" i="1" dirty="0">
                <a:effectLst/>
                <a:latin typeface="Noto Sans Symbols"/>
                <a:ea typeface="Noto Sans Symbols"/>
                <a:cs typeface="Noto Sans Symbols"/>
              </a:rPr>
              <a:t>Parti </a:t>
            </a:r>
            <a:r>
              <a:rPr lang="en-US" sz="1800" b="1" i="1" dirty="0" err="1">
                <a:effectLst/>
                <a:latin typeface="Noto Sans Symbols"/>
                <a:ea typeface="Noto Sans Symbols"/>
                <a:cs typeface="Noto Sans Symbols"/>
              </a:rPr>
              <a:t>Keadilan</a:t>
            </a:r>
            <a:r>
              <a:rPr lang="en-US" sz="1800" b="1" i="1" dirty="0">
                <a:effectLst/>
                <a:latin typeface="Noto Sans Symbols"/>
                <a:ea typeface="Noto Sans Symbols"/>
                <a:cs typeface="Noto Sans Symbols"/>
              </a:rPr>
              <a:t> Rakyat </a:t>
            </a:r>
            <a:r>
              <a:rPr lang="en-US" sz="1800" b="1" dirty="0">
                <a:effectLst/>
                <a:latin typeface="Noto Sans Symbols"/>
                <a:ea typeface="Noto Sans Symbols"/>
                <a:cs typeface="Noto Sans Symbols"/>
              </a:rPr>
              <a:t>or PKR (People's Justice Party) </a:t>
            </a:r>
            <a:endParaRPr lang="en-MY" sz="1800" dirty="0">
              <a:effectLst/>
              <a:latin typeface="Noto Sans Symbols"/>
              <a:ea typeface="Noto Sans Symbols"/>
              <a:cs typeface="Noto Sans Symbols"/>
            </a:endParaRPr>
          </a:p>
          <a:p>
            <a:pPr marL="742950" lvl="1" indent="-285750" algn="just">
              <a:spcAft>
                <a:spcPts val="800"/>
              </a:spcAft>
              <a:buFont typeface="Arial" panose="020B0604020202020204" pitchFamily="34" charset="0"/>
              <a:buChar char="▪"/>
            </a:pPr>
            <a:r>
              <a:rPr lang="en-US" sz="1800" b="1" i="1" dirty="0">
                <a:effectLst/>
                <a:latin typeface="Noto Sans Symbols"/>
                <a:ea typeface="Noto Sans Symbols"/>
                <a:cs typeface="Noto Sans Symbols"/>
              </a:rPr>
              <a:t>Parti </a:t>
            </a:r>
            <a:r>
              <a:rPr lang="en-US" sz="1800" b="1" i="1" dirty="0" err="1">
                <a:effectLst/>
                <a:latin typeface="Noto Sans Symbols"/>
                <a:ea typeface="Noto Sans Symbols"/>
                <a:cs typeface="Noto Sans Symbols"/>
              </a:rPr>
              <a:t>Pribumi</a:t>
            </a:r>
            <a:r>
              <a:rPr lang="en-US" sz="1800" b="1" i="1" dirty="0">
                <a:effectLst/>
                <a:latin typeface="Noto Sans Symbols"/>
                <a:ea typeface="Noto Sans Symbols"/>
                <a:cs typeface="Noto Sans Symbols"/>
              </a:rPr>
              <a:t> Bersatu Malaysia</a:t>
            </a:r>
            <a:r>
              <a:rPr lang="en-US" sz="1800" b="1" dirty="0">
                <a:effectLst/>
                <a:latin typeface="Noto Sans Symbols"/>
                <a:ea typeface="Noto Sans Symbols"/>
                <a:cs typeface="Noto Sans Symbols"/>
              </a:rPr>
              <a:t>, or BERSATU/PRIBUMI (Malaysian United Indigenous Party) – led by Tun Mahathir</a:t>
            </a:r>
            <a:endParaRPr lang="en-MY" sz="1800" dirty="0">
              <a:effectLst/>
              <a:latin typeface="Noto Sans Symbols"/>
              <a:ea typeface="Noto Sans Symbols"/>
              <a:cs typeface="Noto Sans Symbols"/>
            </a:endParaRPr>
          </a:p>
          <a:p>
            <a:pPr marL="742950" lvl="1" indent="-285750" algn="just">
              <a:spcAft>
                <a:spcPts val="800"/>
              </a:spcAft>
              <a:buFont typeface="Arial" panose="020B0604020202020204" pitchFamily="34" charset="0"/>
              <a:buChar char="▪"/>
            </a:pPr>
            <a:r>
              <a:rPr lang="en-US" sz="1800" b="1" i="1" dirty="0">
                <a:effectLst/>
                <a:latin typeface="Noto Sans Symbols"/>
                <a:ea typeface="Noto Sans Symbols"/>
                <a:cs typeface="Noto Sans Symbols"/>
              </a:rPr>
              <a:t>Parti Tindakan </a:t>
            </a:r>
            <a:r>
              <a:rPr lang="en-US" sz="1800" b="1" i="1" dirty="0" err="1">
                <a:effectLst/>
                <a:latin typeface="Noto Sans Symbols"/>
                <a:ea typeface="Noto Sans Symbols"/>
                <a:cs typeface="Noto Sans Symbols"/>
              </a:rPr>
              <a:t>Demokratik</a:t>
            </a:r>
            <a:r>
              <a:rPr lang="en-US" sz="1800" b="1" i="1" dirty="0">
                <a:effectLst/>
                <a:latin typeface="Noto Sans Symbols"/>
                <a:ea typeface="Noto Sans Symbols"/>
                <a:cs typeface="Noto Sans Symbols"/>
              </a:rPr>
              <a:t> </a:t>
            </a:r>
            <a:r>
              <a:rPr lang="en-US" sz="1800" b="1" dirty="0">
                <a:effectLst/>
                <a:latin typeface="Noto Sans Symbols"/>
                <a:ea typeface="Noto Sans Symbols"/>
                <a:cs typeface="Noto Sans Symbols"/>
              </a:rPr>
              <a:t>or Democratic Action Party (DAP) </a:t>
            </a:r>
            <a:endParaRPr lang="en-MY" sz="1800" dirty="0">
              <a:effectLst/>
              <a:latin typeface="Noto Sans Symbols"/>
              <a:ea typeface="Noto Sans Symbols"/>
              <a:cs typeface="Noto Sans Symbols"/>
            </a:endParaRPr>
          </a:p>
          <a:p>
            <a:pPr marL="742950" lvl="1" indent="-285750" algn="just">
              <a:spcAft>
                <a:spcPts val="800"/>
              </a:spcAft>
              <a:buFont typeface="Arial" panose="020B0604020202020204" pitchFamily="34" charset="0"/>
              <a:buChar char="▪"/>
            </a:pPr>
            <a:r>
              <a:rPr lang="en-US" sz="1800" b="1" dirty="0">
                <a:effectLst/>
                <a:latin typeface="Noto Sans Symbols"/>
                <a:ea typeface="Noto Sans Symbols"/>
                <a:cs typeface="Noto Sans Symbols"/>
              </a:rPr>
              <a:t>Parti Amanah Negara, or AMANAH (National Trust Party)</a:t>
            </a:r>
            <a:endParaRPr lang="en-MY" sz="1800" dirty="0">
              <a:effectLst/>
              <a:latin typeface="Noto Sans Symbols"/>
              <a:ea typeface="Noto Sans Symbols"/>
              <a:cs typeface="Noto Sans Symbols"/>
            </a:endParaRPr>
          </a:p>
          <a:p>
            <a:pPr marL="742950" lvl="1" indent="-285750" algn="just">
              <a:spcAft>
                <a:spcPts val="800"/>
              </a:spcAft>
              <a:buFont typeface="Arial" panose="020B0604020202020204" pitchFamily="34" charset="0"/>
              <a:buChar char="▪"/>
            </a:pPr>
            <a:r>
              <a:rPr lang="en-US" sz="1800" i="1" dirty="0">
                <a:effectLst/>
                <a:latin typeface="Noto Sans Symbols"/>
                <a:ea typeface="Noto Sans Symbols"/>
                <a:cs typeface="Noto Sans Symbols"/>
              </a:rPr>
              <a:t>Parti </a:t>
            </a:r>
            <a:r>
              <a:rPr lang="en-US" sz="1800" i="1" dirty="0" err="1">
                <a:effectLst/>
                <a:latin typeface="Noto Sans Symbols"/>
                <a:ea typeface="Noto Sans Symbols"/>
                <a:cs typeface="Noto Sans Symbols"/>
              </a:rPr>
              <a:t>Ikatan</a:t>
            </a:r>
            <a:r>
              <a:rPr lang="en-US" sz="1800" i="1" dirty="0">
                <a:effectLst/>
                <a:latin typeface="Noto Sans Symbols"/>
                <a:ea typeface="Noto Sans Symbols"/>
                <a:cs typeface="Noto Sans Symbols"/>
              </a:rPr>
              <a:t> </a:t>
            </a:r>
            <a:r>
              <a:rPr lang="en-US" sz="1800" i="1" dirty="0" err="1">
                <a:effectLst/>
                <a:latin typeface="Noto Sans Symbols"/>
                <a:ea typeface="Noto Sans Symbols"/>
                <a:cs typeface="Noto Sans Symbols"/>
              </a:rPr>
              <a:t>Bangsa</a:t>
            </a:r>
            <a:r>
              <a:rPr lang="en-US" sz="1800" i="1" dirty="0">
                <a:effectLst/>
                <a:latin typeface="Noto Sans Symbols"/>
                <a:ea typeface="Noto Sans Symbols"/>
                <a:cs typeface="Noto Sans Symbols"/>
              </a:rPr>
              <a:t> Malaysia</a:t>
            </a:r>
            <a:endParaRPr lang="en-MY" sz="1800" dirty="0">
              <a:effectLst/>
              <a:latin typeface="Noto Sans Symbols"/>
              <a:ea typeface="Noto Sans Symbols"/>
              <a:cs typeface="Noto Sans Symbols"/>
            </a:endParaRPr>
          </a:p>
          <a:p>
            <a:pPr marL="742950" lvl="1" indent="-285750" algn="just">
              <a:spcAft>
                <a:spcPts val="800"/>
              </a:spcAft>
              <a:buFont typeface="Arial" panose="020B0604020202020204" pitchFamily="34" charset="0"/>
              <a:buChar char="▪"/>
            </a:pPr>
            <a:r>
              <a:rPr lang="en-US" sz="1800" i="1" dirty="0">
                <a:effectLst/>
                <a:latin typeface="Noto Sans Symbols"/>
                <a:ea typeface="Noto Sans Symbols"/>
                <a:cs typeface="Noto Sans Symbols"/>
              </a:rPr>
              <a:t>Parti </a:t>
            </a:r>
            <a:r>
              <a:rPr lang="en-US" sz="1800" i="1" dirty="0" err="1">
                <a:effectLst/>
                <a:latin typeface="Noto Sans Symbols"/>
                <a:ea typeface="Noto Sans Symbols"/>
                <a:cs typeface="Noto Sans Symbols"/>
              </a:rPr>
              <a:t>Warisan</a:t>
            </a:r>
            <a:r>
              <a:rPr lang="en-US" sz="1800" i="1" dirty="0">
                <a:effectLst/>
                <a:latin typeface="Noto Sans Symbols"/>
                <a:ea typeface="Noto Sans Symbols"/>
                <a:cs typeface="Noto Sans Symbols"/>
              </a:rPr>
              <a:t> Sabah</a:t>
            </a:r>
            <a:endParaRPr lang="en-MY" sz="1800" dirty="0">
              <a:effectLst/>
              <a:latin typeface="Noto Sans Symbols"/>
              <a:ea typeface="Noto Sans Symbols"/>
              <a:cs typeface="Noto Sans Symbols"/>
            </a:endParaRPr>
          </a:p>
          <a:p>
            <a:endParaRPr lang="en-MY" sz="2400" dirty="0"/>
          </a:p>
        </p:txBody>
      </p:sp>
    </p:spTree>
    <p:extLst>
      <p:ext uri="{BB962C8B-B14F-4D97-AF65-F5344CB8AC3E}">
        <p14:creationId xmlns:p14="http://schemas.microsoft.com/office/powerpoint/2010/main" val="38734213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763000" cy="6477000"/>
          </a:xfrm>
        </p:spPr>
        <p:txBody>
          <a:bodyPr>
            <a:normAutofit fontScale="47500" lnSpcReduction="20000"/>
          </a:bodyPr>
          <a:lstStyle/>
          <a:p>
            <a:pPr algn="l">
              <a:lnSpc>
                <a:spcPct val="107000"/>
              </a:lnSpc>
              <a:spcAft>
                <a:spcPts val="800"/>
              </a:spcAft>
            </a:pPr>
            <a:r>
              <a:rPr lang="en-US" sz="3800" dirty="0">
                <a:effectLst/>
                <a:ea typeface="Times New Roman" panose="02020603050405020304" pitchFamily="18" charset="0"/>
              </a:rPr>
              <a:t>2018-2019</a:t>
            </a:r>
            <a:endParaRPr lang="en-MY" sz="3800" dirty="0">
              <a:effectLst/>
              <a:ea typeface="Times New Roman" panose="02020603050405020304" pitchFamily="18" charset="0"/>
            </a:endParaRPr>
          </a:p>
          <a:p>
            <a:pPr marL="342900" lvl="0" indent="-342900" algn="just">
              <a:spcAft>
                <a:spcPts val="800"/>
              </a:spcAft>
              <a:buFont typeface="Arial" panose="020B0604020202020204" pitchFamily="34" charset="0"/>
              <a:buChar char="•"/>
            </a:pPr>
            <a:r>
              <a:rPr lang="en-US" sz="3800" dirty="0">
                <a:effectLst/>
                <a:ea typeface="Times New Roman" panose="02020603050405020304" pitchFamily="18" charset="0"/>
                <a:cs typeface="Times New Roman" panose="02020603050405020304" pitchFamily="18" charset="0"/>
              </a:rPr>
              <a:t>Opposition party/alliance for Federal government</a:t>
            </a:r>
            <a:endParaRPr lang="en-MY" sz="3800" dirty="0">
              <a:effectLst/>
              <a:ea typeface="Times New Roman" panose="02020603050405020304" pitchFamily="18" charset="0"/>
              <a:cs typeface="Times New Roman" panose="02020603050405020304" pitchFamily="18" charset="0"/>
            </a:endParaRPr>
          </a:p>
          <a:p>
            <a:pPr marL="742950" lvl="1" indent="-285750" algn="just">
              <a:spcAft>
                <a:spcPts val="800"/>
              </a:spcAft>
              <a:buFont typeface="Arial" panose="020B0604020202020204" pitchFamily="34" charset="0"/>
              <a:buChar char="–"/>
            </a:pPr>
            <a:r>
              <a:rPr lang="en-US" sz="3800" dirty="0" err="1">
                <a:effectLst/>
                <a:ea typeface="Times New Roman" panose="02020603050405020304" pitchFamily="18" charset="0"/>
                <a:cs typeface="Times New Roman" panose="02020603050405020304" pitchFamily="18" charset="0"/>
              </a:rPr>
              <a:t>Barisan</a:t>
            </a:r>
            <a:r>
              <a:rPr lang="en-US" sz="3800" dirty="0">
                <a:effectLst/>
                <a:ea typeface="Times New Roman" panose="02020603050405020304" pitchFamily="18" charset="0"/>
                <a:cs typeface="Times New Roman" panose="02020603050405020304" pitchFamily="18" charset="0"/>
              </a:rPr>
              <a:t> Nasional</a:t>
            </a:r>
            <a:endParaRPr lang="en-MY" sz="3800" dirty="0">
              <a:effectLst/>
              <a:ea typeface="Times New Roman" panose="02020603050405020304" pitchFamily="18" charset="0"/>
              <a:cs typeface="Times New Roman" panose="02020603050405020304" pitchFamily="18" charset="0"/>
            </a:endParaRPr>
          </a:p>
          <a:p>
            <a:pPr marL="742950" lvl="1" indent="-285750" algn="just">
              <a:spcAft>
                <a:spcPts val="800"/>
              </a:spcAft>
              <a:buFont typeface="Arial" panose="020B0604020202020204" pitchFamily="34" charset="0"/>
              <a:buChar char="–"/>
            </a:pPr>
            <a:r>
              <a:rPr lang="en-US" sz="3800" dirty="0">
                <a:effectLst/>
                <a:ea typeface="Times New Roman" panose="02020603050405020304" pitchFamily="18" charset="0"/>
                <a:cs typeface="Times New Roman" panose="02020603050405020304" pitchFamily="18" charset="0"/>
              </a:rPr>
              <a:t>Pan-Malaysian Islamic Party (PAS) </a:t>
            </a:r>
            <a:endParaRPr lang="en-MY" sz="3800" dirty="0">
              <a:effectLst/>
              <a:ea typeface="Times New Roman" panose="02020603050405020304" pitchFamily="18" charset="0"/>
              <a:cs typeface="Times New Roman" panose="02020603050405020304" pitchFamily="18" charset="0"/>
            </a:endParaRPr>
          </a:p>
          <a:p>
            <a:pPr algn="just">
              <a:spcAft>
                <a:spcPts val="800"/>
              </a:spcAft>
            </a:pPr>
            <a:r>
              <a:rPr lang="en-US" sz="3800" dirty="0">
                <a:solidFill>
                  <a:srgbClr val="000000"/>
                </a:solidFill>
                <a:effectLst/>
                <a:ea typeface="Noto Sans Symbols"/>
                <a:cs typeface="Noto Sans Symbols"/>
              </a:rPr>
              <a:t>States under opposition party</a:t>
            </a:r>
            <a:endParaRPr lang="en-MY" sz="3800" dirty="0">
              <a:effectLst/>
              <a:ea typeface="Noto Sans Symbols"/>
              <a:cs typeface="Noto Sans Symbols"/>
            </a:endParaRPr>
          </a:p>
          <a:p>
            <a:pPr lvl="1" algn="just">
              <a:spcAft>
                <a:spcPts val="800"/>
              </a:spcAft>
            </a:pPr>
            <a:r>
              <a:rPr lang="en-US" sz="3800" dirty="0">
                <a:effectLst/>
                <a:ea typeface="Times New Roman" panose="02020603050405020304" pitchFamily="18" charset="0"/>
                <a:cs typeface="Times New Roman" panose="02020603050405020304" pitchFamily="18" charset="0"/>
              </a:rPr>
              <a:t>Pahang (led by BN)</a:t>
            </a:r>
            <a:endParaRPr lang="en-MY" sz="3800" dirty="0">
              <a:effectLst/>
              <a:ea typeface="Times New Roman" panose="02020603050405020304" pitchFamily="18" charset="0"/>
              <a:cs typeface="Times New Roman" panose="02020603050405020304" pitchFamily="18" charset="0"/>
            </a:endParaRPr>
          </a:p>
          <a:p>
            <a:pPr lvl="1" algn="just">
              <a:spcAft>
                <a:spcPts val="800"/>
              </a:spcAft>
            </a:pPr>
            <a:r>
              <a:rPr lang="en-US" sz="3800" dirty="0">
                <a:effectLst/>
                <a:ea typeface="Times New Roman" panose="02020603050405020304" pitchFamily="18" charset="0"/>
                <a:cs typeface="Times New Roman" panose="02020603050405020304" pitchFamily="18" charset="0"/>
              </a:rPr>
              <a:t>Kelantan (led by PAS) </a:t>
            </a:r>
            <a:endParaRPr lang="en-MY" sz="3800" dirty="0">
              <a:effectLst/>
              <a:ea typeface="Times New Roman" panose="02020603050405020304" pitchFamily="18" charset="0"/>
              <a:cs typeface="Times New Roman" panose="02020603050405020304" pitchFamily="18" charset="0"/>
            </a:endParaRPr>
          </a:p>
          <a:p>
            <a:pPr lvl="1" algn="just">
              <a:spcAft>
                <a:spcPts val="800"/>
              </a:spcAft>
            </a:pPr>
            <a:r>
              <a:rPr lang="en-US" sz="3800" dirty="0">
                <a:effectLst/>
                <a:ea typeface="Times New Roman" panose="02020603050405020304" pitchFamily="18" charset="0"/>
                <a:cs typeface="Times New Roman" panose="02020603050405020304" pitchFamily="18" charset="0"/>
              </a:rPr>
              <a:t>Terengganu (led by PAS)</a:t>
            </a:r>
            <a:endParaRPr lang="en-MY" sz="3800" dirty="0">
              <a:effectLst/>
              <a:ea typeface="Times New Roman" panose="02020603050405020304" pitchFamily="18" charset="0"/>
              <a:cs typeface="Times New Roman" panose="02020603050405020304" pitchFamily="18" charset="0"/>
            </a:endParaRPr>
          </a:p>
          <a:p>
            <a:pPr lvl="1" algn="just">
              <a:spcAft>
                <a:spcPts val="800"/>
              </a:spcAft>
            </a:pPr>
            <a:r>
              <a:rPr lang="en-US" sz="3800" dirty="0">
                <a:effectLst/>
                <a:ea typeface="Times New Roman" panose="02020603050405020304" pitchFamily="18" charset="0"/>
                <a:cs typeface="Times New Roman" panose="02020603050405020304" pitchFamily="18" charset="0"/>
              </a:rPr>
              <a:t>Perlis (led by BN)</a:t>
            </a:r>
            <a:endParaRPr lang="en-MY" sz="3800" dirty="0">
              <a:effectLst/>
              <a:ea typeface="Times New Roman" panose="02020603050405020304" pitchFamily="18" charset="0"/>
              <a:cs typeface="Times New Roman" panose="02020603050405020304" pitchFamily="18" charset="0"/>
            </a:endParaRPr>
          </a:p>
          <a:p>
            <a:pPr lvl="1" algn="just">
              <a:spcAft>
                <a:spcPts val="800"/>
              </a:spcAft>
            </a:pPr>
            <a:r>
              <a:rPr lang="en-US" sz="3800" dirty="0">
                <a:effectLst/>
                <a:ea typeface="Times New Roman" panose="02020603050405020304" pitchFamily="18" charset="0"/>
                <a:cs typeface="Times New Roman" panose="02020603050405020304" pitchFamily="18" charset="0"/>
              </a:rPr>
              <a:t>Sarawak (led by BN)</a:t>
            </a:r>
            <a:endParaRPr lang="en-MY" sz="3800" dirty="0">
              <a:effectLst/>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3800" dirty="0">
                <a:effectLst/>
                <a:ea typeface="Times New Roman" panose="02020603050405020304" pitchFamily="18" charset="0"/>
                <a:cs typeface="Times New Roman" panose="02020603050405020304" pitchFamily="18" charset="0"/>
              </a:rPr>
              <a:t>Political leadership transition – </a:t>
            </a:r>
            <a:r>
              <a:rPr lang="en-US" sz="3800" b="1" dirty="0">
                <a:effectLst/>
                <a:ea typeface="Times New Roman" panose="02020603050405020304" pitchFamily="18" charset="0"/>
                <a:cs typeface="Times New Roman" panose="02020603050405020304" pitchFamily="18" charset="0"/>
              </a:rPr>
              <a:t>March 2020 </a:t>
            </a:r>
            <a:r>
              <a:rPr lang="en-US" sz="3800" dirty="0">
                <a:effectLst/>
                <a:ea typeface="Times New Roman" panose="02020603050405020304" pitchFamily="18" charset="0"/>
                <a:cs typeface="Times New Roman" panose="02020603050405020304" pitchFamily="18" charset="0"/>
              </a:rPr>
              <a:t>– new coalition emerged, the coalition changed. </a:t>
            </a:r>
            <a:endParaRPr lang="en-MY" sz="3800" dirty="0">
              <a:effectLst/>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3800" dirty="0">
                <a:effectLst/>
                <a:ea typeface="Times New Roman" panose="02020603050405020304" pitchFamily="18" charset="0"/>
                <a:cs typeface="Times New Roman" panose="02020603050405020304" pitchFamily="18" charset="0"/>
              </a:rPr>
              <a:t>The new coalition of political parties named as </a:t>
            </a:r>
            <a:r>
              <a:rPr lang="en-US" sz="3800" b="1" i="1" dirty="0" err="1">
                <a:effectLst>
                  <a:outerShdw blurRad="38100" dist="38100" dir="2700000" algn="tl">
                    <a:srgbClr val="000000">
                      <a:alpha val="43137"/>
                    </a:srgbClr>
                  </a:outerShdw>
                </a:effectLst>
                <a:ea typeface="Times New Roman" panose="02020603050405020304" pitchFamily="18" charset="0"/>
                <a:cs typeface="Times New Roman" panose="02020603050405020304" pitchFamily="18" charset="0"/>
              </a:rPr>
              <a:t>Perikatan</a:t>
            </a:r>
            <a:r>
              <a:rPr lang="en-US" sz="3800" b="1" i="1" dirty="0">
                <a:effectLst>
                  <a:outerShdw blurRad="38100" dist="38100" dir="2700000" algn="tl">
                    <a:srgbClr val="000000">
                      <a:alpha val="43137"/>
                    </a:srgbClr>
                  </a:outerShdw>
                </a:effectLst>
                <a:ea typeface="Times New Roman" panose="02020603050405020304" pitchFamily="18" charset="0"/>
                <a:cs typeface="Times New Roman" panose="02020603050405020304" pitchFamily="18" charset="0"/>
              </a:rPr>
              <a:t> Nasional </a:t>
            </a:r>
            <a:r>
              <a:rPr lang="en-US" sz="3800" dirty="0">
                <a:effectLst/>
                <a:ea typeface="Times New Roman" panose="02020603050405020304" pitchFamily="18" charset="0"/>
                <a:cs typeface="Times New Roman" panose="02020603050405020304" pitchFamily="18" charset="0"/>
              </a:rPr>
              <a:t>(National Alliances) – formed a new Cabinet members.</a:t>
            </a:r>
            <a:endParaRPr lang="en-MY" sz="3800" dirty="0">
              <a:effectLst/>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3800" dirty="0">
                <a:effectLst/>
                <a:ea typeface="Times New Roman" panose="02020603050405020304" pitchFamily="18" charset="0"/>
                <a:cs typeface="Times New Roman" panose="02020603050405020304" pitchFamily="18" charset="0"/>
              </a:rPr>
              <a:t>A coalition of few members from </a:t>
            </a:r>
            <a:r>
              <a:rPr lang="en-US" sz="3800" i="1" dirty="0">
                <a:effectLst/>
                <a:ea typeface="Times New Roman" panose="02020603050405020304" pitchFamily="18" charset="0"/>
                <a:cs typeface="Times New Roman" panose="02020603050405020304" pitchFamily="18" charset="0"/>
              </a:rPr>
              <a:t>Parti </a:t>
            </a:r>
            <a:r>
              <a:rPr lang="en-US" sz="3800" i="1" dirty="0" err="1">
                <a:effectLst/>
                <a:ea typeface="Times New Roman" panose="02020603050405020304" pitchFamily="18" charset="0"/>
                <a:cs typeface="Times New Roman" panose="02020603050405020304" pitchFamily="18" charset="0"/>
              </a:rPr>
              <a:t>Pribumi</a:t>
            </a:r>
            <a:r>
              <a:rPr lang="en-US" sz="3800" i="1" dirty="0">
                <a:effectLst/>
                <a:ea typeface="Times New Roman" panose="02020603050405020304" pitchFamily="18" charset="0"/>
                <a:cs typeface="Times New Roman" panose="02020603050405020304" pitchFamily="18" charset="0"/>
              </a:rPr>
              <a:t> Bersatu Malaysia (</a:t>
            </a:r>
            <a:r>
              <a:rPr lang="en-US" sz="3800" dirty="0">
                <a:effectLst/>
                <a:ea typeface="Times New Roman" panose="02020603050405020304" pitchFamily="18" charset="0"/>
                <a:cs typeface="Times New Roman" panose="02020603050405020304" pitchFamily="18" charset="0"/>
              </a:rPr>
              <a:t>BERSATU) </a:t>
            </a:r>
            <a:r>
              <a:rPr lang="en-US" sz="3800" i="1" dirty="0" err="1">
                <a:effectLst/>
                <a:ea typeface="Times New Roman" panose="02020603050405020304" pitchFamily="18" charset="0"/>
                <a:cs typeface="Times New Roman" panose="02020603050405020304" pitchFamily="18" charset="0"/>
              </a:rPr>
              <a:t>Barisan</a:t>
            </a:r>
            <a:r>
              <a:rPr lang="en-US" sz="3800" i="1" dirty="0">
                <a:effectLst/>
                <a:ea typeface="Times New Roman" panose="02020603050405020304" pitchFamily="18" charset="0"/>
                <a:cs typeface="Times New Roman" panose="02020603050405020304" pitchFamily="18" charset="0"/>
              </a:rPr>
              <a:t> Nasional </a:t>
            </a:r>
            <a:r>
              <a:rPr lang="en-US" sz="3800" dirty="0">
                <a:effectLst/>
                <a:ea typeface="Times New Roman" panose="02020603050405020304" pitchFamily="18" charset="0"/>
                <a:cs typeface="Times New Roman" panose="02020603050405020304" pitchFamily="18" charset="0"/>
              </a:rPr>
              <a:t>(BN), and</a:t>
            </a:r>
            <a:r>
              <a:rPr lang="en-US" sz="3800" i="1" dirty="0">
                <a:effectLst/>
                <a:ea typeface="Times New Roman" panose="02020603050405020304" pitchFamily="18" charset="0"/>
                <a:cs typeface="Times New Roman" panose="02020603050405020304" pitchFamily="18" charset="0"/>
              </a:rPr>
              <a:t> Parti Islam Se-Malaysia </a:t>
            </a:r>
            <a:r>
              <a:rPr lang="en-US" sz="3800" dirty="0">
                <a:effectLst/>
                <a:ea typeface="Times New Roman" panose="02020603050405020304" pitchFamily="18" charset="0"/>
                <a:cs typeface="Times New Roman" panose="02020603050405020304" pitchFamily="18" charset="0"/>
              </a:rPr>
              <a:t>(PAS). The coalition has the support of </a:t>
            </a:r>
            <a:r>
              <a:rPr lang="en-US" sz="3800" i="1" dirty="0" err="1">
                <a:effectLst/>
                <a:ea typeface="Times New Roman" panose="02020603050405020304" pitchFamily="18" charset="0"/>
                <a:cs typeface="Times New Roman" panose="02020603050405020304" pitchFamily="18" charset="0"/>
              </a:rPr>
              <a:t>Gabungan</a:t>
            </a:r>
            <a:r>
              <a:rPr lang="en-US" sz="3800" i="1" dirty="0">
                <a:effectLst/>
                <a:ea typeface="Times New Roman" panose="02020603050405020304" pitchFamily="18" charset="0"/>
                <a:cs typeface="Times New Roman" panose="02020603050405020304" pitchFamily="18" charset="0"/>
              </a:rPr>
              <a:t> Parti Sarawak (GPS), </a:t>
            </a:r>
            <a:r>
              <a:rPr lang="en-US" sz="3800" i="1" dirty="0" err="1">
                <a:effectLst/>
                <a:ea typeface="Times New Roman" panose="02020603050405020304" pitchFamily="18" charset="0"/>
                <a:cs typeface="Times New Roman" panose="02020603050405020304" pitchFamily="18" charset="0"/>
              </a:rPr>
              <a:t>Gabungan</a:t>
            </a:r>
            <a:r>
              <a:rPr lang="en-US" sz="3800" i="1" dirty="0">
                <a:effectLst/>
                <a:ea typeface="Times New Roman" panose="02020603050405020304" pitchFamily="18" charset="0"/>
                <a:cs typeface="Times New Roman" panose="02020603050405020304" pitchFamily="18" charset="0"/>
              </a:rPr>
              <a:t> Bersatu Sabah (GBS) </a:t>
            </a:r>
            <a:r>
              <a:rPr lang="en-US" sz="3800" dirty="0">
                <a:effectLst/>
                <a:ea typeface="Times New Roman" panose="02020603050405020304" pitchFamily="18" charset="0"/>
                <a:cs typeface="Times New Roman" panose="02020603050405020304" pitchFamily="18" charset="0"/>
              </a:rPr>
              <a:t>and two independent MPs</a:t>
            </a:r>
            <a:r>
              <a:rPr lang="en-US" sz="3800" i="1" dirty="0">
                <a:effectLst/>
                <a:ea typeface="Times New Roman" panose="02020603050405020304" pitchFamily="18" charset="0"/>
                <a:cs typeface="Times New Roman" panose="02020603050405020304" pitchFamily="18" charset="0"/>
              </a:rPr>
              <a:t>.</a:t>
            </a:r>
            <a:endParaRPr lang="en-MY" sz="3800" dirty="0">
              <a:effectLst/>
              <a:ea typeface="Times New Roman" panose="02020603050405020304" pitchFamily="18" charset="0"/>
              <a:cs typeface="Times New Roman" panose="02020603050405020304" pitchFamily="18" charset="0"/>
            </a:endParaRPr>
          </a:p>
          <a:p>
            <a:endParaRPr lang="en-US" sz="2400" dirty="0"/>
          </a:p>
        </p:txBody>
      </p:sp>
    </p:spTree>
    <p:extLst>
      <p:ext uri="{BB962C8B-B14F-4D97-AF65-F5344CB8AC3E}">
        <p14:creationId xmlns:p14="http://schemas.microsoft.com/office/powerpoint/2010/main" val="2350828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36" y="-11373"/>
            <a:ext cx="9142863" cy="6869373"/>
          </a:xfrm>
        </p:spPr>
      </p:pic>
    </p:spTree>
    <p:extLst>
      <p:ext uri="{BB962C8B-B14F-4D97-AF65-F5344CB8AC3E}">
        <p14:creationId xmlns:p14="http://schemas.microsoft.com/office/powerpoint/2010/main" val="22508140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92162"/>
          </a:xfrm>
        </p:spPr>
        <p:txBody>
          <a:bodyPr>
            <a:normAutofit/>
          </a:bodyPr>
          <a:lstStyle/>
          <a:p>
            <a:r>
              <a:rPr lang="en-US" sz="3200" b="1" dirty="0"/>
              <a:t>MALAYSIAN PARLIAMENT</a:t>
            </a:r>
          </a:p>
        </p:txBody>
      </p:sp>
      <p:sp>
        <p:nvSpPr>
          <p:cNvPr id="3" name="Content Placeholder 2"/>
          <p:cNvSpPr>
            <a:spLocks noGrp="1"/>
          </p:cNvSpPr>
          <p:nvPr>
            <p:ph idx="1"/>
          </p:nvPr>
        </p:nvSpPr>
        <p:spPr>
          <a:xfrm>
            <a:off x="152400" y="990600"/>
            <a:ext cx="8763000" cy="5791200"/>
          </a:xfrm>
        </p:spPr>
        <p:txBody>
          <a:bodyPr>
            <a:normAutofit/>
          </a:bodyPr>
          <a:lstStyle/>
          <a:p>
            <a:pPr marL="342900" lvl="0" indent="-342900" algn="just">
              <a:spcAft>
                <a:spcPts val="800"/>
              </a:spcAft>
              <a:buFont typeface="Arial" panose="020B0604020202020204" pitchFamily="34" charset="0"/>
              <a:buChar char="•"/>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Two houses/Bicameral</a:t>
            </a:r>
            <a:endParaRPr lang="en-MY"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spcAft>
                <a:spcPts val="800"/>
              </a:spcAft>
              <a:buFont typeface="Arial" panose="020B0604020202020204" pitchFamily="34" charset="0"/>
              <a:buChar char="–"/>
            </a:pP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Dewan Rakyat (House of Representatives)/Lower House</a:t>
            </a:r>
            <a:endParaRPr lang="en-MY" sz="24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1143000" lvl="2" indent="-228600" algn="just">
              <a:spcAft>
                <a:spcPts val="800"/>
              </a:spcAft>
              <a:buFont typeface="Arial" panose="020B0604020202020204" pitchFamily="34" charset="0"/>
              <a:buChar char="•"/>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All members are elected through </a:t>
            </a:r>
            <a:r>
              <a:rPr lang="en-US" b="1" dirty="0">
                <a:effectLst/>
                <a:latin typeface="Times New Roman" panose="02020603050405020304" pitchFamily="18" charset="0"/>
                <a:ea typeface="Times New Roman" panose="02020603050405020304" pitchFamily="18" charset="0"/>
                <a:cs typeface="Times New Roman" panose="02020603050405020304" pitchFamily="18" charset="0"/>
              </a:rPr>
              <a:t>elections</a:t>
            </a:r>
            <a:endParaRPr lang="en-MY"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1143000" lvl="2" indent="-228600" algn="just">
              <a:spcAft>
                <a:spcPts val="800"/>
              </a:spcAft>
              <a:buFont typeface="Arial" panose="020B0604020202020204" pitchFamily="34" charset="0"/>
              <a:buChar char="•"/>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222 members of Parliament (MPs) elected from single-member constituencies </a:t>
            </a:r>
            <a:endParaRPr lang="en-MY"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spcAft>
                <a:spcPts val="800"/>
              </a:spcAft>
              <a:buFont typeface="Arial" panose="020B0604020202020204" pitchFamily="34" charset="0"/>
              <a:buChar char="–"/>
            </a:pP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Dewan Negara (Senate)/Upper House</a:t>
            </a:r>
            <a:endParaRPr lang="en-MY" sz="24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1143000" lvl="2" indent="-228600" algn="just">
              <a:spcAft>
                <a:spcPts val="800"/>
              </a:spcAft>
              <a:buFont typeface="Arial" panose="020B0604020202020204" pitchFamily="34" charset="0"/>
              <a:buChar char="•"/>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70 members (Senators) – appointment by YDPA (with few criteria)</a:t>
            </a:r>
            <a:endParaRPr lang="en-MY"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1143000" lvl="2" indent="-228600" algn="just">
              <a:spcAft>
                <a:spcPts val="800"/>
              </a:spcAft>
              <a:buFont typeface="Arial" panose="020B0604020202020204" pitchFamily="34" charset="0"/>
              <a:buChar char="•"/>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2 representatives from each state assembly (elected) </a:t>
            </a:r>
            <a:endParaRPr lang="en-MY"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US" sz="2400" dirty="0"/>
          </a:p>
        </p:txBody>
      </p:sp>
    </p:spTree>
    <p:extLst>
      <p:ext uri="{BB962C8B-B14F-4D97-AF65-F5344CB8AC3E}">
        <p14:creationId xmlns:p14="http://schemas.microsoft.com/office/powerpoint/2010/main" val="31869400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90600" y="838200"/>
            <a:ext cx="7166108" cy="4525963"/>
          </a:xfrm>
        </p:spPr>
      </p:pic>
    </p:spTree>
    <p:extLst>
      <p:ext uri="{BB962C8B-B14F-4D97-AF65-F5344CB8AC3E}">
        <p14:creationId xmlns:p14="http://schemas.microsoft.com/office/powerpoint/2010/main" val="7173273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7214"/>
            <a:ext cx="8229600" cy="944562"/>
          </a:xfrm>
        </p:spPr>
        <p:txBody>
          <a:bodyPr>
            <a:normAutofit/>
          </a:bodyPr>
          <a:lstStyle/>
          <a:p>
            <a:r>
              <a:rPr lang="en-US" sz="3200" b="1" dirty="0"/>
              <a:t>ELECTION IN MALAYSIA</a:t>
            </a:r>
          </a:p>
        </p:txBody>
      </p:sp>
      <p:sp>
        <p:nvSpPr>
          <p:cNvPr id="3" name="Content Placeholder 2"/>
          <p:cNvSpPr>
            <a:spLocks noGrp="1"/>
          </p:cNvSpPr>
          <p:nvPr>
            <p:ph idx="1"/>
          </p:nvPr>
        </p:nvSpPr>
        <p:spPr>
          <a:xfrm>
            <a:off x="228600" y="838200"/>
            <a:ext cx="8686800" cy="5715000"/>
          </a:xfrm>
        </p:spPr>
        <p:txBody>
          <a:bodyPr>
            <a:normAutofit fontScale="85000" lnSpcReduction="20000"/>
          </a:bodyPr>
          <a:lstStyle/>
          <a:p>
            <a:pPr marL="342900" lvl="0" indent="-342900" algn="just">
              <a:spcAft>
                <a:spcPts val="800"/>
              </a:spcAft>
              <a:buFont typeface="Arial" panose="020B0604020202020204" pitchFamily="34" charset="0"/>
              <a:buChar char="•"/>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To vote legislative members/people representatives</a:t>
            </a:r>
            <a:endParaRPr lang="en-MY"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Election in Malaysia happens at two levels; federal and state level. </a:t>
            </a:r>
            <a:endParaRPr lang="en-MY"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Parliament (federal)</a:t>
            </a:r>
            <a:endParaRPr lang="en-MY" sz="24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spcAft>
                <a:spcPts val="800"/>
              </a:spcAft>
              <a:buFont typeface="Arial" panose="020B0604020202020204" pitchFamily="34" charset="0"/>
              <a:buChar char="•"/>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Legislative body at Federal level (House of Representatives or </a:t>
            </a:r>
            <a:r>
              <a:rPr lang="en-US" sz="2400" i="1" dirty="0">
                <a:effectLst/>
                <a:latin typeface="Times New Roman" panose="02020603050405020304" pitchFamily="18" charset="0"/>
                <a:ea typeface="Times New Roman" panose="02020603050405020304" pitchFamily="18" charset="0"/>
                <a:cs typeface="Times New Roman" panose="02020603050405020304" pitchFamily="18" charset="0"/>
              </a:rPr>
              <a:t>Dewan Rakyat)</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MY"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State assembly (state)</a:t>
            </a:r>
            <a:endParaRPr lang="en-MY" sz="24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spcAft>
                <a:spcPts val="800"/>
              </a:spcAft>
              <a:buFont typeface="Arial" panose="020B0604020202020204" pitchFamily="34" charset="0"/>
              <a:buChar char="•"/>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State legislative or </a:t>
            </a:r>
            <a:r>
              <a:rPr lang="en-US" sz="2400" i="1" dirty="0">
                <a:effectLst/>
                <a:latin typeface="Times New Roman" panose="02020603050405020304" pitchFamily="18" charset="0"/>
                <a:ea typeface="Times New Roman" panose="02020603050405020304" pitchFamily="18" charset="0"/>
                <a:cs typeface="Times New Roman" panose="02020603050405020304" pitchFamily="18" charset="0"/>
              </a:rPr>
              <a:t>Dewan </a:t>
            </a:r>
            <a:r>
              <a:rPr lang="en-US" sz="2400" i="1" dirty="0" err="1">
                <a:effectLst/>
                <a:latin typeface="Times New Roman" panose="02020603050405020304" pitchFamily="18" charset="0"/>
                <a:ea typeface="Times New Roman" panose="02020603050405020304" pitchFamily="18" charset="0"/>
                <a:cs typeface="Times New Roman" panose="02020603050405020304" pitchFamily="18" charset="0"/>
              </a:rPr>
              <a:t>Undangan</a:t>
            </a:r>
            <a:r>
              <a:rPr lang="en-US" sz="2400" i="1" dirty="0">
                <a:effectLst/>
                <a:latin typeface="Times New Roman" panose="02020603050405020304" pitchFamily="18" charset="0"/>
                <a:ea typeface="Times New Roman" panose="02020603050405020304" pitchFamily="18" charset="0"/>
                <a:cs typeface="Times New Roman" panose="02020603050405020304" pitchFamily="18" charset="0"/>
              </a:rPr>
              <a:t> Negeri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DUN)</a:t>
            </a:r>
            <a:endParaRPr lang="en-MY"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2400" b="1" u="sng" dirty="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cs typeface="Times New Roman" panose="02020603050405020304" pitchFamily="18" charset="0"/>
              </a:rPr>
              <a:t>General Election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held every </a:t>
            </a: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5 years</a:t>
            </a:r>
            <a:endParaRPr lang="en-MY" sz="24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1956 - The first General Election</a:t>
            </a:r>
            <a:endParaRPr lang="en-MY"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2018 – The 14</a:t>
            </a:r>
            <a:r>
              <a:rPr lang="en-US" sz="2400" baseline="30000" dirty="0">
                <a:effectLst/>
                <a:latin typeface="Times New Roman" panose="02020603050405020304" pitchFamily="18" charset="0"/>
                <a:ea typeface="Times New Roman" panose="02020603050405020304" pitchFamily="18" charset="0"/>
                <a:cs typeface="Times New Roman" panose="02020603050405020304" pitchFamily="18" charset="0"/>
              </a:rPr>
              <a:t>th</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General Election – important history of political parties in Malaysia – changed the legacy of BN’s rule</a:t>
            </a:r>
            <a:endParaRPr lang="en-MY"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People/Voters elect two candidates </a:t>
            </a:r>
            <a:endParaRPr lang="en-MY"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spcAft>
                <a:spcPts val="800"/>
              </a:spcAft>
              <a:buFont typeface="Arial" panose="020B0604020202020204" pitchFamily="34" charset="0"/>
              <a:buChar char="•"/>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Member House of Representatives (Federal level)</a:t>
            </a:r>
            <a:endParaRPr lang="en-MY"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spcAft>
                <a:spcPts val="800"/>
              </a:spcAft>
              <a:buFont typeface="Arial" panose="020B0604020202020204" pitchFamily="34" charset="0"/>
              <a:buChar char="•"/>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Member of State Assembly/DUN (State level)</a:t>
            </a:r>
            <a:endParaRPr lang="en-MY"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US" sz="2400" dirty="0"/>
          </a:p>
        </p:txBody>
      </p:sp>
    </p:spTree>
    <p:extLst>
      <p:ext uri="{BB962C8B-B14F-4D97-AF65-F5344CB8AC3E}">
        <p14:creationId xmlns:p14="http://schemas.microsoft.com/office/powerpoint/2010/main" val="1907690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B46215A6-EDD6-0532-352F-916ED3D51434}"/>
              </a:ext>
            </a:extLst>
          </p:cNvPr>
          <p:cNvSpPr>
            <a:spLocks noGrp="1"/>
          </p:cNvSpPr>
          <p:nvPr>
            <p:ph idx="1"/>
          </p:nvPr>
        </p:nvSpPr>
        <p:spPr>
          <a:xfrm>
            <a:off x="228600" y="304800"/>
            <a:ext cx="8763000" cy="6248400"/>
          </a:xfrm>
        </p:spPr>
        <p:txBody>
          <a:bodyPr>
            <a:normAutofit lnSpcReduction="10000"/>
          </a:bodyPr>
          <a:lstStyle/>
          <a:p>
            <a:pPr marL="342900" lvl="0" indent="-342900" algn="just">
              <a:spcAft>
                <a:spcPts val="800"/>
              </a:spcAft>
              <a:buFont typeface="Arial" panose="020B0604020202020204" pitchFamily="34" charset="0"/>
              <a:buChar char="•"/>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Members of </a:t>
            </a:r>
            <a:r>
              <a:rPr lang="en-US" sz="2000" i="1" dirty="0">
                <a:effectLst/>
                <a:latin typeface="Times New Roman" panose="02020603050405020304" pitchFamily="18" charset="0"/>
                <a:ea typeface="Times New Roman" panose="02020603050405020304" pitchFamily="18" charset="0"/>
                <a:cs typeface="Times New Roman" panose="02020603050405020304" pitchFamily="18" charset="0"/>
              </a:rPr>
              <a:t>Dewan Rakyat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and </a:t>
            </a:r>
            <a:r>
              <a:rPr lang="en-US" sz="2000" i="1" dirty="0">
                <a:effectLst/>
                <a:latin typeface="Times New Roman" panose="02020603050405020304" pitchFamily="18" charset="0"/>
                <a:ea typeface="Times New Roman" panose="02020603050405020304" pitchFamily="18" charset="0"/>
                <a:cs typeface="Times New Roman" panose="02020603050405020304" pitchFamily="18" charset="0"/>
              </a:rPr>
              <a:t>Dewan </a:t>
            </a:r>
            <a:r>
              <a:rPr lang="en-US" sz="2000" i="1" dirty="0" err="1">
                <a:effectLst/>
                <a:latin typeface="Times New Roman" panose="02020603050405020304" pitchFamily="18" charset="0"/>
                <a:ea typeface="Times New Roman" panose="02020603050405020304" pitchFamily="18" charset="0"/>
                <a:cs typeface="Times New Roman" panose="02020603050405020304" pitchFamily="18" charset="0"/>
              </a:rPr>
              <a:t>Undangan</a:t>
            </a:r>
            <a:r>
              <a:rPr lang="en-US" sz="2000" i="1" dirty="0">
                <a:effectLst/>
                <a:latin typeface="Times New Roman" panose="02020603050405020304" pitchFamily="18" charset="0"/>
                <a:ea typeface="Times New Roman" panose="02020603050405020304" pitchFamily="18" charset="0"/>
                <a:cs typeface="Times New Roman" panose="02020603050405020304" pitchFamily="18" charset="0"/>
              </a:rPr>
              <a:t> Negeri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are elected from single-member  constituencies drawn based on population using </a:t>
            </a:r>
            <a:r>
              <a:rPr lang="en-US" sz="2000" b="1" u="sng" dirty="0">
                <a:effectLst/>
                <a:latin typeface="Times New Roman" panose="02020603050405020304" pitchFamily="18" charset="0"/>
                <a:ea typeface="Times New Roman" panose="02020603050405020304" pitchFamily="18" charset="0"/>
                <a:cs typeface="Times New Roman" panose="02020603050405020304" pitchFamily="18" charset="0"/>
              </a:rPr>
              <a:t>the first-past-the post system</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MY"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Voting system = simple majority called </a:t>
            </a:r>
            <a:r>
              <a:rPr lang="en-US" sz="2000" b="1" u="sng" dirty="0">
                <a:effectLst/>
                <a:latin typeface="Times New Roman" panose="02020603050405020304" pitchFamily="18" charset="0"/>
                <a:ea typeface="Times New Roman" panose="02020603050405020304" pitchFamily="18" charset="0"/>
                <a:cs typeface="Times New Roman" panose="02020603050405020304" pitchFamily="18" charset="0"/>
              </a:rPr>
              <a:t>the first-past-the post system</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means single choice voting</a:t>
            </a:r>
            <a:endParaRPr lang="en-MY"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The single winner is the person with the most votes</a:t>
            </a:r>
            <a:endParaRPr lang="en-MY"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In addition to a general election, </a:t>
            </a:r>
            <a:r>
              <a:rPr lang="en-US" sz="2000" b="1" u="sng" dirty="0">
                <a:effectLst/>
                <a:latin typeface="Times New Roman" panose="02020603050405020304" pitchFamily="18" charset="0"/>
                <a:ea typeface="Times New Roman" panose="02020603050405020304" pitchFamily="18" charset="0"/>
                <a:cs typeface="Times New Roman" panose="02020603050405020304" pitchFamily="18" charset="0"/>
              </a:rPr>
              <a:t>a by-election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may be held  when a particular seat in the Dewan Rakyat becomes vacant due to </a:t>
            </a:r>
            <a:endParaRPr lang="en-MY"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spcAft>
                <a:spcPts val="800"/>
              </a:spcAft>
              <a:buFont typeface="Arial" panose="020B0604020202020204" pitchFamily="34" charset="0"/>
              <a:buChar char="•"/>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death of an MP</a:t>
            </a:r>
            <a:endParaRPr lang="en-MY"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spcAft>
                <a:spcPts val="800"/>
              </a:spcAft>
              <a:buFont typeface="Arial" panose="020B0604020202020204" pitchFamily="34" charset="0"/>
              <a:buChar char="•"/>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an MP is disqualified from being a member of the Dewan Rakyat</a:t>
            </a:r>
            <a:endParaRPr lang="en-MY"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spcAft>
                <a:spcPts val="800"/>
              </a:spcAft>
              <a:buFont typeface="Arial" panose="020B0604020202020204" pitchFamily="34" charset="0"/>
              <a:buChar char="•"/>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a seat is declared vacant because the MP has been absent from every sitting of the Dewan Rakyat for a period of six month without leave of the Dewan Rakyat</a:t>
            </a:r>
            <a:endParaRPr lang="en-MY"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spcAft>
                <a:spcPts val="800"/>
              </a:spcAft>
              <a:buFont typeface="Arial" panose="020B0604020202020204" pitchFamily="34" charset="0"/>
              <a:buChar char="•"/>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the members of the Dewan Rakyat have decided to declare the seat vacant</a:t>
            </a:r>
            <a:endParaRPr lang="en-MY"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spcAft>
                <a:spcPts val="800"/>
              </a:spcAft>
              <a:buFont typeface="Arial" panose="020B0604020202020204" pitchFamily="34" charset="0"/>
              <a:buChar char="•"/>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the exception is if the vacancy occurs when the tenure for the current Parliament or state assembly is less than two years, where the seat is simply left vacant until the next general election.</a:t>
            </a:r>
            <a:endParaRPr lang="en-MY"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MY" sz="2400" dirty="0"/>
          </a:p>
        </p:txBody>
      </p:sp>
    </p:spTree>
    <p:extLst>
      <p:ext uri="{BB962C8B-B14F-4D97-AF65-F5344CB8AC3E}">
        <p14:creationId xmlns:p14="http://schemas.microsoft.com/office/powerpoint/2010/main" val="14954952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C8B8C-42DE-45DF-9373-A1A06FE2E2CE}"/>
              </a:ext>
            </a:extLst>
          </p:cNvPr>
          <p:cNvSpPr>
            <a:spLocks noGrp="1"/>
          </p:cNvSpPr>
          <p:nvPr>
            <p:ph type="title"/>
          </p:nvPr>
        </p:nvSpPr>
        <p:spPr>
          <a:xfrm>
            <a:off x="228600" y="452718"/>
            <a:ext cx="7309526" cy="1400530"/>
          </a:xfrm>
        </p:spPr>
        <p:txBody>
          <a:bodyPr/>
          <a:lstStyle/>
          <a:p>
            <a:pPr algn="ctr"/>
            <a:r>
              <a:rPr lang="en-US" b="1" dirty="0"/>
              <a:t>WHO CAN VOTE? (Eligibility to vote)</a:t>
            </a:r>
            <a:endParaRPr lang="en-MY" b="1" dirty="0"/>
          </a:p>
        </p:txBody>
      </p:sp>
      <p:sp>
        <p:nvSpPr>
          <p:cNvPr id="3" name="Content Placeholder 2">
            <a:extLst>
              <a:ext uri="{FF2B5EF4-FFF2-40B4-BE49-F238E27FC236}">
                <a16:creationId xmlns:a16="http://schemas.microsoft.com/office/drawing/2014/main" id="{43A26656-8530-45DF-BF64-5C51407EB3BF}"/>
              </a:ext>
            </a:extLst>
          </p:cNvPr>
          <p:cNvSpPr>
            <a:spLocks noGrp="1"/>
          </p:cNvSpPr>
          <p:nvPr>
            <p:ph idx="1"/>
          </p:nvPr>
        </p:nvSpPr>
        <p:spPr>
          <a:xfrm>
            <a:off x="228600" y="1295400"/>
            <a:ext cx="8686800" cy="5257799"/>
          </a:xfrm>
        </p:spPr>
        <p:txBody>
          <a:bodyPr>
            <a:normAutofit/>
          </a:bodyPr>
          <a:lstStyle/>
          <a:p>
            <a:pPr algn="just" eaLnBrk="1" hangingPunct="1">
              <a:lnSpc>
                <a:spcPct val="80000"/>
              </a:lnSpc>
              <a:spcBef>
                <a:spcPct val="0"/>
              </a:spcBef>
            </a:pPr>
            <a:r>
              <a:rPr lang="en-US" sz="2700" dirty="0">
                <a:latin typeface="Calibri" pitchFamily="34" charset="0"/>
                <a:ea typeface="ＭＳ Ｐゴシック" pitchFamily="34" charset="-128"/>
              </a:rPr>
              <a:t>A </a:t>
            </a:r>
            <a:r>
              <a:rPr lang="en-US" sz="2700" b="1" dirty="0">
                <a:latin typeface="Calibri" pitchFamily="34" charset="0"/>
                <a:ea typeface="ＭＳ Ｐゴシック" pitchFamily="34" charset="-128"/>
              </a:rPr>
              <a:t>voter</a:t>
            </a:r>
            <a:r>
              <a:rPr lang="en-US" sz="2700" dirty="0">
                <a:latin typeface="Calibri" pitchFamily="34" charset="0"/>
                <a:ea typeface="ＭＳ Ｐゴシック" pitchFamily="34" charset="-128"/>
              </a:rPr>
              <a:t> must register with the EC</a:t>
            </a:r>
          </a:p>
          <a:p>
            <a:pPr algn="just" eaLnBrk="1" hangingPunct="1">
              <a:lnSpc>
                <a:spcPct val="80000"/>
              </a:lnSpc>
              <a:spcBef>
                <a:spcPct val="0"/>
              </a:spcBef>
            </a:pPr>
            <a:r>
              <a:rPr lang="en-US" sz="2700" dirty="0">
                <a:latin typeface="Calibri" pitchFamily="34" charset="0"/>
                <a:ea typeface="ＭＳ Ｐゴシック" pitchFamily="34" charset="-128"/>
              </a:rPr>
              <a:t>Eligibility:</a:t>
            </a:r>
          </a:p>
          <a:p>
            <a:pPr marL="661988" lvl="1" indent="-457200" algn="just">
              <a:lnSpc>
                <a:spcPct val="80000"/>
              </a:lnSpc>
              <a:spcBef>
                <a:spcPct val="0"/>
              </a:spcBef>
              <a:buFont typeface="Wingdings" pitchFamily="2" charset="2"/>
              <a:buAutoNum type="arabicPeriod"/>
            </a:pPr>
            <a:r>
              <a:rPr lang="en-US" sz="2700" dirty="0">
                <a:latin typeface="Calibri" pitchFamily="34" charset="0"/>
                <a:ea typeface="ＭＳ Ｐゴシック" pitchFamily="34" charset="-128"/>
              </a:rPr>
              <a:t>Malaysian citizen</a:t>
            </a:r>
          </a:p>
          <a:p>
            <a:pPr marL="661988" lvl="1" indent="-457200" algn="just">
              <a:lnSpc>
                <a:spcPct val="80000"/>
              </a:lnSpc>
              <a:spcBef>
                <a:spcPct val="0"/>
              </a:spcBef>
              <a:buFont typeface="Wingdings" pitchFamily="2" charset="2"/>
              <a:buAutoNum type="arabicPeriod"/>
            </a:pPr>
            <a:r>
              <a:rPr lang="en-US" sz="2700" dirty="0">
                <a:latin typeface="Calibri" pitchFamily="34" charset="0"/>
                <a:ea typeface="ＭＳ Ｐゴシック" pitchFamily="34" charset="-128"/>
              </a:rPr>
              <a:t>No less than 18 years old on date of eligibility</a:t>
            </a:r>
          </a:p>
          <a:p>
            <a:pPr marL="661988" lvl="1" indent="-457200" algn="just">
              <a:lnSpc>
                <a:spcPct val="80000"/>
              </a:lnSpc>
              <a:spcBef>
                <a:spcPct val="0"/>
              </a:spcBef>
              <a:buFont typeface="Wingdings" pitchFamily="2" charset="2"/>
              <a:buAutoNum type="arabicPeriod"/>
            </a:pPr>
            <a:r>
              <a:rPr lang="en-US" sz="2700" dirty="0">
                <a:latin typeface="Calibri" pitchFamily="34" charset="0"/>
                <a:ea typeface="ＭＳ Ｐゴシック" pitchFamily="34" charset="-128"/>
              </a:rPr>
              <a:t>Resident of any election constituency in Malaysia</a:t>
            </a:r>
          </a:p>
          <a:p>
            <a:pPr marL="661988" lvl="1" indent="-457200" algn="just">
              <a:lnSpc>
                <a:spcPct val="80000"/>
              </a:lnSpc>
              <a:spcBef>
                <a:spcPct val="0"/>
              </a:spcBef>
              <a:buFont typeface="Wingdings" pitchFamily="2" charset="2"/>
              <a:buAutoNum type="arabicPeriod"/>
            </a:pPr>
            <a:r>
              <a:rPr lang="en-US" sz="2700" dirty="0">
                <a:latin typeface="Calibri" pitchFamily="34" charset="0"/>
                <a:ea typeface="ＭＳ Ｐゴシック" pitchFamily="34" charset="-128"/>
              </a:rPr>
              <a:t>Not disqualified</a:t>
            </a:r>
          </a:p>
          <a:p>
            <a:pPr marL="361950" indent="-457200" algn="just">
              <a:lnSpc>
                <a:spcPct val="80000"/>
              </a:lnSpc>
              <a:spcBef>
                <a:spcPct val="0"/>
              </a:spcBef>
            </a:pPr>
            <a:endParaRPr lang="en-US" sz="2850" b="1" u="sng" dirty="0">
              <a:latin typeface="Calibri" pitchFamily="34" charset="0"/>
              <a:ea typeface="ＭＳ Ｐゴシック" pitchFamily="34" charset="-128"/>
            </a:endParaRPr>
          </a:p>
          <a:p>
            <a:pPr marL="361950" indent="-457200" algn="just">
              <a:lnSpc>
                <a:spcPct val="80000"/>
              </a:lnSpc>
              <a:spcBef>
                <a:spcPct val="0"/>
              </a:spcBef>
            </a:pPr>
            <a:r>
              <a:rPr lang="en-US" sz="3000" dirty="0">
                <a:latin typeface="Calibri" pitchFamily="34" charset="0"/>
                <a:ea typeface="ＭＳ Ｐゴシック" pitchFamily="34" charset="-128"/>
              </a:rPr>
              <a:t>A citizen will disqualified as a voter if</a:t>
            </a:r>
          </a:p>
          <a:p>
            <a:pPr marL="719138" lvl="1" indent="-514350" algn="just">
              <a:lnSpc>
                <a:spcPct val="80000"/>
              </a:lnSpc>
              <a:spcBef>
                <a:spcPct val="0"/>
              </a:spcBef>
              <a:buFont typeface="+mj-lt"/>
              <a:buAutoNum type="arabicPeriod"/>
            </a:pPr>
            <a:r>
              <a:rPr lang="en-US" sz="2700" dirty="0">
                <a:latin typeface="Calibri" pitchFamily="34" charset="0"/>
                <a:ea typeface="ＭＳ Ｐゴシック" pitchFamily="34" charset="-128"/>
              </a:rPr>
              <a:t>Detained as a person of unsound mind</a:t>
            </a:r>
          </a:p>
          <a:p>
            <a:pPr marL="719138" lvl="1" indent="-514350" algn="just">
              <a:lnSpc>
                <a:spcPct val="80000"/>
              </a:lnSpc>
              <a:spcBef>
                <a:spcPct val="0"/>
              </a:spcBef>
              <a:buFont typeface="+mj-lt"/>
              <a:buAutoNum type="arabicPeriod"/>
            </a:pPr>
            <a:r>
              <a:rPr lang="en-US" sz="2700" dirty="0">
                <a:latin typeface="Calibri" pitchFamily="34" charset="0"/>
                <a:ea typeface="ＭＳ Ｐゴシック" pitchFamily="34" charset="-128"/>
              </a:rPr>
              <a:t>Serving a sentence in prison</a:t>
            </a:r>
          </a:p>
          <a:p>
            <a:pPr marL="719138" lvl="1" indent="-514350" algn="just">
              <a:lnSpc>
                <a:spcPct val="80000"/>
              </a:lnSpc>
              <a:spcBef>
                <a:spcPct val="0"/>
              </a:spcBef>
              <a:buFont typeface="+mj-lt"/>
              <a:buAutoNum type="arabicPeriod"/>
            </a:pPr>
            <a:r>
              <a:rPr lang="en-US" sz="2700" dirty="0">
                <a:latin typeface="Calibri" pitchFamily="34" charset="0"/>
                <a:ea typeface="ＭＳ Ｐゴシック" pitchFamily="34" charset="-128"/>
              </a:rPr>
              <a:t>Convicted of an offence and sentenced to death or imprisonment for a term exceeding 12 months and that the person is still serving his/her punishment on the qualifying date</a:t>
            </a:r>
          </a:p>
          <a:p>
            <a:pPr marL="361950" indent="-457200" algn="just">
              <a:lnSpc>
                <a:spcPct val="80000"/>
              </a:lnSpc>
              <a:spcBef>
                <a:spcPct val="0"/>
              </a:spcBef>
            </a:pPr>
            <a:endParaRPr lang="en-US" sz="2850" b="1" u="sng" dirty="0">
              <a:latin typeface="Calibri" pitchFamily="34" charset="0"/>
              <a:ea typeface="ＭＳ Ｐゴシック" pitchFamily="34" charset="-128"/>
            </a:endParaRPr>
          </a:p>
          <a:p>
            <a:pPr marL="0" indent="0">
              <a:buNone/>
            </a:pPr>
            <a:endParaRPr lang="en-MY" dirty="0"/>
          </a:p>
        </p:txBody>
      </p:sp>
    </p:spTree>
    <p:extLst>
      <p:ext uri="{BB962C8B-B14F-4D97-AF65-F5344CB8AC3E}">
        <p14:creationId xmlns:p14="http://schemas.microsoft.com/office/powerpoint/2010/main" val="31573410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E49B6-CBED-432F-A605-265F8EA285C3}"/>
              </a:ext>
            </a:extLst>
          </p:cNvPr>
          <p:cNvSpPr>
            <a:spLocks noGrp="1"/>
          </p:cNvSpPr>
          <p:nvPr>
            <p:ph type="title"/>
          </p:nvPr>
        </p:nvSpPr>
        <p:spPr>
          <a:xfrm>
            <a:off x="228600" y="452718"/>
            <a:ext cx="7309526" cy="1400530"/>
          </a:xfrm>
        </p:spPr>
        <p:txBody>
          <a:bodyPr/>
          <a:lstStyle/>
          <a:p>
            <a:pPr algn="ctr"/>
            <a:r>
              <a:rPr lang="en-US" sz="3200" b="1" dirty="0"/>
              <a:t>WHO CAN BE A CANDIDATE? (Eligibility to become a candidate)</a:t>
            </a:r>
            <a:endParaRPr lang="en-MY" sz="3200" b="1" dirty="0"/>
          </a:p>
        </p:txBody>
      </p:sp>
      <p:sp>
        <p:nvSpPr>
          <p:cNvPr id="3" name="Content Placeholder 2">
            <a:extLst>
              <a:ext uri="{FF2B5EF4-FFF2-40B4-BE49-F238E27FC236}">
                <a16:creationId xmlns:a16="http://schemas.microsoft.com/office/drawing/2014/main" id="{914C7A96-5ADD-412B-9F0B-1C45B30E39F4}"/>
              </a:ext>
            </a:extLst>
          </p:cNvPr>
          <p:cNvSpPr>
            <a:spLocks noGrp="1"/>
          </p:cNvSpPr>
          <p:nvPr>
            <p:ph idx="1"/>
          </p:nvPr>
        </p:nvSpPr>
        <p:spPr>
          <a:xfrm>
            <a:off x="227864" y="1752601"/>
            <a:ext cx="8763736" cy="4800600"/>
          </a:xfrm>
        </p:spPr>
        <p:txBody>
          <a:bodyPr>
            <a:normAutofit/>
          </a:bodyPr>
          <a:lstStyle/>
          <a:p>
            <a:pPr marL="342900" lvl="0" indent="-342900" algn="just">
              <a:spcAft>
                <a:spcPts val="800"/>
              </a:spcAft>
              <a:buFont typeface="Arial" panose="020B0604020202020204" pitchFamily="34" charset="0"/>
              <a:buChar char="●"/>
            </a:pPr>
            <a:r>
              <a:rPr lang="en-US" sz="2400" dirty="0">
                <a:effectLst/>
                <a:latin typeface="Calibri" panose="020F0502020204030204" pitchFamily="34" charset="0"/>
                <a:ea typeface="Noto Sans Symbols"/>
                <a:cs typeface="Calibri" panose="020F0502020204030204" pitchFamily="34" charset="0"/>
              </a:rPr>
              <a:t>Must be a Malaysian citizen</a:t>
            </a:r>
            <a:endParaRPr lang="en-MY" sz="2400" dirty="0">
              <a:effectLst/>
              <a:latin typeface="Calibri" panose="020F0502020204030204" pitchFamily="34" charset="0"/>
              <a:ea typeface="Noto Sans Symbols"/>
              <a:cs typeface="Calibri" panose="020F0502020204030204" pitchFamily="34" charset="0"/>
            </a:endParaRPr>
          </a:p>
          <a:p>
            <a:pPr marL="342900" lvl="0" indent="-342900" algn="just">
              <a:spcAft>
                <a:spcPts val="800"/>
              </a:spcAft>
              <a:buFont typeface="Arial" panose="020B0604020202020204" pitchFamily="34" charset="0"/>
              <a:buChar char="●"/>
            </a:pPr>
            <a:r>
              <a:rPr lang="en-US" sz="2400" dirty="0">
                <a:effectLst/>
                <a:latin typeface="Calibri" panose="020F0502020204030204" pitchFamily="34" charset="0"/>
                <a:ea typeface="Noto Sans Symbols"/>
                <a:cs typeface="Calibri" panose="020F0502020204030204" pitchFamily="34" charset="0"/>
              </a:rPr>
              <a:t>A registered voter and resides in a constituency</a:t>
            </a:r>
            <a:endParaRPr lang="en-MY" sz="2400" dirty="0">
              <a:effectLst/>
              <a:latin typeface="Calibri" panose="020F0502020204030204" pitchFamily="34" charset="0"/>
              <a:ea typeface="Noto Sans Symbols"/>
              <a:cs typeface="Calibri" panose="020F0502020204030204" pitchFamily="34" charset="0"/>
            </a:endParaRPr>
          </a:p>
          <a:p>
            <a:pPr marL="342900" lvl="0" indent="-342900" algn="just">
              <a:spcAft>
                <a:spcPts val="800"/>
              </a:spcAft>
              <a:buFont typeface="Arial" panose="020B0604020202020204" pitchFamily="34" charset="0"/>
              <a:buChar char="●"/>
            </a:pPr>
            <a:r>
              <a:rPr lang="en-US" sz="2400" u="sng" dirty="0">
                <a:effectLst/>
                <a:latin typeface="Calibri" panose="020F0502020204030204" pitchFamily="34" charset="0"/>
                <a:ea typeface="Noto Sans Symbols"/>
                <a:cs typeface="Calibri" panose="020F0502020204030204" pitchFamily="34" charset="0"/>
              </a:rPr>
              <a:t>21 years old </a:t>
            </a:r>
            <a:r>
              <a:rPr lang="en-US" sz="2400" dirty="0">
                <a:effectLst/>
                <a:latin typeface="Calibri" panose="020F0502020204030204" pitchFamily="34" charset="0"/>
                <a:ea typeface="Noto Sans Symbols"/>
                <a:cs typeface="Calibri" panose="020F0502020204030204" pitchFamily="34" charset="0"/>
              </a:rPr>
              <a:t>and above</a:t>
            </a:r>
            <a:endParaRPr lang="en-MY" sz="2400" dirty="0">
              <a:effectLst/>
              <a:latin typeface="Calibri" panose="020F0502020204030204" pitchFamily="34" charset="0"/>
              <a:ea typeface="Noto Sans Symbols"/>
              <a:cs typeface="Calibri" panose="020F0502020204030204" pitchFamily="34" charset="0"/>
            </a:endParaRPr>
          </a:p>
          <a:p>
            <a:pPr marL="342900" lvl="0" indent="-342900" algn="just">
              <a:spcAft>
                <a:spcPts val="800"/>
              </a:spcAft>
              <a:buFont typeface="Arial" panose="020B0604020202020204" pitchFamily="34" charset="0"/>
              <a:buChar char="●"/>
            </a:pPr>
            <a:r>
              <a:rPr lang="en-US" sz="2400" dirty="0">
                <a:effectLst/>
                <a:latin typeface="Calibri" panose="020F0502020204030204" pitchFamily="34" charset="0"/>
                <a:ea typeface="Noto Sans Symbols"/>
                <a:cs typeface="Calibri" panose="020F0502020204030204" pitchFamily="34" charset="0"/>
              </a:rPr>
              <a:t>Mentally fit</a:t>
            </a:r>
            <a:endParaRPr lang="en-MY" sz="2400" dirty="0">
              <a:effectLst/>
              <a:latin typeface="Calibri" panose="020F0502020204030204" pitchFamily="34" charset="0"/>
              <a:ea typeface="Noto Sans Symbols"/>
              <a:cs typeface="Calibri" panose="020F0502020204030204" pitchFamily="34" charset="0"/>
            </a:endParaRPr>
          </a:p>
          <a:p>
            <a:pPr marL="342900" lvl="0" indent="-342900" algn="just">
              <a:spcAft>
                <a:spcPts val="800"/>
              </a:spcAft>
              <a:buFont typeface="Arial" panose="020B0604020202020204" pitchFamily="34" charset="0"/>
              <a:buChar char="●"/>
            </a:pPr>
            <a:r>
              <a:rPr lang="en-US" sz="2400" dirty="0">
                <a:effectLst/>
                <a:latin typeface="Calibri" panose="020F0502020204030204" pitchFamily="34" charset="0"/>
                <a:ea typeface="Noto Sans Symbols"/>
                <a:cs typeface="Calibri" panose="020F0502020204030204" pitchFamily="34" charset="0"/>
              </a:rPr>
              <a:t>Free from bankruptcy</a:t>
            </a:r>
            <a:endParaRPr lang="en-MY" sz="2400" dirty="0">
              <a:effectLst/>
              <a:latin typeface="Calibri" panose="020F0502020204030204" pitchFamily="34" charset="0"/>
              <a:ea typeface="Noto Sans Symbols"/>
              <a:cs typeface="Calibri" panose="020F0502020204030204" pitchFamily="34" charset="0"/>
            </a:endParaRPr>
          </a:p>
          <a:p>
            <a:pPr marL="342900" lvl="0" indent="-342900" algn="just">
              <a:spcAft>
                <a:spcPts val="800"/>
              </a:spcAft>
              <a:buFont typeface="Arial" panose="020B0604020202020204" pitchFamily="34" charset="0"/>
              <a:buChar char="●"/>
            </a:pPr>
            <a:r>
              <a:rPr lang="en-US" sz="2400" dirty="0">
                <a:effectLst/>
                <a:latin typeface="Calibri" panose="020F0502020204030204" pitchFamily="34" charset="0"/>
                <a:ea typeface="Noto Sans Symbols"/>
                <a:cs typeface="Calibri" panose="020F0502020204030204" pitchFamily="34" charset="0"/>
              </a:rPr>
              <a:t>Cannot hold any position in civil service/not a worker in public services</a:t>
            </a:r>
            <a:endParaRPr lang="en-MY" sz="2400" dirty="0">
              <a:effectLst/>
              <a:latin typeface="Calibri" panose="020F0502020204030204" pitchFamily="34" charset="0"/>
              <a:ea typeface="Noto Sans Symbols"/>
              <a:cs typeface="Calibri" panose="020F0502020204030204" pitchFamily="34" charset="0"/>
            </a:endParaRPr>
          </a:p>
          <a:p>
            <a:pPr marL="342900" lvl="0" indent="-342900" algn="just">
              <a:spcAft>
                <a:spcPts val="800"/>
              </a:spcAft>
              <a:buFont typeface="Arial" panose="020B0604020202020204" pitchFamily="34" charset="0"/>
              <a:buChar char="●"/>
            </a:pPr>
            <a:r>
              <a:rPr lang="en-US" sz="2400" dirty="0">
                <a:effectLst/>
                <a:latin typeface="Calibri" panose="020F0502020204030204" pitchFamily="34" charset="0"/>
                <a:ea typeface="Noto Sans Symbols"/>
                <a:cs typeface="Calibri" panose="020F0502020204030204" pitchFamily="34" charset="0"/>
              </a:rPr>
              <a:t>Not convicted by the courts for any offences of/more 12 months prison and RM2000 fine within the last five years </a:t>
            </a:r>
            <a:endParaRPr lang="en-MY" sz="2400" dirty="0">
              <a:effectLst/>
              <a:latin typeface="Calibri" panose="020F0502020204030204" pitchFamily="34" charset="0"/>
              <a:ea typeface="Noto Sans Symbols"/>
              <a:cs typeface="Calibri" panose="020F0502020204030204" pitchFamily="34" charset="0"/>
            </a:endParaRPr>
          </a:p>
          <a:p>
            <a:pPr marL="0" indent="0">
              <a:buNone/>
            </a:pPr>
            <a:endParaRPr lang="en-MY" dirty="0"/>
          </a:p>
        </p:txBody>
      </p:sp>
    </p:spTree>
    <p:extLst>
      <p:ext uri="{BB962C8B-B14F-4D97-AF65-F5344CB8AC3E}">
        <p14:creationId xmlns:p14="http://schemas.microsoft.com/office/powerpoint/2010/main" val="15550653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D7AA6-FB52-4C4F-9559-6F72ABDE2700}"/>
              </a:ext>
            </a:extLst>
          </p:cNvPr>
          <p:cNvSpPr>
            <a:spLocks noGrp="1"/>
          </p:cNvSpPr>
          <p:nvPr>
            <p:ph type="title"/>
          </p:nvPr>
        </p:nvSpPr>
        <p:spPr>
          <a:xfrm>
            <a:off x="762000" y="76200"/>
            <a:ext cx="7053542" cy="766482"/>
          </a:xfrm>
        </p:spPr>
        <p:txBody>
          <a:bodyPr/>
          <a:lstStyle/>
          <a:p>
            <a:r>
              <a:rPr lang="en-MY" sz="4000" b="1" dirty="0"/>
              <a:t>Election Commission (EC)</a:t>
            </a:r>
          </a:p>
        </p:txBody>
      </p:sp>
      <p:sp>
        <p:nvSpPr>
          <p:cNvPr id="3" name="Content Placeholder 2">
            <a:extLst>
              <a:ext uri="{FF2B5EF4-FFF2-40B4-BE49-F238E27FC236}">
                <a16:creationId xmlns:a16="http://schemas.microsoft.com/office/drawing/2014/main" id="{3AB5A741-A473-4191-98A3-6D9DD96CA3D7}"/>
              </a:ext>
            </a:extLst>
          </p:cNvPr>
          <p:cNvSpPr>
            <a:spLocks noGrp="1"/>
          </p:cNvSpPr>
          <p:nvPr>
            <p:ph idx="1"/>
          </p:nvPr>
        </p:nvSpPr>
        <p:spPr>
          <a:xfrm>
            <a:off x="228600" y="990600"/>
            <a:ext cx="8686800" cy="5638800"/>
          </a:xfrm>
        </p:spPr>
        <p:txBody>
          <a:bodyPr>
            <a:normAutofit fontScale="85000" lnSpcReduction="10000"/>
          </a:bodyPr>
          <a:lstStyle/>
          <a:p>
            <a:pPr marL="342900" lvl="0" indent="-342900" algn="just">
              <a:spcAft>
                <a:spcPts val="800"/>
              </a:spcAft>
              <a:buFont typeface="Arial" panose="020B0604020202020204" pitchFamily="34" charset="0"/>
              <a:buChar char="•"/>
            </a:pP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An independent and non-aligned body </a:t>
            </a:r>
            <a:r>
              <a:rPr lang="en-US" sz="2200" b="1" u="sng" dirty="0">
                <a:effectLst/>
                <a:latin typeface="Times New Roman" panose="02020603050405020304" pitchFamily="18" charset="0"/>
                <a:ea typeface="Times New Roman" panose="02020603050405020304" pitchFamily="18" charset="0"/>
                <a:cs typeface="Times New Roman" panose="02020603050405020304" pitchFamily="18" charset="0"/>
              </a:rPr>
              <a:t>administer</a:t>
            </a: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 the election process in Malaysia</a:t>
            </a:r>
            <a:endParaRPr lang="en-MY" sz="2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Functions :</a:t>
            </a:r>
            <a:endParaRPr lang="en-MY" sz="2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spcAft>
                <a:spcPts val="800"/>
              </a:spcAft>
              <a:buFont typeface="Arial" panose="020B0604020202020204" pitchFamily="34" charset="0"/>
              <a:buChar char="–"/>
            </a:pP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regulating and conducting elections in Malaysia. </a:t>
            </a:r>
            <a:endParaRPr lang="en-MY" sz="2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spcAft>
                <a:spcPts val="800"/>
              </a:spcAft>
              <a:buFont typeface="Arial" panose="020B0604020202020204" pitchFamily="34" charset="0"/>
              <a:buChar char="–"/>
            </a:pP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reviewing the boundaries of parliamentary and state constituencies, </a:t>
            </a:r>
            <a:endParaRPr lang="en-MY" sz="2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spcAft>
                <a:spcPts val="800"/>
              </a:spcAft>
              <a:buFont typeface="Arial" panose="020B0604020202020204" pitchFamily="34" charset="0"/>
              <a:buChar char="–"/>
            </a:pP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holding by-elections and carrying out registration exercises</a:t>
            </a:r>
            <a:endParaRPr lang="en-MY" sz="2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spcAft>
                <a:spcPts val="800"/>
              </a:spcAft>
              <a:buFont typeface="Arial" panose="020B0604020202020204" pitchFamily="34" charset="0"/>
              <a:buChar char="–"/>
            </a:pP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collects information on newly developed areas to ensure a fair representation of voters in each constituency, </a:t>
            </a:r>
            <a:endParaRPr lang="en-MY" sz="2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spcAft>
                <a:spcPts val="800"/>
              </a:spcAft>
              <a:buFont typeface="Arial" panose="020B0604020202020204" pitchFamily="34" charset="0"/>
              <a:buChar char="–"/>
            </a:pP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promotes awareness on how important it is to vote and revise the electoral roll </a:t>
            </a:r>
            <a:endParaRPr lang="en-MY" sz="2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Establishment under Article 114 of the Constitution of Malaysia. </a:t>
            </a:r>
            <a:endParaRPr lang="en-MY" sz="2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Falls under the purview of the Prime Minister's Department</a:t>
            </a:r>
            <a:endParaRPr lang="en-MY" sz="2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7 Members - a chairman, a deputy chairman and five members</a:t>
            </a:r>
            <a:endParaRPr lang="en-MY" sz="2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Members are appointed by the Yang di-</a:t>
            </a:r>
            <a:r>
              <a:rPr lang="en-US" sz="2200" dirty="0" err="1">
                <a:effectLst/>
                <a:latin typeface="Times New Roman" panose="02020603050405020304" pitchFamily="18" charset="0"/>
                <a:ea typeface="Times New Roman" panose="02020603050405020304" pitchFamily="18" charset="0"/>
                <a:cs typeface="Times New Roman" panose="02020603050405020304" pitchFamily="18" charset="0"/>
              </a:rPr>
              <a:t>Pertuan</a:t>
            </a: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200" dirty="0" err="1">
                <a:effectLst/>
                <a:latin typeface="Times New Roman" panose="02020603050405020304" pitchFamily="18" charset="0"/>
                <a:ea typeface="Times New Roman" panose="02020603050405020304" pitchFamily="18" charset="0"/>
                <a:cs typeface="Times New Roman" panose="02020603050405020304" pitchFamily="18" charset="0"/>
              </a:rPr>
              <a:t>Agong</a:t>
            </a: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 after consulting the Conference of Rulers.</a:t>
            </a:r>
            <a:endParaRPr lang="en-MY" sz="2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MY" dirty="0"/>
          </a:p>
        </p:txBody>
      </p:sp>
    </p:spTree>
    <p:extLst>
      <p:ext uri="{BB962C8B-B14F-4D97-AF65-F5344CB8AC3E}">
        <p14:creationId xmlns:p14="http://schemas.microsoft.com/office/powerpoint/2010/main" val="31809234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52F7406-D3E0-B2EC-5758-95E7CAB14A36}"/>
              </a:ext>
            </a:extLst>
          </p:cNvPr>
          <p:cNvPicPr>
            <a:picLocks noGrp="1" noChangeAspect="1"/>
          </p:cNvPicPr>
          <p:nvPr>
            <p:ph idx="1"/>
          </p:nvPr>
        </p:nvPicPr>
        <p:blipFill>
          <a:blip r:embed="rId2"/>
          <a:stretch>
            <a:fillRect/>
          </a:stretch>
        </p:blipFill>
        <p:spPr>
          <a:xfrm>
            <a:off x="279756" y="1524000"/>
            <a:ext cx="8584487" cy="4876799"/>
          </a:xfrm>
          <a:prstGeom prst="rect">
            <a:avLst/>
          </a:prstGeom>
        </p:spPr>
      </p:pic>
      <p:sp>
        <p:nvSpPr>
          <p:cNvPr id="7" name="TextBox 6">
            <a:extLst>
              <a:ext uri="{FF2B5EF4-FFF2-40B4-BE49-F238E27FC236}">
                <a16:creationId xmlns:a16="http://schemas.microsoft.com/office/drawing/2014/main" id="{B41296E1-ED37-EBAF-35EC-280742540EA9}"/>
              </a:ext>
            </a:extLst>
          </p:cNvPr>
          <p:cNvSpPr txBox="1"/>
          <p:nvPr/>
        </p:nvSpPr>
        <p:spPr>
          <a:xfrm>
            <a:off x="1371600" y="228600"/>
            <a:ext cx="6096000" cy="769441"/>
          </a:xfrm>
          <a:prstGeom prst="rect">
            <a:avLst/>
          </a:prstGeom>
          <a:noFill/>
        </p:spPr>
        <p:txBody>
          <a:bodyPr wrap="square">
            <a:spAutoFit/>
          </a:bodyPr>
          <a:lstStyle/>
          <a:p>
            <a:pPr algn="ctr"/>
            <a:r>
              <a:rPr lang="en-MY" sz="4400" b="1" dirty="0"/>
              <a:t>THE ELECTION PROCESS</a:t>
            </a:r>
          </a:p>
        </p:txBody>
      </p:sp>
    </p:spTree>
    <p:extLst>
      <p:ext uri="{BB962C8B-B14F-4D97-AF65-F5344CB8AC3E}">
        <p14:creationId xmlns:p14="http://schemas.microsoft.com/office/powerpoint/2010/main" val="1244780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5A10C17-9B96-3191-0CFD-94B94F200EC0}"/>
              </a:ext>
            </a:extLst>
          </p:cNvPr>
          <p:cNvSpPr>
            <a:spLocks noGrp="1"/>
          </p:cNvSpPr>
          <p:nvPr>
            <p:ph type="title"/>
          </p:nvPr>
        </p:nvSpPr>
        <p:spPr/>
        <p:txBody>
          <a:bodyPr/>
          <a:lstStyle/>
          <a:p>
            <a:r>
              <a:rPr lang="en-MY" b="1" dirty="0"/>
              <a:t>The Dissolution of Parliament</a:t>
            </a:r>
          </a:p>
        </p:txBody>
      </p:sp>
      <p:sp>
        <p:nvSpPr>
          <p:cNvPr id="6" name="Content Placeholder 5">
            <a:extLst>
              <a:ext uri="{FF2B5EF4-FFF2-40B4-BE49-F238E27FC236}">
                <a16:creationId xmlns:a16="http://schemas.microsoft.com/office/drawing/2014/main" id="{42BF5806-5588-7B04-DDB8-1B5723B1F5AB}"/>
              </a:ext>
            </a:extLst>
          </p:cNvPr>
          <p:cNvSpPr>
            <a:spLocks noGrp="1"/>
          </p:cNvSpPr>
          <p:nvPr>
            <p:ph idx="1"/>
          </p:nvPr>
        </p:nvSpPr>
        <p:spPr>
          <a:xfrm>
            <a:off x="228600" y="1219200"/>
            <a:ext cx="8839200" cy="5410200"/>
          </a:xfrm>
        </p:spPr>
        <p:txBody>
          <a:bodyPr>
            <a:normAutofit lnSpcReduction="10000"/>
          </a:bodyPr>
          <a:lstStyle/>
          <a:p>
            <a:pPr marL="342900" lvl="0" indent="-342900" algn="just">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General election will be held every five years. The King or Yang di-</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Pertuan</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Agong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has the power to dissolve the Parliament. </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In this matter, the King has </a:t>
            </a:r>
            <a:r>
              <a:rPr lang="en-US" sz="1800" u="sng" dirty="0">
                <a:effectLst/>
                <a:latin typeface="Times New Roman" panose="02020603050405020304" pitchFamily="18" charset="0"/>
                <a:ea typeface="Times New Roman" panose="02020603050405020304" pitchFamily="18" charset="0"/>
                <a:cs typeface="Times New Roman" panose="02020603050405020304" pitchFamily="18" charset="0"/>
              </a:rPr>
              <a:t>to act on the advice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of the Prime Minister to dissolve the Parliament.</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After the dissolution of Parliament, an election is required to be held within </a:t>
            </a:r>
            <a:r>
              <a:rPr lang="en-US" sz="1800" u="sng" dirty="0">
                <a:effectLst/>
                <a:latin typeface="Times New Roman" panose="02020603050405020304" pitchFamily="18" charset="0"/>
                <a:ea typeface="Times New Roman" panose="02020603050405020304" pitchFamily="18" charset="0"/>
                <a:cs typeface="Times New Roman" panose="02020603050405020304" pitchFamily="18" charset="0"/>
              </a:rPr>
              <a:t>60 days in Peninsular of Malaysia</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or </a:t>
            </a:r>
            <a:r>
              <a:rPr lang="en-US" sz="1800" u="sng" dirty="0">
                <a:effectLst/>
                <a:latin typeface="Times New Roman" panose="02020603050405020304" pitchFamily="18" charset="0"/>
                <a:ea typeface="Times New Roman" panose="02020603050405020304" pitchFamily="18" charset="0"/>
                <a:cs typeface="Times New Roman" panose="02020603050405020304" pitchFamily="18" charset="0"/>
              </a:rPr>
              <a:t>90 days in Sabah and Sarawak</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The same condition applies when the Sultan dissolves the state assembly or when there is a vacant seat.</a:t>
            </a:r>
          </a:p>
          <a:p>
            <a:pPr marL="342900" lvl="0" indent="-342900" algn="just">
              <a:spcAft>
                <a:spcPts val="800"/>
              </a:spcAft>
              <a:buFont typeface="Arial" panose="020B0604020202020204" pitchFamily="34" charset="0"/>
              <a:buChar char="•"/>
            </a:pP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spcAft>
                <a:spcPts val="800"/>
              </a:spcAft>
              <a:buNone/>
            </a:pPr>
            <a:r>
              <a:rPr lang="en-US" sz="4400" b="1" dirty="0">
                <a:effectLst/>
                <a:latin typeface="Calibri" panose="020F0502020204030204" pitchFamily="34" charset="0"/>
                <a:ea typeface="Times New Roman" panose="02020603050405020304" pitchFamily="18" charset="0"/>
                <a:cs typeface="Calibri" panose="020F0502020204030204" pitchFamily="34" charset="0"/>
              </a:rPr>
              <a:t>      Writ and notice of election</a:t>
            </a:r>
            <a:endParaRPr lang="en-US" sz="4400" dirty="0">
              <a:effectLst/>
              <a:latin typeface="Calibri" panose="020F0502020204030204" pitchFamily="34" charset="0"/>
              <a:ea typeface="Times New Roman" panose="02020603050405020304" pitchFamily="18" charset="0"/>
              <a:cs typeface="Calibri" panose="020F0502020204030204" pitchFamily="34" charset="0"/>
            </a:endParaRPr>
          </a:p>
          <a:p>
            <a:pPr marL="342900" lvl="0" indent="-342900" algn="just">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As soon as Parliament is dissolved, the Election Commission (EC) issues a writ to the returning officers of the various constituencies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authorising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them to conduct elections in their respective areas.</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 notice of election is posted in various places for public viewing. This notice contains the nomination date and the dates for early voting and regular voting.</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MY" dirty="0"/>
          </a:p>
        </p:txBody>
      </p:sp>
    </p:spTree>
    <p:extLst>
      <p:ext uri="{BB962C8B-B14F-4D97-AF65-F5344CB8AC3E}">
        <p14:creationId xmlns:p14="http://schemas.microsoft.com/office/powerpoint/2010/main" val="20755809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AB8D26-3E1F-E64C-32B0-45887B0FE3FA}"/>
              </a:ext>
            </a:extLst>
          </p:cNvPr>
          <p:cNvSpPr>
            <a:spLocks noGrp="1"/>
          </p:cNvSpPr>
          <p:nvPr>
            <p:ph idx="1"/>
          </p:nvPr>
        </p:nvSpPr>
        <p:spPr>
          <a:xfrm>
            <a:off x="152400" y="304800"/>
            <a:ext cx="8839200" cy="6324600"/>
          </a:xfrm>
        </p:spPr>
        <p:txBody>
          <a:bodyPr>
            <a:normAutofit/>
          </a:bodyPr>
          <a:lstStyle/>
          <a:p>
            <a:pPr marL="0" indent="0" algn="just">
              <a:spcAft>
                <a:spcPts val="800"/>
              </a:spcAft>
              <a:buNone/>
            </a:pPr>
            <a:r>
              <a:rPr lang="en-US" sz="4400" b="1" dirty="0">
                <a:effectLst/>
                <a:latin typeface="Times New Roman" panose="02020603050405020304" pitchFamily="18" charset="0"/>
                <a:ea typeface="Times New Roman" panose="02020603050405020304" pitchFamily="18" charset="0"/>
              </a:rPr>
              <a:t>Nomination of candidate</a:t>
            </a:r>
            <a:endParaRPr lang="en-MY" sz="4400" dirty="0">
              <a:effectLst/>
              <a:latin typeface="Times New Roman" panose="02020603050405020304" pitchFamily="18" charset="0"/>
              <a:ea typeface="Times New Roman" panose="02020603050405020304" pitchFamily="18" charset="0"/>
            </a:endParaRPr>
          </a:p>
          <a:p>
            <a:pPr marL="342900" lvl="0" indent="-342900" algn="just">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 date is set for candidates to present nomination papers to the EC officers. For example in GE13, they must do so between 9am and 10am tomorrow.</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Each candidate must pay a deposit of RM10,000 for a parliamentary seat or RM5,000 for a state seat. The deposit is confiscated if a candidate fails to garner one eighth of the total number of votes cast in the constituency he is contesting.</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EC must ensure  candidates are eligible to contest. A candidate is disqualified if he is a bankrupt, is of unsound mind or is not a citizen of Malaysia. If only one candidate is eligible to contest in a constituency, EC will announce his uncontested win.</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Any candidate cannot withdraw from his contest once his nomination is accepted. </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MY" sz="2400" dirty="0"/>
          </a:p>
        </p:txBody>
      </p:sp>
    </p:spTree>
    <p:extLst>
      <p:ext uri="{BB962C8B-B14F-4D97-AF65-F5344CB8AC3E}">
        <p14:creationId xmlns:p14="http://schemas.microsoft.com/office/powerpoint/2010/main" val="40948202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22122D-5F7A-C61C-E7D7-015829100DB1}"/>
              </a:ext>
            </a:extLst>
          </p:cNvPr>
          <p:cNvSpPr>
            <a:spLocks noGrp="1"/>
          </p:cNvSpPr>
          <p:nvPr>
            <p:ph idx="1"/>
          </p:nvPr>
        </p:nvSpPr>
        <p:spPr>
          <a:xfrm>
            <a:off x="152400" y="152400"/>
            <a:ext cx="8839200" cy="6553200"/>
          </a:xfrm>
        </p:spPr>
        <p:txBody>
          <a:bodyPr>
            <a:normAutofit fontScale="92500" lnSpcReduction="10000"/>
          </a:bodyPr>
          <a:lstStyle/>
          <a:p>
            <a:pPr marL="0" indent="0" algn="just">
              <a:spcAft>
                <a:spcPts val="800"/>
              </a:spcAft>
              <a:buNone/>
            </a:pPr>
            <a:r>
              <a:rPr lang="en-US" sz="4400" b="1" dirty="0">
                <a:effectLst/>
                <a:latin typeface="Times New Roman" panose="02020603050405020304" pitchFamily="18" charset="0"/>
                <a:ea typeface="Times New Roman" panose="02020603050405020304" pitchFamily="18" charset="0"/>
              </a:rPr>
              <a:t>Campaign period</a:t>
            </a:r>
            <a:endParaRPr lang="en-MY" sz="4400" dirty="0">
              <a:effectLst/>
              <a:latin typeface="Times New Roman" panose="02020603050405020304" pitchFamily="18" charset="0"/>
              <a:ea typeface="Times New Roman" panose="02020603050405020304" pitchFamily="18" charset="0"/>
            </a:endParaRPr>
          </a:p>
          <a:p>
            <a:pPr algn="just">
              <a:spcAft>
                <a:spcPts val="800"/>
              </a:spcAft>
            </a:pPr>
            <a:r>
              <a:rPr lang="en-US" sz="1900" dirty="0">
                <a:effectLst/>
                <a:latin typeface="Times New Roman" panose="02020603050405020304" pitchFamily="18" charset="0"/>
                <a:ea typeface="Times New Roman" panose="02020603050405020304" pitchFamily="18" charset="0"/>
                <a:cs typeface="Times New Roman" panose="02020603050405020304" pitchFamily="18" charset="0"/>
              </a:rPr>
              <a:t>Begins as soon as the nomination process is complete and ends at midnight before polling day. </a:t>
            </a:r>
            <a:endParaRPr lang="en-MY" sz="19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spcAft>
                <a:spcPts val="800"/>
              </a:spcAft>
            </a:pPr>
            <a:r>
              <a:rPr lang="en-US" sz="1900" dirty="0">
                <a:effectLst/>
                <a:latin typeface="Times New Roman" panose="02020603050405020304" pitchFamily="18" charset="0"/>
                <a:ea typeface="Times New Roman" panose="02020603050405020304" pitchFamily="18" charset="0"/>
                <a:cs typeface="Times New Roman" panose="02020603050405020304" pitchFamily="18" charset="0"/>
              </a:rPr>
              <a:t>A candidate for Parliament may spend a maximum of RM200,000 on campaigning and a state assembly candidates is allowed up to RM100,000.</a:t>
            </a:r>
            <a:endParaRPr lang="en-MY" sz="19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spcAft>
                <a:spcPts val="800"/>
              </a:spcAft>
            </a:pPr>
            <a:r>
              <a:rPr lang="en-US" sz="1900" dirty="0">
                <a:effectLst/>
                <a:latin typeface="Times New Roman" panose="02020603050405020304" pitchFamily="18" charset="0"/>
                <a:ea typeface="Times New Roman" panose="02020603050405020304" pitchFamily="18" charset="0"/>
                <a:cs typeface="Times New Roman" panose="02020603050405020304" pitchFamily="18" charset="0"/>
              </a:rPr>
              <a:t>EC will monitor the conduct of campaigns to ensure that candidates comply with the rules. It can, for instance, remove campaign materials that do not comply with the law and stop illegal forums with police help.</a:t>
            </a:r>
            <a:endParaRPr lang="en-MY" sz="19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spcAft>
                <a:spcPts val="800"/>
              </a:spcAft>
            </a:pPr>
            <a:r>
              <a:rPr lang="en-US" sz="1900" dirty="0">
                <a:effectLst/>
                <a:latin typeface="Times New Roman" panose="02020603050405020304" pitchFamily="18" charset="0"/>
                <a:ea typeface="Times New Roman" panose="02020603050405020304" pitchFamily="18" charset="0"/>
                <a:cs typeface="Times New Roman" panose="02020603050405020304" pitchFamily="18" charset="0"/>
              </a:rPr>
              <a:t>Duration of campaign allow :  7-15 days only</a:t>
            </a:r>
            <a:endParaRPr lang="en-MY" sz="19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spcAft>
                <a:spcPts val="800"/>
              </a:spcAft>
              <a:buNone/>
            </a:pPr>
            <a:endParaRPr lang="en-MY" sz="1800" dirty="0">
              <a:effectLst/>
              <a:latin typeface="Times New Roman" panose="02020603050405020304" pitchFamily="18" charset="0"/>
              <a:ea typeface="Times New Roman" panose="02020603050405020304" pitchFamily="18" charset="0"/>
            </a:endParaRPr>
          </a:p>
          <a:p>
            <a:pPr marL="0" indent="0" algn="just">
              <a:spcAft>
                <a:spcPts val="800"/>
              </a:spcAft>
              <a:buNone/>
            </a:pPr>
            <a:r>
              <a:rPr lang="en-US" sz="4800" b="1" dirty="0">
                <a:effectLst/>
                <a:latin typeface="Times New Roman" panose="02020603050405020304" pitchFamily="18" charset="0"/>
                <a:ea typeface="Times New Roman" panose="02020603050405020304" pitchFamily="18" charset="0"/>
              </a:rPr>
              <a:t>Election campaign</a:t>
            </a:r>
            <a:endParaRPr lang="en-MY" sz="4800" dirty="0">
              <a:effectLst/>
              <a:latin typeface="Times New Roman" panose="02020603050405020304" pitchFamily="18" charset="0"/>
              <a:ea typeface="Times New Roman" panose="02020603050405020304" pitchFamily="18" charset="0"/>
            </a:endParaRPr>
          </a:p>
          <a:p>
            <a:pPr marL="0" indent="0" algn="just">
              <a:spcAft>
                <a:spcPts val="800"/>
              </a:spcAft>
              <a:buNone/>
            </a:pPr>
            <a:endParaRPr lang="en-MY" sz="1800" dirty="0">
              <a:effectLst/>
              <a:latin typeface="Times New Roman" panose="02020603050405020304" pitchFamily="18" charset="0"/>
              <a:ea typeface="Times New Roman" panose="02020603050405020304" pitchFamily="18" charset="0"/>
            </a:endParaRPr>
          </a:p>
          <a:p>
            <a:pPr marL="0" indent="0" algn="ctr">
              <a:spcAft>
                <a:spcPts val="800"/>
              </a:spcAft>
              <a:buNone/>
            </a:pPr>
            <a:r>
              <a:rPr lang="en-US" sz="1900" dirty="0">
                <a:effectLst/>
                <a:latin typeface="Times New Roman" panose="02020603050405020304" pitchFamily="18" charset="0"/>
                <a:ea typeface="Times New Roman" panose="02020603050405020304" pitchFamily="18" charset="0"/>
              </a:rPr>
              <a:t>(Insert some pictures on political campaign or poster displays)</a:t>
            </a:r>
            <a:endParaRPr lang="en-MY" sz="1900" dirty="0">
              <a:effectLst/>
              <a:latin typeface="Times New Roman" panose="02020603050405020304" pitchFamily="18" charset="0"/>
              <a:ea typeface="Times New Roman" panose="02020603050405020304" pitchFamily="18" charset="0"/>
            </a:endParaRPr>
          </a:p>
          <a:p>
            <a:pPr marL="0" indent="0" algn="ctr">
              <a:spcAft>
                <a:spcPts val="800"/>
              </a:spcAft>
              <a:buNone/>
            </a:pPr>
            <a:endParaRPr lang="en-MY" sz="1900" dirty="0">
              <a:effectLst/>
              <a:latin typeface="Times New Roman" panose="02020603050405020304" pitchFamily="18" charset="0"/>
              <a:ea typeface="Times New Roman" panose="02020603050405020304" pitchFamily="18" charset="0"/>
            </a:endParaRPr>
          </a:p>
          <a:p>
            <a:pPr algn="ctr">
              <a:spcAft>
                <a:spcPts val="800"/>
              </a:spcAft>
            </a:pPr>
            <a:r>
              <a:rPr lang="en-US" sz="1900" dirty="0">
                <a:effectLst/>
                <a:latin typeface="Times New Roman" panose="02020603050405020304" pitchFamily="18" charset="0"/>
                <a:ea typeface="Times New Roman" panose="02020603050405020304" pitchFamily="18" charset="0"/>
              </a:rPr>
              <a:t>Political parties usually use election rally, campaign speech, campaign poster, door to door campaign and social media election campaign.</a:t>
            </a:r>
            <a:endParaRPr lang="en-MY" sz="1900" dirty="0">
              <a:effectLst/>
              <a:latin typeface="Times New Roman" panose="02020603050405020304" pitchFamily="18" charset="0"/>
              <a:ea typeface="Times New Roman" panose="02020603050405020304" pitchFamily="18" charset="0"/>
            </a:endParaRPr>
          </a:p>
          <a:p>
            <a:pPr marL="0" indent="0">
              <a:buNone/>
            </a:pPr>
            <a:endParaRPr lang="en-MY" sz="2400" dirty="0"/>
          </a:p>
        </p:txBody>
      </p:sp>
    </p:spTree>
    <p:extLst>
      <p:ext uri="{BB962C8B-B14F-4D97-AF65-F5344CB8AC3E}">
        <p14:creationId xmlns:p14="http://schemas.microsoft.com/office/powerpoint/2010/main" val="41529861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AB1BE7-F879-9B04-C86E-95773C779967}"/>
              </a:ext>
            </a:extLst>
          </p:cNvPr>
          <p:cNvSpPr>
            <a:spLocks noGrp="1"/>
          </p:cNvSpPr>
          <p:nvPr>
            <p:ph idx="1"/>
          </p:nvPr>
        </p:nvSpPr>
        <p:spPr>
          <a:xfrm>
            <a:off x="152400" y="152400"/>
            <a:ext cx="8839200" cy="6477000"/>
          </a:xfrm>
        </p:spPr>
        <p:txBody>
          <a:bodyPr>
            <a:normAutofit/>
          </a:bodyPr>
          <a:lstStyle/>
          <a:p>
            <a:pPr marL="0" indent="0" algn="just">
              <a:spcAft>
                <a:spcPts val="800"/>
              </a:spcAft>
              <a:buNone/>
            </a:pPr>
            <a:r>
              <a:rPr lang="en-US" sz="4400" b="1" dirty="0">
                <a:effectLst/>
                <a:latin typeface="Times New Roman" panose="02020603050405020304" pitchFamily="18" charset="0"/>
                <a:ea typeface="Times New Roman" panose="02020603050405020304" pitchFamily="18" charset="0"/>
              </a:rPr>
              <a:t>Polling day</a:t>
            </a:r>
            <a:endParaRPr lang="en-MY" sz="4400" dirty="0">
              <a:effectLst/>
              <a:latin typeface="Times New Roman" panose="02020603050405020304" pitchFamily="18" charset="0"/>
              <a:ea typeface="Times New Roman" panose="02020603050405020304" pitchFamily="18" charset="0"/>
            </a:endParaRPr>
          </a:p>
          <a:p>
            <a:pPr marL="342900" lvl="0" indent="-342900" algn="just">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Advance polling date will be set for police, military personnel and EC officers. Also to the eligible citizen who stay abroad (officially working and studying abroad). </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Usually 2-3 days before the actual polling day. </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The ballot boxes will be locked away in secure locations until the regular polling day, when they will be tallied with the regular votes.</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Voting hours 8am to 5pm</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The voters must present their identity card.</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 finger of voters must be marked with indelible ink – to prevent the voters to poll more than once.</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The entire process will be observed by election officials and the agents of contesting candidates.</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MY" sz="2400" dirty="0"/>
          </a:p>
        </p:txBody>
      </p:sp>
      <p:pic>
        <p:nvPicPr>
          <p:cNvPr id="4" name="Picture 3">
            <a:extLst>
              <a:ext uri="{FF2B5EF4-FFF2-40B4-BE49-F238E27FC236}">
                <a16:creationId xmlns:a16="http://schemas.microsoft.com/office/drawing/2014/main" id="{64456BC7-5B8C-C503-64B2-29C7EF41E119}"/>
              </a:ext>
            </a:extLst>
          </p:cNvPr>
          <p:cNvPicPr>
            <a:picLocks noChangeAspect="1"/>
          </p:cNvPicPr>
          <p:nvPr/>
        </p:nvPicPr>
        <p:blipFill>
          <a:blip r:embed="rId2"/>
          <a:stretch>
            <a:fillRect/>
          </a:stretch>
        </p:blipFill>
        <p:spPr>
          <a:xfrm>
            <a:off x="1981200" y="4809566"/>
            <a:ext cx="2590800" cy="1856096"/>
          </a:xfrm>
          <a:prstGeom prst="rect">
            <a:avLst/>
          </a:prstGeom>
        </p:spPr>
      </p:pic>
      <p:pic>
        <p:nvPicPr>
          <p:cNvPr id="5" name="Picture 4">
            <a:extLst>
              <a:ext uri="{FF2B5EF4-FFF2-40B4-BE49-F238E27FC236}">
                <a16:creationId xmlns:a16="http://schemas.microsoft.com/office/drawing/2014/main" id="{37C13237-2F79-48A4-A130-B260F5F8D9B2}"/>
              </a:ext>
            </a:extLst>
          </p:cNvPr>
          <p:cNvPicPr>
            <a:picLocks noChangeAspect="1"/>
          </p:cNvPicPr>
          <p:nvPr/>
        </p:nvPicPr>
        <p:blipFill>
          <a:blip r:embed="rId3"/>
          <a:stretch>
            <a:fillRect/>
          </a:stretch>
        </p:blipFill>
        <p:spPr>
          <a:xfrm>
            <a:off x="5029200" y="5029200"/>
            <a:ext cx="1238314" cy="1238314"/>
          </a:xfrm>
          <a:prstGeom prst="rect">
            <a:avLst/>
          </a:prstGeom>
        </p:spPr>
      </p:pic>
    </p:spTree>
    <p:extLst>
      <p:ext uri="{BB962C8B-B14F-4D97-AF65-F5344CB8AC3E}">
        <p14:creationId xmlns:p14="http://schemas.microsoft.com/office/powerpoint/2010/main" val="554929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53CE9D-FC03-D9F0-A28E-C26D7462DBEA}"/>
              </a:ext>
            </a:extLst>
          </p:cNvPr>
          <p:cNvSpPr>
            <a:spLocks noGrp="1"/>
          </p:cNvSpPr>
          <p:nvPr>
            <p:ph idx="1"/>
          </p:nvPr>
        </p:nvSpPr>
        <p:spPr>
          <a:xfrm>
            <a:off x="152400" y="304800"/>
            <a:ext cx="8839200" cy="6248400"/>
          </a:xfrm>
        </p:spPr>
        <p:txBody>
          <a:bodyPr>
            <a:normAutofit/>
          </a:bodyPr>
          <a:lstStyle/>
          <a:p>
            <a:pPr marL="0" indent="0" algn="just">
              <a:spcAft>
                <a:spcPts val="800"/>
              </a:spcAft>
              <a:buNone/>
            </a:pPr>
            <a:r>
              <a:rPr lang="en-US" sz="4400" b="1" dirty="0">
                <a:effectLst/>
                <a:latin typeface="Times New Roman" panose="02020603050405020304" pitchFamily="18" charset="0"/>
                <a:ea typeface="Times New Roman" panose="02020603050405020304" pitchFamily="18" charset="0"/>
              </a:rPr>
              <a:t>Ballot counting</a:t>
            </a:r>
            <a:endParaRPr lang="en-MY" sz="4400" dirty="0">
              <a:effectLst/>
              <a:latin typeface="Times New Roman" panose="02020603050405020304" pitchFamily="18" charset="0"/>
              <a:ea typeface="Times New Roman" panose="02020603050405020304" pitchFamily="18" charset="0"/>
            </a:endParaRPr>
          </a:p>
          <a:p>
            <a:pPr marL="342900" lvl="0" indent="-342900" algn="just">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Once polling closes, the officers in charge will tally the ballots. He will ensure that the number of ballot papers received by the station at the beginning of the day equals the sum of papers given to voters and the number unused.</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Ballots with ambiguous and unclear markings will be set aside. </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After the other votes are counted, the officers will go through the ambiguous votes to determine if they can be accepted. The ballot/vote will be count based on simple majority </a:t>
            </a:r>
            <a:r>
              <a:rPr lang="en-US" sz="1800" u="sng" dirty="0">
                <a:effectLst/>
                <a:latin typeface="Times New Roman" panose="02020603050405020304" pitchFamily="18" charset="0"/>
                <a:ea typeface="Times New Roman" panose="02020603050405020304" pitchFamily="18" charset="0"/>
                <a:cs typeface="Times New Roman" panose="02020603050405020304" pitchFamily="18" charset="0"/>
              </a:rPr>
              <a:t>(the first-past-the post system)</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Forms showing the tally of ballots will be brought to the vote-tallying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centre</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where the returning officer will announce the result for each polling station. </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MY" sz="2400" dirty="0"/>
          </a:p>
        </p:txBody>
      </p:sp>
    </p:spTree>
    <p:extLst>
      <p:ext uri="{BB962C8B-B14F-4D97-AF65-F5344CB8AC3E}">
        <p14:creationId xmlns:p14="http://schemas.microsoft.com/office/powerpoint/2010/main" val="35201657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5CB339-B7F0-6CE9-8823-B138EB971BBE}"/>
              </a:ext>
            </a:extLst>
          </p:cNvPr>
          <p:cNvSpPr>
            <a:spLocks noGrp="1"/>
          </p:cNvSpPr>
          <p:nvPr>
            <p:ph idx="1"/>
          </p:nvPr>
        </p:nvSpPr>
        <p:spPr>
          <a:xfrm>
            <a:off x="152400" y="228600"/>
            <a:ext cx="8839200" cy="6400800"/>
          </a:xfrm>
        </p:spPr>
        <p:txBody>
          <a:bodyPr>
            <a:normAutofit/>
          </a:bodyPr>
          <a:lstStyle/>
          <a:p>
            <a:pPr marL="0" indent="0" algn="just">
              <a:spcAft>
                <a:spcPts val="800"/>
              </a:spcAft>
              <a:buNone/>
            </a:pPr>
            <a:r>
              <a:rPr lang="en-US" sz="4400" b="1" dirty="0">
                <a:effectLst/>
                <a:latin typeface="Times New Roman" panose="02020603050405020304" pitchFamily="18" charset="0"/>
                <a:ea typeface="Times New Roman" panose="02020603050405020304" pitchFamily="18" charset="0"/>
              </a:rPr>
              <a:t>Announcement of results</a:t>
            </a:r>
            <a:endParaRPr lang="en-MY" sz="4400" dirty="0">
              <a:effectLst/>
              <a:latin typeface="Times New Roman" panose="02020603050405020304" pitchFamily="18" charset="0"/>
              <a:ea typeface="Times New Roman" panose="02020603050405020304" pitchFamily="18" charset="0"/>
            </a:endParaRPr>
          </a:p>
          <a:p>
            <a:pPr marL="342900" lvl="0" indent="-342900" algn="just">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The officer of EC for each constituency will declare the winner – usually at the end of the polling day, but may reach until next day.</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 coalition or political party who won the election will form the government</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MY" sz="2400" dirty="0"/>
          </a:p>
          <a:p>
            <a:pPr marL="0" indent="0" algn="just">
              <a:spcAft>
                <a:spcPts val="800"/>
              </a:spcAft>
              <a:buNone/>
            </a:pPr>
            <a:r>
              <a:rPr lang="en-US" sz="4400" b="1" dirty="0">
                <a:effectLst/>
                <a:latin typeface="Times New Roman" panose="02020603050405020304" pitchFamily="18" charset="0"/>
                <a:ea typeface="Times New Roman" panose="02020603050405020304" pitchFamily="18" charset="0"/>
              </a:rPr>
              <a:t>Petition</a:t>
            </a:r>
            <a:endParaRPr lang="en-MY" sz="4400" dirty="0">
              <a:effectLst/>
              <a:latin typeface="Times New Roman" panose="02020603050405020304" pitchFamily="18" charset="0"/>
              <a:ea typeface="Times New Roman" panose="02020603050405020304" pitchFamily="18" charset="0"/>
            </a:endParaRPr>
          </a:p>
          <a:p>
            <a:pPr marL="342900" lvl="0" indent="-342900" algn="just">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Any candidate who is not satisfied with the announced result can make a petition with Election Court.</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Petition can be applied when</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Candidates break the election laws/regulation</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Candidates are disqualified</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There is a violation of election rules/regulations</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MY" sz="2400" dirty="0"/>
          </a:p>
        </p:txBody>
      </p:sp>
    </p:spTree>
    <p:extLst>
      <p:ext uri="{BB962C8B-B14F-4D97-AF65-F5344CB8AC3E}">
        <p14:creationId xmlns:p14="http://schemas.microsoft.com/office/powerpoint/2010/main" val="42474403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882EF-AE9D-8471-2A1F-C6162A4BF793}"/>
              </a:ext>
            </a:extLst>
          </p:cNvPr>
          <p:cNvSpPr>
            <a:spLocks noGrp="1"/>
          </p:cNvSpPr>
          <p:nvPr>
            <p:ph type="title"/>
          </p:nvPr>
        </p:nvSpPr>
        <p:spPr/>
        <p:txBody>
          <a:bodyPr/>
          <a:lstStyle/>
          <a:p>
            <a:r>
              <a:rPr lang="en-MY" b="1" dirty="0"/>
              <a:t>CONCLUSION</a:t>
            </a:r>
          </a:p>
        </p:txBody>
      </p:sp>
      <p:sp>
        <p:nvSpPr>
          <p:cNvPr id="3" name="Content Placeholder 2">
            <a:extLst>
              <a:ext uri="{FF2B5EF4-FFF2-40B4-BE49-F238E27FC236}">
                <a16:creationId xmlns:a16="http://schemas.microsoft.com/office/drawing/2014/main" id="{F32C2FFC-DF75-4EC1-B7BC-6A0613AF8B3F}"/>
              </a:ext>
            </a:extLst>
          </p:cNvPr>
          <p:cNvSpPr>
            <a:spLocks noGrp="1"/>
          </p:cNvSpPr>
          <p:nvPr>
            <p:ph idx="1"/>
          </p:nvPr>
        </p:nvSpPr>
        <p:spPr>
          <a:xfrm>
            <a:off x="152400" y="1600200"/>
            <a:ext cx="8839200" cy="4876800"/>
          </a:xfrm>
        </p:spPr>
        <p:txBody>
          <a:bodyPr>
            <a:normAutofit/>
          </a:bodyPr>
          <a:lstStyle/>
          <a:p>
            <a:pPr marL="342900" lvl="0" indent="-342900" algn="just">
              <a:spcAft>
                <a:spcPts val="800"/>
              </a:spcAft>
              <a:buFont typeface="Arial" panose="020B0604020202020204" pitchFamily="34" charset="0"/>
              <a:buChar char="•"/>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Parliamentary democracy is a kind of democratic form of government</a:t>
            </a:r>
            <a:endParaRPr lang="en-MY"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Political parties play a very significant role in parliamentary democracy</a:t>
            </a:r>
            <a:endParaRPr lang="en-MY"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Election is an important political activity in parliamentary democracy in Malaysia </a:t>
            </a:r>
            <a:endParaRPr lang="en-MY"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Parliament is an important medium between the people and the government.</a:t>
            </a:r>
            <a:endParaRPr lang="en-MY"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Parliamentary democracy in Malaysia has been well-practiced since independence. </a:t>
            </a:r>
            <a:endParaRPr lang="en-MY"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MY" sz="2800" dirty="0"/>
          </a:p>
        </p:txBody>
      </p:sp>
    </p:spTree>
    <p:extLst>
      <p:ext uri="{BB962C8B-B14F-4D97-AF65-F5344CB8AC3E}">
        <p14:creationId xmlns:p14="http://schemas.microsoft.com/office/powerpoint/2010/main" val="3549203329"/>
      </p:ext>
    </p:extLst>
  </p:cSld>
  <p:clrMapOvr>
    <a:masterClrMapping/>
  </p:clrMapOvr>
</p:sld>
</file>

<file path=ppt/theme/_rels/theme5.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otalTime>1125</TotalTime>
  <Words>2765</Words>
  <Application>Microsoft Office PowerPoint</Application>
  <PresentationFormat>On-screen Show (4:3)</PresentationFormat>
  <Paragraphs>245</Paragraphs>
  <Slides>31</Slides>
  <Notes>0</Notes>
  <HiddenSlides>0</HiddenSlides>
  <MMClips>0</MMClips>
  <ScaleCrop>false</ScaleCrop>
  <HeadingPairs>
    <vt:vector size="6" baseType="variant">
      <vt:variant>
        <vt:lpstr>Fonts Used</vt:lpstr>
      </vt:variant>
      <vt:variant>
        <vt:i4>7</vt:i4>
      </vt:variant>
      <vt:variant>
        <vt:lpstr>Theme</vt:lpstr>
      </vt:variant>
      <vt:variant>
        <vt:i4>5</vt:i4>
      </vt:variant>
      <vt:variant>
        <vt:lpstr>Slide Titles</vt:lpstr>
      </vt:variant>
      <vt:variant>
        <vt:i4>31</vt:i4>
      </vt:variant>
    </vt:vector>
  </HeadingPairs>
  <TitlesOfParts>
    <vt:vector size="43" baseType="lpstr">
      <vt:lpstr>Arial</vt:lpstr>
      <vt:lpstr>Calibri</vt:lpstr>
      <vt:lpstr>Century Gothic</vt:lpstr>
      <vt:lpstr>Noto Sans Symbols</vt:lpstr>
      <vt:lpstr>Times New Roman</vt:lpstr>
      <vt:lpstr>Wingdings</vt:lpstr>
      <vt:lpstr>Wingdings 3</vt:lpstr>
      <vt:lpstr>Office Theme</vt:lpstr>
      <vt:lpstr>1_Office Theme</vt:lpstr>
      <vt:lpstr>2_Office Theme</vt:lpstr>
      <vt:lpstr>3_Office Theme</vt:lpstr>
      <vt:lpstr>Ion</vt:lpstr>
      <vt:lpstr>FEM2401 Malaysian Politics and Society  TOPIC 6 : Parliamentary Democracy</vt:lpstr>
      <vt:lpstr>PowerPoint Presentation</vt:lpstr>
      <vt:lpstr>Who Rules ? What in a name ?</vt:lpstr>
      <vt:lpstr>PowerPoint Presentation</vt:lpstr>
      <vt:lpstr>Democracy</vt:lpstr>
      <vt:lpstr>TYPES OF DEMOCRACY</vt:lpstr>
      <vt:lpstr>MAIN IDEAS ABOUT PARLIAMENTARY DEMOCRACY</vt:lpstr>
      <vt:lpstr>PARLIAMENTARY DEMOCRACY</vt:lpstr>
      <vt:lpstr>PowerPoint Presentation</vt:lpstr>
      <vt:lpstr>Parliamentary System &amp; Presidential System</vt:lpstr>
      <vt:lpstr>Parliamentary System &amp; Presidential System</vt:lpstr>
      <vt:lpstr>PARLIAMENTARY DEMOCRACY IN MALAYSIA</vt:lpstr>
      <vt:lpstr>POLITICAL PARTIES IN MALAYSIA</vt:lpstr>
      <vt:lpstr>PowerPoint Presentation</vt:lpstr>
      <vt:lpstr>PowerPoint Presentation</vt:lpstr>
      <vt:lpstr>PowerPoint Presentation</vt:lpstr>
      <vt:lpstr>MALAYSIAN PARLIAMENT</vt:lpstr>
      <vt:lpstr>PowerPoint Presentation</vt:lpstr>
      <vt:lpstr>ELECTION IN MALAYSIA</vt:lpstr>
      <vt:lpstr>PowerPoint Presentation</vt:lpstr>
      <vt:lpstr>WHO CAN VOTE? (Eligibility to vote)</vt:lpstr>
      <vt:lpstr>WHO CAN BE A CANDIDATE? (Eligibility to become a candidate)</vt:lpstr>
      <vt:lpstr>Election Commission (EC)</vt:lpstr>
      <vt:lpstr>PowerPoint Presentation</vt:lpstr>
      <vt:lpstr>The Dissolution of Parliament</vt:lpstr>
      <vt:lpstr>PowerPoint Presentation</vt:lpstr>
      <vt:lpstr>PowerPoint Presentation</vt:lpstr>
      <vt:lpstr>PowerPoint Presentation</vt:lpstr>
      <vt:lpstr>PowerPoint Presentation</vt:lpstr>
      <vt:lpstr>PowerPoint Presentation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MUHAMMAD AMIR BIN MUNSHI</cp:lastModifiedBy>
  <cp:revision>47</cp:revision>
  <dcterms:created xsi:type="dcterms:W3CDTF">2018-05-27T16:25:31Z</dcterms:created>
  <dcterms:modified xsi:type="dcterms:W3CDTF">2024-12-02T02:58:10Z</dcterms:modified>
</cp:coreProperties>
</file>