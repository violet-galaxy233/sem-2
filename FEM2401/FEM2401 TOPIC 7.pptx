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695" r:id="rId2"/>
    <p:sldMasterId id="2147483707" r:id="rId3"/>
    <p:sldMasterId id="2147483719" r:id="rId4"/>
  </p:sldMasterIdLst>
  <p:sldIdLst>
    <p:sldId id="257" r:id="rId5"/>
    <p:sldId id="258" r:id="rId6"/>
    <p:sldId id="297" r:id="rId7"/>
    <p:sldId id="298" r:id="rId8"/>
    <p:sldId id="301" r:id="rId9"/>
    <p:sldId id="302" r:id="rId10"/>
    <p:sldId id="307" r:id="rId11"/>
    <p:sldId id="259" r:id="rId12"/>
    <p:sldId id="303" r:id="rId13"/>
    <p:sldId id="293" r:id="rId14"/>
    <p:sldId id="308" r:id="rId15"/>
    <p:sldId id="299" r:id="rId16"/>
    <p:sldId id="300" r:id="rId17"/>
    <p:sldId id="261" r:id="rId18"/>
    <p:sldId id="262" r:id="rId19"/>
    <p:sldId id="263" r:id="rId20"/>
    <p:sldId id="266" r:id="rId21"/>
    <p:sldId id="309" r:id="rId22"/>
    <p:sldId id="310" r:id="rId23"/>
    <p:sldId id="311" r:id="rId24"/>
    <p:sldId id="267" r:id="rId25"/>
    <p:sldId id="268" r:id="rId26"/>
    <p:sldId id="272" r:id="rId27"/>
    <p:sldId id="31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tri" initials="F" lastIdx="1" clrIdx="0">
    <p:extLst>
      <p:ext uri="{19B8F6BF-5375-455C-9EA6-DF929625EA0E}">
        <p15:presenceInfo xmlns:p15="http://schemas.microsoft.com/office/powerpoint/2012/main" userId="Fitr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31135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413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38075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17566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40901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0965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5649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9523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59401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27716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31378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0301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9068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17090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30266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69834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680467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6644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4510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238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4110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9849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06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1187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5150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3906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2154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1470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139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252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003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276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121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974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36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56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076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179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937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464400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217199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638345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01378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97701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210760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017159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072264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607978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552720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759539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709728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55738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974013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758888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346051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676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8A877A6-B9F5-4867-A3A3-392470B18AE2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892440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47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4E152-5AF6-4A32-9BB5-E2D5EA3B01E3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8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C586FAF-8F8D-4ABF-8783-D94267D371DB}" type="datetimeFigureOut">
              <a:rPr lang="en-MY" smtClean="0"/>
              <a:t>30/11/2023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1E76CAB-9481-4838-A66E-38599B60BB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972064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1D04A-6424-45AE-B5E7-7F06300B0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566" y="853556"/>
            <a:ext cx="11380304" cy="267764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dirty="0"/>
              <a:t>FEM2401 Malaysian Politics &amp; Society</a:t>
            </a:r>
            <a:br>
              <a:rPr lang="en-US" sz="5300" dirty="0"/>
            </a:br>
            <a:r>
              <a:rPr lang="en-US" sz="5300" dirty="0"/>
              <a:t>TOPIC 7: FEDERAL SYSTEM</a:t>
            </a:r>
            <a:br>
              <a:rPr lang="en-US" sz="4800" dirty="0"/>
            </a:br>
            <a:endParaRPr lang="en-MY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0A348-4F31-4359-AF21-1556C1BD4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3956483"/>
            <a:ext cx="8637072" cy="2047961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Lecturer: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MUHAMMAD AMIR BIN MUNSHI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793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6AEBA-5E32-4CF4-AC91-E90CAD078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61" y="159027"/>
            <a:ext cx="11807687" cy="6400800"/>
          </a:xfrm>
        </p:spPr>
        <p:txBody>
          <a:bodyPr>
            <a:normAutofit fontScale="92500"/>
          </a:bodyPr>
          <a:lstStyle/>
          <a:p>
            <a:pPr algn="ctr">
              <a:spcAft>
                <a:spcPts val="800"/>
              </a:spcAft>
            </a:pPr>
            <a:r>
              <a:rPr lang="en-US" sz="3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OUTLINE</a:t>
            </a:r>
            <a:endParaRPr lang="en-MY" sz="3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Basic concept of federalism</a:t>
            </a:r>
            <a:endParaRPr lang="en-MY" sz="2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Federalism in Malaysia: federal and state government </a:t>
            </a:r>
            <a:endParaRPr lang="en-MY" sz="2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State administration and local government</a:t>
            </a:r>
            <a:endParaRPr lang="en-MY" sz="2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endParaRPr lang="en-MY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LEARNING OUTCOME</a:t>
            </a:r>
            <a:endParaRPr lang="en-MY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❖"/>
            </a:pPr>
            <a:r>
              <a:rPr lang="en-US" sz="2600" dirty="0">
                <a:effectLst/>
                <a:latin typeface="Noto Sans Symbols"/>
                <a:ea typeface="Noto Sans Symbols"/>
                <a:cs typeface="Noto Sans Symbols"/>
              </a:rPr>
              <a:t>To understand about the system of government</a:t>
            </a:r>
            <a:endParaRPr lang="en-MY" sz="26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❖"/>
            </a:pPr>
            <a:r>
              <a:rPr lang="en-US" sz="2600" dirty="0">
                <a:effectLst/>
                <a:latin typeface="Noto Sans Symbols"/>
                <a:ea typeface="Noto Sans Symbols"/>
                <a:cs typeface="Noto Sans Symbols"/>
              </a:rPr>
              <a:t>To understand the basic concept of federalism</a:t>
            </a:r>
            <a:endParaRPr lang="en-MY" sz="26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❖"/>
            </a:pPr>
            <a:r>
              <a:rPr lang="en-US" sz="2600" dirty="0">
                <a:effectLst/>
                <a:latin typeface="Noto Sans Symbols"/>
                <a:ea typeface="Noto Sans Symbols"/>
                <a:cs typeface="Noto Sans Symbols"/>
              </a:rPr>
              <a:t>To describe the practice of federalism in Malaysia</a:t>
            </a:r>
            <a:endParaRPr lang="en-MY" sz="26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❖"/>
            </a:pPr>
            <a:r>
              <a:rPr lang="en-US" sz="2600" dirty="0">
                <a:effectLst/>
                <a:latin typeface="Noto Sans Symbols"/>
                <a:ea typeface="Noto Sans Symbols"/>
                <a:cs typeface="Noto Sans Symbols"/>
              </a:rPr>
              <a:t>To explain the structure of state (including district) administration and local government</a:t>
            </a:r>
            <a:endParaRPr lang="en-MY" sz="2600" dirty="0">
              <a:effectLst/>
              <a:latin typeface="Noto Sans Symbols"/>
              <a:ea typeface="Noto Sans Symbols"/>
              <a:cs typeface="Noto Sans Symbols"/>
            </a:endParaRP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847800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SYSTEM OF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64" y="974035"/>
            <a:ext cx="11897139" cy="5655365"/>
          </a:xfrm>
        </p:spPr>
        <p:txBody>
          <a:bodyPr>
            <a:normAutofit/>
          </a:bodyPr>
          <a:lstStyle/>
          <a:p>
            <a:pPr algn="ctr"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UNITARY</a:t>
            </a:r>
            <a:endParaRPr lang="en-MY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Central government holds most of the power.</a:t>
            </a:r>
            <a:endParaRPr lang="en-MY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Central governments acts directly on the citizen/provinces. </a:t>
            </a:r>
            <a:endParaRPr lang="en-MY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Local governments exercise powers granted to them by the central government.</a:t>
            </a:r>
            <a:endParaRPr lang="en-MY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UK, New Zealand, Sweden, China, Indonesia, France</a:t>
            </a:r>
            <a:endParaRPr lang="en-MY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algn="ctr"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CONFEDERATION</a:t>
            </a:r>
            <a:endParaRPr lang="en-MY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A confederation is a system of government in which sovereign states delegate power to a central government for specific purposes. Power centered in states</a:t>
            </a:r>
            <a:endParaRPr lang="en-MY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Germany in 19 century, European Union, United Nation, OIC, Switzerland?</a:t>
            </a:r>
            <a:endParaRPr lang="en-MY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algn="ctr"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FEDERAL</a:t>
            </a:r>
            <a:endParaRPr lang="en-MY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A division of power between the central government and state, provincial or local governing. Such division is specified in the constitution.</a:t>
            </a:r>
            <a:endParaRPr lang="en-MY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USA, Canada, India, Australia, Germany</a:t>
            </a:r>
            <a:endParaRPr lang="en-MY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914400" lvl="1" indent="-457200"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8377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IS FEDERALISM?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990600"/>
            <a:ext cx="11591925" cy="5638800"/>
          </a:xfrm>
        </p:spPr>
        <p:txBody>
          <a:bodyPr>
            <a:normAutofit/>
          </a:bodyPr>
          <a:lstStyle/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sz="280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Foedus</a:t>
            </a: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’ (Latin) – covenant, compact, treaty, league or an alliance between states for mutual support and joint action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K.C.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Wheare</a:t>
            </a:r>
            <a:r>
              <a:rPr lang="en-US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father of federalism theory</a:t>
            </a: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) “ a method of dividing powers so that the general and regional governments are each, within a sphere, coordinate and independent."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“A constitutional division of governmental power between the national and the constituent units,”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62013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6D1C3-E21E-80AF-5B83-D0045844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4" y="36099"/>
            <a:ext cx="10972800" cy="947875"/>
          </a:xfrm>
        </p:spPr>
        <p:txBody>
          <a:bodyPr>
            <a:normAutofit/>
          </a:bodyPr>
          <a:lstStyle/>
          <a:p>
            <a:r>
              <a:rPr lang="en-MY" sz="4000" b="1" dirty="0"/>
              <a:t>THE CONCEPT OF FEDERALISM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21" y="1063487"/>
            <a:ext cx="11807687" cy="5519875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Federalism requires that the federal and state governments </a:t>
            </a:r>
            <a:r>
              <a:rPr lang="en-US" sz="18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should each "be limited to its own sphere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“. 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 written constitution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is one of the key characteristics of federalism. It would define the boundaries of authority for each government. 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Without a written constitution, the federal government can easily encroach upon or usurp the authority of the state governments, possibly leading to chaos. </a:t>
            </a:r>
            <a:r>
              <a:rPr lang="en-US" sz="18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Each government has a sovereign power derived from the constitution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Each government is also </a:t>
            </a:r>
            <a:r>
              <a:rPr lang="en-US" sz="18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empowered to deal directly with its citizens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in the exercise of its legislative, executive and taxing powers and each is directly elected by its citizens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 federalism, political authority is divided between 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 central government (federal government)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 collection of state (or regional) governments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, acting side by side and sharing a large geographical space. 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authority of </a:t>
            </a:r>
            <a:r>
              <a:rPr lang="en-US" sz="18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federal government is exercised supremely over many areas of public policy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For example, the central/federal government carries out the security and diplomatic functions of the country, as well as other important issues of national concern. Meanwhile the state government has a responsibility over local issues such as water and local customs.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 brief, power is divided based on jurisdiction. Each government is co-equal and has a sovereign  power over matters in its control.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778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122" y="12970"/>
            <a:ext cx="8662904" cy="990882"/>
          </a:xfrm>
        </p:spPr>
        <p:txBody>
          <a:bodyPr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 OF FEDERAL SYSTEM</a:t>
            </a:r>
            <a:endParaRPr lang="en-MY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22" y="1143001"/>
            <a:ext cx="11887200" cy="3886199"/>
          </a:xfrm>
        </p:spPr>
        <p:txBody>
          <a:bodyPr>
            <a:normAutofit lnSpcReduction="10000"/>
          </a:bodyPr>
          <a:lstStyle/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Allows smaller states to join with bigger states without losing the freedom and rights of self government 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When states join together, a Federation will be stronger economically and politically, as well as increasing the number of citizens.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pattern of federal system of administration allows the concerns of the locals to be voiced out and </a:t>
            </a:r>
            <a:r>
              <a:rPr lang="en-US" sz="24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heared</a:t>
            </a: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by at the Federal level to be settled.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Allows the uniformity in application and enforcement of policies for the entire country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Able to control the Federal Government so it is not too strong and does not step on the interest of the State Government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0987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122" y="12970"/>
            <a:ext cx="10306878" cy="990882"/>
          </a:xfrm>
        </p:spPr>
        <p:txBody>
          <a:bodyPr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DISADVANTAGES OF THE FEDERAL SYSTEM</a:t>
            </a:r>
            <a:endParaRPr lang="en-MY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22" y="1143001"/>
            <a:ext cx="11887200" cy="3886199"/>
          </a:xfrm>
        </p:spPr>
        <p:txBody>
          <a:bodyPr>
            <a:normAutofit/>
          </a:bodyPr>
          <a:lstStyle/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Competition for power often occurs between Federal and State Government, for example on the issue of financial contribution by the Federal Government 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It is possible that states may adopt certain policies to protect the interest of their own state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System of administration is costly and complicated, especially when the same administrative institutions needs to be created in each state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Often results in feelings of dissatisfaction amongst member states joining the federation.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6453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7C56-707A-4BBC-A470-FF063BDC6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2" y="452718"/>
            <a:ext cx="10217425" cy="1400530"/>
          </a:xfrm>
        </p:spPr>
        <p:txBody>
          <a:bodyPr/>
          <a:lstStyle/>
          <a:p>
            <a:pPr algn="ctr"/>
            <a:r>
              <a:rPr lang="en-US" b="1" dirty="0"/>
              <a:t>BACKGROUND OF FEDERALISM IN MALAYSIA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961A5-318F-4819-A170-3CF0E0DD7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1992" y="2060575"/>
            <a:ext cx="11356243" cy="4549775"/>
          </a:xfrm>
        </p:spPr>
        <p:txBody>
          <a:bodyPr>
            <a:normAutofit/>
          </a:bodyPr>
          <a:lstStyle/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400" dirty="0">
                <a:effectLst/>
                <a:latin typeface="Noto Sans Symbols"/>
                <a:ea typeface="Noto Sans Symbols"/>
                <a:cs typeface="Noto Sans Symbols"/>
              </a:rPr>
              <a:t>The system was first  introduced by the British through 1896 Federated Malay States</a:t>
            </a:r>
            <a:endParaRPr lang="en-MY" sz="2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400" dirty="0">
                <a:effectLst/>
                <a:latin typeface="Noto Sans Symbols"/>
                <a:ea typeface="Noto Sans Symbols"/>
                <a:cs typeface="Noto Sans Symbols"/>
              </a:rPr>
              <a:t>In 1914 – Malay Land was like a ‘confederation’ because of 3 different systems at once :  Federated Malay States, Unfederated Malay States and Straits Settlement</a:t>
            </a:r>
            <a:endParaRPr lang="en-MY" sz="2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400" dirty="0">
                <a:effectLst/>
                <a:latin typeface="Noto Sans Symbols"/>
                <a:ea typeface="Noto Sans Symbols"/>
                <a:cs typeface="Noto Sans Symbols"/>
              </a:rPr>
              <a:t>Federation of Malay Land in 1948 – replaced the unitary concept of Malayan Union 1946</a:t>
            </a:r>
            <a:endParaRPr lang="en-MY" sz="2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400" dirty="0">
                <a:effectLst/>
                <a:latin typeface="Noto Sans Symbols"/>
                <a:ea typeface="Noto Sans Symbols"/>
                <a:cs typeface="Noto Sans Symbols"/>
              </a:rPr>
              <a:t>Federation of Malaya 1957  - independence</a:t>
            </a:r>
            <a:endParaRPr lang="en-MY" sz="2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400" dirty="0">
                <a:effectLst/>
                <a:latin typeface="Noto Sans Symbols"/>
                <a:ea typeface="Noto Sans Symbols"/>
                <a:cs typeface="Noto Sans Symbols"/>
              </a:rPr>
              <a:t>Federation of Malaysia 1963 – the merger with Singapore, Sabah and Sarawak</a:t>
            </a:r>
            <a:endParaRPr lang="en-MY" sz="2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0" indent="0" algn="just">
              <a:buNone/>
            </a:pP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1109193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59032"/>
          </a:xfrm>
        </p:spPr>
        <p:txBody>
          <a:bodyPr>
            <a:noAutofit/>
          </a:bodyPr>
          <a:lstStyle/>
          <a:p>
            <a:r>
              <a:rPr lang="en-US" sz="4000" b="1" dirty="0"/>
              <a:t>FEDERALISM IN MALAYSIA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687" y="1133061"/>
            <a:ext cx="11519452" cy="5420139"/>
          </a:xfrm>
        </p:spPr>
        <p:txBody>
          <a:bodyPr>
            <a:normAutofit/>
          </a:bodyPr>
          <a:lstStyle/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0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The Constitution of Malaysia (or also called as the federal Constitution)  is the supreme law – it is written that Malaysia is a federation country and practice a parliamentary democracy</a:t>
            </a:r>
            <a:endParaRPr lang="en-MY" sz="20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0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Comprises of two (2) governments – federal and state. Local government is under the authority of state government.</a:t>
            </a:r>
            <a:endParaRPr lang="en-MY" sz="20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0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13 states with three (3) federal territories</a:t>
            </a:r>
            <a:endParaRPr lang="en-MY" sz="20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0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Both level of government has three (3) branches ; executive, legislative and judiciary with the King/YDPA as the head of the government as a whole.</a:t>
            </a:r>
            <a:endParaRPr lang="en-MY" sz="2000" dirty="0">
              <a:effectLst/>
              <a:latin typeface="Noto Sans Symbols"/>
              <a:ea typeface="Noto Sans Symbols"/>
              <a:cs typeface="Noto Sans Symbol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185D59-D68F-73F7-11BE-B717E7231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479" y="3664064"/>
            <a:ext cx="3906078" cy="298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13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52" y="119270"/>
            <a:ext cx="12006470" cy="6669156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19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The constitution of Malaysia (written constitution) is the main reference/source in understanding  the distribution of power and relationship between federal and state government</a:t>
            </a:r>
            <a:endParaRPr lang="en-MY" sz="19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19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Article 74 of the Federal Constitution describes the distribution of legislative powers between Federal/National and state governments.</a:t>
            </a:r>
            <a:endParaRPr lang="en-MY" sz="19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19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The Ninth Schedule of the Constitution provides three lists:</a:t>
            </a:r>
            <a:endParaRPr lang="en-MY" sz="19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2"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Federal list 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–the matters which are under the purview of Parliament (Federal Government).</a:t>
            </a:r>
            <a:endParaRPr lang="en-MY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 List 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the matters under the jurisdiction of the Dewan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Undangan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Negeri(State Assembly) of the individual states (State Government).</a:t>
            </a:r>
            <a:endParaRPr lang="en-MY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Concurrent List 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contains matters where both Parliament and the Dewan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Undangan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Negeri may legislate on.</a:t>
            </a:r>
            <a:endParaRPr lang="en-MY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Federal government </a:t>
            </a:r>
            <a:endParaRPr lang="en-MY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19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3 federal territories </a:t>
            </a:r>
            <a:endParaRPr lang="en-MY" sz="19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19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Putrajaya: central of administration </a:t>
            </a:r>
            <a:endParaRPr lang="en-MY" sz="19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19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Kuala Lumpur – capital of Malaysia </a:t>
            </a:r>
            <a:endParaRPr lang="en-MY" sz="19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19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Labuan – federal territory for the East Malaysia </a:t>
            </a:r>
            <a:endParaRPr lang="en-MY" sz="1900" dirty="0">
              <a:effectLst/>
              <a:latin typeface="Noto Sans Symbols"/>
              <a:ea typeface="Noto Sans Symbols"/>
              <a:cs typeface="Noto Sans Symbols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 government </a:t>
            </a:r>
            <a:endParaRPr lang="en-MY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19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13 states government based on the 13 states </a:t>
            </a:r>
            <a:endParaRPr lang="en-MY" sz="19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19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Perlis, Kedah, </a:t>
            </a:r>
            <a:r>
              <a:rPr lang="en-US" sz="1900" dirty="0" err="1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Pulau</a:t>
            </a:r>
            <a:r>
              <a:rPr lang="en-US" sz="19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 Pinang, Perak, Selangor, Negeri Sembilan, Melaka, Johor, Pahang, Terengganu, Kelantan, Sabah and Sarawak.</a:t>
            </a:r>
            <a:endParaRPr lang="en-MY" sz="19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97074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D3F7-6BB9-40B7-8E59-09A78C56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8738"/>
            <a:ext cx="9905998" cy="1905000"/>
          </a:xfrm>
        </p:spPr>
        <p:txBody>
          <a:bodyPr>
            <a:normAutofit/>
          </a:bodyPr>
          <a:lstStyle/>
          <a:p>
            <a:pPr algn="ctr"/>
            <a:r>
              <a:rPr lang="en-MY" sz="28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NINTH SCHEDULE OF THE FEDERAL CONSTITUTION, CONTAINING THE FEDERAL LIST, THE STATE LIST, AND THE CONCURRENT LIST</a:t>
            </a:r>
            <a:endParaRPr lang="en-MY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DCB6E0-3CC8-4425-93C1-9F65431887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42122" y="2067540"/>
          <a:ext cx="10919791" cy="45517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39077">
                  <a:extLst>
                    <a:ext uri="{9D8B030D-6E8A-4147-A177-3AD203B41FA5}">
                      <a16:colId xmlns:a16="http://schemas.microsoft.com/office/drawing/2014/main" val="803458401"/>
                    </a:ext>
                  </a:extLst>
                </a:gridCol>
                <a:gridCol w="3640357">
                  <a:extLst>
                    <a:ext uri="{9D8B030D-6E8A-4147-A177-3AD203B41FA5}">
                      <a16:colId xmlns:a16="http://schemas.microsoft.com/office/drawing/2014/main" val="1100297233"/>
                    </a:ext>
                  </a:extLst>
                </a:gridCol>
                <a:gridCol w="3640357">
                  <a:extLst>
                    <a:ext uri="{9D8B030D-6E8A-4147-A177-3AD203B41FA5}">
                      <a16:colId xmlns:a16="http://schemas.microsoft.com/office/drawing/2014/main" val="2844376418"/>
                    </a:ext>
                  </a:extLst>
                </a:gridCol>
              </a:tblGrid>
              <a:tr h="24552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MY" sz="1800" dirty="0">
                          <a:effectLst/>
                        </a:rPr>
                        <a:t>Federal List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44" marR="6064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MY" sz="1800" dirty="0">
                          <a:effectLst/>
                        </a:rPr>
                        <a:t>State List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44" marR="6064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MY" sz="1800" dirty="0">
                          <a:effectLst/>
                        </a:rPr>
                        <a:t>Concurrent List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44" marR="60644" marT="0" marB="0"/>
                </a:tc>
                <a:extLst>
                  <a:ext uri="{0D108BD9-81ED-4DB2-BD59-A6C34878D82A}">
                    <a16:rowId xmlns:a16="http://schemas.microsoft.com/office/drawing/2014/main" val="845067504"/>
                  </a:ext>
                </a:extLst>
              </a:tr>
              <a:tr h="4273465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b="0" dirty="0">
                          <a:effectLst/>
                        </a:rPr>
                        <a:t>Foreign Relations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b="0" dirty="0">
                          <a:effectLst/>
                        </a:rPr>
                        <a:t>Defence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b="0" dirty="0">
                          <a:effectLst/>
                        </a:rPr>
                        <a:t>Internal Affairs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b="0" dirty="0">
                          <a:effectLst/>
                        </a:rPr>
                        <a:t>Citizenship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b="0" dirty="0">
                          <a:effectLst/>
                        </a:rPr>
                        <a:t>Finance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b="0" dirty="0">
                          <a:effectLst/>
                        </a:rPr>
                        <a:t>Trade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b="0" dirty="0">
                          <a:effectLst/>
                        </a:rPr>
                        <a:t>Education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b="0" dirty="0">
                          <a:effectLst/>
                        </a:rPr>
                        <a:t>Tourism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MY" sz="1800" dirty="0">
                          <a:effectLst/>
                        </a:rPr>
                        <a:t> 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44" marR="60644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Islam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Land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Forestry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Local government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State water and works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State holidays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Local custom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44" marR="60644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Scholarships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Social Welfare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Vagrancy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Town Planning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Public health and sanitation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Culture and sports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Housing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"/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Theatre, cinema, and places of public amusement</a:t>
                      </a:r>
                    </a:p>
                    <a:p>
                      <a:pPr marL="2667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266700" algn="l"/>
                        </a:tabLst>
                      </a:pPr>
                      <a:r>
                        <a:rPr lang="en-MY" sz="1800" dirty="0">
                          <a:effectLst/>
                        </a:rPr>
                        <a:t> </a:t>
                      </a:r>
                      <a:endParaRPr lang="en-MY" sz="18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644" marR="60644" marT="0" marB="0"/>
                </a:tc>
                <a:extLst>
                  <a:ext uri="{0D108BD9-81ED-4DB2-BD59-A6C34878D82A}">
                    <a16:rowId xmlns:a16="http://schemas.microsoft.com/office/drawing/2014/main" val="3417166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470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4B7779-19A0-D18B-0698-9CE46975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THE PRACTICE OF FEDERALISM IN MALAYSIA</a:t>
            </a:r>
            <a:endParaRPr lang="en-MY" sz="40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5E3456-1936-DE34-7A19-F22D8FAF2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6" y="1417638"/>
            <a:ext cx="11764617" cy="5165724"/>
          </a:xfrm>
        </p:spPr>
        <p:txBody>
          <a:bodyPr>
            <a:normAutofit/>
          </a:bodyPr>
          <a:lstStyle/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Each government is superior in their power/jurisdiction based on the constitution provision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Any areas not specified in the constitution is fall under the state authority.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 practice, the nature of federation in Malaysia – the areas under the federal government are more comprehensive – creating a situation like a </a:t>
            </a:r>
            <a:r>
              <a:rPr lang="en-US" sz="24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centralised</a:t>
            </a: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government or the dominance of federal government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Some areas are superseded / can be overridden by the federal government 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1171168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1EF419-0855-4EF3-EED4-2DEF9687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3" y="274638"/>
            <a:ext cx="11807687" cy="1143000"/>
          </a:xfrm>
        </p:spPr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b="1" dirty="0"/>
              <a:t>POWER OF FEDERAL GOVERNMENT  SUPERSEDES STATE GOVERNMENT</a:t>
            </a:r>
            <a:br>
              <a:rPr lang="en-US" b="1" dirty="0"/>
            </a:br>
            <a:endParaRPr lang="en-MY" sz="40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D8D25-444D-BAB9-C74F-A15E84FE1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17" y="1600201"/>
            <a:ext cx="11738113" cy="5108712"/>
          </a:xfrm>
        </p:spPr>
        <p:txBody>
          <a:bodyPr>
            <a:normAutofit/>
          </a:bodyPr>
          <a:lstStyle/>
          <a:p>
            <a:pPr marL="857250" lvl="1" indent="-400050">
              <a:spcAft>
                <a:spcPts val="800"/>
              </a:spcAft>
              <a:buFont typeface="+mj-lt"/>
              <a:buAutoNum type="romanU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Power to alter state line (Article  2b)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Font typeface="+mj-lt"/>
              <a:buAutoNum type="romanU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Federal constitution is the supreme law [Article 4(1)]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Font typeface="+mj-lt"/>
              <a:buAutoNum type="romanU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Federal law shall prevail if State law are inconsistent with federal law (Article 75)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Font typeface="+mj-lt"/>
              <a:buAutoNum type="romanU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Federal government has power to make law (Article 73)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Font typeface="+mj-lt"/>
              <a:buAutoNum type="romanU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Power of federal government of State list (Article 76)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The extent  of  federal  and  State  laws is stated in Article 73 : </a:t>
            </a:r>
            <a:endParaRPr lang="en-MY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1">
              <a:spcAft>
                <a:spcPts val="800"/>
              </a:spcAft>
              <a:buFont typeface="+mj-lt"/>
              <a:buAutoNum type="alphaL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parliament may make laws for the whole  or any part of the  Federation  and  laws   having  effect  outside  as well as  within  the  Federation;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spcAft>
                <a:spcPts val="800"/>
              </a:spcAft>
              <a:buFont typeface="+mj-lt"/>
              <a:buAutoNum type="alphaL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Legislature of a State may make laws for the whole or any part of  that State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3873421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3C6F732-DBD0-24FF-F50F-F800A27A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61" y="283753"/>
            <a:ext cx="9971321" cy="1038152"/>
          </a:xfrm>
        </p:spPr>
        <p:txBody>
          <a:bodyPr/>
          <a:lstStyle/>
          <a:p>
            <a:pPr algn="ctr"/>
            <a:r>
              <a:rPr lang="en-MY" sz="4000" b="1" dirty="0"/>
              <a:t>RESIDUAL POWER (State government)</a:t>
            </a:r>
            <a:br>
              <a:rPr lang="en-MY" sz="4000" b="1" dirty="0"/>
            </a:br>
            <a:endParaRPr lang="en-MY" sz="4000" b="1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F22F429-12F2-54B9-D15A-EF00458B2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" y="1321906"/>
            <a:ext cx="11628783" cy="4926494"/>
          </a:xfrm>
        </p:spPr>
        <p:txBody>
          <a:bodyPr/>
          <a:lstStyle/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State government matter – any matters which is not in any lists in the Constitution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Article 77: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–"/>
            </a:pPr>
            <a:r>
              <a:rPr lang="en-US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State have power to make laws concerning matters not in any of the Lists in the Ninth Schedule. </a:t>
            </a:r>
            <a:endParaRPr lang="en-MY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MY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3E2FA4-BDCE-30A1-1765-BE87B5BAF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178" y="2812802"/>
            <a:ext cx="4730361" cy="32545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9BAF1FE-5146-41BC-CE91-514776512118}"/>
              </a:ext>
            </a:extLst>
          </p:cNvPr>
          <p:cNvSpPr txBox="1"/>
          <p:nvPr/>
        </p:nvSpPr>
        <p:spPr>
          <a:xfrm>
            <a:off x="2494385" y="6248400"/>
            <a:ext cx="7003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RELATIONSHIP BETWEEN FEDERAL AND STATE GOVERNMENT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95508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B6DB86-5CD5-9E8F-4721-F1E8757D9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87" y="3429000"/>
            <a:ext cx="7128730" cy="759856"/>
          </a:xfrm>
        </p:spPr>
        <p:txBody>
          <a:bodyPr/>
          <a:lstStyle/>
          <a:p>
            <a:pPr algn="ctr"/>
            <a:r>
              <a:rPr lang="en-MY" sz="4000" b="1" dirty="0"/>
              <a:t>STATE ADMINISTRATION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A85951-AE0C-891C-003D-255AD4C73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9826" y="89453"/>
            <a:ext cx="4532243" cy="6440556"/>
          </a:xfrm>
        </p:spPr>
        <p:txBody>
          <a:bodyPr>
            <a:normAutofit fontScale="25000" lnSpcReduction="20000"/>
          </a:bodyPr>
          <a:lstStyle/>
          <a:p>
            <a:pPr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System and structure of state 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Executive Power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State Executive Body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Legislative Body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Administrative Coordination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State Administration Machinery 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State Public Services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Government Agencies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Office of State </a:t>
            </a:r>
            <a:r>
              <a:rPr lang="en-US" sz="56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Sectretary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Office of State Finance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Office of State Legal Advisor 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Economic Development of State Unit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State Administration Level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District Administration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Mukim Administration (Sub-district)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Village/Kampung Administration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r>
              <a:rPr lang="en-US" sz="56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Local Government/Authorities</a:t>
            </a:r>
            <a:endParaRPr lang="en-MY" sz="56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8427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10FE49-C253-4256-B7D0-D48311AD8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6" y="337931"/>
            <a:ext cx="11618843" cy="5910470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 ADMINISTRATION</a:t>
            </a:r>
            <a:endParaRPr lang="en-MY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Most of the states have similar structure of administration – 3 levels of administration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–"/>
            </a:pPr>
            <a:r>
              <a:rPr lang="en-US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District</a:t>
            </a:r>
            <a:endParaRPr lang="en-MY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–"/>
            </a:pPr>
            <a:r>
              <a:rPr lang="en-US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Mukim</a:t>
            </a:r>
            <a:r>
              <a:rPr lang="en-US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(Sub-division of district)</a:t>
            </a:r>
            <a:endParaRPr lang="en-MY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–"/>
            </a:pPr>
            <a:r>
              <a:rPr lang="en-US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Village </a:t>
            </a:r>
            <a:endParaRPr lang="en-MY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EXCEPT: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–"/>
            </a:pPr>
            <a:r>
              <a:rPr lang="en-US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Sabah only has two levels – District and Village only</a:t>
            </a:r>
            <a:endParaRPr lang="en-MY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–"/>
            </a:pPr>
            <a:r>
              <a:rPr lang="en-US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Sarawak has four levels </a:t>
            </a:r>
            <a:endParaRPr lang="en-MY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143000" lvl="2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Division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143000" lvl="2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District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143000" lvl="2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Sub-district 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143000" lvl="2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Village</a:t>
            </a:r>
            <a:endParaRPr lang="en-MY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73768F-3128-5345-A893-C1150F9C3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365" y="2481375"/>
            <a:ext cx="4651513" cy="34130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E3245B-AB06-7D85-49D4-07A6FE59A16E}"/>
              </a:ext>
            </a:extLst>
          </p:cNvPr>
          <p:cNvSpPr txBox="1"/>
          <p:nvPr/>
        </p:nvSpPr>
        <p:spPr>
          <a:xfrm>
            <a:off x="6096000" y="6194552"/>
            <a:ext cx="599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 ADMINISTRATIVE MACHINERY</a:t>
            </a:r>
            <a:endParaRPr lang="en-MY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449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61411-B213-4797-849C-D5BD6A941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61" y="149086"/>
            <a:ext cx="11658600" cy="6639339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3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 EXECUTIVE BODY</a:t>
            </a:r>
            <a:endParaRPr lang="en-MY" sz="3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sz="23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Malay Ruler (Sultan) and the Yang di-</a:t>
            </a:r>
            <a:r>
              <a:rPr lang="en-US" sz="2300" u="sng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Pertua</a:t>
            </a:r>
            <a:r>
              <a:rPr lang="en-US" sz="23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Negeri/YDN (State Governor)</a:t>
            </a:r>
            <a:endParaRPr lang="en-MY" sz="2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Head of the state government</a:t>
            </a:r>
            <a:endParaRPr lang="en-MY" sz="21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Appoints the Chief Minister</a:t>
            </a:r>
            <a:endParaRPr lang="en-MY" sz="21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Approves the appointment of the State Executive Council (Exco)</a:t>
            </a:r>
            <a:endParaRPr lang="en-MY" sz="21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Acts upon the advice of the State Executive Council </a:t>
            </a:r>
            <a:endParaRPr lang="en-MY" sz="21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800"/>
              </a:spcAft>
              <a:buNone/>
            </a:pPr>
            <a:endParaRPr lang="en-MY" sz="2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sz="23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 Executive Council </a:t>
            </a:r>
            <a:endParaRPr lang="en-MY" sz="2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Advises the Sultan/State Governor in administrative matters headed by the Chief Minister</a:t>
            </a:r>
            <a:endParaRPr lang="en-MY" sz="21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Each Exco member heads an administration of a state</a:t>
            </a:r>
            <a:endParaRPr lang="en-MY" sz="21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800"/>
              </a:spcAft>
              <a:buNone/>
            </a:pPr>
            <a:endParaRPr lang="en-MY" sz="2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sz="23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Chief Minister</a:t>
            </a:r>
            <a:endParaRPr lang="en-MY" sz="2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Leads the state administration</a:t>
            </a:r>
            <a:endParaRPr lang="en-MY" sz="21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Created in accordance with the State Constitution</a:t>
            </a:r>
          </a:p>
          <a:p>
            <a:pPr lvl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Member of State Legislative Assembly and Exco</a:t>
            </a:r>
            <a:endParaRPr lang="en-MY" sz="21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MY" sz="19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048693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CF017-3A4F-E9F2-9C4F-3521E0F30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74" y="327992"/>
            <a:ext cx="11420061" cy="5920408"/>
          </a:xfrm>
        </p:spPr>
        <p:txBody>
          <a:bodyPr>
            <a:normAutofit/>
          </a:bodyPr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 LEGISLATIVE BODY</a:t>
            </a:r>
            <a:endParaRPr lang="en-MY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sz="2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 Legislative Assembly</a:t>
            </a: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Enacts state laws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Scope of tasks, power and membership determined by State Constitution 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One legislative assembly only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Member from election of State Legislative Assembly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3 members from orang state administration (ex-officio): Secretary of State Government, State Legal Advisor, State Finance Officer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endParaRPr lang="en-MY" sz="2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55123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E627A-399C-2269-09E0-33AB70F1A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9" y="198783"/>
            <a:ext cx="10068339" cy="6049617"/>
          </a:xfrm>
        </p:spPr>
        <p:txBody>
          <a:bodyPr>
            <a:normAutofit/>
          </a:bodyPr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COORDINATION OF ADMINISTRATION BETWEEN FEDERAL AND STATE GOVERNMENT</a:t>
            </a:r>
            <a:endParaRPr lang="en-MY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relationship between Federal and State administration through: </a:t>
            </a: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Council of Rulers 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National Monetary Council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National Land Council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National Council for Local Government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Senate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956358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7FA9-BC55-0F24-B1BC-3AF9F5E81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626" y="467140"/>
            <a:ext cx="10982739" cy="6042990"/>
          </a:xfrm>
        </p:spPr>
        <p:txBody>
          <a:bodyPr>
            <a:normAutofit lnSpcReduction="10000"/>
          </a:bodyPr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LOCAL GOVERNMENT</a:t>
            </a:r>
            <a:endParaRPr lang="en-MY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Provides autonomy to the local people to administer their own region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Improves the quality of life of the locals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Includes the locals in the administration and management of their affairs and interests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Provides social and service facilities such as the maintenance of public areas, collection of rubbish, general health, providing sewerage system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Minor jurisdiction in: 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Power to enact by-laws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Prosecute, acquire wealth, enter into contracts, collect rent and taxes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Government control through Ministry of Housing and Local Government</a:t>
            </a:r>
            <a:endParaRPr lang="en-MY" sz="24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798610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CAD9A-15C1-42B3-BFD0-13A9EC962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2946"/>
          </a:xfrm>
        </p:spPr>
        <p:txBody>
          <a:bodyPr/>
          <a:lstStyle/>
          <a:p>
            <a:pPr algn="ctr"/>
            <a:r>
              <a:rPr lang="en-MY" dirty="0"/>
              <a:t>Local Government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5F48A-ECA0-4228-ABFC-A90E981D7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7870" y="1331118"/>
            <a:ext cx="6748669" cy="5074164"/>
          </a:xfrm>
        </p:spPr>
        <p:txBody>
          <a:bodyPr>
            <a:normAutofit/>
          </a:bodyPr>
          <a:lstStyle/>
          <a:p>
            <a:r>
              <a:rPr lang="en-MY" sz="2800" dirty="0"/>
              <a:t>Jurisdiction of Local Government:</a:t>
            </a:r>
          </a:p>
          <a:p>
            <a:pPr lvl="1"/>
            <a:r>
              <a:rPr lang="en-MY" sz="2400" dirty="0"/>
              <a:t>Pass by-laws</a:t>
            </a:r>
          </a:p>
          <a:p>
            <a:pPr lvl="1"/>
            <a:r>
              <a:rPr lang="en-MY" sz="2400" dirty="0"/>
              <a:t>Impose taxes, rent, and service charge used by local residents</a:t>
            </a:r>
          </a:p>
          <a:p>
            <a:pPr lvl="1"/>
            <a:r>
              <a:rPr lang="en-MY" sz="2400" dirty="0"/>
              <a:t>This financial source is then used for funding of management</a:t>
            </a:r>
          </a:p>
        </p:txBody>
      </p:sp>
      <p:pic>
        <p:nvPicPr>
          <p:cNvPr id="2050" name="Picture 2" descr="Dewan Bandaraya Kuala Lumpur - Wikipedia Bahasa Melayu, ensiklopedia bebas">
            <a:extLst>
              <a:ext uri="{FF2B5EF4-FFF2-40B4-BE49-F238E27FC236}">
                <a16:creationId xmlns:a16="http://schemas.microsoft.com/office/drawing/2014/main" id="{8F7AAB52-B1E7-41EE-92B3-482B0E3B2E4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509" y="1644996"/>
            <a:ext cx="3415060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158DEE-7A6D-4B1D-B5D1-5F853ACE7821}"/>
              </a:ext>
            </a:extLst>
          </p:cNvPr>
          <p:cNvSpPr txBox="1"/>
          <p:nvPr/>
        </p:nvSpPr>
        <p:spPr>
          <a:xfrm>
            <a:off x="6648415" y="5845521"/>
            <a:ext cx="489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dirty="0"/>
              <a:t>Logo of the Kuala Lumpur City Hall (DBKL)</a:t>
            </a:r>
          </a:p>
        </p:txBody>
      </p:sp>
    </p:spTree>
    <p:extLst>
      <p:ext uri="{BB962C8B-B14F-4D97-AF65-F5344CB8AC3E}">
        <p14:creationId xmlns:p14="http://schemas.microsoft.com/office/powerpoint/2010/main" val="120726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E646DB9-AA18-43D9-9DFB-B72274881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MY" dirty="0"/>
              <a:t>Image of Night Market in Jalan </a:t>
            </a:r>
            <a:r>
              <a:rPr lang="en-MY" dirty="0" err="1"/>
              <a:t>Tuanku</a:t>
            </a:r>
            <a:r>
              <a:rPr lang="en-MY" dirty="0"/>
              <a:t> Abdul Rahman, Kuala Lumpur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87BD3-3E45-4A4A-AF70-20BCDC269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9022714" cy="953962"/>
          </a:xfrm>
        </p:spPr>
        <p:txBody>
          <a:bodyPr>
            <a:normAutofit/>
          </a:bodyPr>
          <a:lstStyle/>
          <a:p>
            <a:pPr algn="just"/>
            <a:r>
              <a:rPr lang="en-MY" sz="2000" dirty="0"/>
              <a:t>Matters relating to rent and providing space for night market are under the jurisdiction of local governments</a:t>
            </a:r>
          </a:p>
        </p:txBody>
      </p:sp>
      <p:pic>
        <p:nvPicPr>
          <p:cNvPr id="4100" name="Picture 4" descr="Peniaga Pasar Malam Lorong TAR tangguh pembukaan semula, sifat SOP terlalu  ketat | Astro Awani">
            <a:extLst>
              <a:ext uri="{FF2B5EF4-FFF2-40B4-BE49-F238E27FC236}">
                <a16:creationId xmlns:a16="http://schemas.microsoft.com/office/drawing/2014/main" id="{350B8544-5469-4ECA-B2D8-0DBB2D4BCF58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79" b="1957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3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6FBD9-2EBE-4F4C-B283-0959662D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1" y="109330"/>
            <a:ext cx="9998765" cy="1189383"/>
          </a:xfrm>
        </p:spPr>
        <p:txBody>
          <a:bodyPr/>
          <a:lstStyle/>
          <a:p>
            <a:pPr algn="ctr"/>
            <a:r>
              <a:rPr lang="en-US" sz="4000" dirty="0"/>
              <a:t>ISSUES IN THE RELATIONSHIP BETWEEN STATE AND FEDERAL GOVERNMENT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7FB26-CC0A-4E70-9ABD-5B8645155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517904"/>
            <a:ext cx="11470154" cy="4730495"/>
          </a:xfrm>
        </p:spPr>
        <p:txBody>
          <a:bodyPr>
            <a:normAutofit/>
          </a:bodyPr>
          <a:lstStyle/>
          <a:p>
            <a:pPr marL="742950" lvl="1" indent="-285750">
              <a:spcAft>
                <a:spcPts val="800"/>
              </a:spcAft>
              <a:buFont typeface="+mj-lt"/>
              <a:buAutoNum type="alphaLcPeriod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Exiting the Federation </a:t>
            </a:r>
            <a:endParaRPr lang="en-MY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Font typeface="+mj-lt"/>
              <a:buAutoNum type="alphaLcPeriod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Differences in political ideologies-when State Government lead by Opposition Party (opposite ideology)</a:t>
            </a:r>
            <a:endParaRPr lang="en-MY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Font typeface="+mj-lt"/>
              <a:buAutoNum type="alphaLcPeriod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Financial issues</a:t>
            </a:r>
            <a:endParaRPr lang="en-MY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11185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E868-90C6-9A59-1FDE-F7B31A439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9795"/>
          </a:xfrm>
        </p:spPr>
        <p:txBody>
          <a:bodyPr/>
          <a:lstStyle/>
          <a:p>
            <a:pPr algn="ctr"/>
            <a:r>
              <a:rPr lang="en-US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</a:t>
            </a:r>
            <a:endParaRPr lang="en-MY" sz="8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28DB2-E6DA-97F1-6409-965803C31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235" y="2052918"/>
            <a:ext cx="11678477" cy="4195481"/>
          </a:xfrm>
        </p:spPr>
        <p:txBody>
          <a:bodyPr/>
          <a:lstStyle/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Federation is a good system for Malaysia 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 good relationship between federal and state government is important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Federal government must act in accordance with the rules underlined in the constitution to ensure a fair system of administration</a:t>
            </a:r>
            <a:endParaRPr lang="en-MY" sz="2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7322089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635</TotalTime>
  <Words>1887</Words>
  <Application>Microsoft Office PowerPoint</Application>
  <PresentationFormat>Widescreen</PresentationFormat>
  <Paragraphs>207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Calibri</vt:lpstr>
      <vt:lpstr>Century Gothic</vt:lpstr>
      <vt:lpstr>Noto Sans Symbols</vt:lpstr>
      <vt:lpstr>Times New Roman</vt:lpstr>
      <vt:lpstr>Wingdings</vt:lpstr>
      <vt:lpstr>Wingdings 3</vt:lpstr>
      <vt:lpstr>Ion</vt:lpstr>
      <vt:lpstr>1_Office Theme</vt:lpstr>
      <vt:lpstr>Office Theme</vt:lpstr>
      <vt:lpstr>Mesh</vt:lpstr>
      <vt:lpstr>FEM2401 Malaysian Politics &amp; Society TOPIC 7: FEDERAL SYSTEM </vt:lpstr>
      <vt:lpstr>PowerPoint Presentation</vt:lpstr>
      <vt:lpstr>SYSTEM OF GOVERNMENT</vt:lpstr>
      <vt:lpstr>WHAT IS FEDERALISM?</vt:lpstr>
      <vt:lpstr>THE CONCEPT OF FEDERALISM</vt:lpstr>
      <vt:lpstr>ADVANTAGES OF FEDERAL SYSTEM</vt:lpstr>
      <vt:lpstr>DISADVANTAGES OF THE FEDERAL SYSTEM</vt:lpstr>
      <vt:lpstr>BACKGROUND OF FEDERALISM IN MALAYSIA</vt:lpstr>
      <vt:lpstr>FEDERALISM IN MALAYSIA</vt:lpstr>
      <vt:lpstr>PowerPoint Presentation</vt:lpstr>
      <vt:lpstr>NINTH SCHEDULE OF THE FEDERAL CONSTITUTION, CONTAINING THE FEDERAL LIST, THE STATE LIST, AND THE CONCURRENT LIST</vt:lpstr>
      <vt:lpstr>THE PRACTICE OF FEDERALISM IN MALAYSIA</vt:lpstr>
      <vt:lpstr> POWER OF FEDERAL GOVERNMENT  SUPERSEDES STATE GOVERNMENT </vt:lpstr>
      <vt:lpstr>RESIDUAL POWER (State government) </vt:lpstr>
      <vt:lpstr>STATE ADMINISTRATION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Local Government</vt:lpstr>
      <vt:lpstr>Image of Night Market in Jalan Tuanku Abdul Rahman, Kuala Lumpur</vt:lpstr>
      <vt:lpstr>ISSUES IN THE RELATIONSHIP BETWEEN STATE AND FEDERAL GOVERNMENT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MPU2163 Pengajian Malaysia 2</dc:title>
  <dc:creator>Fitri</dc:creator>
  <cp:lastModifiedBy>Amir Munshi</cp:lastModifiedBy>
  <cp:revision>239</cp:revision>
  <dcterms:created xsi:type="dcterms:W3CDTF">2021-06-21T02:18:24Z</dcterms:created>
  <dcterms:modified xsi:type="dcterms:W3CDTF">2023-11-30T16:09:43Z</dcterms:modified>
</cp:coreProperties>
</file>