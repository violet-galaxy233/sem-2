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695" r:id="rId2"/>
    <p:sldMasterId id="2147483707" r:id="rId3"/>
  </p:sldMasterIdLst>
  <p:sldIdLst>
    <p:sldId id="257" r:id="rId4"/>
    <p:sldId id="258" r:id="rId5"/>
    <p:sldId id="297" r:id="rId6"/>
    <p:sldId id="298" r:id="rId7"/>
    <p:sldId id="301" r:id="rId8"/>
    <p:sldId id="300" r:id="rId9"/>
    <p:sldId id="302" r:id="rId10"/>
    <p:sldId id="307" r:id="rId11"/>
    <p:sldId id="259" r:id="rId12"/>
    <p:sldId id="303" r:id="rId13"/>
    <p:sldId id="293" r:id="rId14"/>
    <p:sldId id="261" r:id="rId15"/>
    <p:sldId id="262" r:id="rId16"/>
    <p:sldId id="263" r:id="rId17"/>
    <p:sldId id="308" r:id="rId18"/>
    <p:sldId id="267" r:id="rId19"/>
    <p:sldId id="266" r:id="rId20"/>
    <p:sldId id="272" r:id="rId21"/>
    <p:sldId id="264" r:id="rId22"/>
    <p:sldId id="270" r:id="rId23"/>
    <p:sldId id="265" r:id="rId24"/>
    <p:sldId id="271" r:id="rId25"/>
    <p:sldId id="260" r:id="rId26"/>
    <p:sldId id="273" r:id="rId27"/>
    <p:sldId id="274" r:id="rId28"/>
    <p:sldId id="275" r:id="rId29"/>
    <p:sldId id="276" r:id="rId30"/>
    <p:sldId id="279" r:id="rId31"/>
    <p:sldId id="30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tri" initials="F" lastIdx="1" clrIdx="0">
    <p:extLst>
      <p:ext uri="{19B8F6BF-5375-455C-9EA6-DF929625EA0E}">
        <p15:presenceInfo xmlns:p15="http://schemas.microsoft.com/office/powerpoint/2012/main" userId="Fitr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6809D6-A257-4849-AA1A-DF9951E36DA3}" type="doc">
      <dgm:prSet loTypeId="urn:microsoft.com/office/officeart/2005/8/layout/hierarchy6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MY"/>
        </a:p>
      </dgm:t>
    </dgm:pt>
    <dgm:pt modelId="{89721826-987C-4D02-8C13-5673320C3D82}">
      <dgm:prSet phldrT="[Text]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MY" dirty="0">
              <a:solidFill>
                <a:schemeClr val="tx1"/>
              </a:solidFill>
            </a:rPr>
            <a:t>Ministry</a:t>
          </a:r>
        </a:p>
      </dgm:t>
    </dgm:pt>
    <dgm:pt modelId="{7E4F6E6A-5E63-4681-9C0C-3167B472FCFB}" type="parTrans" cxnId="{9F90F6CE-B0A4-4CB7-9C7D-1A12A608277C}">
      <dgm:prSet/>
      <dgm:spPr/>
      <dgm:t>
        <a:bodyPr/>
        <a:lstStyle/>
        <a:p>
          <a:endParaRPr lang="en-MY"/>
        </a:p>
      </dgm:t>
    </dgm:pt>
    <dgm:pt modelId="{2449C4DF-1DB3-4431-8175-261FC6584058}" type="sibTrans" cxnId="{9F90F6CE-B0A4-4CB7-9C7D-1A12A608277C}">
      <dgm:prSet/>
      <dgm:spPr/>
      <dgm:t>
        <a:bodyPr/>
        <a:lstStyle/>
        <a:p>
          <a:endParaRPr lang="en-MY"/>
        </a:p>
      </dgm:t>
    </dgm:pt>
    <dgm:pt modelId="{37AA4804-E5A4-4197-8BD7-12662776029F}">
      <dgm:prSet phldrT="[Text]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MY" dirty="0">
              <a:solidFill>
                <a:schemeClr val="tx1"/>
              </a:solidFill>
            </a:rPr>
            <a:t>Department</a:t>
          </a:r>
        </a:p>
      </dgm:t>
    </dgm:pt>
    <dgm:pt modelId="{08695A6C-A409-4F66-8434-9B6F406E7B8D}" type="parTrans" cxnId="{27C6428D-CB65-4816-9FEC-4ECB3A4F6FFA}">
      <dgm:prSet/>
      <dgm:spPr/>
      <dgm:t>
        <a:bodyPr/>
        <a:lstStyle/>
        <a:p>
          <a:endParaRPr lang="en-MY"/>
        </a:p>
      </dgm:t>
    </dgm:pt>
    <dgm:pt modelId="{2EB08E1A-8E37-4CD2-9B55-BF59255321FC}" type="sibTrans" cxnId="{27C6428D-CB65-4816-9FEC-4ECB3A4F6FFA}">
      <dgm:prSet/>
      <dgm:spPr/>
      <dgm:t>
        <a:bodyPr/>
        <a:lstStyle/>
        <a:p>
          <a:endParaRPr lang="en-MY"/>
        </a:p>
      </dgm:t>
    </dgm:pt>
    <dgm:pt modelId="{EFCB2B2E-0EDC-438B-B3EB-39EF4D468F21}">
      <dgm:prSet phldrT="[Text]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MY" dirty="0">
              <a:solidFill>
                <a:schemeClr val="tx1"/>
              </a:solidFill>
            </a:rPr>
            <a:t>Public Services</a:t>
          </a:r>
        </a:p>
      </dgm:t>
    </dgm:pt>
    <dgm:pt modelId="{8CD6B7B0-7065-4C25-8C7F-0EFDB592E1BB}" type="parTrans" cxnId="{827A661E-C0FF-4AB9-96B3-1698861E7E81}">
      <dgm:prSet/>
      <dgm:spPr/>
      <dgm:t>
        <a:bodyPr/>
        <a:lstStyle/>
        <a:p>
          <a:endParaRPr lang="en-MY"/>
        </a:p>
      </dgm:t>
    </dgm:pt>
    <dgm:pt modelId="{E9B33238-40DE-4E63-9CB6-2BC28374D8E0}" type="sibTrans" cxnId="{827A661E-C0FF-4AB9-96B3-1698861E7E81}">
      <dgm:prSet/>
      <dgm:spPr/>
      <dgm:t>
        <a:bodyPr/>
        <a:lstStyle/>
        <a:p>
          <a:endParaRPr lang="en-MY"/>
        </a:p>
      </dgm:t>
    </dgm:pt>
    <dgm:pt modelId="{B4A2F9AF-5996-46CA-B6DA-AEFBB7C0800B}">
      <dgm:prSet phldrT="[Text]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MY" dirty="0">
              <a:solidFill>
                <a:schemeClr val="tx1"/>
              </a:solidFill>
            </a:rPr>
            <a:t>Statutory Bodies</a:t>
          </a:r>
        </a:p>
      </dgm:t>
    </dgm:pt>
    <dgm:pt modelId="{DD0D82B0-AC19-4A49-B47C-03B5285B3B7B}" type="parTrans" cxnId="{F2FC2180-A589-4B78-B76D-2A5C3A8E4080}">
      <dgm:prSet/>
      <dgm:spPr/>
      <dgm:t>
        <a:bodyPr/>
        <a:lstStyle/>
        <a:p>
          <a:endParaRPr lang="en-MY"/>
        </a:p>
      </dgm:t>
    </dgm:pt>
    <dgm:pt modelId="{50F4A052-6FD8-4E81-AA61-9FE85B7BB6E7}" type="sibTrans" cxnId="{F2FC2180-A589-4B78-B76D-2A5C3A8E4080}">
      <dgm:prSet/>
      <dgm:spPr/>
      <dgm:t>
        <a:bodyPr/>
        <a:lstStyle/>
        <a:p>
          <a:endParaRPr lang="en-MY"/>
        </a:p>
      </dgm:t>
    </dgm:pt>
    <dgm:pt modelId="{E72A27FE-3018-496D-A19E-C5DE973D35D0}">
      <dgm:prSet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Non-Statutory Body</a:t>
          </a:r>
          <a:endParaRPr lang="en-MY" dirty="0">
            <a:solidFill>
              <a:schemeClr val="tx1"/>
            </a:solidFill>
          </a:endParaRPr>
        </a:p>
      </dgm:t>
    </dgm:pt>
    <dgm:pt modelId="{852FBCD7-0430-4669-9642-F7E0F9FEE523}" type="parTrans" cxnId="{F51B0423-0516-4095-BF2E-05F10980156D}">
      <dgm:prSet/>
      <dgm:spPr/>
      <dgm:t>
        <a:bodyPr/>
        <a:lstStyle/>
        <a:p>
          <a:endParaRPr lang="en-MY"/>
        </a:p>
      </dgm:t>
    </dgm:pt>
    <dgm:pt modelId="{25FDD791-32D2-466D-BC53-6F5445A87BC4}" type="sibTrans" cxnId="{F51B0423-0516-4095-BF2E-05F10980156D}">
      <dgm:prSet/>
      <dgm:spPr/>
      <dgm:t>
        <a:bodyPr/>
        <a:lstStyle/>
        <a:p>
          <a:endParaRPr lang="en-MY"/>
        </a:p>
      </dgm:t>
    </dgm:pt>
    <dgm:pt modelId="{82265C9D-7C95-4FEB-9B5F-3E029FEDFDB0}" type="pres">
      <dgm:prSet presAssocID="{4D6809D6-A257-4849-AA1A-DF9951E36DA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964DAC1-8C55-4A4B-9B44-1F592916EAB7}" type="pres">
      <dgm:prSet presAssocID="{4D6809D6-A257-4849-AA1A-DF9951E36DA3}" presName="hierFlow" presStyleCnt="0"/>
      <dgm:spPr/>
    </dgm:pt>
    <dgm:pt modelId="{94479B51-6067-462E-A590-93AB4288F67C}" type="pres">
      <dgm:prSet presAssocID="{4D6809D6-A257-4849-AA1A-DF9951E36DA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6EC62D77-E468-415A-8A00-B008F91A25DA}" type="pres">
      <dgm:prSet presAssocID="{89721826-987C-4D02-8C13-5673320C3D82}" presName="Name14" presStyleCnt="0"/>
      <dgm:spPr/>
    </dgm:pt>
    <dgm:pt modelId="{2183FDB1-49FB-4E1A-817D-D87F2D3F9A73}" type="pres">
      <dgm:prSet presAssocID="{89721826-987C-4D02-8C13-5673320C3D82}" presName="level1Shape" presStyleLbl="node0" presStyleIdx="0" presStyleCnt="1">
        <dgm:presLayoutVars>
          <dgm:chPref val="3"/>
        </dgm:presLayoutVars>
      </dgm:prSet>
      <dgm:spPr/>
    </dgm:pt>
    <dgm:pt modelId="{A4A6DA2C-8D91-4716-B249-220F4B841A82}" type="pres">
      <dgm:prSet presAssocID="{89721826-987C-4D02-8C13-5673320C3D82}" presName="hierChild2" presStyleCnt="0"/>
      <dgm:spPr/>
    </dgm:pt>
    <dgm:pt modelId="{C3E5038B-8DC5-4A81-919D-D8B282CE2104}" type="pres">
      <dgm:prSet presAssocID="{08695A6C-A409-4F66-8434-9B6F406E7B8D}" presName="Name19" presStyleLbl="parChTrans1D2" presStyleIdx="0" presStyleCnt="2"/>
      <dgm:spPr/>
    </dgm:pt>
    <dgm:pt modelId="{A92A8126-79A8-4737-AECF-47FAE2DB257D}" type="pres">
      <dgm:prSet presAssocID="{37AA4804-E5A4-4197-8BD7-12662776029F}" presName="Name21" presStyleCnt="0"/>
      <dgm:spPr/>
    </dgm:pt>
    <dgm:pt modelId="{8A002A93-5763-4859-BFE1-3677EC5DAE24}" type="pres">
      <dgm:prSet presAssocID="{37AA4804-E5A4-4197-8BD7-12662776029F}" presName="level2Shape" presStyleLbl="node2" presStyleIdx="0" presStyleCnt="2"/>
      <dgm:spPr/>
    </dgm:pt>
    <dgm:pt modelId="{F7563F31-1B83-4604-A902-736DA56C6618}" type="pres">
      <dgm:prSet presAssocID="{37AA4804-E5A4-4197-8BD7-12662776029F}" presName="hierChild3" presStyleCnt="0"/>
      <dgm:spPr/>
    </dgm:pt>
    <dgm:pt modelId="{54A34F1F-663E-453D-8109-23038F498215}" type="pres">
      <dgm:prSet presAssocID="{8CD6B7B0-7065-4C25-8C7F-0EFDB592E1BB}" presName="Name19" presStyleLbl="parChTrans1D2" presStyleIdx="1" presStyleCnt="2"/>
      <dgm:spPr/>
    </dgm:pt>
    <dgm:pt modelId="{E30EEFBA-CD60-4A28-AD59-83173B1C86CA}" type="pres">
      <dgm:prSet presAssocID="{EFCB2B2E-0EDC-438B-B3EB-39EF4D468F21}" presName="Name21" presStyleCnt="0"/>
      <dgm:spPr/>
    </dgm:pt>
    <dgm:pt modelId="{B0F0A166-F697-4CF3-BDBA-FFA64993EA0D}" type="pres">
      <dgm:prSet presAssocID="{EFCB2B2E-0EDC-438B-B3EB-39EF4D468F21}" presName="level2Shape" presStyleLbl="node2" presStyleIdx="1" presStyleCnt="2" custLinFactNeighborX="3661" custLinFactNeighborY="-1865"/>
      <dgm:spPr/>
    </dgm:pt>
    <dgm:pt modelId="{1144310A-87E9-4087-B966-CAA2543C7087}" type="pres">
      <dgm:prSet presAssocID="{EFCB2B2E-0EDC-438B-B3EB-39EF4D468F21}" presName="hierChild3" presStyleCnt="0"/>
      <dgm:spPr/>
    </dgm:pt>
    <dgm:pt modelId="{3ADD34CF-9D3F-4C56-9E07-F9CF0B6F4C0A}" type="pres">
      <dgm:prSet presAssocID="{DD0D82B0-AC19-4A49-B47C-03B5285B3B7B}" presName="Name19" presStyleLbl="parChTrans1D3" presStyleIdx="0" presStyleCnt="2"/>
      <dgm:spPr/>
    </dgm:pt>
    <dgm:pt modelId="{A990C9E2-109A-41CC-B7EE-5BC646495794}" type="pres">
      <dgm:prSet presAssocID="{B4A2F9AF-5996-46CA-B6DA-AEFBB7C0800B}" presName="Name21" presStyleCnt="0"/>
      <dgm:spPr/>
    </dgm:pt>
    <dgm:pt modelId="{0C33116E-D3AF-46D6-AE6B-85F5974BAD18}" type="pres">
      <dgm:prSet presAssocID="{B4A2F9AF-5996-46CA-B6DA-AEFBB7C0800B}" presName="level2Shape" presStyleLbl="node3" presStyleIdx="0" presStyleCnt="2"/>
      <dgm:spPr/>
    </dgm:pt>
    <dgm:pt modelId="{7AFBB313-E8FB-49A6-95DB-112FD6E56A2B}" type="pres">
      <dgm:prSet presAssocID="{B4A2F9AF-5996-46CA-B6DA-AEFBB7C0800B}" presName="hierChild3" presStyleCnt="0"/>
      <dgm:spPr/>
    </dgm:pt>
    <dgm:pt modelId="{EDD06293-7B62-41D2-A331-9FF60AB6DF76}" type="pres">
      <dgm:prSet presAssocID="{852FBCD7-0430-4669-9642-F7E0F9FEE523}" presName="Name19" presStyleLbl="parChTrans1D3" presStyleIdx="1" presStyleCnt="2"/>
      <dgm:spPr/>
    </dgm:pt>
    <dgm:pt modelId="{9ECBA8A1-6A1C-445A-A4D4-C9C28A0AB574}" type="pres">
      <dgm:prSet presAssocID="{E72A27FE-3018-496D-A19E-C5DE973D35D0}" presName="Name21" presStyleCnt="0"/>
      <dgm:spPr/>
    </dgm:pt>
    <dgm:pt modelId="{D09E385C-AC83-44CB-A9B6-8002A4630CB4}" type="pres">
      <dgm:prSet presAssocID="{E72A27FE-3018-496D-A19E-C5DE973D35D0}" presName="level2Shape" presStyleLbl="node3" presStyleIdx="1" presStyleCnt="2"/>
      <dgm:spPr/>
    </dgm:pt>
    <dgm:pt modelId="{7C4B099D-477D-432D-8598-85A8FFFA5E72}" type="pres">
      <dgm:prSet presAssocID="{E72A27FE-3018-496D-A19E-C5DE973D35D0}" presName="hierChild3" presStyleCnt="0"/>
      <dgm:spPr/>
    </dgm:pt>
    <dgm:pt modelId="{B49E3261-E9C0-40E9-99B6-8F797ABA3CFE}" type="pres">
      <dgm:prSet presAssocID="{4D6809D6-A257-4849-AA1A-DF9951E36DA3}" presName="bgShapesFlow" presStyleCnt="0"/>
      <dgm:spPr/>
    </dgm:pt>
  </dgm:ptLst>
  <dgm:cxnLst>
    <dgm:cxn modelId="{C4852210-6F15-41C3-B8B8-C2D77E4C5C3D}" type="presOf" srcId="{B4A2F9AF-5996-46CA-B6DA-AEFBB7C0800B}" destId="{0C33116E-D3AF-46D6-AE6B-85F5974BAD18}" srcOrd="0" destOrd="0" presId="urn:microsoft.com/office/officeart/2005/8/layout/hierarchy6"/>
    <dgm:cxn modelId="{E9D95F1E-2807-41A5-9728-86B06DD6E29D}" type="presOf" srcId="{DD0D82B0-AC19-4A49-B47C-03B5285B3B7B}" destId="{3ADD34CF-9D3F-4C56-9E07-F9CF0B6F4C0A}" srcOrd="0" destOrd="0" presId="urn:microsoft.com/office/officeart/2005/8/layout/hierarchy6"/>
    <dgm:cxn modelId="{827A661E-C0FF-4AB9-96B3-1698861E7E81}" srcId="{89721826-987C-4D02-8C13-5673320C3D82}" destId="{EFCB2B2E-0EDC-438B-B3EB-39EF4D468F21}" srcOrd="1" destOrd="0" parTransId="{8CD6B7B0-7065-4C25-8C7F-0EFDB592E1BB}" sibTransId="{E9B33238-40DE-4E63-9CB6-2BC28374D8E0}"/>
    <dgm:cxn modelId="{F51B0423-0516-4095-BF2E-05F10980156D}" srcId="{EFCB2B2E-0EDC-438B-B3EB-39EF4D468F21}" destId="{E72A27FE-3018-496D-A19E-C5DE973D35D0}" srcOrd="1" destOrd="0" parTransId="{852FBCD7-0430-4669-9642-F7E0F9FEE523}" sibTransId="{25FDD791-32D2-466D-BC53-6F5445A87BC4}"/>
    <dgm:cxn modelId="{60793B5C-A540-4415-9A43-14A22A7C30C0}" type="presOf" srcId="{8CD6B7B0-7065-4C25-8C7F-0EFDB592E1BB}" destId="{54A34F1F-663E-453D-8109-23038F498215}" srcOrd="0" destOrd="0" presId="urn:microsoft.com/office/officeart/2005/8/layout/hierarchy6"/>
    <dgm:cxn modelId="{74FF436A-3520-4497-9719-29833EC331E2}" type="presOf" srcId="{08695A6C-A409-4F66-8434-9B6F406E7B8D}" destId="{C3E5038B-8DC5-4A81-919D-D8B282CE2104}" srcOrd="0" destOrd="0" presId="urn:microsoft.com/office/officeart/2005/8/layout/hierarchy6"/>
    <dgm:cxn modelId="{F2FC2180-A589-4B78-B76D-2A5C3A8E4080}" srcId="{EFCB2B2E-0EDC-438B-B3EB-39EF4D468F21}" destId="{B4A2F9AF-5996-46CA-B6DA-AEFBB7C0800B}" srcOrd="0" destOrd="0" parTransId="{DD0D82B0-AC19-4A49-B47C-03B5285B3B7B}" sibTransId="{50F4A052-6FD8-4E81-AA61-9FE85B7BB6E7}"/>
    <dgm:cxn modelId="{27C6428D-CB65-4816-9FEC-4ECB3A4F6FFA}" srcId="{89721826-987C-4D02-8C13-5673320C3D82}" destId="{37AA4804-E5A4-4197-8BD7-12662776029F}" srcOrd="0" destOrd="0" parTransId="{08695A6C-A409-4F66-8434-9B6F406E7B8D}" sibTransId="{2EB08E1A-8E37-4CD2-9B55-BF59255321FC}"/>
    <dgm:cxn modelId="{EA251B9C-FD2C-4EDC-8B32-FFC787EBA0BC}" type="presOf" srcId="{EFCB2B2E-0EDC-438B-B3EB-39EF4D468F21}" destId="{B0F0A166-F697-4CF3-BDBA-FFA64993EA0D}" srcOrd="0" destOrd="0" presId="urn:microsoft.com/office/officeart/2005/8/layout/hierarchy6"/>
    <dgm:cxn modelId="{1DAB75AE-0013-4E4B-B871-AD7329E9E523}" type="presOf" srcId="{37AA4804-E5A4-4197-8BD7-12662776029F}" destId="{8A002A93-5763-4859-BFE1-3677EC5DAE24}" srcOrd="0" destOrd="0" presId="urn:microsoft.com/office/officeart/2005/8/layout/hierarchy6"/>
    <dgm:cxn modelId="{571116C0-FD4F-438E-95C9-0F7F0D7AFC8E}" type="presOf" srcId="{852FBCD7-0430-4669-9642-F7E0F9FEE523}" destId="{EDD06293-7B62-41D2-A331-9FF60AB6DF76}" srcOrd="0" destOrd="0" presId="urn:microsoft.com/office/officeart/2005/8/layout/hierarchy6"/>
    <dgm:cxn modelId="{9F90F6CE-B0A4-4CB7-9C7D-1A12A608277C}" srcId="{4D6809D6-A257-4849-AA1A-DF9951E36DA3}" destId="{89721826-987C-4D02-8C13-5673320C3D82}" srcOrd="0" destOrd="0" parTransId="{7E4F6E6A-5E63-4681-9C0C-3167B472FCFB}" sibTransId="{2449C4DF-1DB3-4431-8175-261FC6584058}"/>
    <dgm:cxn modelId="{A0FE75E1-56EF-4746-BEED-AAFD38C4DEEC}" type="presOf" srcId="{89721826-987C-4D02-8C13-5673320C3D82}" destId="{2183FDB1-49FB-4E1A-817D-D87F2D3F9A73}" srcOrd="0" destOrd="0" presId="urn:microsoft.com/office/officeart/2005/8/layout/hierarchy6"/>
    <dgm:cxn modelId="{7CBA67F6-B1B6-4326-9765-BE7AB4401478}" type="presOf" srcId="{4D6809D6-A257-4849-AA1A-DF9951E36DA3}" destId="{82265C9D-7C95-4FEB-9B5F-3E029FEDFDB0}" srcOrd="0" destOrd="0" presId="urn:microsoft.com/office/officeart/2005/8/layout/hierarchy6"/>
    <dgm:cxn modelId="{40771FFF-0B1D-4E13-905C-B0EF5028D81A}" type="presOf" srcId="{E72A27FE-3018-496D-A19E-C5DE973D35D0}" destId="{D09E385C-AC83-44CB-A9B6-8002A4630CB4}" srcOrd="0" destOrd="0" presId="urn:microsoft.com/office/officeart/2005/8/layout/hierarchy6"/>
    <dgm:cxn modelId="{4F58C816-5CBC-4B14-98EA-A99CC4810E09}" type="presParOf" srcId="{82265C9D-7C95-4FEB-9B5F-3E029FEDFDB0}" destId="{C964DAC1-8C55-4A4B-9B44-1F592916EAB7}" srcOrd="0" destOrd="0" presId="urn:microsoft.com/office/officeart/2005/8/layout/hierarchy6"/>
    <dgm:cxn modelId="{46C3B7CD-6433-40E3-89C1-FA4F4DA85F38}" type="presParOf" srcId="{C964DAC1-8C55-4A4B-9B44-1F592916EAB7}" destId="{94479B51-6067-462E-A590-93AB4288F67C}" srcOrd="0" destOrd="0" presId="urn:microsoft.com/office/officeart/2005/8/layout/hierarchy6"/>
    <dgm:cxn modelId="{DE67179F-6101-4CFC-9C6C-246E74237C75}" type="presParOf" srcId="{94479B51-6067-462E-A590-93AB4288F67C}" destId="{6EC62D77-E468-415A-8A00-B008F91A25DA}" srcOrd="0" destOrd="0" presId="urn:microsoft.com/office/officeart/2005/8/layout/hierarchy6"/>
    <dgm:cxn modelId="{0232F848-2B81-4228-9A34-0FBEB5D27358}" type="presParOf" srcId="{6EC62D77-E468-415A-8A00-B008F91A25DA}" destId="{2183FDB1-49FB-4E1A-817D-D87F2D3F9A73}" srcOrd="0" destOrd="0" presId="urn:microsoft.com/office/officeart/2005/8/layout/hierarchy6"/>
    <dgm:cxn modelId="{02DBD930-4214-4411-95C6-9A39197A46A1}" type="presParOf" srcId="{6EC62D77-E468-415A-8A00-B008F91A25DA}" destId="{A4A6DA2C-8D91-4716-B249-220F4B841A82}" srcOrd="1" destOrd="0" presId="urn:microsoft.com/office/officeart/2005/8/layout/hierarchy6"/>
    <dgm:cxn modelId="{D407353E-F800-46AA-AE05-9B550F080743}" type="presParOf" srcId="{A4A6DA2C-8D91-4716-B249-220F4B841A82}" destId="{C3E5038B-8DC5-4A81-919D-D8B282CE2104}" srcOrd="0" destOrd="0" presId="urn:microsoft.com/office/officeart/2005/8/layout/hierarchy6"/>
    <dgm:cxn modelId="{0F159B2F-0EE7-4D2B-8A7B-E12FA8ACD32E}" type="presParOf" srcId="{A4A6DA2C-8D91-4716-B249-220F4B841A82}" destId="{A92A8126-79A8-4737-AECF-47FAE2DB257D}" srcOrd="1" destOrd="0" presId="urn:microsoft.com/office/officeart/2005/8/layout/hierarchy6"/>
    <dgm:cxn modelId="{ADBA1E9E-CB24-401D-B50A-1F0F28748E45}" type="presParOf" srcId="{A92A8126-79A8-4737-AECF-47FAE2DB257D}" destId="{8A002A93-5763-4859-BFE1-3677EC5DAE24}" srcOrd="0" destOrd="0" presId="urn:microsoft.com/office/officeart/2005/8/layout/hierarchy6"/>
    <dgm:cxn modelId="{9B05AE78-9C60-4ED0-B160-52608C95C9C5}" type="presParOf" srcId="{A92A8126-79A8-4737-AECF-47FAE2DB257D}" destId="{F7563F31-1B83-4604-A902-736DA56C6618}" srcOrd="1" destOrd="0" presId="urn:microsoft.com/office/officeart/2005/8/layout/hierarchy6"/>
    <dgm:cxn modelId="{BEE21258-6FA7-4C91-9212-9D1B7F028198}" type="presParOf" srcId="{A4A6DA2C-8D91-4716-B249-220F4B841A82}" destId="{54A34F1F-663E-453D-8109-23038F498215}" srcOrd="2" destOrd="0" presId="urn:microsoft.com/office/officeart/2005/8/layout/hierarchy6"/>
    <dgm:cxn modelId="{5DF3FF16-7350-41DA-BB90-5BC9899E911E}" type="presParOf" srcId="{A4A6DA2C-8D91-4716-B249-220F4B841A82}" destId="{E30EEFBA-CD60-4A28-AD59-83173B1C86CA}" srcOrd="3" destOrd="0" presId="urn:microsoft.com/office/officeart/2005/8/layout/hierarchy6"/>
    <dgm:cxn modelId="{82BBD06E-64E0-4317-82DB-AF940ED8E706}" type="presParOf" srcId="{E30EEFBA-CD60-4A28-AD59-83173B1C86CA}" destId="{B0F0A166-F697-4CF3-BDBA-FFA64993EA0D}" srcOrd="0" destOrd="0" presId="urn:microsoft.com/office/officeart/2005/8/layout/hierarchy6"/>
    <dgm:cxn modelId="{E4839F7C-E02D-445B-9CD6-9DB66781872B}" type="presParOf" srcId="{E30EEFBA-CD60-4A28-AD59-83173B1C86CA}" destId="{1144310A-87E9-4087-B966-CAA2543C7087}" srcOrd="1" destOrd="0" presId="urn:microsoft.com/office/officeart/2005/8/layout/hierarchy6"/>
    <dgm:cxn modelId="{86D73795-1F3D-4526-B9F1-B9A80D1431E5}" type="presParOf" srcId="{1144310A-87E9-4087-B966-CAA2543C7087}" destId="{3ADD34CF-9D3F-4C56-9E07-F9CF0B6F4C0A}" srcOrd="0" destOrd="0" presId="urn:microsoft.com/office/officeart/2005/8/layout/hierarchy6"/>
    <dgm:cxn modelId="{F5C42A55-7A81-407F-B346-99EC3C887D92}" type="presParOf" srcId="{1144310A-87E9-4087-B966-CAA2543C7087}" destId="{A990C9E2-109A-41CC-B7EE-5BC646495794}" srcOrd="1" destOrd="0" presId="urn:microsoft.com/office/officeart/2005/8/layout/hierarchy6"/>
    <dgm:cxn modelId="{9C16D79E-52EB-4014-85E6-5FBF641657F8}" type="presParOf" srcId="{A990C9E2-109A-41CC-B7EE-5BC646495794}" destId="{0C33116E-D3AF-46D6-AE6B-85F5974BAD18}" srcOrd="0" destOrd="0" presId="urn:microsoft.com/office/officeart/2005/8/layout/hierarchy6"/>
    <dgm:cxn modelId="{2A2B6224-A35A-4FD7-9300-151043D8BEFE}" type="presParOf" srcId="{A990C9E2-109A-41CC-B7EE-5BC646495794}" destId="{7AFBB313-E8FB-49A6-95DB-112FD6E56A2B}" srcOrd="1" destOrd="0" presId="urn:microsoft.com/office/officeart/2005/8/layout/hierarchy6"/>
    <dgm:cxn modelId="{0563E6B6-C283-4A95-8793-709D6719FCEE}" type="presParOf" srcId="{1144310A-87E9-4087-B966-CAA2543C7087}" destId="{EDD06293-7B62-41D2-A331-9FF60AB6DF76}" srcOrd="2" destOrd="0" presId="urn:microsoft.com/office/officeart/2005/8/layout/hierarchy6"/>
    <dgm:cxn modelId="{A4138CEF-6964-429F-9947-A92560609301}" type="presParOf" srcId="{1144310A-87E9-4087-B966-CAA2543C7087}" destId="{9ECBA8A1-6A1C-445A-A4D4-C9C28A0AB574}" srcOrd="3" destOrd="0" presId="urn:microsoft.com/office/officeart/2005/8/layout/hierarchy6"/>
    <dgm:cxn modelId="{A5F3E543-62C5-441B-B40C-34FC1E7095DD}" type="presParOf" srcId="{9ECBA8A1-6A1C-445A-A4D4-C9C28A0AB574}" destId="{D09E385C-AC83-44CB-A9B6-8002A4630CB4}" srcOrd="0" destOrd="0" presId="urn:microsoft.com/office/officeart/2005/8/layout/hierarchy6"/>
    <dgm:cxn modelId="{8172D005-2534-42AC-9229-E4C53596CB64}" type="presParOf" srcId="{9ECBA8A1-6A1C-445A-A4D4-C9C28A0AB574}" destId="{7C4B099D-477D-432D-8598-85A8FFFA5E72}" srcOrd="1" destOrd="0" presId="urn:microsoft.com/office/officeart/2005/8/layout/hierarchy6"/>
    <dgm:cxn modelId="{55C4B00E-518E-4EE5-BA29-9212FE22DCE3}" type="presParOf" srcId="{82265C9D-7C95-4FEB-9B5F-3E029FEDFDB0}" destId="{B49E3261-E9C0-40E9-99B6-8F797ABA3CF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3FDB1-49FB-4E1A-817D-D87F2D3F9A73}">
      <dsp:nvSpPr>
        <dsp:cNvPr id="0" name=""/>
        <dsp:cNvSpPr/>
      </dsp:nvSpPr>
      <dsp:spPr>
        <a:xfrm>
          <a:off x="1143082" y="169326"/>
          <a:ext cx="1757224" cy="1171483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 dirty="0">
              <a:solidFill>
                <a:schemeClr val="tx1"/>
              </a:solidFill>
            </a:rPr>
            <a:t>Ministry</a:t>
          </a:r>
        </a:p>
      </dsp:txBody>
      <dsp:txXfrm>
        <a:off x="1177394" y="203638"/>
        <a:ext cx="1688600" cy="1102859"/>
      </dsp:txXfrm>
    </dsp:sp>
    <dsp:sp modelId="{C3E5038B-8DC5-4A81-919D-D8B282CE2104}">
      <dsp:nvSpPr>
        <dsp:cNvPr id="0" name=""/>
        <dsp:cNvSpPr/>
      </dsp:nvSpPr>
      <dsp:spPr>
        <a:xfrm>
          <a:off x="879498" y="1340810"/>
          <a:ext cx="1142196" cy="468593"/>
        </a:xfrm>
        <a:custGeom>
          <a:avLst/>
          <a:gdLst/>
          <a:ahLst/>
          <a:cxnLst/>
          <a:rect l="0" t="0" r="0" b="0"/>
          <a:pathLst>
            <a:path>
              <a:moveTo>
                <a:pt x="1142196" y="0"/>
              </a:moveTo>
              <a:lnTo>
                <a:pt x="1142196" y="234296"/>
              </a:lnTo>
              <a:lnTo>
                <a:pt x="0" y="234296"/>
              </a:lnTo>
              <a:lnTo>
                <a:pt x="0" y="46859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002A93-5763-4859-BFE1-3677EC5DAE24}">
      <dsp:nvSpPr>
        <dsp:cNvPr id="0" name=""/>
        <dsp:cNvSpPr/>
      </dsp:nvSpPr>
      <dsp:spPr>
        <a:xfrm>
          <a:off x="886" y="1809403"/>
          <a:ext cx="1757224" cy="1171483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 dirty="0">
              <a:solidFill>
                <a:schemeClr val="tx1"/>
              </a:solidFill>
            </a:rPr>
            <a:t>Department</a:t>
          </a:r>
        </a:p>
      </dsp:txBody>
      <dsp:txXfrm>
        <a:off x="35198" y="1843715"/>
        <a:ext cx="1688600" cy="1102859"/>
      </dsp:txXfrm>
    </dsp:sp>
    <dsp:sp modelId="{54A34F1F-663E-453D-8109-23038F498215}">
      <dsp:nvSpPr>
        <dsp:cNvPr id="0" name=""/>
        <dsp:cNvSpPr/>
      </dsp:nvSpPr>
      <dsp:spPr>
        <a:xfrm>
          <a:off x="2021694" y="1340810"/>
          <a:ext cx="1206528" cy="4467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372"/>
              </a:lnTo>
              <a:lnTo>
                <a:pt x="1206528" y="223372"/>
              </a:lnTo>
              <a:lnTo>
                <a:pt x="1206528" y="44674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F0A166-F697-4CF3-BDBA-FFA64993EA0D}">
      <dsp:nvSpPr>
        <dsp:cNvPr id="0" name=""/>
        <dsp:cNvSpPr/>
      </dsp:nvSpPr>
      <dsp:spPr>
        <a:xfrm>
          <a:off x="2349610" y="1787555"/>
          <a:ext cx="1757224" cy="1171483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 dirty="0">
              <a:solidFill>
                <a:schemeClr val="tx1"/>
              </a:solidFill>
            </a:rPr>
            <a:t>Public Services</a:t>
          </a:r>
        </a:p>
      </dsp:txBody>
      <dsp:txXfrm>
        <a:off x="2383922" y="1821867"/>
        <a:ext cx="1688600" cy="1102859"/>
      </dsp:txXfrm>
    </dsp:sp>
    <dsp:sp modelId="{3ADD34CF-9D3F-4C56-9E07-F9CF0B6F4C0A}">
      <dsp:nvSpPr>
        <dsp:cNvPr id="0" name=""/>
        <dsp:cNvSpPr/>
      </dsp:nvSpPr>
      <dsp:spPr>
        <a:xfrm>
          <a:off x="2021694" y="2959038"/>
          <a:ext cx="1206528" cy="490441"/>
        </a:xfrm>
        <a:custGeom>
          <a:avLst/>
          <a:gdLst/>
          <a:ahLst/>
          <a:cxnLst/>
          <a:rect l="0" t="0" r="0" b="0"/>
          <a:pathLst>
            <a:path>
              <a:moveTo>
                <a:pt x="1206528" y="0"/>
              </a:moveTo>
              <a:lnTo>
                <a:pt x="1206528" y="245220"/>
              </a:lnTo>
              <a:lnTo>
                <a:pt x="0" y="245220"/>
              </a:lnTo>
              <a:lnTo>
                <a:pt x="0" y="49044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33116E-D3AF-46D6-AE6B-85F5974BAD18}">
      <dsp:nvSpPr>
        <dsp:cNvPr id="0" name=""/>
        <dsp:cNvSpPr/>
      </dsp:nvSpPr>
      <dsp:spPr>
        <a:xfrm>
          <a:off x="1143082" y="3449479"/>
          <a:ext cx="1757224" cy="1171483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 dirty="0">
              <a:solidFill>
                <a:schemeClr val="tx1"/>
              </a:solidFill>
            </a:rPr>
            <a:t>Statutory Bodies</a:t>
          </a:r>
        </a:p>
      </dsp:txBody>
      <dsp:txXfrm>
        <a:off x="1177394" y="3483791"/>
        <a:ext cx="1688600" cy="1102859"/>
      </dsp:txXfrm>
    </dsp:sp>
    <dsp:sp modelId="{EDD06293-7B62-41D2-A331-9FF60AB6DF76}">
      <dsp:nvSpPr>
        <dsp:cNvPr id="0" name=""/>
        <dsp:cNvSpPr/>
      </dsp:nvSpPr>
      <dsp:spPr>
        <a:xfrm>
          <a:off x="3228223" y="2959038"/>
          <a:ext cx="1077864" cy="4904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220"/>
              </a:lnTo>
              <a:lnTo>
                <a:pt x="1077864" y="245220"/>
              </a:lnTo>
              <a:lnTo>
                <a:pt x="1077864" y="49044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E385C-AC83-44CB-A9B6-8002A4630CB4}">
      <dsp:nvSpPr>
        <dsp:cNvPr id="0" name=""/>
        <dsp:cNvSpPr/>
      </dsp:nvSpPr>
      <dsp:spPr>
        <a:xfrm>
          <a:off x="3427474" y="3449479"/>
          <a:ext cx="1757224" cy="1171483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9050" cap="rnd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</a:rPr>
            <a:t>Non-Statutory Body</a:t>
          </a:r>
          <a:endParaRPr lang="en-MY" sz="2000" kern="1200" dirty="0">
            <a:solidFill>
              <a:schemeClr val="tx1"/>
            </a:solidFill>
          </a:endParaRPr>
        </a:p>
      </dsp:txBody>
      <dsp:txXfrm>
        <a:off x="3461786" y="3483791"/>
        <a:ext cx="1688600" cy="11028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3113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413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380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756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090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965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5649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523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940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771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31378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030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9068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7090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0266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9834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68046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64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451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238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411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984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06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1187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515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3906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2154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1470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139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25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003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276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121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974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36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56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076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179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9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8A877A6-B9F5-4867-A3A3-392470B18AE2}" type="datetimeFigureOut">
              <a:rPr lang="en-MY" smtClean="0"/>
              <a:t>14/12/2023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0625C-0DFE-48EE-B4CF-6F31E8BA3B9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892440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43EDA-DEC2-4A58-BAD0-B33D6BFF9C8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6843-D98A-4A40-A15F-0EA58E8BBB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47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4E152-5AF6-4A32-9BB5-E2D5EA3B01E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04647-6617-4D77-871B-7F401C13A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8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binet.gov.my/bkpp/index.php/anggota-pentadbiran/menteri" TargetMode="Externa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://www.pmo.gov.my/home.php?menu=cabinet&amp;page=1797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D04A-6424-45AE-B5E7-7F06300B0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53556"/>
            <a:ext cx="8825658" cy="2677648"/>
          </a:xfrm>
        </p:spPr>
        <p:txBody>
          <a:bodyPr>
            <a:normAutofit/>
          </a:bodyPr>
          <a:lstStyle/>
          <a:p>
            <a:pPr algn="ctr"/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FEM2401 Malaysian Politics &amp; Society</a:t>
            </a:r>
            <a:b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TOPIC 8: EXECUTIVE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0A348-4F31-4359-AF21-1556C1BD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956483"/>
            <a:ext cx="8637072" cy="2047961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Lecturer: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MUHAMMAD AMIR BIN MUNSHI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79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AEBA-5E32-4CF4-AC91-E90CAD078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593035"/>
            <a:ext cx="5824330" cy="5671929"/>
          </a:xfrm>
        </p:spPr>
        <p:txBody>
          <a:bodyPr>
            <a:normAutofit/>
          </a:bodyPr>
          <a:lstStyle/>
          <a:p>
            <a:r>
              <a:rPr lang="en-US" sz="2400" b="1" dirty="0"/>
              <a:t>CONTENT:</a:t>
            </a:r>
          </a:p>
          <a:p>
            <a:pPr lvl="1"/>
            <a:r>
              <a:rPr lang="en-US" sz="2400" dirty="0"/>
              <a:t>The function of executive </a:t>
            </a:r>
          </a:p>
          <a:p>
            <a:pPr lvl="1"/>
            <a:r>
              <a:rPr lang="en-US" sz="2400" dirty="0"/>
              <a:t>Structure of executive branch</a:t>
            </a:r>
          </a:p>
          <a:p>
            <a:pPr lvl="1"/>
            <a:r>
              <a:rPr lang="en-US" sz="2400" dirty="0"/>
              <a:t>Prime Minister</a:t>
            </a:r>
          </a:p>
          <a:p>
            <a:pPr lvl="2"/>
            <a:r>
              <a:rPr lang="en-US" sz="2400" dirty="0"/>
              <a:t>The role Prime Minister</a:t>
            </a:r>
          </a:p>
          <a:p>
            <a:pPr marL="685800" lvl="1"/>
            <a:r>
              <a:rPr lang="en-US" sz="2400" dirty="0"/>
              <a:t>Cabinet</a:t>
            </a:r>
          </a:p>
          <a:p>
            <a:pPr marL="1085850" lvl="2"/>
            <a:r>
              <a:rPr lang="en-US" sz="2400" dirty="0"/>
              <a:t>Member of Cabinet</a:t>
            </a:r>
          </a:p>
          <a:p>
            <a:pPr marL="1085850" lvl="2"/>
            <a:r>
              <a:rPr lang="en-US" sz="2400" dirty="0"/>
              <a:t>Shadow Cabinet</a:t>
            </a:r>
          </a:p>
          <a:p>
            <a:pPr marL="685800" lvl="1"/>
            <a:r>
              <a:rPr lang="en-US" sz="2400" dirty="0"/>
              <a:t>Ministry and Public Services</a:t>
            </a:r>
          </a:p>
          <a:p>
            <a:pPr marL="685800" lvl="1"/>
            <a:r>
              <a:rPr lang="en-US" sz="2400" dirty="0"/>
              <a:t>Statutory Bodies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FFE846-8710-FE2F-2903-3CCC4DD34659}"/>
              </a:ext>
            </a:extLst>
          </p:cNvPr>
          <p:cNvSpPr txBox="1">
            <a:spLocks/>
          </p:cNvSpPr>
          <p:nvPr/>
        </p:nvSpPr>
        <p:spPr>
          <a:xfrm>
            <a:off x="6023113" y="738810"/>
            <a:ext cx="5201477" cy="5671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E213E-9FEE-485C-AFC7-E5D879798A6E}"/>
              </a:ext>
            </a:extLst>
          </p:cNvPr>
          <p:cNvSpPr txBox="1"/>
          <p:nvPr/>
        </p:nvSpPr>
        <p:spPr>
          <a:xfrm>
            <a:off x="6568108" y="2133601"/>
            <a:ext cx="54251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LEARNING OUTCOME: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understand the concept of separation of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explain the function and structure of executive branch in Malaysia.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 know the role of Prime Minister and Cabinet</a:t>
            </a:r>
          </a:p>
        </p:txBody>
      </p:sp>
    </p:spTree>
    <p:extLst>
      <p:ext uri="{BB962C8B-B14F-4D97-AF65-F5344CB8AC3E}">
        <p14:creationId xmlns:p14="http://schemas.microsoft.com/office/powerpoint/2010/main" val="284780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869" y="274638"/>
            <a:ext cx="11529805" cy="8683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WHAT IS THE STRUCTURE OF A GOVERNMENT ADMINISTRATION?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675" y="1219200"/>
            <a:ext cx="11430000" cy="5410200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Three governmental bodies</a:t>
            </a:r>
            <a:r>
              <a:rPr lang="en-US" sz="2800" dirty="0">
                <a:effectLst/>
                <a:latin typeface="Noto Sans Symbols"/>
                <a:ea typeface="Noto Sans Symbols"/>
                <a:cs typeface="Noto Sans Symbols"/>
              </a:rPr>
              <a:t>: </a:t>
            </a:r>
            <a:r>
              <a:rPr lang="en-US" sz="2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executive, legislative and judiciary</a:t>
            </a:r>
            <a:endParaRPr lang="en-MY" sz="2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114300" indent="0" algn="just"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(It covers the in the topic  8 &amp; 9)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</a:t>
            </a:r>
            <a:r>
              <a:rPr lang="en-US" sz="2800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organisations</a:t>
            </a:r>
            <a:r>
              <a:rPr lang="en-US" sz="2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 involved in the country’s administration </a:t>
            </a:r>
            <a:endParaRPr lang="en-MY" sz="2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</a:t>
            </a:r>
            <a:r>
              <a:rPr lang="en-US" sz="2800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organisations</a:t>
            </a:r>
            <a:r>
              <a:rPr lang="en-US" sz="28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 that managing the country</a:t>
            </a:r>
            <a:endParaRPr lang="en-MY" sz="2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914400" lvl="1" indent="-457200"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8377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339" y="274638"/>
            <a:ext cx="9929191" cy="56356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THE CONCEPT OF SEPARATION OF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990600"/>
            <a:ext cx="11591925" cy="5638800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term "separation of powers" or "</a:t>
            </a:r>
            <a:r>
              <a:rPr lang="en-US" sz="2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trias</a:t>
            </a:r>
            <a:r>
              <a:rPr lang="en-US" sz="2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politica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was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popularised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Montesquieu (Charles-Louis de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Secondat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baron de La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Brède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de Montesquieu), in 18th century by a French social and political philosopher.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refers to the division of government responsibilities or administration power  into three branches called; executive, legislative and judiciary.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three branches of government must be supreme with their respective areas of jurisdiction.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practice is different between presidential and parliamentary system (fusion power)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branch cannot interfere the function of others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6201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125" y="152399"/>
            <a:ext cx="11668125" cy="6619875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purpose is to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limit any one branch from exercising the core functions of another. 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prevent the concentration of power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provide for a mechanism for checks and balances – to ensure the three powers interact in an equitable and balanced way. 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administration power is divided into three branches of government bodies = the doctrine of separation of power.</a:t>
            </a:r>
          </a:p>
          <a:p>
            <a:pPr algn="just">
              <a:spcAft>
                <a:spcPts val="8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ADMINISTRATION POWER: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lvl="0" indent="-514350" algn="just">
              <a:spcAft>
                <a:spcPts val="800"/>
              </a:spcAft>
              <a:buFont typeface="+mj-lt"/>
              <a:buAutoNum type="alphaLcParenR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Executive: power to carry out/execute law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lvl="0" indent="-514350" algn="just">
              <a:spcAft>
                <a:spcPts val="800"/>
              </a:spcAft>
              <a:buFont typeface="+mj-lt"/>
              <a:buAutoNum type="alphaLcParenR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Legislative: power to enact/make law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lvl="0" indent="-514350" algn="just">
              <a:spcAft>
                <a:spcPts val="800"/>
              </a:spcAft>
              <a:buFont typeface="+mj-lt"/>
              <a:buAutoNum type="alphaLcParenR"/>
            </a:pP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Judiciary: power to evaluate/interpret law </a:t>
            </a: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</a:pPr>
            <a:endParaRPr lang="en-MY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77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12" y="224270"/>
            <a:ext cx="9953776" cy="6233679"/>
          </a:xfrm>
        </p:spPr>
      </p:pic>
    </p:spTree>
    <p:extLst>
      <p:ext uri="{BB962C8B-B14F-4D97-AF65-F5344CB8AC3E}">
        <p14:creationId xmlns:p14="http://schemas.microsoft.com/office/powerpoint/2010/main" val="387342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426" y="12970"/>
            <a:ext cx="8229600" cy="672830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Montesqiue</a:t>
            </a:r>
            <a:r>
              <a:rPr lang="en-US" sz="3200" dirty="0">
                <a:solidFill>
                  <a:srgbClr val="FF0000"/>
                </a:solidFill>
              </a:rPr>
              <a:t> &amp; Separation of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0949" y="1143001"/>
            <a:ext cx="8136007" cy="5496338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1748: published his major work: </a:t>
            </a:r>
            <a:r>
              <a:rPr lang="en-US" sz="2800" b="1" u="sng" dirty="0"/>
              <a:t>The Spirit of Law</a:t>
            </a:r>
          </a:p>
          <a:p>
            <a:pPr algn="just"/>
            <a:r>
              <a:rPr lang="en-US" sz="2800" dirty="0"/>
              <a:t>In a nation, the forms of administration must be separate or in other words power must be segregated </a:t>
            </a:r>
            <a:r>
              <a:rPr lang="en-US" sz="2800" u="sng" dirty="0"/>
              <a:t>to avoid domination by certain quarters</a:t>
            </a:r>
          </a:p>
          <a:p>
            <a:pPr algn="just"/>
            <a:r>
              <a:rPr lang="en-US" sz="2800" dirty="0"/>
              <a:t>“ when legislative power is united with executive  power in a single person… there is no liberty, because one can fear that the same  monarch that makes tyrannical laws will execute them </a:t>
            </a:r>
            <a:r>
              <a:rPr lang="en-US" sz="2800" dirty="0" err="1"/>
              <a:t>tyraninically</a:t>
            </a:r>
            <a:r>
              <a:rPr lang="en-US" sz="2800" dirty="0"/>
              <a:t>”.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76" y="685800"/>
            <a:ext cx="259080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725" y="5324249"/>
            <a:ext cx="4067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2400" b="1" i="1" dirty="0">
                <a:solidFill>
                  <a:prstClr val="black"/>
                </a:solidFill>
                <a:latin typeface="Calibri"/>
              </a:rPr>
              <a:t>Power tends to corrupt, and absolute power corrupts absolutely </a:t>
            </a:r>
            <a:r>
              <a:rPr lang="en-US" sz="2000" dirty="0">
                <a:solidFill>
                  <a:prstClr val="black"/>
                </a:solidFill>
                <a:latin typeface="Calibri"/>
              </a:rPr>
              <a:t>-</a:t>
            </a:r>
            <a:r>
              <a:rPr lang="en-US" sz="2000" b="1" dirty="0">
                <a:solidFill>
                  <a:prstClr val="black"/>
                </a:solidFill>
                <a:latin typeface="Calibri"/>
              </a:rPr>
              <a:t>Lord Acton</a:t>
            </a:r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098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2DDA61-CAD2-F61A-45D7-ED98CF21F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392" y="89452"/>
            <a:ext cx="5386917" cy="783397"/>
          </a:xfrm>
        </p:spPr>
        <p:txBody>
          <a:bodyPr>
            <a:normAutofit fontScale="25000" lnSpcReduction="20000"/>
          </a:bodyPr>
          <a:lstStyle/>
          <a:p>
            <a:pPr algn="ctr"/>
            <a:endParaRPr lang="en-US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1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SEPARATION OF POWER </a:t>
            </a:r>
            <a:endParaRPr lang="en-MY" sz="1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MY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6BF300C-A46D-ED8F-6721-591DB9E8A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871" y="1180961"/>
            <a:ext cx="5648646" cy="5209899"/>
          </a:xfrm>
        </p:spPr>
        <p:txBody>
          <a:bodyPr>
            <a:normAutofit/>
          </a:bodyPr>
          <a:lstStyle/>
          <a:p>
            <a:pPr marL="342900" lvl="0" indent="-342900" algn="just">
              <a:spcAft>
                <a:spcPts val="800"/>
              </a:spcAft>
              <a:buFont typeface="+mj-lt"/>
              <a:buAutoNum type="alphaU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Executive</a:t>
            </a:r>
            <a:endParaRPr lang="en-MY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Cabinet (US, UK, Malaysia)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Minister is the member of the cabinet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+mj-lt"/>
              <a:buAutoNum type="alphaU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Legislative </a:t>
            </a:r>
            <a:endParaRPr lang="en-MY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Parliament (UK, Malaysia, Thailand)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Congress (US)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just">
              <a:spcAft>
                <a:spcPts val="800"/>
              </a:spcAft>
              <a:buFont typeface="+mj-lt"/>
              <a:buAutoNum type="alphaUcPeriod"/>
            </a:pP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Judiciary </a:t>
            </a:r>
            <a:endParaRPr lang="en-MY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court system – the highest court – higher system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Federal Court (Malaysia)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The Supreme Court (US) </a:t>
            </a:r>
            <a:endParaRPr lang="en-MY" dirty="0">
              <a:effectLst/>
              <a:latin typeface="Noto Sans Symbols"/>
              <a:ea typeface="Noto Sans Symbols"/>
              <a:cs typeface="Noto Sans Symbols"/>
            </a:endParaRPr>
          </a:p>
          <a:p>
            <a:endParaRPr lang="en-MY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FD29931-B37A-345F-8801-4117E28EB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33087"/>
            <a:ext cx="6019800" cy="947874"/>
          </a:xfrm>
        </p:spPr>
        <p:txBody>
          <a:bodyPr>
            <a:normAutofit fontScale="25000" lnSpcReduction="20000"/>
          </a:bodyPr>
          <a:lstStyle/>
          <a:p>
            <a:pPr algn="ctr"/>
            <a:endParaRPr lang="en-US" sz="1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1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1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sz="1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SEPARATION OF POWER IN MALAYSIA</a:t>
            </a:r>
            <a:endParaRPr lang="en-MY" sz="1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MY" dirty="0"/>
          </a:p>
        </p:txBody>
      </p:sp>
      <p:pic>
        <p:nvPicPr>
          <p:cNvPr id="15" name="image2.png">
            <a:extLst>
              <a:ext uri="{FF2B5EF4-FFF2-40B4-BE49-F238E27FC236}">
                <a16:creationId xmlns:a16="http://schemas.microsoft.com/office/drawing/2014/main" id="{5A210A6F-9B2C-EAF1-1027-927E33E403D6}"/>
              </a:ext>
            </a:extLst>
          </p:cNvPr>
          <p:cNvPicPr/>
          <p:nvPr/>
        </p:nvPicPr>
        <p:blipFill>
          <a:blip r:embed="rId2"/>
          <a:srcRect l="5995" r="3290" b="1882"/>
          <a:stretch>
            <a:fillRect/>
          </a:stretch>
        </p:blipFill>
        <p:spPr>
          <a:xfrm>
            <a:off x="6377084" y="1324015"/>
            <a:ext cx="5738716" cy="426177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8683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7C56-707A-4BBC-A470-FF063BDC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47650"/>
            <a:ext cx="9404723" cy="769795"/>
          </a:xfrm>
        </p:spPr>
        <p:txBody>
          <a:bodyPr/>
          <a:lstStyle/>
          <a:p>
            <a:pPr algn="ctr"/>
            <a:r>
              <a:rPr lang="en-MY" sz="3600" b="1" dirty="0"/>
              <a:t>EXECUTIVE/ADMINISTRATION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61A5-318F-4819-A170-3CF0E0DD7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1992" y="1162879"/>
            <a:ext cx="5137659" cy="5447472"/>
          </a:xfrm>
        </p:spPr>
        <p:txBody>
          <a:bodyPr>
            <a:normAutofit fontScale="92500" lnSpcReduction="10000"/>
          </a:bodyPr>
          <a:lstStyle/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charge the execution of law, policies and general rules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Prime Minister, Ministers and Bureaucracy 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Responsibility:</a:t>
            </a:r>
            <a:endParaRPr lang="en-MY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▪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To ensure safety and peace of the country and smooth administration 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▪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To provide public and social facilities 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▪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To ensures justice 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42950" lvl="1" indent="-285750" algn="just">
              <a:spcAft>
                <a:spcPts val="800"/>
              </a:spcAft>
              <a:buFont typeface="Arial" panose="020B0604020202020204" pitchFamily="34" charset="0"/>
              <a:buChar char="▪"/>
            </a:pPr>
            <a:r>
              <a:rPr lang="en-US" sz="2400" dirty="0">
                <a:effectLst/>
                <a:latin typeface="Noto Sans Symbols"/>
                <a:ea typeface="Noto Sans Symbols"/>
                <a:cs typeface="Noto Sans Symbols"/>
              </a:rPr>
              <a:t>To brings about change towards national development (through financial management)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457200" indent="-457200" algn="just">
              <a:buAutoNum type="arabicPeriod"/>
            </a:pPr>
            <a:endParaRPr lang="en-MY" sz="2000" dirty="0"/>
          </a:p>
        </p:txBody>
      </p:sp>
      <p:pic>
        <p:nvPicPr>
          <p:cNvPr id="4" name="image1.png">
            <a:extLst>
              <a:ext uri="{FF2B5EF4-FFF2-40B4-BE49-F238E27FC236}">
                <a16:creationId xmlns:a16="http://schemas.microsoft.com/office/drawing/2014/main" id="{AE8FE7B3-19B3-EB18-CCD9-ADBA322B6E9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29398" y="1162879"/>
            <a:ext cx="6187619" cy="468133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0919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EXECUTIVE IN MALAYSIA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91" y="1600200"/>
            <a:ext cx="11416333" cy="4953000"/>
          </a:xfrm>
        </p:spPr>
        <p:txBody>
          <a:bodyPr>
            <a:normAutofit/>
          </a:bodyPr>
          <a:lstStyle/>
          <a:p>
            <a:pPr algn="just">
              <a:spcAft>
                <a:spcPts val="80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Execute law/Making policies </a:t>
            </a:r>
            <a:endParaRPr lang="en-MY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Yang di-</a:t>
            </a:r>
            <a:r>
              <a:rPr lang="en-US" sz="2400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Pertuan</a:t>
            </a:r>
            <a:r>
              <a:rPr lang="en-US" sz="24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Agong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2" indent="-342900" algn="just">
              <a:spcAft>
                <a:spcPts val="800"/>
              </a:spcAft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Highest authority 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Cabinet 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2" indent="-342900" algn="just">
              <a:spcAft>
                <a:spcPts val="800"/>
              </a:spcAft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Ministers 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-342900" algn="just">
              <a:spcAft>
                <a:spcPts val="800"/>
              </a:spcAft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Highest government agency responsible to execute laws/make government policy 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 algn="just"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2400" dirty="0">
                <a:solidFill>
                  <a:srgbClr val="000000"/>
                </a:solidFill>
                <a:effectLst/>
                <a:latin typeface="Noto Sans Symbols"/>
                <a:ea typeface="Noto Sans Symbols"/>
                <a:cs typeface="Noto Sans Symbols"/>
              </a:rPr>
              <a:t>Prime Minister </a:t>
            </a:r>
            <a:endParaRPr lang="en-MY" sz="24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2" indent="-342900" algn="just">
              <a:spcAft>
                <a:spcPts val="800"/>
              </a:spcAft>
              <a:buFont typeface="Symbol" panose="05050102010706020507" pitchFamily="18" charset="2"/>
              <a:buChar char="-"/>
            </a:pPr>
            <a:r>
              <a:rPr 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 of cabinet 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013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b="1" dirty="0"/>
              <a:t>MALAYSIAN CABINET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843" y="990600"/>
            <a:ext cx="11726932" cy="5867400"/>
          </a:xfrm>
        </p:spPr>
        <p:txBody>
          <a:bodyPr>
            <a:normAutofit fontScale="77500" lnSpcReduction="20000"/>
          </a:bodyPr>
          <a:lstStyle/>
          <a:p>
            <a:pPr algn="just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Comprises of members who are appointed full ministerial status (a Minister)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Formally, the Yang di-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Pertuan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Agong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appoints all Ministers on the advice of the Prime Minister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 – to advice the King in governance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member have a collective responsibility to the Parliament 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Prime Minister – Chairman of the Cabinet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(Article 43 of the Constitution), members of the Cabinet can only be selected from members of either houses of Parliament. 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spcAft>
                <a:spcPts val="800"/>
              </a:spcAft>
            </a:pPr>
            <a:r>
              <a:rPr lang="en-US" sz="2200" dirty="0">
                <a:effectLst/>
                <a:latin typeface="Noto Sans Symbols"/>
                <a:ea typeface="Noto Sans Symbols"/>
                <a:cs typeface="Noto Sans Symbols"/>
              </a:rPr>
              <a:t>To implement the executive authority of the YDPA </a:t>
            </a:r>
            <a:endParaRPr lang="en-MY" sz="22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 algn="just">
              <a:spcAft>
                <a:spcPts val="800"/>
              </a:spcAft>
            </a:pPr>
            <a:r>
              <a:rPr lang="en-US" sz="2200" dirty="0">
                <a:effectLst/>
                <a:latin typeface="Noto Sans Symbols"/>
                <a:ea typeface="Noto Sans Symbols"/>
                <a:cs typeface="Noto Sans Symbols"/>
              </a:rPr>
              <a:t>To design and make the main public policies of the nation</a:t>
            </a:r>
            <a:endParaRPr lang="en-MY" sz="22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lvl="1" algn="just">
              <a:spcAft>
                <a:spcPts val="800"/>
              </a:spcAft>
            </a:pPr>
            <a:r>
              <a:rPr lang="en-US" sz="2200" dirty="0">
                <a:effectLst/>
                <a:latin typeface="Noto Sans Symbols"/>
                <a:ea typeface="Noto Sans Symbols"/>
                <a:cs typeface="Noto Sans Symbols"/>
              </a:rPr>
              <a:t>To assist the federal government in standardizing the administration system</a:t>
            </a:r>
            <a:endParaRPr lang="en-MY" sz="22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400050" lvl="1" indent="0" algn="just">
              <a:spcAft>
                <a:spcPts val="800"/>
              </a:spcAft>
              <a:buNone/>
            </a:pP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of Cabinet Members: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https://www.kabinet.gov.my/bkpp/index.php/anggota-pentadbiran/menteri</a:t>
            </a:r>
            <a:endParaRPr lang="en-MY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7074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723C5D46-FFEC-D8C2-219A-48F3F5F2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9125"/>
          </a:xfrm>
        </p:spPr>
        <p:txBody>
          <a:bodyPr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CABINET MEMBERS/MINISTERS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041E4B0-7850-8D08-80D2-149EB1252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22" y="1331843"/>
            <a:ext cx="11817626" cy="5317435"/>
          </a:xfrm>
        </p:spPr>
        <p:txBody>
          <a:bodyPr>
            <a:normAutofit/>
          </a:bodyPr>
          <a:lstStyle/>
          <a:p>
            <a:r>
              <a:rPr lang="en-US" sz="2400" dirty="0"/>
              <a:t>30 ministries with 31 Ministers</a:t>
            </a:r>
          </a:p>
          <a:p>
            <a:r>
              <a:rPr lang="en-US" sz="2400" dirty="0"/>
              <a:t>Head by Prime Minister</a:t>
            </a:r>
          </a:p>
          <a:p>
            <a:r>
              <a:rPr lang="en-US" sz="2400" dirty="0"/>
              <a:t>Functions:</a:t>
            </a:r>
          </a:p>
          <a:p>
            <a:pPr lvl="1"/>
            <a:r>
              <a:rPr lang="en-US" sz="2400" dirty="0"/>
              <a:t>To implement the executive authority of the YDPA</a:t>
            </a:r>
          </a:p>
          <a:p>
            <a:pPr lvl="1"/>
            <a:r>
              <a:rPr lang="en-US" sz="2400" dirty="0"/>
              <a:t>To advice The King in governance</a:t>
            </a:r>
          </a:p>
          <a:p>
            <a:pPr lvl="1"/>
            <a:r>
              <a:rPr lang="en-US" sz="2400" dirty="0"/>
              <a:t>To design/make the main policies of the country</a:t>
            </a:r>
          </a:p>
          <a:p>
            <a:r>
              <a:rPr lang="en-US" sz="2400" dirty="0"/>
              <a:t>Collectively responsibility to the Parliament</a:t>
            </a:r>
          </a:p>
          <a:p>
            <a:pPr lvl="1"/>
            <a:r>
              <a:rPr lang="en-US" sz="2400" dirty="0"/>
              <a:t>Decision made by the Cabinet have to be agreed by all members</a:t>
            </a:r>
          </a:p>
          <a:p>
            <a:pPr lvl="1"/>
            <a:r>
              <a:rPr lang="en-US" sz="2400" dirty="0"/>
              <a:t>Cabinet members are bound to the decision made. 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95508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7C5C-A2EF-6A8F-24CC-F4C4D6ECD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321904"/>
            <a:ext cx="11231217" cy="4926495"/>
          </a:xfrm>
        </p:spPr>
        <p:txBody>
          <a:bodyPr/>
          <a:lstStyle/>
          <a:p>
            <a:r>
              <a:rPr lang="en-US" sz="2400" dirty="0"/>
              <a:t>Other important political positions (related  but not directly a member of Cabinet) – appointed by YDPA </a:t>
            </a:r>
          </a:p>
          <a:p>
            <a:pPr lvl="1"/>
            <a:r>
              <a:rPr lang="en-US" sz="2400" dirty="0"/>
              <a:t>Appointment from either houses of Parliament</a:t>
            </a:r>
          </a:p>
          <a:p>
            <a:pPr lvl="2"/>
            <a:r>
              <a:rPr lang="en-US" sz="2400" b="1" dirty="0"/>
              <a:t>Deputy minister </a:t>
            </a:r>
            <a:r>
              <a:rPr lang="en-US" sz="2400" dirty="0"/>
              <a:t>– assist the Minister</a:t>
            </a:r>
          </a:p>
          <a:p>
            <a:pPr lvl="2"/>
            <a:r>
              <a:rPr lang="en-US" sz="2400" b="1" dirty="0"/>
              <a:t>Parliamentary Secretaries </a:t>
            </a:r>
            <a:r>
              <a:rPr lang="en-US" sz="2400" dirty="0"/>
              <a:t>– assist both Minister and Deputy Minister</a:t>
            </a:r>
          </a:p>
          <a:p>
            <a:r>
              <a:rPr lang="en-US" sz="2400" b="1" dirty="0"/>
              <a:t>Political Secretaries </a:t>
            </a:r>
            <a:r>
              <a:rPr lang="en-US" sz="2400" dirty="0"/>
              <a:t>– not among the member of  the Parliament –recommendation and  appointment by PM– serves to Minister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427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E95C-12FF-4D3C-8374-ED370A9A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452718"/>
            <a:ext cx="9633391" cy="859247"/>
          </a:xfrm>
        </p:spPr>
        <p:txBody>
          <a:bodyPr/>
          <a:lstStyle/>
          <a:p>
            <a:pPr algn="ctr"/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PREVIOUS PRIME MINISTERS OF MALAYSIA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10FE49-C253-4256-B7D0-D48311AD8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8" y="1311966"/>
            <a:ext cx="10399643" cy="493643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endParaRPr lang="en-MY" dirty="0"/>
          </a:p>
          <a:p>
            <a:pPr algn="just"/>
            <a:r>
              <a:rPr lang="en-MY" sz="2600" dirty="0"/>
              <a:t>1.	</a:t>
            </a:r>
            <a:r>
              <a:rPr lang="en-MY" sz="2600" dirty="0" err="1"/>
              <a:t>Tunku</a:t>
            </a:r>
            <a:r>
              <a:rPr lang="en-MY" sz="2600" dirty="0"/>
              <a:t> Abdul Rahman (1963-1970)</a:t>
            </a:r>
          </a:p>
          <a:p>
            <a:pPr algn="just"/>
            <a:r>
              <a:rPr lang="en-MY" sz="2600" dirty="0"/>
              <a:t>2.	Abdul Razak Hussein (1970-1976)</a:t>
            </a:r>
          </a:p>
          <a:p>
            <a:pPr algn="just"/>
            <a:r>
              <a:rPr lang="en-MY" sz="2600" dirty="0"/>
              <a:t>3.	Hussein Onn (1976-1981)</a:t>
            </a:r>
          </a:p>
          <a:p>
            <a:pPr algn="just"/>
            <a:r>
              <a:rPr lang="en-MY" sz="2600" dirty="0"/>
              <a:t>4.      Mahathir bin Mohamad (1981-2003)</a:t>
            </a:r>
          </a:p>
          <a:p>
            <a:pPr algn="just"/>
            <a:r>
              <a:rPr lang="en-MY" sz="2600" dirty="0"/>
              <a:t>5.	Abdullah Ahmad Badawi (2003-2009)</a:t>
            </a:r>
          </a:p>
          <a:p>
            <a:pPr algn="just"/>
            <a:r>
              <a:rPr lang="en-MY" sz="2600" dirty="0"/>
              <a:t>6.	Najib Razak (2009-2018)</a:t>
            </a:r>
          </a:p>
          <a:p>
            <a:pPr algn="just"/>
            <a:r>
              <a:rPr lang="en-MY" sz="2600" dirty="0"/>
              <a:t>7.	Mahathir bin Mohamad (2018-2020)</a:t>
            </a:r>
          </a:p>
          <a:p>
            <a:pPr algn="just"/>
            <a:r>
              <a:rPr lang="en-MY" sz="2600" dirty="0"/>
              <a:t>8.     Muhyiddin Yassin (2020-2021)</a:t>
            </a:r>
          </a:p>
          <a:p>
            <a:pPr algn="just"/>
            <a:r>
              <a:rPr lang="en-MY" sz="2600" dirty="0"/>
              <a:t>9.     Ismail Sabri </a:t>
            </a:r>
            <a:r>
              <a:rPr lang="en-MY" sz="2600" dirty="0" err="1"/>
              <a:t>Yaakob</a:t>
            </a:r>
            <a:r>
              <a:rPr lang="en-MY" sz="2600" dirty="0"/>
              <a:t> (2021-2022)</a:t>
            </a:r>
          </a:p>
          <a:p>
            <a:pPr algn="just"/>
            <a:endParaRPr lang="en-MY" dirty="0"/>
          </a:p>
          <a:p>
            <a:pPr algn="just"/>
            <a:endParaRPr lang="en-MY" dirty="0"/>
          </a:p>
          <a:p>
            <a:pPr algn="just"/>
            <a:r>
              <a:rPr lang="en-MY" dirty="0"/>
              <a:t>WHO IS THE CURRENT PRIME MINISTER? WHAT IS HIS NAME?</a:t>
            </a:r>
          </a:p>
        </p:txBody>
      </p:sp>
    </p:spTree>
    <p:extLst>
      <p:ext uri="{BB962C8B-B14F-4D97-AF65-F5344CB8AC3E}">
        <p14:creationId xmlns:p14="http://schemas.microsoft.com/office/powerpoint/2010/main" val="794449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7D6E8-548E-EB49-D519-159E628FF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059" y="222663"/>
            <a:ext cx="7582654" cy="6412674"/>
          </a:xfrm>
        </p:spPr>
      </p:pic>
    </p:spTree>
    <p:extLst>
      <p:ext uri="{BB962C8B-B14F-4D97-AF65-F5344CB8AC3E}">
        <p14:creationId xmlns:p14="http://schemas.microsoft.com/office/powerpoint/2010/main" val="4238365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AD9A-15C1-42B3-BFD0-13A9EC96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49088"/>
            <a:ext cx="9404723" cy="822946"/>
          </a:xfrm>
        </p:spPr>
        <p:txBody>
          <a:bodyPr/>
          <a:lstStyle/>
          <a:p>
            <a:pPr algn="ctr"/>
            <a:r>
              <a:rPr lang="en-MY" b="1" dirty="0"/>
              <a:t>PRIME MINISTER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5F48A-ECA0-4228-ABFC-A90E981D7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8052" y="972035"/>
            <a:ext cx="11678478" cy="573687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Head of Government</a:t>
            </a:r>
          </a:p>
          <a:p>
            <a:r>
              <a:rPr lang="en-US" dirty="0"/>
              <a:t>The appointment of a Prime Minister (PM) as the leader of the Cabinet is conducted by the YDPA. </a:t>
            </a:r>
          </a:p>
          <a:p>
            <a:r>
              <a:rPr lang="en-US" dirty="0"/>
              <a:t>A PM is appointed from the members of the House of Representatives (Dewan Rakyat) and receives the support of the majority of the Dewan Rakyat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2800" b="1" dirty="0"/>
              <a:t>THE POSITION OF PM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1.	</a:t>
            </a:r>
            <a:r>
              <a:rPr lang="en-US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 of Cabinet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Chairman of the Cabinet Meeting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Have a prerogative power to recommend a member of Cabinet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Control the agenda of the meetings</a:t>
            </a:r>
          </a:p>
          <a:p>
            <a:pPr>
              <a:lnSpc>
                <a:spcPct val="150000"/>
              </a:lnSpc>
            </a:pPr>
            <a:r>
              <a:rPr lang="en-US" sz="1900" dirty="0"/>
              <a:t>2.	</a:t>
            </a:r>
            <a:r>
              <a:rPr lang="en-US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Party Leader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PM must be a leader of a winning political party or a coalition.</a:t>
            </a:r>
          </a:p>
          <a:p>
            <a:pPr lvl="1">
              <a:lnSpc>
                <a:spcPct val="150000"/>
              </a:lnSpc>
            </a:pPr>
            <a:r>
              <a:rPr lang="en-US" sz="1900" dirty="0"/>
              <a:t>Currently – The Alliance of Hope (Pakatan Harapan, BN, GRS and others)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0726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1411-B213-4797-849C-D5BD6A941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093" y="491320"/>
            <a:ext cx="10516489" cy="575708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3.	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Chief Administrator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Naturally become the chief administrator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Must be able to relate to and motivate the bureaucracy to implement the government policies and program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4.	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Diplomatic Officer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Representing the country 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Strengthening the diplomatic ties with all the countries EXCEPT Israel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5.	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Statesman and Spokesperson for the Third World Country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/>
              <a:t>This role popularized by fourth PM -Mahathir</a:t>
            </a:r>
          </a:p>
          <a:p>
            <a:pPr algn="just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48693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81453-7459-E0DD-642D-CA05824B4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6808" y="169759"/>
            <a:ext cx="4396338" cy="576262"/>
          </a:xfrm>
        </p:spPr>
        <p:txBody>
          <a:bodyPr/>
          <a:lstStyle/>
          <a:p>
            <a:pPr algn="ctr"/>
            <a:r>
              <a:rPr lang="en-MY" b="1" dirty="0"/>
              <a:t>SHADOW CABINET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44071-7E0B-D619-07B3-9D4810286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8478" y="1134337"/>
            <a:ext cx="5251173" cy="5415550"/>
          </a:xfrm>
          <a:solidFill>
            <a:schemeClr val="accent4"/>
          </a:solidFill>
        </p:spPr>
        <p:txBody>
          <a:bodyPr>
            <a:normAutofit/>
          </a:bodyPr>
          <a:lstStyle/>
          <a:p>
            <a:pPr algn="just"/>
            <a:r>
              <a:rPr lang="en-US" sz="2000" dirty="0"/>
              <a:t>Important concept in Parliamentary Democracy.</a:t>
            </a:r>
          </a:p>
          <a:p>
            <a:pPr algn="just"/>
            <a:r>
              <a:rPr lang="en-US" sz="2000" dirty="0"/>
              <a:t>A group of opposition Members of Parliament who assume the roles and duties of government ministers.</a:t>
            </a:r>
          </a:p>
          <a:p>
            <a:pPr algn="just"/>
            <a:r>
              <a:rPr lang="en-US" sz="2000" dirty="0"/>
              <a:t>Historically, the Shadow Cabinet became a recognized entity within British politics.</a:t>
            </a:r>
          </a:p>
          <a:p>
            <a:pPr algn="just"/>
            <a:r>
              <a:rPr lang="en-US" sz="2000" dirty="0"/>
              <a:t>The role of shadow cabinet to play a vital role as a viable alternative to the government in power</a:t>
            </a:r>
          </a:p>
          <a:p>
            <a:endParaRPr lang="en-MY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D8A984-D17D-F362-F19D-AE429F891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6609" y="169759"/>
            <a:ext cx="4396339" cy="964578"/>
          </a:xfrm>
        </p:spPr>
        <p:txBody>
          <a:bodyPr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REAL CABINET VS SHADOW CABINET </a:t>
            </a:r>
            <a:endParaRPr lang="en-MY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991973-7BCF-FEFF-6621-4E28A9286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05061" y="1134337"/>
            <a:ext cx="6238461" cy="5415550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A) Real cabinet </a:t>
            </a:r>
          </a:p>
          <a:p>
            <a:pPr lvl="1"/>
            <a:r>
              <a:rPr lang="en-US" sz="1800" dirty="0"/>
              <a:t>Government in power (official) </a:t>
            </a:r>
          </a:p>
          <a:p>
            <a:pPr lvl="1"/>
            <a:r>
              <a:rPr lang="en-US" sz="1800" dirty="0"/>
              <a:t>Head: Prime Minister </a:t>
            </a:r>
          </a:p>
          <a:p>
            <a:pPr lvl="1"/>
            <a:r>
              <a:rPr lang="en-US" sz="1800" dirty="0"/>
              <a:t>Member: Members of Parliament </a:t>
            </a:r>
          </a:p>
          <a:p>
            <a:pPr lvl="1"/>
            <a:r>
              <a:rPr lang="en-US" sz="1800" dirty="0"/>
              <a:t>Duty: Executive responsibility </a:t>
            </a:r>
          </a:p>
          <a:p>
            <a:pPr lvl="1"/>
            <a:r>
              <a:rPr lang="en-US" sz="1800" dirty="0"/>
              <a:t>Clear portfolio </a:t>
            </a:r>
          </a:p>
          <a:p>
            <a:r>
              <a:rPr lang="en-US" dirty="0"/>
              <a:t>B) Shadow cabinet </a:t>
            </a:r>
          </a:p>
          <a:p>
            <a:pPr lvl="1"/>
            <a:r>
              <a:rPr lang="en-US" sz="1800" dirty="0"/>
              <a:t>Opposition party/alliances (unofficial) </a:t>
            </a:r>
          </a:p>
          <a:p>
            <a:pPr lvl="1"/>
            <a:r>
              <a:rPr lang="en-US" sz="1800" dirty="0"/>
              <a:t>Head: Leader of opposition </a:t>
            </a:r>
          </a:p>
          <a:p>
            <a:pPr lvl="1"/>
            <a:r>
              <a:rPr lang="en-US" sz="1800" dirty="0"/>
              <a:t>Appointed by the leader of opposition: commonly who win in the election </a:t>
            </a:r>
          </a:p>
          <a:p>
            <a:pPr lvl="1"/>
            <a:r>
              <a:rPr lang="en-US" sz="1800" dirty="0"/>
              <a:t>Check and balance coordination of portfolio with the government power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11185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5908BC-CD9B-4314-9330-6FEA0E3ED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375" y="315377"/>
            <a:ext cx="7789670" cy="485965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0E5F84-A1EE-46B4-8345-B91740BB9466}"/>
              </a:ext>
            </a:extLst>
          </p:cNvPr>
          <p:cNvSpPr txBox="1"/>
          <p:nvPr/>
        </p:nvSpPr>
        <p:spPr>
          <a:xfrm>
            <a:off x="327339" y="5175031"/>
            <a:ext cx="11013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 err="1"/>
              <a:t>Tunku’s</a:t>
            </a:r>
            <a:r>
              <a:rPr lang="en-MY" b="1" dirty="0"/>
              <a:t> First Cabinet after Independence</a:t>
            </a:r>
          </a:p>
          <a:p>
            <a:pPr algn="just"/>
            <a:r>
              <a:rPr lang="en-MY" dirty="0"/>
              <a:t>Seated from left to right: Aziz Ishak, VT </a:t>
            </a:r>
            <a:r>
              <a:rPr lang="en-MY" dirty="0" err="1"/>
              <a:t>Sambanthan</a:t>
            </a:r>
            <a:r>
              <a:rPr lang="en-MY" dirty="0"/>
              <a:t>, Tun Abdul Razak Hussein, </a:t>
            </a:r>
            <a:r>
              <a:rPr lang="en-MY" dirty="0" err="1"/>
              <a:t>Tunku</a:t>
            </a:r>
            <a:r>
              <a:rPr lang="en-MY" dirty="0"/>
              <a:t> Abdul Rahman, HS Lee, </a:t>
            </a:r>
            <a:r>
              <a:rPr lang="en-MY" dirty="0" err="1"/>
              <a:t>Sulaiman</a:t>
            </a:r>
            <a:r>
              <a:rPr lang="en-MY" dirty="0"/>
              <a:t> Abdul Rahman, </a:t>
            </a:r>
            <a:r>
              <a:rPr lang="en-MY" dirty="0" err="1"/>
              <a:t>Sardon</a:t>
            </a:r>
            <a:r>
              <a:rPr lang="en-MY" dirty="0"/>
              <a:t> </a:t>
            </a:r>
            <a:r>
              <a:rPr lang="en-MY" dirty="0" err="1"/>
              <a:t>Jubir</a:t>
            </a:r>
            <a:endParaRPr lang="en-MY" dirty="0"/>
          </a:p>
          <a:p>
            <a:pPr algn="just"/>
            <a:r>
              <a:rPr lang="en-MY" dirty="0"/>
              <a:t>Standing from left to right: Ong Yoke Lin, Abdul Rahman Talib, </a:t>
            </a:r>
            <a:r>
              <a:rPr lang="en-MY" dirty="0" err="1"/>
              <a:t>Khir</a:t>
            </a:r>
            <a:r>
              <a:rPr lang="en-MY" dirty="0"/>
              <a:t> Johari, Tan Siew Sin, Bahaman Shamsuddin</a:t>
            </a:r>
          </a:p>
        </p:txBody>
      </p:sp>
    </p:spTree>
    <p:extLst>
      <p:ext uri="{BB962C8B-B14F-4D97-AF65-F5344CB8AC3E}">
        <p14:creationId xmlns:p14="http://schemas.microsoft.com/office/powerpoint/2010/main" val="2783097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84C2-D677-4052-BFB8-E73419E0B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403742" cy="726725"/>
          </a:xfrm>
        </p:spPr>
        <p:txBody>
          <a:bodyPr/>
          <a:lstStyle/>
          <a:p>
            <a:pPr algn="ctr"/>
            <a:r>
              <a:rPr lang="en-MY" b="1" dirty="0"/>
              <a:t>BUREAUCRACY/CIVIL SERVICE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791FE0-6A25-4049-A35B-1CE4DD8DA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417982"/>
            <a:ext cx="10713620" cy="4876800"/>
          </a:xfrm>
        </p:spPr>
        <p:txBody>
          <a:bodyPr/>
          <a:lstStyle/>
          <a:p>
            <a:pPr algn="just"/>
            <a:r>
              <a:rPr lang="en-US" dirty="0"/>
              <a:t>Ministry and the subordinate government agencies = civil service</a:t>
            </a:r>
          </a:p>
          <a:p>
            <a:pPr algn="just"/>
            <a:r>
              <a:rPr lang="en-US" dirty="0"/>
              <a:t>Assist the function  of executive </a:t>
            </a:r>
          </a:p>
          <a:p>
            <a:pPr algn="just"/>
            <a:r>
              <a:rPr lang="en-US" dirty="0"/>
              <a:t>Provide various services to the public </a:t>
            </a:r>
          </a:p>
          <a:p>
            <a:pPr algn="just"/>
            <a:r>
              <a:rPr lang="en-US" dirty="0"/>
              <a:t>Implement the government policies and programs</a:t>
            </a:r>
          </a:p>
          <a:p>
            <a:pPr algn="just"/>
            <a:r>
              <a:rPr lang="en-US" dirty="0"/>
              <a:t>Chief of the government civil service is the Chief Secretary (</a:t>
            </a:r>
            <a:r>
              <a:rPr lang="en-US" dirty="0" err="1"/>
              <a:t>Ketua</a:t>
            </a:r>
            <a:r>
              <a:rPr lang="en-US" dirty="0"/>
              <a:t> </a:t>
            </a:r>
            <a:r>
              <a:rPr lang="en-US" dirty="0" err="1"/>
              <a:t>Setiausaha</a:t>
            </a:r>
            <a:r>
              <a:rPr lang="en-US" dirty="0"/>
              <a:t> Negara - KSN). </a:t>
            </a:r>
          </a:p>
        </p:txBody>
      </p:sp>
    </p:spTree>
    <p:extLst>
      <p:ext uri="{BB962C8B-B14F-4D97-AF65-F5344CB8AC3E}">
        <p14:creationId xmlns:p14="http://schemas.microsoft.com/office/powerpoint/2010/main" val="2101635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67B0-6D77-4B46-8789-3FDA51FD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25" y="253937"/>
            <a:ext cx="9404352" cy="830172"/>
          </a:xfrm>
        </p:spPr>
        <p:txBody>
          <a:bodyPr/>
          <a:lstStyle/>
          <a:p>
            <a:pPr algn="ctr"/>
            <a:r>
              <a:rPr lang="en-MY" b="1" dirty="0"/>
              <a:t>Ministry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C72E6D-661E-43A7-995C-7B9FBA0B3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149447"/>
              </p:ext>
            </p:extLst>
          </p:nvPr>
        </p:nvGraphicFramePr>
        <p:xfrm>
          <a:off x="380327" y="1262640"/>
          <a:ext cx="5185586" cy="47902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E08FDC1F-FCBE-4DD6-B3C7-63175DCFB7D0}"/>
              </a:ext>
            </a:extLst>
          </p:cNvPr>
          <p:cNvSpPr txBox="1">
            <a:spLocks/>
          </p:cNvSpPr>
          <p:nvPr/>
        </p:nvSpPr>
        <p:spPr>
          <a:xfrm>
            <a:off x="5565913" y="1033671"/>
            <a:ext cx="6245760" cy="537161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CE06B-C09F-76BF-7316-ECF280117E66}"/>
              </a:ext>
            </a:extLst>
          </p:cNvPr>
          <p:cNvSpPr txBox="1"/>
          <p:nvPr/>
        </p:nvSpPr>
        <p:spPr>
          <a:xfrm>
            <a:off x="5565913" y="1262640"/>
            <a:ext cx="6152322" cy="5112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Highest government agency to plan/implement/control the government policy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Currently 30 ministries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Prime Minister Department Office - a federal government ministry in Malaysia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consists of the Prime Minister's Office, the Deputy Prime Minister's Office and more than 50 other government agencies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hlinkClick r:id="rId7"/>
              </a:rPr>
              <a:t>http://www.pmo.gov.my/home.php?menu=cabinet&amp;page=1797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9185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74A663-406C-5E04-7FFD-454731A75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53" y="94576"/>
            <a:ext cx="8169964" cy="6676759"/>
          </a:xfrm>
        </p:spPr>
      </p:pic>
    </p:spTree>
    <p:extLst>
      <p:ext uri="{BB962C8B-B14F-4D97-AF65-F5344CB8AC3E}">
        <p14:creationId xmlns:p14="http://schemas.microsoft.com/office/powerpoint/2010/main" val="2659866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2C1E5-06C0-43D8-A2E1-A0A2DA21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29430"/>
          </a:xfrm>
        </p:spPr>
        <p:txBody>
          <a:bodyPr/>
          <a:lstStyle/>
          <a:p>
            <a:pPr algn="ctr"/>
            <a:r>
              <a:rPr lang="en-MY" sz="4000" b="1" dirty="0"/>
              <a:t>GOVERNMENT AGENCY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34A72-2092-4B2F-9B0A-F665D272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626" y="1520688"/>
            <a:ext cx="11608904" cy="5059016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SzPct val="83000"/>
              <a:buFont typeface="Wingdings" pitchFamily="2" charset="2"/>
              <a:buChar char="§"/>
            </a:pP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A government agency may be established by either federal government or a state government within a federal system. </a:t>
            </a:r>
          </a:p>
          <a:p>
            <a:pPr algn="just" eaLnBrk="1" hangingPunct="1">
              <a:spcBef>
                <a:spcPct val="0"/>
              </a:spcBef>
              <a:buSzPct val="83000"/>
              <a:buFont typeface="Wingdings" pitchFamily="2" charset="2"/>
              <a:buChar char="§"/>
            </a:pP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The federal government agencies answer to the federal government. The state agencies usually answer to the state government. </a:t>
            </a:r>
          </a:p>
          <a:p>
            <a:pPr algn="just" eaLnBrk="1" hangingPunct="1">
              <a:spcBef>
                <a:spcPct val="0"/>
              </a:spcBef>
              <a:buSzPct val="83000"/>
              <a:buFont typeface="Wingdings" pitchFamily="2" charset="2"/>
              <a:buChar char="§"/>
            </a:pP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Administrative units of government responsible for policy implementation and administration of governmental activities. </a:t>
            </a:r>
          </a:p>
          <a:p>
            <a:pPr algn="just" eaLnBrk="1" hangingPunct="1">
              <a:spcBef>
                <a:spcPct val="0"/>
              </a:spcBef>
              <a:buSzPct val="83000"/>
              <a:buFont typeface="Wingdings" pitchFamily="2" charset="2"/>
              <a:buChar char="§"/>
            </a:pP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Responsible for implementing the things that government's responsible for towards the development and implementation of services to citizens.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84115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3F38-DEBA-4563-BBFD-8AEE735A8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48" y="1113184"/>
            <a:ext cx="11688417" cy="5135216"/>
          </a:xfrm>
        </p:spPr>
        <p:txBody>
          <a:bodyPr>
            <a:normAutofit/>
          </a:bodyPr>
          <a:lstStyle/>
          <a:p>
            <a:r>
              <a:rPr lang="en-US" dirty="0"/>
              <a:t>Two types of government agency - Central Agency and Operational Agency.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dirty="0"/>
              <a:t>Central agencies functions are to assist, coordinate and control the running of operating agencies. Examples: Malaysian Administrative Modernization And Management Planning Unit (MAMPU), National Institute of Public Administration Malaysia (INTAN), Implementation Coordination Unit (ICU), Economic Planning (EPU), Treasury ,Public Service Department (JPA).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dirty="0"/>
              <a:t>Operational agencies functions is to execute and implement  the policies decided upon by the government. Most government agencies in Malaysia consists of operational agencies -  under ministry. Examples: Education Department (under Ministry of Education), Agriculture Department (under Ministry of Agriculture and </a:t>
            </a:r>
            <a:r>
              <a:rPr lang="en-US" sz="2000" dirty="0" err="1"/>
              <a:t>Agro</a:t>
            </a:r>
            <a:r>
              <a:rPr lang="en-US" sz="2000" dirty="0"/>
              <a:t>-Base Industry), Royal Malaysian Police and Malaysian Prison Department (under Ministry of Home Affairs)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3116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E584-86AC-423F-A973-C1B65664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67360"/>
          </a:xfrm>
        </p:spPr>
        <p:txBody>
          <a:bodyPr/>
          <a:lstStyle/>
          <a:p>
            <a:pPr algn="ctr"/>
            <a:r>
              <a:rPr lang="en-MY" b="1" dirty="0"/>
              <a:t>COMMISSION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E074-C41C-4B87-989F-752CA004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635" y="1516205"/>
            <a:ext cx="11310729" cy="4195481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sz="3200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200" dirty="0">
                <a:latin typeface="Calibri" pitchFamily="34" charset="0"/>
                <a:ea typeface="ＭＳ Ｐゴシック" pitchFamily="34" charset="-128"/>
              </a:rPr>
              <a:t>Free body to assist the executive function/Cabinet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dirty="0">
                <a:latin typeface="Calibri" pitchFamily="34" charset="0"/>
                <a:ea typeface="ＭＳ Ｐゴシック" pitchFamily="34" charset="-128"/>
              </a:rPr>
              <a:t>2 types – permanent and ad-hoc commission (assist the Cabinet)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dirty="0">
                <a:latin typeface="Calibri" pitchFamily="34" charset="0"/>
                <a:ea typeface="ＭＳ Ｐゴシック" pitchFamily="34" charset="-128"/>
              </a:rPr>
              <a:t>Examples of permanent commission – Election Commission, Malaysian Anti-Corruption Commission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95818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E762-86DF-44CA-BC33-1BF97A34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77908"/>
          </a:xfrm>
        </p:spPr>
        <p:txBody>
          <a:bodyPr/>
          <a:lstStyle/>
          <a:p>
            <a:pPr algn="ctr"/>
            <a:r>
              <a:rPr lang="en-MY" sz="4400" b="1" dirty="0"/>
              <a:t>STATUTORY BODIES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B0790-314D-40C8-9D0C-909279048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2" y="1530626"/>
            <a:ext cx="11300790" cy="4717773"/>
          </a:xfrm>
        </p:spPr>
        <p:txBody>
          <a:bodyPr>
            <a:normAutofit/>
          </a:bodyPr>
          <a:lstStyle/>
          <a:p>
            <a:r>
              <a:rPr lang="en-US" sz="2400" dirty="0"/>
              <a:t>Two types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Established under Federal Act - Any body corporate, irrespective of the name by which it is known, that is incorporated pursuant to the provisions of federal law and is a public authority or an agency of the Government of Malaysia . e.g. Employee Provident Fund, Public universities like UPM, MARDI (Malaysian Agricultural Research and Development Institute)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Established or incorporated under the Companies Act 1965 – profit making. </a:t>
            </a:r>
            <a:r>
              <a:rPr lang="en-US" sz="2400" dirty="0" err="1"/>
              <a:t>e.g</a:t>
            </a:r>
            <a:r>
              <a:rPr lang="en-US" sz="2400" dirty="0"/>
              <a:t> PETRONAS, BERNAS (National Rice Company)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4279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7AA6-FB52-4C4F-9559-6F72ABDE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9004"/>
          </a:xfrm>
        </p:spPr>
        <p:txBody>
          <a:bodyPr/>
          <a:lstStyle/>
          <a:p>
            <a:pPr algn="ctr"/>
            <a:r>
              <a:rPr lang="en-MY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5A741-A473-4191-98A3-6D9DD96C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40" y="1351722"/>
            <a:ext cx="11320670" cy="4896677"/>
          </a:xfrm>
        </p:spPr>
        <p:txBody>
          <a:bodyPr/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800" dirty="0">
                <a:latin typeface="Calibri" pitchFamily="34" charset="0"/>
                <a:ea typeface="+mn-ea"/>
                <a:cs typeface="Calibri" pitchFamily="34" charset="0"/>
              </a:rPr>
              <a:t>•	Executive (Cabinet) in Malaysia is very important in the decision-making process and policy implementation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800" dirty="0">
                <a:latin typeface="Calibri" pitchFamily="34" charset="0"/>
                <a:ea typeface="+mn-ea"/>
                <a:cs typeface="Calibri" pitchFamily="34" charset="0"/>
              </a:rPr>
              <a:t>•	Ministry and agencies support to the policy implementation process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80923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86C3E-5C7D-42C6-88FF-734B7FA2C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9026"/>
            <a:ext cx="8946541" cy="6089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REVISE….</a:t>
            </a:r>
          </a:p>
          <a:p>
            <a:pPr marL="0" indent="0">
              <a:buNone/>
            </a:pPr>
            <a:r>
              <a:rPr lang="en-US" dirty="0"/>
              <a:t>•	What is the function of executive?</a:t>
            </a:r>
          </a:p>
          <a:p>
            <a:pPr marL="0" indent="0">
              <a:buNone/>
            </a:pPr>
            <a:r>
              <a:rPr lang="en-US" dirty="0"/>
              <a:t>•	What is the function of Malaysia Cabinet?</a:t>
            </a:r>
          </a:p>
          <a:p>
            <a:pPr marL="0" indent="0">
              <a:buNone/>
            </a:pPr>
            <a:r>
              <a:rPr lang="en-US" dirty="0"/>
              <a:t>•	What is the meaning of collective decision of Cabinet’s member?</a:t>
            </a:r>
          </a:p>
          <a:p>
            <a:pPr marL="0" indent="0">
              <a:buNone/>
            </a:pPr>
            <a:r>
              <a:rPr lang="en-US" dirty="0"/>
              <a:t>•	What is the position of PM in Malaysia?</a:t>
            </a:r>
          </a:p>
          <a:p>
            <a:pPr marL="0" indent="0">
              <a:buNone/>
            </a:pPr>
            <a:r>
              <a:rPr lang="en-US" dirty="0"/>
              <a:t>•	How PM is appointed in Malaysia?</a:t>
            </a:r>
          </a:p>
          <a:p>
            <a:pPr marL="0" indent="0">
              <a:buNone/>
            </a:pPr>
            <a:r>
              <a:rPr lang="en-US" dirty="0"/>
              <a:t>•	What is the meaning of shadow Cabinet?</a:t>
            </a:r>
          </a:p>
          <a:p>
            <a:pPr marL="0" indent="0">
              <a:buNone/>
            </a:pPr>
            <a:r>
              <a:rPr lang="en-US" dirty="0"/>
              <a:t>•	Does Malaysia has a strong shadow cabinet?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60057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FDE30-B8BA-486D-C42F-59DE79C05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2" y="298174"/>
            <a:ext cx="9602592" cy="5950225"/>
          </a:xfrm>
        </p:spPr>
        <p:txBody>
          <a:bodyPr/>
          <a:lstStyle/>
          <a:p>
            <a:pPr algn="just"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Revise….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function of the Cabinet?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 is the first PM of Malaysia?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name of the fifth and seventh PM of Malaysia?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are the responsibilities of the PM?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the governmental agencies responsible for implementing the public policy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main role of a ministry?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the ministry which have a senior minister.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3 examples of ministries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function of a commission?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Give two examples of statutory bodies.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80634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498</TotalTime>
  <Words>1911</Words>
  <Application>Microsoft Office PowerPoint</Application>
  <PresentationFormat>Widescreen</PresentationFormat>
  <Paragraphs>218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Arial</vt:lpstr>
      <vt:lpstr>Calibri</vt:lpstr>
      <vt:lpstr>Century Gothic</vt:lpstr>
      <vt:lpstr>Noto Sans Symbols</vt:lpstr>
      <vt:lpstr>Symbol</vt:lpstr>
      <vt:lpstr>Times New Roman</vt:lpstr>
      <vt:lpstr>Wingdings</vt:lpstr>
      <vt:lpstr>Wingdings 3</vt:lpstr>
      <vt:lpstr>Ion</vt:lpstr>
      <vt:lpstr>1_Office Theme</vt:lpstr>
      <vt:lpstr>Office Theme</vt:lpstr>
      <vt:lpstr>FEM2401 Malaysian Politics &amp; Society TOPIC 8: EXECUTIVE</vt:lpstr>
      <vt:lpstr>PowerPoint Presentation</vt:lpstr>
      <vt:lpstr>WHAT IS THE STRUCTURE OF A GOVERNMENT ADMINISTRATION?</vt:lpstr>
      <vt:lpstr>THE CONCEPT OF SEPARATION OF POWER</vt:lpstr>
      <vt:lpstr>PowerPoint Presentation</vt:lpstr>
      <vt:lpstr>PowerPoint Presentation</vt:lpstr>
      <vt:lpstr>Montesqiue &amp; Separation of Power</vt:lpstr>
      <vt:lpstr>PowerPoint Presentation</vt:lpstr>
      <vt:lpstr>EXECUTIVE/ADMINISTRATION</vt:lpstr>
      <vt:lpstr>EXECUTIVE IN MALAYSIA </vt:lpstr>
      <vt:lpstr>MALAYSIAN CABINET</vt:lpstr>
      <vt:lpstr>CABINET MEMBERS/MINISTERS</vt:lpstr>
      <vt:lpstr>PowerPoint Presentation</vt:lpstr>
      <vt:lpstr>PREVIOUS PRIME MINISTERS OF MALAYSIA</vt:lpstr>
      <vt:lpstr>PowerPoint Presentation</vt:lpstr>
      <vt:lpstr>PRIME MINISTER</vt:lpstr>
      <vt:lpstr>PowerPoint Presentation</vt:lpstr>
      <vt:lpstr>PowerPoint Presentation</vt:lpstr>
      <vt:lpstr>PowerPoint Presentation</vt:lpstr>
      <vt:lpstr>BUREAUCRACY/CIVIL SERVICE</vt:lpstr>
      <vt:lpstr>Ministry</vt:lpstr>
      <vt:lpstr>PowerPoint Presentation</vt:lpstr>
      <vt:lpstr>GOVERNMENT AGENCY</vt:lpstr>
      <vt:lpstr>PowerPoint Presentation</vt:lpstr>
      <vt:lpstr>COMMISSION</vt:lpstr>
      <vt:lpstr>STATUTORY BODIES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MPU2163 Pengajian Malaysia 2</dc:title>
  <dc:creator>Fitri</dc:creator>
  <cp:lastModifiedBy>Amir Munshi</cp:lastModifiedBy>
  <cp:revision>246</cp:revision>
  <dcterms:created xsi:type="dcterms:W3CDTF">2021-06-21T02:18:24Z</dcterms:created>
  <dcterms:modified xsi:type="dcterms:W3CDTF">2023-12-14T03:32:40Z</dcterms:modified>
</cp:coreProperties>
</file>