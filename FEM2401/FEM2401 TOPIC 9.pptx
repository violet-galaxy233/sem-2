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 id="2147483695" r:id="rId2"/>
    <p:sldMasterId id="2147483707" r:id="rId3"/>
  </p:sldMasterIdLst>
  <p:sldIdLst>
    <p:sldId id="257" r:id="rId4"/>
    <p:sldId id="258" r:id="rId5"/>
    <p:sldId id="297" r:id="rId6"/>
    <p:sldId id="298" r:id="rId7"/>
    <p:sldId id="301" r:id="rId8"/>
    <p:sldId id="310" r:id="rId9"/>
    <p:sldId id="300" r:id="rId10"/>
    <p:sldId id="311" r:id="rId11"/>
    <p:sldId id="302" r:id="rId12"/>
    <p:sldId id="307" r:id="rId13"/>
    <p:sldId id="312" r:id="rId14"/>
    <p:sldId id="313" r:id="rId15"/>
    <p:sldId id="259" r:id="rId16"/>
    <p:sldId id="303" r:id="rId17"/>
    <p:sldId id="293" r:id="rId18"/>
    <p:sldId id="261" r:id="rId19"/>
    <p:sldId id="262" r:id="rId20"/>
    <p:sldId id="263" r:id="rId21"/>
    <p:sldId id="267" r:id="rId22"/>
    <p:sldId id="266" r:id="rId23"/>
    <p:sldId id="272" r:id="rId24"/>
    <p:sldId id="314" r:id="rId25"/>
    <p:sldId id="315" r:id="rId26"/>
    <p:sldId id="264" r:id="rId27"/>
    <p:sldId id="270" r:id="rId28"/>
    <p:sldId id="260" r:id="rId29"/>
    <p:sldId id="273" r:id="rId30"/>
    <p:sldId id="275" r:id="rId31"/>
    <p:sldId id="274" r:id="rId32"/>
    <p:sldId id="265" r:id="rId33"/>
    <p:sldId id="271" r:id="rId34"/>
    <p:sldId id="276" r:id="rId35"/>
    <p:sldId id="309"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itri" initials="F" lastIdx="1" clrIdx="0">
    <p:extLst>
      <p:ext uri="{19B8F6BF-5375-455C-9EA6-DF929625EA0E}">
        <p15:presenceInfo xmlns:p15="http://schemas.microsoft.com/office/powerpoint/2012/main" userId="Fitr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viewProps" Target="viewProp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8079E7-98C9-4BF4-9943-70494345365B}"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MY"/>
        </a:p>
      </dgm:t>
    </dgm:pt>
    <dgm:pt modelId="{AA82495C-1088-488E-A736-44A4C05342AC}">
      <dgm:prSet phldrT="[Text]" custT="1"/>
      <dgm:spPr/>
      <dgm:t>
        <a:bodyPr/>
        <a:lstStyle/>
        <a:p>
          <a:r>
            <a:rPr lang="en-US" sz="2400" dirty="0"/>
            <a:t>Characteristic of Judiciary in Malaysia: Doesn’t take sides, independent and free</a:t>
          </a:r>
          <a:endParaRPr lang="en-MY" sz="2400" dirty="0"/>
        </a:p>
      </dgm:t>
    </dgm:pt>
    <dgm:pt modelId="{6CFB34DE-6F3A-44F0-AEF9-87097ECE50A8}" type="parTrans" cxnId="{00EAA4ED-2E7A-45DC-A695-5DE1A0150DDF}">
      <dgm:prSet/>
      <dgm:spPr/>
      <dgm:t>
        <a:bodyPr/>
        <a:lstStyle/>
        <a:p>
          <a:endParaRPr lang="en-MY"/>
        </a:p>
      </dgm:t>
    </dgm:pt>
    <dgm:pt modelId="{AEA22D90-34D7-4189-9219-3E433DB642F5}" type="sibTrans" cxnId="{00EAA4ED-2E7A-45DC-A695-5DE1A0150DDF}">
      <dgm:prSet/>
      <dgm:spPr/>
      <dgm:t>
        <a:bodyPr/>
        <a:lstStyle/>
        <a:p>
          <a:endParaRPr lang="en-MY"/>
        </a:p>
      </dgm:t>
    </dgm:pt>
    <dgm:pt modelId="{72A31C4B-A675-4B36-940C-5D71E9C015D5}">
      <dgm:prSet phldrT="[Text]" custT="1"/>
      <dgm:spPr/>
      <dgm:t>
        <a:bodyPr/>
        <a:lstStyle/>
        <a:p>
          <a:r>
            <a:rPr lang="en-US" sz="2000" dirty="0"/>
            <a:t>Court cannot be controlled by any other executive bodies </a:t>
          </a:r>
          <a:endParaRPr lang="en-MY" sz="2000" dirty="0"/>
        </a:p>
        <a:p>
          <a:r>
            <a:rPr lang="en-US" sz="2000" dirty="0"/>
            <a:t>Service of judges are excluded from the General Rules in A. 132 (A)</a:t>
          </a:r>
          <a:endParaRPr lang="en-MY" sz="2000" dirty="0"/>
        </a:p>
      </dgm:t>
    </dgm:pt>
    <dgm:pt modelId="{2B1900E3-097E-4E78-BE43-6163F90783AD}" type="parTrans" cxnId="{1EA51609-16A4-4B65-AF92-C963E7168656}">
      <dgm:prSet/>
      <dgm:spPr/>
      <dgm:t>
        <a:bodyPr/>
        <a:lstStyle/>
        <a:p>
          <a:endParaRPr lang="en-MY"/>
        </a:p>
      </dgm:t>
    </dgm:pt>
    <dgm:pt modelId="{C0BF190B-2036-4E5C-BC3F-7B46CE8A732E}" type="sibTrans" cxnId="{1EA51609-16A4-4B65-AF92-C963E7168656}">
      <dgm:prSet/>
      <dgm:spPr/>
      <dgm:t>
        <a:bodyPr/>
        <a:lstStyle/>
        <a:p>
          <a:endParaRPr lang="en-MY"/>
        </a:p>
      </dgm:t>
    </dgm:pt>
    <dgm:pt modelId="{629D8197-B8CD-4A7D-9B53-1DA98BFA6882}">
      <dgm:prSet phldrT="[Text]" custT="1"/>
      <dgm:spPr/>
      <dgm:t>
        <a:bodyPr/>
        <a:lstStyle/>
        <a:p>
          <a:r>
            <a:rPr lang="en-US" sz="2000" dirty="0"/>
            <a:t>Judge can only be removed when there is a recommendation from the TRIBUNAL. A. 125 (3), (4) and (5).</a:t>
          </a:r>
        </a:p>
        <a:p>
          <a:endParaRPr lang="en-US" sz="2000" dirty="0"/>
        </a:p>
        <a:p>
          <a:r>
            <a:rPr lang="en-US" sz="2000" dirty="0"/>
            <a:t>Parliament cannot discuss the conduct of a judge unless supported by ¼ members of parliament</a:t>
          </a:r>
          <a:endParaRPr lang="en-MY" sz="2000" dirty="0"/>
        </a:p>
      </dgm:t>
    </dgm:pt>
    <dgm:pt modelId="{F769A791-FAB5-474C-8CD2-1C3559C8A215}" type="parTrans" cxnId="{2C0ADCE5-48BF-41EE-957D-88250AD3777A}">
      <dgm:prSet/>
      <dgm:spPr/>
      <dgm:t>
        <a:bodyPr/>
        <a:lstStyle/>
        <a:p>
          <a:endParaRPr lang="en-MY"/>
        </a:p>
      </dgm:t>
    </dgm:pt>
    <dgm:pt modelId="{09D231D4-0AEC-4631-9D36-27E7C3C94934}" type="sibTrans" cxnId="{2C0ADCE5-48BF-41EE-957D-88250AD3777A}">
      <dgm:prSet/>
      <dgm:spPr/>
      <dgm:t>
        <a:bodyPr/>
        <a:lstStyle/>
        <a:p>
          <a:endParaRPr lang="en-MY"/>
        </a:p>
      </dgm:t>
    </dgm:pt>
    <dgm:pt modelId="{D70ECD8F-7AC5-42DF-849A-1B9E4179D559}" type="pres">
      <dgm:prSet presAssocID="{898079E7-98C9-4BF4-9943-70494345365B}" presName="diagram" presStyleCnt="0">
        <dgm:presLayoutVars>
          <dgm:chPref val="1"/>
          <dgm:dir/>
          <dgm:animOne val="branch"/>
          <dgm:animLvl val="lvl"/>
          <dgm:resizeHandles val="exact"/>
        </dgm:presLayoutVars>
      </dgm:prSet>
      <dgm:spPr/>
    </dgm:pt>
    <dgm:pt modelId="{69B4E819-4C38-43A7-8821-7A1DB3E682AF}" type="pres">
      <dgm:prSet presAssocID="{AA82495C-1088-488E-A736-44A4C05342AC}" presName="root1" presStyleCnt="0"/>
      <dgm:spPr/>
    </dgm:pt>
    <dgm:pt modelId="{F0A4CCAA-210A-4267-87F3-2FF996E18C5A}" type="pres">
      <dgm:prSet presAssocID="{AA82495C-1088-488E-A736-44A4C05342AC}" presName="LevelOneTextNode" presStyleLbl="node0" presStyleIdx="0" presStyleCnt="1">
        <dgm:presLayoutVars>
          <dgm:chPref val="3"/>
        </dgm:presLayoutVars>
      </dgm:prSet>
      <dgm:spPr/>
    </dgm:pt>
    <dgm:pt modelId="{8BEDA60C-C81A-4340-8CBF-C7DEF0132766}" type="pres">
      <dgm:prSet presAssocID="{AA82495C-1088-488E-A736-44A4C05342AC}" presName="level2hierChild" presStyleCnt="0"/>
      <dgm:spPr/>
    </dgm:pt>
    <dgm:pt modelId="{CBBD1F18-C9DA-4A7A-81EB-EA769A7A331B}" type="pres">
      <dgm:prSet presAssocID="{2B1900E3-097E-4E78-BE43-6163F90783AD}" presName="conn2-1" presStyleLbl="parChTrans1D2" presStyleIdx="0" presStyleCnt="2"/>
      <dgm:spPr/>
    </dgm:pt>
    <dgm:pt modelId="{1F9BC0CA-359E-4924-822C-09A548F11639}" type="pres">
      <dgm:prSet presAssocID="{2B1900E3-097E-4E78-BE43-6163F90783AD}" presName="connTx" presStyleLbl="parChTrans1D2" presStyleIdx="0" presStyleCnt="2"/>
      <dgm:spPr/>
    </dgm:pt>
    <dgm:pt modelId="{D7C9A1DE-5202-4E52-AFD3-19E579162237}" type="pres">
      <dgm:prSet presAssocID="{72A31C4B-A675-4B36-940C-5D71E9C015D5}" presName="root2" presStyleCnt="0"/>
      <dgm:spPr/>
    </dgm:pt>
    <dgm:pt modelId="{E5ED2D7D-C8F9-4F25-BB54-54633958FA2F}" type="pres">
      <dgm:prSet presAssocID="{72A31C4B-A675-4B36-940C-5D71E9C015D5}" presName="LevelTwoTextNode" presStyleLbl="node2" presStyleIdx="0" presStyleCnt="2" custLinFactNeighborX="10" custLinFactNeighborY="-2856">
        <dgm:presLayoutVars>
          <dgm:chPref val="3"/>
        </dgm:presLayoutVars>
      </dgm:prSet>
      <dgm:spPr/>
    </dgm:pt>
    <dgm:pt modelId="{C26BA2FC-F51E-4904-9D08-735454DBAC24}" type="pres">
      <dgm:prSet presAssocID="{72A31C4B-A675-4B36-940C-5D71E9C015D5}" presName="level3hierChild" presStyleCnt="0"/>
      <dgm:spPr/>
    </dgm:pt>
    <dgm:pt modelId="{6B2029E6-AAAD-4728-9CD1-BD180E7BF3AA}" type="pres">
      <dgm:prSet presAssocID="{F769A791-FAB5-474C-8CD2-1C3559C8A215}" presName="conn2-1" presStyleLbl="parChTrans1D2" presStyleIdx="1" presStyleCnt="2"/>
      <dgm:spPr/>
    </dgm:pt>
    <dgm:pt modelId="{6987EB63-CF6E-42D4-B520-DE2DE69785F1}" type="pres">
      <dgm:prSet presAssocID="{F769A791-FAB5-474C-8CD2-1C3559C8A215}" presName="connTx" presStyleLbl="parChTrans1D2" presStyleIdx="1" presStyleCnt="2"/>
      <dgm:spPr/>
    </dgm:pt>
    <dgm:pt modelId="{D9FEE08D-7536-4BA6-BF4E-254D7C5F6242}" type="pres">
      <dgm:prSet presAssocID="{629D8197-B8CD-4A7D-9B53-1DA98BFA6882}" presName="root2" presStyleCnt="0"/>
      <dgm:spPr/>
    </dgm:pt>
    <dgm:pt modelId="{64E144A5-1E22-4E82-BFAD-0E1CB22979AB}" type="pres">
      <dgm:prSet presAssocID="{629D8197-B8CD-4A7D-9B53-1DA98BFA6882}" presName="LevelTwoTextNode" presStyleLbl="node2" presStyleIdx="1" presStyleCnt="2">
        <dgm:presLayoutVars>
          <dgm:chPref val="3"/>
        </dgm:presLayoutVars>
      </dgm:prSet>
      <dgm:spPr/>
    </dgm:pt>
    <dgm:pt modelId="{2DEDFA81-AEA4-45FF-991A-5FB83245B6D6}" type="pres">
      <dgm:prSet presAssocID="{629D8197-B8CD-4A7D-9B53-1DA98BFA6882}" presName="level3hierChild" presStyleCnt="0"/>
      <dgm:spPr/>
    </dgm:pt>
  </dgm:ptLst>
  <dgm:cxnLst>
    <dgm:cxn modelId="{0F3B4003-F805-4C91-8018-D02F8CBC097B}" type="presOf" srcId="{898079E7-98C9-4BF4-9943-70494345365B}" destId="{D70ECD8F-7AC5-42DF-849A-1B9E4179D559}" srcOrd="0" destOrd="0" presId="urn:microsoft.com/office/officeart/2005/8/layout/hierarchy2"/>
    <dgm:cxn modelId="{DF557706-4808-4E17-8D11-E75C4C9D80D3}" type="presOf" srcId="{2B1900E3-097E-4E78-BE43-6163F90783AD}" destId="{1F9BC0CA-359E-4924-822C-09A548F11639}" srcOrd="1" destOrd="0" presId="urn:microsoft.com/office/officeart/2005/8/layout/hierarchy2"/>
    <dgm:cxn modelId="{1EA51609-16A4-4B65-AF92-C963E7168656}" srcId="{AA82495C-1088-488E-A736-44A4C05342AC}" destId="{72A31C4B-A675-4B36-940C-5D71E9C015D5}" srcOrd="0" destOrd="0" parTransId="{2B1900E3-097E-4E78-BE43-6163F90783AD}" sibTransId="{C0BF190B-2036-4E5C-BC3F-7B46CE8A732E}"/>
    <dgm:cxn modelId="{AA199610-79EA-4F7E-B54E-42EBDF0B6D95}" type="presOf" srcId="{F769A791-FAB5-474C-8CD2-1C3559C8A215}" destId="{6987EB63-CF6E-42D4-B520-DE2DE69785F1}" srcOrd="1" destOrd="0" presId="urn:microsoft.com/office/officeart/2005/8/layout/hierarchy2"/>
    <dgm:cxn modelId="{62BC8983-6DFD-41FD-B4E8-6CF5AAF16BF0}" type="presOf" srcId="{F769A791-FAB5-474C-8CD2-1C3559C8A215}" destId="{6B2029E6-AAAD-4728-9CD1-BD180E7BF3AA}" srcOrd="0" destOrd="0" presId="urn:microsoft.com/office/officeart/2005/8/layout/hierarchy2"/>
    <dgm:cxn modelId="{057DBEAF-7D47-40F9-ADD5-71D8E21FFBD2}" type="presOf" srcId="{72A31C4B-A675-4B36-940C-5D71E9C015D5}" destId="{E5ED2D7D-C8F9-4F25-BB54-54633958FA2F}" srcOrd="0" destOrd="0" presId="urn:microsoft.com/office/officeart/2005/8/layout/hierarchy2"/>
    <dgm:cxn modelId="{A7009FD0-7FB7-443E-BC57-63C6C447922C}" type="presOf" srcId="{629D8197-B8CD-4A7D-9B53-1DA98BFA6882}" destId="{64E144A5-1E22-4E82-BFAD-0E1CB22979AB}" srcOrd="0" destOrd="0" presId="urn:microsoft.com/office/officeart/2005/8/layout/hierarchy2"/>
    <dgm:cxn modelId="{84270BE0-1470-43E5-B836-D90215F80D1D}" type="presOf" srcId="{AA82495C-1088-488E-A736-44A4C05342AC}" destId="{F0A4CCAA-210A-4267-87F3-2FF996E18C5A}" srcOrd="0" destOrd="0" presId="urn:microsoft.com/office/officeart/2005/8/layout/hierarchy2"/>
    <dgm:cxn modelId="{2C0ADCE5-48BF-41EE-957D-88250AD3777A}" srcId="{AA82495C-1088-488E-A736-44A4C05342AC}" destId="{629D8197-B8CD-4A7D-9B53-1DA98BFA6882}" srcOrd="1" destOrd="0" parTransId="{F769A791-FAB5-474C-8CD2-1C3559C8A215}" sibTransId="{09D231D4-0AEC-4631-9D36-27E7C3C94934}"/>
    <dgm:cxn modelId="{00EAA4ED-2E7A-45DC-A695-5DE1A0150DDF}" srcId="{898079E7-98C9-4BF4-9943-70494345365B}" destId="{AA82495C-1088-488E-A736-44A4C05342AC}" srcOrd="0" destOrd="0" parTransId="{6CFB34DE-6F3A-44F0-AEF9-87097ECE50A8}" sibTransId="{AEA22D90-34D7-4189-9219-3E433DB642F5}"/>
    <dgm:cxn modelId="{743D0DFC-52DC-4197-9BAA-BEE6CC3D9F2F}" type="presOf" srcId="{2B1900E3-097E-4E78-BE43-6163F90783AD}" destId="{CBBD1F18-C9DA-4A7A-81EB-EA769A7A331B}" srcOrd="0" destOrd="0" presId="urn:microsoft.com/office/officeart/2005/8/layout/hierarchy2"/>
    <dgm:cxn modelId="{7563BABD-87CB-47C8-BC0B-3E69D0D9BD9D}" type="presParOf" srcId="{D70ECD8F-7AC5-42DF-849A-1B9E4179D559}" destId="{69B4E819-4C38-43A7-8821-7A1DB3E682AF}" srcOrd="0" destOrd="0" presId="urn:microsoft.com/office/officeart/2005/8/layout/hierarchy2"/>
    <dgm:cxn modelId="{A5928FC6-DF01-4FCF-AFA6-498D3FBC7645}" type="presParOf" srcId="{69B4E819-4C38-43A7-8821-7A1DB3E682AF}" destId="{F0A4CCAA-210A-4267-87F3-2FF996E18C5A}" srcOrd="0" destOrd="0" presId="urn:microsoft.com/office/officeart/2005/8/layout/hierarchy2"/>
    <dgm:cxn modelId="{360BA5B9-557E-4F75-953D-21054613FE6D}" type="presParOf" srcId="{69B4E819-4C38-43A7-8821-7A1DB3E682AF}" destId="{8BEDA60C-C81A-4340-8CBF-C7DEF0132766}" srcOrd="1" destOrd="0" presId="urn:microsoft.com/office/officeart/2005/8/layout/hierarchy2"/>
    <dgm:cxn modelId="{ABD0AAAC-3248-431F-B0A2-B21C19766CD7}" type="presParOf" srcId="{8BEDA60C-C81A-4340-8CBF-C7DEF0132766}" destId="{CBBD1F18-C9DA-4A7A-81EB-EA769A7A331B}" srcOrd="0" destOrd="0" presId="urn:microsoft.com/office/officeart/2005/8/layout/hierarchy2"/>
    <dgm:cxn modelId="{EF6FC192-BB96-437E-96A0-1572A69590A5}" type="presParOf" srcId="{CBBD1F18-C9DA-4A7A-81EB-EA769A7A331B}" destId="{1F9BC0CA-359E-4924-822C-09A548F11639}" srcOrd="0" destOrd="0" presId="urn:microsoft.com/office/officeart/2005/8/layout/hierarchy2"/>
    <dgm:cxn modelId="{1FCD42A6-BD4F-476B-8F3F-0EC0D4AA99D9}" type="presParOf" srcId="{8BEDA60C-C81A-4340-8CBF-C7DEF0132766}" destId="{D7C9A1DE-5202-4E52-AFD3-19E579162237}" srcOrd="1" destOrd="0" presId="urn:microsoft.com/office/officeart/2005/8/layout/hierarchy2"/>
    <dgm:cxn modelId="{9C851EED-C402-4625-BF8B-20DA47CE33DC}" type="presParOf" srcId="{D7C9A1DE-5202-4E52-AFD3-19E579162237}" destId="{E5ED2D7D-C8F9-4F25-BB54-54633958FA2F}" srcOrd="0" destOrd="0" presId="urn:microsoft.com/office/officeart/2005/8/layout/hierarchy2"/>
    <dgm:cxn modelId="{C132F8DC-8595-4AE6-82F5-8815A139E811}" type="presParOf" srcId="{D7C9A1DE-5202-4E52-AFD3-19E579162237}" destId="{C26BA2FC-F51E-4904-9D08-735454DBAC24}" srcOrd="1" destOrd="0" presId="urn:microsoft.com/office/officeart/2005/8/layout/hierarchy2"/>
    <dgm:cxn modelId="{89F25A44-65B2-4426-8925-549609182652}" type="presParOf" srcId="{8BEDA60C-C81A-4340-8CBF-C7DEF0132766}" destId="{6B2029E6-AAAD-4728-9CD1-BD180E7BF3AA}" srcOrd="2" destOrd="0" presId="urn:microsoft.com/office/officeart/2005/8/layout/hierarchy2"/>
    <dgm:cxn modelId="{FA7176D3-8D8E-468D-B813-E34CB6EBFA5C}" type="presParOf" srcId="{6B2029E6-AAAD-4728-9CD1-BD180E7BF3AA}" destId="{6987EB63-CF6E-42D4-B520-DE2DE69785F1}" srcOrd="0" destOrd="0" presId="urn:microsoft.com/office/officeart/2005/8/layout/hierarchy2"/>
    <dgm:cxn modelId="{175D0E39-0AD0-43B4-A94E-F2F5D52F2196}" type="presParOf" srcId="{8BEDA60C-C81A-4340-8CBF-C7DEF0132766}" destId="{D9FEE08D-7536-4BA6-BF4E-254D7C5F6242}" srcOrd="3" destOrd="0" presId="urn:microsoft.com/office/officeart/2005/8/layout/hierarchy2"/>
    <dgm:cxn modelId="{E0E4D828-E54E-4F8F-A9A1-4CB34BFF9DCF}" type="presParOf" srcId="{D9FEE08D-7536-4BA6-BF4E-254D7C5F6242}" destId="{64E144A5-1E22-4E82-BFAD-0E1CB22979AB}" srcOrd="0" destOrd="0" presId="urn:microsoft.com/office/officeart/2005/8/layout/hierarchy2"/>
    <dgm:cxn modelId="{3081F7F9-76AD-4671-ABCD-C2C3C8D3018A}" type="presParOf" srcId="{D9FEE08D-7536-4BA6-BF4E-254D7C5F6242}" destId="{2DEDFA81-AEA4-45FF-991A-5FB83245B6D6}"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A4CCAA-210A-4267-87F3-2FF996E18C5A}">
      <dsp:nvSpPr>
        <dsp:cNvPr id="0" name=""/>
        <dsp:cNvSpPr/>
      </dsp:nvSpPr>
      <dsp:spPr>
        <a:xfrm>
          <a:off x="60787" y="1377594"/>
          <a:ext cx="4786386" cy="239319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Characteristic of Judiciary in Malaysia: Doesn’t take sides, independent and free</a:t>
          </a:r>
          <a:endParaRPr lang="en-MY" sz="2400" kern="1200" dirty="0"/>
        </a:p>
      </dsp:txBody>
      <dsp:txXfrm>
        <a:off x="130881" y="1447688"/>
        <a:ext cx="4646198" cy="2253005"/>
      </dsp:txXfrm>
    </dsp:sp>
    <dsp:sp modelId="{CBBD1F18-C9DA-4A7A-81EB-EA769A7A331B}">
      <dsp:nvSpPr>
        <dsp:cNvPr id="0" name=""/>
        <dsp:cNvSpPr/>
      </dsp:nvSpPr>
      <dsp:spPr>
        <a:xfrm rot="19456221">
          <a:off x="4625165" y="1843557"/>
          <a:ext cx="2359050" cy="83671"/>
        </a:xfrm>
        <a:custGeom>
          <a:avLst/>
          <a:gdLst/>
          <a:ahLst/>
          <a:cxnLst/>
          <a:rect l="0" t="0" r="0" b="0"/>
          <a:pathLst>
            <a:path>
              <a:moveTo>
                <a:pt x="0" y="41835"/>
              </a:moveTo>
              <a:lnTo>
                <a:pt x="2359050" y="4183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MY" sz="800" kern="1200"/>
        </a:p>
      </dsp:txBody>
      <dsp:txXfrm>
        <a:off x="5745714" y="1826417"/>
        <a:ext cx="117952" cy="117952"/>
      </dsp:txXfrm>
    </dsp:sp>
    <dsp:sp modelId="{E5ED2D7D-C8F9-4F25-BB54-54633958FA2F}">
      <dsp:nvSpPr>
        <dsp:cNvPr id="0" name=""/>
        <dsp:cNvSpPr/>
      </dsp:nvSpPr>
      <dsp:spPr>
        <a:xfrm>
          <a:off x="6762207" y="0"/>
          <a:ext cx="4786386" cy="239319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Court cannot be controlled by any other executive bodies </a:t>
          </a:r>
          <a:endParaRPr lang="en-MY" sz="2000" kern="1200" dirty="0"/>
        </a:p>
        <a:p>
          <a:pPr marL="0" lvl="0" indent="0" algn="ctr" defTabSz="889000">
            <a:lnSpc>
              <a:spcPct val="90000"/>
            </a:lnSpc>
            <a:spcBef>
              <a:spcPct val="0"/>
            </a:spcBef>
            <a:spcAft>
              <a:spcPct val="35000"/>
            </a:spcAft>
            <a:buNone/>
          </a:pPr>
          <a:r>
            <a:rPr lang="en-US" sz="2000" kern="1200" dirty="0"/>
            <a:t>Service of judges are excluded from the General Rules in A. 132 (A)</a:t>
          </a:r>
          <a:endParaRPr lang="en-MY" sz="2000" kern="1200" dirty="0"/>
        </a:p>
      </dsp:txBody>
      <dsp:txXfrm>
        <a:off x="6832301" y="70094"/>
        <a:ext cx="4646198" cy="2253005"/>
      </dsp:txXfrm>
    </dsp:sp>
    <dsp:sp modelId="{6B2029E6-AAAD-4728-9CD1-BD180E7BF3AA}">
      <dsp:nvSpPr>
        <dsp:cNvPr id="0" name=""/>
        <dsp:cNvSpPr/>
      </dsp:nvSpPr>
      <dsp:spPr>
        <a:xfrm rot="2142401">
          <a:off x="4625560" y="3220398"/>
          <a:ext cx="2357781" cy="83671"/>
        </a:xfrm>
        <a:custGeom>
          <a:avLst/>
          <a:gdLst/>
          <a:ahLst/>
          <a:cxnLst/>
          <a:rect l="0" t="0" r="0" b="0"/>
          <a:pathLst>
            <a:path>
              <a:moveTo>
                <a:pt x="0" y="41835"/>
              </a:moveTo>
              <a:lnTo>
                <a:pt x="2357781" y="41835"/>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MY" sz="800" kern="1200"/>
        </a:p>
      </dsp:txBody>
      <dsp:txXfrm>
        <a:off x="5745506" y="3203289"/>
        <a:ext cx="117889" cy="117889"/>
      </dsp:txXfrm>
    </dsp:sp>
    <dsp:sp modelId="{64E144A5-1E22-4E82-BFAD-0E1CB22979AB}">
      <dsp:nvSpPr>
        <dsp:cNvPr id="0" name=""/>
        <dsp:cNvSpPr/>
      </dsp:nvSpPr>
      <dsp:spPr>
        <a:xfrm>
          <a:off x="6761728" y="2753680"/>
          <a:ext cx="4786386" cy="2393193"/>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Judge can only be removed when there is a recommendation from the TRIBUNAL. A. 125 (3), (4) and (5).</a:t>
          </a:r>
        </a:p>
        <a:p>
          <a:pPr marL="0" lvl="0" indent="0" algn="ctr" defTabSz="889000">
            <a:lnSpc>
              <a:spcPct val="90000"/>
            </a:lnSpc>
            <a:spcBef>
              <a:spcPct val="0"/>
            </a:spcBef>
            <a:spcAft>
              <a:spcPct val="35000"/>
            </a:spcAft>
            <a:buNone/>
          </a:pPr>
          <a:endParaRPr lang="en-US" sz="2000" kern="1200" dirty="0"/>
        </a:p>
        <a:p>
          <a:pPr marL="0" lvl="0" indent="0" algn="ctr" defTabSz="889000">
            <a:lnSpc>
              <a:spcPct val="90000"/>
            </a:lnSpc>
            <a:spcBef>
              <a:spcPct val="0"/>
            </a:spcBef>
            <a:spcAft>
              <a:spcPct val="35000"/>
            </a:spcAft>
            <a:buNone/>
          </a:pPr>
          <a:r>
            <a:rPr lang="en-US" sz="2000" kern="1200" dirty="0"/>
            <a:t>Parliament cannot discuss the conduct of a judge unless supported by ¼ members of parliament</a:t>
          </a:r>
          <a:endParaRPr lang="en-MY" sz="2000" kern="1200" dirty="0"/>
        </a:p>
      </dsp:txBody>
      <dsp:txXfrm>
        <a:off x="6831822" y="2823774"/>
        <a:ext cx="4646198" cy="225300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A877A6-B9F5-4867-A3A3-392470B18AE2}" type="datetimeFigureOut">
              <a:rPr lang="en-MY" smtClean="0"/>
              <a:t>21/12/2023</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4031135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8A877A6-B9F5-4867-A3A3-392470B18AE2}" type="datetimeFigureOut">
              <a:rPr lang="en-MY" smtClean="0"/>
              <a:t>21/12/2023</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404130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21/12/2023</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538075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A877A6-B9F5-4867-A3A3-392470B18AE2}" type="datetimeFigureOut">
              <a:rPr lang="en-MY" smtClean="0"/>
              <a:t>21/12/2023</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117566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A877A6-B9F5-4867-A3A3-392470B18AE2}" type="datetimeFigureOut">
              <a:rPr lang="en-MY" smtClean="0"/>
              <a:t>21/12/2023</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540901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8A877A6-B9F5-4867-A3A3-392470B18AE2}" type="datetimeFigureOut">
              <a:rPr lang="en-MY" smtClean="0"/>
              <a:t>21/12/2023</a:t>
            </a:fld>
            <a:endParaRPr lang="en-MY"/>
          </a:p>
        </p:txBody>
      </p:sp>
      <p:sp>
        <p:nvSpPr>
          <p:cNvPr id="5" name="Footer Placeholder 3"/>
          <p:cNvSpPr>
            <a:spLocks noGrp="1"/>
          </p:cNvSpPr>
          <p:nvPr>
            <p:ph type="ftr" sz="quarter" idx="11"/>
          </p:nvPr>
        </p:nvSpPr>
        <p:spPr/>
        <p:txBody>
          <a:bodyPr/>
          <a:lstStyle/>
          <a:p>
            <a:endParaRPr lang="en-MY"/>
          </a:p>
        </p:txBody>
      </p:sp>
      <p:sp>
        <p:nvSpPr>
          <p:cNvPr id="6" name="Slide Number Placeholder 4"/>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409658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8A877A6-B9F5-4867-A3A3-392470B18AE2}" type="datetimeFigureOut">
              <a:rPr lang="en-MY" smtClean="0"/>
              <a:t>21/12/2023</a:t>
            </a:fld>
            <a:endParaRPr lang="en-MY"/>
          </a:p>
        </p:txBody>
      </p:sp>
      <p:sp>
        <p:nvSpPr>
          <p:cNvPr id="5" name="Footer Placeholder 2"/>
          <p:cNvSpPr>
            <a:spLocks noGrp="1"/>
          </p:cNvSpPr>
          <p:nvPr>
            <p:ph type="ftr" sz="quarter" idx="11"/>
          </p:nvPr>
        </p:nvSpPr>
        <p:spPr/>
        <p:txBody>
          <a:bodyPr/>
          <a:lstStyle/>
          <a:p>
            <a:endParaRPr lang="en-MY"/>
          </a:p>
        </p:txBody>
      </p:sp>
      <p:sp>
        <p:nvSpPr>
          <p:cNvPr id="6" name="Slide Number Placeholder 3"/>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4056494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8A877A6-B9F5-4867-A3A3-392470B18AE2}" type="datetimeFigureOut">
              <a:rPr lang="en-MY" smtClean="0"/>
              <a:t>21/12/2023</a:t>
            </a:fld>
            <a:endParaRPr lang="en-MY"/>
          </a:p>
        </p:txBody>
      </p:sp>
      <p:sp>
        <p:nvSpPr>
          <p:cNvPr id="5" name="Footer Placeholder 5"/>
          <p:cNvSpPr>
            <a:spLocks noGrp="1"/>
          </p:cNvSpPr>
          <p:nvPr>
            <p:ph type="ftr" sz="quarter" idx="11"/>
          </p:nvPr>
        </p:nvSpPr>
        <p:spPr/>
        <p:txBody>
          <a:bodyPr/>
          <a:lstStyle/>
          <a:p>
            <a:endParaRPr lang="en-MY"/>
          </a:p>
        </p:txBody>
      </p:sp>
      <p:sp>
        <p:nvSpPr>
          <p:cNvPr id="6"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395239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A877A6-B9F5-4867-A3A3-392470B18AE2}" type="datetimeFigureOut">
              <a:rPr lang="en-MY" smtClean="0"/>
              <a:t>21/12/2023</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459401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A877A6-B9F5-4867-A3A3-392470B18AE2}" type="datetimeFigureOut">
              <a:rPr lang="en-MY" smtClean="0"/>
              <a:t>21/12/2023</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927716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21/12/2023</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0313781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21/12/2023</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403014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21/12/2023</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3449068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8A877A6-B9F5-4867-A3A3-392470B18AE2}" type="datetimeFigureOut">
              <a:rPr lang="en-MY" smtClean="0"/>
              <a:t>21/12/2023</a:t>
            </a:fld>
            <a:endParaRPr lang="en-MY"/>
          </a:p>
        </p:txBody>
      </p:sp>
      <p:sp>
        <p:nvSpPr>
          <p:cNvPr id="4"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32170906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8A877A6-B9F5-4867-A3A3-392470B18AE2}" type="datetimeFigureOut">
              <a:rPr lang="en-MY" smtClean="0"/>
              <a:t>21/12/2023</a:t>
            </a:fld>
            <a:endParaRPr lang="en-MY"/>
          </a:p>
        </p:txBody>
      </p:sp>
      <p:sp>
        <p:nvSpPr>
          <p:cNvPr id="4"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3302662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A877A6-B9F5-4867-A3A3-392470B18AE2}" type="datetimeFigureOut">
              <a:rPr lang="en-MY" smtClean="0"/>
              <a:t>21/12/2023</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5698349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A877A6-B9F5-4867-A3A3-392470B18AE2}" type="datetimeFigureOut">
              <a:rPr lang="en-MY" smtClean="0"/>
              <a:t>21/12/2023</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4680467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946644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774510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732387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12/21/2023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264110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2543EDA-DEC2-4A58-BAD0-B33D6BFF9C88}" type="datetimeFigureOut">
              <a:rPr lang="en-US" smtClean="0">
                <a:solidFill>
                  <a:prstClr val="black">
                    <a:tint val="75000"/>
                  </a:prstClr>
                </a:solidFill>
              </a:rPr>
              <a:pPr/>
              <a:t>12/21/2023</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219849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543EDA-DEC2-4A58-BAD0-B33D6BFF9C88}" type="datetimeFigureOut">
              <a:rPr lang="en-US" smtClean="0">
                <a:solidFill>
                  <a:prstClr val="black">
                    <a:tint val="75000"/>
                  </a:prstClr>
                </a:solidFill>
              </a:rPr>
              <a:pPr/>
              <a:t>12/21/2023</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0106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543EDA-DEC2-4A58-BAD0-B33D6BFF9C88}" type="datetimeFigureOut">
              <a:rPr lang="en-US" smtClean="0">
                <a:solidFill>
                  <a:prstClr val="black">
                    <a:tint val="75000"/>
                  </a:prstClr>
                </a:solidFill>
              </a:rPr>
              <a:pPr/>
              <a:t>12/21/2023</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871187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12/21/2023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465150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12/21/2023</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833906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22154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12/21/2023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811470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014E152-5AF6-4A32-9BB5-E2D5EA3B01E3}" type="datetimeFigureOut">
              <a:rPr lang="en-US" smtClean="0"/>
              <a:t>12/21/2023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6656139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14E152-5AF6-4A32-9BB5-E2D5EA3B01E3}" type="datetimeFigureOut">
              <a:rPr lang="en-US" smtClean="0"/>
              <a:t>12/21/2023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42752252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14E152-5AF6-4A32-9BB5-E2D5EA3B01E3}" type="datetimeFigureOut">
              <a:rPr lang="en-US" smtClean="0"/>
              <a:t>12/21/2023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29570003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14E152-5AF6-4A32-9BB5-E2D5EA3B01E3}" type="datetimeFigureOut">
              <a:rPr lang="en-US" smtClean="0"/>
              <a:t>12/21/2023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15099276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14E152-5AF6-4A32-9BB5-E2D5EA3B01E3}" type="datetimeFigureOut">
              <a:rPr lang="en-US" smtClean="0"/>
              <a:t>12/21/2023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25789121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14E152-5AF6-4A32-9BB5-E2D5EA3B01E3}" type="datetimeFigureOut">
              <a:rPr lang="en-US" smtClean="0"/>
              <a:t>12/21/2023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10426974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14E152-5AF6-4A32-9BB5-E2D5EA3B01E3}" type="datetimeFigureOut">
              <a:rPr lang="en-US" smtClean="0"/>
              <a:t>12/21/2023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2004936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14E152-5AF6-4A32-9BB5-E2D5EA3B01E3}" type="datetimeFigureOut">
              <a:rPr lang="en-US" smtClean="0"/>
              <a:t>12/21/2023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1163956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14E152-5AF6-4A32-9BB5-E2D5EA3B01E3}" type="datetimeFigureOut">
              <a:rPr lang="en-US" smtClean="0"/>
              <a:t>12/21/2023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302850761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14E152-5AF6-4A32-9BB5-E2D5EA3B01E3}" type="datetimeFigureOut">
              <a:rPr lang="en-US" smtClean="0"/>
              <a:t>12/21/2023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11393179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14E152-5AF6-4A32-9BB5-E2D5EA3B01E3}" type="datetimeFigureOut">
              <a:rPr lang="en-US" smtClean="0"/>
              <a:t>12/21/2023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4205193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8A877A6-B9F5-4867-A3A3-392470B18AE2}" type="datetimeFigureOut">
              <a:rPr lang="en-MY" smtClean="0"/>
              <a:t>21/12/2023</a:t>
            </a:fld>
            <a:endParaRPr lang="en-MY"/>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MY"/>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330625C-0DFE-48EE-B4CF-6F31E8BA3B9A}" type="slidenum">
              <a:rPr lang="en-MY" smtClean="0"/>
              <a:t>‹#›</a:t>
            </a:fld>
            <a:endParaRPr lang="en-MY"/>
          </a:p>
        </p:txBody>
      </p:sp>
    </p:spTree>
    <p:extLst>
      <p:ext uri="{BB962C8B-B14F-4D97-AF65-F5344CB8AC3E}">
        <p14:creationId xmlns:p14="http://schemas.microsoft.com/office/powerpoint/2010/main" val="1589244053"/>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EFD1"/>
            </a:gs>
            <a:gs pos="64999">
              <a:srgbClr val="F0EBD5"/>
            </a:gs>
            <a:gs pos="100000">
              <a:srgbClr val="D1C39F"/>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543EDA-DEC2-4A58-BAD0-B33D6BFF9C88}" type="datetimeFigureOut">
              <a:rPr lang="en-US" smtClean="0">
                <a:solidFill>
                  <a:prstClr val="black">
                    <a:tint val="75000"/>
                  </a:prstClr>
                </a:solidFill>
              </a:rPr>
              <a:pPr/>
              <a:t>12/21/2023</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44475139"/>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4E152-5AF6-4A32-9BB5-E2D5EA3B01E3}" type="datetimeFigureOut">
              <a:rPr lang="en-US" smtClean="0"/>
              <a:t>12/21/2023</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504647-6617-4D77-871B-7F401C13A077}" type="slidenum">
              <a:rPr lang="en-US" smtClean="0"/>
              <a:t>‹#›</a:t>
            </a:fld>
            <a:endParaRPr lang="en-US"/>
          </a:p>
        </p:txBody>
      </p:sp>
    </p:spTree>
    <p:extLst>
      <p:ext uri="{BB962C8B-B14F-4D97-AF65-F5344CB8AC3E}">
        <p14:creationId xmlns:p14="http://schemas.microsoft.com/office/powerpoint/2010/main" val="3143880431"/>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1D04A-6424-45AE-B5E7-7F06300B0972}"/>
              </a:ext>
            </a:extLst>
          </p:cNvPr>
          <p:cNvSpPr>
            <a:spLocks noGrp="1"/>
          </p:cNvSpPr>
          <p:nvPr>
            <p:ph type="ctrTitle"/>
          </p:nvPr>
        </p:nvSpPr>
        <p:spPr>
          <a:xfrm>
            <a:off x="904461" y="1123122"/>
            <a:ext cx="9968948" cy="2408082"/>
          </a:xfrm>
        </p:spPr>
        <p:txBody>
          <a:bodyPr>
            <a:normAutofit fontScale="90000"/>
          </a:bodyPr>
          <a:lstStyle/>
          <a:p>
            <a:pPr algn="ctr"/>
            <a:r>
              <a:rPr kumimoji="0" lang="en-US" sz="4800" b="0" i="0" u="none" strike="noStrike" kern="1200" cap="none" spc="0" normalizeH="0" baseline="0" noProof="0" dirty="0">
                <a:ln>
                  <a:noFill/>
                </a:ln>
                <a:solidFill>
                  <a:srgbClr val="EBEBEB"/>
                </a:solidFill>
                <a:effectLst/>
                <a:uLnTx/>
                <a:uFillTx/>
                <a:latin typeface="Century Gothic" panose="020B0502020202020204"/>
                <a:ea typeface="+mj-ea"/>
                <a:cs typeface="+mj-cs"/>
              </a:rPr>
              <a:t>FEM2401 Malaysian Politics &amp; Society</a:t>
            </a:r>
            <a:br>
              <a:rPr kumimoji="0" lang="en-US" sz="4800" b="0" i="0" u="none" strike="noStrike" kern="1200" cap="none" spc="0" normalizeH="0" baseline="0" noProof="0" dirty="0">
                <a:ln>
                  <a:noFill/>
                </a:ln>
                <a:solidFill>
                  <a:srgbClr val="EBEBEB"/>
                </a:solidFill>
                <a:effectLst/>
                <a:uLnTx/>
                <a:uFillTx/>
                <a:latin typeface="Century Gothic" panose="020B0502020202020204"/>
                <a:ea typeface="+mj-ea"/>
                <a:cs typeface="+mj-cs"/>
              </a:rPr>
            </a:br>
            <a:br>
              <a:rPr kumimoji="0" lang="en-US" sz="4800" b="0" i="0" u="none" strike="noStrike" kern="1200" cap="none" spc="0" normalizeH="0" baseline="0" noProof="0" dirty="0">
                <a:ln>
                  <a:noFill/>
                </a:ln>
                <a:solidFill>
                  <a:srgbClr val="EBEBEB"/>
                </a:solidFill>
                <a:effectLst/>
                <a:uLnTx/>
                <a:uFillTx/>
                <a:latin typeface="Century Gothic" panose="020B0502020202020204"/>
                <a:ea typeface="+mj-ea"/>
                <a:cs typeface="+mj-cs"/>
              </a:rPr>
            </a:br>
            <a:r>
              <a:rPr kumimoji="0" lang="en-US" sz="4800" b="0" i="0" u="none" strike="noStrike" kern="1200" cap="none" spc="0" normalizeH="0" baseline="0" noProof="0" dirty="0">
                <a:ln>
                  <a:noFill/>
                </a:ln>
                <a:solidFill>
                  <a:srgbClr val="EBEBEB"/>
                </a:solidFill>
                <a:effectLst/>
                <a:uLnTx/>
                <a:uFillTx/>
                <a:latin typeface="Century Gothic" panose="020B0502020202020204"/>
                <a:ea typeface="+mj-ea"/>
                <a:cs typeface="+mj-cs"/>
              </a:rPr>
              <a:t>TOPIC 9: LEGISLATIVE AND JUDICIARY</a:t>
            </a:r>
            <a:endParaRPr lang="en-MY" dirty="0"/>
          </a:p>
        </p:txBody>
      </p:sp>
      <p:sp>
        <p:nvSpPr>
          <p:cNvPr id="3" name="Subtitle 2">
            <a:extLst>
              <a:ext uri="{FF2B5EF4-FFF2-40B4-BE49-F238E27FC236}">
                <a16:creationId xmlns:a16="http://schemas.microsoft.com/office/drawing/2014/main" id="{81C0A348-4F31-4359-AF21-1556C1BD4406}"/>
              </a:ext>
            </a:extLst>
          </p:cNvPr>
          <p:cNvSpPr>
            <a:spLocks noGrp="1"/>
          </p:cNvSpPr>
          <p:nvPr>
            <p:ph type="subTitle" idx="1"/>
          </p:nvPr>
        </p:nvSpPr>
        <p:spPr>
          <a:xfrm>
            <a:off x="1777464" y="3956483"/>
            <a:ext cx="8637072" cy="2047961"/>
          </a:xfrm>
        </p:spPr>
        <p:txBody>
          <a:bodyPr>
            <a:normAutofit/>
          </a:bodyPr>
          <a:lstStyle/>
          <a:p>
            <a:pPr algn="ctr"/>
            <a:r>
              <a:rPr lang="en-US" sz="2000" dirty="0">
                <a:solidFill>
                  <a:schemeClr val="tx1"/>
                </a:solidFill>
              </a:rPr>
              <a:t>Lecturer:</a:t>
            </a:r>
          </a:p>
          <a:p>
            <a:pPr algn="ctr"/>
            <a:r>
              <a:rPr lang="en-US" sz="2000" dirty="0">
                <a:solidFill>
                  <a:schemeClr val="tx1"/>
                </a:solidFill>
              </a:rPr>
              <a:t>MUHAMMAD AMIR BIN MUNSHI</a:t>
            </a:r>
          </a:p>
          <a:p>
            <a:pPr algn="ctr"/>
            <a:endParaRPr lang="en-MY" sz="2000" dirty="0">
              <a:solidFill>
                <a:schemeClr val="tx1"/>
              </a:solidFill>
            </a:endParaRPr>
          </a:p>
        </p:txBody>
      </p:sp>
    </p:spTree>
    <p:extLst>
      <p:ext uri="{BB962C8B-B14F-4D97-AF65-F5344CB8AC3E}">
        <p14:creationId xmlns:p14="http://schemas.microsoft.com/office/powerpoint/2010/main" val="4064793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E6AEBA-5E32-4CF4-AC91-E90CAD078BC6}"/>
              </a:ext>
            </a:extLst>
          </p:cNvPr>
          <p:cNvSpPr>
            <a:spLocks noGrp="1"/>
          </p:cNvSpPr>
          <p:nvPr>
            <p:ph idx="1"/>
          </p:nvPr>
        </p:nvSpPr>
        <p:spPr>
          <a:xfrm>
            <a:off x="198783" y="208722"/>
            <a:ext cx="5297556" cy="6569765"/>
          </a:xfrm>
          <a:solidFill>
            <a:schemeClr val="accent6">
              <a:lumMod val="50000"/>
            </a:schemeClr>
          </a:solidFill>
        </p:spPr>
        <p:txBody>
          <a:bodyPr>
            <a:normAutofit/>
          </a:bodyPr>
          <a:lstStyle/>
          <a:p>
            <a:r>
              <a:rPr lang="en-US" sz="2800" b="1" dirty="0"/>
              <a:t>CONTENT:</a:t>
            </a: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Background of Malaysian legal system</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The function of legislative</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Malaysian Parliament</a:t>
            </a:r>
            <a:endParaRPr lang="en-MY" dirty="0">
              <a:effectLst/>
              <a:latin typeface="Arial" panose="020B0604020202020204" pitchFamily="34" charset="0"/>
              <a:ea typeface="Arial" panose="020B0604020202020204" pitchFamily="34" charset="0"/>
              <a:cs typeface="Arial" panose="020B0604020202020204" pitchFamily="34" charset="0"/>
            </a:endParaRPr>
          </a:p>
          <a:p>
            <a:pPr marL="1143000" lvl="2" indent="-2286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House or Representatives</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1143000" lvl="2" indent="-2286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House of Senate</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Drafting the Law</a:t>
            </a:r>
            <a:endParaRPr lang="en-MY"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Judiciary institution</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The functions of the judiciary</a:t>
            </a:r>
            <a:endParaRPr lang="en-MY"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Law and the judiciary </a:t>
            </a:r>
            <a:endParaRPr lang="en-MY"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Court structure and system</a:t>
            </a:r>
            <a:endParaRPr lang="en-MY"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Judges</a:t>
            </a:r>
            <a:endParaRPr lang="en-MY"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Judicial independence</a:t>
            </a:r>
            <a:endParaRPr lang="en-MY" dirty="0">
              <a:effectLst/>
              <a:latin typeface="Arial" panose="020B0604020202020204" pitchFamily="34" charset="0"/>
              <a:ea typeface="Arial" panose="020B0604020202020204" pitchFamily="34" charset="0"/>
              <a:cs typeface="Arial" panose="020B0604020202020204" pitchFamily="34" charset="0"/>
            </a:endParaRPr>
          </a:p>
          <a:p>
            <a:endParaRPr lang="en-US" dirty="0"/>
          </a:p>
        </p:txBody>
      </p:sp>
      <p:sp>
        <p:nvSpPr>
          <p:cNvPr id="6" name="Content Placeholder 2">
            <a:extLst>
              <a:ext uri="{FF2B5EF4-FFF2-40B4-BE49-F238E27FC236}">
                <a16:creationId xmlns:a16="http://schemas.microsoft.com/office/drawing/2014/main" id="{28FFE846-8710-FE2F-2903-3CCC4DD34659}"/>
              </a:ext>
            </a:extLst>
          </p:cNvPr>
          <p:cNvSpPr txBox="1">
            <a:spLocks/>
          </p:cNvSpPr>
          <p:nvPr/>
        </p:nvSpPr>
        <p:spPr>
          <a:xfrm>
            <a:off x="6023113" y="738810"/>
            <a:ext cx="5201477" cy="567192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endParaRPr lang="en-US" dirty="0"/>
          </a:p>
        </p:txBody>
      </p:sp>
      <p:sp>
        <p:nvSpPr>
          <p:cNvPr id="7" name="TextBox 6">
            <a:extLst>
              <a:ext uri="{FF2B5EF4-FFF2-40B4-BE49-F238E27FC236}">
                <a16:creationId xmlns:a16="http://schemas.microsoft.com/office/drawing/2014/main" id="{EDDE213E-9FEE-485C-AFC7-E5D879798A6E}"/>
              </a:ext>
            </a:extLst>
          </p:cNvPr>
          <p:cNvSpPr txBox="1"/>
          <p:nvPr/>
        </p:nvSpPr>
        <p:spPr>
          <a:xfrm>
            <a:off x="6170543" y="1974574"/>
            <a:ext cx="5425109" cy="2410916"/>
          </a:xfrm>
          <a:prstGeom prst="rect">
            <a:avLst/>
          </a:prstGeom>
          <a:solidFill>
            <a:schemeClr val="accent1">
              <a:lumMod val="75000"/>
            </a:schemeClr>
          </a:solidFill>
        </p:spPr>
        <p:txBody>
          <a:bodyPr wrap="square" rtlCol="0">
            <a:spAutoFit/>
          </a:bodyPr>
          <a:lstStyle/>
          <a:p>
            <a:pPr algn="ctr"/>
            <a:r>
              <a:rPr lang="en-US" sz="2400" b="1" dirty="0"/>
              <a:t>LEARNING OUTCOME:</a:t>
            </a:r>
          </a:p>
          <a:p>
            <a:endParaRPr lang="en-US" sz="2400" dirty="0"/>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To understand the basic legal and judicial system in Malaysia</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To explain the function legislative and judiciary in Malaysia</a:t>
            </a:r>
            <a:endParaRPr lang="en-MY" sz="2400" dirty="0">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47800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E8780E0-F199-45A6-A93B-D0FD60E832ED}"/>
              </a:ext>
            </a:extLst>
          </p:cNvPr>
          <p:cNvSpPr>
            <a:spLocks noGrp="1"/>
          </p:cNvSpPr>
          <p:nvPr>
            <p:ph type="body" idx="1"/>
          </p:nvPr>
        </p:nvSpPr>
        <p:spPr>
          <a:xfrm>
            <a:off x="334617" y="411956"/>
            <a:ext cx="5386917" cy="639762"/>
          </a:xfrm>
        </p:spPr>
        <p:txBody>
          <a:bodyPr>
            <a:noAutofit/>
          </a:bodyPr>
          <a:lstStyle/>
          <a:p>
            <a:pPr algn="ctr"/>
            <a:r>
              <a:rPr lang="en-MY" sz="4000" dirty="0"/>
              <a:t>THE PURPOSE OF LAW</a:t>
            </a:r>
          </a:p>
        </p:txBody>
      </p:sp>
      <p:sp>
        <p:nvSpPr>
          <p:cNvPr id="3" name="Content Placeholder 2"/>
          <p:cNvSpPr>
            <a:spLocks noGrp="1"/>
          </p:cNvSpPr>
          <p:nvPr>
            <p:ph sz="half" idx="2"/>
          </p:nvPr>
        </p:nvSpPr>
        <p:spPr>
          <a:xfrm>
            <a:off x="609600" y="1242391"/>
            <a:ext cx="5386917" cy="4883772"/>
          </a:xfrm>
        </p:spPr>
        <p:txBody>
          <a:bodyPr>
            <a:normAutofit/>
          </a:bodyPr>
          <a:lstStyle/>
          <a:p>
            <a:pPr marL="342900" lvl="0" indent="-342900" algn="just">
              <a:spcAft>
                <a:spcPts val="800"/>
              </a:spcAft>
              <a:buFont typeface="Arial" panose="020B0604020202020204" pitchFamily="34" charset="0"/>
              <a:buChar char="•"/>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Establishing Standards</a:t>
            </a:r>
            <a:endParaRPr lang="en-MY"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Maintaining Order</a:t>
            </a:r>
            <a:endParaRPr lang="en-MY"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Resolving Disputes</a:t>
            </a:r>
            <a:endParaRPr lang="en-MY"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Protecting Liberties and Rights</a:t>
            </a:r>
            <a:endParaRPr lang="en-MY"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lvl="1" indent="-457200" algn="just"/>
            <a:endParaRPr lang="en-US" sz="2400" dirty="0"/>
          </a:p>
        </p:txBody>
      </p:sp>
      <p:sp>
        <p:nvSpPr>
          <p:cNvPr id="5" name="Text Placeholder 4">
            <a:extLst>
              <a:ext uri="{FF2B5EF4-FFF2-40B4-BE49-F238E27FC236}">
                <a16:creationId xmlns:a16="http://schemas.microsoft.com/office/drawing/2014/main" id="{5987992B-34D9-072A-6850-BA92692EF9A2}"/>
              </a:ext>
            </a:extLst>
          </p:cNvPr>
          <p:cNvSpPr>
            <a:spLocks noGrp="1"/>
          </p:cNvSpPr>
          <p:nvPr>
            <p:ph type="body" sz="quarter" idx="3"/>
          </p:nvPr>
        </p:nvSpPr>
        <p:spPr>
          <a:xfrm>
            <a:off x="5996518" y="99391"/>
            <a:ext cx="5930440" cy="1413582"/>
          </a:xfrm>
        </p:spPr>
        <p:txBody>
          <a:bodyPr>
            <a:noAutofit/>
          </a:bodyPr>
          <a:lstStyle/>
          <a:p>
            <a:pPr algn="ctr"/>
            <a:r>
              <a:rPr lang="en-MY" sz="4000" dirty="0"/>
              <a:t>LEGISLATIVE AND JUDICIARY</a:t>
            </a:r>
          </a:p>
        </p:txBody>
      </p:sp>
      <p:sp>
        <p:nvSpPr>
          <p:cNvPr id="6" name="Content Placeholder 5">
            <a:extLst>
              <a:ext uri="{FF2B5EF4-FFF2-40B4-BE49-F238E27FC236}">
                <a16:creationId xmlns:a16="http://schemas.microsoft.com/office/drawing/2014/main" id="{5512B25F-2ACD-1BB0-B2F6-78E9EE1C782B}"/>
              </a:ext>
            </a:extLst>
          </p:cNvPr>
          <p:cNvSpPr>
            <a:spLocks noGrp="1"/>
          </p:cNvSpPr>
          <p:nvPr>
            <p:ph sz="quarter" idx="4"/>
          </p:nvPr>
        </p:nvSpPr>
        <p:spPr>
          <a:xfrm>
            <a:off x="6193368" y="1560443"/>
            <a:ext cx="5733590" cy="4565720"/>
          </a:xfrm>
        </p:spPr>
        <p:txBody>
          <a:bodyPr>
            <a:normAutofit/>
          </a:bodyPr>
          <a:lstStyle/>
          <a:p>
            <a:pPr algn="just"/>
            <a:r>
              <a:rPr lang="en-US" sz="2800" dirty="0"/>
              <a:t>Important government machinery to protect the society/citizen through legal system</a:t>
            </a:r>
          </a:p>
          <a:p>
            <a:pPr algn="just"/>
            <a:r>
              <a:rPr lang="en-US" sz="2800" dirty="0"/>
              <a:t>Mechanism of check and balance in the system</a:t>
            </a:r>
          </a:p>
          <a:p>
            <a:endParaRPr lang="en-MY" dirty="0"/>
          </a:p>
        </p:txBody>
      </p:sp>
    </p:spTree>
    <p:extLst>
      <p:ext uri="{BB962C8B-B14F-4D97-AF65-F5344CB8AC3E}">
        <p14:creationId xmlns:p14="http://schemas.microsoft.com/office/powerpoint/2010/main" val="3578377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799" y="149087"/>
            <a:ext cx="11711610" cy="1232452"/>
          </a:xfrm>
        </p:spPr>
        <p:txBody>
          <a:bodyPr>
            <a:noAutofit/>
          </a:bodyPr>
          <a:lstStyle/>
          <a:p>
            <a:r>
              <a:rPr lang="en-US" sz="4000" b="1" dirty="0">
                <a:solidFill>
                  <a:srgbClr val="FF0000"/>
                </a:solidFill>
              </a:rPr>
              <a:t>BACKGROUND OF LEGAL AND JUDICIAL SYSTEM IN MALAYSIA</a:t>
            </a:r>
          </a:p>
        </p:txBody>
      </p:sp>
      <p:sp>
        <p:nvSpPr>
          <p:cNvPr id="3" name="Content Placeholder 2"/>
          <p:cNvSpPr>
            <a:spLocks noGrp="1"/>
          </p:cNvSpPr>
          <p:nvPr>
            <p:ph idx="1"/>
          </p:nvPr>
        </p:nvSpPr>
        <p:spPr>
          <a:xfrm>
            <a:off x="304799" y="1520686"/>
            <a:ext cx="11591925" cy="5108713"/>
          </a:xfrm>
        </p:spPr>
        <p:txBody>
          <a:bodyPr>
            <a:normAutofit/>
          </a:bodyPr>
          <a:lstStyle/>
          <a:p>
            <a:pPr marL="342900" lvl="0" indent="-342900" algn="just">
              <a:spcAft>
                <a:spcPts val="800"/>
              </a:spcAft>
              <a:buFont typeface="Arial" panose="020B0604020202020204" pitchFamily="34" charset="0"/>
              <a:buChar char="•"/>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Malaysian legal system is an integration of the common law, Syariah law and customary law traditions</a:t>
            </a:r>
            <a:endParaRPr lang="en-MY"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Customary law – Malay </a:t>
            </a:r>
            <a:r>
              <a:rPr lang="en-US" sz="2800" dirty="0" err="1">
                <a:effectLst/>
                <a:latin typeface="Times New Roman" panose="02020603050405020304" pitchFamily="18" charset="0"/>
                <a:ea typeface="Times New Roman" panose="02020603050405020304" pitchFamily="18" charset="0"/>
                <a:cs typeface="Times New Roman" panose="02020603050405020304" pitchFamily="18" charset="0"/>
              </a:rPr>
              <a:t>adat</a:t>
            </a: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 (later modified by Islamic law)</a:t>
            </a:r>
            <a:endParaRPr lang="en-MY"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Islamic law tradition – started from Malacca empire</a:t>
            </a:r>
            <a:endParaRPr lang="en-MY"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800" dirty="0">
                <a:effectLst/>
                <a:latin typeface="Times New Roman" panose="02020603050405020304" pitchFamily="18" charset="0"/>
                <a:ea typeface="Times New Roman" panose="02020603050405020304" pitchFamily="18" charset="0"/>
                <a:cs typeface="Times New Roman" panose="02020603050405020304" pitchFamily="18" charset="0"/>
              </a:rPr>
              <a:t>Common law – British –Strait Settlements through Royal Charters of Justice 1807</a:t>
            </a:r>
            <a:endParaRPr lang="en-MY"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2800" dirty="0">
                <a:effectLst/>
                <a:latin typeface="Times New Roman" panose="02020603050405020304" pitchFamily="18" charset="0"/>
                <a:ea typeface="Times New Roman" panose="02020603050405020304" pitchFamily="18" charset="0"/>
              </a:rPr>
              <a:t>Other customary law– Aboriginal customary law, Chinese, Indian, Hindu and Native customary law of non-Malay indigenous communities of Sabah and Sarawak</a:t>
            </a:r>
            <a:endParaRPr lang="en-US" sz="3600" dirty="0"/>
          </a:p>
        </p:txBody>
      </p:sp>
    </p:spTree>
    <p:extLst>
      <p:ext uri="{BB962C8B-B14F-4D97-AF65-F5344CB8AC3E}">
        <p14:creationId xmlns:p14="http://schemas.microsoft.com/office/powerpoint/2010/main" val="1362013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8125" y="152399"/>
            <a:ext cx="11668125" cy="6619875"/>
          </a:xfrm>
        </p:spPr>
        <p:txBody>
          <a:bodyPr>
            <a:normAutofit/>
          </a:bodyPr>
          <a:lstStyle/>
          <a:p>
            <a:pPr marL="0" indent="0" algn="ctr">
              <a:spcAft>
                <a:spcPts val="800"/>
              </a:spcAft>
              <a:buNone/>
            </a:pPr>
            <a:r>
              <a:rPr lang="en-US" sz="3600" b="1" dirty="0">
                <a:effectLst/>
                <a:latin typeface="Times New Roman" panose="02020603050405020304" pitchFamily="18" charset="0"/>
                <a:ea typeface="Times New Roman" panose="02020603050405020304" pitchFamily="18" charset="0"/>
              </a:rPr>
              <a:t>THE FUNCTIONS OF PARLIAMENT (LEGISLATIVE)</a:t>
            </a:r>
            <a:endParaRPr lang="en-MY" sz="36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To legislate, amend, abolish and approve laws</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To introduce new taxes or abolish taxes</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2400" dirty="0">
                <a:effectLst/>
                <a:latin typeface="Times New Roman" panose="02020603050405020304" pitchFamily="18" charset="0"/>
                <a:ea typeface="Times New Roman" panose="02020603050405020304" pitchFamily="18" charset="0"/>
              </a:rPr>
              <a:t>To approve annual budget (every October)</a:t>
            </a:r>
          </a:p>
          <a:p>
            <a:pPr marL="0" indent="0">
              <a:buNone/>
            </a:pPr>
            <a:endParaRPr lang="en-US" sz="2800" b="1" dirty="0">
              <a:effectLst/>
              <a:latin typeface="Times New Roman" panose="02020603050405020304" pitchFamily="18" charset="0"/>
              <a:ea typeface="Times New Roman" panose="02020603050405020304" pitchFamily="18" charset="0"/>
            </a:endParaRPr>
          </a:p>
          <a:p>
            <a:pPr marL="0" indent="0" algn="ctr">
              <a:buNone/>
            </a:pPr>
            <a:r>
              <a:rPr lang="en-US" sz="2800" b="1" dirty="0">
                <a:effectLst/>
                <a:latin typeface="Times New Roman" panose="02020603050405020304" pitchFamily="18" charset="0"/>
                <a:ea typeface="Times New Roman" panose="02020603050405020304" pitchFamily="18" charset="0"/>
              </a:rPr>
              <a:t>PARLIAMENT COMPONENT</a:t>
            </a:r>
          </a:p>
          <a:p>
            <a:pPr marL="0" indent="0" algn="l">
              <a:spcAft>
                <a:spcPts val="800"/>
              </a:spcAft>
              <a:buNone/>
            </a:pPr>
            <a:endParaRPr lang="en-MY" sz="2800" dirty="0">
              <a:effectLst/>
              <a:latin typeface="Times New Roman" panose="02020603050405020304" pitchFamily="18" charset="0"/>
              <a:ea typeface="Times New Roman" panose="02020603050405020304" pitchFamily="18" charset="0"/>
            </a:endParaRPr>
          </a:p>
        </p:txBody>
      </p:sp>
      <p:pic>
        <p:nvPicPr>
          <p:cNvPr id="2" name="image2.png">
            <a:extLst>
              <a:ext uri="{FF2B5EF4-FFF2-40B4-BE49-F238E27FC236}">
                <a16:creationId xmlns:a16="http://schemas.microsoft.com/office/drawing/2014/main" id="{52AFE2AB-8107-3BF7-A75D-17F03D708201}"/>
              </a:ext>
            </a:extLst>
          </p:cNvPr>
          <p:cNvPicPr/>
          <p:nvPr/>
        </p:nvPicPr>
        <p:blipFill>
          <a:blip r:embed="rId2"/>
          <a:srcRect l="2894" r="4476"/>
          <a:stretch>
            <a:fillRect/>
          </a:stretch>
        </p:blipFill>
        <p:spPr>
          <a:xfrm>
            <a:off x="2912165" y="3647661"/>
            <a:ext cx="6102626" cy="3057941"/>
          </a:xfrm>
          <a:prstGeom prst="rect">
            <a:avLst/>
          </a:prstGeom>
          <a:ln/>
        </p:spPr>
      </p:pic>
    </p:spTree>
    <p:extLst>
      <p:ext uri="{BB962C8B-B14F-4D97-AF65-F5344CB8AC3E}">
        <p14:creationId xmlns:p14="http://schemas.microsoft.com/office/powerpoint/2010/main" val="781778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DC70BDE-687B-383E-E576-C9AD0A664257}"/>
              </a:ext>
            </a:extLst>
          </p:cNvPr>
          <p:cNvSpPr>
            <a:spLocks noGrp="1"/>
          </p:cNvSpPr>
          <p:nvPr>
            <p:ph sz="half" idx="1"/>
          </p:nvPr>
        </p:nvSpPr>
        <p:spPr>
          <a:xfrm>
            <a:off x="3429001" y="178905"/>
            <a:ext cx="5726043" cy="6500189"/>
          </a:xfrm>
          <a:solidFill>
            <a:srgbClr val="FFFF00"/>
          </a:solidFill>
        </p:spPr>
        <p:txBody>
          <a:bodyPr>
            <a:normAutofit/>
          </a:bodyPr>
          <a:lstStyle/>
          <a:p>
            <a:pPr marL="0" indent="0" algn="ctr">
              <a:spcAft>
                <a:spcPts val="800"/>
              </a:spcAft>
              <a:buNone/>
            </a:pPr>
            <a:r>
              <a:rPr lang="en-US" sz="3200" b="1" dirty="0">
                <a:effectLst/>
                <a:latin typeface="Times New Roman" panose="02020603050405020304" pitchFamily="18" charset="0"/>
                <a:ea typeface="Times New Roman" panose="02020603050405020304" pitchFamily="18" charset="0"/>
              </a:rPr>
              <a:t>YANG DI-PERTUAN AGONG</a:t>
            </a:r>
            <a:endParaRPr lang="en-MY" sz="32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solidFill>
                  <a:srgbClr val="000000"/>
                </a:solidFill>
                <a:effectLst/>
                <a:latin typeface="Noto Sans Symbols"/>
                <a:ea typeface="Noto Sans Symbols"/>
                <a:cs typeface="Noto Sans Symbols"/>
              </a:rPr>
              <a:t>Head of the legislation body</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solidFill>
                  <a:srgbClr val="000000"/>
                </a:solidFill>
                <a:effectLst/>
                <a:latin typeface="Noto Sans Symbols"/>
                <a:ea typeface="Noto Sans Symbols"/>
                <a:cs typeface="Noto Sans Symbols"/>
              </a:rPr>
              <a:t>His </a:t>
            </a:r>
            <a:r>
              <a:rPr lang="en-US" sz="2400" b="1" dirty="0">
                <a:solidFill>
                  <a:srgbClr val="000000"/>
                </a:solidFill>
                <a:effectLst/>
                <a:latin typeface="Noto Sans Symbols"/>
                <a:ea typeface="Noto Sans Symbols"/>
                <a:cs typeface="Noto Sans Symbols"/>
              </a:rPr>
              <a:t>not directly involved in the process of making the laws, only approved the bill</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solidFill>
                  <a:srgbClr val="000000"/>
                </a:solidFill>
                <a:effectLst/>
                <a:latin typeface="Noto Sans Symbols"/>
                <a:ea typeface="Noto Sans Symbols"/>
                <a:cs typeface="Noto Sans Symbols"/>
              </a:rPr>
              <a:t>Power to call a meeting, stop and dissolve Parliament</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solidFill>
                  <a:srgbClr val="000000"/>
                </a:solidFill>
                <a:effectLst/>
                <a:latin typeface="Noto Sans Symbols"/>
                <a:ea typeface="Noto Sans Symbols"/>
                <a:cs typeface="Noto Sans Symbols"/>
              </a:rPr>
              <a:t>The Yang Di </a:t>
            </a:r>
            <a:r>
              <a:rPr lang="en-US" sz="2400" dirty="0" err="1">
                <a:solidFill>
                  <a:srgbClr val="000000"/>
                </a:solidFill>
                <a:effectLst/>
                <a:latin typeface="Noto Sans Symbols"/>
                <a:ea typeface="Noto Sans Symbols"/>
                <a:cs typeface="Noto Sans Symbols"/>
              </a:rPr>
              <a:t>Pertuan</a:t>
            </a:r>
            <a:r>
              <a:rPr lang="en-US" sz="2400" dirty="0">
                <a:solidFill>
                  <a:srgbClr val="000000"/>
                </a:solidFill>
                <a:effectLst/>
                <a:latin typeface="Noto Sans Symbols"/>
                <a:ea typeface="Noto Sans Symbols"/>
                <a:cs typeface="Noto Sans Symbols"/>
              </a:rPr>
              <a:t> </a:t>
            </a:r>
            <a:r>
              <a:rPr lang="en-US" sz="2400" dirty="0" err="1">
                <a:solidFill>
                  <a:srgbClr val="000000"/>
                </a:solidFill>
                <a:effectLst/>
                <a:latin typeface="Noto Sans Symbols"/>
                <a:ea typeface="Noto Sans Symbols"/>
                <a:cs typeface="Noto Sans Symbols"/>
              </a:rPr>
              <a:t>Agong</a:t>
            </a:r>
            <a:r>
              <a:rPr lang="en-US" sz="2400" dirty="0">
                <a:solidFill>
                  <a:srgbClr val="000000"/>
                </a:solidFill>
                <a:effectLst/>
                <a:latin typeface="Noto Sans Symbols"/>
                <a:ea typeface="Noto Sans Symbols"/>
                <a:cs typeface="Noto Sans Symbols"/>
              </a:rPr>
              <a:t> must </a:t>
            </a:r>
            <a:r>
              <a:rPr lang="en-US" sz="2400" b="1" dirty="0">
                <a:solidFill>
                  <a:srgbClr val="000000"/>
                </a:solidFill>
                <a:effectLst/>
                <a:latin typeface="Noto Sans Symbols"/>
                <a:ea typeface="Noto Sans Symbols"/>
                <a:cs typeface="Noto Sans Symbols"/>
              </a:rPr>
              <a:t>call for a parliament meeting within 120 days after it has been dissolved</a:t>
            </a:r>
            <a:endParaRPr lang="en-MY" sz="2400" dirty="0">
              <a:effectLst/>
              <a:latin typeface="Noto Sans Symbols"/>
              <a:ea typeface="Noto Sans Symbols"/>
              <a:cs typeface="Noto Sans Symbols"/>
            </a:endParaRPr>
          </a:p>
          <a:p>
            <a:endParaRPr lang="en-MY" dirty="0"/>
          </a:p>
        </p:txBody>
      </p:sp>
    </p:spTree>
    <p:extLst>
      <p:ext uri="{BB962C8B-B14F-4D97-AF65-F5344CB8AC3E}">
        <p14:creationId xmlns:p14="http://schemas.microsoft.com/office/powerpoint/2010/main" val="4053828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DC70BDE-687B-383E-E576-C9AD0A664257}"/>
              </a:ext>
            </a:extLst>
          </p:cNvPr>
          <p:cNvSpPr>
            <a:spLocks noGrp="1"/>
          </p:cNvSpPr>
          <p:nvPr>
            <p:ph sz="half" idx="1"/>
          </p:nvPr>
        </p:nvSpPr>
        <p:spPr>
          <a:xfrm>
            <a:off x="6175517" y="178905"/>
            <a:ext cx="5798930" cy="6500189"/>
          </a:xfrm>
          <a:solidFill>
            <a:schemeClr val="tx2">
              <a:lumMod val="20000"/>
              <a:lumOff val="80000"/>
            </a:schemeClr>
          </a:solidFill>
        </p:spPr>
        <p:txBody>
          <a:bodyPr>
            <a:normAutofit fontScale="92500" lnSpcReduction="20000"/>
          </a:bodyPr>
          <a:lstStyle/>
          <a:p>
            <a:pPr marL="0" indent="0" algn="ctr">
              <a:spcAft>
                <a:spcPts val="800"/>
              </a:spcAft>
              <a:buNone/>
            </a:pPr>
            <a:r>
              <a:rPr lang="en-US" sz="3000" b="1" dirty="0">
                <a:effectLst/>
                <a:latin typeface="Times New Roman" panose="02020603050405020304" pitchFamily="18" charset="0"/>
                <a:ea typeface="Times New Roman" panose="02020603050405020304" pitchFamily="18" charset="0"/>
              </a:rPr>
              <a:t>DEWAN NEGARA : MEMBERSHIP</a:t>
            </a:r>
            <a:endParaRPr lang="en-MY" sz="30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2100" dirty="0">
                <a:solidFill>
                  <a:srgbClr val="000000"/>
                </a:solidFill>
                <a:effectLst/>
                <a:latin typeface="Noto Sans Symbols"/>
                <a:ea typeface="Noto Sans Symbols"/>
                <a:cs typeface="Noto Sans Symbols"/>
              </a:rPr>
              <a:t>Appointment by DUN/State Assembly</a:t>
            </a:r>
            <a:endParaRPr lang="en-MY" sz="2100" dirty="0">
              <a:effectLst/>
              <a:latin typeface="Noto Sans Symbols"/>
              <a:ea typeface="Noto Sans Symbols"/>
              <a:cs typeface="Noto Sans Symbols"/>
            </a:endParaRPr>
          </a:p>
          <a:p>
            <a:pPr marL="342900" lvl="0" indent="-342900" algn="just">
              <a:spcAft>
                <a:spcPts val="800"/>
              </a:spcAft>
              <a:buFont typeface="Symbol" panose="05050102010706020507" pitchFamily="18" charset="2"/>
              <a:buChar char="-"/>
            </a:pPr>
            <a:r>
              <a:rPr lang="en-US"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 from each state (26) </a:t>
            </a:r>
            <a:endParaRPr lang="en-MY" sz="2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100" dirty="0">
                <a:solidFill>
                  <a:srgbClr val="000000"/>
                </a:solidFill>
                <a:effectLst/>
                <a:latin typeface="Noto Sans Symbols"/>
                <a:ea typeface="Noto Sans Symbols"/>
                <a:cs typeface="Noto Sans Symbols"/>
              </a:rPr>
              <a:t>Appointment by YDPA </a:t>
            </a:r>
            <a:endParaRPr lang="en-MY" sz="2100" dirty="0">
              <a:effectLst/>
              <a:latin typeface="Noto Sans Symbols"/>
              <a:ea typeface="Noto Sans Symbols"/>
              <a:cs typeface="Noto Sans Symbols"/>
            </a:endParaRPr>
          </a:p>
          <a:p>
            <a:pPr marL="342900" lvl="0" indent="-342900" algn="just">
              <a:spcAft>
                <a:spcPts val="800"/>
              </a:spcAft>
              <a:buFont typeface="Symbol" panose="05050102010706020507" pitchFamily="18" charset="2"/>
              <a:buChar char="-"/>
            </a:pPr>
            <a:r>
              <a:rPr lang="en-US"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from Federal Territories (2 KL, 1 Labuan, 1 Putrajaya) </a:t>
            </a:r>
            <a:endParaRPr lang="en-MY" sz="2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n-US"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40 appointed by YDPA from various fields/expertise </a:t>
            </a:r>
            <a:endParaRPr lang="en-MY" sz="2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100" dirty="0">
                <a:solidFill>
                  <a:srgbClr val="000000"/>
                </a:solidFill>
                <a:effectLst/>
                <a:latin typeface="Noto Sans Symbols"/>
                <a:ea typeface="Noto Sans Symbols"/>
                <a:cs typeface="Noto Sans Symbols"/>
              </a:rPr>
              <a:t>The term of office </a:t>
            </a:r>
            <a:endParaRPr lang="en-MY" sz="2100" dirty="0">
              <a:effectLst/>
              <a:latin typeface="Noto Sans Symbols"/>
              <a:ea typeface="Noto Sans Symbols"/>
              <a:cs typeface="Noto Sans Symbols"/>
            </a:endParaRPr>
          </a:p>
          <a:p>
            <a:pPr marL="342900" lvl="0" indent="-342900" algn="just">
              <a:spcAft>
                <a:spcPts val="800"/>
              </a:spcAft>
              <a:buFont typeface="Symbol" panose="05050102010706020507" pitchFamily="18" charset="2"/>
              <a:buChar char="-"/>
            </a:pPr>
            <a:r>
              <a:rPr lang="en-US"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 years – may only be reappointed once only </a:t>
            </a:r>
            <a:endParaRPr lang="en-MY" sz="2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100" dirty="0">
                <a:solidFill>
                  <a:srgbClr val="000000"/>
                </a:solidFill>
                <a:effectLst/>
                <a:latin typeface="Noto Sans Symbols"/>
                <a:ea typeface="Noto Sans Symbols"/>
                <a:cs typeface="Noto Sans Symbols"/>
              </a:rPr>
              <a:t>Qualification </a:t>
            </a:r>
            <a:endParaRPr lang="en-MY" sz="2100" dirty="0">
              <a:effectLst/>
              <a:latin typeface="Noto Sans Symbols"/>
              <a:ea typeface="Noto Sans Symbols"/>
              <a:cs typeface="Noto Sans Symbols"/>
            </a:endParaRPr>
          </a:p>
          <a:p>
            <a:pPr marL="342900" lvl="0" indent="-342900" algn="just">
              <a:spcAft>
                <a:spcPts val="800"/>
              </a:spcAft>
              <a:buFont typeface="Symbol" panose="05050102010706020507" pitchFamily="18" charset="2"/>
              <a:buChar char="-"/>
            </a:pPr>
            <a:r>
              <a:rPr lang="en-US"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Malaysian </a:t>
            </a:r>
            <a:endParaRPr lang="en-MY" sz="2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n-US"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Must be at least 30 years old </a:t>
            </a:r>
            <a:endParaRPr lang="en-MY" sz="2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n-US"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Residing in the Federation </a:t>
            </a:r>
            <a:endParaRPr lang="en-MY" sz="2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n-US"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Must not have received a prison sentence of one year or longer </a:t>
            </a:r>
            <a:endParaRPr lang="en-MY" sz="2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n-US"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Must not have been fined RM2,000 or more </a:t>
            </a:r>
            <a:endParaRPr lang="en-MY" sz="2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MY" dirty="0"/>
          </a:p>
        </p:txBody>
      </p:sp>
      <p:sp>
        <p:nvSpPr>
          <p:cNvPr id="7" name="Content Placeholder 6">
            <a:extLst>
              <a:ext uri="{FF2B5EF4-FFF2-40B4-BE49-F238E27FC236}">
                <a16:creationId xmlns:a16="http://schemas.microsoft.com/office/drawing/2014/main" id="{9442E31F-211F-DCEA-D8DA-6DC60889835E}"/>
              </a:ext>
            </a:extLst>
          </p:cNvPr>
          <p:cNvSpPr>
            <a:spLocks noGrp="1"/>
          </p:cNvSpPr>
          <p:nvPr>
            <p:ph sz="half" idx="2"/>
          </p:nvPr>
        </p:nvSpPr>
        <p:spPr>
          <a:xfrm>
            <a:off x="144669" y="178905"/>
            <a:ext cx="5798930" cy="6500190"/>
          </a:xfrm>
          <a:solidFill>
            <a:schemeClr val="tx2">
              <a:lumMod val="20000"/>
              <a:lumOff val="80000"/>
            </a:schemeClr>
          </a:solidFill>
        </p:spPr>
        <p:txBody>
          <a:bodyPr>
            <a:normAutofit fontScale="92500" lnSpcReduction="20000"/>
          </a:bodyPr>
          <a:lstStyle/>
          <a:p>
            <a:pPr marL="0" indent="0" algn="ctr">
              <a:spcAft>
                <a:spcPts val="800"/>
              </a:spcAft>
              <a:buNone/>
            </a:pPr>
            <a:r>
              <a:rPr lang="en-US" sz="3200" b="1" dirty="0">
                <a:effectLst/>
                <a:latin typeface="Times New Roman" panose="02020603050405020304" pitchFamily="18" charset="0"/>
                <a:ea typeface="Times New Roman" panose="02020603050405020304" pitchFamily="18" charset="0"/>
              </a:rPr>
              <a:t>DEWAN NEGARA (SENATE)</a:t>
            </a:r>
            <a:endParaRPr lang="en-MY" sz="32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2200" dirty="0">
                <a:solidFill>
                  <a:srgbClr val="000000"/>
                </a:solidFill>
                <a:effectLst/>
                <a:latin typeface="Noto Sans Symbols"/>
                <a:ea typeface="Noto Sans Symbols"/>
                <a:cs typeface="Noto Sans Symbols"/>
              </a:rPr>
              <a:t>The Upper House  of the Parliament of Malaysia. </a:t>
            </a:r>
            <a:endParaRPr lang="en-MY" sz="22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200" dirty="0">
                <a:solidFill>
                  <a:srgbClr val="000000"/>
                </a:solidFill>
                <a:effectLst/>
                <a:latin typeface="Noto Sans Symbols"/>
                <a:ea typeface="Noto Sans Symbols"/>
                <a:cs typeface="Noto Sans Symbols"/>
              </a:rPr>
              <a:t>Consists of 70 members, of which 26 are indirectly elected by the states, with two senators for every state in the Federation, and  the other 44 being appointed by the Yang di-</a:t>
            </a:r>
            <a:r>
              <a:rPr lang="en-US" sz="2200" dirty="0" err="1">
                <a:solidFill>
                  <a:srgbClr val="000000"/>
                </a:solidFill>
                <a:effectLst/>
                <a:latin typeface="Noto Sans Symbols"/>
                <a:ea typeface="Noto Sans Symbols"/>
                <a:cs typeface="Noto Sans Symbols"/>
              </a:rPr>
              <a:t>Pertuan</a:t>
            </a:r>
            <a:r>
              <a:rPr lang="en-US" sz="2200" dirty="0">
                <a:solidFill>
                  <a:srgbClr val="000000"/>
                </a:solidFill>
                <a:effectLst/>
                <a:latin typeface="Noto Sans Symbols"/>
                <a:ea typeface="Noto Sans Symbols"/>
                <a:cs typeface="Noto Sans Symbols"/>
              </a:rPr>
              <a:t> </a:t>
            </a:r>
            <a:r>
              <a:rPr lang="en-US" sz="2200" dirty="0" err="1">
                <a:solidFill>
                  <a:srgbClr val="000000"/>
                </a:solidFill>
                <a:effectLst/>
                <a:latin typeface="Noto Sans Symbols"/>
                <a:ea typeface="Noto Sans Symbols"/>
                <a:cs typeface="Noto Sans Symbols"/>
              </a:rPr>
              <a:t>Agong</a:t>
            </a:r>
            <a:r>
              <a:rPr lang="en-US" sz="2200" dirty="0">
                <a:solidFill>
                  <a:srgbClr val="000000"/>
                </a:solidFill>
                <a:effectLst/>
                <a:latin typeface="Noto Sans Symbols"/>
                <a:ea typeface="Noto Sans Symbols"/>
                <a:cs typeface="Noto Sans Symbols"/>
              </a:rPr>
              <a:t>. </a:t>
            </a:r>
            <a:endParaRPr lang="en-MY" sz="22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200" dirty="0">
                <a:solidFill>
                  <a:srgbClr val="000000"/>
                </a:solidFill>
                <a:effectLst/>
                <a:latin typeface="Noto Sans Symbols"/>
                <a:ea typeface="Noto Sans Symbols"/>
                <a:cs typeface="Noto Sans Symbols"/>
              </a:rPr>
              <a:t>The role - reviews legislation that has been passed by the lower house of Parliament, the House of Representative.</a:t>
            </a:r>
            <a:endParaRPr lang="en-MY" sz="22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200" dirty="0">
                <a:solidFill>
                  <a:srgbClr val="000000"/>
                </a:solidFill>
                <a:effectLst/>
                <a:latin typeface="Noto Sans Symbols"/>
                <a:ea typeface="Noto Sans Symbols"/>
                <a:cs typeface="Noto Sans Symbols"/>
              </a:rPr>
              <a:t>Originally, the Senate was meant to act as a check on the </a:t>
            </a:r>
            <a:r>
              <a:rPr lang="en-US" sz="2200" i="1" dirty="0">
                <a:solidFill>
                  <a:srgbClr val="000000"/>
                </a:solidFill>
                <a:effectLst/>
                <a:latin typeface="Noto Sans Symbols"/>
                <a:ea typeface="Noto Sans Symbols"/>
                <a:cs typeface="Noto Sans Symbols"/>
              </a:rPr>
              <a:t>Dewan Rakyat</a:t>
            </a:r>
            <a:r>
              <a:rPr lang="en-US" sz="2200" dirty="0">
                <a:solidFill>
                  <a:srgbClr val="000000"/>
                </a:solidFill>
                <a:effectLst/>
                <a:latin typeface="Noto Sans Symbols"/>
                <a:ea typeface="Noto Sans Symbols"/>
                <a:cs typeface="Noto Sans Symbols"/>
              </a:rPr>
              <a:t>, and also to represent the interests of the various states. </a:t>
            </a:r>
            <a:endParaRPr lang="en-MY" sz="2200" dirty="0">
              <a:effectLst/>
              <a:latin typeface="Noto Sans Symbols"/>
              <a:ea typeface="Noto Sans Symbols"/>
              <a:cs typeface="Noto Sans Symbols"/>
            </a:endParaRPr>
          </a:p>
          <a:p>
            <a:pPr marL="0" indent="0">
              <a:buNone/>
            </a:pPr>
            <a:endParaRPr lang="en-MY" sz="1800" dirty="0"/>
          </a:p>
        </p:txBody>
      </p:sp>
    </p:spTree>
    <p:extLst>
      <p:ext uri="{BB962C8B-B14F-4D97-AF65-F5344CB8AC3E}">
        <p14:creationId xmlns:p14="http://schemas.microsoft.com/office/powerpoint/2010/main" val="3873421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DC70BDE-687B-383E-E576-C9AD0A664257}"/>
              </a:ext>
            </a:extLst>
          </p:cNvPr>
          <p:cNvSpPr>
            <a:spLocks noGrp="1"/>
          </p:cNvSpPr>
          <p:nvPr>
            <p:ph sz="half" idx="1"/>
          </p:nvPr>
        </p:nvSpPr>
        <p:spPr>
          <a:xfrm>
            <a:off x="6175517" y="178905"/>
            <a:ext cx="5798930" cy="6500190"/>
          </a:xfrm>
          <a:solidFill>
            <a:schemeClr val="tx2">
              <a:lumMod val="20000"/>
              <a:lumOff val="80000"/>
            </a:schemeClr>
          </a:solidFill>
        </p:spPr>
        <p:txBody>
          <a:bodyPr>
            <a:normAutofit fontScale="92500" lnSpcReduction="10000"/>
          </a:bodyPr>
          <a:lstStyle/>
          <a:p>
            <a:pPr marL="0" indent="0" algn="ctr">
              <a:spcAft>
                <a:spcPts val="800"/>
              </a:spcAft>
              <a:buNone/>
            </a:pPr>
            <a:r>
              <a:rPr lang="en-US" sz="3000" b="1" dirty="0">
                <a:effectLst/>
                <a:latin typeface="Times New Roman" panose="02020603050405020304" pitchFamily="18" charset="0"/>
                <a:ea typeface="Times New Roman" panose="02020603050405020304" pitchFamily="18" charset="0"/>
              </a:rPr>
              <a:t>DEWAN RAKYAT: MEMBERSHIP</a:t>
            </a:r>
            <a:endParaRPr lang="en-MY" sz="3000" dirty="0">
              <a:effectLst/>
              <a:latin typeface="Times New Roman" panose="02020603050405020304" pitchFamily="18" charset="0"/>
              <a:ea typeface="Times New Roman" panose="02020603050405020304" pitchFamily="18" charset="0"/>
            </a:endParaRPr>
          </a:p>
          <a:p>
            <a:pPr marL="342900" lvl="0" indent="-342900" algn="just">
              <a:lnSpc>
                <a:spcPct val="115000"/>
              </a:lnSpc>
              <a:spcAft>
                <a:spcPts val="800"/>
              </a:spcAft>
              <a:buFont typeface="Arial" panose="020B0604020202020204" pitchFamily="34" charset="0"/>
              <a:buChar char="●"/>
            </a:pPr>
            <a:r>
              <a:rPr lang="en-US" sz="2200" dirty="0">
                <a:solidFill>
                  <a:srgbClr val="000000"/>
                </a:solidFill>
                <a:effectLst/>
                <a:latin typeface="Noto Sans Symbols"/>
                <a:ea typeface="Noto Sans Symbols"/>
                <a:cs typeface="Noto Sans Symbols"/>
              </a:rPr>
              <a:t>222 members </a:t>
            </a:r>
            <a:endParaRPr lang="en-MY" sz="2200" dirty="0">
              <a:effectLst/>
              <a:latin typeface="Noto Sans Symbols"/>
              <a:ea typeface="Noto Sans Symbols"/>
              <a:cs typeface="Noto Sans Symbols"/>
            </a:endParaRPr>
          </a:p>
          <a:p>
            <a:pPr lvl="1" indent="-342900" algn="just">
              <a:lnSpc>
                <a:spcPct val="115000"/>
              </a:lnSpc>
              <a:spcAft>
                <a:spcPts val="800"/>
              </a:spcAft>
              <a:buFont typeface="Arial" panose="020B0604020202020204" pitchFamily="34" charset="0"/>
              <a:buChar char="●"/>
            </a:pPr>
            <a:r>
              <a:rPr lang="en-US" sz="2200" dirty="0">
                <a:solidFill>
                  <a:srgbClr val="000000"/>
                </a:solidFill>
                <a:effectLst/>
                <a:latin typeface="Noto Sans Symbols"/>
                <a:ea typeface="Noto Sans Symbols"/>
                <a:cs typeface="Noto Sans Symbols"/>
              </a:rPr>
              <a:t>Johore (26), Kedah (15), Kelantan (14), Melaka (6), Negeri Sembilan (8), Pahang (14), </a:t>
            </a:r>
            <a:r>
              <a:rPr lang="en-US" sz="2200" dirty="0" err="1">
                <a:solidFill>
                  <a:srgbClr val="000000"/>
                </a:solidFill>
                <a:effectLst/>
                <a:latin typeface="Noto Sans Symbols"/>
                <a:ea typeface="Noto Sans Symbols"/>
                <a:cs typeface="Noto Sans Symbols"/>
              </a:rPr>
              <a:t>Pulau</a:t>
            </a:r>
            <a:r>
              <a:rPr lang="en-US" sz="2200" dirty="0">
                <a:solidFill>
                  <a:srgbClr val="000000"/>
                </a:solidFill>
                <a:effectLst/>
                <a:latin typeface="Noto Sans Symbols"/>
                <a:ea typeface="Noto Sans Symbols"/>
                <a:cs typeface="Noto Sans Symbols"/>
              </a:rPr>
              <a:t> Pinang (13), Perak (24), Perlis (3), Sabah (25), Sarawak (31), Selangor (22), Terengganu (8) </a:t>
            </a:r>
            <a:endParaRPr lang="en-MY" sz="2200" dirty="0">
              <a:effectLst/>
              <a:latin typeface="Noto Sans Symbols"/>
              <a:ea typeface="Noto Sans Symbols"/>
              <a:cs typeface="Noto Sans Symbols"/>
            </a:endParaRPr>
          </a:p>
          <a:p>
            <a:pPr marL="342900" lvl="0" indent="-342900" algn="just">
              <a:lnSpc>
                <a:spcPct val="115000"/>
              </a:lnSpc>
              <a:spcAft>
                <a:spcPts val="800"/>
              </a:spcAft>
              <a:buFont typeface="Arial" panose="020B0604020202020204" pitchFamily="34" charset="0"/>
              <a:buChar char="●"/>
            </a:pPr>
            <a:r>
              <a:rPr lang="en-US" sz="2200" dirty="0">
                <a:solidFill>
                  <a:srgbClr val="000000"/>
                </a:solidFill>
                <a:effectLst/>
                <a:latin typeface="Noto Sans Symbols"/>
                <a:ea typeface="Noto Sans Symbols"/>
                <a:cs typeface="Noto Sans Symbols"/>
              </a:rPr>
              <a:t>13 from Federal Territories </a:t>
            </a:r>
            <a:endParaRPr lang="en-MY" sz="2200" dirty="0">
              <a:effectLst/>
              <a:latin typeface="Noto Sans Symbols"/>
              <a:ea typeface="Noto Sans Symbols"/>
              <a:cs typeface="Noto Sans Symbols"/>
            </a:endParaRPr>
          </a:p>
          <a:p>
            <a:pPr lvl="1" indent="-342900" algn="just">
              <a:lnSpc>
                <a:spcPct val="115000"/>
              </a:lnSpc>
              <a:spcAft>
                <a:spcPts val="800"/>
              </a:spcAft>
              <a:buFont typeface="Arial" panose="020B0604020202020204" pitchFamily="34" charset="0"/>
              <a:buChar char="●"/>
            </a:pPr>
            <a:r>
              <a:rPr lang="en-US" sz="2200" dirty="0">
                <a:solidFill>
                  <a:srgbClr val="000000"/>
                </a:solidFill>
                <a:effectLst/>
                <a:latin typeface="Noto Sans Symbols"/>
                <a:ea typeface="Noto Sans Symbols"/>
                <a:cs typeface="Noto Sans Symbols"/>
              </a:rPr>
              <a:t>11 WPKL, 1 WPL, 1 WPP </a:t>
            </a:r>
            <a:endParaRPr lang="en-MY" sz="2200" dirty="0">
              <a:effectLst/>
              <a:latin typeface="Noto Sans Symbols"/>
              <a:ea typeface="Noto Sans Symbols"/>
              <a:cs typeface="Noto Sans Symbols"/>
            </a:endParaRPr>
          </a:p>
          <a:p>
            <a:pPr marL="342900" lvl="0" indent="-342900" algn="just">
              <a:lnSpc>
                <a:spcPct val="115000"/>
              </a:lnSpc>
              <a:spcAft>
                <a:spcPts val="800"/>
              </a:spcAft>
              <a:buFont typeface="Arial" panose="020B0604020202020204" pitchFamily="34" charset="0"/>
              <a:buChar char="●"/>
            </a:pPr>
            <a:r>
              <a:rPr lang="en-US" sz="2200" dirty="0">
                <a:solidFill>
                  <a:srgbClr val="000000"/>
                </a:solidFill>
                <a:effectLst/>
                <a:latin typeface="Noto Sans Symbols"/>
                <a:ea typeface="Noto Sans Symbols"/>
                <a:cs typeface="Noto Sans Symbols"/>
              </a:rPr>
              <a:t>The term of office </a:t>
            </a:r>
            <a:endParaRPr lang="en-MY" sz="2200" dirty="0">
              <a:effectLst/>
              <a:latin typeface="Noto Sans Symbols"/>
              <a:ea typeface="Noto Sans Symbols"/>
              <a:cs typeface="Noto Sans Symbols"/>
            </a:endParaRPr>
          </a:p>
          <a:p>
            <a:pPr lvl="1" indent="-342900" algn="just">
              <a:lnSpc>
                <a:spcPct val="115000"/>
              </a:lnSpc>
              <a:spcAft>
                <a:spcPts val="800"/>
              </a:spcAft>
              <a:buFont typeface="Arial" panose="020B0604020202020204" pitchFamily="34" charset="0"/>
              <a:buChar char="●"/>
            </a:pPr>
            <a:r>
              <a:rPr lang="en-US" sz="2200" dirty="0">
                <a:solidFill>
                  <a:srgbClr val="000000"/>
                </a:solidFill>
                <a:effectLst/>
                <a:latin typeface="Noto Sans Symbols"/>
                <a:ea typeface="Noto Sans Symbols"/>
                <a:cs typeface="Noto Sans Symbols"/>
              </a:rPr>
              <a:t>5 years or until Parliament dissolved </a:t>
            </a:r>
            <a:endParaRPr lang="en-MY" sz="2200" dirty="0">
              <a:effectLst/>
              <a:latin typeface="Noto Sans Symbols"/>
              <a:ea typeface="Noto Sans Symbols"/>
              <a:cs typeface="Noto Sans Symbols"/>
            </a:endParaRPr>
          </a:p>
          <a:p>
            <a:pPr marL="342900" lvl="0" indent="-342900" algn="just">
              <a:lnSpc>
                <a:spcPct val="115000"/>
              </a:lnSpc>
              <a:spcAft>
                <a:spcPts val="800"/>
              </a:spcAft>
              <a:buFont typeface="Arial" panose="020B0604020202020204" pitchFamily="34" charset="0"/>
              <a:buChar char="●"/>
            </a:pPr>
            <a:r>
              <a:rPr lang="en-US" sz="2200" dirty="0">
                <a:solidFill>
                  <a:srgbClr val="000000"/>
                </a:solidFill>
                <a:effectLst/>
                <a:latin typeface="Noto Sans Symbols"/>
                <a:ea typeface="Noto Sans Symbols"/>
                <a:cs typeface="Noto Sans Symbols"/>
              </a:rPr>
              <a:t>Qualification </a:t>
            </a:r>
            <a:endParaRPr lang="en-MY" sz="2200" dirty="0">
              <a:effectLst/>
              <a:latin typeface="Noto Sans Symbols"/>
              <a:ea typeface="Noto Sans Symbols"/>
              <a:cs typeface="Noto Sans Symbols"/>
            </a:endParaRPr>
          </a:p>
          <a:p>
            <a:pPr lvl="1">
              <a:buFont typeface="Arial" panose="020B0604020202020204" pitchFamily="34" charset="0"/>
              <a:buChar char="•"/>
            </a:pPr>
            <a:r>
              <a:rPr lang="en-US" sz="2200" dirty="0">
                <a:solidFill>
                  <a:srgbClr val="000000"/>
                </a:solidFill>
                <a:effectLst/>
                <a:latin typeface="Times New Roman" panose="02020603050405020304" pitchFamily="18" charset="0"/>
                <a:ea typeface="Times New Roman" panose="02020603050405020304" pitchFamily="18" charset="0"/>
              </a:rPr>
              <a:t>Same with eligibility for election candidate</a:t>
            </a:r>
            <a:r>
              <a:rPr lang="en-US" sz="2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MY" sz="22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MY" dirty="0"/>
          </a:p>
        </p:txBody>
      </p:sp>
      <p:sp>
        <p:nvSpPr>
          <p:cNvPr id="7" name="Content Placeholder 6">
            <a:extLst>
              <a:ext uri="{FF2B5EF4-FFF2-40B4-BE49-F238E27FC236}">
                <a16:creationId xmlns:a16="http://schemas.microsoft.com/office/drawing/2014/main" id="{9442E31F-211F-DCEA-D8DA-6DC60889835E}"/>
              </a:ext>
            </a:extLst>
          </p:cNvPr>
          <p:cNvSpPr>
            <a:spLocks noGrp="1"/>
          </p:cNvSpPr>
          <p:nvPr>
            <p:ph sz="half" idx="2"/>
          </p:nvPr>
        </p:nvSpPr>
        <p:spPr>
          <a:xfrm>
            <a:off x="144669" y="178905"/>
            <a:ext cx="5798930" cy="6500190"/>
          </a:xfrm>
          <a:solidFill>
            <a:schemeClr val="tx2">
              <a:lumMod val="20000"/>
              <a:lumOff val="80000"/>
            </a:schemeClr>
          </a:solidFill>
        </p:spPr>
        <p:txBody>
          <a:bodyPr>
            <a:normAutofit fontScale="92500" lnSpcReduction="10000"/>
          </a:bodyPr>
          <a:lstStyle/>
          <a:p>
            <a:pPr marL="0" indent="0" algn="ctr">
              <a:spcAft>
                <a:spcPts val="800"/>
              </a:spcAft>
              <a:buNone/>
            </a:pPr>
            <a:r>
              <a:rPr lang="en-US" sz="3200" b="1" dirty="0">
                <a:effectLst/>
                <a:latin typeface="Times New Roman" panose="02020603050405020304" pitchFamily="18" charset="0"/>
                <a:ea typeface="Times New Roman" panose="02020603050405020304" pitchFamily="18" charset="0"/>
              </a:rPr>
              <a:t>DEWAN RAKYAT (HOUSE OF REPRESENTATIVES)</a:t>
            </a:r>
            <a:endParaRPr lang="en-MY" sz="32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Noto Sans Symbols"/>
                <a:ea typeface="Noto Sans Symbols"/>
                <a:cs typeface="Noto Sans Symbols"/>
              </a:rPr>
              <a:t>The lower house of the Parliament of Malaysia. </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effectLst/>
                <a:latin typeface="Noto Sans Symbols"/>
                <a:ea typeface="Noto Sans Symbols"/>
                <a:cs typeface="Noto Sans Symbols"/>
              </a:rPr>
              <a:t>Lower house but important chamber</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effectLst/>
                <a:latin typeface="Noto Sans Symbols"/>
                <a:ea typeface="Noto Sans Symbols"/>
                <a:cs typeface="Noto Sans Symbols"/>
              </a:rPr>
              <a:t>The role - to discuss on the fiscal or budget and to make /amend the law while the Senate adjourned the meeting</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effectLst/>
                <a:latin typeface="Noto Sans Symbols"/>
                <a:ea typeface="Noto Sans Symbols"/>
                <a:cs typeface="Noto Sans Symbols"/>
              </a:rPr>
              <a:t>Have the right to decide matter pertaining the fiscal policy</a:t>
            </a:r>
            <a:endParaRPr lang="en-MY" sz="2400" dirty="0">
              <a:effectLst/>
              <a:latin typeface="Noto Sans Symbols"/>
              <a:ea typeface="Noto Sans Symbols"/>
              <a:cs typeface="Noto Sans Symbols"/>
            </a:endParaRPr>
          </a:p>
          <a:p>
            <a:pPr marL="342900" lvl="0" indent="-342900" algn="just">
              <a:spcAft>
                <a:spcPts val="800"/>
              </a:spcAft>
              <a:buFont typeface="Arial" panose="020B0604020202020204" pitchFamily="34" charset="0"/>
              <a:buChar char="▪"/>
            </a:pPr>
            <a:r>
              <a:rPr lang="en-US" sz="2400" dirty="0">
                <a:effectLst/>
                <a:latin typeface="Noto Sans Symbols"/>
                <a:ea typeface="Noto Sans Symbols"/>
                <a:cs typeface="Noto Sans Symbols"/>
              </a:rPr>
              <a:t>All bills must usually be passed by both the House of Representatives and the Senate, before it has been approved by the Yang di-</a:t>
            </a:r>
            <a:r>
              <a:rPr lang="en-US" sz="2400" dirty="0" err="1">
                <a:effectLst/>
                <a:latin typeface="Noto Sans Symbols"/>
                <a:ea typeface="Noto Sans Symbols"/>
                <a:cs typeface="Noto Sans Symbols"/>
              </a:rPr>
              <a:t>Pertuan</a:t>
            </a:r>
            <a:r>
              <a:rPr lang="en-US" sz="2400" dirty="0">
                <a:effectLst/>
                <a:latin typeface="Noto Sans Symbols"/>
                <a:ea typeface="Noto Sans Symbols"/>
                <a:cs typeface="Noto Sans Symbols"/>
              </a:rPr>
              <a:t> </a:t>
            </a:r>
            <a:r>
              <a:rPr lang="en-US" sz="2400" dirty="0" err="1">
                <a:effectLst/>
                <a:latin typeface="Noto Sans Symbols"/>
                <a:ea typeface="Noto Sans Symbols"/>
                <a:cs typeface="Noto Sans Symbols"/>
              </a:rPr>
              <a:t>Agong</a:t>
            </a:r>
            <a:r>
              <a:rPr lang="en-US" sz="2400" dirty="0">
                <a:effectLst/>
                <a:latin typeface="Noto Sans Symbols"/>
                <a:ea typeface="Noto Sans Symbols"/>
                <a:cs typeface="Noto Sans Symbols"/>
              </a:rPr>
              <a:t>. </a:t>
            </a:r>
            <a:endParaRPr lang="en-MY" sz="2400" dirty="0">
              <a:effectLst/>
              <a:latin typeface="Noto Sans Symbols"/>
              <a:ea typeface="Noto Sans Symbols"/>
              <a:cs typeface="Noto Sans Symbols"/>
            </a:endParaRPr>
          </a:p>
          <a:p>
            <a:r>
              <a:rPr lang="en-US" sz="2400" dirty="0">
                <a:effectLst/>
                <a:latin typeface="Times New Roman" panose="02020603050405020304" pitchFamily="18" charset="0"/>
                <a:ea typeface="Times New Roman" panose="02020603050405020304" pitchFamily="18" charset="0"/>
              </a:rPr>
              <a:t>Members of the </a:t>
            </a:r>
            <a:r>
              <a:rPr lang="en-US" sz="2400" i="1" dirty="0">
                <a:effectLst/>
                <a:latin typeface="Times New Roman" panose="02020603050405020304" pitchFamily="18" charset="0"/>
                <a:ea typeface="Times New Roman" panose="02020603050405020304" pitchFamily="18" charset="0"/>
              </a:rPr>
              <a:t>Dewan Rakyat</a:t>
            </a:r>
            <a:r>
              <a:rPr lang="en-US" sz="2400" dirty="0">
                <a:effectLst/>
                <a:latin typeface="Times New Roman" panose="02020603050405020304" pitchFamily="18" charset="0"/>
                <a:ea typeface="Times New Roman" panose="02020603050405020304" pitchFamily="18" charset="0"/>
              </a:rPr>
              <a:t> are often referred to as Members of Parliament or MPs – currently 222 MP</a:t>
            </a:r>
            <a:r>
              <a:rPr lang="en-US" sz="2400" dirty="0">
                <a:solidFill>
                  <a:srgbClr val="000000"/>
                </a:solidFill>
                <a:effectLst/>
                <a:latin typeface="Noto Sans Symbols"/>
                <a:ea typeface="Noto Sans Symbols"/>
                <a:cs typeface="Noto Sans Symbols"/>
              </a:rPr>
              <a:t> </a:t>
            </a:r>
            <a:endParaRPr lang="en-MY" sz="2400" dirty="0">
              <a:effectLst/>
              <a:latin typeface="Noto Sans Symbols"/>
              <a:ea typeface="Noto Sans Symbols"/>
              <a:cs typeface="Noto Sans Symbols"/>
            </a:endParaRPr>
          </a:p>
          <a:p>
            <a:pPr marL="0" indent="0">
              <a:buNone/>
            </a:pPr>
            <a:endParaRPr lang="en-MY" sz="1800" dirty="0"/>
          </a:p>
        </p:txBody>
      </p:sp>
    </p:spTree>
    <p:extLst>
      <p:ext uri="{BB962C8B-B14F-4D97-AF65-F5344CB8AC3E}">
        <p14:creationId xmlns:p14="http://schemas.microsoft.com/office/powerpoint/2010/main" val="181753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6426" y="102422"/>
            <a:ext cx="8229600" cy="672830"/>
          </a:xfrm>
        </p:spPr>
        <p:txBody>
          <a:bodyPr>
            <a:normAutofit fontScale="90000"/>
          </a:bodyPr>
          <a:lstStyle/>
          <a:p>
            <a:pPr>
              <a:spcAft>
                <a:spcPts val="800"/>
              </a:spcAft>
            </a:pPr>
            <a:r>
              <a:rPr lang="en-US" sz="4000" b="1" dirty="0">
                <a:effectLst/>
                <a:latin typeface="Times New Roman" panose="02020603050405020304" pitchFamily="18" charset="0"/>
                <a:ea typeface="Times New Roman" panose="02020603050405020304" pitchFamily="18" charset="0"/>
              </a:rPr>
              <a:t>LEGISLATIVE PROCESS</a:t>
            </a:r>
            <a:endParaRPr lang="en-MY" sz="4000" dirty="0">
              <a:effectLst/>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238539" y="1143002"/>
            <a:ext cx="11688417" cy="1769164"/>
          </a:xfrm>
        </p:spPr>
        <p:txBody>
          <a:bodyPr>
            <a:normAutofit/>
          </a:bodyPr>
          <a:lstStyle/>
          <a:p>
            <a:pPr marL="342900" lvl="0" indent="-342900" algn="just">
              <a:spcAft>
                <a:spcPts val="800"/>
              </a:spcAft>
              <a:buFont typeface="Arial" panose="020B0604020202020204" pitchFamily="34" charset="0"/>
              <a:buChar char="•"/>
            </a:pPr>
            <a:r>
              <a:rPr lang="en-US" sz="2000" dirty="0">
                <a:effectLst/>
                <a:ea typeface="Arial" panose="020B0604020202020204" pitchFamily="34" charset="0"/>
                <a:cs typeface="Arial" panose="020B0604020202020204" pitchFamily="34" charset="0"/>
              </a:rPr>
              <a:t>A bill may originate in either Dewan/Houses. But most often originates in the Dewan Rakyat and normally introduced by a minister</a:t>
            </a:r>
            <a:endParaRPr lang="en-MY" sz="2000" dirty="0">
              <a:effectLst/>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000" dirty="0">
                <a:effectLst/>
                <a:ea typeface="Arial" panose="020B0604020202020204" pitchFamily="34" charset="0"/>
                <a:cs typeface="Arial" panose="020B0604020202020204" pitchFamily="34" charset="0"/>
              </a:rPr>
              <a:t>Bills concerning tax or expenditure (money or Supply Bills) must originate  in the Dewan Rakyat. </a:t>
            </a:r>
            <a:endParaRPr lang="en-MY" sz="2000" dirty="0">
              <a:effectLst/>
              <a:ea typeface="Arial" panose="020B0604020202020204" pitchFamily="34" charset="0"/>
              <a:cs typeface="Arial" panose="020B0604020202020204" pitchFamily="34" charset="0"/>
            </a:endParaRPr>
          </a:p>
          <a:p>
            <a:r>
              <a:rPr lang="en-US" sz="2000" dirty="0">
                <a:effectLst/>
                <a:ea typeface="Times New Roman" panose="02020603050405020304" pitchFamily="18" charset="0"/>
              </a:rPr>
              <a:t>Senate cannot reject a bill but can postponed the bill to be submitted to the King.</a:t>
            </a:r>
            <a:endParaRPr lang="en-US" sz="1800" dirty="0"/>
          </a:p>
        </p:txBody>
      </p:sp>
      <p:pic>
        <p:nvPicPr>
          <p:cNvPr id="5" name="image4.png">
            <a:extLst>
              <a:ext uri="{FF2B5EF4-FFF2-40B4-BE49-F238E27FC236}">
                <a16:creationId xmlns:a16="http://schemas.microsoft.com/office/drawing/2014/main" id="{66D2DA30-0726-CD52-D11E-369945B2A43D}"/>
              </a:ext>
            </a:extLst>
          </p:cNvPr>
          <p:cNvPicPr/>
          <p:nvPr/>
        </p:nvPicPr>
        <p:blipFill>
          <a:blip r:embed="rId2"/>
          <a:srcRect l="2651"/>
          <a:stretch>
            <a:fillRect/>
          </a:stretch>
        </p:blipFill>
        <p:spPr>
          <a:xfrm>
            <a:off x="2213389" y="2759624"/>
            <a:ext cx="7467324" cy="3995954"/>
          </a:xfrm>
          <a:prstGeom prst="rect">
            <a:avLst/>
          </a:prstGeom>
          <a:ln/>
        </p:spPr>
      </p:pic>
    </p:spTree>
    <p:extLst>
      <p:ext uri="{BB962C8B-B14F-4D97-AF65-F5344CB8AC3E}">
        <p14:creationId xmlns:p14="http://schemas.microsoft.com/office/powerpoint/2010/main" val="550987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DC2DDA61-CAD2-F61A-45D7-ED98CF21F99D}"/>
              </a:ext>
            </a:extLst>
          </p:cNvPr>
          <p:cNvSpPr>
            <a:spLocks noGrp="1"/>
          </p:cNvSpPr>
          <p:nvPr>
            <p:ph type="body" idx="1"/>
          </p:nvPr>
        </p:nvSpPr>
        <p:spPr>
          <a:xfrm>
            <a:off x="480392" y="89452"/>
            <a:ext cx="11386930" cy="783397"/>
          </a:xfrm>
        </p:spPr>
        <p:txBody>
          <a:bodyPr>
            <a:normAutofit fontScale="25000" lnSpcReduction="20000"/>
          </a:bodyPr>
          <a:lstStyle/>
          <a:p>
            <a:pPr algn="ctr"/>
            <a:endParaRPr lang="en-US" sz="2400" b="1" dirty="0">
              <a:effectLst/>
              <a:latin typeface="Times New Roman" panose="02020603050405020304" pitchFamily="18" charset="0"/>
              <a:ea typeface="Times New Roman" panose="02020603050405020304" pitchFamily="18" charset="0"/>
            </a:endParaRPr>
          </a:p>
          <a:p>
            <a:pPr algn="ctr"/>
            <a:r>
              <a:rPr lang="en-US" sz="12800" b="1" dirty="0">
                <a:effectLst/>
                <a:latin typeface="Times New Roman" panose="02020603050405020304" pitchFamily="18" charset="0"/>
                <a:ea typeface="Times New Roman" panose="02020603050405020304" pitchFamily="18" charset="0"/>
              </a:rPr>
              <a:t>DRAFTING A BILL</a:t>
            </a:r>
            <a:endParaRPr lang="en-MY" dirty="0"/>
          </a:p>
        </p:txBody>
      </p:sp>
      <p:sp>
        <p:nvSpPr>
          <p:cNvPr id="12" name="Content Placeholder 11">
            <a:extLst>
              <a:ext uri="{FF2B5EF4-FFF2-40B4-BE49-F238E27FC236}">
                <a16:creationId xmlns:a16="http://schemas.microsoft.com/office/drawing/2014/main" id="{46BF300C-A46D-ED8F-6721-591DB9E8A04E}"/>
              </a:ext>
            </a:extLst>
          </p:cNvPr>
          <p:cNvSpPr>
            <a:spLocks noGrp="1"/>
          </p:cNvSpPr>
          <p:nvPr>
            <p:ph sz="half" idx="2"/>
          </p:nvPr>
        </p:nvSpPr>
        <p:spPr>
          <a:xfrm>
            <a:off x="347870" y="1180961"/>
            <a:ext cx="11608903" cy="5209899"/>
          </a:xfrm>
        </p:spPr>
        <p:txBody>
          <a:bodyPr>
            <a:normAutofit/>
          </a:bodyPr>
          <a:lstStyle/>
          <a:p>
            <a:pPr marL="457200" indent="-457200" algn="just">
              <a:spcAft>
                <a:spcPts val="800"/>
              </a:spcAft>
              <a:buFont typeface="+mj-lt"/>
              <a:buAutoNum type="arabicPeriod"/>
            </a:pPr>
            <a:r>
              <a:rPr lang="en-US" sz="2800" b="1" dirty="0">
                <a:effectLst/>
                <a:ea typeface="Times New Roman" panose="02020603050405020304" pitchFamily="18" charset="0"/>
              </a:rPr>
              <a:t>Stage 1: Pre-Parliamentary Stage</a:t>
            </a:r>
            <a:endParaRPr lang="en-MY" sz="2800" dirty="0">
              <a:effectLst/>
              <a:ea typeface="Times New Roman" panose="02020603050405020304" pitchFamily="18" charset="0"/>
            </a:endParaRPr>
          </a:p>
          <a:p>
            <a:pPr lvl="1" indent="-342900" algn="just">
              <a:spcAft>
                <a:spcPts val="800"/>
              </a:spcAft>
              <a:buFont typeface="Arial" panose="020B0604020202020204" pitchFamily="34" charset="0"/>
              <a:buChar char="•"/>
            </a:pPr>
            <a:r>
              <a:rPr lang="en-US" sz="2400" b="1" dirty="0">
                <a:effectLst/>
                <a:ea typeface="Arial" panose="020B0604020202020204" pitchFamily="34" charset="0"/>
                <a:cs typeface="Arial" panose="020B0604020202020204" pitchFamily="34" charset="0"/>
              </a:rPr>
              <a:t>Drafting the proposal  (At Ministry level/Minister) </a:t>
            </a:r>
            <a:endParaRPr lang="en-MY" sz="2400" dirty="0">
              <a:effectLst/>
              <a:ea typeface="Arial" panose="020B0604020202020204" pitchFamily="34" charset="0"/>
              <a:cs typeface="Arial" panose="020B0604020202020204" pitchFamily="34" charset="0"/>
            </a:endParaRPr>
          </a:p>
          <a:p>
            <a:pPr lvl="2" indent="-285750" algn="just">
              <a:spcAft>
                <a:spcPts val="800"/>
              </a:spcAft>
            </a:pPr>
            <a:r>
              <a:rPr lang="en-US" sz="2400" dirty="0">
                <a:effectLst/>
                <a:ea typeface="Arial" panose="020B0604020202020204" pitchFamily="34" charset="0"/>
                <a:cs typeface="Arial" panose="020B0604020202020204" pitchFamily="34" charset="0"/>
              </a:rPr>
              <a:t>series of discussion with various related </a:t>
            </a:r>
            <a:r>
              <a:rPr lang="en-US" sz="2400" dirty="0" err="1">
                <a:effectLst/>
                <a:ea typeface="Arial" panose="020B0604020202020204" pitchFamily="34" charset="0"/>
                <a:cs typeface="Arial" panose="020B0604020202020204" pitchFamily="34" charset="0"/>
              </a:rPr>
              <a:t>organisation</a:t>
            </a:r>
            <a:r>
              <a:rPr lang="en-US" sz="2400" dirty="0">
                <a:effectLst/>
                <a:ea typeface="Arial" panose="020B0604020202020204" pitchFamily="34" charset="0"/>
                <a:cs typeface="Arial" panose="020B0604020202020204" pitchFamily="34" charset="0"/>
              </a:rPr>
              <a:t> – may even be public discussion in the media</a:t>
            </a:r>
            <a:endParaRPr lang="en-MY" sz="2400" dirty="0">
              <a:effectLst/>
              <a:ea typeface="Arial" panose="020B0604020202020204" pitchFamily="34" charset="0"/>
              <a:cs typeface="Arial" panose="020B0604020202020204" pitchFamily="34" charset="0"/>
            </a:endParaRPr>
          </a:p>
          <a:p>
            <a:pPr lvl="2" indent="-285750" algn="just">
              <a:spcAft>
                <a:spcPts val="800"/>
              </a:spcAft>
            </a:pPr>
            <a:r>
              <a:rPr lang="en-US" sz="2400" dirty="0">
                <a:effectLst/>
                <a:ea typeface="Arial" panose="020B0604020202020204" pitchFamily="34" charset="0"/>
                <a:cs typeface="Arial" panose="020B0604020202020204" pitchFamily="34" charset="0"/>
              </a:rPr>
              <a:t>Expert and interested outside bodies may be consulted</a:t>
            </a:r>
            <a:endParaRPr lang="en-MY" sz="2400" dirty="0">
              <a:effectLst/>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400" b="1" dirty="0">
                <a:effectLst/>
                <a:ea typeface="Arial" panose="020B0604020202020204" pitchFamily="34" charset="0"/>
                <a:cs typeface="Arial" panose="020B0604020202020204" pitchFamily="34" charset="0"/>
              </a:rPr>
              <a:t>Consultation with Attorney General </a:t>
            </a:r>
            <a:endParaRPr lang="en-MY" sz="2400" dirty="0">
              <a:effectLst/>
              <a:ea typeface="Arial" panose="020B0604020202020204" pitchFamily="34" charset="0"/>
              <a:cs typeface="Arial" panose="020B0604020202020204" pitchFamily="34" charset="0"/>
            </a:endParaRPr>
          </a:p>
          <a:p>
            <a:pPr lvl="2" indent="-285750" algn="just">
              <a:spcAft>
                <a:spcPts val="800"/>
              </a:spcAft>
            </a:pPr>
            <a:r>
              <a:rPr lang="en-US" sz="2400" dirty="0">
                <a:effectLst/>
                <a:ea typeface="Arial" panose="020B0604020202020204" pitchFamily="34" charset="0"/>
                <a:cs typeface="Arial" panose="020B0604020202020204" pitchFamily="34" charset="0"/>
              </a:rPr>
              <a:t>To be put into legal language and form</a:t>
            </a:r>
            <a:endParaRPr lang="en-MY" sz="2400" dirty="0">
              <a:effectLst/>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400" b="1" dirty="0">
                <a:effectLst/>
                <a:ea typeface="Arial" panose="020B0604020202020204" pitchFamily="34" charset="0"/>
                <a:cs typeface="Arial" panose="020B0604020202020204" pitchFamily="34" charset="0"/>
              </a:rPr>
              <a:t>Cabinet approval</a:t>
            </a:r>
            <a:endParaRPr lang="en-MY" sz="2400" dirty="0">
              <a:effectLst/>
              <a:ea typeface="Arial" panose="020B0604020202020204" pitchFamily="34" charset="0"/>
              <a:cs typeface="Arial" panose="020B0604020202020204" pitchFamily="34" charset="0"/>
            </a:endParaRPr>
          </a:p>
          <a:p>
            <a:pPr lvl="2" indent="-285750" algn="just">
              <a:spcAft>
                <a:spcPts val="800"/>
              </a:spcAft>
            </a:pPr>
            <a:r>
              <a:rPr lang="en-US" sz="2400" b="1" dirty="0">
                <a:effectLst/>
                <a:ea typeface="Arial" panose="020B0604020202020204" pitchFamily="34" charset="0"/>
                <a:cs typeface="Arial" panose="020B0604020202020204" pitchFamily="34" charset="0"/>
              </a:rPr>
              <a:t>After the approval the bill is ready to be introduced into Parliament</a:t>
            </a:r>
            <a:endParaRPr lang="en-MY" sz="2400" dirty="0">
              <a:effectLst/>
              <a:ea typeface="Arial" panose="020B0604020202020204" pitchFamily="34" charset="0"/>
              <a:cs typeface="Arial" panose="020B0604020202020204" pitchFamily="34" charset="0"/>
            </a:endParaRPr>
          </a:p>
          <a:p>
            <a:endParaRPr lang="en-MY" dirty="0"/>
          </a:p>
        </p:txBody>
      </p:sp>
    </p:spTree>
    <p:extLst>
      <p:ext uri="{BB962C8B-B14F-4D97-AF65-F5344CB8AC3E}">
        <p14:creationId xmlns:p14="http://schemas.microsoft.com/office/powerpoint/2010/main" val="986830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46BF300C-A46D-ED8F-6721-591DB9E8A04E}"/>
              </a:ext>
            </a:extLst>
          </p:cNvPr>
          <p:cNvSpPr>
            <a:spLocks noGrp="1"/>
          </p:cNvSpPr>
          <p:nvPr>
            <p:ph sz="half" idx="2"/>
          </p:nvPr>
        </p:nvSpPr>
        <p:spPr>
          <a:xfrm>
            <a:off x="99391" y="79513"/>
            <a:ext cx="12006469" cy="6778487"/>
          </a:xfrm>
        </p:spPr>
        <p:txBody>
          <a:bodyPr>
            <a:normAutofit/>
          </a:bodyPr>
          <a:lstStyle/>
          <a:p>
            <a:pPr marL="514350" indent="-514350" algn="just">
              <a:spcAft>
                <a:spcPts val="800"/>
              </a:spcAft>
              <a:buFont typeface="+mj-lt"/>
              <a:buAutoNum type="arabicPeriod" startAt="2"/>
            </a:pPr>
            <a:r>
              <a:rPr lang="en-US" sz="2800" b="1" dirty="0">
                <a:effectLst/>
                <a:ea typeface="Times New Roman" panose="02020603050405020304" pitchFamily="18" charset="0"/>
              </a:rPr>
              <a:t>Stage 2: Parliamentary Stage</a:t>
            </a:r>
            <a:endParaRPr lang="en-MY" sz="2800" dirty="0">
              <a:effectLst/>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b="1" u="sng" dirty="0">
                <a:effectLst/>
                <a:ea typeface="Noto Sans Symbols"/>
                <a:cs typeface="Noto Sans Symbols"/>
              </a:rPr>
              <a:t>FIRST READING</a:t>
            </a:r>
            <a:endParaRPr lang="en-MY" sz="1800" dirty="0">
              <a:effectLst/>
              <a:ea typeface="Noto Sans Symbols"/>
              <a:cs typeface="Noto Sans Symbols"/>
            </a:endParaRPr>
          </a:p>
          <a:p>
            <a:pPr marL="1143000" lvl="2" indent="-228600" algn="just">
              <a:spcAft>
                <a:spcPts val="800"/>
              </a:spcAft>
              <a:buFont typeface="Arial" panose="020B0604020202020204" pitchFamily="34" charset="0"/>
              <a:buChar char="⮚"/>
            </a:pPr>
            <a:r>
              <a:rPr lang="en-US" dirty="0">
                <a:effectLst/>
                <a:ea typeface="Noto Sans Symbols"/>
                <a:cs typeface="Noto Sans Symbols"/>
              </a:rPr>
              <a:t>Minister formally introduces the Bill in the Dewan Rakyat /HR (House of Representative) by having its short title read. No debate or amendment</a:t>
            </a:r>
            <a:endParaRPr lang="en-MY" dirty="0">
              <a:effectLst/>
              <a:ea typeface="Noto Sans Symbols"/>
              <a:cs typeface="Noto Sans Symbols"/>
            </a:endParaRPr>
          </a:p>
          <a:p>
            <a:pPr marL="1143000" lvl="2" indent="-228600" algn="just">
              <a:spcAft>
                <a:spcPts val="800"/>
              </a:spcAft>
              <a:buFont typeface="Arial" panose="020B0604020202020204" pitchFamily="34" charset="0"/>
              <a:buChar char="⮚"/>
            </a:pPr>
            <a:r>
              <a:rPr lang="en-US" dirty="0">
                <a:effectLst/>
                <a:ea typeface="Noto Sans Symbols"/>
                <a:cs typeface="Noto Sans Symbols"/>
              </a:rPr>
              <a:t>The Bill is printed &amp; circulated.</a:t>
            </a:r>
            <a:endParaRPr lang="en-MY" dirty="0">
              <a:effectLst/>
              <a:ea typeface="Noto Sans Symbols"/>
              <a:cs typeface="Noto Sans Symbols"/>
            </a:endParaRPr>
          </a:p>
          <a:p>
            <a:pPr marL="342900" lvl="0" indent="-342900" algn="just">
              <a:spcAft>
                <a:spcPts val="800"/>
              </a:spcAft>
              <a:buFont typeface="Arial" panose="020B0604020202020204" pitchFamily="34" charset="0"/>
              <a:buChar char="❑"/>
            </a:pPr>
            <a:r>
              <a:rPr lang="en-US" sz="1800" b="1" u="sng" dirty="0">
                <a:effectLst/>
                <a:ea typeface="Noto Sans Symbols"/>
                <a:cs typeface="Noto Sans Symbols"/>
              </a:rPr>
              <a:t>SECOND READING</a:t>
            </a:r>
            <a:endParaRPr lang="en-MY" sz="1800" dirty="0">
              <a:effectLst/>
              <a:ea typeface="Noto Sans Symbols"/>
              <a:cs typeface="Noto Sans Symbols"/>
            </a:endParaRPr>
          </a:p>
          <a:p>
            <a:pPr marL="1143000" lvl="2" indent="-228600" algn="just">
              <a:spcAft>
                <a:spcPts val="800"/>
              </a:spcAft>
              <a:buFont typeface="Arial" panose="020B0604020202020204" pitchFamily="34" charset="0"/>
              <a:buChar char="⮚"/>
            </a:pPr>
            <a:r>
              <a:rPr lang="en-US" dirty="0">
                <a:effectLst/>
                <a:ea typeface="Noto Sans Symbols"/>
                <a:cs typeface="Noto Sans Symbols"/>
              </a:rPr>
              <a:t>Debate on the general principles of the Bill, The general principles and the implication of the bill are debated; </a:t>
            </a:r>
            <a:endParaRPr lang="en-MY" dirty="0">
              <a:effectLst/>
              <a:ea typeface="Noto Sans Symbols"/>
              <a:cs typeface="Noto Sans Symbols"/>
            </a:endParaRPr>
          </a:p>
          <a:p>
            <a:pPr marL="1143000" lvl="2" indent="-228600" algn="just">
              <a:spcAft>
                <a:spcPts val="800"/>
              </a:spcAft>
              <a:buFont typeface="Arial" panose="020B0604020202020204" pitchFamily="34" charset="0"/>
              <a:buChar char="⮚"/>
            </a:pPr>
            <a:r>
              <a:rPr lang="en-US" dirty="0">
                <a:effectLst/>
                <a:ea typeface="Noto Sans Symbols"/>
                <a:cs typeface="Noto Sans Symbols"/>
              </a:rPr>
              <a:t>MPs will vote , either a simple majority of the present member of the parliamentary, or two-third majority of the total number of parliamentary in accordance with the requirement of the Federal Constitution.  If rejected, it could be modified &amp; presented again or stops at this stage.</a:t>
            </a:r>
            <a:endParaRPr lang="en-MY" dirty="0">
              <a:effectLst/>
              <a:ea typeface="Noto Sans Symbols"/>
              <a:cs typeface="Noto Sans Symbols"/>
            </a:endParaRPr>
          </a:p>
          <a:p>
            <a:pPr marL="342900" lvl="0" indent="-342900" algn="just">
              <a:spcAft>
                <a:spcPts val="800"/>
              </a:spcAft>
              <a:buFont typeface="Arial" panose="020B0604020202020204" pitchFamily="34" charset="0"/>
              <a:buChar char="❑"/>
            </a:pPr>
            <a:r>
              <a:rPr lang="en-US" sz="1800" b="1" u="sng" dirty="0">
                <a:effectLst/>
                <a:ea typeface="Noto Sans Symbols"/>
                <a:cs typeface="Noto Sans Symbols"/>
              </a:rPr>
              <a:t>COMMITTEE STAGE</a:t>
            </a:r>
            <a:endParaRPr lang="en-MY" sz="1800" dirty="0">
              <a:effectLst/>
              <a:ea typeface="Noto Sans Symbols"/>
              <a:cs typeface="Noto Sans Symbols"/>
            </a:endParaRPr>
          </a:p>
          <a:p>
            <a:pPr marL="1143000" lvl="2" indent="-228600" algn="just">
              <a:spcAft>
                <a:spcPts val="800"/>
              </a:spcAft>
              <a:buFont typeface="Arial" panose="020B0604020202020204" pitchFamily="34" charset="0"/>
              <a:buChar char="⮚"/>
            </a:pPr>
            <a:r>
              <a:rPr lang="en-US" dirty="0">
                <a:effectLst/>
                <a:ea typeface="Noto Sans Symbols"/>
                <a:cs typeface="Noto Sans Symbols"/>
              </a:rPr>
              <a:t>Detailed examination/discussion of the Bill and consideration of amendments (Amendment will be carried out if necessary), followed by a report on the Bill to the HR. </a:t>
            </a:r>
            <a:endParaRPr lang="en-MY" dirty="0">
              <a:effectLst/>
              <a:ea typeface="Noto Sans Symbols"/>
              <a:cs typeface="Noto Sans Symbols"/>
            </a:endParaRPr>
          </a:p>
          <a:p>
            <a:pPr marL="342900" lvl="0" indent="-342900" algn="just">
              <a:spcAft>
                <a:spcPts val="800"/>
              </a:spcAft>
              <a:buFont typeface="Arial" panose="020B0604020202020204" pitchFamily="34" charset="0"/>
              <a:buChar char="❑"/>
            </a:pPr>
            <a:r>
              <a:rPr lang="en-US" sz="1800" b="1" dirty="0">
                <a:effectLst/>
                <a:ea typeface="Noto Sans Symbols"/>
                <a:cs typeface="Noto Sans Symbols"/>
              </a:rPr>
              <a:t> </a:t>
            </a:r>
            <a:r>
              <a:rPr lang="en-US" sz="1800" b="1" u="sng" dirty="0">
                <a:effectLst/>
                <a:ea typeface="Noto Sans Symbols"/>
                <a:cs typeface="Noto Sans Symbols"/>
              </a:rPr>
              <a:t>THIRD READING</a:t>
            </a:r>
            <a:endParaRPr lang="en-MY" sz="1800" dirty="0">
              <a:effectLst/>
              <a:ea typeface="Noto Sans Symbols"/>
              <a:cs typeface="Noto Sans Symbols"/>
            </a:endParaRPr>
          </a:p>
          <a:p>
            <a:r>
              <a:rPr lang="en-US" sz="1800" dirty="0">
                <a:effectLst/>
                <a:ea typeface="Times New Roman" panose="02020603050405020304" pitchFamily="18" charset="0"/>
              </a:rPr>
              <a:t>Reviewing the bill. Further debate on the general principles of the Bill, followed by  a vote</a:t>
            </a:r>
            <a:endParaRPr lang="en-MY" sz="1800" dirty="0"/>
          </a:p>
        </p:txBody>
      </p:sp>
      <p:pic>
        <p:nvPicPr>
          <p:cNvPr id="4" name="Picture 3">
            <a:extLst>
              <a:ext uri="{FF2B5EF4-FFF2-40B4-BE49-F238E27FC236}">
                <a16:creationId xmlns:a16="http://schemas.microsoft.com/office/drawing/2014/main" id="{594BB2B7-68FC-4D94-D0C6-C4988317BDD3}"/>
              </a:ext>
            </a:extLst>
          </p:cNvPr>
          <p:cNvPicPr>
            <a:picLocks noChangeAspect="1"/>
          </p:cNvPicPr>
          <p:nvPr/>
        </p:nvPicPr>
        <p:blipFill>
          <a:blip r:embed="rId2"/>
          <a:stretch>
            <a:fillRect/>
          </a:stretch>
        </p:blipFill>
        <p:spPr>
          <a:xfrm>
            <a:off x="316674" y="5939696"/>
            <a:ext cx="5277121" cy="749339"/>
          </a:xfrm>
          <a:prstGeom prst="rect">
            <a:avLst/>
          </a:prstGeom>
        </p:spPr>
      </p:pic>
    </p:spTree>
    <p:extLst>
      <p:ext uri="{BB962C8B-B14F-4D97-AF65-F5344CB8AC3E}">
        <p14:creationId xmlns:p14="http://schemas.microsoft.com/office/powerpoint/2010/main" val="2821568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46BF300C-A46D-ED8F-6721-591DB9E8A04E}"/>
              </a:ext>
            </a:extLst>
          </p:cNvPr>
          <p:cNvSpPr>
            <a:spLocks noGrp="1"/>
          </p:cNvSpPr>
          <p:nvPr>
            <p:ph sz="half" idx="2"/>
          </p:nvPr>
        </p:nvSpPr>
        <p:spPr>
          <a:xfrm>
            <a:off x="99391" y="79513"/>
            <a:ext cx="12006469" cy="6778487"/>
          </a:xfrm>
        </p:spPr>
        <p:txBody>
          <a:bodyPr>
            <a:normAutofit/>
          </a:bodyPr>
          <a:lstStyle/>
          <a:p>
            <a:pPr marL="342900" lvl="0" indent="-342900" algn="just">
              <a:spcAft>
                <a:spcPts val="800"/>
              </a:spcAft>
              <a:buFont typeface="Arial" panose="020B0604020202020204" pitchFamily="34" charset="0"/>
              <a:buChar char="❑"/>
            </a:pPr>
            <a:r>
              <a:rPr lang="en-US" sz="2000" b="1" u="sng" dirty="0">
                <a:effectLst/>
                <a:ea typeface="Noto Sans Symbols"/>
                <a:cs typeface="Noto Sans Symbols"/>
              </a:rPr>
              <a:t>DEWAN NEGARA</a:t>
            </a:r>
            <a:endParaRPr lang="en-MY" sz="2000" dirty="0">
              <a:effectLst/>
              <a:ea typeface="Noto Sans Symbols"/>
              <a:cs typeface="Noto Sans Symbols"/>
            </a:endParaRPr>
          </a:p>
          <a:p>
            <a:pPr marL="1143000" lvl="2" indent="-228600" algn="just">
              <a:spcAft>
                <a:spcPts val="800"/>
              </a:spcAft>
              <a:buFont typeface="Arial" panose="020B0604020202020204" pitchFamily="34" charset="0"/>
              <a:buChar char="⮚"/>
            </a:pPr>
            <a:r>
              <a:rPr lang="en-US" sz="2000" dirty="0">
                <a:effectLst/>
                <a:ea typeface="Noto Sans Symbols"/>
                <a:cs typeface="Noto Sans Symbols"/>
              </a:rPr>
              <a:t>The bill is submitted  to Dewan Negara</a:t>
            </a:r>
            <a:endParaRPr lang="en-MY" sz="2000" dirty="0">
              <a:effectLst/>
              <a:ea typeface="Noto Sans Symbols"/>
              <a:cs typeface="Noto Sans Symbols"/>
            </a:endParaRPr>
          </a:p>
          <a:p>
            <a:pPr marL="1143000" lvl="2" indent="-228600" algn="just">
              <a:spcAft>
                <a:spcPts val="800"/>
              </a:spcAft>
              <a:buFont typeface="Arial" panose="020B0604020202020204" pitchFamily="34" charset="0"/>
              <a:buChar char="⮚"/>
            </a:pPr>
            <a:r>
              <a:rPr lang="en-US" sz="2000" dirty="0">
                <a:effectLst/>
                <a:ea typeface="Noto Sans Symbols"/>
                <a:cs typeface="Noto Sans Symbols"/>
              </a:rPr>
              <a:t>Repeat the First, Second, Committee Stage and Third Reading. If passed, the bill is referred back to the Dewan Rakyat</a:t>
            </a:r>
            <a:endParaRPr lang="en-MY" sz="2000" dirty="0">
              <a:effectLst/>
              <a:ea typeface="Noto Sans Symbols"/>
              <a:cs typeface="Noto Sans Symbols"/>
            </a:endParaRPr>
          </a:p>
          <a:p>
            <a:pPr marL="342900" lvl="0" indent="-342900" algn="just">
              <a:spcAft>
                <a:spcPts val="800"/>
              </a:spcAft>
              <a:buFont typeface="Arial" panose="020B0604020202020204" pitchFamily="34" charset="0"/>
              <a:buChar char="❑"/>
            </a:pPr>
            <a:r>
              <a:rPr lang="en-US" sz="2000" b="1" u="sng" dirty="0">
                <a:effectLst/>
                <a:ea typeface="Noto Sans Symbols"/>
                <a:cs typeface="Noto Sans Symbols"/>
              </a:rPr>
              <a:t>ROYAL ASSENT </a:t>
            </a:r>
            <a:endParaRPr lang="en-MY" sz="2000" dirty="0">
              <a:effectLst/>
              <a:ea typeface="Noto Sans Symbols"/>
              <a:cs typeface="Noto Sans Symbols"/>
            </a:endParaRPr>
          </a:p>
          <a:p>
            <a:pPr marL="1143000" lvl="2" indent="-228600" algn="just">
              <a:spcAft>
                <a:spcPts val="800"/>
              </a:spcAft>
              <a:buFont typeface="Arial" panose="020B0604020202020204" pitchFamily="34" charset="0"/>
              <a:buChar char="⮚"/>
            </a:pPr>
            <a:r>
              <a:rPr lang="en-US" sz="2000" dirty="0">
                <a:effectLst/>
                <a:ea typeface="Noto Sans Symbols"/>
                <a:cs typeface="Noto Sans Symbols"/>
              </a:rPr>
              <a:t>The Yang di-</a:t>
            </a:r>
            <a:r>
              <a:rPr lang="en-US" sz="2000" dirty="0" err="1">
                <a:effectLst/>
                <a:ea typeface="Noto Sans Symbols"/>
                <a:cs typeface="Noto Sans Symbols"/>
              </a:rPr>
              <a:t>Pertuan</a:t>
            </a:r>
            <a:r>
              <a:rPr lang="en-US" sz="2000" dirty="0">
                <a:effectLst/>
                <a:ea typeface="Noto Sans Symbols"/>
                <a:cs typeface="Noto Sans Symbols"/>
              </a:rPr>
              <a:t> </a:t>
            </a:r>
            <a:r>
              <a:rPr lang="en-US" sz="2000" dirty="0" err="1">
                <a:effectLst/>
                <a:ea typeface="Noto Sans Symbols"/>
                <a:cs typeface="Noto Sans Symbols"/>
              </a:rPr>
              <a:t>Agong</a:t>
            </a:r>
            <a:r>
              <a:rPr lang="en-US" sz="2000" dirty="0">
                <a:effectLst/>
                <a:ea typeface="Noto Sans Symbols"/>
                <a:cs typeface="Noto Sans Symbols"/>
              </a:rPr>
              <a:t> affixes  the Public Seal (GAZZETTE) within thirty days of presentation</a:t>
            </a:r>
            <a:endParaRPr lang="en-MY" sz="2000" dirty="0">
              <a:effectLst/>
              <a:ea typeface="Noto Sans Symbols"/>
              <a:cs typeface="Noto Sans Symbols"/>
            </a:endParaRPr>
          </a:p>
          <a:p>
            <a:pPr marL="1143000" lvl="2" indent="-228600" algn="just">
              <a:spcAft>
                <a:spcPts val="800"/>
              </a:spcAft>
              <a:buFont typeface="Arial" panose="020B0604020202020204" pitchFamily="34" charset="0"/>
              <a:buChar char="⮚"/>
            </a:pPr>
            <a:r>
              <a:rPr lang="en-US" sz="2000" dirty="0">
                <a:effectLst/>
                <a:ea typeface="Noto Sans Symbols"/>
                <a:cs typeface="Noto Sans Symbols"/>
              </a:rPr>
              <a:t>Bill becomes Act</a:t>
            </a:r>
            <a:endParaRPr lang="en-MY" sz="2000" dirty="0">
              <a:effectLst/>
              <a:ea typeface="Noto Sans Symbols"/>
              <a:cs typeface="Noto Sans Symbols"/>
            </a:endParaRPr>
          </a:p>
          <a:p>
            <a:pPr marL="342900" lvl="0" indent="-342900" algn="just">
              <a:spcAft>
                <a:spcPts val="800"/>
              </a:spcAft>
              <a:buFont typeface="Arial" panose="020B0604020202020204" pitchFamily="34" charset="0"/>
              <a:buChar char="❑"/>
            </a:pPr>
            <a:r>
              <a:rPr lang="en-US" sz="2000" b="1" u="sng" dirty="0">
                <a:effectLst/>
                <a:ea typeface="Noto Sans Symbols"/>
                <a:cs typeface="Noto Sans Symbols"/>
              </a:rPr>
              <a:t>PUBLICATION</a:t>
            </a:r>
            <a:endParaRPr lang="en-MY" sz="2000" dirty="0">
              <a:effectLst/>
              <a:ea typeface="Noto Sans Symbols"/>
              <a:cs typeface="Noto Sans Symbols"/>
            </a:endParaRPr>
          </a:p>
          <a:p>
            <a:pPr marL="1143000" lvl="2" indent="-228600" algn="just">
              <a:spcAft>
                <a:spcPts val="800"/>
              </a:spcAft>
              <a:buFont typeface="Arial" panose="020B0604020202020204" pitchFamily="34" charset="0"/>
              <a:buChar char="⮚"/>
            </a:pPr>
            <a:r>
              <a:rPr lang="en-US" sz="2000" b="1" dirty="0">
                <a:effectLst/>
                <a:ea typeface="Noto Sans Symbols"/>
                <a:cs typeface="Noto Sans Symbols"/>
              </a:rPr>
              <a:t>Act comes into force</a:t>
            </a:r>
            <a:endParaRPr lang="en-MY" sz="2000" dirty="0">
              <a:effectLst/>
              <a:ea typeface="Noto Sans Symbols"/>
              <a:cs typeface="Noto Sans Symbols"/>
            </a:endParaRPr>
          </a:p>
          <a:p>
            <a:pPr marL="0" indent="0" algn="just">
              <a:spcAft>
                <a:spcPts val="800"/>
              </a:spcAft>
              <a:buNone/>
            </a:pPr>
            <a:endParaRPr lang="en-MY" sz="1800" dirty="0"/>
          </a:p>
        </p:txBody>
      </p:sp>
    </p:spTree>
    <p:extLst>
      <p:ext uri="{BB962C8B-B14F-4D97-AF65-F5344CB8AC3E}">
        <p14:creationId xmlns:p14="http://schemas.microsoft.com/office/powerpoint/2010/main" val="1084533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87C56-707A-4BBC-A470-FF063BDC6268}"/>
              </a:ext>
            </a:extLst>
          </p:cNvPr>
          <p:cNvSpPr>
            <a:spLocks noGrp="1"/>
          </p:cNvSpPr>
          <p:nvPr>
            <p:ph type="title"/>
          </p:nvPr>
        </p:nvSpPr>
        <p:spPr>
          <a:xfrm>
            <a:off x="646111" y="247650"/>
            <a:ext cx="9404723" cy="769795"/>
          </a:xfrm>
        </p:spPr>
        <p:txBody>
          <a:bodyPr/>
          <a:lstStyle/>
          <a:p>
            <a:pPr algn="ctr"/>
            <a:r>
              <a:rPr lang="en-MY" sz="3600" b="1" dirty="0"/>
              <a:t>DEFINITION OF LEGISLATION TERMS</a:t>
            </a:r>
          </a:p>
        </p:txBody>
      </p:sp>
      <p:sp>
        <p:nvSpPr>
          <p:cNvPr id="3" name="Content Placeholder 2">
            <a:extLst>
              <a:ext uri="{FF2B5EF4-FFF2-40B4-BE49-F238E27FC236}">
                <a16:creationId xmlns:a16="http://schemas.microsoft.com/office/drawing/2014/main" id="{90B961A5-318F-4819-A170-3CF0E0DD79BB}"/>
              </a:ext>
            </a:extLst>
          </p:cNvPr>
          <p:cNvSpPr>
            <a:spLocks noGrp="1"/>
          </p:cNvSpPr>
          <p:nvPr>
            <p:ph sz="half" idx="1"/>
          </p:nvPr>
        </p:nvSpPr>
        <p:spPr>
          <a:xfrm>
            <a:off x="228600" y="894522"/>
            <a:ext cx="11658600" cy="5715829"/>
          </a:xfrm>
        </p:spPr>
        <p:txBody>
          <a:bodyPr>
            <a:normAutofit lnSpcReduction="10000"/>
          </a:bodyPr>
          <a:lstStyle/>
          <a:p>
            <a:pPr marL="342900" lvl="0" indent="-342900" algn="just">
              <a:spcAft>
                <a:spcPts val="800"/>
              </a:spcAft>
              <a:buFont typeface="Arial" panose="020B0604020202020204" pitchFamily="34" charset="0"/>
              <a:buChar char="•"/>
            </a:pPr>
            <a:r>
              <a:rPr lang="en-US" sz="2000" u="sng" dirty="0">
                <a:effectLst/>
                <a:latin typeface="Calibri" panose="020F0502020204030204" pitchFamily="34" charset="0"/>
                <a:ea typeface="Arial" panose="020B0604020202020204" pitchFamily="34" charset="0"/>
                <a:cs typeface="Calibri" panose="020F0502020204030204" pitchFamily="34" charset="0"/>
              </a:rPr>
              <a:t>Acts</a:t>
            </a:r>
            <a:r>
              <a:rPr lang="en-US" sz="2000" dirty="0">
                <a:effectLst/>
                <a:latin typeface="Calibri" panose="020F0502020204030204" pitchFamily="34" charset="0"/>
                <a:ea typeface="Arial" panose="020B0604020202020204" pitchFamily="34" charset="0"/>
                <a:cs typeface="Calibri" panose="020F0502020204030204" pitchFamily="34" charset="0"/>
              </a:rPr>
              <a:t> – Laws enacted by the Parliament</a:t>
            </a:r>
            <a:endParaRPr lang="en-MY" sz="2000" dirty="0">
              <a:effectLst/>
              <a:latin typeface="Calibri" panose="020F0502020204030204" pitchFamily="34" charset="0"/>
              <a:ea typeface="Arial" panose="020B0604020202020204" pitchFamily="34" charset="0"/>
              <a:cs typeface="Calibri" panose="020F0502020204030204" pitchFamily="34" charset="0"/>
            </a:endParaRPr>
          </a:p>
          <a:p>
            <a:pPr marL="342900" lvl="0" indent="-342900" algn="just">
              <a:spcAft>
                <a:spcPts val="800"/>
              </a:spcAft>
              <a:buFont typeface="Arial" panose="020B0604020202020204" pitchFamily="34" charset="0"/>
              <a:buChar char="•"/>
            </a:pPr>
            <a:r>
              <a:rPr lang="en-US" sz="2000" u="sng" dirty="0">
                <a:effectLst/>
                <a:latin typeface="Calibri" panose="020F0502020204030204" pitchFamily="34" charset="0"/>
                <a:ea typeface="Arial" panose="020B0604020202020204" pitchFamily="34" charset="0"/>
                <a:cs typeface="Calibri" panose="020F0502020204030204" pitchFamily="34" charset="0"/>
              </a:rPr>
              <a:t>Ordinances</a:t>
            </a:r>
            <a:r>
              <a:rPr lang="en-US" sz="2000" dirty="0">
                <a:effectLst/>
                <a:latin typeface="Calibri" panose="020F0502020204030204" pitchFamily="34" charset="0"/>
                <a:ea typeface="Arial" panose="020B0604020202020204" pitchFamily="34" charset="0"/>
                <a:cs typeface="Calibri" panose="020F0502020204030204" pitchFamily="34" charset="0"/>
              </a:rPr>
              <a:t> – </a:t>
            </a:r>
            <a:endParaRPr lang="en-MY" sz="2000" dirty="0">
              <a:effectLst/>
              <a:latin typeface="Calibri" panose="020F0502020204030204" pitchFamily="34" charset="0"/>
              <a:ea typeface="Arial" panose="020B0604020202020204" pitchFamily="34" charset="0"/>
              <a:cs typeface="Calibri" panose="020F0502020204030204" pitchFamily="34" charset="0"/>
            </a:endParaRPr>
          </a:p>
          <a:p>
            <a:pPr marL="742950" lvl="1" indent="-285750" algn="just">
              <a:spcAft>
                <a:spcPts val="800"/>
              </a:spcAft>
              <a:buFont typeface="+mj-lt"/>
              <a:buAutoNum type="arabicPeriod"/>
            </a:pPr>
            <a:r>
              <a:rPr lang="en-US" sz="2000" dirty="0">
                <a:effectLst/>
                <a:latin typeface="Calibri" panose="020F0502020204030204" pitchFamily="34" charset="0"/>
                <a:ea typeface="Times New Roman" panose="02020603050405020304" pitchFamily="18" charset="0"/>
                <a:cs typeface="Calibri" panose="020F0502020204030204" pitchFamily="34" charset="0"/>
              </a:rPr>
              <a:t>Laws enacted by the Parliament between 1946-1959</a:t>
            </a:r>
            <a:endParaRPr lang="en-MY" sz="2000" dirty="0">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lgn="just">
              <a:spcAft>
                <a:spcPts val="800"/>
              </a:spcAft>
              <a:buFont typeface="+mj-lt"/>
              <a:buAutoNum type="arabicPeriod"/>
            </a:pPr>
            <a:r>
              <a:rPr lang="en-US" sz="2000" dirty="0">
                <a:effectLst/>
                <a:latin typeface="Calibri" panose="020F0502020204030204" pitchFamily="34" charset="0"/>
                <a:ea typeface="Times New Roman" panose="02020603050405020304" pitchFamily="18" charset="0"/>
                <a:cs typeface="Calibri" panose="020F0502020204030204" pitchFamily="34" charset="0"/>
              </a:rPr>
              <a:t>Laws promulgated by the Yang di-</a:t>
            </a:r>
            <a:r>
              <a:rPr lang="en-US" sz="2000" dirty="0" err="1">
                <a:effectLst/>
                <a:latin typeface="Calibri" panose="020F0502020204030204" pitchFamily="34" charset="0"/>
                <a:ea typeface="Times New Roman" panose="02020603050405020304" pitchFamily="18" charset="0"/>
                <a:cs typeface="Calibri" panose="020F0502020204030204" pitchFamily="34" charset="0"/>
              </a:rPr>
              <a:t>Pertuan</a:t>
            </a:r>
            <a:r>
              <a:rPr lang="en-US" sz="2000" dirty="0">
                <a:effectLst/>
                <a:latin typeface="Calibri" panose="020F0502020204030204" pitchFamily="34" charset="0"/>
                <a:ea typeface="Times New Roman" panose="02020603050405020304" pitchFamily="18" charset="0"/>
                <a:cs typeface="Calibri" panose="020F0502020204030204" pitchFamily="34" charset="0"/>
              </a:rPr>
              <a:t> </a:t>
            </a:r>
            <a:r>
              <a:rPr lang="en-US" sz="2000" dirty="0" err="1">
                <a:effectLst/>
                <a:latin typeface="Calibri" panose="020F0502020204030204" pitchFamily="34" charset="0"/>
                <a:ea typeface="Times New Roman" panose="02020603050405020304" pitchFamily="18" charset="0"/>
                <a:cs typeface="Calibri" panose="020F0502020204030204" pitchFamily="34" charset="0"/>
              </a:rPr>
              <a:t>Agong</a:t>
            </a:r>
            <a:r>
              <a:rPr lang="en-US" sz="2000" dirty="0">
                <a:effectLst/>
                <a:latin typeface="Calibri" panose="020F0502020204030204" pitchFamily="34" charset="0"/>
                <a:ea typeface="Times New Roman" panose="02020603050405020304" pitchFamily="18" charset="0"/>
                <a:cs typeface="Calibri" panose="020F0502020204030204" pitchFamily="34" charset="0"/>
              </a:rPr>
              <a:t> during an emergency proclaimed under Article 150 of Federal Constitution</a:t>
            </a:r>
            <a:endParaRPr lang="en-MY" sz="2000" dirty="0">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lgn="just">
              <a:spcAft>
                <a:spcPts val="800"/>
              </a:spcAft>
              <a:buFont typeface="Arial" panose="020B0604020202020204" pitchFamily="34" charset="0"/>
              <a:buChar char="•"/>
            </a:pPr>
            <a:r>
              <a:rPr lang="en-US" sz="2000" u="sng" dirty="0">
                <a:effectLst/>
                <a:latin typeface="Calibri" panose="020F0502020204030204" pitchFamily="34" charset="0"/>
                <a:ea typeface="Arial" panose="020B0604020202020204" pitchFamily="34" charset="0"/>
                <a:cs typeface="Calibri" panose="020F0502020204030204" pitchFamily="34" charset="0"/>
              </a:rPr>
              <a:t>Enactments</a:t>
            </a:r>
            <a:r>
              <a:rPr lang="en-US" sz="2000" dirty="0">
                <a:effectLst/>
                <a:latin typeface="Calibri" panose="020F0502020204030204" pitchFamily="34" charset="0"/>
                <a:ea typeface="Arial" panose="020B0604020202020204" pitchFamily="34" charset="0"/>
                <a:cs typeface="Calibri" panose="020F0502020204030204" pitchFamily="34" charset="0"/>
              </a:rPr>
              <a:t> – laws enacted by State Legislative Assembly (except in Sarawak- are called Ordinances)</a:t>
            </a:r>
            <a:endParaRPr lang="en-MY" sz="2000" dirty="0">
              <a:effectLst/>
              <a:latin typeface="Calibri" panose="020F0502020204030204" pitchFamily="34" charset="0"/>
              <a:ea typeface="Arial" panose="020B0604020202020204" pitchFamily="34" charset="0"/>
              <a:cs typeface="Calibri" panose="020F0502020204030204" pitchFamily="34" charset="0"/>
            </a:endParaRPr>
          </a:p>
          <a:p>
            <a:pPr marL="0" indent="0" algn="just">
              <a:spcAft>
                <a:spcPts val="800"/>
              </a:spcAft>
              <a:buNone/>
            </a:pPr>
            <a:endParaRPr lang="en-MY" sz="2000" dirty="0">
              <a:effectLst/>
              <a:latin typeface="Calibri" panose="020F0502020204030204" pitchFamily="34" charset="0"/>
              <a:ea typeface="Times New Roman" panose="02020603050405020304" pitchFamily="18" charset="0"/>
              <a:cs typeface="Calibri" panose="020F0502020204030204" pitchFamily="34" charset="0"/>
            </a:endParaRPr>
          </a:p>
          <a:p>
            <a:pPr marL="0" indent="0" algn="ctr">
              <a:spcAft>
                <a:spcPts val="800"/>
              </a:spcAft>
              <a:buNone/>
            </a:pPr>
            <a:r>
              <a:rPr lang="en-US" sz="3200" b="1" dirty="0">
                <a:effectLst/>
                <a:latin typeface="Calibri" panose="020F0502020204030204" pitchFamily="34" charset="0"/>
                <a:ea typeface="Times New Roman" panose="02020603050405020304" pitchFamily="18" charset="0"/>
                <a:cs typeface="Calibri" panose="020F0502020204030204" pitchFamily="34" charset="0"/>
              </a:rPr>
              <a:t>TYPE OF BILLS</a:t>
            </a:r>
            <a:endParaRPr lang="en-MY" sz="3200" dirty="0">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lgn="just">
              <a:lnSpc>
                <a:spcPct val="115000"/>
              </a:lnSpc>
              <a:spcAft>
                <a:spcPts val="800"/>
              </a:spcAft>
              <a:buFont typeface="+mj-lt"/>
              <a:buAutoNum type="arabicPeriod"/>
            </a:pPr>
            <a:r>
              <a:rPr lang="en-US"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Public bills</a:t>
            </a: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Involved the affairs of public/community </a:t>
            </a:r>
            <a:endParaRPr lang="en-MY"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lgn="just">
              <a:lnSpc>
                <a:spcPct val="115000"/>
              </a:lnSpc>
              <a:spcAft>
                <a:spcPts val="800"/>
              </a:spcAft>
              <a:buFont typeface="+mj-lt"/>
              <a:buAutoNum type="arabicPeriod"/>
            </a:pPr>
            <a:r>
              <a:rPr lang="en-US"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Private bills</a:t>
            </a: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Local and personal matters </a:t>
            </a:r>
            <a:endParaRPr lang="en-MY"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lgn="just">
              <a:lnSpc>
                <a:spcPct val="115000"/>
              </a:lnSpc>
              <a:spcAft>
                <a:spcPts val="800"/>
              </a:spcAft>
              <a:buFont typeface="+mj-lt"/>
              <a:buAutoNum type="arabicPeriod"/>
            </a:pPr>
            <a:r>
              <a:rPr lang="en-US" sz="20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Hybrid bills</a:t>
            </a: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Public bills but deal with private matters </a:t>
            </a:r>
            <a:endParaRPr lang="en-MY"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a:p>
            <a:pPr marL="457200" indent="-457200" algn="just">
              <a:buAutoNum type="arabicPeriod"/>
            </a:pPr>
            <a:endParaRPr lang="en-MY" sz="2000" dirty="0"/>
          </a:p>
        </p:txBody>
      </p:sp>
    </p:spTree>
    <p:extLst>
      <p:ext uri="{BB962C8B-B14F-4D97-AF65-F5344CB8AC3E}">
        <p14:creationId xmlns:p14="http://schemas.microsoft.com/office/powerpoint/2010/main" val="1109193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99392"/>
            <a:ext cx="10972800" cy="659640"/>
          </a:xfrm>
        </p:spPr>
        <p:txBody>
          <a:bodyPr>
            <a:noAutofit/>
          </a:bodyPr>
          <a:lstStyle/>
          <a:p>
            <a:r>
              <a:rPr lang="en-US" sz="4000" b="1" dirty="0"/>
              <a:t>POSITION IN THE PARLIAMENT</a:t>
            </a:r>
          </a:p>
        </p:txBody>
      </p:sp>
      <p:sp>
        <p:nvSpPr>
          <p:cNvPr id="3" name="Content Placeholder 2"/>
          <p:cNvSpPr>
            <a:spLocks noGrp="1"/>
          </p:cNvSpPr>
          <p:nvPr>
            <p:ph idx="1"/>
          </p:nvPr>
        </p:nvSpPr>
        <p:spPr>
          <a:xfrm>
            <a:off x="99391" y="759033"/>
            <a:ext cx="11837505" cy="5999576"/>
          </a:xfrm>
        </p:spPr>
        <p:txBody>
          <a:bodyPr>
            <a:normAutofit fontScale="77500" lnSpcReduction="20000"/>
          </a:bodyPr>
          <a:lstStyle/>
          <a:p>
            <a:pPr marL="342900" lvl="0" indent="-342900" algn="just">
              <a:lnSpc>
                <a:spcPct val="115000"/>
              </a:lnSpc>
              <a:spcAft>
                <a:spcPts val="800"/>
              </a:spcAft>
              <a:buFont typeface="Arial" panose="020B0604020202020204" pitchFamily="34" charset="0"/>
              <a:buChar char="●"/>
            </a:pPr>
            <a:r>
              <a:rPr lang="en-US" sz="2600" b="1" dirty="0">
                <a:solidFill>
                  <a:srgbClr val="000000"/>
                </a:solidFill>
                <a:effectLst/>
                <a:ea typeface="Noto Sans Symbols"/>
                <a:cs typeface="Noto Sans Symbols"/>
              </a:rPr>
              <a:t>Yang </a:t>
            </a:r>
            <a:r>
              <a:rPr lang="en-US" sz="2600" b="1" dirty="0" err="1">
                <a:solidFill>
                  <a:srgbClr val="000000"/>
                </a:solidFill>
                <a:effectLst/>
                <a:ea typeface="Noto Sans Symbols"/>
                <a:cs typeface="Noto Sans Symbols"/>
              </a:rPr>
              <a:t>Dipertua</a:t>
            </a:r>
            <a:r>
              <a:rPr lang="en-US" sz="2600" b="1" dirty="0">
                <a:solidFill>
                  <a:srgbClr val="000000"/>
                </a:solidFill>
                <a:effectLst/>
                <a:ea typeface="Noto Sans Symbols"/>
                <a:cs typeface="Noto Sans Symbols"/>
              </a:rPr>
              <a:t>/Speaker (of Both Houses)</a:t>
            </a:r>
            <a:endParaRPr lang="en-MY" sz="2600" b="1" dirty="0">
              <a:effectLst/>
              <a:ea typeface="Noto Sans Symbols"/>
              <a:cs typeface="Noto Sans Symbols"/>
            </a:endParaRPr>
          </a:p>
          <a:p>
            <a:pPr lvl="1" indent="-342900" algn="just">
              <a:lnSpc>
                <a:spcPct val="115000"/>
              </a:lnSpc>
              <a:spcAft>
                <a:spcPts val="800"/>
              </a:spcAft>
              <a:buFont typeface="Symbol" panose="05050102010706020507" pitchFamily="18" charset="2"/>
              <a:buChar char="-"/>
            </a:pPr>
            <a:r>
              <a:rPr lang="en-US" sz="2600" dirty="0">
                <a:solidFill>
                  <a:srgbClr val="000000"/>
                </a:solidFill>
                <a:effectLst/>
                <a:ea typeface="Times New Roman" panose="02020603050405020304" pitchFamily="18" charset="0"/>
                <a:cs typeface="Times New Roman" panose="02020603050405020304" pitchFamily="18" charset="0"/>
              </a:rPr>
              <a:t>Chairing the Parliament session/meeting</a:t>
            </a:r>
            <a:endParaRPr lang="en-MY" sz="2600" dirty="0">
              <a:effectLst/>
              <a:ea typeface="Times New Roman" panose="02020603050405020304" pitchFamily="18" charset="0"/>
              <a:cs typeface="Times New Roman" panose="02020603050405020304" pitchFamily="18" charset="0"/>
            </a:endParaRPr>
          </a:p>
          <a:p>
            <a:pPr marL="342900" lvl="0" indent="-342900" algn="just">
              <a:lnSpc>
                <a:spcPct val="115000"/>
              </a:lnSpc>
              <a:spcAft>
                <a:spcPts val="800"/>
              </a:spcAft>
              <a:buFont typeface="Arial" panose="020B0604020202020204" pitchFamily="34" charset="0"/>
              <a:buChar char="●"/>
            </a:pPr>
            <a:r>
              <a:rPr lang="en-US" sz="2600" b="1" dirty="0" err="1">
                <a:solidFill>
                  <a:srgbClr val="000000"/>
                </a:solidFill>
                <a:effectLst/>
                <a:ea typeface="Noto Sans Symbols"/>
                <a:cs typeface="Noto Sans Symbols"/>
              </a:rPr>
              <a:t>Timbalan</a:t>
            </a:r>
            <a:r>
              <a:rPr lang="en-US" sz="2600" b="1" dirty="0">
                <a:solidFill>
                  <a:srgbClr val="000000"/>
                </a:solidFill>
                <a:effectLst/>
                <a:ea typeface="Noto Sans Symbols"/>
                <a:cs typeface="Noto Sans Symbols"/>
              </a:rPr>
              <a:t> Yang </a:t>
            </a:r>
            <a:r>
              <a:rPr lang="en-US" sz="2600" b="1" dirty="0" err="1">
                <a:solidFill>
                  <a:srgbClr val="000000"/>
                </a:solidFill>
                <a:effectLst/>
                <a:ea typeface="Noto Sans Symbols"/>
                <a:cs typeface="Noto Sans Symbols"/>
              </a:rPr>
              <a:t>Dipertua</a:t>
            </a:r>
            <a:r>
              <a:rPr lang="en-US" sz="2600" b="1" dirty="0">
                <a:solidFill>
                  <a:srgbClr val="000000"/>
                </a:solidFill>
                <a:effectLst/>
                <a:ea typeface="Noto Sans Symbols"/>
                <a:cs typeface="Noto Sans Symbols"/>
              </a:rPr>
              <a:t>/Deputy Speaker (of both houses) </a:t>
            </a:r>
            <a:endParaRPr lang="en-MY" sz="2600" b="1" dirty="0">
              <a:effectLst/>
              <a:ea typeface="Noto Sans Symbols"/>
              <a:cs typeface="Noto Sans Symbols"/>
            </a:endParaRPr>
          </a:p>
          <a:p>
            <a:pPr lvl="1" indent="-342900" algn="just">
              <a:lnSpc>
                <a:spcPct val="115000"/>
              </a:lnSpc>
              <a:spcAft>
                <a:spcPts val="800"/>
              </a:spcAft>
              <a:buFont typeface="Symbol" panose="05050102010706020507" pitchFamily="18" charset="2"/>
              <a:buChar char="-"/>
            </a:pPr>
            <a:r>
              <a:rPr lang="en-US" sz="2600" dirty="0">
                <a:solidFill>
                  <a:srgbClr val="000000"/>
                </a:solidFill>
                <a:effectLst/>
                <a:ea typeface="Times New Roman" panose="02020603050405020304" pitchFamily="18" charset="0"/>
                <a:cs typeface="Times New Roman" panose="02020603050405020304" pitchFamily="18" charset="0"/>
              </a:rPr>
              <a:t>2 persons will take the place in the absence of the Speaker </a:t>
            </a:r>
            <a:endParaRPr lang="en-MY" sz="2600" dirty="0">
              <a:effectLst/>
              <a:ea typeface="Times New Roman" panose="02020603050405020304" pitchFamily="18" charset="0"/>
              <a:cs typeface="Times New Roman" panose="02020603050405020304" pitchFamily="18" charset="0"/>
            </a:endParaRPr>
          </a:p>
          <a:p>
            <a:pPr marL="342900" lvl="0" indent="-342900" algn="just">
              <a:lnSpc>
                <a:spcPct val="115000"/>
              </a:lnSpc>
              <a:spcAft>
                <a:spcPts val="800"/>
              </a:spcAft>
              <a:buFont typeface="Arial" panose="020B0604020202020204" pitchFamily="34" charset="0"/>
              <a:buChar char="●"/>
            </a:pPr>
            <a:r>
              <a:rPr lang="en-US" sz="2600" b="1" dirty="0">
                <a:solidFill>
                  <a:srgbClr val="000000"/>
                </a:solidFill>
                <a:effectLst/>
                <a:ea typeface="Noto Sans Symbols"/>
                <a:cs typeface="Noto Sans Symbols"/>
              </a:rPr>
              <a:t>Secretary </a:t>
            </a:r>
            <a:endParaRPr lang="en-MY" sz="2600" b="1" dirty="0">
              <a:effectLst/>
              <a:ea typeface="Noto Sans Symbols"/>
              <a:cs typeface="Noto Sans Symbols"/>
            </a:endParaRPr>
          </a:p>
          <a:p>
            <a:pPr lvl="1" indent="-342900" algn="just">
              <a:lnSpc>
                <a:spcPct val="115000"/>
              </a:lnSpc>
              <a:spcAft>
                <a:spcPts val="800"/>
              </a:spcAft>
              <a:buFont typeface="Symbol" panose="05050102010706020507" pitchFamily="18" charset="2"/>
              <a:buChar char="-"/>
            </a:pPr>
            <a:r>
              <a:rPr lang="en-US" sz="2600" dirty="0">
                <a:solidFill>
                  <a:srgbClr val="000000"/>
                </a:solidFill>
                <a:effectLst/>
                <a:ea typeface="Times New Roman" panose="02020603050405020304" pitchFamily="18" charset="0"/>
                <a:cs typeface="Times New Roman" panose="02020603050405020304" pitchFamily="18" charset="0"/>
              </a:rPr>
              <a:t>Head of Administration, managing the session in the Parliament </a:t>
            </a:r>
            <a:endParaRPr lang="en-MY" sz="2600" dirty="0">
              <a:effectLst/>
              <a:ea typeface="Times New Roman" panose="02020603050405020304" pitchFamily="18" charset="0"/>
              <a:cs typeface="Times New Roman" panose="02020603050405020304" pitchFamily="18" charset="0"/>
            </a:endParaRPr>
          </a:p>
          <a:p>
            <a:pPr marL="342900" lvl="0" indent="-342900" algn="just">
              <a:lnSpc>
                <a:spcPct val="115000"/>
              </a:lnSpc>
              <a:spcAft>
                <a:spcPts val="800"/>
              </a:spcAft>
              <a:buFont typeface="Arial" panose="020B0604020202020204" pitchFamily="34" charset="0"/>
              <a:buChar char="●"/>
            </a:pPr>
            <a:r>
              <a:rPr lang="en-US" sz="2600" b="1" dirty="0">
                <a:solidFill>
                  <a:srgbClr val="000000"/>
                </a:solidFill>
                <a:effectLst/>
                <a:ea typeface="Noto Sans Symbols"/>
                <a:cs typeface="Noto Sans Symbols"/>
              </a:rPr>
              <a:t>Leader of Opposition</a:t>
            </a:r>
            <a:endParaRPr lang="en-MY" sz="2600" b="1" dirty="0">
              <a:effectLst/>
              <a:ea typeface="Noto Sans Symbols"/>
              <a:cs typeface="Noto Sans Symbols"/>
            </a:endParaRPr>
          </a:p>
          <a:p>
            <a:pPr lvl="1" indent="-342900" algn="just">
              <a:lnSpc>
                <a:spcPct val="115000"/>
              </a:lnSpc>
              <a:spcAft>
                <a:spcPts val="800"/>
              </a:spcAft>
              <a:buFont typeface="Symbol" panose="05050102010706020507" pitchFamily="18" charset="2"/>
              <a:buChar char="-"/>
            </a:pPr>
            <a:r>
              <a:rPr lang="en-US" sz="2600" dirty="0">
                <a:solidFill>
                  <a:srgbClr val="000000"/>
                </a:solidFill>
                <a:effectLst/>
                <a:ea typeface="Times New Roman" panose="02020603050405020304" pitchFamily="18" charset="0"/>
                <a:cs typeface="Times New Roman" panose="02020603050405020304" pitchFamily="18" charset="0"/>
              </a:rPr>
              <a:t>Appointed by the Opposition Party – among the MPs who won the election </a:t>
            </a:r>
            <a:endParaRPr lang="en-MY" sz="2600" dirty="0">
              <a:effectLst/>
              <a:ea typeface="Times New Roman" panose="02020603050405020304" pitchFamily="18" charset="0"/>
              <a:cs typeface="Times New Roman" panose="02020603050405020304" pitchFamily="18" charset="0"/>
            </a:endParaRPr>
          </a:p>
          <a:p>
            <a:pPr marL="342900" lvl="0" indent="-342900" algn="just">
              <a:lnSpc>
                <a:spcPct val="115000"/>
              </a:lnSpc>
              <a:spcAft>
                <a:spcPts val="800"/>
              </a:spcAft>
              <a:buFont typeface="Arial" panose="020B0604020202020204" pitchFamily="34" charset="0"/>
              <a:buChar char="●"/>
            </a:pPr>
            <a:r>
              <a:rPr lang="en-US" sz="2600" b="1" dirty="0">
                <a:solidFill>
                  <a:srgbClr val="000000"/>
                </a:solidFill>
                <a:effectLst/>
                <a:ea typeface="Noto Sans Symbols"/>
                <a:cs typeface="Noto Sans Symbols"/>
              </a:rPr>
              <a:t>Chief Whip </a:t>
            </a:r>
            <a:endParaRPr lang="en-MY" sz="2600" b="1" dirty="0">
              <a:effectLst/>
              <a:ea typeface="Noto Sans Symbols"/>
              <a:cs typeface="Noto Sans Symbols"/>
            </a:endParaRPr>
          </a:p>
          <a:p>
            <a:pPr lvl="1" indent="-342900" algn="just">
              <a:lnSpc>
                <a:spcPct val="115000"/>
              </a:lnSpc>
              <a:spcAft>
                <a:spcPts val="800"/>
              </a:spcAft>
              <a:buFont typeface="Symbol" panose="05050102010706020507" pitchFamily="18" charset="2"/>
              <a:buChar char="-"/>
            </a:pPr>
            <a:r>
              <a:rPr lang="en-US" sz="2600" dirty="0">
                <a:solidFill>
                  <a:srgbClr val="000000"/>
                </a:solidFill>
                <a:effectLst/>
                <a:ea typeface="Times New Roman" panose="02020603050405020304" pitchFamily="18" charset="0"/>
                <a:cs typeface="Times New Roman" panose="02020603050405020304" pitchFamily="18" charset="0"/>
              </a:rPr>
              <a:t>A Member of Parliament (MP) who is appointed to ensure each MP votes in accordance with their respective party line when necessary.</a:t>
            </a:r>
            <a:endParaRPr lang="en-MY" sz="2600" dirty="0">
              <a:effectLst/>
              <a:ea typeface="Times New Roman" panose="02020603050405020304" pitchFamily="18" charset="0"/>
              <a:cs typeface="Times New Roman" panose="02020603050405020304" pitchFamily="18" charset="0"/>
            </a:endParaRPr>
          </a:p>
          <a:p>
            <a:pPr marL="342900" lvl="0" indent="-342900" algn="just">
              <a:lnSpc>
                <a:spcPct val="115000"/>
              </a:lnSpc>
              <a:spcAft>
                <a:spcPts val="800"/>
              </a:spcAft>
              <a:buFont typeface="Arial" panose="020B0604020202020204" pitchFamily="34" charset="0"/>
              <a:buChar char="●"/>
            </a:pPr>
            <a:r>
              <a:rPr lang="en-US" sz="2600" b="1" dirty="0">
                <a:solidFill>
                  <a:srgbClr val="000000"/>
                </a:solidFill>
                <a:effectLst/>
                <a:ea typeface="Noto Sans Symbols"/>
                <a:cs typeface="Noto Sans Symbols"/>
              </a:rPr>
              <a:t>Head of session/meeting </a:t>
            </a:r>
            <a:endParaRPr lang="en-MY" sz="2600" b="1" dirty="0">
              <a:effectLst/>
              <a:ea typeface="Noto Sans Symbols"/>
              <a:cs typeface="Noto Sans Symbols"/>
            </a:endParaRPr>
          </a:p>
          <a:p>
            <a:pPr lvl="1" indent="-342900">
              <a:lnSpc>
                <a:spcPct val="115000"/>
              </a:lnSpc>
              <a:spcAft>
                <a:spcPts val="800"/>
              </a:spcAft>
              <a:buFont typeface="Symbol" panose="05050102010706020507" pitchFamily="18" charset="2"/>
              <a:buChar char="-"/>
            </a:pPr>
            <a:r>
              <a:rPr lang="en-US" sz="2600" dirty="0">
                <a:solidFill>
                  <a:srgbClr val="000000"/>
                </a:solidFill>
                <a:effectLst/>
                <a:ea typeface="Times New Roman" panose="02020603050405020304" pitchFamily="18" charset="0"/>
                <a:cs typeface="Times New Roman" panose="02020603050405020304" pitchFamily="18" charset="0"/>
              </a:rPr>
              <a:t>Head of the governing body – Prime Minister. He decides the date of the Parliament session </a:t>
            </a:r>
            <a:endParaRPr lang="en-MY" sz="2600" dirty="0">
              <a:effectLst/>
              <a:ea typeface="Times New Roman" panose="02020603050405020304" pitchFamily="18" charset="0"/>
              <a:cs typeface="Times New Roman" panose="02020603050405020304" pitchFamily="18" charset="0"/>
            </a:endParaRPr>
          </a:p>
          <a:p>
            <a:pPr lvl="2" indent="-342900" algn="just">
              <a:spcAft>
                <a:spcPts val="800"/>
              </a:spcAft>
              <a:buFont typeface="Symbol" panose="05050102010706020507" pitchFamily="18" charset="2"/>
              <a:buChar char="-"/>
            </a:pPr>
            <a:endParaRPr lang="en-MY"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9013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978" y="160336"/>
            <a:ext cx="12076043" cy="674551"/>
          </a:xfrm>
        </p:spPr>
        <p:txBody>
          <a:bodyPr>
            <a:normAutofit fontScale="90000"/>
          </a:bodyPr>
          <a:lstStyle/>
          <a:p>
            <a:r>
              <a:rPr lang="en-US" b="1" dirty="0"/>
              <a:t>SPEAKER/PRESIDENT OF DEWAN NEGARA (SENATE)</a:t>
            </a:r>
          </a:p>
        </p:txBody>
      </p:sp>
      <p:sp>
        <p:nvSpPr>
          <p:cNvPr id="3" name="Content Placeholder 2"/>
          <p:cNvSpPr>
            <a:spLocks noGrp="1"/>
          </p:cNvSpPr>
          <p:nvPr>
            <p:ph sz="half" idx="1"/>
          </p:nvPr>
        </p:nvSpPr>
        <p:spPr>
          <a:xfrm>
            <a:off x="311425" y="834887"/>
            <a:ext cx="5682975" cy="5744817"/>
          </a:xfrm>
          <a:solidFill>
            <a:schemeClr val="accent1">
              <a:lumMod val="20000"/>
              <a:lumOff val="80000"/>
            </a:schemeClr>
          </a:solidFill>
        </p:spPr>
        <p:txBody>
          <a:bodyPr>
            <a:normAutofit fontScale="70000" lnSpcReduction="20000"/>
          </a:bodyPr>
          <a:lstStyle/>
          <a:p>
            <a:pPr marL="342900" lvl="0" indent="-342900" algn="just">
              <a:spcAft>
                <a:spcPts val="800"/>
              </a:spcAft>
              <a:buFont typeface="Arial" panose="020B0604020202020204" pitchFamily="34" charset="0"/>
              <a:buChar char="•"/>
            </a:pPr>
            <a:r>
              <a:rPr lang="en-US" sz="2300" dirty="0">
                <a:effectLst/>
                <a:latin typeface="Arial" panose="020B0604020202020204" pitchFamily="34" charset="0"/>
                <a:ea typeface="Arial" panose="020B0604020202020204" pitchFamily="34" charset="0"/>
                <a:cs typeface="Arial" panose="020B0604020202020204" pitchFamily="34" charset="0"/>
              </a:rPr>
              <a:t>The President of The Senate must be a Member of the Senate. He must be a member of the Senate and is assisted by Deputy President which is also the Member of the Senate.</a:t>
            </a:r>
            <a:endParaRPr lang="en-MY" sz="2300" dirty="0">
              <a:effectLst/>
              <a:latin typeface="Arial" panose="020B0604020202020204" pitchFamily="34" charset="0"/>
              <a:ea typeface="Arial" panose="020B0604020202020204" pitchFamily="34" charset="0"/>
              <a:cs typeface="Arial" panose="020B0604020202020204" pitchFamily="34" charset="0"/>
            </a:endParaRPr>
          </a:p>
          <a:p>
            <a:pPr algn="just">
              <a:spcAft>
                <a:spcPts val="800"/>
              </a:spcAft>
            </a:pPr>
            <a:r>
              <a:rPr lang="en-US" sz="2300" b="1" u="sng" dirty="0">
                <a:effectLst/>
                <a:latin typeface="Times New Roman" panose="02020603050405020304" pitchFamily="18" charset="0"/>
                <a:ea typeface="Times New Roman" panose="02020603050405020304" pitchFamily="18" charset="0"/>
              </a:rPr>
              <a:t>Roles of the President </a:t>
            </a:r>
            <a:r>
              <a:rPr lang="en-US" sz="2300" dirty="0">
                <a:effectLst/>
                <a:latin typeface="Times New Roman" panose="02020603050405020304" pitchFamily="18" charset="0"/>
                <a:ea typeface="Times New Roman" panose="02020603050405020304" pitchFamily="18" charset="0"/>
              </a:rPr>
              <a:t>include :</a:t>
            </a:r>
            <a:endParaRPr lang="en-MY" sz="2300" dirty="0">
              <a:effectLst/>
              <a:latin typeface="Times New Roman" panose="02020603050405020304" pitchFamily="18" charset="0"/>
              <a:ea typeface="Times New Roman" panose="02020603050405020304" pitchFamily="18" charset="0"/>
            </a:endParaRPr>
          </a:p>
          <a:p>
            <a:pPr marL="742950" lvl="1" indent="-285750" algn="just">
              <a:spcAft>
                <a:spcPts val="800"/>
              </a:spcAft>
              <a:buFont typeface="Arial" panose="020B0604020202020204" pitchFamily="34" charset="0"/>
              <a:buChar char="•"/>
            </a:pPr>
            <a:r>
              <a:rPr lang="en-US" sz="2300" dirty="0">
                <a:effectLst/>
                <a:latin typeface="Arial" panose="020B0604020202020204" pitchFamily="34" charset="0"/>
                <a:ea typeface="Arial" panose="020B0604020202020204" pitchFamily="34" charset="0"/>
                <a:cs typeface="Arial" panose="020B0604020202020204" pitchFamily="34" charset="0"/>
              </a:rPr>
              <a:t>to keep order and ensure that debates run smoothly;</a:t>
            </a:r>
            <a:endParaRPr lang="en-MY" sz="23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300" dirty="0">
                <a:effectLst/>
                <a:latin typeface="Arial" panose="020B0604020202020204" pitchFamily="34" charset="0"/>
                <a:ea typeface="Arial" panose="020B0604020202020204" pitchFamily="34" charset="0"/>
                <a:cs typeface="Arial" panose="020B0604020202020204" pitchFamily="34" charset="0"/>
              </a:rPr>
              <a:t>to ensure the relevancy of the points raised during the debate; and</a:t>
            </a:r>
            <a:endParaRPr lang="en-MY" sz="23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300" dirty="0">
                <a:effectLst/>
                <a:latin typeface="Arial" panose="020B0604020202020204" pitchFamily="34" charset="0"/>
                <a:ea typeface="Arial" panose="020B0604020202020204" pitchFamily="34" charset="0"/>
                <a:cs typeface="Arial" panose="020B0604020202020204" pitchFamily="34" charset="0"/>
              </a:rPr>
              <a:t>to interpret the Standing Orders in case of disputes and the decision is final.</a:t>
            </a:r>
            <a:endParaRPr lang="en-MY" sz="23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300" dirty="0">
                <a:effectLst/>
                <a:latin typeface="Arial" panose="020B0604020202020204" pitchFamily="34" charset="0"/>
                <a:ea typeface="Arial" panose="020B0604020202020204" pitchFamily="34" charset="0"/>
                <a:cs typeface="Arial" panose="020B0604020202020204" pitchFamily="34" charset="0"/>
              </a:rPr>
              <a:t>The President and the Deputy hold office until he/she ceases to be a Senator.  </a:t>
            </a:r>
            <a:endParaRPr lang="en-MY" sz="23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300" dirty="0">
                <a:effectLst/>
                <a:latin typeface="Arial" panose="020B0604020202020204" pitchFamily="34" charset="0"/>
                <a:ea typeface="Arial" panose="020B0604020202020204" pitchFamily="34" charset="0"/>
                <a:cs typeface="Arial" panose="020B0604020202020204" pitchFamily="34" charset="0"/>
              </a:rPr>
              <a:t>Any person who wants to assume the post of the President of the Senate must not be a member of any State Legislative Assembly.</a:t>
            </a:r>
            <a:endParaRPr lang="en-MY" sz="2300" dirty="0">
              <a:effectLst/>
              <a:latin typeface="Arial" panose="020B0604020202020204" pitchFamily="34" charset="0"/>
              <a:ea typeface="Arial" panose="020B0604020202020204" pitchFamily="34" charset="0"/>
              <a:cs typeface="Arial" panose="020B0604020202020204" pitchFamily="34" charset="0"/>
            </a:endParaRPr>
          </a:p>
          <a:p>
            <a:pPr marL="0" indent="0">
              <a:buNone/>
            </a:pPr>
            <a:br>
              <a:rPr lang="en-US" sz="2000" dirty="0">
                <a:effectLst/>
                <a:latin typeface="Times New Roman" panose="02020603050405020304" pitchFamily="18" charset="0"/>
                <a:ea typeface="Times New Roman" panose="02020603050405020304" pitchFamily="18" charset="0"/>
              </a:rPr>
            </a:br>
            <a:endParaRPr lang="en-US" sz="2800" dirty="0"/>
          </a:p>
        </p:txBody>
      </p:sp>
      <p:sp>
        <p:nvSpPr>
          <p:cNvPr id="4" name="Content Placeholder 3">
            <a:extLst>
              <a:ext uri="{FF2B5EF4-FFF2-40B4-BE49-F238E27FC236}">
                <a16:creationId xmlns:a16="http://schemas.microsoft.com/office/drawing/2014/main" id="{ED05ABED-DEA8-3DD9-E91A-3A33C9BE840C}"/>
              </a:ext>
            </a:extLst>
          </p:cNvPr>
          <p:cNvSpPr>
            <a:spLocks noGrp="1"/>
          </p:cNvSpPr>
          <p:nvPr>
            <p:ph sz="half" idx="2"/>
          </p:nvPr>
        </p:nvSpPr>
        <p:spPr>
          <a:xfrm>
            <a:off x="6096001" y="834887"/>
            <a:ext cx="5936420" cy="5862777"/>
          </a:xfrm>
        </p:spPr>
        <p:txBody>
          <a:bodyPr>
            <a:normAutofit fontScale="70000" lnSpcReduction="20000"/>
          </a:bodyPr>
          <a:lstStyle/>
          <a:p>
            <a:pPr marL="0" indent="0" algn="ctr">
              <a:spcAft>
                <a:spcPts val="800"/>
              </a:spcAft>
              <a:buNone/>
            </a:pPr>
            <a:r>
              <a:rPr lang="en-US" sz="2300" b="1" u="sng" dirty="0">
                <a:effectLst/>
                <a:latin typeface="Times New Roman" panose="02020603050405020304" pitchFamily="18" charset="0"/>
                <a:ea typeface="Times New Roman" panose="02020603050405020304" pitchFamily="18" charset="0"/>
              </a:rPr>
              <a:t>SPEAKER OF </a:t>
            </a:r>
            <a:r>
              <a:rPr lang="en-US" sz="2300" b="1" i="1" u="sng" dirty="0">
                <a:effectLst/>
                <a:latin typeface="Times New Roman" panose="02020603050405020304" pitchFamily="18" charset="0"/>
                <a:ea typeface="Times New Roman" panose="02020603050405020304" pitchFamily="18" charset="0"/>
              </a:rPr>
              <a:t>DEWAN RAKYAT </a:t>
            </a:r>
            <a:endParaRPr lang="en-MY" sz="2300" dirty="0">
              <a:effectLst/>
              <a:latin typeface="Times New Roman" panose="02020603050405020304" pitchFamily="18" charset="0"/>
              <a:ea typeface="Times New Roman" panose="02020603050405020304" pitchFamily="18" charset="0"/>
            </a:endParaRPr>
          </a:p>
          <a:p>
            <a:pPr marL="0" indent="0" algn="ctr">
              <a:spcAft>
                <a:spcPts val="800"/>
              </a:spcAft>
              <a:buNone/>
            </a:pPr>
            <a:r>
              <a:rPr lang="en-US" sz="2300" b="1" u="sng" dirty="0">
                <a:effectLst/>
                <a:latin typeface="Times New Roman" panose="02020603050405020304" pitchFamily="18" charset="0"/>
                <a:ea typeface="Times New Roman" panose="02020603050405020304" pitchFamily="18" charset="0"/>
              </a:rPr>
              <a:t>(</a:t>
            </a:r>
            <a:r>
              <a:rPr lang="en-US" sz="2300" b="1" dirty="0">
                <a:effectLst/>
                <a:latin typeface="Times New Roman" panose="02020603050405020304" pitchFamily="18" charset="0"/>
                <a:ea typeface="Times New Roman" panose="02020603050405020304" pitchFamily="18" charset="0"/>
              </a:rPr>
              <a:t>HOUSE OF REPRESENTATIVE)</a:t>
            </a:r>
            <a:endParaRPr lang="en-MY" sz="2300" b="1" dirty="0">
              <a:effectLst/>
              <a:latin typeface="Times New Roman" panose="02020603050405020304" pitchFamily="18" charset="0"/>
              <a:ea typeface="Times New Roman" panose="02020603050405020304" pitchFamily="18" charset="0"/>
            </a:endParaRPr>
          </a:p>
          <a:p>
            <a:pPr lvl="1" indent="-342900" algn="just">
              <a:spcAft>
                <a:spcPts val="800"/>
              </a:spcAft>
              <a:buFont typeface="Arial" panose="020B0604020202020204" pitchFamily="34" charset="0"/>
              <a:buChar char="•"/>
            </a:pPr>
            <a:r>
              <a:rPr lang="en-US" sz="2300" dirty="0">
                <a:effectLst/>
                <a:latin typeface="Arial" panose="020B0604020202020204" pitchFamily="34" charset="0"/>
                <a:ea typeface="Arial" panose="020B0604020202020204" pitchFamily="34" charset="0"/>
                <a:cs typeface="Arial" panose="020B0604020202020204" pitchFamily="34" charset="0"/>
              </a:rPr>
              <a:t>Speaker may be a member of the House or a non-member who is qualified for election into the House. </a:t>
            </a:r>
            <a:endParaRPr lang="en-MY" sz="23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300" dirty="0">
                <a:effectLst/>
                <a:latin typeface="Arial" panose="020B0604020202020204" pitchFamily="34" charset="0"/>
                <a:ea typeface="Arial" panose="020B0604020202020204" pitchFamily="34" charset="0"/>
                <a:cs typeface="Arial" panose="020B0604020202020204" pitchFamily="34" charset="0"/>
              </a:rPr>
              <a:t>The speaker cannot vote if he is appointed among non-member</a:t>
            </a:r>
            <a:endParaRPr lang="en-MY" sz="23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300" dirty="0">
                <a:effectLst/>
                <a:latin typeface="Arial" panose="020B0604020202020204" pitchFamily="34" charset="0"/>
                <a:ea typeface="Arial" panose="020B0604020202020204" pitchFamily="34" charset="0"/>
                <a:cs typeface="Arial" panose="020B0604020202020204" pitchFamily="34" charset="0"/>
              </a:rPr>
              <a:t>The Deputy must among the member of the House </a:t>
            </a:r>
            <a:endParaRPr lang="en-MY" sz="2300" dirty="0">
              <a:effectLst/>
              <a:latin typeface="Arial" panose="020B0604020202020204" pitchFamily="34" charset="0"/>
              <a:ea typeface="Arial" panose="020B0604020202020204" pitchFamily="34" charset="0"/>
              <a:cs typeface="Arial" panose="020B0604020202020204" pitchFamily="34" charset="0"/>
            </a:endParaRPr>
          </a:p>
          <a:p>
            <a:pPr marL="0" indent="0" algn="just">
              <a:spcAft>
                <a:spcPts val="800"/>
              </a:spcAft>
              <a:buNone/>
            </a:pPr>
            <a:r>
              <a:rPr lang="en-US" sz="2300" b="1" dirty="0">
                <a:effectLst/>
                <a:latin typeface="Times New Roman" panose="02020603050405020304" pitchFamily="18" charset="0"/>
                <a:ea typeface="Times New Roman" panose="02020603050405020304" pitchFamily="18" charset="0"/>
              </a:rPr>
              <a:t>Functions of the Speaker:</a:t>
            </a:r>
            <a:endParaRPr lang="en-MY" sz="2300" b="1" dirty="0">
              <a:effectLst/>
              <a:latin typeface="Times New Roman" panose="02020603050405020304" pitchFamily="18" charset="0"/>
              <a:ea typeface="Times New Roman" panose="02020603050405020304" pitchFamily="18" charset="0"/>
            </a:endParaRPr>
          </a:p>
          <a:p>
            <a:pPr lvl="1" indent="-342900" algn="just">
              <a:spcAft>
                <a:spcPts val="800"/>
              </a:spcAft>
              <a:buFont typeface="Arial" panose="020B0604020202020204" pitchFamily="34" charset="0"/>
              <a:buChar char="•"/>
            </a:pPr>
            <a:r>
              <a:rPr lang="en-US" sz="2300" dirty="0">
                <a:effectLst/>
                <a:latin typeface="Arial" panose="020B0604020202020204" pitchFamily="34" charset="0"/>
                <a:ea typeface="Arial" panose="020B0604020202020204" pitchFamily="34" charset="0"/>
                <a:cs typeface="Arial" panose="020B0604020202020204" pitchFamily="34" charset="0"/>
              </a:rPr>
              <a:t>to be responsible for maintaining order in the House</a:t>
            </a:r>
            <a:endParaRPr lang="en-MY" sz="23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300" dirty="0">
                <a:effectLst/>
                <a:latin typeface="Arial" panose="020B0604020202020204" pitchFamily="34" charset="0"/>
                <a:ea typeface="Arial" panose="020B0604020202020204" pitchFamily="34" charset="0"/>
                <a:cs typeface="Arial" panose="020B0604020202020204" pitchFamily="34" charset="0"/>
              </a:rPr>
              <a:t>to ensure that relevancy is observed during debates</a:t>
            </a:r>
            <a:endParaRPr lang="en-MY" sz="23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300" dirty="0">
                <a:effectLst/>
                <a:latin typeface="Arial" panose="020B0604020202020204" pitchFamily="34" charset="0"/>
                <a:ea typeface="Arial" panose="020B0604020202020204" pitchFamily="34" charset="0"/>
                <a:cs typeface="Arial" panose="020B0604020202020204" pitchFamily="34" charset="0"/>
              </a:rPr>
              <a:t> to interpret the Standing Orders in case of disputes</a:t>
            </a:r>
            <a:endParaRPr lang="en-MY" sz="2300" dirty="0">
              <a:effectLst/>
              <a:latin typeface="Arial" panose="020B0604020202020204" pitchFamily="34" charset="0"/>
              <a:ea typeface="Arial" panose="020B0604020202020204" pitchFamily="34" charset="0"/>
              <a:cs typeface="Arial" panose="020B0604020202020204" pitchFamily="34" charset="0"/>
            </a:endParaRPr>
          </a:p>
          <a:p>
            <a:pPr marL="0" indent="0" algn="just">
              <a:spcAft>
                <a:spcPts val="800"/>
              </a:spcAft>
              <a:buNone/>
            </a:pPr>
            <a:r>
              <a:rPr lang="en-US" sz="2300" b="1" dirty="0">
                <a:effectLst/>
                <a:latin typeface="Times New Roman" panose="02020603050405020304" pitchFamily="18" charset="0"/>
                <a:ea typeface="Times New Roman" panose="02020603050405020304" pitchFamily="18" charset="0"/>
              </a:rPr>
              <a:t>The Speaker may vacant his office in the following cases:</a:t>
            </a:r>
            <a:endParaRPr lang="en-MY" sz="2300" b="1" dirty="0">
              <a:effectLst/>
              <a:latin typeface="Times New Roman" panose="02020603050405020304" pitchFamily="18" charset="0"/>
              <a:ea typeface="Times New Roman" panose="02020603050405020304" pitchFamily="18" charset="0"/>
            </a:endParaRPr>
          </a:p>
          <a:p>
            <a:pPr lvl="1" indent="-342900" algn="just">
              <a:spcAft>
                <a:spcPts val="800"/>
              </a:spcAft>
              <a:buFont typeface="Arial" panose="020B0604020202020204" pitchFamily="34" charset="0"/>
              <a:buChar char="•"/>
            </a:pPr>
            <a:r>
              <a:rPr lang="en-US" sz="2300" dirty="0">
                <a:effectLst/>
                <a:latin typeface="Arial" panose="020B0604020202020204" pitchFamily="34" charset="0"/>
                <a:ea typeface="Arial" panose="020B0604020202020204" pitchFamily="34" charset="0"/>
                <a:cs typeface="Arial" panose="020B0604020202020204" pitchFamily="34" charset="0"/>
              </a:rPr>
              <a:t>when the House first meets after a general election</a:t>
            </a:r>
            <a:endParaRPr lang="en-MY" sz="23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300" dirty="0">
                <a:effectLst/>
                <a:latin typeface="Arial" panose="020B0604020202020204" pitchFamily="34" charset="0"/>
                <a:ea typeface="Arial" panose="020B0604020202020204" pitchFamily="34" charset="0"/>
                <a:cs typeface="Arial" panose="020B0604020202020204" pitchFamily="34" charset="0"/>
              </a:rPr>
              <a:t>on ceasing to be a member of the House in the case of an elected MP</a:t>
            </a:r>
            <a:endParaRPr lang="en-MY" sz="23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300" dirty="0">
                <a:effectLst/>
                <a:latin typeface="Arial" panose="020B0604020202020204" pitchFamily="34" charset="0"/>
                <a:ea typeface="Arial" panose="020B0604020202020204" pitchFamily="34" charset="0"/>
                <a:cs typeface="Arial" panose="020B0604020202020204" pitchFamily="34" charset="0"/>
              </a:rPr>
              <a:t>if at any time the House resolves that the Speaker vacant his office</a:t>
            </a:r>
            <a:endParaRPr lang="en-MY" sz="2300" dirty="0">
              <a:effectLst/>
              <a:latin typeface="Arial" panose="020B0604020202020204" pitchFamily="34" charset="0"/>
              <a:ea typeface="Arial" panose="020B0604020202020204" pitchFamily="34" charset="0"/>
              <a:cs typeface="Arial" panose="020B0604020202020204" pitchFamily="34" charset="0"/>
            </a:endParaRPr>
          </a:p>
          <a:p>
            <a:pPr marL="0" indent="0">
              <a:buNone/>
            </a:pPr>
            <a:endParaRPr lang="en-MY" sz="1800" dirty="0"/>
          </a:p>
        </p:txBody>
      </p:sp>
    </p:spTree>
    <p:extLst>
      <p:ext uri="{BB962C8B-B14F-4D97-AF65-F5344CB8AC3E}">
        <p14:creationId xmlns:p14="http://schemas.microsoft.com/office/powerpoint/2010/main" val="3997074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17">
            <a:extLst>
              <a:ext uri="{FF2B5EF4-FFF2-40B4-BE49-F238E27FC236}">
                <a16:creationId xmlns:a16="http://schemas.microsoft.com/office/drawing/2014/main" id="{6041E4B0-7850-8D08-80D2-149EB12520B6}"/>
              </a:ext>
            </a:extLst>
          </p:cNvPr>
          <p:cNvSpPr>
            <a:spLocks noGrp="1"/>
          </p:cNvSpPr>
          <p:nvPr>
            <p:ph idx="1"/>
          </p:nvPr>
        </p:nvSpPr>
        <p:spPr>
          <a:xfrm>
            <a:off x="208722" y="308113"/>
            <a:ext cx="11817626" cy="6341165"/>
          </a:xfrm>
        </p:spPr>
        <p:txBody>
          <a:bodyPr>
            <a:normAutofit lnSpcReduction="10000"/>
          </a:bodyPr>
          <a:lstStyle/>
          <a:p>
            <a:pPr marL="0" indent="0" algn="ctr">
              <a:spcAft>
                <a:spcPts val="800"/>
              </a:spcAft>
              <a:buNone/>
            </a:pPr>
            <a:r>
              <a:rPr lang="en-US" sz="2000" b="1" dirty="0">
                <a:effectLst/>
                <a:latin typeface="Times New Roman" panose="02020603050405020304" pitchFamily="18" charset="0"/>
                <a:ea typeface="Times New Roman" panose="02020603050405020304" pitchFamily="18" charset="0"/>
              </a:rPr>
              <a:t>THE PARLIAMENT’S SESSION/MEETING</a:t>
            </a:r>
            <a:endParaRPr lang="en-MY" sz="20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The official opening of Parliament session by </a:t>
            </a:r>
            <a:r>
              <a:rPr lang="en-US" sz="1800" i="1" dirty="0">
                <a:effectLst/>
                <a:latin typeface="Arial" panose="020B0604020202020204" pitchFamily="34" charset="0"/>
                <a:ea typeface="Arial" panose="020B0604020202020204" pitchFamily="34" charset="0"/>
                <a:cs typeface="Arial" panose="020B0604020202020204" pitchFamily="34" charset="0"/>
              </a:rPr>
              <a:t>Yang di-</a:t>
            </a:r>
            <a:r>
              <a:rPr lang="en-US" sz="1800" i="1" dirty="0" err="1">
                <a:effectLst/>
                <a:latin typeface="Arial" panose="020B0604020202020204" pitchFamily="34" charset="0"/>
                <a:ea typeface="Arial" panose="020B0604020202020204" pitchFamily="34" charset="0"/>
                <a:cs typeface="Arial" panose="020B0604020202020204" pitchFamily="34" charset="0"/>
              </a:rPr>
              <a:t>Pertuan</a:t>
            </a:r>
            <a:r>
              <a:rPr lang="en-US" sz="1800" i="1" dirty="0">
                <a:effectLst/>
                <a:latin typeface="Arial" panose="020B0604020202020204" pitchFamily="34" charset="0"/>
                <a:ea typeface="Arial" panose="020B0604020202020204" pitchFamily="34" charset="0"/>
                <a:cs typeface="Arial" panose="020B0604020202020204" pitchFamily="34" charset="0"/>
              </a:rPr>
              <a:t> </a:t>
            </a:r>
            <a:r>
              <a:rPr lang="en-US" sz="1800" i="1" dirty="0" err="1">
                <a:effectLst/>
                <a:latin typeface="Arial" panose="020B0604020202020204" pitchFamily="34" charset="0"/>
                <a:ea typeface="Arial" panose="020B0604020202020204" pitchFamily="34" charset="0"/>
                <a:cs typeface="Arial" panose="020B0604020202020204" pitchFamily="34" charset="0"/>
              </a:rPr>
              <a:t>Agong</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Must call for a parliament meeting within 120 days after it has been dissolved</a:t>
            </a:r>
            <a:endParaRPr lang="en-MY"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Budget session</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Annually at the final week of October</a:t>
            </a:r>
            <a:endParaRPr lang="en-MY"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Strategy and financial plan </a:t>
            </a:r>
            <a:endParaRPr lang="en-MY" dirty="0">
              <a:effectLst/>
              <a:latin typeface="Arial" panose="020B0604020202020204" pitchFamily="34" charset="0"/>
              <a:ea typeface="Arial" panose="020B0604020202020204" pitchFamily="34" charset="0"/>
              <a:cs typeface="Arial" panose="020B0604020202020204" pitchFamily="34" charset="0"/>
            </a:endParaRPr>
          </a:p>
          <a:p>
            <a:pPr marL="0" indent="0" algn="just">
              <a:spcAft>
                <a:spcPts val="800"/>
              </a:spcAft>
              <a:buNone/>
            </a:pPr>
            <a:endParaRPr lang="en-MY" sz="1200" dirty="0">
              <a:effectLst/>
              <a:latin typeface="Times New Roman" panose="02020603050405020304" pitchFamily="18" charset="0"/>
              <a:ea typeface="Times New Roman" panose="02020603050405020304" pitchFamily="18" charset="0"/>
            </a:endParaRPr>
          </a:p>
          <a:p>
            <a:pPr marL="0" indent="0" algn="ctr">
              <a:spcAft>
                <a:spcPts val="800"/>
              </a:spcAft>
              <a:buNone/>
            </a:pPr>
            <a:r>
              <a:rPr lang="en-US" b="1" dirty="0">
                <a:effectLst/>
                <a:latin typeface="Times New Roman" panose="02020603050405020304" pitchFamily="18" charset="0"/>
                <a:ea typeface="Times New Roman" panose="02020603050405020304" pitchFamily="18" charset="0"/>
              </a:rPr>
              <a:t>PARLIAMENTARY PRIVILIGES</a:t>
            </a:r>
            <a:endParaRPr lang="en-MY" b="1"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Under the Article 63 Federal Constitution and </a:t>
            </a:r>
            <a:r>
              <a:rPr lang="en-US" sz="1800" dirty="0" err="1">
                <a:effectLst/>
                <a:latin typeface="Arial" panose="020B0604020202020204" pitchFamily="34" charset="0"/>
                <a:ea typeface="Arial" panose="020B0604020202020204" pitchFamily="34" charset="0"/>
                <a:cs typeface="Arial" panose="020B0604020202020204" pitchFamily="34" charset="0"/>
              </a:rPr>
              <a:t>and</a:t>
            </a:r>
            <a:r>
              <a:rPr lang="en-US" sz="1800" dirty="0">
                <a:effectLst/>
                <a:latin typeface="Arial" panose="020B0604020202020204" pitchFamily="34" charset="0"/>
                <a:ea typeface="Arial" panose="020B0604020202020204" pitchFamily="34" charset="0"/>
                <a:cs typeface="Arial" panose="020B0604020202020204" pitchFamily="34" charset="0"/>
              </a:rPr>
              <a:t>  Sections 3 and 7 of the Houses of Parliament (Privileges and Powers) Act 1952</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Parliamentary privilege refers to the rights and immunities of members of Parliament (both Dewan Negara and Dewan Rakyat) to fulfils their duty as the people representatives.</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Freedom of speech and debate​​​​</a:t>
            </a:r>
            <a:endParaRPr lang="en-MY"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Immunity of members from civil or criminal proceedings for anything done or said before the House</a:t>
            </a:r>
            <a:endParaRPr lang="en-MY" dirty="0">
              <a:effectLst/>
              <a:latin typeface="Arial" panose="020B0604020202020204" pitchFamily="34" charset="0"/>
              <a:ea typeface="Arial" panose="020B0604020202020204" pitchFamily="34" charset="0"/>
              <a:cs typeface="Arial" panose="020B0604020202020204" pitchFamily="34" charset="0"/>
            </a:endParaRPr>
          </a:p>
          <a:p>
            <a:endParaRPr lang="en-MY" dirty="0"/>
          </a:p>
        </p:txBody>
      </p:sp>
    </p:spTree>
    <p:extLst>
      <p:ext uri="{BB962C8B-B14F-4D97-AF65-F5344CB8AC3E}">
        <p14:creationId xmlns:p14="http://schemas.microsoft.com/office/powerpoint/2010/main" val="3195508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447C5C-A2EF-6A8F-24CC-F4C4D6ECD36F}"/>
              </a:ext>
            </a:extLst>
          </p:cNvPr>
          <p:cNvSpPr>
            <a:spLocks noGrp="1"/>
          </p:cNvSpPr>
          <p:nvPr>
            <p:ph idx="1"/>
          </p:nvPr>
        </p:nvSpPr>
        <p:spPr>
          <a:xfrm>
            <a:off x="357809" y="1321904"/>
            <a:ext cx="11598965" cy="5307496"/>
          </a:xfrm>
        </p:spPr>
        <p:txBody>
          <a:bodyPr>
            <a:normAutofit/>
          </a:bodyPr>
          <a:lstStyle/>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However, Article 63(4) also says that the privilege would not protect MPs if they’ve made seditious remarks or speech. Through amendments made after the May 13, 1969 riots, the privilege does not apply to any person charged with the Sedition Act 1948 and laws enacted under Article 10 (4) which protect the national language, the special position of the Malays and natives of Sabah and Sarawak and commenting on the position of the Yang di-</a:t>
            </a:r>
            <a:r>
              <a:rPr lang="en-US" sz="1800" dirty="0" err="1">
                <a:effectLst/>
                <a:latin typeface="Arial" panose="020B0604020202020204" pitchFamily="34" charset="0"/>
                <a:ea typeface="Arial" panose="020B0604020202020204" pitchFamily="34" charset="0"/>
                <a:cs typeface="Arial" panose="020B0604020202020204" pitchFamily="34" charset="0"/>
              </a:rPr>
              <a:t>Pertuan</a:t>
            </a:r>
            <a:r>
              <a:rPr lang="en-US" sz="1800" dirty="0">
                <a:effectLst/>
                <a:latin typeface="Arial" panose="020B0604020202020204" pitchFamily="34" charset="0"/>
                <a:ea typeface="Arial" panose="020B0604020202020204" pitchFamily="34" charset="0"/>
                <a:cs typeface="Arial" panose="020B0604020202020204" pitchFamily="34" charset="0"/>
              </a:rPr>
              <a:t> </a:t>
            </a:r>
            <a:r>
              <a:rPr lang="en-US" sz="1800" dirty="0" err="1">
                <a:effectLst/>
                <a:latin typeface="Arial" panose="020B0604020202020204" pitchFamily="34" charset="0"/>
                <a:ea typeface="Arial" panose="020B0604020202020204" pitchFamily="34" charset="0"/>
                <a:cs typeface="Arial" panose="020B0604020202020204" pitchFamily="34" charset="0"/>
              </a:rPr>
              <a:t>Agong</a:t>
            </a:r>
            <a:r>
              <a:rPr lang="en-US" sz="1800" dirty="0">
                <a:effectLst/>
                <a:latin typeface="Arial" panose="020B0604020202020204" pitchFamily="34" charset="0"/>
                <a:ea typeface="Arial" panose="020B0604020202020204" pitchFamily="34" charset="0"/>
                <a:cs typeface="Arial" panose="020B0604020202020204" pitchFamily="34" charset="0"/>
              </a:rPr>
              <a:t> and the Malay rulers.</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Federal Constitution under Article 63 states:</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(1) The validity of any proceedings in either House of Parliament or any committee thereof shall not be questioned in any court.</a:t>
            </a:r>
            <a:endParaRPr lang="en-MY"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(2) No person shall be liable to any proceedings in any court in respect of anything said or any vote given by him when taking part in any proceedings of either House of Parliament or any committee thereof.</a:t>
            </a:r>
            <a:endParaRPr lang="en-MY"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(3) No person shall be liable to any proceedings in any court in respect of anything published by or under the authority of either House of Parliament.</a:t>
            </a:r>
            <a:endParaRPr lang="en-MY" dirty="0">
              <a:effectLst/>
              <a:latin typeface="Arial" panose="020B0604020202020204" pitchFamily="34" charset="0"/>
              <a:ea typeface="Arial" panose="020B0604020202020204" pitchFamily="34" charset="0"/>
              <a:cs typeface="Arial" panose="020B0604020202020204" pitchFamily="34" charset="0"/>
            </a:endParaRPr>
          </a:p>
          <a:p>
            <a:pPr marL="0" indent="0">
              <a:buNone/>
            </a:pPr>
            <a:endParaRPr lang="en-MY" sz="1800" dirty="0"/>
          </a:p>
        </p:txBody>
      </p:sp>
    </p:spTree>
    <p:extLst>
      <p:ext uri="{BB962C8B-B14F-4D97-AF65-F5344CB8AC3E}">
        <p14:creationId xmlns:p14="http://schemas.microsoft.com/office/powerpoint/2010/main" val="1684279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6E95C-12FF-4D3C-8374-ED370A9AE484}"/>
              </a:ext>
            </a:extLst>
          </p:cNvPr>
          <p:cNvSpPr>
            <a:spLocks noGrp="1"/>
          </p:cNvSpPr>
          <p:nvPr>
            <p:ph type="title"/>
          </p:nvPr>
        </p:nvSpPr>
        <p:spPr>
          <a:xfrm>
            <a:off x="417443" y="452718"/>
            <a:ext cx="9633391" cy="859247"/>
          </a:xfrm>
        </p:spPr>
        <p:txBody>
          <a:bodyPr/>
          <a:lstStyle/>
          <a:p>
            <a:pPr algn="ctr"/>
            <a:r>
              <a:rPr lang="en-US" sz="3600" b="1" dirty="0">
                <a:effectLst>
                  <a:outerShdw blurRad="38100" dist="38100" dir="2700000" algn="tl">
                    <a:srgbClr val="000000">
                      <a:alpha val="43137"/>
                    </a:srgbClr>
                  </a:outerShdw>
                </a:effectLst>
              </a:rPr>
              <a:t>THE FUNCTION OF JUDICIARY</a:t>
            </a:r>
          </a:p>
        </p:txBody>
      </p:sp>
      <p:sp>
        <p:nvSpPr>
          <p:cNvPr id="6" name="Content Placeholder 5">
            <a:extLst>
              <a:ext uri="{FF2B5EF4-FFF2-40B4-BE49-F238E27FC236}">
                <a16:creationId xmlns:a16="http://schemas.microsoft.com/office/drawing/2014/main" id="{1A10FE49-C253-4256-B7D0-D48311AD821E}"/>
              </a:ext>
            </a:extLst>
          </p:cNvPr>
          <p:cNvSpPr>
            <a:spLocks noGrp="1"/>
          </p:cNvSpPr>
          <p:nvPr>
            <p:ph idx="1"/>
          </p:nvPr>
        </p:nvSpPr>
        <p:spPr>
          <a:xfrm>
            <a:off x="268358" y="1311966"/>
            <a:ext cx="11032434" cy="4936434"/>
          </a:xfrm>
        </p:spPr>
        <p:txBody>
          <a:bodyPr>
            <a:normAutofit/>
          </a:bodyPr>
          <a:lstStyle/>
          <a:p>
            <a:pPr marL="0" indent="0" algn="just">
              <a:buNone/>
            </a:pPr>
            <a:endParaRPr lang="en-MY" dirty="0"/>
          </a:p>
          <a:p>
            <a:pPr marL="0" indent="0" algn="just">
              <a:buNone/>
            </a:pPr>
            <a:r>
              <a:rPr lang="en-US" dirty="0"/>
              <a:t>•	Interpret and application of law</a:t>
            </a:r>
          </a:p>
          <a:p>
            <a:pPr marL="0" indent="0" algn="just">
              <a:buNone/>
            </a:pPr>
            <a:r>
              <a:rPr lang="en-US" dirty="0"/>
              <a:t>•	Judicial functions</a:t>
            </a:r>
          </a:p>
          <a:p>
            <a:pPr marL="0" indent="0" algn="just">
              <a:buNone/>
            </a:pPr>
            <a:r>
              <a:rPr lang="en-US" dirty="0"/>
              <a:t>•	To assist in delivering justice</a:t>
            </a:r>
          </a:p>
          <a:p>
            <a:pPr marL="0" indent="0" algn="just">
              <a:buNone/>
            </a:pPr>
            <a:r>
              <a:rPr lang="en-US" dirty="0"/>
              <a:t>•	To determine the facts of law</a:t>
            </a:r>
          </a:p>
          <a:p>
            <a:pPr marL="0" indent="0" algn="just">
              <a:buNone/>
            </a:pPr>
            <a:r>
              <a:rPr lang="en-US" dirty="0"/>
              <a:t>•	“Prosecution and defense</a:t>
            </a:r>
          </a:p>
          <a:p>
            <a:pPr marL="0" indent="0" algn="just">
              <a:buNone/>
            </a:pPr>
            <a:r>
              <a:rPr lang="en-US" dirty="0"/>
              <a:t>•	Guardianship of the constitution</a:t>
            </a:r>
          </a:p>
          <a:p>
            <a:pPr marL="0" indent="0" algn="just">
              <a:buNone/>
            </a:pPr>
            <a:r>
              <a:rPr lang="en-US" dirty="0"/>
              <a:t>•	Protector against the possible excesses of legislative and executive organs</a:t>
            </a:r>
          </a:p>
          <a:p>
            <a:pPr marL="0" indent="0" algn="just">
              <a:buNone/>
            </a:pPr>
            <a:r>
              <a:rPr lang="en-US" dirty="0"/>
              <a:t>•	Special Role in a Federation</a:t>
            </a:r>
          </a:p>
          <a:p>
            <a:pPr marL="0" indent="0" algn="just">
              <a:buNone/>
            </a:pPr>
            <a:r>
              <a:rPr lang="en-US" dirty="0"/>
              <a:t>•	Law-making role – court verdict/decision</a:t>
            </a:r>
          </a:p>
          <a:p>
            <a:pPr marL="0" indent="0" algn="just">
              <a:buNone/>
            </a:pPr>
            <a:endParaRPr lang="en-MY" dirty="0"/>
          </a:p>
        </p:txBody>
      </p:sp>
    </p:spTree>
    <p:extLst>
      <p:ext uri="{BB962C8B-B14F-4D97-AF65-F5344CB8AC3E}">
        <p14:creationId xmlns:p14="http://schemas.microsoft.com/office/powerpoint/2010/main" val="794449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CAD9A-15C1-42B3-BFD0-13A9EC962C6B}"/>
              </a:ext>
            </a:extLst>
          </p:cNvPr>
          <p:cNvSpPr>
            <a:spLocks noGrp="1"/>
          </p:cNvSpPr>
          <p:nvPr>
            <p:ph type="title"/>
          </p:nvPr>
        </p:nvSpPr>
        <p:spPr>
          <a:xfrm>
            <a:off x="1393638" y="149088"/>
            <a:ext cx="9404723" cy="822946"/>
          </a:xfrm>
        </p:spPr>
        <p:txBody>
          <a:bodyPr/>
          <a:lstStyle/>
          <a:p>
            <a:pPr algn="ctr"/>
            <a:r>
              <a:rPr lang="en-MY" b="1" dirty="0"/>
              <a:t>JUDICIARY IN MALAYSIA</a:t>
            </a:r>
          </a:p>
        </p:txBody>
      </p:sp>
      <p:sp>
        <p:nvSpPr>
          <p:cNvPr id="4" name="Content Placeholder 3">
            <a:extLst>
              <a:ext uri="{FF2B5EF4-FFF2-40B4-BE49-F238E27FC236}">
                <a16:creationId xmlns:a16="http://schemas.microsoft.com/office/drawing/2014/main" id="{1B25F48A-ECA0-4228-ABFC-A90E981D78F3}"/>
              </a:ext>
            </a:extLst>
          </p:cNvPr>
          <p:cNvSpPr>
            <a:spLocks noGrp="1"/>
          </p:cNvSpPr>
          <p:nvPr>
            <p:ph sz="half" idx="1"/>
          </p:nvPr>
        </p:nvSpPr>
        <p:spPr>
          <a:xfrm>
            <a:off x="318052" y="972035"/>
            <a:ext cx="11678478" cy="5736878"/>
          </a:xfrm>
        </p:spPr>
        <p:txBody>
          <a:bodyPr>
            <a:normAutofit/>
          </a:bodyPr>
          <a:lstStyle/>
          <a:p>
            <a:pPr marL="0" indent="0">
              <a:buNone/>
            </a:pPr>
            <a:endParaRPr lang="en-US" dirty="0"/>
          </a:p>
          <a:p>
            <a:pPr marL="0" indent="0">
              <a:buNone/>
            </a:pPr>
            <a:r>
              <a:rPr lang="en-US" dirty="0"/>
              <a:t>The MAIN function of the Judiciary is to ensure compliance with the Federal Constitution and to uphold justice in accordance with the laws of Malaysia.</a:t>
            </a:r>
          </a:p>
          <a:p>
            <a:pPr marL="0" indent="0">
              <a:buNone/>
            </a:pPr>
            <a:endParaRPr lang="en-US" dirty="0"/>
          </a:p>
          <a:p>
            <a:pPr>
              <a:buFont typeface="+mj-lt"/>
              <a:buAutoNum type="arabicPeriod"/>
            </a:pPr>
            <a:r>
              <a:rPr lang="en-US" dirty="0"/>
              <a:t>To adjudicate and resolve legal matters arising between individuals as well as individuals and the state </a:t>
            </a:r>
          </a:p>
          <a:p>
            <a:pPr>
              <a:buFont typeface="+mj-lt"/>
              <a:buAutoNum type="arabicPeriod"/>
            </a:pPr>
            <a:r>
              <a:rPr lang="en-US" dirty="0"/>
              <a:t>To interpret the laws of Malaysia (constitution, Acts, Enactment and Subsidiary). </a:t>
            </a:r>
          </a:p>
          <a:p>
            <a:pPr>
              <a:buFont typeface="+mj-lt"/>
              <a:buAutoNum type="arabicPeriod"/>
            </a:pPr>
            <a:r>
              <a:rPr lang="en-US" dirty="0"/>
              <a:t>To uphold and preserve the Federal Constitution</a:t>
            </a:r>
          </a:p>
          <a:p>
            <a:pPr>
              <a:buFont typeface="+mj-lt"/>
              <a:buAutoNum type="arabicPeriod"/>
            </a:pPr>
            <a:r>
              <a:rPr lang="en-US" dirty="0"/>
              <a:t>Protect the fundamental liberties of the people from the legal and power abuse.</a:t>
            </a:r>
          </a:p>
          <a:p>
            <a:pPr>
              <a:buFont typeface="+mj-lt"/>
              <a:buAutoNum type="arabicPeriod"/>
            </a:pPr>
            <a:r>
              <a:rPr lang="en-US" dirty="0"/>
              <a:t>Arbiter between Federal and State</a:t>
            </a:r>
          </a:p>
          <a:p>
            <a:pPr>
              <a:buFont typeface="+mj-lt"/>
              <a:buAutoNum type="arabicPeriod"/>
            </a:pPr>
            <a:r>
              <a:rPr lang="en-US" dirty="0"/>
              <a:t>Declare if there is any act of violation or excessive power</a:t>
            </a:r>
          </a:p>
          <a:p>
            <a:pPr>
              <a:buFont typeface="+mj-lt"/>
              <a:buAutoNum type="arabicPeriod"/>
            </a:pPr>
            <a:r>
              <a:rPr lang="en-US" dirty="0"/>
              <a:t>An administrator of justice in cases that occur in a ship or aircraft registered in Malaysia (although the event was happened in the international boundaries/spaces)</a:t>
            </a:r>
          </a:p>
          <a:p>
            <a:pPr marL="0" indent="0">
              <a:buNone/>
            </a:pPr>
            <a:endParaRPr lang="en-MY" dirty="0"/>
          </a:p>
        </p:txBody>
      </p:sp>
    </p:spTree>
    <p:extLst>
      <p:ext uri="{BB962C8B-B14F-4D97-AF65-F5344CB8AC3E}">
        <p14:creationId xmlns:p14="http://schemas.microsoft.com/office/powerpoint/2010/main" val="120726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82C7A-2CB2-038D-5605-E0E0ECA87369}"/>
              </a:ext>
            </a:extLst>
          </p:cNvPr>
          <p:cNvSpPr>
            <a:spLocks noGrp="1"/>
          </p:cNvSpPr>
          <p:nvPr>
            <p:ph type="title"/>
          </p:nvPr>
        </p:nvSpPr>
        <p:spPr>
          <a:xfrm>
            <a:off x="973121" y="45569"/>
            <a:ext cx="9404723" cy="637431"/>
          </a:xfrm>
        </p:spPr>
        <p:txBody>
          <a:bodyPr/>
          <a:lstStyle/>
          <a:p>
            <a:pPr algn="ctr"/>
            <a:r>
              <a:rPr lang="en-MY" sz="4000" b="1" dirty="0"/>
              <a:t>MALAYSIAN COURT SYSTEM</a:t>
            </a:r>
          </a:p>
        </p:txBody>
      </p:sp>
      <p:graphicFrame>
        <p:nvGraphicFramePr>
          <p:cNvPr id="7" name="Content Placeholder 6">
            <a:extLst>
              <a:ext uri="{FF2B5EF4-FFF2-40B4-BE49-F238E27FC236}">
                <a16:creationId xmlns:a16="http://schemas.microsoft.com/office/drawing/2014/main" id="{5DC80B09-17A9-1DA3-0F13-52D630BE2702}"/>
              </a:ext>
            </a:extLst>
          </p:cNvPr>
          <p:cNvGraphicFramePr>
            <a:graphicFrameLocks noGrp="1"/>
          </p:cNvGraphicFramePr>
          <p:nvPr>
            <p:ph idx="1"/>
            <p:extLst>
              <p:ext uri="{D42A27DB-BD31-4B8C-83A1-F6EECF244321}">
                <p14:modId xmlns:p14="http://schemas.microsoft.com/office/powerpoint/2010/main" val="2294618348"/>
              </p:ext>
            </p:extLst>
          </p:nvPr>
        </p:nvGraphicFramePr>
        <p:xfrm>
          <a:off x="347870" y="989529"/>
          <a:ext cx="11449878" cy="2433320"/>
        </p:xfrm>
        <a:graphic>
          <a:graphicData uri="http://schemas.openxmlformats.org/drawingml/2006/table">
            <a:tbl>
              <a:tblPr firstRow="1" bandRow="1">
                <a:tableStyleId>{5C22544A-7EE6-4342-B048-85BDC9FD1C3A}</a:tableStyleId>
              </a:tblPr>
              <a:tblGrid>
                <a:gridCol w="3816626">
                  <a:extLst>
                    <a:ext uri="{9D8B030D-6E8A-4147-A177-3AD203B41FA5}">
                      <a16:colId xmlns:a16="http://schemas.microsoft.com/office/drawing/2014/main" val="2479797954"/>
                    </a:ext>
                  </a:extLst>
                </a:gridCol>
                <a:gridCol w="3816626">
                  <a:extLst>
                    <a:ext uri="{9D8B030D-6E8A-4147-A177-3AD203B41FA5}">
                      <a16:colId xmlns:a16="http://schemas.microsoft.com/office/drawing/2014/main" val="1950286785"/>
                    </a:ext>
                  </a:extLst>
                </a:gridCol>
                <a:gridCol w="3816626">
                  <a:extLst>
                    <a:ext uri="{9D8B030D-6E8A-4147-A177-3AD203B41FA5}">
                      <a16:colId xmlns:a16="http://schemas.microsoft.com/office/drawing/2014/main" val="581886230"/>
                    </a:ext>
                  </a:extLst>
                </a:gridCol>
              </a:tblGrid>
              <a:tr h="370840">
                <a:tc>
                  <a:txBody>
                    <a:bodyPr/>
                    <a:lstStyle/>
                    <a:p>
                      <a:pPr algn="ctr"/>
                      <a:r>
                        <a:rPr lang="en-US" sz="1600" dirty="0"/>
                        <a:t>A.	Courts at Federal Level </a:t>
                      </a:r>
                      <a:endParaRPr lang="en-MY" sz="1600" dirty="0"/>
                    </a:p>
                  </a:txBody>
                  <a:tcPr/>
                </a:tc>
                <a:tc>
                  <a:txBody>
                    <a:bodyPr/>
                    <a:lstStyle/>
                    <a:p>
                      <a:pPr algn="ctr"/>
                      <a:r>
                        <a:rPr lang="en-US" sz="1600" dirty="0"/>
                        <a:t>B.	Courts at State Level </a:t>
                      </a:r>
                      <a:endParaRPr lang="en-MY" sz="1600" dirty="0"/>
                    </a:p>
                  </a:txBody>
                  <a:tcPr/>
                </a:tc>
                <a:tc>
                  <a:txBody>
                    <a:bodyPr/>
                    <a:lstStyle/>
                    <a:p>
                      <a:pPr algn="ctr"/>
                      <a:r>
                        <a:rPr lang="en-MY" sz="1600" dirty="0"/>
                        <a:t>C.	Special Court</a:t>
                      </a:r>
                    </a:p>
                  </a:txBody>
                  <a:tcPr/>
                </a:tc>
                <a:extLst>
                  <a:ext uri="{0D108BD9-81ED-4DB2-BD59-A6C34878D82A}">
                    <a16:rowId xmlns:a16="http://schemas.microsoft.com/office/drawing/2014/main" val="671174067"/>
                  </a:ext>
                </a:extLst>
              </a:tr>
              <a:tr h="370840">
                <a:tc>
                  <a:txBody>
                    <a:bodyPr/>
                    <a:lstStyle/>
                    <a:p>
                      <a:r>
                        <a:rPr lang="en-US" sz="1600" dirty="0"/>
                        <a:t>●	Federal Court </a:t>
                      </a:r>
                    </a:p>
                  </a:txBody>
                  <a:tcPr/>
                </a:tc>
                <a:tc>
                  <a:txBody>
                    <a:bodyPr/>
                    <a:lstStyle/>
                    <a:p>
                      <a:r>
                        <a:rPr lang="en-US" sz="1600" dirty="0"/>
                        <a:t>●	Session court </a:t>
                      </a:r>
                    </a:p>
                  </a:txBody>
                  <a:tcPr/>
                </a:tc>
                <a:tc>
                  <a:txBody>
                    <a:bodyPr/>
                    <a:lstStyle/>
                    <a:p>
                      <a:r>
                        <a:rPr lang="en-MY" sz="1600" dirty="0"/>
                        <a:t>●	Special Court for Royalty</a:t>
                      </a:r>
                    </a:p>
                  </a:txBody>
                  <a:tcPr/>
                </a:tc>
                <a:extLst>
                  <a:ext uri="{0D108BD9-81ED-4DB2-BD59-A6C34878D82A}">
                    <a16:rowId xmlns:a16="http://schemas.microsoft.com/office/drawing/2014/main" val="2278162413"/>
                  </a:ext>
                </a:extLst>
              </a:tr>
              <a:tr h="370840">
                <a:tc>
                  <a:txBody>
                    <a:bodyPr/>
                    <a:lstStyle/>
                    <a:p>
                      <a:r>
                        <a:rPr lang="en-US" sz="1600" dirty="0"/>
                        <a:t>●	Appeal Court </a:t>
                      </a:r>
                    </a:p>
                  </a:txBody>
                  <a:tcPr/>
                </a:tc>
                <a:tc>
                  <a:txBody>
                    <a:bodyPr/>
                    <a:lstStyle/>
                    <a:p>
                      <a:r>
                        <a:rPr lang="en-MY" sz="1600" dirty="0"/>
                        <a:t>●	Magistrate court </a:t>
                      </a:r>
                    </a:p>
                  </a:txBody>
                  <a:tcPr/>
                </a:tc>
                <a:tc>
                  <a:txBody>
                    <a:bodyPr/>
                    <a:lstStyle/>
                    <a:p>
                      <a:r>
                        <a:rPr lang="en-MY" sz="1600" dirty="0"/>
                        <a:t>●	Children Court</a:t>
                      </a:r>
                    </a:p>
                  </a:txBody>
                  <a:tcPr/>
                </a:tc>
                <a:extLst>
                  <a:ext uri="{0D108BD9-81ED-4DB2-BD59-A6C34878D82A}">
                    <a16:rowId xmlns:a16="http://schemas.microsoft.com/office/drawing/2014/main" val="2996895684"/>
                  </a:ext>
                </a:extLst>
              </a:tr>
              <a:tr h="370840">
                <a:tc rowSpan="3">
                  <a:txBody>
                    <a:bodyPr/>
                    <a:lstStyle/>
                    <a:p>
                      <a:r>
                        <a:rPr lang="en-US" sz="1600" dirty="0"/>
                        <a:t>●	High Court (every state)</a:t>
                      </a:r>
                    </a:p>
                  </a:txBody>
                  <a:tcPr/>
                </a:tc>
                <a:tc>
                  <a:txBody>
                    <a:bodyPr/>
                    <a:lstStyle/>
                    <a:p>
                      <a:r>
                        <a:rPr lang="en-MY" sz="1600" dirty="0"/>
                        <a:t>●	Syariah court </a:t>
                      </a:r>
                    </a:p>
                  </a:txBody>
                  <a:tcPr/>
                </a:tc>
                <a:tc>
                  <a:txBody>
                    <a:bodyPr/>
                    <a:lstStyle/>
                    <a:p>
                      <a:r>
                        <a:rPr lang="en-MY" sz="1600" dirty="0"/>
                        <a:t>●	Industrial Court</a:t>
                      </a:r>
                    </a:p>
                  </a:txBody>
                  <a:tcPr/>
                </a:tc>
                <a:extLst>
                  <a:ext uri="{0D108BD9-81ED-4DB2-BD59-A6C34878D82A}">
                    <a16:rowId xmlns:a16="http://schemas.microsoft.com/office/drawing/2014/main" val="4089792823"/>
                  </a:ext>
                </a:extLst>
              </a:tr>
              <a:tr h="370840">
                <a:tc vMerge="1">
                  <a:txBody>
                    <a:bodyPr/>
                    <a:lstStyle/>
                    <a:p>
                      <a:endParaRPr lang="en-MY" dirty="0"/>
                    </a:p>
                  </a:txBody>
                  <a:tcPr/>
                </a:tc>
                <a:tc rowSpan="2">
                  <a:txBody>
                    <a:bodyPr/>
                    <a:lstStyle/>
                    <a:p>
                      <a:r>
                        <a:rPr lang="en-US" sz="1600" dirty="0"/>
                        <a:t>●	Native/Bumiputera Court (Special court) </a:t>
                      </a:r>
                    </a:p>
                  </a:txBody>
                  <a:tcPr/>
                </a:tc>
                <a:tc>
                  <a:txBody>
                    <a:bodyPr/>
                    <a:lstStyle/>
                    <a:p>
                      <a:r>
                        <a:rPr lang="en-MY" sz="1600" dirty="0"/>
                        <a:t>●	Military Court </a:t>
                      </a:r>
                    </a:p>
                  </a:txBody>
                  <a:tcPr/>
                </a:tc>
                <a:extLst>
                  <a:ext uri="{0D108BD9-81ED-4DB2-BD59-A6C34878D82A}">
                    <a16:rowId xmlns:a16="http://schemas.microsoft.com/office/drawing/2014/main" val="565000571"/>
                  </a:ext>
                </a:extLst>
              </a:tr>
              <a:tr h="216640">
                <a:tc vMerge="1">
                  <a:txBody>
                    <a:bodyPr/>
                    <a:lstStyle/>
                    <a:p>
                      <a:endParaRPr lang="en-MY" dirty="0"/>
                    </a:p>
                  </a:txBody>
                  <a:tcPr/>
                </a:tc>
                <a:tc vMerge="1">
                  <a:txBody>
                    <a:bodyPr/>
                    <a:lstStyle/>
                    <a:p>
                      <a:endParaRPr lang="en-MY"/>
                    </a:p>
                  </a:txBody>
                  <a:tcPr/>
                </a:tc>
                <a:tc>
                  <a:txBody>
                    <a:bodyPr/>
                    <a:lstStyle/>
                    <a:p>
                      <a:r>
                        <a:rPr lang="en-US" sz="1600" dirty="0"/>
                        <a:t>●	Bumiputera (Native) Court (Sabah and Sarawak)</a:t>
                      </a:r>
                      <a:endParaRPr lang="en-MY" sz="1600" dirty="0"/>
                    </a:p>
                  </a:txBody>
                  <a:tcPr/>
                </a:tc>
                <a:extLst>
                  <a:ext uri="{0D108BD9-81ED-4DB2-BD59-A6C34878D82A}">
                    <a16:rowId xmlns:a16="http://schemas.microsoft.com/office/drawing/2014/main" val="500733961"/>
                  </a:ext>
                </a:extLst>
              </a:tr>
            </a:tbl>
          </a:graphicData>
        </a:graphic>
      </p:graphicFrame>
      <p:pic>
        <p:nvPicPr>
          <p:cNvPr id="8" name="Picture 7">
            <a:extLst>
              <a:ext uri="{FF2B5EF4-FFF2-40B4-BE49-F238E27FC236}">
                <a16:creationId xmlns:a16="http://schemas.microsoft.com/office/drawing/2014/main" id="{C43B1E8D-7B5B-A227-00E5-CD6B78E2D800}"/>
              </a:ext>
            </a:extLst>
          </p:cNvPr>
          <p:cNvPicPr>
            <a:picLocks noChangeAspect="1"/>
          </p:cNvPicPr>
          <p:nvPr/>
        </p:nvPicPr>
        <p:blipFill>
          <a:blip r:embed="rId2"/>
          <a:stretch>
            <a:fillRect/>
          </a:stretch>
        </p:blipFill>
        <p:spPr>
          <a:xfrm>
            <a:off x="3441252" y="3545274"/>
            <a:ext cx="5146157" cy="3267157"/>
          </a:xfrm>
          <a:prstGeom prst="rect">
            <a:avLst/>
          </a:prstGeom>
        </p:spPr>
      </p:pic>
    </p:spTree>
    <p:extLst>
      <p:ext uri="{BB962C8B-B14F-4D97-AF65-F5344CB8AC3E}">
        <p14:creationId xmlns:p14="http://schemas.microsoft.com/office/powerpoint/2010/main" val="30486930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1181453-7459-E0DD-642D-CA05824B4C65}"/>
              </a:ext>
            </a:extLst>
          </p:cNvPr>
          <p:cNvSpPr>
            <a:spLocks noGrp="1"/>
          </p:cNvSpPr>
          <p:nvPr>
            <p:ph type="body" idx="1"/>
          </p:nvPr>
        </p:nvSpPr>
        <p:spPr>
          <a:xfrm>
            <a:off x="526808" y="169759"/>
            <a:ext cx="4396338" cy="576262"/>
          </a:xfrm>
        </p:spPr>
        <p:txBody>
          <a:bodyPr/>
          <a:lstStyle/>
          <a:p>
            <a:pPr algn="ctr"/>
            <a:r>
              <a:rPr lang="en-MY" sz="3200" b="1" dirty="0"/>
              <a:t>The Federal Court</a:t>
            </a:r>
          </a:p>
        </p:txBody>
      </p:sp>
      <p:sp>
        <p:nvSpPr>
          <p:cNvPr id="6" name="Content Placeholder 5">
            <a:extLst>
              <a:ext uri="{FF2B5EF4-FFF2-40B4-BE49-F238E27FC236}">
                <a16:creationId xmlns:a16="http://schemas.microsoft.com/office/drawing/2014/main" id="{75D44071-7E0B-D619-07B3-9D48102862FF}"/>
              </a:ext>
            </a:extLst>
          </p:cNvPr>
          <p:cNvSpPr>
            <a:spLocks noGrp="1"/>
          </p:cNvSpPr>
          <p:nvPr>
            <p:ph sz="half" idx="2"/>
          </p:nvPr>
        </p:nvSpPr>
        <p:spPr>
          <a:xfrm>
            <a:off x="159026" y="844826"/>
            <a:ext cx="6251713" cy="5923722"/>
          </a:xfrm>
          <a:solidFill>
            <a:schemeClr val="accent4"/>
          </a:solidFill>
        </p:spPr>
        <p:txBody>
          <a:bodyPr>
            <a:normAutofit fontScale="77500" lnSpcReduction="20000"/>
          </a:bodyPr>
          <a:lstStyle/>
          <a:p>
            <a:pPr marL="0" indent="0" algn="just">
              <a:spcAft>
                <a:spcPts val="800"/>
              </a:spcAft>
              <a:buNone/>
            </a:pPr>
            <a:r>
              <a:rPr lang="en-US" sz="2100" b="1" dirty="0">
                <a:effectLst/>
                <a:latin typeface="Times New Roman" panose="02020603050405020304" pitchFamily="18" charset="0"/>
                <a:ea typeface="Times New Roman" panose="02020603050405020304" pitchFamily="18" charset="0"/>
              </a:rPr>
              <a:t>Original Jurisdiction</a:t>
            </a:r>
            <a:endParaRPr lang="en-MY" sz="2100" dirty="0">
              <a:effectLst/>
              <a:latin typeface="Times New Roman" panose="02020603050405020304" pitchFamily="18" charset="0"/>
              <a:ea typeface="Times New Roman" panose="02020603050405020304" pitchFamily="18" charset="0"/>
            </a:endParaRPr>
          </a:p>
          <a:p>
            <a:pPr algn="just">
              <a:spcAft>
                <a:spcPts val="800"/>
              </a:spcAft>
            </a:pPr>
            <a:r>
              <a:rPr lang="en-US" sz="2100" dirty="0">
                <a:effectLst/>
                <a:latin typeface="Times New Roman" panose="02020603050405020304" pitchFamily="18" charset="0"/>
                <a:ea typeface="Times New Roman" panose="02020603050405020304" pitchFamily="18" charset="0"/>
              </a:rPr>
              <a:t>To determine :</a:t>
            </a:r>
            <a:endParaRPr lang="en-MY" sz="2100" dirty="0">
              <a:effectLst/>
              <a:latin typeface="Times New Roman" panose="02020603050405020304" pitchFamily="18" charset="0"/>
              <a:ea typeface="Times New Roman" panose="02020603050405020304" pitchFamily="18" charset="0"/>
            </a:endParaRPr>
          </a:p>
          <a:p>
            <a:pPr lvl="1" algn="just">
              <a:spcAft>
                <a:spcPts val="800"/>
              </a:spcAft>
            </a:pPr>
            <a:r>
              <a:rPr lang="en-US" sz="2100" dirty="0">
                <a:effectLst/>
                <a:latin typeface="Times New Roman" panose="02020603050405020304" pitchFamily="18" charset="0"/>
                <a:ea typeface="Times New Roman" panose="02020603050405020304" pitchFamily="18" charset="0"/>
              </a:rPr>
              <a:t>a)  the validity of any law made by Parliament or the Legislature of any issues</a:t>
            </a:r>
            <a:endParaRPr lang="en-MY" sz="2100" dirty="0">
              <a:effectLst/>
              <a:latin typeface="Times New Roman" panose="02020603050405020304" pitchFamily="18" charset="0"/>
              <a:ea typeface="Times New Roman" panose="02020603050405020304" pitchFamily="18" charset="0"/>
            </a:endParaRPr>
          </a:p>
          <a:p>
            <a:pPr lvl="1" algn="just">
              <a:spcAft>
                <a:spcPts val="800"/>
              </a:spcAft>
            </a:pPr>
            <a:r>
              <a:rPr lang="en-US" sz="2100" dirty="0">
                <a:effectLst/>
                <a:latin typeface="Times New Roman" panose="02020603050405020304" pitchFamily="18" charset="0"/>
                <a:ea typeface="Times New Roman" panose="02020603050405020304" pitchFamily="18" charset="0"/>
              </a:rPr>
              <a:t>b) dispute on any other issues between the states  or between Federation and any State</a:t>
            </a:r>
            <a:endParaRPr lang="en-MY" sz="2100" dirty="0">
              <a:effectLst/>
              <a:latin typeface="Times New Roman" panose="02020603050405020304" pitchFamily="18" charset="0"/>
              <a:ea typeface="Times New Roman" panose="02020603050405020304" pitchFamily="18" charset="0"/>
            </a:endParaRPr>
          </a:p>
          <a:p>
            <a:pPr algn="just">
              <a:spcAft>
                <a:spcPts val="800"/>
              </a:spcAft>
            </a:pPr>
            <a:r>
              <a:rPr lang="en-US" sz="2100" b="1" dirty="0">
                <a:effectLst/>
                <a:latin typeface="Times New Roman" panose="02020603050405020304" pitchFamily="18" charset="0"/>
                <a:ea typeface="Times New Roman" panose="02020603050405020304" pitchFamily="18" charset="0"/>
              </a:rPr>
              <a:t>Appellate Jurisdiction</a:t>
            </a:r>
            <a:endParaRPr lang="en-MY" sz="2100" dirty="0">
              <a:effectLst/>
              <a:latin typeface="Times New Roman" panose="02020603050405020304" pitchFamily="18" charset="0"/>
              <a:ea typeface="Times New Roman" panose="02020603050405020304" pitchFamily="18" charset="0"/>
            </a:endParaRPr>
          </a:p>
          <a:p>
            <a:pPr lvl="1" algn="just">
              <a:spcAft>
                <a:spcPts val="800"/>
              </a:spcAft>
            </a:pPr>
            <a:r>
              <a:rPr lang="en-US" sz="2100" dirty="0">
                <a:effectLst/>
                <a:latin typeface="Times New Roman" panose="02020603050405020304" pitchFamily="18" charset="0"/>
                <a:ea typeface="Times New Roman" panose="02020603050405020304" pitchFamily="18" charset="0"/>
              </a:rPr>
              <a:t>To hear appeals from the Court of Appeal and the High Court</a:t>
            </a:r>
            <a:endParaRPr lang="en-MY" sz="2100" dirty="0">
              <a:effectLst/>
              <a:latin typeface="Times New Roman" panose="02020603050405020304" pitchFamily="18" charset="0"/>
              <a:ea typeface="Times New Roman" panose="02020603050405020304" pitchFamily="18" charset="0"/>
            </a:endParaRPr>
          </a:p>
          <a:p>
            <a:pPr algn="just">
              <a:spcAft>
                <a:spcPts val="800"/>
              </a:spcAft>
            </a:pPr>
            <a:r>
              <a:rPr lang="en-US" sz="2100" b="1" dirty="0">
                <a:effectLst/>
                <a:latin typeface="Times New Roman" panose="02020603050405020304" pitchFamily="18" charset="0"/>
                <a:ea typeface="Times New Roman" panose="02020603050405020304" pitchFamily="18" charset="0"/>
              </a:rPr>
              <a:t>Revisionary Jurisdiction</a:t>
            </a:r>
            <a:r>
              <a:rPr lang="en-US" sz="2100" dirty="0">
                <a:effectLst/>
                <a:latin typeface="Times New Roman" panose="02020603050405020304" pitchFamily="18" charset="0"/>
                <a:ea typeface="Times New Roman" panose="02020603050405020304" pitchFamily="18" charset="0"/>
              </a:rPr>
              <a:t>:</a:t>
            </a:r>
            <a:endParaRPr lang="en-MY" sz="2100" dirty="0">
              <a:effectLst/>
              <a:latin typeface="Times New Roman" panose="02020603050405020304" pitchFamily="18" charset="0"/>
              <a:ea typeface="Times New Roman" panose="02020603050405020304" pitchFamily="18" charset="0"/>
            </a:endParaRPr>
          </a:p>
          <a:p>
            <a:pPr lvl="1" algn="just">
              <a:spcAft>
                <a:spcPts val="800"/>
              </a:spcAft>
            </a:pPr>
            <a:r>
              <a:rPr lang="en-US" sz="2100" dirty="0">
                <a:effectLst/>
                <a:latin typeface="Times New Roman" panose="02020603050405020304" pitchFamily="18" charset="0"/>
                <a:ea typeface="Times New Roman" panose="02020603050405020304" pitchFamily="18" charset="0"/>
              </a:rPr>
              <a:t>To determine any question arise before another the Court as to the effect of any provision under the Federal Constitution</a:t>
            </a:r>
            <a:endParaRPr lang="en-MY" sz="2100" dirty="0">
              <a:effectLst/>
              <a:latin typeface="Times New Roman" panose="02020603050405020304" pitchFamily="18" charset="0"/>
              <a:ea typeface="Times New Roman" panose="02020603050405020304" pitchFamily="18" charset="0"/>
            </a:endParaRPr>
          </a:p>
          <a:p>
            <a:pPr algn="just">
              <a:spcAft>
                <a:spcPts val="800"/>
              </a:spcAft>
            </a:pPr>
            <a:r>
              <a:rPr lang="en-US" sz="2100" b="1" dirty="0">
                <a:effectLst/>
                <a:latin typeface="Times New Roman" panose="02020603050405020304" pitchFamily="18" charset="0"/>
                <a:ea typeface="Times New Roman" panose="02020603050405020304" pitchFamily="18" charset="0"/>
              </a:rPr>
              <a:t>Advisory Jurisdiction</a:t>
            </a:r>
            <a:endParaRPr lang="en-MY" sz="2100" dirty="0">
              <a:effectLst/>
              <a:latin typeface="Times New Roman" panose="02020603050405020304" pitchFamily="18" charset="0"/>
              <a:ea typeface="Times New Roman" panose="02020603050405020304" pitchFamily="18" charset="0"/>
            </a:endParaRPr>
          </a:p>
          <a:p>
            <a:pPr lvl="1" algn="just">
              <a:spcAft>
                <a:spcPts val="800"/>
              </a:spcAft>
            </a:pPr>
            <a:r>
              <a:rPr lang="en-US" sz="2100" dirty="0">
                <a:effectLst/>
                <a:latin typeface="Times New Roman" panose="02020603050405020304" pitchFamily="18" charset="0"/>
                <a:ea typeface="Times New Roman" panose="02020603050405020304" pitchFamily="18" charset="0"/>
              </a:rPr>
              <a:t>The YDPA may refer to the Federal Court for its opinion or advices as the effect of any proviso of the Constitution which has arisen or appears to him likely to arise, and the Federal Court shall pronounce its opinion in open court of any question so referred to it.</a:t>
            </a:r>
            <a:endParaRPr lang="en-MY" sz="2100" dirty="0">
              <a:effectLst/>
              <a:latin typeface="Times New Roman" panose="02020603050405020304" pitchFamily="18" charset="0"/>
              <a:ea typeface="Times New Roman" panose="02020603050405020304" pitchFamily="18" charset="0"/>
            </a:endParaRPr>
          </a:p>
          <a:p>
            <a:pPr marL="0" indent="0">
              <a:buNone/>
            </a:pPr>
            <a:endParaRPr lang="en-MY" dirty="0"/>
          </a:p>
        </p:txBody>
      </p:sp>
      <p:sp>
        <p:nvSpPr>
          <p:cNvPr id="7" name="Text Placeholder 6">
            <a:extLst>
              <a:ext uri="{FF2B5EF4-FFF2-40B4-BE49-F238E27FC236}">
                <a16:creationId xmlns:a16="http://schemas.microsoft.com/office/drawing/2014/main" id="{90D8A984-D17D-F362-F19D-AE429F89157F}"/>
              </a:ext>
            </a:extLst>
          </p:cNvPr>
          <p:cNvSpPr>
            <a:spLocks noGrp="1"/>
          </p:cNvSpPr>
          <p:nvPr>
            <p:ph type="body" sz="quarter" idx="3"/>
          </p:nvPr>
        </p:nvSpPr>
        <p:spPr>
          <a:xfrm>
            <a:off x="6841435" y="457890"/>
            <a:ext cx="4396339" cy="506102"/>
          </a:xfrm>
        </p:spPr>
        <p:txBody>
          <a:bodyPr/>
          <a:lstStyle/>
          <a:p>
            <a:pPr algn="ctr"/>
            <a:endParaRPr lang="en-US" b="1" dirty="0"/>
          </a:p>
          <a:p>
            <a:pPr algn="ctr"/>
            <a:r>
              <a:rPr lang="en-US" sz="3200" b="1" dirty="0"/>
              <a:t>Appeal Court</a:t>
            </a:r>
            <a:endParaRPr lang="en-MY" sz="3200" b="1" dirty="0"/>
          </a:p>
        </p:txBody>
      </p:sp>
      <p:sp>
        <p:nvSpPr>
          <p:cNvPr id="8" name="Content Placeholder 7">
            <a:extLst>
              <a:ext uri="{FF2B5EF4-FFF2-40B4-BE49-F238E27FC236}">
                <a16:creationId xmlns:a16="http://schemas.microsoft.com/office/drawing/2014/main" id="{68991973-7BCF-FEFF-6621-4E28A9286699}"/>
              </a:ext>
            </a:extLst>
          </p:cNvPr>
          <p:cNvSpPr>
            <a:spLocks noGrp="1"/>
          </p:cNvSpPr>
          <p:nvPr>
            <p:ph sz="quarter" idx="4"/>
          </p:nvPr>
        </p:nvSpPr>
        <p:spPr>
          <a:xfrm>
            <a:off x="6602897" y="963992"/>
            <a:ext cx="5340625" cy="5585895"/>
          </a:xfrm>
          <a:solidFill>
            <a:schemeClr val="accent6">
              <a:lumMod val="75000"/>
            </a:schemeClr>
          </a:solidFill>
        </p:spPr>
        <p:txBody>
          <a:bodyPr>
            <a:normAutofit fontScale="77500" lnSpcReduction="20000"/>
          </a:bodyPr>
          <a:lstStyle/>
          <a:p>
            <a:r>
              <a:rPr lang="en-US" sz="2100" dirty="0"/>
              <a:t>Jurisdiction</a:t>
            </a:r>
          </a:p>
          <a:p>
            <a:pPr lvl="1"/>
            <a:r>
              <a:rPr lang="en-US" sz="2100" dirty="0"/>
              <a:t>Under Article 121(B) of the federal Constitution, the jurisdiction of the Court of Appeal is to determine appeal from the decision of the high Court in relation to the civil and criminal cases and any other jurisdiction given by or under the federal law.</a:t>
            </a:r>
          </a:p>
          <a:p>
            <a:endParaRPr lang="en-MY" dirty="0"/>
          </a:p>
        </p:txBody>
      </p:sp>
    </p:spTree>
    <p:extLst>
      <p:ext uri="{BB962C8B-B14F-4D97-AF65-F5344CB8AC3E}">
        <p14:creationId xmlns:p14="http://schemas.microsoft.com/office/powerpoint/2010/main" val="11111851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1181453-7459-E0DD-642D-CA05824B4C65}"/>
              </a:ext>
            </a:extLst>
          </p:cNvPr>
          <p:cNvSpPr>
            <a:spLocks noGrp="1"/>
          </p:cNvSpPr>
          <p:nvPr>
            <p:ph type="body" idx="1"/>
          </p:nvPr>
        </p:nvSpPr>
        <p:spPr>
          <a:xfrm>
            <a:off x="3588060" y="168378"/>
            <a:ext cx="4396338" cy="576262"/>
          </a:xfrm>
        </p:spPr>
        <p:txBody>
          <a:bodyPr/>
          <a:lstStyle/>
          <a:p>
            <a:pPr algn="ctr"/>
            <a:r>
              <a:rPr lang="en-MY" sz="3200" b="1" dirty="0"/>
              <a:t>High Court</a:t>
            </a:r>
          </a:p>
        </p:txBody>
      </p:sp>
      <p:sp>
        <p:nvSpPr>
          <p:cNvPr id="6" name="Content Placeholder 5">
            <a:extLst>
              <a:ext uri="{FF2B5EF4-FFF2-40B4-BE49-F238E27FC236}">
                <a16:creationId xmlns:a16="http://schemas.microsoft.com/office/drawing/2014/main" id="{75D44071-7E0B-D619-07B3-9D48102862FF}"/>
              </a:ext>
            </a:extLst>
          </p:cNvPr>
          <p:cNvSpPr>
            <a:spLocks noGrp="1"/>
          </p:cNvSpPr>
          <p:nvPr>
            <p:ph sz="half" idx="2"/>
          </p:nvPr>
        </p:nvSpPr>
        <p:spPr>
          <a:xfrm>
            <a:off x="1769166" y="804275"/>
            <a:ext cx="8607286" cy="5923722"/>
          </a:xfrm>
          <a:solidFill>
            <a:schemeClr val="accent4"/>
          </a:solidFill>
        </p:spPr>
        <p:txBody>
          <a:bodyPr>
            <a:normAutofit lnSpcReduction="10000"/>
          </a:bodyPr>
          <a:lstStyle/>
          <a:p>
            <a:pPr marL="342900" lvl="0" indent="-34290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High Court refers to:</a:t>
            </a:r>
            <a:endParaRPr lang="en-MY"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the </a:t>
            </a:r>
            <a:r>
              <a:rPr lang="en-US" sz="1800" b="1" dirty="0">
                <a:effectLst/>
                <a:latin typeface="Arial" panose="020B0604020202020204" pitchFamily="34" charset="0"/>
                <a:ea typeface="Arial" panose="020B0604020202020204" pitchFamily="34" charset="0"/>
                <a:cs typeface="Arial" panose="020B0604020202020204" pitchFamily="34" charset="0"/>
              </a:rPr>
              <a:t>High Court of Malaya </a:t>
            </a:r>
            <a:r>
              <a:rPr lang="en-US" sz="1800" dirty="0">
                <a:effectLst/>
                <a:latin typeface="Arial" panose="020B0604020202020204" pitchFamily="34" charset="0"/>
                <a:ea typeface="Arial" panose="020B0604020202020204" pitchFamily="34" charset="0"/>
                <a:cs typeface="Arial" panose="020B0604020202020204" pitchFamily="34" charset="0"/>
              </a:rPr>
              <a:t>(will hear cases and disputes that take place in the jurisdiction of the Peninsular Malaysia)</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the </a:t>
            </a:r>
            <a:r>
              <a:rPr lang="en-US" sz="1800" b="1" dirty="0">
                <a:effectLst/>
                <a:latin typeface="Arial" panose="020B0604020202020204" pitchFamily="34" charset="0"/>
                <a:ea typeface="Arial" panose="020B0604020202020204" pitchFamily="34" charset="0"/>
                <a:cs typeface="Arial" panose="020B0604020202020204" pitchFamily="34" charset="0"/>
              </a:rPr>
              <a:t>High Court of Sabah &amp; Sarawak </a:t>
            </a:r>
            <a:r>
              <a:rPr lang="en-US" sz="1800" dirty="0">
                <a:effectLst/>
                <a:latin typeface="Arial" panose="020B0604020202020204" pitchFamily="34" charset="0"/>
                <a:ea typeface="Arial" panose="020B0604020202020204" pitchFamily="34" charset="0"/>
                <a:cs typeface="Arial" panose="020B0604020202020204" pitchFamily="34" charset="0"/>
              </a:rPr>
              <a:t>(will hear cases and disputes that take place in its jurisdiction in Sabah and Sarawak only)</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b="1" dirty="0">
                <a:effectLst/>
                <a:latin typeface="Arial" panose="020B0604020202020204" pitchFamily="34" charset="0"/>
                <a:ea typeface="Arial" panose="020B0604020202020204" pitchFamily="34" charset="0"/>
                <a:cs typeface="Arial" panose="020B0604020202020204" pitchFamily="34" charset="0"/>
              </a:rPr>
              <a:t>Original Criminal Jurisdiction </a:t>
            </a:r>
            <a:r>
              <a:rPr lang="en-US" dirty="0">
                <a:effectLst/>
                <a:latin typeface="Arial" panose="020B0604020202020204" pitchFamily="34" charset="0"/>
                <a:ea typeface="Arial" panose="020B0604020202020204" pitchFamily="34" charset="0"/>
                <a:cs typeface="Arial" panose="020B0604020202020204" pitchFamily="34" charset="0"/>
              </a:rPr>
              <a:t>– hear criminal matters involving death penalty</a:t>
            </a:r>
            <a:endParaRPr lang="en-MY"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b="1" dirty="0">
                <a:effectLst/>
                <a:latin typeface="Arial" panose="020B0604020202020204" pitchFamily="34" charset="0"/>
                <a:ea typeface="Arial" panose="020B0604020202020204" pitchFamily="34" charset="0"/>
                <a:cs typeface="Arial" panose="020B0604020202020204" pitchFamily="34" charset="0"/>
              </a:rPr>
              <a:t>Original civil jurisdiction </a:t>
            </a:r>
            <a:endParaRPr lang="en-MY"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hear and determine all civil matters which are </a:t>
            </a:r>
            <a:r>
              <a:rPr lang="en-US" sz="1800" b="1" dirty="0">
                <a:effectLst/>
                <a:latin typeface="Arial" panose="020B0604020202020204" pitchFamily="34" charset="0"/>
                <a:ea typeface="Arial" panose="020B0604020202020204" pitchFamily="34" charset="0"/>
                <a:cs typeface="Arial" panose="020B0604020202020204" pitchFamily="34" charset="0"/>
              </a:rPr>
              <a:t>beyond the jurisdiction of the Session and Magistrate Court (amount more RM1 million) and the high Court have the exclusive power to hear all the disputes pertaining </a:t>
            </a:r>
            <a:r>
              <a:rPr lang="en-US" sz="1800" dirty="0">
                <a:effectLst/>
                <a:latin typeface="Arial" panose="020B0604020202020204" pitchFamily="34" charset="0"/>
                <a:ea typeface="Arial" panose="020B0604020202020204" pitchFamily="34" charset="0"/>
                <a:cs typeface="Arial" panose="020B0604020202020204" pitchFamily="34" charset="0"/>
              </a:rPr>
              <a:t>to </a:t>
            </a:r>
            <a:r>
              <a:rPr lang="en-US" sz="1800" i="1" dirty="0">
                <a:effectLst/>
                <a:latin typeface="Arial" panose="020B0604020202020204" pitchFamily="34" charset="0"/>
                <a:ea typeface="Arial" panose="020B0604020202020204" pitchFamily="34" charset="0"/>
                <a:cs typeface="Arial" panose="020B0604020202020204" pitchFamily="34" charset="0"/>
              </a:rPr>
              <a:t>the divorce and matrimonial matters; admiralty; bankruptcy, and companies civil disputes; the appointment and guardianship of infant and the property; the appointment and guardianship of the disable person and the property and letter of administration and probate issues.</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b="1" dirty="0">
                <a:effectLst/>
                <a:latin typeface="Arial" panose="020B0604020202020204" pitchFamily="34" charset="0"/>
                <a:ea typeface="Arial" panose="020B0604020202020204" pitchFamily="34" charset="0"/>
                <a:cs typeface="Arial" panose="020B0604020202020204" pitchFamily="34" charset="0"/>
              </a:rPr>
              <a:t>Appellate Jurisdiction </a:t>
            </a:r>
            <a:r>
              <a:rPr lang="en-US" dirty="0">
                <a:effectLst/>
                <a:latin typeface="Arial" panose="020B0604020202020204" pitchFamily="34" charset="0"/>
                <a:ea typeface="Arial" panose="020B0604020202020204" pitchFamily="34" charset="0"/>
                <a:cs typeface="Arial" panose="020B0604020202020204" pitchFamily="34" charset="0"/>
              </a:rPr>
              <a:t>– hear criminal and civil appeals from the Sessions and Magistrate Courts</a:t>
            </a:r>
            <a:endParaRPr lang="en-MY" dirty="0">
              <a:effectLst/>
              <a:latin typeface="Arial" panose="020B0604020202020204" pitchFamily="34" charset="0"/>
              <a:ea typeface="Arial" panose="020B0604020202020204" pitchFamily="34" charset="0"/>
              <a:cs typeface="Arial" panose="020B0604020202020204" pitchFamily="34" charset="0"/>
            </a:endParaRPr>
          </a:p>
          <a:p>
            <a:pPr marL="0" indent="0">
              <a:buNone/>
            </a:pPr>
            <a:endParaRPr lang="en-MY" dirty="0"/>
          </a:p>
        </p:txBody>
      </p:sp>
    </p:spTree>
    <p:extLst>
      <p:ext uri="{BB962C8B-B14F-4D97-AF65-F5344CB8AC3E}">
        <p14:creationId xmlns:p14="http://schemas.microsoft.com/office/powerpoint/2010/main" val="23469943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1181453-7459-E0DD-642D-CA05824B4C65}"/>
              </a:ext>
            </a:extLst>
          </p:cNvPr>
          <p:cNvSpPr>
            <a:spLocks noGrp="1"/>
          </p:cNvSpPr>
          <p:nvPr>
            <p:ph type="body" idx="1"/>
          </p:nvPr>
        </p:nvSpPr>
        <p:spPr>
          <a:xfrm>
            <a:off x="526808" y="169759"/>
            <a:ext cx="4396338" cy="576262"/>
          </a:xfrm>
        </p:spPr>
        <p:txBody>
          <a:bodyPr/>
          <a:lstStyle/>
          <a:p>
            <a:pPr algn="ctr"/>
            <a:r>
              <a:rPr lang="en-MY" sz="3200" b="1" dirty="0"/>
              <a:t>Session Court</a:t>
            </a:r>
          </a:p>
        </p:txBody>
      </p:sp>
      <p:sp>
        <p:nvSpPr>
          <p:cNvPr id="6" name="Content Placeholder 5">
            <a:extLst>
              <a:ext uri="{FF2B5EF4-FFF2-40B4-BE49-F238E27FC236}">
                <a16:creationId xmlns:a16="http://schemas.microsoft.com/office/drawing/2014/main" id="{75D44071-7E0B-D619-07B3-9D48102862FF}"/>
              </a:ext>
            </a:extLst>
          </p:cNvPr>
          <p:cNvSpPr>
            <a:spLocks noGrp="1"/>
          </p:cNvSpPr>
          <p:nvPr>
            <p:ph sz="half" idx="2"/>
          </p:nvPr>
        </p:nvSpPr>
        <p:spPr>
          <a:xfrm>
            <a:off x="159026" y="844826"/>
            <a:ext cx="6251713" cy="5923722"/>
          </a:xfrm>
          <a:solidFill>
            <a:schemeClr val="accent4"/>
          </a:solidFill>
        </p:spPr>
        <p:txBody>
          <a:bodyPr>
            <a:normAutofit/>
          </a:bodyPr>
          <a:lstStyle/>
          <a:p>
            <a:pPr marL="342900" lvl="0" indent="-342900" algn="just">
              <a:spcAft>
                <a:spcPts val="8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Civil Jurisdiction – hear civil cases such as accident claims, dispute between the landlord and tenant for the value more RM100k but not exceeding RM1million only.</a:t>
            </a:r>
            <a:endParaRPr lang="en-MY"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Criminal Jurisdiction – hear all criminal cases excerpt for the case subject to death penalty</a:t>
            </a:r>
            <a:endParaRPr lang="en-MY"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MY" dirty="0"/>
          </a:p>
        </p:txBody>
      </p:sp>
      <p:sp>
        <p:nvSpPr>
          <p:cNvPr id="7" name="Text Placeholder 6">
            <a:extLst>
              <a:ext uri="{FF2B5EF4-FFF2-40B4-BE49-F238E27FC236}">
                <a16:creationId xmlns:a16="http://schemas.microsoft.com/office/drawing/2014/main" id="{90D8A984-D17D-F362-F19D-AE429F89157F}"/>
              </a:ext>
            </a:extLst>
          </p:cNvPr>
          <p:cNvSpPr>
            <a:spLocks noGrp="1"/>
          </p:cNvSpPr>
          <p:nvPr>
            <p:ph type="body" sz="quarter" idx="3"/>
          </p:nvPr>
        </p:nvSpPr>
        <p:spPr>
          <a:xfrm>
            <a:off x="6410739" y="289322"/>
            <a:ext cx="4396339" cy="506102"/>
          </a:xfrm>
        </p:spPr>
        <p:txBody>
          <a:bodyPr/>
          <a:lstStyle/>
          <a:p>
            <a:pPr algn="ctr"/>
            <a:endParaRPr lang="en-US" b="1" dirty="0"/>
          </a:p>
          <a:p>
            <a:pPr algn="ctr"/>
            <a:r>
              <a:rPr lang="en-US" sz="3200" b="1" dirty="0"/>
              <a:t>Magistrate Court</a:t>
            </a:r>
            <a:endParaRPr lang="en-MY" sz="3200" b="1" dirty="0"/>
          </a:p>
        </p:txBody>
      </p:sp>
      <p:sp>
        <p:nvSpPr>
          <p:cNvPr id="8" name="Content Placeholder 7">
            <a:extLst>
              <a:ext uri="{FF2B5EF4-FFF2-40B4-BE49-F238E27FC236}">
                <a16:creationId xmlns:a16="http://schemas.microsoft.com/office/drawing/2014/main" id="{68991973-7BCF-FEFF-6621-4E28A9286699}"/>
              </a:ext>
            </a:extLst>
          </p:cNvPr>
          <p:cNvSpPr>
            <a:spLocks noGrp="1"/>
          </p:cNvSpPr>
          <p:nvPr>
            <p:ph sz="quarter" idx="4"/>
          </p:nvPr>
        </p:nvSpPr>
        <p:spPr>
          <a:xfrm>
            <a:off x="6602897" y="963992"/>
            <a:ext cx="5340625" cy="5804556"/>
          </a:xfrm>
          <a:solidFill>
            <a:schemeClr val="accent6">
              <a:lumMod val="75000"/>
            </a:schemeClr>
          </a:solidFill>
        </p:spPr>
        <p:txBody>
          <a:bodyPr>
            <a:normAutofit/>
          </a:bodyPr>
          <a:lstStyle/>
          <a:p>
            <a:pPr algn="just">
              <a:spcAft>
                <a:spcPts val="800"/>
              </a:spcAf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Civil Jurisdiction – total amount disputes or claims less than RM100k only</a:t>
            </a:r>
            <a:endParaRPr lang="en-MY"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sz="2000" dirty="0">
                <a:effectLst/>
                <a:latin typeface="Times New Roman" panose="02020603050405020304" pitchFamily="18" charset="0"/>
                <a:ea typeface="Times New Roman" panose="02020603050405020304" pitchFamily="18" charset="0"/>
              </a:rPr>
              <a:t>Criminal Jurisdiction – heal all criminal offences which subject to fine and imprisonment not exceeding 10 years of or fine and may sentence not exceeding 5 years imprisonment, fine not exceeding RM10k or 12 times whipping.</a:t>
            </a:r>
            <a:endParaRPr lang="en-MY" sz="2000" dirty="0"/>
          </a:p>
        </p:txBody>
      </p:sp>
    </p:spTree>
    <p:extLst>
      <p:ext uri="{BB962C8B-B14F-4D97-AF65-F5344CB8AC3E}">
        <p14:creationId xmlns:p14="http://schemas.microsoft.com/office/powerpoint/2010/main" val="22620920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D3615A-01A5-CEEC-D337-A637DD699C1C}"/>
              </a:ext>
            </a:extLst>
          </p:cNvPr>
          <p:cNvPicPr>
            <a:picLocks noChangeAspect="1"/>
          </p:cNvPicPr>
          <p:nvPr/>
        </p:nvPicPr>
        <p:blipFill>
          <a:blip r:embed="rId2"/>
          <a:stretch>
            <a:fillRect/>
          </a:stretch>
        </p:blipFill>
        <p:spPr>
          <a:xfrm>
            <a:off x="1405605" y="1109350"/>
            <a:ext cx="8523586" cy="5581496"/>
          </a:xfrm>
          <a:prstGeom prst="rect">
            <a:avLst/>
          </a:prstGeom>
        </p:spPr>
      </p:pic>
      <p:sp>
        <p:nvSpPr>
          <p:cNvPr id="6" name="Title 5">
            <a:extLst>
              <a:ext uri="{FF2B5EF4-FFF2-40B4-BE49-F238E27FC236}">
                <a16:creationId xmlns:a16="http://schemas.microsoft.com/office/drawing/2014/main" id="{01C0E131-E737-3BF6-D3A3-4B94F4B06CD8}"/>
              </a:ext>
            </a:extLst>
          </p:cNvPr>
          <p:cNvSpPr>
            <a:spLocks noGrp="1"/>
          </p:cNvSpPr>
          <p:nvPr>
            <p:ph type="title"/>
          </p:nvPr>
        </p:nvSpPr>
        <p:spPr>
          <a:xfrm>
            <a:off x="626232" y="219630"/>
            <a:ext cx="9404723" cy="690282"/>
          </a:xfrm>
        </p:spPr>
        <p:txBody>
          <a:bodyPr/>
          <a:lstStyle/>
          <a:p>
            <a:pPr algn="ctr"/>
            <a:r>
              <a:rPr lang="en-MY" sz="4000" b="1" dirty="0"/>
              <a:t>SYARIAH COURT</a:t>
            </a:r>
          </a:p>
        </p:txBody>
      </p:sp>
    </p:spTree>
    <p:extLst>
      <p:ext uri="{BB962C8B-B14F-4D97-AF65-F5344CB8AC3E}">
        <p14:creationId xmlns:p14="http://schemas.microsoft.com/office/powerpoint/2010/main" val="2783097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7B791FE0-6A25-4049-A35B-1CE4DD8DA8F1}"/>
              </a:ext>
            </a:extLst>
          </p:cNvPr>
          <p:cNvSpPr>
            <a:spLocks noGrp="1"/>
          </p:cNvSpPr>
          <p:nvPr>
            <p:ph idx="1"/>
          </p:nvPr>
        </p:nvSpPr>
        <p:spPr>
          <a:xfrm>
            <a:off x="646112" y="178904"/>
            <a:ext cx="4919801" cy="6115878"/>
          </a:xfrm>
          <a:solidFill>
            <a:schemeClr val="accent3">
              <a:lumMod val="50000"/>
            </a:schemeClr>
          </a:solidFill>
        </p:spPr>
        <p:txBody>
          <a:bodyPr/>
          <a:lstStyle/>
          <a:p>
            <a:pPr algn="just">
              <a:spcAft>
                <a:spcPts val="800"/>
              </a:spcAft>
            </a:pPr>
            <a:r>
              <a:rPr lang="en-US" sz="2000" b="1" dirty="0">
                <a:effectLst/>
                <a:latin typeface="Times New Roman" panose="02020603050405020304" pitchFamily="18" charset="0"/>
                <a:ea typeface="Times New Roman" panose="02020603050405020304" pitchFamily="18" charset="0"/>
              </a:rPr>
              <a:t>APPOINTMENT OF JUDGES</a:t>
            </a:r>
            <a:endParaRPr lang="en-MY" sz="20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Article 122B of the Federal Constitution provides for the appointment of </a:t>
            </a:r>
            <a:r>
              <a:rPr lang="en-US" sz="2000" u="sng" dirty="0">
                <a:effectLst/>
                <a:latin typeface="Arial" panose="020B0604020202020204" pitchFamily="34" charset="0"/>
                <a:ea typeface="Arial" panose="020B0604020202020204" pitchFamily="34" charset="0"/>
                <a:cs typeface="Arial" panose="020B0604020202020204" pitchFamily="34" charset="0"/>
              </a:rPr>
              <a:t>the Chief Justice, the President of the Court of Appeal, the Chief Judges of the High Courts and the other judges of the Federal Court</a:t>
            </a:r>
            <a:r>
              <a:rPr lang="en-US" sz="2000" dirty="0">
                <a:effectLst/>
                <a:latin typeface="Arial" panose="020B0604020202020204" pitchFamily="34" charset="0"/>
                <a:ea typeface="Arial" panose="020B0604020202020204" pitchFamily="34" charset="0"/>
                <a:cs typeface="Arial" panose="020B0604020202020204" pitchFamily="34" charset="0"/>
              </a:rPr>
              <a:t>   by the Yang di-</a:t>
            </a:r>
            <a:r>
              <a:rPr lang="en-US" sz="2000" dirty="0" err="1">
                <a:effectLst/>
                <a:latin typeface="Arial" panose="020B0604020202020204" pitchFamily="34" charset="0"/>
                <a:ea typeface="Arial" panose="020B0604020202020204" pitchFamily="34" charset="0"/>
                <a:cs typeface="Arial" panose="020B0604020202020204" pitchFamily="34" charset="0"/>
              </a:rPr>
              <a:t>Pertuan</a:t>
            </a:r>
            <a:r>
              <a:rPr lang="en-US" sz="2000" dirty="0">
                <a:effectLst/>
                <a:latin typeface="Arial" panose="020B0604020202020204" pitchFamily="34" charset="0"/>
                <a:ea typeface="Arial" panose="020B0604020202020204" pitchFamily="34" charset="0"/>
                <a:cs typeface="Arial" panose="020B0604020202020204" pitchFamily="34" charset="0"/>
              </a:rPr>
              <a:t> </a:t>
            </a:r>
            <a:r>
              <a:rPr lang="en-US" sz="2000" dirty="0" err="1">
                <a:effectLst/>
                <a:latin typeface="Arial" panose="020B0604020202020204" pitchFamily="34" charset="0"/>
                <a:ea typeface="Arial" panose="020B0604020202020204" pitchFamily="34" charset="0"/>
                <a:cs typeface="Arial" panose="020B0604020202020204" pitchFamily="34" charset="0"/>
              </a:rPr>
              <a:t>Agong</a:t>
            </a:r>
            <a:r>
              <a:rPr lang="en-US" sz="2000" dirty="0">
                <a:effectLst/>
                <a:latin typeface="Arial" panose="020B0604020202020204" pitchFamily="34" charset="0"/>
                <a:ea typeface="Arial" panose="020B0604020202020204" pitchFamily="34" charset="0"/>
                <a:cs typeface="Arial" panose="020B0604020202020204" pitchFamily="34" charset="0"/>
              </a:rPr>
              <a:t>; must acting on the advice of the Prime Minister, after consulting the Conference of Rulers. </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Before tendering his advice, the Prime Minister shall, except for the appointment of the Chief Justice, consult the Chief Justice</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algn="just"/>
            <a:endParaRPr lang="en-US" dirty="0"/>
          </a:p>
        </p:txBody>
      </p:sp>
      <p:sp>
        <p:nvSpPr>
          <p:cNvPr id="3" name="Content Placeholder 8">
            <a:extLst>
              <a:ext uri="{FF2B5EF4-FFF2-40B4-BE49-F238E27FC236}">
                <a16:creationId xmlns:a16="http://schemas.microsoft.com/office/drawing/2014/main" id="{A1C45C61-5A67-E4E4-A7AB-F1CF4A4B3AD2}"/>
              </a:ext>
            </a:extLst>
          </p:cNvPr>
          <p:cNvSpPr txBox="1">
            <a:spLocks/>
          </p:cNvSpPr>
          <p:nvPr/>
        </p:nvSpPr>
        <p:spPr>
          <a:xfrm>
            <a:off x="5565913" y="178904"/>
            <a:ext cx="4919801" cy="611587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lgn="just">
              <a:buNone/>
            </a:pPr>
            <a:endParaRPr lang="en-US" dirty="0"/>
          </a:p>
        </p:txBody>
      </p:sp>
      <p:sp>
        <p:nvSpPr>
          <p:cNvPr id="5" name="TextBox 4">
            <a:extLst>
              <a:ext uri="{FF2B5EF4-FFF2-40B4-BE49-F238E27FC236}">
                <a16:creationId xmlns:a16="http://schemas.microsoft.com/office/drawing/2014/main" id="{BF17E6C0-DDCE-F637-7FAA-70D340464049}"/>
              </a:ext>
            </a:extLst>
          </p:cNvPr>
          <p:cNvSpPr txBox="1"/>
          <p:nvPr/>
        </p:nvSpPr>
        <p:spPr>
          <a:xfrm>
            <a:off x="6321287" y="1497496"/>
            <a:ext cx="5705061" cy="3785652"/>
          </a:xfrm>
          <a:prstGeom prst="rect">
            <a:avLst/>
          </a:prstGeom>
          <a:solidFill>
            <a:schemeClr val="bg2">
              <a:lumMod val="75000"/>
            </a:schemeClr>
          </a:solidFill>
        </p:spPr>
        <p:txBody>
          <a:bodyPr wrap="square">
            <a:spAutoFit/>
          </a:bodyPr>
          <a:lstStyle/>
          <a:p>
            <a:pPr algn="ctr">
              <a:spcAft>
                <a:spcPts val="800"/>
              </a:spcAft>
            </a:pPr>
            <a:r>
              <a:rPr lang="en-US" sz="2000" b="1" dirty="0">
                <a:effectLst/>
                <a:latin typeface="Times New Roman" panose="02020603050405020304" pitchFamily="18" charset="0"/>
                <a:ea typeface="Times New Roman" panose="02020603050405020304" pitchFamily="18" charset="0"/>
              </a:rPr>
              <a:t>COURT’S POWERS</a:t>
            </a:r>
            <a:endParaRPr lang="en-MY" sz="20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mj-lt"/>
              <a:buAutoNum type="alphaLcPeriod"/>
              <a:tabLst>
                <a:tab pos="446405" algn="l"/>
              </a:tabLst>
            </a:pPr>
            <a:r>
              <a:rPr lang="en-US" sz="2000" b="1" dirty="0">
                <a:effectLst/>
                <a:latin typeface="Times New Roman" panose="02020603050405020304" pitchFamily="18" charset="0"/>
                <a:ea typeface="Times New Roman" panose="02020603050405020304" pitchFamily="18" charset="0"/>
              </a:rPr>
              <a:t>To hear and determine disputes on rights and liabilities between </a:t>
            </a:r>
            <a:endParaRPr lang="en-MY" sz="20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tabLst>
                <a:tab pos="446405" algn="l"/>
              </a:tabLst>
            </a:pPr>
            <a:r>
              <a:rPr lang="en-US" sz="2000" dirty="0">
                <a:effectLst/>
                <a:latin typeface="Arial" panose="020B0604020202020204" pitchFamily="34" charset="0"/>
                <a:ea typeface="Arial" panose="020B0604020202020204" pitchFamily="34" charset="0"/>
                <a:cs typeface="Arial" panose="020B0604020202020204" pitchFamily="34" charset="0"/>
              </a:rPr>
              <a:t>Federal Government and State Government</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tabLst>
                <a:tab pos="446405" algn="l"/>
              </a:tabLst>
            </a:pPr>
            <a:r>
              <a:rPr lang="en-US" sz="2000" dirty="0">
                <a:effectLst/>
                <a:latin typeface="Arial" panose="020B0604020202020204" pitchFamily="34" charset="0"/>
                <a:ea typeface="Arial" panose="020B0604020202020204" pitchFamily="34" charset="0"/>
                <a:cs typeface="Arial" panose="020B0604020202020204" pitchFamily="34" charset="0"/>
              </a:rPr>
              <a:t>Between States</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tabLst>
                <a:tab pos="446405" algn="l"/>
              </a:tabLst>
            </a:pPr>
            <a:r>
              <a:rPr lang="en-US" sz="2000" dirty="0">
                <a:effectLst/>
                <a:latin typeface="Arial" panose="020B0604020202020204" pitchFamily="34" charset="0"/>
                <a:ea typeface="Arial" panose="020B0604020202020204" pitchFamily="34" charset="0"/>
                <a:cs typeface="Arial" panose="020B0604020202020204" pitchFamily="34" charset="0"/>
              </a:rPr>
              <a:t>Citizens and the Federal Government or the State </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tabLst>
                <a:tab pos="446405" algn="l"/>
              </a:tabLst>
            </a:pPr>
            <a:r>
              <a:rPr lang="en-US" sz="2000" dirty="0">
                <a:effectLst/>
                <a:latin typeface="Arial" panose="020B0604020202020204" pitchFamily="34" charset="0"/>
                <a:ea typeface="Arial" panose="020B0604020202020204" pitchFamily="34" charset="0"/>
                <a:cs typeface="Arial" panose="020B0604020202020204" pitchFamily="34" charset="0"/>
              </a:rPr>
              <a:t>Between citizens and citizens</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algn="just">
              <a:spcAft>
                <a:spcPts val="800"/>
              </a:spcAft>
            </a:pPr>
            <a:r>
              <a:rPr lang="en-US" sz="2000" b="1" dirty="0">
                <a:effectLst/>
                <a:latin typeface="Times New Roman" panose="02020603050405020304" pitchFamily="18" charset="0"/>
                <a:ea typeface="Times New Roman" panose="02020603050405020304" pitchFamily="18" charset="0"/>
              </a:rPr>
              <a:t>b. Determine if someone has committed a crime or not, and the appropriate punishment.</a:t>
            </a:r>
            <a:endParaRPr lang="en-MY"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016352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2C1E5-06C0-43D8-A2E1-A0A2DA21F2AB}"/>
              </a:ext>
            </a:extLst>
          </p:cNvPr>
          <p:cNvSpPr>
            <a:spLocks noGrp="1"/>
          </p:cNvSpPr>
          <p:nvPr>
            <p:ph type="title"/>
          </p:nvPr>
        </p:nvSpPr>
        <p:spPr>
          <a:xfrm>
            <a:off x="705746" y="154544"/>
            <a:ext cx="9404723" cy="829430"/>
          </a:xfrm>
        </p:spPr>
        <p:txBody>
          <a:bodyPr/>
          <a:lstStyle/>
          <a:p>
            <a:pPr algn="ctr"/>
            <a:r>
              <a:rPr lang="en-US" sz="4000" b="1" dirty="0"/>
              <a:t>JUDGES OF THE SUPERIOR COURTS</a:t>
            </a:r>
            <a:endParaRPr lang="en-MY" sz="4000" b="1" dirty="0"/>
          </a:p>
        </p:txBody>
      </p:sp>
      <p:sp>
        <p:nvSpPr>
          <p:cNvPr id="3" name="Content Placeholder 2">
            <a:extLst>
              <a:ext uri="{FF2B5EF4-FFF2-40B4-BE49-F238E27FC236}">
                <a16:creationId xmlns:a16="http://schemas.microsoft.com/office/drawing/2014/main" id="{38D34A72-2092-4B2F-9B0A-F665D2721EE0}"/>
              </a:ext>
            </a:extLst>
          </p:cNvPr>
          <p:cNvSpPr>
            <a:spLocks noGrp="1"/>
          </p:cNvSpPr>
          <p:nvPr>
            <p:ph idx="1"/>
          </p:nvPr>
        </p:nvSpPr>
        <p:spPr>
          <a:xfrm>
            <a:off x="218661" y="1172817"/>
            <a:ext cx="11777869" cy="5406887"/>
          </a:xfrm>
        </p:spPr>
        <p:txBody>
          <a:bodyPr>
            <a:normAutofit/>
          </a:bodyPr>
          <a:lstStyle/>
          <a:p>
            <a:pPr algn="just">
              <a:spcAft>
                <a:spcPts val="800"/>
              </a:spcAft>
            </a:pPr>
            <a:r>
              <a:rPr lang="en-US" sz="1800" dirty="0">
                <a:effectLst/>
                <a:latin typeface="Times New Roman" panose="02020603050405020304" pitchFamily="18" charset="0"/>
                <a:ea typeface="Times New Roman" panose="02020603050405020304" pitchFamily="18" charset="0"/>
              </a:rPr>
              <a:t>A judge of the superior court  </a:t>
            </a:r>
            <a:endParaRPr lang="en-MY" sz="18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holds office until the age of 66  years or such later time, not being later than six months after he attains that age, as the Yang di-</a:t>
            </a:r>
            <a:r>
              <a:rPr lang="en-US" sz="1800" dirty="0" err="1">
                <a:effectLst/>
                <a:latin typeface="Arial" panose="020B0604020202020204" pitchFamily="34" charset="0"/>
                <a:ea typeface="Arial" panose="020B0604020202020204" pitchFamily="34" charset="0"/>
                <a:cs typeface="Arial" panose="020B0604020202020204" pitchFamily="34" charset="0"/>
              </a:rPr>
              <a:t>Pertuan</a:t>
            </a:r>
            <a:r>
              <a:rPr lang="en-US" sz="1800" dirty="0">
                <a:effectLst/>
                <a:latin typeface="Arial" panose="020B0604020202020204" pitchFamily="34" charset="0"/>
                <a:ea typeface="Arial" panose="020B0604020202020204" pitchFamily="34" charset="0"/>
                <a:cs typeface="Arial" panose="020B0604020202020204" pitchFamily="34" charset="0"/>
              </a:rPr>
              <a:t> </a:t>
            </a:r>
            <a:r>
              <a:rPr lang="en-US" sz="1800" dirty="0" err="1">
                <a:effectLst/>
                <a:latin typeface="Arial" panose="020B0604020202020204" pitchFamily="34" charset="0"/>
                <a:ea typeface="Arial" panose="020B0604020202020204" pitchFamily="34" charset="0"/>
                <a:cs typeface="Arial" panose="020B0604020202020204" pitchFamily="34" charset="0"/>
              </a:rPr>
              <a:t>Agong</a:t>
            </a:r>
            <a:r>
              <a:rPr lang="en-US" sz="1800" dirty="0">
                <a:effectLst/>
                <a:latin typeface="Arial" panose="020B0604020202020204" pitchFamily="34" charset="0"/>
                <a:ea typeface="Arial" panose="020B0604020202020204" pitchFamily="34" charset="0"/>
                <a:cs typeface="Arial" panose="020B0604020202020204" pitchFamily="34" charset="0"/>
              </a:rPr>
              <a:t> may approve</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may resign at any time by writing under his hand addressed to the Yang di-</a:t>
            </a:r>
            <a:r>
              <a:rPr lang="en-US" sz="1800" dirty="0" err="1">
                <a:effectLst/>
                <a:latin typeface="Arial" panose="020B0604020202020204" pitchFamily="34" charset="0"/>
                <a:ea typeface="Arial" panose="020B0604020202020204" pitchFamily="34" charset="0"/>
                <a:cs typeface="Arial" panose="020B0604020202020204" pitchFamily="34" charset="0"/>
              </a:rPr>
              <a:t>Pertuan</a:t>
            </a:r>
            <a:r>
              <a:rPr lang="en-US" sz="1800" dirty="0">
                <a:effectLst/>
                <a:latin typeface="Arial" panose="020B0604020202020204" pitchFamily="34" charset="0"/>
                <a:ea typeface="Arial" panose="020B0604020202020204" pitchFamily="34" charset="0"/>
                <a:cs typeface="Arial" panose="020B0604020202020204" pitchFamily="34" charset="0"/>
              </a:rPr>
              <a:t> </a:t>
            </a:r>
            <a:r>
              <a:rPr lang="en-US" sz="1800" dirty="0" err="1">
                <a:effectLst/>
                <a:latin typeface="Arial" panose="020B0604020202020204" pitchFamily="34" charset="0"/>
                <a:ea typeface="Arial" panose="020B0604020202020204" pitchFamily="34" charset="0"/>
                <a:cs typeface="Arial" panose="020B0604020202020204" pitchFamily="34" charset="0"/>
              </a:rPr>
              <a:t>Agong</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cannot be removed from the office except in accordance with Article 125 of Federal Constitution, that is, if the Prime Minister or the Chief Justice after consulting the Prime Minister, represents to the Yang di-</a:t>
            </a:r>
            <a:r>
              <a:rPr lang="en-US" sz="1800" dirty="0" err="1">
                <a:effectLst/>
                <a:latin typeface="Arial" panose="020B0604020202020204" pitchFamily="34" charset="0"/>
                <a:ea typeface="Arial" panose="020B0604020202020204" pitchFamily="34" charset="0"/>
                <a:cs typeface="Arial" panose="020B0604020202020204" pitchFamily="34" charset="0"/>
              </a:rPr>
              <a:t>Pertuan</a:t>
            </a:r>
            <a:r>
              <a:rPr lang="en-US" sz="1800" dirty="0">
                <a:effectLst/>
                <a:latin typeface="Arial" panose="020B0604020202020204" pitchFamily="34" charset="0"/>
                <a:ea typeface="Arial" panose="020B0604020202020204" pitchFamily="34" charset="0"/>
                <a:cs typeface="Arial" panose="020B0604020202020204" pitchFamily="34" charset="0"/>
              </a:rPr>
              <a:t> </a:t>
            </a:r>
            <a:r>
              <a:rPr lang="en-US" sz="1800" dirty="0" err="1">
                <a:effectLst/>
                <a:latin typeface="Arial" panose="020B0604020202020204" pitchFamily="34" charset="0"/>
                <a:ea typeface="Arial" panose="020B0604020202020204" pitchFamily="34" charset="0"/>
                <a:cs typeface="Arial" panose="020B0604020202020204" pitchFamily="34" charset="0"/>
              </a:rPr>
              <a:t>Agong</a:t>
            </a:r>
            <a:r>
              <a:rPr lang="en-US" sz="1800" dirty="0">
                <a:effectLst/>
                <a:latin typeface="Arial" panose="020B0604020202020204" pitchFamily="34" charset="0"/>
                <a:ea typeface="Arial" panose="020B0604020202020204" pitchFamily="34" charset="0"/>
                <a:cs typeface="Arial" panose="020B0604020202020204" pitchFamily="34" charset="0"/>
              </a:rPr>
              <a:t> that he ought to be removed on the ground of–</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any breach of the code of ethics (Code of Ethics 2019); or</a:t>
            </a:r>
            <a:endParaRPr lang="en-MY"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inability, from infirmity of body or mind or any other cause, properly to discharge the functions of his office</a:t>
            </a:r>
            <a:endParaRPr lang="en-MY"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The representation shall be referred to a tribunal appointed by the Yang di-</a:t>
            </a:r>
            <a:r>
              <a:rPr lang="en-US" sz="1800" dirty="0" err="1">
                <a:effectLst/>
                <a:latin typeface="Arial" panose="020B0604020202020204" pitchFamily="34" charset="0"/>
                <a:ea typeface="Arial" panose="020B0604020202020204" pitchFamily="34" charset="0"/>
                <a:cs typeface="Arial" panose="020B0604020202020204" pitchFamily="34" charset="0"/>
              </a:rPr>
              <a:t>Pertuan</a:t>
            </a:r>
            <a:r>
              <a:rPr lang="en-US" sz="1800" dirty="0">
                <a:effectLst/>
                <a:latin typeface="Arial" panose="020B0604020202020204" pitchFamily="34" charset="0"/>
                <a:ea typeface="Arial" panose="020B0604020202020204" pitchFamily="34" charset="0"/>
                <a:cs typeface="Arial" panose="020B0604020202020204" pitchFamily="34" charset="0"/>
              </a:rPr>
              <a:t> </a:t>
            </a:r>
            <a:r>
              <a:rPr lang="en-US" sz="1800" dirty="0" err="1">
                <a:effectLst/>
                <a:latin typeface="Arial" panose="020B0604020202020204" pitchFamily="34" charset="0"/>
                <a:ea typeface="Arial" panose="020B0604020202020204" pitchFamily="34" charset="0"/>
                <a:cs typeface="Arial" panose="020B0604020202020204" pitchFamily="34" charset="0"/>
              </a:rPr>
              <a:t>Agong</a:t>
            </a:r>
            <a:r>
              <a:rPr lang="en-US" sz="1800" dirty="0">
                <a:effectLst/>
                <a:latin typeface="Arial" panose="020B0604020202020204" pitchFamily="34" charset="0"/>
                <a:ea typeface="Arial" panose="020B0604020202020204" pitchFamily="34" charset="0"/>
                <a:cs typeface="Arial" panose="020B0604020202020204" pitchFamily="34" charset="0"/>
              </a:rPr>
              <a:t> and he may be removed from office on the recommendation of such tribunal. </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The said tribunal shall consist of not less than five persons who hold or have held office as judges of the superior courts or have held equivalent office in any other part of the Commonwealth </a:t>
            </a:r>
            <a:endParaRPr lang="en-MY" sz="1800" dirty="0">
              <a:effectLst/>
              <a:latin typeface="Arial" panose="020B0604020202020204" pitchFamily="34" charset="0"/>
              <a:ea typeface="Arial" panose="020B0604020202020204" pitchFamily="34" charset="0"/>
              <a:cs typeface="Arial" panose="020B0604020202020204" pitchFamily="34" charset="0"/>
            </a:endParaRPr>
          </a:p>
          <a:p>
            <a:endParaRPr lang="en-MY" dirty="0"/>
          </a:p>
        </p:txBody>
      </p:sp>
    </p:spTree>
    <p:extLst>
      <p:ext uri="{BB962C8B-B14F-4D97-AF65-F5344CB8AC3E}">
        <p14:creationId xmlns:p14="http://schemas.microsoft.com/office/powerpoint/2010/main" val="37841155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A23F38-DEBA-4563-BBFD-8AEE735A882E}"/>
              </a:ext>
            </a:extLst>
          </p:cNvPr>
          <p:cNvSpPr>
            <a:spLocks noGrp="1"/>
          </p:cNvSpPr>
          <p:nvPr>
            <p:ph idx="1"/>
          </p:nvPr>
        </p:nvSpPr>
        <p:spPr>
          <a:xfrm>
            <a:off x="251791" y="1302027"/>
            <a:ext cx="11688417" cy="5135216"/>
          </a:xfrm>
        </p:spPr>
        <p:txBody>
          <a:bodyPr>
            <a:normAutofit/>
          </a:bodyPr>
          <a:lstStyle/>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may be suspended from the exercise of his functions as a judge pending the report of the tribunal </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remuneration provided for by law and charged on the Consolidated Fund (Article 125 (6) of Federal Constitution)</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remuneration and other terms of office cannot be altered to his disadvantage after his appointment</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the validity of anything done by him shall not be questioned on the ground that he had attained the age at which he was required to retire </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conduct shall not be discussed in the Legislative Assembly of any State but Parliament may do so on substantive motion of which notice has been given by not less than one quarter of the total number of members of that House; and</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stands in similar position as ministers of the Federal Cabinet, members of the State Executive Councils, members of Parliament and State Assemblymen in that he is not a public servant</a:t>
            </a:r>
            <a:r>
              <a:rPr lang="en-MY" dirty="0">
                <a:latin typeface="Arial" panose="020B0604020202020204" pitchFamily="34" charset="0"/>
                <a:ea typeface="Arial" panose="020B0604020202020204" pitchFamily="34" charset="0"/>
                <a:cs typeface="Arial" panose="020B0604020202020204" pitchFamily="34" charset="0"/>
              </a:rPr>
              <a:t>.</a:t>
            </a:r>
            <a:endParaRPr lang="en-MY" sz="2000" dirty="0">
              <a:effectLst/>
              <a:latin typeface="Times New Roman" panose="02020603050405020304" pitchFamily="18" charset="0"/>
              <a:ea typeface="Times New Roman" panose="02020603050405020304" pitchFamily="18" charset="0"/>
            </a:endParaRPr>
          </a:p>
          <a:p>
            <a:pPr marL="0" indent="0">
              <a:buNone/>
            </a:pPr>
            <a:endParaRPr lang="en-MY" dirty="0"/>
          </a:p>
        </p:txBody>
      </p:sp>
    </p:spTree>
    <p:extLst>
      <p:ext uri="{BB962C8B-B14F-4D97-AF65-F5344CB8AC3E}">
        <p14:creationId xmlns:p14="http://schemas.microsoft.com/office/powerpoint/2010/main" val="3431161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1E762-86DF-44CA-BC33-1BF97A34AC5D}"/>
              </a:ext>
            </a:extLst>
          </p:cNvPr>
          <p:cNvSpPr>
            <a:spLocks noGrp="1"/>
          </p:cNvSpPr>
          <p:nvPr>
            <p:ph type="title"/>
          </p:nvPr>
        </p:nvSpPr>
        <p:spPr>
          <a:xfrm>
            <a:off x="944285" y="0"/>
            <a:ext cx="9404723" cy="869186"/>
          </a:xfrm>
        </p:spPr>
        <p:txBody>
          <a:bodyPr/>
          <a:lstStyle/>
          <a:p>
            <a:pPr algn="ctr"/>
            <a:r>
              <a:rPr lang="en-MY" sz="4000" b="1" dirty="0"/>
              <a:t>JUDGE</a:t>
            </a:r>
            <a:endParaRPr lang="en-MY" sz="4400" b="1" dirty="0"/>
          </a:p>
        </p:txBody>
      </p:sp>
      <p:sp>
        <p:nvSpPr>
          <p:cNvPr id="3" name="Content Placeholder 2">
            <a:extLst>
              <a:ext uri="{FF2B5EF4-FFF2-40B4-BE49-F238E27FC236}">
                <a16:creationId xmlns:a16="http://schemas.microsoft.com/office/drawing/2014/main" id="{5D3B0790-314D-40C8-9D0C-909279048AAA}"/>
              </a:ext>
            </a:extLst>
          </p:cNvPr>
          <p:cNvSpPr>
            <a:spLocks noGrp="1"/>
          </p:cNvSpPr>
          <p:nvPr>
            <p:ph idx="1"/>
          </p:nvPr>
        </p:nvSpPr>
        <p:spPr>
          <a:xfrm>
            <a:off x="178903" y="934278"/>
            <a:ext cx="11897139" cy="5744818"/>
          </a:xfrm>
        </p:spPr>
        <p:txBody>
          <a:bodyPr>
            <a:normAutofit fontScale="92500" lnSpcReduction="10000"/>
          </a:bodyPr>
          <a:lstStyle/>
          <a:p>
            <a:pPr algn="just">
              <a:spcAft>
                <a:spcPts val="800"/>
              </a:spcAft>
            </a:pPr>
            <a:r>
              <a:rPr lang="en-US" sz="1800" b="1" u="sng" dirty="0">
                <a:effectLst/>
                <a:latin typeface="Calibri" panose="020F0502020204030204" pitchFamily="34" charset="0"/>
                <a:ea typeface="Times New Roman" panose="02020603050405020304" pitchFamily="18" charset="0"/>
                <a:cs typeface="Calibri" panose="020F0502020204030204" pitchFamily="34" charset="0"/>
              </a:rPr>
              <a:t>Responsibility</a:t>
            </a:r>
            <a:endParaRPr lang="en-MY" sz="1800" dirty="0">
              <a:effectLst/>
              <a:latin typeface="Calibri" panose="020F0502020204030204" pitchFamily="34" charset="0"/>
              <a:ea typeface="Times New Roman" panose="02020603050405020304" pitchFamily="18" charset="0"/>
              <a:cs typeface="Calibri" panose="020F0502020204030204" pitchFamily="34" charset="0"/>
            </a:endParaRPr>
          </a:p>
          <a:p>
            <a:pPr lvl="1" indent="-342900" algn="just">
              <a:spcAft>
                <a:spcPts val="800"/>
              </a:spcAft>
              <a:buFont typeface="Arial" panose="020B0604020202020204" pitchFamily="34" charset="0"/>
              <a:buChar char="•"/>
              <a:tabLst>
                <a:tab pos="446405" algn="l"/>
              </a:tabLst>
            </a:pPr>
            <a:r>
              <a:rPr lang="en-US" dirty="0">
                <a:effectLst/>
                <a:latin typeface="Calibri" panose="020F0502020204030204" pitchFamily="34" charset="0"/>
                <a:ea typeface="Arial" panose="020B0604020202020204" pitchFamily="34" charset="0"/>
                <a:cs typeface="Calibri" panose="020F0502020204030204" pitchFamily="34" charset="0"/>
              </a:rPr>
              <a:t>To judge in cases that are brought to trial/hearing- determine the method, issues etc. that is brought by the parties involved </a:t>
            </a:r>
            <a:endParaRPr lang="en-MY" dirty="0">
              <a:effectLst/>
              <a:latin typeface="Calibri" panose="020F0502020204030204" pitchFamily="34" charset="0"/>
              <a:ea typeface="Arial" panose="020B0604020202020204" pitchFamily="34" charset="0"/>
              <a:cs typeface="Calibri" panose="020F0502020204030204" pitchFamily="34" charset="0"/>
            </a:endParaRPr>
          </a:p>
          <a:p>
            <a:pPr lvl="1" indent="-342900" algn="just">
              <a:spcAft>
                <a:spcPts val="800"/>
              </a:spcAft>
              <a:buFont typeface="Arial" panose="020B0604020202020204" pitchFamily="34" charset="0"/>
              <a:buChar char="•"/>
              <a:tabLst>
                <a:tab pos="446405" algn="l"/>
              </a:tabLst>
            </a:pPr>
            <a:r>
              <a:rPr lang="en-US" dirty="0">
                <a:effectLst/>
                <a:latin typeface="Calibri" panose="020F0502020204030204" pitchFamily="34" charset="0"/>
                <a:ea typeface="Arial" panose="020B0604020202020204" pitchFamily="34" charset="0"/>
                <a:cs typeface="Calibri" panose="020F0502020204030204" pitchFamily="34" charset="0"/>
              </a:rPr>
              <a:t>To determine the meaning of laws and its relation to certain circumstances </a:t>
            </a:r>
            <a:endParaRPr lang="en-MY" dirty="0">
              <a:effectLst/>
              <a:latin typeface="Calibri" panose="020F0502020204030204" pitchFamily="34" charset="0"/>
              <a:ea typeface="Arial" panose="020B0604020202020204" pitchFamily="34" charset="0"/>
              <a:cs typeface="Calibri" panose="020F0502020204030204" pitchFamily="34" charset="0"/>
            </a:endParaRPr>
          </a:p>
          <a:p>
            <a:pPr lvl="1" indent="-342900" algn="just">
              <a:spcAft>
                <a:spcPts val="800"/>
              </a:spcAft>
              <a:buFont typeface="Arial" panose="020B0604020202020204" pitchFamily="34" charset="0"/>
              <a:buChar char="•"/>
              <a:tabLst>
                <a:tab pos="446405" algn="l"/>
              </a:tabLst>
            </a:pPr>
            <a:r>
              <a:rPr lang="en-US" dirty="0">
                <a:effectLst/>
                <a:latin typeface="Calibri" panose="020F0502020204030204" pitchFamily="34" charset="0"/>
                <a:ea typeface="Arial" panose="020B0604020202020204" pitchFamily="34" charset="0"/>
                <a:cs typeface="Calibri" panose="020F0502020204030204" pitchFamily="34" charset="0"/>
              </a:rPr>
              <a:t>To receive law into the body of law in existence common law and statutes</a:t>
            </a:r>
            <a:endParaRPr lang="en-MY" dirty="0">
              <a:effectLst/>
              <a:latin typeface="Calibri" panose="020F0502020204030204" pitchFamily="34" charset="0"/>
              <a:ea typeface="Times New Roman" panose="02020603050405020304" pitchFamily="18" charset="0"/>
              <a:cs typeface="Calibri" panose="020F0502020204030204" pitchFamily="34" charset="0"/>
            </a:endParaRPr>
          </a:p>
          <a:p>
            <a:pPr algn="just">
              <a:spcAft>
                <a:spcPts val="800"/>
              </a:spcAft>
            </a:pPr>
            <a:r>
              <a:rPr lang="en-US" sz="1800" b="1" dirty="0">
                <a:effectLst/>
                <a:latin typeface="Calibri" panose="020F0502020204030204" pitchFamily="34" charset="0"/>
                <a:ea typeface="Times New Roman" panose="02020603050405020304" pitchFamily="18" charset="0"/>
                <a:cs typeface="Calibri" panose="020F0502020204030204" pitchFamily="34" charset="0"/>
              </a:rPr>
              <a:t>SPECIAL PRIVILEGES OF A JUDGE</a:t>
            </a:r>
            <a:endParaRPr lang="en-MY" sz="1800" dirty="0">
              <a:effectLst/>
              <a:latin typeface="Calibri" panose="020F0502020204030204" pitchFamily="34" charset="0"/>
              <a:ea typeface="Times New Roman" panose="02020603050405020304" pitchFamily="18" charset="0"/>
              <a:cs typeface="Calibri" panose="020F0502020204030204" pitchFamily="34" charset="0"/>
            </a:endParaRPr>
          </a:p>
          <a:p>
            <a:pPr lvl="1" indent="-342900" algn="just">
              <a:spcAft>
                <a:spcPts val="800"/>
              </a:spcAft>
              <a:buFont typeface="Arial" panose="020B0604020202020204" pitchFamily="34" charset="0"/>
              <a:buChar char="▪"/>
            </a:pPr>
            <a:r>
              <a:rPr lang="en-US" dirty="0">
                <a:effectLst/>
                <a:latin typeface="Calibri" panose="020F0502020204030204" pitchFamily="34" charset="0"/>
                <a:ea typeface="Noto Sans Symbols"/>
                <a:cs typeface="Calibri" panose="020F0502020204030204" pitchFamily="34" charset="0"/>
              </a:rPr>
              <a:t>Special privileges so a judge can carry out his duties with justice, and without fear or </a:t>
            </a:r>
            <a:r>
              <a:rPr lang="en-US" dirty="0" err="1">
                <a:effectLst/>
                <a:latin typeface="Calibri" panose="020F0502020204030204" pitchFamily="34" charset="0"/>
                <a:ea typeface="Noto Sans Symbols"/>
                <a:cs typeface="Calibri" panose="020F0502020204030204" pitchFamily="34" charset="0"/>
              </a:rPr>
              <a:t>favour</a:t>
            </a:r>
            <a:r>
              <a:rPr lang="en-US" dirty="0">
                <a:effectLst/>
                <a:latin typeface="Calibri" panose="020F0502020204030204" pitchFamily="34" charset="0"/>
                <a:ea typeface="Noto Sans Symbols"/>
                <a:cs typeface="Calibri" panose="020F0502020204030204" pitchFamily="34" charset="0"/>
              </a:rPr>
              <a:t>. </a:t>
            </a:r>
            <a:endParaRPr lang="en-MY" dirty="0">
              <a:effectLst/>
              <a:latin typeface="Calibri" panose="020F0502020204030204" pitchFamily="34" charset="0"/>
              <a:ea typeface="Noto Sans Symbols"/>
              <a:cs typeface="Calibri" panose="020F0502020204030204" pitchFamily="34" charset="0"/>
            </a:endParaRPr>
          </a:p>
          <a:p>
            <a:pPr algn="just">
              <a:spcAft>
                <a:spcPts val="800"/>
              </a:spcAft>
            </a:pPr>
            <a:r>
              <a:rPr lang="en-US" sz="1800" dirty="0">
                <a:effectLst/>
                <a:latin typeface="Calibri" panose="020F0502020204030204" pitchFamily="34" charset="0"/>
                <a:ea typeface="Times New Roman" panose="02020603050405020304" pitchFamily="18" charset="0"/>
                <a:cs typeface="Calibri" panose="020F0502020204030204" pitchFamily="34" charset="0"/>
              </a:rPr>
              <a:t>Evidence</a:t>
            </a:r>
            <a:endParaRPr lang="en-MY" sz="1800" dirty="0">
              <a:effectLst/>
              <a:latin typeface="Calibri" panose="020F0502020204030204" pitchFamily="34" charset="0"/>
              <a:ea typeface="Times New Roman" panose="02020603050405020304" pitchFamily="18" charset="0"/>
              <a:cs typeface="Calibri" panose="020F0502020204030204" pitchFamily="34" charset="0"/>
            </a:endParaRPr>
          </a:p>
          <a:p>
            <a:pPr marL="742950" lvl="1" indent="-285750" algn="just">
              <a:spcAft>
                <a:spcPts val="800"/>
              </a:spcAft>
              <a:buFont typeface="Arial" panose="020B0604020202020204" pitchFamily="34" charset="0"/>
              <a:buChar char="▪"/>
            </a:pPr>
            <a:r>
              <a:rPr lang="en-US" dirty="0">
                <a:effectLst/>
                <a:latin typeface="Calibri" panose="020F0502020204030204" pitchFamily="34" charset="0"/>
                <a:ea typeface="Noto Sans Symbols"/>
                <a:cs typeface="Calibri" panose="020F0502020204030204" pitchFamily="34" charset="0"/>
              </a:rPr>
              <a:t>A Federal Court, Appeal Court and High Court judge’s conduct cannot be discussed in any house of Parliament unless there is ¼ support from the members of Parliament. </a:t>
            </a:r>
            <a:endParaRPr lang="en-MY" dirty="0">
              <a:effectLst/>
              <a:latin typeface="Calibri" panose="020F0502020204030204" pitchFamily="34" charset="0"/>
              <a:ea typeface="Noto Sans Symbols"/>
              <a:cs typeface="Calibri" panose="020F0502020204030204" pitchFamily="34" charset="0"/>
            </a:endParaRPr>
          </a:p>
          <a:p>
            <a:pPr marL="742950" lvl="1" indent="-285750" algn="just">
              <a:spcAft>
                <a:spcPts val="800"/>
              </a:spcAft>
              <a:buFont typeface="Arial" panose="020B0604020202020204" pitchFamily="34" charset="0"/>
              <a:buChar char="▪"/>
            </a:pPr>
            <a:r>
              <a:rPr lang="en-US" dirty="0">
                <a:effectLst/>
                <a:latin typeface="Calibri" panose="020F0502020204030204" pitchFamily="34" charset="0"/>
                <a:ea typeface="Noto Sans Symbols"/>
                <a:cs typeface="Calibri" panose="020F0502020204030204" pitchFamily="34" charset="0"/>
              </a:rPr>
              <a:t>Cannot discuss at the conduct of a judge in State Legislative Assembly</a:t>
            </a:r>
            <a:endParaRPr lang="en-MY" dirty="0">
              <a:effectLst/>
              <a:latin typeface="Calibri" panose="020F0502020204030204" pitchFamily="34" charset="0"/>
              <a:ea typeface="Noto Sans Symbols"/>
              <a:cs typeface="Calibri" panose="020F0502020204030204" pitchFamily="34" charset="0"/>
            </a:endParaRPr>
          </a:p>
          <a:p>
            <a:pPr marL="742950" lvl="1" indent="-285750" algn="just">
              <a:spcAft>
                <a:spcPts val="800"/>
              </a:spcAft>
              <a:buFont typeface="Arial" panose="020B0604020202020204" pitchFamily="34" charset="0"/>
              <a:buChar char="▪"/>
            </a:pPr>
            <a:r>
              <a:rPr lang="en-US" dirty="0">
                <a:effectLst/>
                <a:latin typeface="Calibri" panose="020F0502020204030204" pitchFamily="34" charset="0"/>
                <a:ea typeface="Noto Sans Symbols"/>
                <a:cs typeface="Calibri" panose="020F0502020204030204" pitchFamily="34" charset="0"/>
              </a:rPr>
              <a:t>Judge cannot be stripped of his position by the YDPA before 66 years of age unless based on the recommendation of a tribunal: A. 125(3) of the Fed Constitution </a:t>
            </a:r>
            <a:endParaRPr lang="en-MY" dirty="0">
              <a:effectLst/>
              <a:latin typeface="Calibri" panose="020F0502020204030204" pitchFamily="34" charset="0"/>
              <a:ea typeface="Noto Sans Symbols"/>
              <a:cs typeface="Calibri" panose="020F0502020204030204" pitchFamily="34" charset="0"/>
            </a:endParaRPr>
          </a:p>
          <a:p>
            <a:pPr marL="742950" lvl="1" indent="-285750" algn="just">
              <a:spcAft>
                <a:spcPts val="800"/>
              </a:spcAft>
              <a:buFont typeface="Arial" panose="020B0604020202020204" pitchFamily="34" charset="0"/>
              <a:buChar char="▪"/>
            </a:pPr>
            <a:r>
              <a:rPr lang="en-US" dirty="0">
                <a:effectLst/>
                <a:latin typeface="Calibri" panose="020F0502020204030204" pitchFamily="34" charset="0"/>
                <a:ea typeface="Noto Sans Symbols"/>
                <a:cs typeface="Calibri" panose="020F0502020204030204" pitchFamily="34" charset="0"/>
              </a:rPr>
              <a:t>Stated in the Constitution that judiciary cannot be subject to control by the legislative and executive. </a:t>
            </a:r>
            <a:endParaRPr lang="en-MY" dirty="0">
              <a:effectLst/>
              <a:latin typeface="Calibri" panose="020F0502020204030204" pitchFamily="34" charset="0"/>
              <a:ea typeface="Noto Sans Symbols"/>
              <a:cs typeface="Calibri" panose="020F0502020204030204" pitchFamily="34" charset="0"/>
            </a:endParaRPr>
          </a:p>
          <a:p>
            <a:pPr marL="0" indent="0">
              <a:buNone/>
            </a:pPr>
            <a:endParaRPr lang="en-MY" sz="1800" dirty="0"/>
          </a:p>
        </p:txBody>
      </p:sp>
    </p:spTree>
    <p:extLst>
      <p:ext uri="{BB962C8B-B14F-4D97-AF65-F5344CB8AC3E}">
        <p14:creationId xmlns:p14="http://schemas.microsoft.com/office/powerpoint/2010/main" val="3442799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CE584-86AC-423F-A973-C1B656640585}"/>
              </a:ext>
            </a:extLst>
          </p:cNvPr>
          <p:cNvSpPr>
            <a:spLocks noGrp="1"/>
          </p:cNvSpPr>
          <p:nvPr>
            <p:ph type="title"/>
          </p:nvPr>
        </p:nvSpPr>
        <p:spPr>
          <a:xfrm>
            <a:off x="646111" y="452718"/>
            <a:ext cx="9404723" cy="693596"/>
          </a:xfrm>
        </p:spPr>
        <p:txBody>
          <a:bodyPr/>
          <a:lstStyle/>
          <a:p>
            <a:pPr algn="ctr"/>
            <a:r>
              <a:rPr lang="en-MY" b="1" dirty="0"/>
              <a:t>HOW ARE LAWS ENFORCED?</a:t>
            </a:r>
          </a:p>
        </p:txBody>
      </p:sp>
      <p:sp>
        <p:nvSpPr>
          <p:cNvPr id="3" name="Content Placeholder 2">
            <a:extLst>
              <a:ext uri="{FF2B5EF4-FFF2-40B4-BE49-F238E27FC236}">
                <a16:creationId xmlns:a16="http://schemas.microsoft.com/office/drawing/2014/main" id="{E067E074-C41C-4B87-989F-752CA0049611}"/>
              </a:ext>
            </a:extLst>
          </p:cNvPr>
          <p:cNvSpPr>
            <a:spLocks noGrp="1"/>
          </p:cNvSpPr>
          <p:nvPr>
            <p:ph idx="1"/>
          </p:nvPr>
        </p:nvSpPr>
        <p:spPr>
          <a:xfrm>
            <a:off x="440635" y="1516205"/>
            <a:ext cx="11310729" cy="4795143"/>
          </a:xfrm>
        </p:spPr>
        <p:txBody>
          <a:bodyPr>
            <a:normAutofit lnSpcReduction="10000"/>
          </a:bodyPr>
          <a:lstStyle/>
          <a:p>
            <a:pPr marL="342900" lvl="0" indent="-342900" algn="l">
              <a:lnSpc>
                <a:spcPct val="107000"/>
              </a:lnSpc>
              <a:spcAft>
                <a:spcPts val="800"/>
              </a:spcAft>
              <a:buFont typeface="Arial" panose="020B0604020202020204" pitchFamily="34" charset="0"/>
              <a:buChar char="•"/>
              <a:tabLst>
                <a:tab pos="446405" algn="l"/>
              </a:tabLst>
            </a:pPr>
            <a:r>
              <a:rPr lang="en-US" sz="1800" dirty="0">
                <a:effectLst/>
                <a:latin typeface="Calibri" panose="020F0502020204030204" pitchFamily="34" charset="0"/>
                <a:ea typeface="Arial" panose="020B0604020202020204" pitchFamily="34" charset="0"/>
                <a:cs typeface="Calibri" panose="020F0502020204030204" pitchFamily="34" charset="0"/>
              </a:rPr>
              <a:t>Summons case</a:t>
            </a:r>
            <a:endParaRPr lang="en-MY" sz="1800" dirty="0">
              <a:effectLst/>
              <a:latin typeface="Calibri" panose="020F0502020204030204" pitchFamily="34" charset="0"/>
              <a:ea typeface="Arial" panose="020B0604020202020204" pitchFamily="34" charset="0"/>
              <a:cs typeface="Calibri" panose="020F0502020204030204" pitchFamily="34" charset="0"/>
            </a:endParaRPr>
          </a:p>
          <a:p>
            <a:pPr marL="742950" lvl="1" indent="-285750" algn="l">
              <a:lnSpc>
                <a:spcPct val="107000"/>
              </a:lnSpc>
              <a:spcAft>
                <a:spcPts val="800"/>
              </a:spcAft>
              <a:buFont typeface="Arial" panose="020B0604020202020204" pitchFamily="34" charset="0"/>
              <a:buChar char="•"/>
              <a:tabLst>
                <a:tab pos="446405" algn="l"/>
              </a:tabLst>
            </a:pPr>
            <a:r>
              <a:rPr lang="en-US" dirty="0">
                <a:effectLst/>
                <a:latin typeface="Calibri" panose="020F0502020204030204" pitchFamily="34" charset="0"/>
                <a:ea typeface="Arial" panose="020B0604020202020204" pitchFamily="34" charset="0"/>
                <a:cs typeface="Calibri" panose="020F0502020204030204" pitchFamily="34" charset="0"/>
              </a:rPr>
              <a:t>Magistrate issues a summons</a:t>
            </a:r>
            <a:endParaRPr lang="en-MY" dirty="0">
              <a:effectLst/>
              <a:latin typeface="Calibri" panose="020F0502020204030204" pitchFamily="34" charset="0"/>
              <a:ea typeface="Arial" panose="020B0604020202020204" pitchFamily="34" charset="0"/>
              <a:cs typeface="Calibri" panose="020F0502020204030204" pitchFamily="34" charset="0"/>
            </a:endParaRPr>
          </a:p>
          <a:p>
            <a:pPr marL="342900" lvl="0" indent="-342900" algn="l">
              <a:lnSpc>
                <a:spcPct val="107000"/>
              </a:lnSpc>
              <a:spcAft>
                <a:spcPts val="800"/>
              </a:spcAft>
              <a:buFont typeface="Arial" panose="020B0604020202020204" pitchFamily="34" charset="0"/>
              <a:buChar char="•"/>
              <a:tabLst>
                <a:tab pos="446405" algn="l"/>
              </a:tabLst>
            </a:pPr>
            <a:r>
              <a:rPr lang="en-US" sz="1800" dirty="0">
                <a:effectLst/>
                <a:latin typeface="Calibri" panose="020F0502020204030204" pitchFamily="34" charset="0"/>
                <a:ea typeface="Arial" panose="020B0604020202020204" pitchFamily="34" charset="0"/>
                <a:cs typeface="Calibri" panose="020F0502020204030204" pitchFamily="34" charset="0"/>
              </a:rPr>
              <a:t>Arrest warrant</a:t>
            </a:r>
            <a:endParaRPr lang="en-MY" sz="1800" dirty="0">
              <a:effectLst/>
              <a:latin typeface="Calibri" panose="020F0502020204030204" pitchFamily="34" charset="0"/>
              <a:ea typeface="Arial" panose="020B0604020202020204" pitchFamily="34" charset="0"/>
              <a:cs typeface="Calibri" panose="020F0502020204030204" pitchFamily="34" charset="0"/>
            </a:endParaRPr>
          </a:p>
          <a:p>
            <a:pPr marL="742950" lvl="1" indent="-285750" algn="l">
              <a:lnSpc>
                <a:spcPct val="107000"/>
              </a:lnSpc>
              <a:spcAft>
                <a:spcPts val="800"/>
              </a:spcAft>
              <a:buFont typeface="Arial" panose="020B0604020202020204" pitchFamily="34" charset="0"/>
              <a:buChar char="•"/>
              <a:tabLst>
                <a:tab pos="446405" algn="l"/>
              </a:tabLst>
            </a:pPr>
            <a:r>
              <a:rPr lang="en-US" dirty="0">
                <a:effectLst/>
                <a:latin typeface="Calibri" panose="020F0502020204030204" pitchFamily="34" charset="0"/>
                <a:ea typeface="Arial" panose="020B0604020202020204" pitchFamily="34" charset="0"/>
                <a:cs typeface="Calibri" panose="020F0502020204030204" pitchFamily="34" charset="0"/>
              </a:rPr>
              <a:t>Issued by the magistrate</a:t>
            </a:r>
            <a:endParaRPr lang="en-MY" dirty="0">
              <a:effectLst/>
              <a:latin typeface="Calibri" panose="020F0502020204030204" pitchFamily="34" charset="0"/>
              <a:ea typeface="Arial" panose="020B0604020202020204" pitchFamily="34" charset="0"/>
              <a:cs typeface="Calibri" panose="020F0502020204030204" pitchFamily="34" charset="0"/>
            </a:endParaRPr>
          </a:p>
          <a:p>
            <a:pPr marL="742950" lvl="1" indent="-285750" algn="l">
              <a:lnSpc>
                <a:spcPct val="107000"/>
              </a:lnSpc>
              <a:spcAft>
                <a:spcPts val="800"/>
              </a:spcAft>
              <a:buFont typeface="Arial" panose="020B0604020202020204" pitchFamily="34" charset="0"/>
              <a:buChar char="•"/>
              <a:tabLst>
                <a:tab pos="446405" algn="l"/>
              </a:tabLst>
            </a:pPr>
            <a:r>
              <a:rPr lang="en-US" dirty="0">
                <a:effectLst/>
                <a:latin typeface="Calibri" panose="020F0502020204030204" pitchFamily="34" charset="0"/>
                <a:ea typeface="Arial" panose="020B0604020202020204" pitchFamily="34" charset="0"/>
                <a:cs typeface="Calibri" panose="020F0502020204030204" pitchFamily="34" charset="0"/>
              </a:rPr>
              <a:t>Stated in the charge</a:t>
            </a:r>
            <a:endParaRPr lang="en-MY" dirty="0">
              <a:effectLst/>
              <a:latin typeface="Calibri" panose="020F0502020204030204" pitchFamily="34" charset="0"/>
              <a:ea typeface="Arial" panose="020B0604020202020204" pitchFamily="34" charset="0"/>
              <a:cs typeface="Calibri" panose="020F0502020204030204" pitchFamily="34" charset="0"/>
            </a:endParaRPr>
          </a:p>
          <a:p>
            <a:pPr marL="342900" lvl="0" indent="-342900" algn="l">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Arial" panose="020B0604020202020204" pitchFamily="34" charset="0"/>
                <a:cs typeface="Calibri" panose="020F0502020204030204" pitchFamily="34" charset="0"/>
              </a:rPr>
              <a:t>Order from Deputy Public Prosecutor </a:t>
            </a:r>
            <a:endParaRPr lang="en-MY" sz="1800" dirty="0">
              <a:effectLst/>
              <a:latin typeface="Calibri" panose="020F0502020204030204" pitchFamily="34" charset="0"/>
              <a:ea typeface="Arial" panose="020B0604020202020204" pitchFamily="34" charset="0"/>
              <a:cs typeface="Calibri" panose="020F0502020204030204" pitchFamily="34" charset="0"/>
            </a:endParaRPr>
          </a:p>
          <a:p>
            <a:pPr marL="342900" lvl="0" indent="-342900" algn="l">
              <a:lnSpc>
                <a:spcPct val="107000"/>
              </a:lnSpc>
              <a:spcAft>
                <a:spcPts val="800"/>
              </a:spcAft>
              <a:buFont typeface="Arial" panose="020B0604020202020204" pitchFamily="34" charset="0"/>
              <a:buChar char="⮚"/>
            </a:pPr>
            <a:r>
              <a:rPr lang="en-US" sz="1800" dirty="0">
                <a:effectLst/>
                <a:latin typeface="Calibri" panose="020F0502020204030204" pitchFamily="34" charset="0"/>
                <a:ea typeface="Noto Sans Symbols"/>
                <a:cs typeface="Calibri" panose="020F0502020204030204" pitchFamily="34" charset="0"/>
              </a:rPr>
              <a:t>Issued when the police find that a non-</a:t>
            </a:r>
            <a:r>
              <a:rPr lang="en-US" sz="1800" dirty="0" err="1">
                <a:effectLst/>
                <a:latin typeface="Calibri" panose="020F0502020204030204" pitchFamily="34" charset="0"/>
                <a:ea typeface="Noto Sans Symbols"/>
                <a:cs typeface="Calibri" panose="020F0502020204030204" pitchFamily="34" charset="0"/>
              </a:rPr>
              <a:t>seizable</a:t>
            </a:r>
            <a:r>
              <a:rPr lang="en-US" sz="1800" dirty="0">
                <a:effectLst/>
                <a:latin typeface="Calibri" panose="020F0502020204030204" pitchFamily="34" charset="0"/>
                <a:ea typeface="Noto Sans Symbols"/>
                <a:cs typeface="Calibri" panose="020F0502020204030204" pitchFamily="34" charset="0"/>
              </a:rPr>
              <a:t> offence case is serious </a:t>
            </a:r>
            <a:endParaRPr lang="en-MY" sz="1800" dirty="0">
              <a:effectLst/>
              <a:latin typeface="Calibri" panose="020F0502020204030204" pitchFamily="34" charset="0"/>
              <a:ea typeface="Noto Sans Symbols"/>
              <a:cs typeface="Calibri" panose="020F0502020204030204" pitchFamily="34" charset="0"/>
            </a:endParaRPr>
          </a:p>
          <a:p>
            <a:pPr marL="342900" lvl="0" indent="-342900" algn="l">
              <a:lnSpc>
                <a:spcPct val="107000"/>
              </a:lnSpc>
              <a:spcAft>
                <a:spcPts val="800"/>
              </a:spcAft>
              <a:buFont typeface="Arial" panose="020B0604020202020204" pitchFamily="34" charset="0"/>
              <a:buChar char="•"/>
            </a:pPr>
            <a:r>
              <a:rPr lang="en-US" sz="1800" dirty="0" err="1">
                <a:effectLst/>
                <a:latin typeface="Calibri" panose="020F0502020204030204" pitchFamily="34" charset="0"/>
                <a:ea typeface="Arial" panose="020B0604020202020204" pitchFamily="34" charset="0"/>
                <a:cs typeface="Calibri" panose="020F0502020204030204" pitchFamily="34" charset="0"/>
              </a:rPr>
              <a:t>Seizable</a:t>
            </a:r>
            <a:r>
              <a:rPr lang="en-US" sz="1800" dirty="0">
                <a:effectLst/>
                <a:latin typeface="Calibri" panose="020F0502020204030204" pitchFamily="34" charset="0"/>
                <a:ea typeface="Arial" panose="020B0604020202020204" pitchFamily="34" charset="0"/>
                <a:cs typeface="Calibri" panose="020F0502020204030204" pitchFamily="34" charset="0"/>
              </a:rPr>
              <a:t> offence</a:t>
            </a:r>
            <a:endParaRPr lang="en-MY" sz="1800" dirty="0">
              <a:effectLst/>
              <a:latin typeface="Calibri" panose="020F0502020204030204" pitchFamily="34" charset="0"/>
              <a:ea typeface="Arial" panose="020B0604020202020204" pitchFamily="34" charset="0"/>
              <a:cs typeface="Calibri" panose="020F0502020204030204" pitchFamily="34" charset="0"/>
            </a:endParaRPr>
          </a:p>
          <a:p>
            <a:pPr marL="742950" lvl="1" indent="-285750" algn="l">
              <a:lnSpc>
                <a:spcPct val="107000"/>
              </a:lnSpc>
              <a:spcAft>
                <a:spcPts val="800"/>
              </a:spcAft>
              <a:buFont typeface="Arial" panose="020B0604020202020204" pitchFamily="34" charset="0"/>
              <a:buChar char="•"/>
            </a:pPr>
            <a:r>
              <a:rPr lang="en-US" dirty="0">
                <a:effectLst/>
                <a:latin typeface="Calibri" panose="020F0502020204030204" pitchFamily="34" charset="0"/>
                <a:ea typeface="Arial" panose="020B0604020202020204" pitchFamily="34" charset="0"/>
                <a:cs typeface="Calibri" panose="020F0502020204030204" pitchFamily="34" charset="0"/>
              </a:rPr>
              <a:t>Police can arrest when there is sufficient information, investigation and evidence, and bring to court within 24 hours</a:t>
            </a:r>
            <a:endParaRPr lang="en-MY" dirty="0">
              <a:effectLst/>
              <a:latin typeface="Calibri" panose="020F0502020204030204" pitchFamily="34" charset="0"/>
              <a:ea typeface="Arial" panose="020B0604020202020204" pitchFamily="34" charset="0"/>
              <a:cs typeface="Calibri" panose="020F0502020204030204" pitchFamily="34" charset="0"/>
            </a:endParaRPr>
          </a:p>
          <a:p>
            <a:pPr marL="0" indent="0" eaLnBrk="1" hangingPunct="1">
              <a:lnSpc>
                <a:spcPct val="90000"/>
              </a:lnSpc>
              <a:buNone/>
            </a:pPr>
            <a:endParaRPr lang="en-US" sz="2800" dirty="0">
              <a:latin typeface="Calibri" pitchFamily="34" charset="0"/>
              <a:ea typeface="ＭＳ Ｐゴシック" pitchFamily="34" charset="-128"/>
            </a:endParaRPr>
          </a:p>
          <a:p>
            <a:pPr marL="0" indent="0">
              <a:buNone/>
            </a:pPr>
            <a:endParaRPr lang="en-MY" dirty="0"/>
          </a:p>
        </p:txBody>
      </p:sp>
    </p:spTree>
    <p:extLst>
      <p:ext uri="{BB962C8B-B14F-4D97-AF65-F5344CB8AC3E}">
        <p14:creationId xmlns:p14="http://schemas.microsoft.com/office/powerpoint/2010/main" val="5958189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C67B0-6D77-4B46-8789-3FDA51FDF8EE}"/>
              </a:ext>
            </a:extLst>
          </p:cNvPr>
          <p:cNvSpPr>
            <a:spLocks noGrp="1"/>
          </p:cNvSpPr>
          <p:nvPr>
            <p:ph type="title"/>
          </p:nvPr>
        </p:nvSpPr>
        <p:spPr>
          <a:xfrm>
            <a:off x="168965" y="253937"/>
            <a:ext cx="9732412" cy="830172"/>
          </a:xfrm>
        </p:spPr>
        <p:txBody>
          <a:bodyPr/>
          <a:lstStyle/>
          <a:p>
            <a:pPr algn="ctr"/>
            <a:r>
              <a:rPr lang="en-US" sz="3600" b="1" dirty="0"/>
              <a:t>THE CONCEPT OF JUDICIAL INDEPENDENCE</a:t>
            </a:r>
            <a:endParaRPr lang="en-MY" sz="3600" b="1" dirty="0"/>
          </a:p>
        </p:txBody>
      </p:sp>
      <p:sp>
        <p:nvSpPr>
          <p:cNvPr id="6" name="Content Placeholder 10">
            <a:extLst>
              <a:ext uri="{FF2B5EF4-FFF2-40B4-BE49-F238E27FC236}">
                <a16:creationId xmlns:a16="http://schemas.microsoft.com/office/drawing/2014/main" id="{E08FDC1F-FCBE-4DD6-B3C7-63175DCFB7D0}"/>
              </a:ext>
            </a:extLst>
          </p:cNvPr>
          <p:cNvSpPr txBox="1">
            <a:spLocks/>
          </p:cNvSpPr>
          <p:nvPr/>
        </p:nvSpPr>
        <p:spPr>
          <a:xfrm>
            <a:off x="5565913" y="1033671"/>
            <a:ext cx="6245760" cy="5371612"/>
          </a:xfrm>
          <a:prstGeom prst="rect">
            <a:avLst/>
          </a:prstGeom>
        </p:spPr>
        <p:txBody>
          <a:bodyPr>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endParaRPr lang="en-MY" dirty="0"/>
          </a:p>
        </p:txBody>
      </p:sp>
      <p:sp>
        <p:nvSpPr>
          <p:cNvPr id="7" name="Content Placeholder 6">
            <a:extLst>
              <a:ext uri="{FF2B5EF4-FFF2-40B4-BE49-F238E27FC236}">
                <a16:creationId xmlns:a16="http://schemas.microsoft.com/office/drawing/2014/main" id="{3BEEE6A8-7931-8888-E4C4-228741428C93}"/>
              </a:ext>
            </a:extLst>
          </p:cNvPr>
          <p:cNvSpPr>
            <a:spLocks noGrp="1"/>
          </p:cNvSpPr>
          <p:nvPr>
            <p:ph idx="1"/>
          </p:nvPr>
        </p:nvSpPr>
        <p:spPr>
          <a:xfrm>
            <a:off x="317442" y="1451114"/>
            <a:ext cx="11599575" cy="4797286"/>
          </a:xfrm>
        </p:spPr>
        <p:txBody>
          <a:bodyPr/>
          <a:lstStyle/>
          <a:p>
            <a:pPr marL="342900" lvl="0" indent="-342900" algn="l">
              <a:lnSpc>
                <a:spcPct val="107000"/>
              </a:lnSpc>
              <a:spcAft>
                <a:spcPts val="800"/>
              </a:spcAft>
              <a:buFont typeface="Arial" panose="020B0604020202020204" pitchFamily="34" charset="0"/>
              <a:buChar char="•"/>
            </a:pPr>
            <a:r>
              <a:rPr lang="en-US" sz="2400" dirty="0">
                <a:effectLst/>
                <a:latin typeface="Calibri" panose="020F0502020204030204" pitchFamily="34" charset="0"/>
                <a:ea typeface="Arial" panose="020B0604020202020204" pitchFamily="34" charset="0"/>
                <a:cs typeface="Calibri" panose="020F0502020204030204" pitchFamily="34" charset="0"/>
              </a:rPr>
              <a:t>The functions of judicial independence:</a:t>
            </a:r>
            <a:endParaRPr lang="en-MY" sz="2400" dirty="0">
              <a:effectLst/>
              <a:latin typeface="Calibri" panose="020F0502020204030204" pitchFamily="34" charset="0"/>
              <a:ea typeface="Arial" panose="020B0604020202020204" pitchFamily="34" charset="0"/>
              <a:cs typeface="Calibri" panose="020F0502020204030204" pitchFamily="34" charset="0"/>
            </a:endParaRPr>
          </a:p>
          <a:p>
            <a:pPr marL="742950" lvl="1" indent="-285750" algn="l">
              <a:lnSpc>
                <a:spcPct val="107000"/>
              </a:lnSpc>
              <a:spcAft>
                <a:spcPts val="800"/>
              </a:spcAft>
              <a:buFont typeface="Arial" panose="020B0604020202020204" pitchFamily="34" charset="0"/>
              <a:buChar char="•"/>
            </a:pPr>
            <a:r>
              <a:rPr lang="en-US" sz="2400" dirty="0">
                <a:effectLst/>
                <a:latin typeface="Calibri" panose="020F0502020204030204" pitchFamily="34" charset="0"/>
                <a:ea typeface="Arial" panose="020B0604020202020204" pitchFamily="34" charset="0"/>
                <a:cs typeface="Calibri" panose="020F0502020204030204" pitchFamily="34" charset="0"/>
              </a:rPr>
              <a:t>to set out and also protect political rights, civil liberties and also the rule of law</a:t>
            </a:r>
            <a:endParaRPr lang="en-MY" sz="2400" dirty="0">
              <a:effectLst/>
              <a:latin typeface="Calibri" panose="020F0502020204030204" pitchFamily="34" charset="0"/>
              <a:ea typeface="Arial" panose="020B0604020202020204" pitchFamily="34" charset="0"/>
              <a:cs typeface="Calibri" panose="020F0502020204030204" pitchFamily="34" charset="0"/>
            </a:endParaRPr>
          </a:p>
          <a:p>
            <a:pPr marL="742950" lvl="1" indent="-285750" algn="l">
              <a:lnSpc>
                <a:spcPct val="107000"/>
              </a:lnSpc>
              <a:spcAft>
                <a:spcPts val="800"/>
              </a:spcAft>
              <a:buFont typeface="Arial" panose="020B0604020202020204" pitchFamily="34" charset="0"/>
              <a:buChar char="•"/>
            </a:pPr>
            <a:r>
              <a:rPr lang="en-US" sz="2400" dirty="0">
                <a:effectLst/>
                <a:latin typeface="Calibri" panose="020F0502020204030204" pitchFamily="34" charset="0"/>
                <a:ea typeface="Arial" panose="020B0604020202020204" pitchFamily="34" charset="0"/>
                <a:cs typeface="Calibri" panose="020F0502020204030204" pitchFamily="34" charset="0"/>
              </a:rPr>
              <a:t>judges must be free to interpret the laws independently, impartially and objectively without subject to any undue outside pressure from the police, the government, the military, public opinion, or any other interested body or person in order for justice to be performed.</a:t>
            </a:r>
            <a:endParaRPr lang="en-MY" sz="2400" dirty="0">
              <a:effectLst/>
              <a:latin typeface="Calibri" panose="020F0502020204030204" pitchFamily="34" charset="0"/>
              <a:ea typeface="Arial" panose="020B0604020202020204" pitchFamily="34" charset="0"/>
              <a:cs typeface="Calibri" panose="020F0502020204030204" pitchFamily="34" charset="0"/>
            </a:endParaRPr>
          </a:p>
          <a:p>
            <a:endParaRPr lang="en-MY" dirty="0"/>
          </a:p>
        </p:txBody>
      </p:sp>
    </p:spTree>
    <p:extLst>
      <p:ext uri="{BB962C8B-B14F-4D97-AF65-F5344CB8AC3E}">
        <p14:creationId xmlns:p14="http://schemas.microsoft.com/office/powerpoint/2010/main" val="9991856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9BBEA5-3641-69E4-140E-D6F9756D8261}"/>
              </a:ext>
            </a:extLst>
          </p:cNvPr>
          <p:cNvSpPr>
            <a:spLocks noGrp="1"/>
          </p:cNvSpPr>
          <p:nvPr>
            <p:ph type="title"/>
          </p:nvPr>
        </p:nvSpPr>
        <p:spPr>
          <a:xfrm>
            <a:off x="526842" y="154544"/>
            <a:ext cx="9404723" cy="1400530"/>
          </a:xfrm>
        </p:spPr>
        <p:txBody>
          <a:bodyPr/>
          <a:lstStyle/>
          <a:p>
            <a:pPr algn="ctr"/>
            <a:r>
              <a:rPr lang="en-US" sz="4000" b="1" dirty="0">
                <a:effectLst>
                  <a:outerShdw blurRad="38100" dist="38100" dir="2700000" algn="tl">
                    <a:srgbClr val="000000">
                      <a:alpha val="43137"/>
                    </a:srgbClr>
                  </a:outerShdw>
                </a:effectLst>
              </a:rPr>
              <a:t>INDEPENDENCE OF THE JUDICIARY IN MALAYSIA</a:t>
            </a:r>
            <a:endParaRPr lang="en-MY" sz="4000" b="1" dirty="0">
              <a:effectLst>
                <a:outerShdw blurRad="38100" dist="38100" dir="2700000" algn="tl">
                  <a:srgbClr val="000000">
                    <a:alpha val="43137"/>
                  </a:srgbClr>
                </a:outerShdw>
              </a:effectLst>
            </a:endParaRPr>
          </a:p>
        </p:txBody>
      </p:sp>
      <p:graphicFrame>
        <p:nvGraphicFramePr>
          <p:cNvPr id="7" name="Content Placeholder 6">
            <a:extLst>
              <a:ext uri="{FF2B5EF4-FFF2-40B4-BE49-F238E27FC236}">
                <a16:creationId xmlns:a16="http://schemas.microsoft.com/office/drawing/2014/main" id="{B804F700-AE9E-FE09-72C6-5DBE5F3C8FEB}"/>
              </a:ext>
            </a:extLst>
          </p:cNvPr>
          <p:cNvGraphicFramePr>
            <a:graphicFrameLocks noGrp="1"/>
          </p:cNvGraphicFramePr>
          <p:nvPr>
            <p:ph idx="1"/>
            <p:extLst>
              <p:ext uri="{D42A27DB-BD31-4B8C-83A1-F6EECF244321}">
                <p14:modId xmlns:p14="http://schemas.microsoft.com/office/powerpoint/2010/main" val="256859768"/>
              </p:ext>
            </p:extLst>
          </p:nvPr>
        </p:nvGraphicFramePr>
        <p:xfrm>
          <a:off x="238539" y="1555074"/>
          <a:ext cx="11608903" cy="51483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98668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D7AA6-FB52-4C4F-9559-6F72ABDE2700}"/>
              </a:ext>
            </a:extLst>
          </p:cNvPr>
          <p:cNvSpPr>
            <a:spLocks noGrp="1"/>
          </p:cNvSpPr>
          <p:nvPr>
            <p:ph type="title"/>
          </p:nvPr>
        </p:nvSpPr>
        <p:spPr>
          <a:xfrm>
            <a:off x="646111" y="452718"/>
            <a:ext cx="9404723" cy="899004"/>
          </a:xfrm>
        </p:spPr>
        <p:txBody>
          <a:bodyPr/>
          <a:lstStyle/>
          <a:p>
            <a:pPr algn="ctr"/>
            <a:r>
              <a:rPr lang="en-MY" b="1" dirty="0"/>
              <a:t>CONCLUSION</a:t>
            </a:r>
          </a:p>
        </p:txBody>
      </p:sp>
      <p:sp>
        <p:nvSpPr>
          <p:cNvPr id="3" name="Content Placeholder 2">
            <a:extLst>
              <a:ext uri="{FF2B5EF4-FFF2-40B4-BE49-F238E27FC236}">
                <a16:creationId xmlns:a16="http://schemas.microsoft.com/office/drawing/2014/main" id="{3AB5A741-A473-4191-98A3-6D9DD96CA3D7}"/>
              </a:ext>
            </a:extLst>
          </p:cNvPr>
          <p:cNvSpPr>
            <a:spLocks noGrp="1"/>
          </p:cNvSpPr>
          <p:nvPr>
            <p:ph idx="1"/>
          </p:nvPr>
        </p:nvSpPr>
        <p:spPr>
          <a:xfrm>
            <a:off x="467140" y="1351722"/>
            <a:ext cx="11320670" cy="4896677"/>
          </a:xfrm>
        </p:spPr>
        <p:txBody>
          <a:bodyPr/>
          <a:lstStyle/>
          <a:p>
            <a:pPr marL="457200" indent="-457200" algn="just" eaLnBrk="1" fontAlgn="auto" hangingPunct="1">
              <a:spcBef>
                <a:spcPts val="0"/>
              </a:spcBef>
              <a:spcAft>
                <a:spcPts val="0"/>
              </a:spcAft>
              <a:buFont typeface="Arial" charset="0"/>
              <a:buNone/>
              <a:defRPr/>
            </a:pPr>
            <a:r>
              <a:rPr lang="en-US" dirty="0"/>
              <a:t>•	</a:t>
            </a:r>
            <a:r>
              <a:rPr lang="en-US" sz="2400" dirty="0"/>
              <a:t>Legislative and judiciary – important as mechanism of check and balance</a:t>
            </a:r>
          </a:p>
          <a:p>
            <a:pPr marL="457200" indent="-457200" algn="just" eaLnBrk="1" fontAlgn="auto" hangingPunct="1">
              <a:spcBef>
                <a:spcPts val="0"/>
              </a:spcBef>
              <a:spcAft>
                <a:spcPts val="0"/>
              </a:spcAft>
              <a:buFont typeface="Arial" charset="0"/>
              <a:buNone/>
              <a:defRPr/>
            </a:pPr>
            <a:r>
              <a:rPr lang="en-US" sz="2400" dirty="0"/>
              <a:t>•	Parliament plays an important role as a legislative body.</a:t>
            </a:r>
          </a:p>
          <a:p>
            <a:pPr marL="457200" indent="-457200" algn="just" eaLnBrk="1" fontAlgn="auto" hangingPunct="1">
              <a:spcBef>
                <a:spcPts val="0"/>
              </a:spcBef>
              <a:spcAft>
                <a:spcPts val="0"/>
              </a:spcAft>
              <a:buFont typeface="Arial" charset="0"/>
              <a:buNone/>
              <a:defRPr/>
            </a:pPr>
            <a:r>
              <a:rPr lang="en-US" sz="2400" dirty="0"/>
              <a:t>•	Judiciary in Malaysia - the only government body that does not have overlapping members as legislation and executive. </a:t>
            </a:r>
          </a:p>
          <a:p>
            <a:pPr marL="457200" indent="-457200" algn="just" eaLnBrk="1" fontAlgn="auto" hangingPunct="1">
              <a:spcBef>
                <a:spcPts val="0"/>
              </a:spcBef>
              <a:spcAft>
                <a:spcPts val="0"/>
              </a:spcAft>
              <a:buFont typeface="Arial" charset="0"/>
              <a:buNone/>
              <a:defRPr/>
            </a:pPr>
            <a:endParaRPr lang="en-MY" dirty="0"/>
          </a:p>
        </p:txBody>
      </p:sp>
    </p:spTree>
    <p:extLst>
      <p:ext uri="{BB962C8B-B14F-4D97-AF65-F5344CB8AC3E}">
        <p14:creationId xmlns:p14="http://schemas.microsoft.com/office/powerpoint/2010/main" val="31809234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7FDE30-B8BA-486D-C42F-59DE79C053F7}"/>
              </a:ext>
            </a:extLst>
          </p:cNvPr>
          <p:cNvSpPr>
            <a:spLocks noGrp="1"/>
          </p:cNvSpPr>
          <p:nvPr>
            <p:ph idx="1"/>
          </p:nvPr>
        </p:nvSpPr>
        <p:spPr>
          <a:xfrm>
            <a:off x="447262" y="298174"/>
            <a:ext cx="9602592" cy="6341165"/>
          </a:xfrm>
        </p:spPr>
        <p:txBody>
          <a:bodyPr>
            <a:normAutofit fontScale="40000" lnSpcReduction="20000"/>
          </a:bodyPr>
          <a:lstStyle/>
          <a:p>
            <a:pPr algn="just">
              <a:spcAft>
                <a:spcPts val="800"/>
              </a:spcAft>
            </a:pPr>
            <a:r>
              <a:rPr lang="en-US" sz="3000" b="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Reflection</a:t>
            </a:r>
            <a:endParaRPr lang="en-MY" sz="2200" b="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p>
            <a:pPr lvl="1" indent="-342900" algn="just">
              <a:spcAft>
                <a:spcPts val="800"/>
              </a:spcAft>
              <a:buFont typeface="Arial" panose="020B0604020202020204" pitchFamily="34" charset="0"/>
              <a:buChar char="•"/>
            </a:pPr>
            <a:r>
              <a:rPr lang="en-US" sz="2900" dirty="0">
                <a:effectLst/>
                <a:latin typeface="Arial" panose="020B0604020202020204" pitchFamily="34" charset="0"/>
                <a:ea typeface="Arial" panose="020B0604020202020204" pitchFamily="34" charset="0"/>
                <a:cs typeface="Arial" panose="020B0604020202020204" pitchFamily="34" charset="0"/>
              </a:rPr>
              <a:t>What are the main function of legislative and judiciary?</a:t>
            </a:r>
            <a:endParaRPr lang="en-MY" sz="2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900" dirty="0">
                <a:effectLst/>
                <a:latin typeface="Arial" panose="020B0604020202020204" pitchFamily="34" charset="0"/>
                <a:ea typeface="Arial" panose="020B0604020202020204" pitchFamily="34" charset="0"/>
                <a:cs typeface="Arial" panose="020B0604020202020204" pitchFamily="34" charset="0"/>
              </a:rPr>
              <a:t>What are the stages involved in the drafting the bills?</a:t>
            </a:r>
            <a:endParaRPr lang="en-MY" sz="2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900" dirty="0">
                <a:effectLst/>
                <a:latin typeface="Arial" panose="020B0604020202020204" pitchFamily="34" charset="0"/>
                <a:ea typeface="Arial" panose="020B0604020202020204" pitchFamily="34" charset="0"/>
                <a:cs typeface="Arial" panose="020B0604020202020204" pitchFamily="34" charset="0"/>
              </a:rPr>
              <a:t>Which stage is proposing ideas or discussing the important aspects to be draft as a bill? </a:t>
            </a:r>
            <a:endParaRPr lang="en-MY" sz="2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900" dirty="0">
                <a:effectLst/>
                <a:latin typeface="Arial" panose="020B0604020202020204" pitchFamily="34" charset="0"/>
                <a:ea typeface="Arial" panose="020B0604020202020204" pitchFamily="34" charset="0"/>
                <a:cs typeface="Arial" panose="020B0604020202020204" pitchFamily="34" charset="0"/>
              </a:rPr>
              <a:t>Who are the person usually in charge of introducing the bill to the members of Parliament?</a:t>
            </a:r>
            <a:endParaRPr lang="en-MY" sz="2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900" dirty="0">
                <a:effectLst/>
                <a:latin typeface="Arial" panose="020B0604020202020204" pitchFamily="34" charset="0"/>
                <a:ea typeface="Arial" panose="020B0604020202020204" pitchFamily="34" charset="0"/>
                <a:cs typeface="Arial" panose="020B0604020202020204" pitchFamily="34" charset="0"/>
              </a:rPr>
              <a:t>Please draw the stages and flow in drafting the bill.</a:t>
            </a:r>
            <a:endParaRPr lang="en-MY" sz="2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900" dirty="0">
                <a:effectLst/>
                <a:latin typeface="Arial" panose="020B0604020202020204" pitchFamily="34" charset="0"/>
                <a:ea typeface="Arial" panose="020B0604020202020204" pitchFamily="34" charset="0"/>
                <a:cs typeface="Arial" panose="020B0604020202020204" pitchFamily="34" charset="0"/>
              </a:rPr>
              <a:t>What is the process happened in Second Reading?</a:t>
            </a:r>
            <a:endParaRPr lang="en-MY" sz="2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900" dirty="0">
                <a:effectLst/>
                <a:latin typeface="Arial" panose="020B0604020202020204" pitchFamily="34" charset="0"/>
                <a:ea typeface="Arial" panose="020B0604020202020204" pitchFamily="34" charset="0"/>
                <a:cs typeface="Arial" panose="020B0604020202020204" pitchFamily="34" charset="0"/>
              </a:rPr>
              <a:t>How many days for the Yang di-</a:t>
            </a:r>
            <a:r>
              <a:rPr lang="en-US" sz="2900" dirty="0" err="1">
                <a:effectLst/>
                <a:latin typeface="Arial" panose="020B0604020202020204" pitchFamily="34" charset="0"/>
                <a:ea typeface="Arial" panose="020B0604020202020204" pitchFamily="34" charset="0"/>
                <a:cs typeface="Arial" panose="020B0604020202020204" pitchFamily="34" charset="0"/>
              </a:rPr>
              <a:t>Pertuan</a:t>
            </a:r>
            <a:r>
              <a:rPr lang="en-US" sz="2900" dirty="0">
                <a:effectLst/>
                <a:latin typeface="Arial" panose="020B0604020202020204" pitchFamily="34" charset="0"/>
                <a:ea typeface="Arial" panose="020B0604020202020204" pitchFamily="34" charset="0"/>
                <a:cs typeface="Arial" panose="020B0604020202020204" pitchFamily="34" charset="0"/>
              </a:rPr>
              <a:t> </a:t>
            </a:r>
            <a:r>
              <a:rPr lang="en-US" sz="2900" dirty="0" err="1">
                <a:effectLst/>
                <a:latin typeface="Arial" panose="020B0604020202020204" pitchFamily="34" charset="0"/>
                <a:ea typeface="Arial" panose="020B0604020202020204" pitchFamily="34" charset="0"/>
                <a:cs typeface="Arial" panose="020B0604020202020204" pitchFamily="34" charset="0"/>
              </a:rPr>
              <a:t>Agong</a:t>
            </a:r>
            <a:r>
              <a:rPr lang="en-US" sz="2900" dirty="0">
                <a:effectLst/>
                <a:latin typeface="Arial" panose="020B0604020202020204" pitchFamily="34" charset="0"/>
                <a:ea typeface="Arial" panose="020B0604020202020204" pitchFamily="34" charset="0"/>
                <a:cs typeface="Arial" panose="020B0604020202020204" pitchFamily="34" charset="0"/>
              </a:rPr>
              <a:t> need to grant the assent for a bill?</a:t>
            </a:r>
            <a:endParaRPr lang="en-MY" sz="2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900" dirty="0">
                <a:effectLst/>
                <a:latin typeface="Arial" panose="020B0604020202020204" pitchFamily="34" charset="0"/>
                <a:ea typeface="Arial" panose="020B0604020202020204" pitchFamily="34" charset="0"/>
                <a:cs typeface="Arial" panose="020B0604020202020204" pitchFamily="34" charset="0"/>
              </a:rPr>
              <a:t>Who is the head of legislative body?</a:t>
            </a:r>
            <a:endParaRPr lang="en-MY" sz="2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900" dirty="0">
                <a:effectLst/>
                <a:latin typeface="Arial" panose="020B0604020202020204" pitchFamily="34" charset="0"/>
                <a:ea typeface="Arial" panose="020B0604020202020204" pitchFamily="34" charset="0"/>
                <a:cs typeface="Arial" panose="020B0604020202020204" pitchFamily="34" charset="0"/>
              </a:rPr>
              <a:t>Who are the members of Dewan Rakyat?</a:t>
            </a:r>
            <a:endParaRPr lang="en-MY" sz="2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900" dirty="0">
                <a:effectLst/>
                <a:latin typeface="Arial" panose="020B0604020202020204" pitchFamily="34" charset="0"/>
                <a:ea typeface="Arial" panose="020B0604020202020204" pitchFamily="34" charset="0"/>
                <a:cs typeface="Arial" panose="020B0604020202020204" pitchFamily="34" charset="0"/>
              </a:rPr>
              <a:t>How long the tenure of members of Dewan Rakyat?</a:t>
            </a:r>
            <a:endParaRPr lang="en-MY" sz="2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900" dirty="0">
                <a:effectLst/>
                <a:latin typeface="Arial" panose="020B0604020202020204" pitchFamily="34" charset="0"/>
                <a:ea typeface="Arial" panose="020B0604020202020204" pitchFamily="34" charset="0"/>
                <a:cs typeface="Arial" panose="020B0604020202020204" pitchFamily="34" charset="0"/>
              </a:rPr>
              <a:t>What is the minimum age of the member of Dewan Negara?</a:t>
            </a:r>
            <a:endParaRPr lang="en-MY" sz="2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900" dirty="0">
                <a:effectLst/>
                <a:latin typeface="Arial" panose="020B0604020202020204" pitchFamily="34" charset="0"/>
                <a:ea typeface="Arial" panose="020B0604020202020204" pitchFamily="34" charset="0"/>
                <a:cs typeface="Arial" panose="020B0604020202020204" pitchFamily="34" charset="0"/>
              </a:rPr>
              <a:t>What is the main role of Dewan Negara?</a:t>
            </a:r>
            <a:endParaRPr lang="en-MY" sz="2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900" dirty="0">
                <a:effectLst/>
                <a:latin typeface="Arial" panose="020B0604020202020204" pitchFamily="34" charset="0"/>
                <a:ea typeface="Arial" panose="020B0604020202020204" pitchFamily="34" charset="0"/>
                <a:cs typeface="Arial" panose="020B0604020202020204" pitchFamily="34" charset="0"/>
              </a:rPr>
              <a:t>How the Chief of Judge is appointed?</a:t>
            </a:r>
            <a:endParaRPr lang="en-MY" sz="2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900" dirty="0">
                <a:effectLst/>
                <a:latin typeface="Arial" panose="020B0604020202020204" pitchFamily="34" charset="0"/>
                <a:ea typeface="Arial" panose="020B0604020202020204" pitchFamily="34" charset="0"/>
                <a:cs typeface="Arial" panose="020B0604020202020204" pitchFamily="34" charset="0"/>
              </a:rPr>
              <a:t>What is the responsibility of a judge?</a:t>
            </a:r>
            <a:endParaRPr lang="en-MY" sz="2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900" dirty="0">
                <a:effectLst/>
                <a:latin typeface="Arial" panose="020B0604020202020204" pitchFamily="34" charset="0"/>
                <a:ea typeface="Arial" panose="020B0604020202020204" pitchFamily="34" charset="0"/>
                <a:cs typeface="Arial" panose="020B0604020202020204" pitchFamily="34" charset="0"/>
              </a:rPr>
              <a:t>What is the position of Syariah court in the Malaysian court system?</a:t>
            </a:r>
            <a:endParaRPr lang="en-MY" sz="2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2900" dirty="0">
                <a:effectLst/>
                <a:latin typeface="Arial" panose="020B0604020202020204" pitchFamily="34" charset="0"/>
                <a:ea typeface="Arial" panose="020B0604020202020204" pitchFamily="34" charset="0"/>
                <a:cs typeface="Arial" panose="020B0604020202020204" pitchFamily="34" charset="0"/>
              </a:rPr>
              <a:t>What do you understand about the </a:t>
            </a:r>
            <a:r>
              <a:rPr lang="en-US" sz="2900" i="1" dirty="0">
                <a:effectLst/>
                <a:latin typeface="Arial" panose="020B0604020202020204" pitchFamily="34" charset="0"/>
                <a:ea typeface="Arial" panose="020B0604020202020204" pitchFamily="34" charset="0"/>
                <a:cs typeface="Arial" panose="020B0604020202020204" pitchFamily="34" charset="0"/>
              </a:rPr>
              <a:t>Judicial Independence</a:t>
            </a:r>
            <a:r>
              <a:rPr lang="en-US" sz="2900" dirty="0">
                <a:effectLst/>
                <a:latin typeface="Arial" panose="020B0604020202020204" pitchFamily="34" charset="0"/>
                <a:ea typeface="Arial" panose="020B0604020202020204" pitchFamily="34" charset="0"/>
                <a:cs typeface="Arial" panose="020B0604020202020204" pitchFamily="34" charset="0"/>
              </a:rPr>
              <a:t>?</a:t>
            </a:r>
            <a:endParaRPr lang="en-MY" sz="2900" dirty="0">
              <a:effectLst/>
              <a:latin typeface="Arial" panose="020B0604020202020204" pitchFamily="34" charset="0"/>
              <a:ea typeface="Arial" panose="020B0604020202020204" pitchFamily="34" charset="0"/>
              <a:cs typeface="Arial" panose="020B0604020202020204" pitchFamily="34" charset="0"/>
            </a:endParaRPr>
          </a:p>
          <a:p>
            <a:pPr marL="0" indent="0">
              <a:buNone/>
            </a:pPr>
            <a:endParaRPr lang="en-MY" dirty="0"/>
          </a:p>
        </p:txBody>
      </p:sp>
    </p:spTree>
    <p:extLst>
      <p:ext uri="{BB962C8B-B14F-4D97-AF65-F5344CB8AC3E}">
        <p14:creationId xmlns:p14="http://schemas.microsoft.com/office/powerpoint/2010/main" val="19806343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660</TotalTime>
  <Words>3640</Words>
  <Application>Microsoft Office PowerPoint</Application>
  <PresentationFormat>Widescreen</PresentationFormat>
  <Paragraphs>324</Paragraphs>
  <Slides>33</Slides>
  <Notes>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33</vt:i4>
      </vt:variant>
    </vt:vector>
  </HeadingPairs>
  <TitlesOfParts>
    <vt:vector size="43" baseType="lpstr">
      <vt:lpstr>Arial</vt:lpstr>
      <vt:lpstr>Calibri</vt:lpstr>
      <vt:lpstr>Century Gothic</vt:lpstr>
      <vt:lpstr>Noto Sans Symbols</vt:lpstr>
      <vt:lpstr>Symbol</vt:lpstr>
      <vt:lpstr>Times New Roman</vt:lpstr>
      <vt:lpstr>Wingdings 3</vt:lpstr>
      <vt:lpstr>Ion</vt:lpstr>
      <vt:lpstr>1_Office Theme</vt:lpstr>
      <vt:lpstr>Office Theme</vt:lpstr>
      <vt:lpstr>FEM2401 Malaysian Politics &amp; Society  TOPIC 9: LEGISLATIVE AND JUDICIARY</vt:lpstr>
      <vt:lpstr>PowerPoint Presentation</vt:lpstr>
      <vt:lpstr>PowerPoint Presentation</vt:lpstr>
      <vt:lpstr>BACKGROUND OF LEGAL AND JUDICIAL SYSTEM IN MALAYSIA</vt:lpstr>
      <vt:lpstr>PowerPoint Presentation</vt:lpstr>
      <vt:lpstr>PowerPoint Presentation</vt:lpstr>
      <vt:lpstr>PowerPoint Presentation</vt:lpstr>
      <vt:lpstr>PowerPoint Presentation</vt:lpstr>
      <vt:lpstr>LEGISLATIVE PROCESS</vt:lpstr>
      <vt:lpstr>PowerPoint Presentation</vt:lpstr>
      <vt:lpstr>PowerPoint Presentation</vt:lpstr>
      <vt:lpstr>PowerPoint Presentation</vt:lpstr>
      <vt:lpstr>DEFINITION OF LEGISLATION TERMS</vt:lpstr>
      <vt:lpstr>POSITION IN THE PARLIAMENT</vt:lpstr>
      <vt:lpstr>SPEAKER/PRESIDENT OF DEWAN NEGARA (SENATE)</vt:lpstr>
      <vt:lpstr>PowerPoint Presentation</vt:lpstr>
      <vt:lpstr>PowerPoint Presentation</vt:lpstr>
      <vt:lpstr>THE FUNCTION OF JUDICIARY</vt:lpstr>
      <vt:lpstr>JUDICIARY IN MALAYSIA</vt:lpstr>
      <vt:lpstr>MALAYSIAN COURT SYSTEM</vt:lpstr>
      <vt:lpstr>PowerPoint Presentation</vt:lpstr>
      <vt:lpstr>PowerPoint Presentation</vt:lpstr>
      <vt:lpstr>PowerPoint Presentation</vt:lpstr>
      <vt:lpstr>SYARIAH COURT</vt:lpstr>
      <vt:lpstr>PowerPoint Presentation</vt:lpstr>
      <vt:lpstr>JUDGES OF THE SUPERIOR COURTS</vt:lpstr>
      <vt:lpstr>PowerPoint Presentation</vt:lpstr>
      <vt:lpstr>JUDGE</vt:lpstr>
      <vt:lpstr>HOW ARE LAWS ENFORCED?</vt:lpstr>
      <vt:lpstr>THE CONCEPT OF JUDICIAL INDEPENDENCE</vt:lpstr>
      <vt:lpstr>INDEPENDENCE OF THE JUDICIARY IN MALAYSIA</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MPU2163 Pengajian Malaysia 2</dc:title>
  <dc:creator>Fitri</dc:creator>
  <cp:lastModifiedBy>Amir Munshi</cp:lastModifiedBy>
  <cp:revision>255</cp:revision>
  <dcterms:created xsi:type="dcterms:W3CDTF">2021-06-21T02:18:24Z</dcterms:created>
  <dcterms:modified xsi:type="dcterms:W3CDTF">2023-12-21T09:24:58Z</dcterms:modified>
</cp:coreProperties>
</file>