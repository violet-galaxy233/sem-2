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1" r:id="rId1"/>
  </p:sldMasterIdLst>
  <p:notesMasterIdLst>
    <p:notesMasterId r:id="rId52"/>
  </p:notesMasterIdLst>
  <p:handoutMasterIdLst>
    <p:handoutMasterId r:id="rId53"/>
  </p:handoutMasterIdLst>
  <p:sldIdLst>
    <p:sldId id="256" r:id="rId2"/>
    <p:sldId id="257" r:id="rId3"/>
    <p:sldId id="258" r:id="rId4"/>
    <p:sldId id="292" r:id="rId5"/>
    <p:sldId id="259" r:id="rId6"/>
    <p:sldId id="260" r:id="rId7"/>
    <p:sldId id="261" r:id="rId8"/>
    <p:sldId id="267" r:id="rId9"/>
    <p:sldId id="263" r:id="rId10"/>
    <p:sldId id="264" r:id="rId11"/>
    <p:sldId id="265" r:id="rId12"/>
    <p:sldId id="266" r:id="rId13"/>
    <p:sldId id="268" r:id="rId14"/>
    <p:sldId id="269" r:id="rId15"/>
    <p:sldId id="270" r:id="rId16"/>
    <p:sldId id="271" r:id="rId17"/>
    <p:sldId id="272" r:id="rId18"/>
    <p:sldId id="273" r:id="rId19"/>
    <p:sldId id="274" r:id="rId20"/>
    <p:sldId id="275" r:id="rId21"/>
    <p:sldId id="276" r:id="rId22"/>
    <p:sldId id="293" r:id="rId23"/>
    <p:sldId id="294"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91" r:id="rId37"/>
    <p:sldId id="299" r:id="rId38"/>
    <p:sldId id="295" r:id="rId39"/>
    <p:sldId id="296" r:id="rId40"/>
    <p:sldId id="297" r:id="rId41"/>
    <p:sldId id="298" r:id="rId42"/>
    <p:sldId id="300" r:id="rId43"/>
    <p:sldId id="301" r:id="rId44"/>
    <p:sldId id="302" r:id="rId45"/>
    <p:sldId id="306" r:id="rId46"/>
    <p:sldId id="303" r:id="rId47"/>
    <p:sldId id="304" r:id="rId48"/>
    <p:sldId id="305" r:id="rId49"/>
    <p:sldId id="289" r:id="rId50"/>
    <p:sldId id="290" r:id="rId51"/>
  </p:sldIdLst>
  <p:sldSz cx="9144000" cy="6858000" type="screen4x3"/>
  <p:notesSz cx="6761163" cy="9942513"/>
  <p:defaultTextStyle>
    <a:defPPr>
      <a:defRPr lang="en-US"/>
    </a:defPPr>
    <a:lvl1pPr algn="l" rtl="0" fontAlgn="base">
      <a:spcBef>
        <a:spcPct val="0"/>
      </a:spcBef>
      <a:spcAft>
        <a:spcPct val="0"/>
      </a:spcAft>
      <a:defRPr sz="2400" kern="1200">
        <a:solidFill>
          <a:schemeClr val="tx1"/>
        </a:solidFill>
        <a:latin typeface="Tahoma" pitchFamily="34" charset="0"/>
        <a:ea typeface="+mn-ea"/>
        <a:cs typeface="Times New Roman" charset="0"/>
      </a:defRPr>
    </a:lvl1pPr>
    <a:lvl2pPr marL="457200" algn="l" rtl="0" fontAlgn="base">
      <a:spcBef>
        <a:spcPct val="0"/>
      </a:spcBef>
      <a:spcAft>
        <a:spcPct val="0"/>
      </a:spcAft>
      <a:defRPr sz="2400" kern="1200">
        <a:solidFill>
          <a:schemeClr val="tx1"/>
        </a:solidFill>
        <a:latin typeface="Tahoma" pitchFamily="34" charset="0"/>
        <a:ea typeface="+mn-ea"/>
        <a:cs typeface="Times New Roman" charset="0"/>
      </a:defRPr>
    </a:lvl2pPr>
    <a:lvl3pPr marL="914400" algn="l" rtl="0" fontAlgn="base">
      <a:spcBef>
        <a:spcPct val="0"/>
      </a:spcBef>
      <a:spcAft>
        <a:spcPct val="0"/>
      </a:spcAft>
      <a:defRPr sz="2400" kern="1200">
        <a:solidFill>
          <a:schemeClr val="tx1"/>
        </a:solidFill>
        <a:latin typeface="Tahoma" pitchFamily="34" charset="0"/>
        <a:ea typeface="+mn-ea"/>
        <a:cs typeface="Times New Roman" charset="0"/>
      </a:defRPr>
    </a:lvl3pPr>
    <a:lvl4pPr marL="1371600" algn="l" rtl="0" fontAlgn="base">
      <a:spcBef>
        <a:spcPct val="0"/>
      </a:spcBef>
      <a:spcAft>
        <a:spcPct val="0"/>
      </a:spcAft>
      <a:defRPr sz="2400" kern="1200">
        <a:solidFill>
          <a:schemeClr val="tx1"/>
        </a:solidFill>
        <a:latin typeface="Tahoma" pitchFamily="34" charset="0"/>
        <a:ea typeface="+mn-ea"/>
        <a:cs typeface="Times New Roman" charset="0"/>
      </a:defRPr>
    </a:lvl4pPr>
    <a:lvl5pPr marL="1828800" algn="l" rtl="0" fontAlgn="base">
      <a:spcBef>
        <a:spcPct val="0"/>
      </a:spcBef>
      <a:spcAft>
        <a:spcPct val="0"/>
      </a:spcAft>
      <a:defRPr sz="2400" kern="1200">
        <a:solidFill>
          <a:schemeClr val="tx1"/>
        </a:solidFill>
        <a:latin typeface="Tahoma" pitchFamily="34" charset="0"/>
        <a:ea typeface="+mn-ea"/>
        <a:cs typeface="Times New Roman" charset="0"/>
      </a:defRPr>
    </a:lvl5pPr>
    <a:lvl6pPr marL="2286000" algn="l" defTabSz="914400" rtl="0" eaLnBrk="1" latinLnBrk="0" hangingPunct="1">
      <a:defRPr sz="2400" kern="1200">
        <a:solidFill>
          <a:schemeClr val="tx1"/>
        </a:solidFill>
        <a:latin typeface="Tahoma" pitchFamily="34" charset="0"/>
        <a:ea typeface="+mn-ea"/>
        <a:cs typeface="Times New Roman" charset="0"/>
      </a:defRPr>
    </a:lvl6pPr>
    <a:lvl7pPr marL="2743200" algn="l" defTabSz="914400" rtl="0" eaLnBrk="1" latinLnBrk="0" hangingPunct="1">
      <a:defRPr sz="2400" kern="1200">
        <a:solidFill>
          <a:schemeClr val="tx1"/>
        </a:solidFill>
        <a:latin typeface="Tahoma" pitchFamily="34" charset="0"/>
        <a:ea typeface="+mn-ea"/>
        <a:cs typeface="Times New Roman" charset="0"/>
      </a:defRPr>
    </a:lvl7pPr>
    <a:lvl8pPr marL="3200400" algn="l" defTabSz="914400" rtl="0" eaLnBrk="1" latinLnBrk="0" hangingPunct="1">
      <a:defRPr sz="2400" kern="1200">
        <a:solidFill>
          <a:schemeClr val="tx1"/>
        </a:solidFill>
        <a:latin typeface="Tahoma" pitchFamily="34" charset="0"/>
        <a:ea typeface="+mn-ea"/>
        <a:cs typeface="Times New Roman" charset="0"/>
      </a:defRPr>
    </a:lvl8pPr>
    <a:lvl9pPr marL="3657600" algn="l" defTabSz="914400" rtl="0" eaLnBrk="1" latinLnBrk="0" hangingPunct="1">
      <a:defRPr sz="2400" kern="1200">
        <a:solidFill>
          <a:schemeClr val="tx1"/>
        </a:solidFill>
        <a:latin typeface="Tahoma" pitchFamily="34" charset="0"/>
        <a:ea typeface="+mn-ea"/>
        <a:cs typeface="Times New Roman"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188"/>
    <p:restoredTop sz="51543"/>
  </p:normalViewPr>
  <p:slideViewPr>
    <p:cSldViewPr>
      <p:cViewPr varScale="1">
        <p:scale>
          <a:sx n="54" d="100"/>
          <a:sy n="54" d="100"/>
        </p:scale>
        <p:origin x="3176" y="20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3582"/>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handoutMaster" Target="handoutMasters/handout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29837" cy="497126"/>
          </a:xfrm>
          <a:prstGeom prst="rect">
            <a:avLst/>
          </a:prstGeom>
        </p:spPr>
        <p:txBody>
          <a:bodyPr vert="horz" lIns="91440" tIns="45720" rIns="91440" bIns="45720" rtlCol="0"/>
          <a:lstStyle>
            <a:lvl1pPr algn="l">
              <a:defRPr sz="1200"/>
            </a:lvl1pPr>
          </a:lstStyle>
          <a:p>
            <a:endParaRPr lang="en-MY"/>
          </a:p>
        </p:txBody>
      </p:sp>
      <p:sp>
        <p:nvSpPr>
          <p:cNvPr id="3" name="Date Placeholder 2"/>
          <p:cNvSpPr>
            <a:spLocks noGrp="1"/>
          </p:cNvSpPr>
          <p:nvPr>
            <p:ph type="dt" sz="quarter" idx="1"/>
          </p:nvPr>
        </p:nvSpPr>
        <p:spPr>
          <a:xfrm>
            <a:off x="3829761" y="0"/>
            <a:ext cx="2929837" cy="497126"/>
          </a:xfrm>
          <a:prstGeom prst="rect">
            <a:avLst/>
          </a:prstGeom>
        </p:spPr>
        <p:txBody>
          <a:bodyPr vert="horz" lIns="91440" tIns="45720" rIns="91440" bIns="45720" rtlCol="0"/>
          <a:lstStyle>
            <a:lvl1pPr algn="r">
              <a:defRPr sz="1200"/>
            </a:lvl1pPr>
          </a:lstStyle>
          <a:p>
            <a:fld id="{7D2D3A9F-B872-422D-A710-54739F57A08C}" type="datetimeFigureOut">
              <a:rPr lang="en-MY" smtClean="0"/>
              <a:t>20/05/2025</a:t>
            </a:fld>
            <a:endParaRPr lang="en-MY"/>
          </a:p>
        </p:txBody>
      </p:sp>
      <p:sp>
        <p:nvSpPr>
          <p:cNvPr id="4" name="Footer Placeholder 3"/>
          <p:cNvSpPr>
            <a:spLocks noGrp="1"/>
          </p:cNvSpPr>
          <p:nvPr>
            <p:ph type="ftr" sz="quarter" idx="2"/>
          </p:nvPr>
        </p:nvSpPr>
        <p:spPr>
          <a:xfrm>
            <a:off x="0" y="9443662"/>
            <a:ext cx="2929837" cy="497126"/>
          </a:xfrm>
          <a:prstGeom prst="rect">
            <a:avLst/>
          </a:prstGeom>
        </p:spPr>
        <p:txBody>
          <a:bodyPr vert="horz" lIns="91440" tIns="45720" rIns="91440" bIns="45720" rtlCol="0" anchor="b"/>
          <a:lstStyle>
            <a:lvl1pPr algn="l">
              <a:defRPr sz="1200"/>
            </a:lvl1pPr>
          </a:lstStyle>
          <a:p>
            <a:endParaRPr lang="en-MY"/>
          </a:p>
        </p:txBody>
      </p:sp>
      <p:sp>
        <p:nvSpPr>
          <p:cNvPr id="5" name="Slide Number Placeholder 4"/>
          <p:cNvSpPr>
            <a:spLocks noGrp="1"/>
          </p:cNvSpPr>
          <p:nvPr>
            <p:ph type="sldNum" sz="quarter" idx="3"/>
          </p:nvPr>
        </p:nvSpPr>
        <p:spPr>
          <a:xfrm>
            <a:off x="3829761" y="9443662"/>
            <a:ext cx="2929837" cy="497126"/>
          </a:xfrm>
          <a:prstGeom prst="rect">
            <a:avLst/>
          </a:prstGeom>
        </p:spPr>
        <p:txBody>
          <a:bodyPr vert="horz" lIns="91440" tIns="45720" rIns="91440" bIns="45720" rtlCol="0" anchor="b"/>
          <a:lstStyle>
            <a:lvl1pPr algn="r">
              <a:defRPr sz="1200"/>
            </a:lvl1pPr>
          </a:lstStyle>
          <a:p>
            <a:fld id="{31862165-D603-48CE-92D5-8240D8B13EB2}" type="slidenum">
              <a:rPr lang="en-MY" smtClean="0"/>
              <a:t>‹#›</a:t>
            </a:fld>
            <a:endParaRPr lang="en-MY"/>
          </a:p>
        </p:txBody>
      </p:sp>
    </p:spTree>
    <p:extLst>
      <p:ext uri="{BB962C8B-B14F-4D97-AF65-F5344CB8AC3E}">
        <p14:creationId xmlns:p14="http://schemas.microsoft.com/office/powerpoint/2010/main" val="414270222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30525" cy="4984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29050" y="0"/>
            <a:ext cx="2930525" cy="498475"/>
          </a:xfrm>
          <a:prstGeom prst="rect">
            <a:avLst/>
          </a:prstGeom>
        </p:spPr>
        <p:txBody>
          <a:bodyPr vert="horz" lIns="91440" tIns="45720" rIns="91440" bIns="45720" rtlCol="0"/>
          <a:lstStyle>
            <a:lvl1pPr algn="r">
              <a:defRPr sz="1200"/>
            </a:lvl1pPr>
          </a:lstStyle>
          <a:p>
            <a:fld id="{70E33301-987F-C84E-99D7-8B96DB263624}" type="datetimeFigureOut">
              <a:rPr lang="en-US" smtClean="0"/>
              <a:t>5/20/25</a:t>
            </a:fld>
            <a:endParaRPr lang="en-US"/>
          </a:p>
        </p:txBody>
      </p:sp>
      <p:sp>
        <p:nvSpPr>
          <p:cNvPr id="4" name="Slide Image Placeholder 3"/>
          <p:cNvSpPr>
            <a:spLocks noGrp="1" noRot="1" noChangeAspect="1"/>
          </p:cNvSpPr>
          <p:nvPr>
            <p:ph type="sldImg" idx="2"/>
          </p:nvPr>
        </p:nvSpPr>
        <p:spPr>
          <a:xfrm>
            <a:off x="1143000" y="1243013"/>
            <a:ext cx="4475163" cy="33559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6275" y="4784725"/>
            <a:ext cx="5408613" cy="3914775"/>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9444038"/>
            <a:ext cx="2930525" cy="49847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29050" y="9444038"/>
            <a:ext cx="2930525" cy="498475"/>
          </a:xfrm>
          <a:prstGeom prst="rect">
            <a:avLst/>
          </a:prstGeom>
        </p:spPr>
        <p:txBody>
          <a:bodyPr vert="horz" lIns="91440" tIns="45720" rIns="91440" bIns="45720" rtlCol="0" anchor="b"/>
          <a:lstStyle>
            <a:lvl1pPr algn="r">
              <a:defRPr sz="1200"/>
            </a:lvl1pPr>
          </a:lstStyle>
          <a:p>
            <a:fld id="{472BE0EC-C2CB-9A4F-BEE2-C0D4BFE4F01C}" type="slidenum">
              <a:rPr lang="en-US" smtClean="0"/>
              <a:t>‹#›</a:t>
            </a:fld>
            <a:endParaRPr lang="en-US"/>
          </a:p>
        </p:txBody>
      </p:sp>
    </p:spTree>
    <p:extLst>
      <p:ext uri="{BB962C8B-B14F-4D97-AF65-F5344CB8AC3E}">
        <p14:creationId xmlns:p14="http://schemas.microsoft.com/office/powerpoint/2010/main" val="20072633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72BE0EC-C2CB-9A4F-BEE2-C0D4BFE4F01C}" type="slidenum">
              <a:rPr lang="en-US" smtClean="0"/>
              <a:t>2</a:t>
            </a:fld>
            <a:endParaRPr lang="en-US"/>
          </a:p>
        </p:txBody>
      </p:sp>
    </p:spTree>
    <p:extLst>
      <p:ext uri="{BB962C8B-B14F-4D97-AF65-F5344CB8AC3E}">
        <p14:creationId xmlns:p14="http://schemas.microsoft.com/office/powerpoint/2010/main" val="12621628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fld id="{472BE0EC-C2CB-9A4F-BEE2-C0D4BFE4F01C}" type="slidenum">
              <a:rPr lang="en-US" smtClean="0"/>
              <a:t>3</a:t>
            </a:fld>
            <a:endParaRPr lang="en-US"/>
          </a:p>
        </p:txBody>
      </p:sp>
    </p:spTree>
    <p:extLst>
      <p:ext uri="{BB962C8B-B14F-4D97-AF65-F5344CB8AC3E}">
        <p14:creationId xmlns:p14="http://schemas.microsoft.com/office/powerpoint/2010/main" val="2515016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72BE0EC-C2CB-9A4F-BEE2-C0D4BFE4F01C}" type="slidenum">
              <a:rPr lang="en-US" smtClean="0"/>
              <a:t>4</a:t>
            </a:fld>
            <a:endParaRPr lang="en-US"/>
          </a:p>
        </p:txBody>
      </p:sp>
    </p:spTree>
    <p:extLst>
      <p:ext uri="{BB962C8B-B14F-4D97-AF65-F5344CB8AC3E}">
        <p14:creationId xmlns:p14="http://schemas.microsoft.com/office/powerpoint/2010/main" val="38711374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72BE0EC-C2CB-9A4F-BEE2-C0D4BFE4F01C}" type="slidenum">
              <a:rPr lang="en-US" smtClean="0"/>
              <a:t>5</a:t>
            </a:fld>
            <a:endParaRPr lang="en-US"/>
          </a:p>
        </p:txBody>
      </p:sp>
    </p:spTree>
    <p:extLst>
      <p:ext uri="{BB962C8B-B14F-4D97-AF65-F5344CB8AC3E}">
        <p14:creationId xmlns:p14="http://schemas.microsoft.com/office/powerpoint/2010/main" val="36285654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b="1" dirty="0"/>
              <a:t>Cyber Technology</a:t>
            </a:r>
            <a:r>
              <a:rPr lang="en-MY" dirty="0"/>
              <a:t> refers to the set of tools, systems, and technologies used in the digital or virtual world, often involving the internet or networks.</a:t>
            </a:r>
          </a:p>
          <a:p>
            <a:endParaRPr lang="en-MY" dirty="0"/>
          </a:p>
          <a:p>
            <a:r>
              <a:rPr lang="en-MY" b="1" dirty="0"/>
              <a:t>Cyber realm  </a:t>
            </a:r>
            <a:r>
              <a:rPr lang="en-MY" dirty="0"/>
              <a:t>refers to activities or phenomena that occur exclusively within the virtual or digital space, not in the physical world. </a:t>
            </a:r>
            <a:endParaRPr lang="en-US" dirty="0"/>
          </a:p>
        </p:txBody>
      </p:sp>
      <p:sp>
        <p:nvSpPr>
          <p:cNvPr id="4" name="Slide Number Placeholder 3"/>
          <p:cNvSpPr>
            <a:spLocks noGrp="1"/>
          </p:cNvSpPr>
          <p:nvPr>
            <p:ph type="sldNum" sz="quarter" idx="5"/>
          </p:nvPr>
        </p:nvSpPr>
        <p:spPr/>
        <p:txBody>
          <a:bodyPr/>
          <a:lstStyle/>
          <a:p>
            <a:fld id="{472BE0EC-C2CB-9A4F-BEE2-C0D4BFE4F01C}" type="slidenum">
              <a:rPr lang="en-US" smtClean="0"/>
              <a:t>6</a:t>
            </a:fld>
            <a:endParaRPr lang="en-US"/>
          </a:p>
        </p:txBody>
      </p:sp>
    </p:spTree>
    <p:extLst>
      <p:ext uri="{BB962C8B-B14F-4D97-AF65-F5344CB8AC3E}">
        <p14:creationId xmlns:p14="http://schemas.microsoft.com/office/powerpoint/2010/main" val="13158451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a:p>
            <a:r>
              <a:rPr lang="en-MY" b="1" dirty="0" err="1"/>
              <a:t>Cyberexacerbated</a:t>
            </a:r>
            <a:r>
              <a:rPr lang="en-MY" b="1" dirty="0"/>
              <a:t> crime</a:t>
            </a:r>
            <a:r>
              <a:rPr lang="en-MY" dirty="0"/>
              <a:t> refers to a crime that is made worse or easier to commit because of the use of technology, especially the internet. It happens when criminals use online tools, social media, or other digital resources to:</a:t>
            </a:r>
            <a:endParaRPr lang="en-US" dirty="0"/>
          </a:p>
        </p:txBody>
      </p:sp>
      <p:sp>
        <p:nvSpPr>
          <p:cNvPr id="4" name="Slide Number Placeholder 3"/>
          <p:cNvSpPr>
            <a:spLocks noGrp="1"/>
          </p:cNvSpPr>
          <p:nvPr>
            <p:ph type="sldNum" sz="quarter" idx="5"/>
          </p:nvPr>
        </p:nvSpPr>
        <p:spPr/>
        <p:txBody>
          <a:bodyPr/>
          <a:lstStyle/>
          <a:p>
            <a:fld id="{472BE0EC-C2CB-9A4F-BEE2-C0D4BFE4F01C}" type="slidenum">
              <a:rPr lang="en-US" smtClean="0"/>
              <a:t>10</a:t>
            </a:fld>
            <a:endParaRPr lang="en-US"/>
          </a:p>
        </p:txBody>
      </p:sp>
    </p:spTree>
    <p:extLst>
      <p:ext uri="{BB962C8B-B14F-4D97-AF65-F5344CB8AC3E}">
        <p14:creationId xmlns:p14="http://schemas.microsoft.com/office/powerpoint/2010/main" val="12662620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b="1" dirty="0"/>
              <a:t>Cyber-Assisted Crime: Cyber-assisted crime</a:t>
            </a:r>
            <a:r>
              <a:rPr lang="en-MY" dirty="0"/>
              <a:t> is when technology or the internet helps someone commit a crime, but the crime itself could still happen without it. </a:t>
            </a:r>
            <a:r>
              <a:rPr lang="en-MY" b="1" dirty="0"/>
              <a:t>cyber-assisted crime</a:t>
            </a:r>
            <a:r>
              <a:rPr lang="en-MY" dirty="0"/>
              <a:t> is when digital tools make committing a crime easier or more efficient.</a:t>
            </a:r>
            <a:endParaRPr lang="en-MY" b="1" dirty="0"/>
          </a:p>
          <a:p>
            <a:endParaRPr lang="en-MY" b="1" dirty="0"/>
          </a:p>
        </p:txBody>
      </p:sp>
      <p:sp>
        <p:nvSpPr>
          <p:cNvPr id="4" name="Slide Number Placeholder 3"/>
          <p:cNvSpPr>
            <a:spLocks noGrp="1"/>
          </p:cNvSpPr>
          <p:nvPr>
            <p:ph type="sldNum" sz="quarter" idx="5"/>
          </p:nvPr>
        </p:nvSpPr>
        <p:spPr/>
        <p:txBody>
          <a:bodyPr/>
          <a:lstStyle/>
          <a:p>
            <a:fld id="{472BE0EC-C2CB-9A4F-BEE2-C0D4BFE4F01C}" type="slidenum">
              <a:rPr lang="en-US" smtClean="0"/>
              <a:t>11</a:t>
            </a:fld>
            <a:endParaRPr lang="en-US"/>
          </a:p>
        </p:txBody>
      </p:sp>
    </p:spTree>
    <p:extLst>
      <p:ext uri="{BB962C8B-B14F-4D97-AF65-F5344CB8AC3E}">
        <p14:creationId xmlns:p14="http://schemas.microsoft.com/office/powerpoint/2010/main" val="15755982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Char char="•"/>
            </a:pPr>
            <a:endParaRPr lang="en-MY" dirty="0"/>
          </a:p>
          <a:p>
            <a:endParaRPr lang="en-US" dirty="0"/>
          </a:p>
        </p:txBody>
      </p:sp>
      <p:sp>
        <p:nvSpPr>
          <p:cNvPr id="4" name="Slide Number Placeholder 3"/>
          <p:cNvSpPr>
            <a:spLocks noGrp="1"/>
          </p:cNvSpPr>
          <p:nvPr>
            <p:ph type="sldNum" sz="quarter" idx="5"/>
          </p:nvPr>
        </p:nvSpPr>
        <p:spPr/>
        <p:txBody>
          <a:bodyPr/>
          <a:lstStyle/>
          <a:p>
            <a:fld id="{472BE0EC-C2CB-9A4F-BEE2-C0D4BFE4F01C}" type="slidenum">
              <a:rPr lang="en-US" smtClean="0"/>
              <a:t>12</a:t>
            </a:fld>
            <a:endParaRPr lang="en-US"/>
          </a:p>
        </p:txBody>
      </p:sp>
    </p:spTree>
    <p:extLst>
      <p:ext uri="{BB962C8B-B14F-4D97-AF65-F5344CB8AC3E}">
        <p14:creationId xmlns:p14="http://schemas.microsoft.com/office/powerpoint/2010/main" val="34420626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72BE0EC-C2CB-9A4F-BEE2-C0D4BFE4F01C}" type="slidenum">
              <a:rPr lang="en-US" smtClean="0"/>
              <a:t>13</a:t>
            </a:fld>
            <a:endParaRPr lang="en-US"/>
          </a:p>
        </p:txBody>
      </p:sp>
    </p:spTree>
    <p:extLst>
      <p:ext uri="{BB962C8B-B14F-4D97-AF65-F5344CB8AC3E}">
        <p14:creationId xmlns:p14="http://schemas.microsoft.com/office/powerpoint/2010/main" val="27318650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72BE0EC-C2CB-9A4F-BEE2-C0D4BFE4F01C}" type="slidenum">
              <a:rPr lang="en-US" smtClean="0"/>
              <a:t>19</a:t>
            </a:fld>
            <a:endParaRPr lang="en-US"/>
          </a:p>
        </p:txBody>
      </p:sp>
    </p:spTree>
    <p:extLst>
      <p:ext uri="{BB962C8B-B14F-4D97-AF65-F5344CB8AC3E}">
        <p14:creationId xmlns:p14="http://schemas.microsoft.com/office/powerpoint/2010/main" val="32168494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72BE0EC-C2CB-9A4F-BEE2-C0D4BFE4F01C}" type="slidenum">
              <a:rPr lang="en-US" smtClean="0"/>
              <a:t>21</a:t>
            </a:fld>
            <a:endParaRPr lang="en-US"/>
          </a:p>
        </p:txBody>
      </p:sp>
    </p:spTree>
    <p:extLst>
      <p:ext uri="{BB962C8B-B14F-4D97-AF65-F5344CB8AC3E}">
        <p14:creationId xmlns:p14="http://schemas.microsoft.com/office/powerpoint/2010/main" val="14736608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72BE0EC-C2CB-9A4F-BEE2-C0D4BFE4F01C}" type="slidenum">
              <a:rPr lang="en-US" smtClean="0"/>
              <a:t>22</a:t>
            </a:fld>
            <a:endParaRPr lang="en-US"/>
          </a:p>
        </p:txBody>
      </p:sp>
    </p:spTree>
    <p:extLst>
      <p:ext uri="{BB962C8B-B14F-4D97-AF65-F5344CB8AC3E}">
        <p14:creationId xmlns:p14="http://schemas.microsoft.com/office/powerpoint/2010/main" val="2191931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72BE0EC-C2CB-9A4F-BEE2-C0D4BFE4F01C}" type="slidenum">
              <a:rPr lang="en-US" smtClean="0"/>
              <a:t>34</a:t>
            </a:fld>
            <a:endParaRPr lang="en-US"/>
          </a:p>
        </p:txBody>
      </p:sp>
    </p:spTree>
    <p:extLst>
      <p:ext uri="{BB962C8B-B14F-4D97-AF65-F5344CB8AC3E}">
        <p14:creationId xmlns:p14="http://schemas.microsoft.com/office/powerpoint/2010/main" val="15103392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7010400" y="152399"/>
            <a:ext cx="1981200" cy="655624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152400" y="153923"/>
            <a:ext cx="6705600" cy="6553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7010400" y="2052960"/>
            <a:ext cx="1981200" cy="1828800"/>
          </a:xfrm>
        </p:spPr>
        <p:txBody>
          <a:bodyPr anchor="ctr">
            <a:normAutofit/>
          </a:bodyPr>
          <a:lstStyle>
            <a:lvl1pPr marL="0" indent="0" algn="l">
              <a:buNone/>
              <a:defRPr sz="19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10" name="Date Placeholder 9"/>
          <p:cNvSpPr>
            <a:spLocks noGrp="1"/>
          </p:cNvSpPr>
          <p:nvPr>
            <p:ph type="dt" sz="half" idx="10"/>
          </p:nvPr>
        </p:nvSpPr>
        <p:spPr/>
        <p:txBody>
          <a:bodyPr/>
          <a:lstStyle>
            <a:lvl1pPr>
              <a:defRPr>
                <a:solidFill>
                  <a:schemeClr val="bg2"/>
                </a:solidFill>
              </a:defRPr>
            </a:lvl1pPr>
          </a:lstStyle>
          <a:p>
            <a:pPr>
              <a:defRPr/>
            </a:pPr>
            <a:endParaRPr lang="en-US"/>
          </a:p>
        </p:txBody>
      </p:sp>
      <p:sp>
        <p:nvSpPr>
          <p:cNvPr id="11" name="Slide Number Placeholder 10"/>
          <p:cNvSpPr>
            <a:spLocks noGrp="1"/>
          </p:cNvSpPr>
          <p:nvPr>
            <p:ph type="sldNum" sz="quarter" idx="11"/>
          </p:nvPr>
        </p:nvSpPr>
        <p:spPr/>
        <p:txBody>
          <a:bodyPr/>
          <a:lstStyle>
            <a:lvl1pPr>
              <a:defRPr>
                <a:solidFill>
                  <a:srgbClr val="FFFFFF"/>
                </a:solidFill>
              </a:defRPr>
            </a:lvl1pPr>
          </a:lstStyle>
          <a:p>
            <a:pPr>
              <a:defRPr/>
            </a:pPr>
            <a:fld id="{FEC6CAE3-9DA5-4C69-AB8B-6478065162BF}" type="slidenum">
              <a:rPr lang="en-US" smtClean="0"/>
              <a:pPr>
                <a:defRPr/>
              </a:pPr>
              <a:t>‹#›</a:t>
            </a:fld>
            <a:endParaRPr lang="en-US"/>
          </a:p>
        </p:txBody>
      </p:sp>
      <p:sp>
        <p:nvSpPr>
          <p:cNvPr id="12" name="Footer Placeholder 11"/>
          <p:cNvSpPr>
            <a:spLocks noGrp="1"/>
          </p:cNvSpPr>
          <p:nvPr>
            <p:ph type="ftr" sz="quarter" idx="12"/>
          </p:nvPr>
        </p:nvSpPr>
        <p:spPr/>
        <p:txBody>
          <a:bodyPr/>
          <a:lstStyle>
            <a:lvl1pPr>
              <a:defRPr>
                <a:solidFill>
                  <a:schemeClr val="bg2"/>
                </a:solidFill>
              </a:defRPr>
            </a:lvl1pPr>
          </a:lstStyle>
          <a:p>
            <a:pPr>
              <a:defRPr/>
            </a:pPr>
            <a:endParaRPr lang="en-US"/>
          </a:p>
        </p:txBody>
      </p:sp>
      <p:sp>
        <p:nvSpPr>
          <p:cNvPr id="13" name="Title 12"/>
          <p:cNvSpPr>
            <a:spLocks noGrp="1"/>
          </p:cNvSpPr>
          <p:nvPr>
            <p:ph type="title"/>
          </p:nvPr>
        </p:nvSpPr>
        <p:spPr>
          <a:xfrm>
            <a:off x="457200" y="2052960"/>
            <a:ext cx="6324600" cy="1828800"/>
          </a:xfrm>
        </p:spPr>
        <p:txBody>
          <a:bodyPr/>
          <a:lstStyle>
            <a:lvl1pPr algn="r">
              <a:defRPr sz="4200" spc="150" baseline="0"/>
            </a:lvl1pPr>
          </a:lstStyle>
          <a:p>
            <a:r>
              <a:rPr lang="en-US"/>
              <a:t>Click to edit Master title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85AC1872-BA43-4F0B-B85E-484FDA0713BF}" type="slidenum">
              <a:rPr lang="en-US" smtClean="0"/>
              <a:pPr>
                <a:defRPr/>
              </a:pPr>
              <a:t>‹#›</a:t>
            </a:fld>
            <a:endParaRPr lang="en-US"/>
          </a:p>
        </p:txBody>
      </p:sp>
      <p:sp>
        <p:nvSpPr>
          <p:cNvPr id="7" name="Title 6"/>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7010400" y="152399"/>
            <a:ext cx="1981200" cy="655624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152400" y="153923"/>
            <a:ext cx="6705600" cy="6553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p:cNvSpPr>
            <a:spLocks noGrp="1"/>
          </p:cNvSpPr>
          <p:nvPr>
            <p:ph type="body" idx="1"/>
          </p:nvPr>
        </p:nvSpPr>
        <p:spPr>
          <a:xfrm>
            <a:off x="7162799" y="2892277"/>
            <a:ext cx="1600201" cy="1645920"/>
          </a:xfrm>
        </p:spPr>
        <p:txBody>
          <a:bodyPr anchor="ctr"/>
          <a:lstStyle>
            <a:lvl1pPr marL="0" indent="0">
              <a:buNone/>
              <a:defRPr sz="2000">
                <a:solidFill>
                  <a:schemeClr val="bg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9" name="Date Placeholder 8"/>
          <p:cNvSpPr>
            <a:spLocks noGrp="1"/>
          </p:cNvSpPr>
          <p:nvPr>
            <p:ph type="dt" sz="half" idx="10"/>
          </p:nvPr>
        </p:nvSpPr>
        <p:spPr/>
        <p:txBody>
          <a:bodyPr/>
          <a:lstStyle>
            <a:lvl1pPr>
              <a:defRPr>
                <a:solidFill>
                  <a:srgbClr val="FFFFFF"/>
                </a:solidFill>
              </a:defRPr>
            </a:lvl1pPr>
          </a:lstStyle>
          <a:p>
            <a:pPr>
              <a:defRPr/>
            </a:pPr>
            <a:endParaRPr lang="en-US"/>
          </a:p>
        </p:txBody>
      </p:sp>
      <p:sp>
        <p:nvSpPr>
          <p:cNvPr id="10" name="Slide Number Placeholder 9"/>
          <p:cNvSpPr>
            <a:spLocks noGrp="1"/>
          </p:cNvSpPr>
          <p:nvPr>
            <p:ph type="sldNum" sz="quarter" idx="11"/>
          </p:nvPr>
        </p:nvSpPr>
        <p:spPr/>
        <p:txBody>
          <a:bodyPr/>
          <a:lstStyle>
            <a:lvl1pPr>
              <a:defRPr>
                <a:solidFill>
                  <a:schemeClr val="bg2"/>
                </a:solidFill>
              </a:defRPr>
            </a:lvl1pPr>
          </a:lstStyle>
          <a:p>
            <a:pPr>
              <a:defRPr/>
            </a:pPr>
            <a:fld id="{02EED4E1-B4B9-4BA6-AECE-096ACA5953CD}" type="slidenum">
              <a:rPr lang="en-US" smtClean="0"/>
              <a:pPr>
                <a:defRPr/>
              </a:pPr>
              <a:t>‹#›</a:t>
            </a:fld>
            <a:endParaRPr lang="en-US"/>
          </a:p>
        </p:txBody>
      </p:sp>
      <p:sp>
        <p:nvSpPr>
          <p:cNvPr id="11" name="Footer Placeholder 10"/>
          <p:cNvSpPr>
            <a:spLocks noGrp="1"/>
          </p:cNvSpPr>
          <p:nvPr>
            <p:ph type="ftr" sz="quarter" idx="12"/>
          </p:nvPr>
        </p:nvSpPr>
        <p:spPr/>
        <p:txBody>
          <a:bodyPr/>
          <a:lstStyle>
            <a:lvl1pPr>
              <a:defRPr>
                <a:solidFill>
                  <a:srgbClr val="FFFFFF"/>
                </a:solidFill>
              </a:defRPr>
            </a:lvl1pPr>
          </a:lstStyle>
          <a:p>
            <a:pPr>
              <a:defRPr/>
            </a:pPr>
            <a:endParaRPr lang="en-US"/>
          </a:p>
        </p:txBody>
      </p:sp>
      <p:sp>
        <p:nvSpPr>
          <p:cNvPr id="12" name="Title 11"/>
          <p:cNvSpPr>
            <a:spLocks noGrp="1"/>
          </p:cNvSpPr>
          <p:nvPr>
            <p:ph type="title"/>
          </p:nvPr>
        </p:nvSpPr>
        <p:spPr>
          <a:xfrm>
            <a:off x="381000" y="2892277"/>
            <a:ext cx="6324600" cy="1645920"/>
          </a:xfrm>
        </p:spPr>
        <p:txBody>
          <a:bodyPr/>
          <a:lstStyle>
            <a:lvl1pPr algn="r">
              <a:defRPr sz="4200" spc="150" baseline="0"/>
            </a:lvl1pPr>
          </a:lstStyle>
          <a:p>
            <a:r>
              <a:rPr lang="en-US"/>
              <a:t>Click to edit Master title style</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719072"/>
            <a:ext cx="4038600" cy="440740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719072"/>
            <a:ext cx="4038600" cy="440740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14BCA5DA-C99F-4A09-98E6-4F1B0CE4E9B0}" type="slidenum">
              <a:rPr lang="en-US" smtClean="0"/>
              <a:pPr>
                <a:defRPr/>
              </a:pPr>
              <a:t>‹#›</a:t>
            </a:fld>
            <a:endParaRPr lang="en-US"/>
          </a:p>
        </p:txBody>
      </p:sp>
      <p:sp>
        <p:nvSpPr>
          <p:cNvPr id="8" name="Title 7"/>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722438"/>
            <a:ext cx="4040188" cy="639762"/>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438399"/>
            <a:ext cx="4040188" cy="36877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722438"/>
            <a:ext cx="4041775" cy="639762"/>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438399"/>
            <a:ext cx="4041775" cy="36877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F094FF7C-611A-49B1-AF63-B22911055EE9}" type="slidenum">
              <a:rPr lang="en-US" smtClean="0"/>
              <a:pPr>
                <a:defRPr/>
              </a:pPr>
              <a:t>‹#›</a:t>
            </a:fld>
            <a:endParaRPr lang="en-US"/>
          </a:p>
        </p:txBody>
      </p:sp>
      <p:sp>
        <p:nvSpPr>
          <p:cNvPr id="10" name="Title 9"/>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pPr>
              <a:defRPr/>
            </a:pPr>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32AE0A22-65B4-41D0-8118-7354173502D0}" type="slidenum">
              <a:rPr lang="en-US" smtClean="0"/>
              <a:pPr>
                <a:defRPr/>
              </a:pPr>
              <a:t>‹#›</a:t>
            </a:fld>
            <a:endParaRPr lang="en-US"/>
          </a:p>
        </p:txBody>
      </p:sp>
      <p:sp>
        <p:nvSpPr>
          <p:cNvPr id="6" name="Title 5"/>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52400" y="150919"/>
            <a:ext cx="8831802" cy="655624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p:cNvSpPr>
            <a:spLocks noGrp="1"/>
          </p:cNvSpPr>
          <p:nvPr>
            <p:ph type="dt" sz="half"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84404668-CAD2-4862-BD77-CE233EF0235F}" type="slidenum">
              <a:rPr lang="en-US" smtClean="0"/>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2"/>
      </p:bgRef>
    </p:bg>
    <p:spTree>
      <p:nvGrpSpPr>
        <p:cNvPr id="1" name=""/>
        <p:cNvGrpSpPr/>
        <p:nvPr/>
      </p:nvGrpSpPr>
      <p:grpSpPr>
        <a:xfrm>
          <a:off x="0" y="0"/>
          <a:ext cx="0" cy="0"/>
          <a:chOff x="0" y="0"/>
          <a:chExt cx="0" cy="0"/>
        </a:xfrm>
      </p:grpSpPr>
      <p:sp>
        <p:nvSpPr>
          <p:cNvPr id="10" name="Rectangle 9"/>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7010400" y="150876"/>
            <a:ext cx="1981200" cy="655624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Rectangle 8"/>
          <p:cNvSpPr/>
          <p:nvPr/>
        </p:nvSpPr>
        <p:spPr>
          <a:xfrm>
            <a:off x="152400" y="152400"/>
            <a:ext cx="6705600" cy="6553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09600" y="304800"/>
            <a:ext cx="58674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159752" y="2130552"/>
            <a:ext cx="1673352" cy="2816352"/>
          </a:xfrm>
        </p:spPr>
        <p:txBody>
          <a:bodyPr tIns="0"/>
          <a:lstStyle>
            <a:lvl1pPr marL="0" indent="0">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a:ln>
            <a:noFill/>
          </a:ln>
        </p:spPr>
        <p:txBody>
          <a:bodyPr/>
          <a:lstStyle>
            <a:lvl1pPr>
              <a:defRPr>
                <a:solidFill>
                  <a:srgbClr val="FFFFFF"/>
                </a:solidFill>
              </a:defRPr>
            </a:lvl1pPr>
          </a:lstStyle>
          <a:p>
            <a:pPr>
              <a:defRPr/>
            </a:pPr>
            <a:fld id="{A287DA35-04E8-4F63-A1BF-8E43F4674784}" type="slidenum">
              <a:rPr lang="en-US" smtClean="0"/>
              <a:pPr>
                <a:defRPr/>
              </a:pPr>
              <a:t>‹#›</a:t>
            </a:fld>
            <a:endParaRPr lang="en-US"/>
          </a:p>
        </p:txBody>
      </p:sp>
      <p:sp>
        <p:nvSpPr>
          <p:cNvPr id="11" name="Title 10"/>
          <p:cNvSpPr>
            <a:spLocks noGrp="1"/>
          </p:cNvSpPr>
          <p:nvPr>
            <p:ph type="title"/>
          </p:nvPr>
        </p:nvSpPr>
        <p:spPr>
          <a:xfrm>
            <a:off x="7159752" y="457200"/>
            <a:ext cx="1675660" cy="1673352"/>
          </a:xfrm>
        </p:spPr>
        <p:txBody>
          <a:bodyPr anchor="b"/>
          <a:lstStyle>
            <a:lvl1pPr algn="l">
              <a:defRPr sz="2000" spc="150" baseline="0"/>
            </a:lvl1pPr>
          </a:lstStyle>
          <a:p>
            <a:r>
              <a:rPr lang="en-US"/>
              <a:t>Click to edit Master title style</a:t>
            </a:r>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Rectangle 8"/>
          <p:cNvSpPr/>
          <p:nvPr/>
        </p:nvSpPr>
        <p:spPr>
          <a:xfrm>
            <a:off x="7010400" y="150876"/>
            <a:ext cx="1981200" cy="655624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p:cNvSpPr>
            <a:spLocks noGrp="1"/>
          </p:cNvSpPr>
          <p:nvPr>
            <p:ph type="pic" idx="1"/>
          </p:nvPr>
        </p:nvSpPr>
        <p:spPr>
          <a:xfrm>
            <a:off x="152400" y="152400"/>
            <a:ext cx="6705600" cy="6553200"/>
          </a:xfrm>
        </p:spPr>
        <p:txBody>
          <a:bodyPr anchor="ct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162800" y="2133600"/>
            <a:ext cx="1676400" cy="2971800"/>
          </a:xfrm>
        </p:spPr>
        <p:txBody>
          <a:bodyPr tIns="0"/>
          <a:lstStyle>
            <a:lvl1pPr marL="0" indent="0">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23960753-8B2A-4A2F-B987-C591FCB0B235}" type="slidenum">
              <a:rPr lang="en-US" smtClean="0"/>
              <a:pPr>
                <a:defRPr/>
              </a:pPr>
              <a:t>‹#›</a:t>
            </a:fld>
            <a:endParaRPr lang="en-US"/>
          </a:p>
        </p:txBody>
      </p:sp>
      <p:sp>
        <p:nvSpPr>
          <p:cNvPr id="10" name="Title 9"/>
          <p:cNvSpPr>
            <a:spLocks noGrp="1"/>
          </p:cNvSpPr>
          <p:nvPr>
            <p:ph type="title"/>
          </p:nvPr>
        </p:nvSpPr>
        <p:spPr>
          <a:xfrm>
            <a:off x="7162800" y="460248"/>
            <a:ext cx="1676400" cy="1673352"/>
          </a:xfrm>
        </p:spPr>
        <p:txBody>
          <a:bodyPr anchor="b"/>
          <a:lstStyle>
            <a:lvl1pPr algn="l">
              <a:defRPr sz="2000" spc="150" baseline="0">
                <a:solidFill>
                  <a:schemeClr val="tx2"/>
                </a:solidFill>
              </a:defRPr>
            </a:lvl1pPr>
          </a:lstStyle>
          <a:p>
            <a:r>
              <a:rPr lang="en-US"/>
              <a:t>Click to edit Master title style</a:t>
            </a:r>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69E5BC8E-1AA7-4123-B2F4-528EFD587EB3}" type="slidenum">
              <a:rPr lang="en-US" smtClean="0"/>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152400" y="147319"/>
            <a:ext cx="6705600" cy="655624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7010400" y="147319"/>
            <a:ext cx="1956046" cy="655624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p:cNvSpPr>
            <a:spLocks noGrp="1"/>
          </p:cNvSpPr>
          <p:nvPr>
            <p:ph type="title" orient="vert"/>
          </p:nvPr>
        </p:nvSpPr>
        <p:spPr>
          <a:xfrm>
            <a:off x="7162800" y="274638"/>
            <a:ext cx="1676400" cy="585152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lvl1pPr>
              <a:defRPr>
                <a:solidFill>
                  <a:schemeClr val="bg2"/>
                </a:solidFill>
              </a:defRPr>
            </a:lvl1pPr>
          </a:lstStyle>
          <a:p>
            <a:pPr>
              <a:defRPr/>
            </a:pPr>
            <a:fld id="{FBC0ACAA-6310-4E5D-82C7-6C0D4ADA69B1}" type="slidenum">
              <a:rPr lang="en-US" smtClean="0"/>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152400" y="1634971"/>
            <a:ext cx="8831802" cy="504547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152399" y="152400"/>
            <a:ext cx="8814047" cy="134644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381000" y="355847"/>
            <a:ext cx="8381260" cy="105439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380999" y="1719071"/>
            <a:ext cx="8407893" cy="440740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70888" y="6356350"/>
            <a:ext cx="2133600" cy="274320"/>
          </a:xfrm>
          <a:prstGeom prst="rect">
            <a:avLst/>
          </a:prstGeom>
        </p:spPr>
        <p:txBody>
          <a:bodyPr vert="horz" lIns="91440" tIns="45720" rIns="91440" bIns="45720" rtlCol="0" anchor="ctr"/>
          <a:lstStyle>
            <a:lvl1pPr algn="l">
              <a:defRPr sz="1100">
                <a:solidFill>
                  <a:schemeClr val="tx2"/>
                </a:solidFill>
              </a:defRPr>
            </a:lvl1pPr>
          </a:lstStyle>
          <a:p>
            <a:pPr>
              <a:defRPr/>
            </a:pPr>
            <a:endParaRPr lang="en-US"/>
          </a:p>
        </p:txBody>
      </p:sp>
      <p:sp>
        <p:nvSpPr>
          <p:cNvPr id="5" name="Footer Placeholder 4"/>
          <p:cNvSpPr>
            <a:spLocks noGrp="1"/>
          </p:cNvSpPr>
          <p:nvPr>
            <p:ph type="ftr" sz="quarter" idx="3"/>
          </p:nvPr>
        </p:nvSpPr>
        <p:spPr>
          <a:xfrm>
            <a:off x="3048000" y="6356350"/>
            <a:ext cx="3352800" cy="274320"/>
          </a:xfrm>
          <a:prstGeom prst="rect">
            <a:avLst/>
          </a:prstGeom>
        </p:spPr>
        <p:txBody>
          <a:bodyPr vert="horz" lIns="91440" tIns="45720" rIns="91440" bIns="45720" rtlCol="0" anchor="ctr"/>
          <a:lstStyle>
            <a:lvl1pPr algn="ctr">
              <a:defRPr sz="1100">
                <a:solidFill>
                  <a:schemeClr val="tx2"/>
                </a:solidFill>
              </a:defRPr>
            </a:lvl1pPr>
          </a:lstStyle>
          <a:p>
            <a:pPr>
              <a:defRPr/>
            </a:pPr>
            <a:endParaRPr lang="en-US"/>
          </a:p>
        </p:txBody>
      </p:sp>
      <p:sp>
        <p:nvSpPr>
          <p:cNvPr id="6" name="Slide Number Placeholder 5"/>
          <p:cNvSpPr>
            <a:spLocks noGrp="1"/>
          </p:cNvSpPr>
          <p:nvPr>
            <p:ph type="sldNum" sz="quarter" idx="4"/>
          </p:nvPr>
        </p:nvSpPr>
        <p:spPr>
          <a:xfrm>
            <a:off x="8234680" y="6355080"/>
            <a:ext cx="582966" cy="274320"/>
          </a:xfrm>
          <a:prstGeom prst="rect">
            <a:avLst/>
          </a:prstGeom>
          <a:ln w="19050">
            <a:noFill/>
          </a:ln>
        </p:spPr>
        <p:txBody>
          <a:bodyPr vert="horz" lIns="91440" tIns="45720" rIns="91440" bIns="45720" rtlCol="0" anchor="ctr"/>
          <a:lstStyle>
            <a:lvl1pPr algn="ctr">
              <a:defRPr sz="1100">
                <a:solidFill>
                  <a:schemeClr val="tx2"/>
                </a:solidFill>
              </a:defRPr>
            </a:lvl1pPr>
          </a:lstStyle>
          <a:p>
            <a:pPr>
              <a:defRPr/>
            </a:pPr>
            <a:fld id="{B3B2BAE3-FDF6-497F-8B74-7FC6C2B60CA2}" type="slidenum">
              <a:rPr lang="en-US" smtClean="0"/>
              <a:pPr>
                <a:defRPr/>
              </a:pPr>
              <a:t>‹#›</a:t>
            </a:fld>
            <a:endParaRPr lang="en-US"/>
          </a:p>
        </p:txBody>
      </p:sp>
    </p:spTree>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Lst>
  <p:txStyles>
    <p:titleStyle>
      <a:lvl1pPr algn="ctr" defTabSz="914400" rtl="0" eaLnBrk="1" latinLnBrk="0" hangingPunct="1">
        <a:spcBef>
          <a:spcPct val="0"/>
        </a:spcBef>
        <a:buNone/>
        <a:defRPr sz="3200" kern="1200" cap="all" spc="200" baseline="0">
          <a:ln>
            <a:noFill/>
          </a:ln>
          <a:solidFill>
            <a:schemeClr val="bg1"/>
          </a:solidFill>
          <a:effectLst/>
          <a:latin typeface="+mj-lt"/>
          <a:ea typeface="+mj-ea"/>
          <a:cs typeface="+mj-cs"/>
        </a:defRPr>
      </a:lvl1pPr>
    </p:titleStyle>
    <p:bodyStyle>
      <a:lvl1pPr marL="274320" indent="-228600" algn="l" defTabSz="914400" rtl="0" eaLnBrk="1" latinLnBrk="0" hangingPunct="1">
        <a:spcBef>
          <a:spcPct val="20000"/>
        </a:spcBef>
        <a:buClr>
          <a:schemeClr val="accent1"/>
        </a:buClr>
        <a:buFont typeface="Wingdings 2" pitchFamily="18" charset="2"/>
        <a:buChar char=""/>
        <a:defRPr sz="2000" kern="1200" spc="150" baseline="0">
          <a:solidFill>
            <a:schemeClr val="tx2"/>
          </a:solidFill>
          <a:latin typeface="+mn-lt"/>
          <a:ea typeface="+mn-ea"/>
          <a:cs typeface="+mn-cs"/>
        </a:defRPr>
      </a:lvl1pPr>
      <a:lvl2pPr marL="548640" indent="-182880" algn="l" defTabSz="914400" rtl="0" eaLnBrk="1" latinLnBrk="0" hangingPunct="1">
        <a:spcBef>
          <a:spcPct val="20000"/>
        </a:spcBef>
        <a:buClr>
          <a:schemeClr val="accent2"/>
        </a:buClr>
        <a:buFont typeface="Wingdings" pitchFamily="2" charset="2"/>
        <a:buChar char="§"/>
        <a:defRPr sz="1800" kern="1200" spc="100" baseline="0">
          <a:solidFill>
            <a:schemeClr val="tx2"/>
          </a:solidFill>
          <a:latin typeface="+mn-lt"/>
          <a:ea typeface="+mn-ea"/>
          <a:cs typeface="+mn-cs"/>
        </a:defRPr>
      </a:lvl2pPr>
      <a:lvl3pPr marL="822960" indent="-182880" algn="l" defTabSz="914400" rtl="0" eaLnBrk="1" latinLnBrk="0" hangingPunct="1">
        <a:spcBef>
          <a:spcPct val="20000"/>
        </a:spcBef>
        <a:buClr>
          <a:schemeClr val="accent3"/>
        </a:buClr>
        <a:buFont typeface="Wingdings" pitchFamily="2" charset="2"/>
        <a:buChar char="§"/>
        <a:defRPr sz="1600" kern="1200" spc="100" baseline="0">
          <a:solidFill>
            <a:schemeClr val="tx2"/>
          </a:solidFill>
          <a:latin typeface="+mn-lt"/>
          <a:ea typeface="+mn-ea"/>
          <a:cs typeface="+mn-cs"/>
        </a:defRPr>
      </a:lvl3pPr>
      <a:lvl4pPr marL="1097280" indent="-182880" algn="l" defTabSz="914400" rtl="0" eaLnBrk="1" latinLnBrk="0" hangingPunct="1">
        <a:spcBef>
          <a:spcPct val="20000"/>
        </a:spcBef>
        <a:buClr>
          <a:schemeClr val="accent4"/>
        </a:buClr>
        <a:buFont typeface="Wingdings" pitchFamily="2" charset="2"/>
        <a:buChar char="§"/>
        <a:defRPr sz="1400" kern="1200">
          <a:solidFill>
            <a:schemeClr val="tx2"/>
          </a:solidFill>
          <a:latin typeface="+mn-lt"/>
          <a:ea typeface="+mn-ea"/>
          <a:cs typeface="+mn-cs"/>
        </a:defRPr>
      </a:lvl4pPr>
      <a:lvl5pPr marL="1280160" indent="-182880" algn="l" defTabSz="914400" rtl="0" eaLnBrk="1" latinLnBrk="0" hangingPunct="1">
        <a:spcBef>
          <a:spcPct val="20000"/>
        </a:spcBef>
        <a:buClr>
          <a:schemeClr val="accent6"/>
        </a:buClr>
        <a:buFont typeface="Wingdings" pitchFamily="2" charset="2"/>
        <a:buChar char="§"/>
        <a:defRPr sz="1300" kern="1200" spc="100" baseline="0">
          <a:solidFill>
            <a:schemeClr val="tx2"/>
          </a:solidFill>
          <a:latin typeface="+mn-lt"/>
          <a:ea typeface="+mn-ea"/>
          <a:cs typeface="+mn-cs"/>
        </a:defRPr>
      </a:lvl5pPr>
      <a:lvl6pPr marL="1554480" indent="-182880" algn="l" defTabSz="914400" rtl="0" eaLnBrk="1" latinLnBrk="0" hangingPunct="1">
        <a:spcBef>
          <a:spcPct val="20000"/>
        </a:spcBef>
        <a:buClr>
          <a:schemeClr val="accent1"/>
        </a:buClr>
        <a:buFont typeface="Wingdings" pitchFamily="2" charset="2"/>
        <a:buChar char="§"/>
        <a:defRPr sz="1200" kern="1200">
          <a:solidFill>
            <a:schemeClr val="tx2"/>
          </a:solidFill>
          <a:latin typeface="+mn-lt"/>
          <a:ea typeface="+mn-ea"/>
          <a:cs typeface="+mn-cs"/>
        </a:defRPr>
      </a:lvl6pPr>
      <a:lvl7pPr marL="1828800" indent="-182880" algn="l" defTabSz="914400" rtl="0" eaLnBrk="1" latinLnBrk="0" hangingPunct="1">
        <a:spcBef>
          <a:spcPct val="20000"/>
        </a:spcBef>
        <a:buClr>
          <a:schemeClr val="accent2"/>
        </a:buClr>
        <a:buFont typeface="Wingdings" pitchFamily="2" charset="2"/>
        <a:buChar char="§"/>
        <a:defRPr sz="1200" kern="1200">
          <a:solidFill>
            <a:schemeClr val="tx2"/>
          </a:solidFill>
          <a:latin typeface="+mn-lt"/>
          <a:ea typeface="+mn-ea"/>
          <a:cs typeface="+mn-cs"/>
        </a:defRPr>
      </a:lvl7pPr>
      <a:lvl8pPr marL="2103120" indent="-182880" algn="l" defTabSz="914400" rtl="0" eaLnBrk="1" latinLnBrk="0" hangingPunct="1">
        <a:spcBef>
          <a:spcPct val="20000"/>
        </a:spcBef>
        <a:buClr>
          <a:schemeClr val="accent3"/>
        </a:buClr>
        <a:buFont typeface="Wingdings" pitchFamily="2" charset="2"/>
        <a:buChar char="§"/>
        <a:defRPr sz="1200" kern="1200">
          <a:solidFill>
            <a:schemeClr val="tx2"/>
          </a:solidFill>
          <a:latin typeface="+mn-lt"/>
          <a:ea typeface="+mn-ea"/>
          <a:cs typeface="+mn-cs"/>
        </a:defRPr>
      </a:lvl8pPr>
      <a:lvl9pPr marL="2377440" indent="-182880" algn="l" defTabSz="914400" rtl="0" eaLnBrk="1" latinLnBrk="0" hangingPunct="1">
        <a:spcBef>
          <a:spcPct val="20000"/>
        </a:spcBef>
        <a:buClr>
          <a:schemeClr val="accent5"/>
        </a:buClr>
        <a:buFont typeface="Wingdings" pitchFamily="2" charset="2"/>
        <a:buChar char="§"/>
        <a:defRPr sz="12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2362200" y="2057400"/>
            <a:ext cx="6324600" cy="1828800"/>
          </a:xfrm>
        </p:spPr>
        <p:txBody>
          <a:bodyPr/>
          <a:lstStyle/>
          <a:p>
            <a:pPr eaLnBrk="1" hangingPunct="1"/>
            <a:r>
              <a:rPr lang="en-US" b="1">
                <a:solidFill>
                  <a:srgbClr val="00B0F0"/>
                </a:solidFill>
              </a:rPr>
              <a:t>CHAP</a:t>
            </a:r>
            <a:r>
              <a:rPr lang="en-US" b="1">
                <a:solidFill>
                  <a:schemeClr val="bg2">
                    <a:lumMod val="10000"/>
                  </a:schemeClr>
                </a:solidFill>
              </a:rPr>
              <a:t>TER 5:</a:t>
            </a:r>
            <a:br>
              <a:rPr lang="en-US" b="1" dirty="0"/>
            </a:br>
            <a:r>
              <a:rPr lang="en-US" b="1" dirty="0">
                <a:solidFill>
                  <a:srgbClr val="00B0F0"/>
                </a:solidFill>
              </a:rPr>
              <a:t>computer and </a:t>
            </a:r>
            <a:r>
              <a:rPr lang="en-US" b="1" dirty="0">
                <a:solidFill>
                  <a:schemeClr val="bg2">
                    <a:lumMod val="10000"/>
                  </a:schemeClr>
                </a:solidFill>
              </a:rPr>
              <a:t>cyber crime</a:t>
            </a:r>
          </a:p>
        </p:txBody>
      </p:sp>
      <p:sp>
        <p:nvSpPr>
          <p:cNvPr id="3" name="Subtitle 1"/>
          <p:cNvSpPr>
            <a:spLocks noGrp="1"/>
          </p:cNvSpPr>
          <p:nvPr>
            <p:ph type="subTitle" idx="1"/>
          </p:nvPr>
        </p:nvSpPr>
        <p:spPr>
          <a:xfrm>
            <a:off x="6858000" y="5562600"/>
            <a:ext cx="2133600" cy="1143000"/>
          </a:xfrm>
        </p:spPr>
        <p:txBody>
          <a:bodyPr>
            <a:normAutofit/>
          </a:bodyPr>
          <a:lstStyle/>
          <a:p>
            <a:pPr algn="r" fontAlgn="auto">
              <a:spcAft>
                <a:spcPts val="0"/>
              </a:spcAft>
              <a:defRPr/>
            </a:pPr>
            <a:r>
              <a:rPr lang="en-MY" sz="1200" b="1" dirty="0">
                <a:solidFill>
                  <a:srgbClr val="7030A0"/>
                </a:solidFill>
              </a:rPr>
              <a:t>DR. ROZI NOR HAIZAN </a:t>
            </a:r>
          </a:p>
          <a:p>
            <a:pPr algn="r" fontAlgn="auto">
              <a:spcAft>
                <a:spcPts val="0"/>
              </a:spcAft>
              <a:defRPr/>
            </a:pPr>
            <a:r>
              <a:rPr lang="en-MY" sz="1200" b="1" dirty="0">
                <a:solidFill>
                  <a:srgbClr val="7030A0"/>
                </a:solidFill>
              </a:rPr>
              <a:t>BINTI NOR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3"/>
          <p:cNvSpPr>
            <a:spLocks noGrp="1" noChangeArrowheads="1"/>
          </p:cNvSpPr>
          <p:nvPr>
            <p:ph idx="1"/>
          </p:nvPr>
        </p:nvSpPr>
        <p:spPr/>
        <p:txBody>
          <a:bodyPr>
            <a:normAutofit/>
          </a:bodyPr>
          <a:lstStyle/>
          <a:p>
            <a:pPr eaLnBrk="1" hangingPunct="1">
              <a:lnSpc>
                <a:spcPct val="90000"/>
              </a:lnSpc>
            </a:pPr>
            <a:r>
              <a:rPr lang="en-US" sz="2800" dirty="0"/>
              <a:t>Describe and categorize </a:t>
            </a:r>
            <a:r>
              <a:rPr lang="en-US" sz="2800" b="1" dirty="0">
                <a:solidFill>
                  <a:srgbClr val="800000"/>
                </a:solidFill>
              </a:rPr>
              <a:t>cybercrimes</a:t>
            </a:r>
            <a:r>
              <a:rPr lang="en-US" sz="2800" dirty="0"/>
              <a:t> or </a:t>
            </a:r>
            <a:r>
              <a:rPr lang="en-US" sz="2800" b="1" dirty="0">
                <a:solidFill>
                  <a:srgbClr val="800000"/>
                </a:solidFill>
              </a:rPr>
              <a:t>cyber-related crimes</a:t>
            </a:r>
          </a:p>
          <a:p>
            <a:pPr eaLnBrk="1" hangingPunct="1">
              <a:lnSpc>
                <a:spcPct val="90000"/>
              </a:lnSpc>
            </a:pPr>
            <a:r>
              <a:rPr lang="en-US" sz="2800" dirty="0"/>
              <a:t>Distinguish </a:t>
            </a:r>
            <a:r>
              <a:rPr lang="en-US" sz="2800" b="1" dirty="0">
                <a:solidFill>
                  <a:srgbClr val="800000"/>
                </a:solidFill>
              </a:rPr>
              <a:t>cyber-related crimes </a:t>
            </a:r>
            <a:r>
              <a:rPr lang="en-US" sz="2800" dirty="0"/>
              <a:t>and</a:t>
            </a:r>
            <a:r>
              <a:rPr lang="en-US" sz="2800" dirty="0">
                <a:solidFill>
                  <a:schemeClr val="accent5"/>
                </a:solidFill>
              </a:rPr>
              <a:t> </a:t>
            </a:r>
            <a:r>
              <a:rPr lang="en-US" sz="2800" b="1" dirty="0">
                <a:solidFill>
                  <a:srgbClr val="800000"/>
                </a:solidFill>
              </a:rPr>
              <a:t>cyber-exacerbated crimes</a:t>
            </a:r>
          </a:p>
          <a:p>
            <a:pPr eaLnBrk="1" hangingPunct="1">
              <a:lnSpc>
                <a:spcPct val="90000"/>
              </a:lnSpc>
            </a:pPr>
            <a:r>
              <a:rPr lang="en-US" sz="2800" dirty="0"/>
              <a:t>Knows who the </a:t>
            </a:r>
            <a:r>
              <a:rPr lang="en-US" sz="2800" b="1" dirty="0">
                <a:solidFill>
                  <a:srgbClr val="800000"/>
                </a:solidFill>
              </a:rPr>
              <a:t>perpetrators</a:t>
            </a:r>
            <a:r>
              <a:rPr lang="en-US" sz="2800" dirty="0"/>
              <a:t> are</a:t>
            </a:r>
          </a:p>
          <a:p>
            <a:pPr eaLnBrk="1" hangingPunct="1">
              <a:lnSpc>
                <a:spcPct val="90000"/>
              </a:lnSpc>
            </a:pPr>
            <a:r>
              <a:rPr lang="en-US" sz="2800" dirty="0"/>
              <a:t>State the different </a:t>
            </a:r>
            <a:r>
              <a:rPr lang="en-US" sz="2800" b="1" dirty="0">
                <a:solidFill>
                  <a:srgbClr val="800000"/>
                </a:solidFill>
              </a:rPr>
              <a:t>kinds of crimes</a:t>
            </a:r>
          </a:p>
          <a:p>
            <a:pPr eaLnBrk="1" hangingPunct="1">
              <a:lnSpc>
                <a:spcPct val="90000"/>
              </a:lnSpc>
            </a:pPr>
            <a:r>
              <a:rPr lang="en-US" sz="2800" dirty="0"/>
              <a:t>Know the related </a:t>
            </a:r>
            <a:r>
              <a:rPr lang="en-US" sz="2800" b="1" dirty="0">
                <a:solidFill>
                  <a:srgbClr val="800000"/>
                </a:solidFill>
              </a:rPr>
              <a:t>Law</a:t>
            </a:r>
          </a:p>
          <a:p>
            <a:pPr eaLnBrk="1" hangingPunct="1">
              <a:lnSpc>
                <a:spcPct val="90000"/>
              </a:lnSpc>
            </a:pPr>
            <a:r>
              <a:rPr lang="en-US" sz="2800" dirty="0"/>
              <a:t>Know effort to </a:t>
            </a:r>
            <a:r>
              <a:rPr lang="en-US" sz="2800" b="1" dirty="0">
                <a:solidFill>
                  <a:srgbClr val="800000"/>
                </a:solidFill>
              </a:rPr>
              <a:t>combat such crimes</a:t>
            </a:r>
          </a:p>
        </p:txBody>
      </p:sp>
      <p:sp>
        <p:nvSpPr>
          <p:cNvPr id="4098" name="Rectangle 2"/>
          <p:cNvSpPr>
            <a:spLocks noGrp="1" noChangeArrowheads="1"/>
          </p:cNvSpPr>
          <p:nvPr>
            <p:ph type="title"/>
          </p:nvPr>
        </p:nvSpPr>
        <p:spPr/>
        <p:txBody>
          <a:bodyPr/>
          <a:lstStyle/>
          <a:p>
            <a:pPr eaLnBrk="1" hangingPunct="1"/>
            <a:r>
              <a:rPr lang="en-US" dirty="0"/>
              <a:t>objectives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3"/>
          <p:cNvSpPr>
            <a:spLocks noGrp="1" noChangeArrowheads="1"/>
          </p:cNvSpPr>
          <p:nvPr>
            <p:ph idx="1"/>
          </p:nvPr>
        </p:nvSpPr>
        <p:spPr>
          <a:xfrm>
            <a:off x="380999" y="1719070"/>
            <a:ext cx="8407893" cy="4834129"/>
          </a:xfrm>
        </p:spPr>
        <p:txBody>
          <a:bodyPr>
            <a:normAutofit/>
          </a:bodyPr>
          <a:lstStyle/>
          <a:p>
            <a:r>
              <a:rPr lang="en-US" sz="2800" dirty="0"/>
              <a:t>Reported Incidents based on General Incident Classification Statistics 2020</a:t>
            </a:r>
          </a:p>
          <a:p>
            <a:pPr eaLnBrk="1" hangingPunct="1"/>
            <a:endParaRPr lang="en-US" sz="2800" dirty="0"/>
          </a:p>
        </p:txBody>
      </p:sp>
      <p:sp>
        <p:nvSpPr>
          <p:cNvPr id="5122" name="Rectangle 2"/>
          <p:cNvSpPr>
            <a:spLocks noGrp="1" noChangeArrowheads="1"/>
          </p:cNvSpPr>
          <p:nvPr>
            <p:ph type="title"/>
          </p:nvPr>
        </p:nvSpPr>
        <p:spPr/>
        <p:txBody>
          <a:bodyPr/>
          <a:lstStyle/>
          <a:p>
            <a:pPr eaLnBrk="1" hangingPunct="1"/>
            <a:r>
              <a:rPr lang="en-US"/>
              <a:t>Introduction</a:t>
            </a:r>
          </a:p>
        </p:txBody>
      </p:sp>
      <p:sp>
        <p:nvSpPr>
          <p:cNvPr id="5" name="Rectangle 4"/>
          <p:cNvSpPr/>
          <p:nvPr/>
        </p:nvSpPr>
        <p:spPr>
          <a:xfrm>
            <a:off x="4648200" y="6396335"/>
            <a:ext cx="3972754" cy="461665"/>
          </a:xfrm>
          <a:prstGeom prst="rect">
            <a:avLst/>
          </a:prstGeom>
        </p:spPr>
        <p:txBody>
          <a:bodyPr wrap="none">
            <a:spAutoFit/>
          </a:bodyPr>
          <a:lstStyle/>
          <a:p>
            <a:r>
              <a:rPr lang="en-MY" dirty="0"/>
              <a:t>https://www.mycert.org.my</a:t>
            </a:r>
          </a:p>
        </p:txBody>
      </p:sp>
      <p:pic>
        <p:nvPicPr>
          <p:cNvPr id="2" name="Picture 1"/>
          <p:cNvPicPr>
            <a:picLocks noChangeAspect="1"/>
          </p:cNvPicPr>
          <p:nvPr/>
        </p:nvPicPr>
        <p:blipFill>
          <a:blip r:embed="rId3"/>
          <a:stretch>
            <a:fillRect/>
          </a:stretch>
        </p:blipFill>
        <p:spPr>
          <a:xfrm>
            <a:off x="166687" y="2667000"/>
            <a:ext cx="8810625" cy="3420506"/>
          </a:xfrm>
          <a:prstGeom prst="rect">
            <a:avLst/>
          </a:prstGeom>
        </p:spPr>
      </p:pic>
      <p:pic>
        <p:nvPicPr>
          <p:cNvPr id="3" name="Picture 2"/>
          <p:cNvPicPr>
            <a:picLocks noChangeAspect="1"/>
          </p:cNvPicPr>
          <p:nvPr/>
        </p:nvPicPr>
        <p:blipFill>
          <a:blip r:embed="rId4"/>
          <a:stretch>
            <a:fillRect/>
          </a:stretch>
        </p:blipFill>
        <p:spPr>
          <a:xfrm>
            <a:off x="10551" y="6396335"/>
            <a:ext cx="4637649" cy="47595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Malaysia cybercrime cases</a:t>
            </a:r>
          </a:p>
        </p:txBody>
      </p:sp>
      <p:pic>
        <p:nvPicPr>
          <p:cNvPr id="4" name="Picture 3"/>
          <p:cNvPicPr>
            <a:picLocks noChangeAspect="1"/>
          </p:cNvPicPr>
          <p:nvPr/>
        </p:nvPicPr>
        <p:blipFill>
          <a:blip r:embed="rId3"/>
          <a:stretch>
            <a:fillRect/>
          </a:stretch>
        </p:blipFill>
        <p:spPr>
          <a:xfrm>
            <a:off x="309321" y="1676400"/>
            <a:ext cx="8452939" cy="4525031"/>
          </a:xfrm>
          <a:prstGeom prst="rect">
            <a:avLst/>
          </a:prstGeom>
        </p:spPr>
      </p:pic>
    </p:spTree>
    <p:extLst>
      <p:ext uri="{BB962C8B-B14F-4D97-AF65-F5344CB8AC3E}">
        <p14:creationId xmlns:p14="http://schemas.microsoft.com/office/powerpoint/2010/main" val="9594171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3"/>
          <p:cNvSpPr>
            <a:spLocks noGrp="1" noChangeArrowheads="1"/>
          </p:cNvSpPr>
          <p:nvPr>
            <p:ph idx="1"/>
          </p:nvPr>
        </p:nvSpPr>
        <p:spPr>
          <a:xfrm>
            <a:off x="380999" y="1719071"/>
            <a:ext cx="8407893" cy="2548129"/>
          </a:xfrm>
        </p:spPr>
        <p:txBody>
          <a:bodyPr>
            <a:normAutofit/>
          </a:bodyPr>
          <a:lstStyle/>
          <a:p>
            <a:pPr eaLnBrk="1" hangingPunct="1"/>
            <a:r>
              <a:rPr lang="en-US" sz="2800" dirty="0"/>
              <a:t>Confusion in labeling </a:t>
            </a:r>
            <a:r>
              <a:rPr lang="en-US" sz="2800" dirty="0">
                <a:latin typeface="Times New Roman" charset="0"/>
              </a:rPr>
              <a:t>“</a:t>
            </a:r>
            <a:r>
              <a:rPr lang="en-US" sz="2800" dirty="0"/>
              <a:t>computer crimes</a:t>
            </a:r>
            <a:r>
              <a:rPr lang="en-US" sz="2800" dirty="0">
                <a:latin typeface="Times New Roman" charset="0"/>
              </a:rPr>
              <a:t>”</a:t>
            </a:r>
            <a:endParaRPr lang="en-US" sz="2800" dirty="0"/>
          </a:p>
          <a:p>
            <a:pPr eaLnBrk="1" hangingPunct="1"/>
            <a:r>
              <a:rPr lang="en-US" sz="2800" dirty="0"/>
              <a:t>computer crime </a:t>
            </a:r>
            <a:r>
              <a:rPr lang="en-US" sz="2800" dirty="0">
                <a:sym typeface="Wingdings" pitchFamily="2" charset="2"/>
              </a:rPr>
              <a:t> cybercrime</a:t>
            </a:r>
          </a:p>
          <a:p>
            <a:pPr eaLnBrk="1" hangingPunct="1"/>
            <a:r>
              <a:rPr lang="en-US" sz="2800" b="1" u="sng" dirty="0">
                <a:sym typeface="Wingdings" pitchFamily="2" charset="2"/>
              </a:rPr>
              <a:t>Computer crime </a:t>
            </a:r>
            <a:r>
              <a:rPr lang="en-US" sz="2800" dirty="0">
                <a:sym typeface="Wingdings" pitchFamily="2" charset="2"/>
              </a:rPr>
              <a:t>definition:</a:t>
            </a:r>
          </a:p>
          <a:p>
            <a:pPr eaLnBrk="1" hangingPunct="1">
              <a:buFont typeface="Wingdings" pitchFamily="2" charset="2"/>
              <a:buChar char="Ø"/>
            </a:pPr>
            <a:r>
              <a:rPr lang="en-US" sz="2800" dirty="0"/>
              <a:t>The act of criminal using </a:t>
            </a:r>
            <a:r>
              <a:rPr lang="en-US" sz="2800" b="1" dirty="0">
                <a:solidFill>
                  <a:srgbClr val="800000"/>
                </a:solidFill>
              </a:rPr>
              <a:t>computer all a tool</a:t>
            </a:r>
          </a:p>
        </p:txBody>
      </p:sp>
      <p:sp>
        <p:nvSpPr>
          <p:cNvPr id="6146" name="Rectangle 2"/>
          <p:cNvSpPr>
            <a:spLocks noGrp="1" noChangeArrowheads="1"/>
          </p:cNvSpPr>
          <p:nvPr>
            <p:ph type="title"/>
          </p:nvPr>
        </p:nvSpPr>
        <p:spPr/>
        <p:txBody>
          <a:bodyPr/>
          <a:lstStyle/>
          <a:p>
            <a:pPr eaLnBrk="1" hangingPunct="1"/>
            <a:r>
              <a:rPr lang="en-US"/>
              <a:t>Defining Cybercrime</a:t>
            </a:r>
          </a:p>
        </p:txBody>
      </p:sp>
      <p:pic>
        <p:nvPicPr>
          <p:cNvPr id="29700" name="Picture 4" descr="https://encrypted-tbn2.gstatic.com/images?q=tbn:ANd9GcQb4monem5y1KZ3NiFd_qyR1AwswIxA_e2ClzLill9jjGe2d7oI"/>
          <p:cNvPicPr>
            <a:picLocks noChangeAspect="1" noChangeArrowheads="1"/>
          </p:cNvPicPr>
          <p:nvPr/>
        </p:nvPicPr>
        <p:blipFill>
          <a:blip r:embed="rId3" cstate="print"/>
          <a:srcRect/>
          <a:stretch>
            <a:fillRect/>
          </a:stretch>
        </p:blipFill>
        <p:spPr bwMode="auto">
          <a:xfrm>
            <a:off x="609600" y="3962400"/>
            <a:ext cx="7620000" cy="2667000"/>
          </a:xfrm>
          <a:prstGeom prst="rect">
            <a:avLst/>
          </a:prstGeom>
          <a:noFill/>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p:cNvSpPr>
            <a:spLocks noGrp="1" noChangeArrowheads="1"/>
          </p:cNvSpPr>
          <p:nvPr>
            <p:ph idx="1"/>
          </p:nvPr>
        </p:nvSpPr>
        <p:spPr/>
        <p:txBody>
          <a:bodyPr>
            <a:normAutofit/>
          </a:bodyPr>
          <a:lstStyle/>
          <a:p>
            <a:pPr eaLnBrk="1" hangingPunct="1"/>
            <a:r>
              <a:rPr lang="en-US" sz="3200" dirty="0"/>
              <a:t>(genuine) </a:t>
            </a:r>
            <a:r>
              <a:rPr lang="en-US" sz="3200" b="1" u="sng" dirty="0"/>
              <a:t>Cybercrime</a:t>
            </a:r>
            <a:r>
              <a:rPr lang="en-US" sz="3200" dirty="0"/>
              <a:t> definition:</a:t>
            </a:r>
            <a:endParaRPr lang="en-US" sz="3200" dirty="0">
              <a:sym typeface="Wingdings" pitchFamily="2" charset="2"/>
            </a:endParaRPr>
          </a:p>
          <a:p>
            <a:pPr eaLnBrk="1" hangingPunct="1">
              <a:buFont typeface="Wingdings" pitchFamily="2" charset="2"/>
              <a:buChar char="Ø"/>
            </a:pPr>
            <a:r>
              <a:rPr lang="en-US" sz="3200" dirty="0"/>
              <a:t>A crime in which the criminal act can be carried out only through the used of </a:t>
            </a:r>
            <a:r>
              <a:rPr lang="en-US" sz="3200" b="1" dirty="0" err="1">
                <a:solidFill>
                  <a:srgbClr val="800000"/>
                </a:solidFill>
              </a:rPr>
              <a:t>cybertechnology</a:t>
            </a:r>
            <a:r>
              <a:rPr lang="en-US" sz="3200" b="1" dirty="0"/>
              <a:t> </a:t>
            </a:r>
            <a:r>
              <a:rPr lang="en-US" sz="3200" dirty="0"/>
              <a:t>and can take place only in the </a:t>
            </a:r>
            <a:r>
              <a:rPr lang="en-US" sz="3200" b="1" dirty="0" err="1">
                <a:solidFill>
                  <a:srgbClr val="800000"/>
                </a:solidFill>
              </a:rPr>
              <a:t>cyberrealm</a:t>
            </a:r>
            <a:endParaRPr lang="en-US" sz="3200" b="1" dirty="0">
              <a:solidFill>
                <a:srgbClr val="800000"/>
              </a:solidFill>
            </a:endParaRPr>
          </a:p>
        </p:txBody>
      </p:sp>
      <p:sp>
        <p:nvSpPr>
          <p:cNvPr id="7170" name="Rectangle 2"/>
          <p:cNvSpPr>
            <a:spLocks noGrp="1" noChangeArrowheads="1"/>
          </p:cNvSpPr>
          <p:nvPr>
            <p:ph type="title"/>
          </p:nvPr>
        </p:nvSpPr>
        <p:spPr/>
        <p:txBody>
          <a:bodyPr/>
          <a:lstStyle/>
          <a:p>
            <a:pPr eaLnBrk="1" hangingPunct="1"/>
            <a:r>
              <a:rPr lang="en-US"/>
              <a:t>Defining Cybercrime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idx="1"/>
          </p:nvPr>
        </p:nvSpPr>
        <p:spPr/>
        <p:txBody>
          <a:bodyPr>
            <a:normAutofit/>
          </a:bodyPr>
          <a:lstStyle/>
          <a:p>
            <a:pPr eaLnBrk="1" hangingPunct="1">
              <a:lnSpc>
                <a:spcPct val="90000"/>
              </a:lnSpc>
            </a:pPr>
            <a:r>
              <a:rPr lang="en-US" sz="2800" b="1" u="sng" dirty="0" err="1"/>
              <a:t>Cyberpiracy</a:t>
            </a:r>
            <a:r>
              <a:rPr lang="en-US" sz="2800" dirty="0"/>
              <a:t> : using </a:t>
            </a:r>
            <a:r>
              <a:rPr lang="en-US" sz="2800" b="1" dirty="0" err="1">
                <a:solidFill>
                  <a:srgbClr val="800000"/>
                </a:solidFill>
              </a:rPr>
              <a:t>cybertechnology</a:t>
            </a:r>
            <a:r>
              <a:rPr lang="en-US" sz="2800" dirty="0"/>
              <a:t> in </a:t>
            </a:r>
            <a:r>
              <a:rPr lang="en-US" sz="2800" b="1" dirty="0">
                <a:solidFill>
                  <a:srgbClr val="800000"/>
                </a:solidFill>
              </a:rPr>
              <a:t>unauthorized ways </a:t>
            </a:r>
            <a:r>
              <a:rPr lang="en-US" sz="2800" dirty="0"/>
              <a:t>to:</a:t>
            </a:r>
          </a:p>
          <a:p>
            <a:pPr eaLnBrk="1" hangingPunct="1">
              <a:lnSpc>
                <a:spcPct val="90000"/>
              </a:lnSpc>
              <a:buFont typeface="Wingdings" pitchFamily="2" charset="2"/>
              <a:buChar char="Ø"/>
            </a:pPr>
            <a:r>
              <a:rPr lang="en-US" sz="2800" dirty="0"/>
              <a:t>Reproduce copies or proprietary software and proprietary information or</a:t>
            </a:r>
          </a:p>
          <a:p>
            <a:pPr eaLnBrk="1" hangingPunct="1">
              <a:lnSpc>
                <a:spcPct val="90000"/>
              </a:lnSpc>
              <a:buFont typeface="Wingdings" pitchFamily="2" charset="2"/>
              <a:buChar char="Ø"/>
            </a:pPr>
            <a:r>
              <a:rPr lang="en-US" sz="2800" dirty="0"/>
              <a:t>Distribute proprietary information (in digital form) across a computer network</a:t>
            </a:r>
          </a:p>
          <a:p>
            <a:pPr eaLnBrk="1" hangingPunct="1">
              <a:lnSpc>
                <a:spcPct val="90000"/>
              </a:lnSpc>
              <a:buFont typeface="Wingdings" pitchFamily="2" charset="2"/>
              <a:buChar char="Ø"/>
            </a:pPr>
            <a:r>
              <a:rPr lang="en-US" sz="2800" dirty="0" err="1"/>
              <a:t>Eg</a:t>
            </a:r>
            <a:r>
              <a:rPr lang="en-US" sz="2800" dirty="0"/>
              <a:t>: the distribution of MP3 files that contain proprietary material</a:t>
            </a:r>
          </a:p>
        </p:txBody>
      </p:sp>
      <p:sp>
        <p:nvSpPr>
          <p:cNvPr id="8194" name="Rectangle 2"/>
          <p:cNvSpPr>
            <a:spLocks noGrp="1" noChangeArrowheads="1"/>
          </p:cNvSpPr>
          <p:nvPr>
            <p:ph type="title"/>
          </p:nvPr>
        </p:nvSpPr>
        <p:spPr/>
        <p:txBody>
          <a:bodyPr/>
          <a:lstStyle/>
          <a:p>
            <a:pPr eaLnBrk="1" hangingPunct="1"/>
            <a:r>
              <a:rPr lang="en-US"/>
              <a:t>Categories of Genuine Cybercrime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3"/>
          <p:cNvSpPr>
            <a:spLocks noGrp="1" noChangeArrowheads="1"/>
          </p:cNvSpPr>
          <p:nvPr>
            <p:ph idx="1"/>
          </p:nvPr>
        </p:nvSpPr>
        <p:spPr/>
        <p:txBody>
          <a:bodyPr>
            <a:normAutofit/>
          </a:bodyPr>
          <a:lstStyle/>
          <a:p>
            <a:pPr eaLnBrk="1" hangingPunct="1"/>
            <a:r>
              <a:rPr lang="en-US" sz="2800" b="1" u="sng" dirty="0" err="1"/>
              <a:t>Cybertrespass</a:t>
            </a:r>
            <a:r>
              <a:rPr lang="en-US" sz="2800" dirty="0"/>
              <a:t> : using </a:t>
            </a:r>
            <a:r>
              <a:rPr lang="en-US" sz="2800" b="1" dirty="0" err="1">
                <a:solidFill>
                  <a:srgbClr val="800000"/>
                </a:solidFill>
              </a:rPr>
              <a:t>cybertechnology</a:t>
            </a:r>
            <a:r>
              <a:rPr lang="en-US" sz="2800" dirty="0"/>
              <a:t> to gain </a:t>
            </a:r>
            <a:r>
              <a:rPr lang="en-US" sz="2800" b="1" dirty="0">
                <a:solidFill>
                  <a:srgbClr val="800000"/>
                </a:solidFill>
              </a:rPr>
              <a:t>unauthorized access </a:t>
            </a:r>
            <a:r>
              <a:rPr lang="en-US" sz="2800" dirty="0"/>
              <a:t>to:</a:t>
            </a:r>
          </a:p>
          <a:p>
            <a:pPr eaLnBrk="1" hangingPunct="1">
              <a:buFont typeface="Wingdings" pitchFamily="2" charset="2"/>
              <a:buChar char="Ø"/>
            </a:pPr>
            <a:r>
              <a:rPr lang="en-US" sz="2800" dirty="0"/>
              <a:t>An individual</a:t>
            </a:r>
            <a:r>
              <a:rPr lang="en-US" sz="2800" dirty="0">
                <a:latin typeface="Times New Roman" charset="0"/>
              </a:rPr>
              <a:t>’</a:t>
            </a:r>
            <a:r>
              <a:rPr lang="en-US" sz="2800" dirty="0"/>
              <a:t>s or an organization</a:t>
            </a:r>
            <a:r>
              <a:rPr lang="en-US" sz="2800" dirty="0">
                <a:latin typeface="Times New Roman" charset="0"/>
              </a:rPr>
              <a:t>’</a:t>
            </a:r>
            <a:r>
              <a:rPr lang="en-US" sz="2800" dirty="0"/>
              <a:t>s computer system or;</a:t>
            </a:r>
          </a:p>
          <a:p>
            <a:pPr eaLnBrk="1" hangingPunct="1">
              <a:buFont typeface="Wingdings" pitchFamily="2" charset="2"/>
              <a:buChar char="Ø"/>
            </a:pPr>
            <a:r>
              <a:rPr lang="en-US" sz="2800" dirty="0"/>
              <a:t>A password-protected web site</a:t>
            </a:r>
          </a:p>
          <a:p>
            <a:pPr eaLnBrk="1" hangingPunct="1">
              <a:buFont typeface="Wingdings" pitchFamily="2" charset="2"/>
              <a:buChar char="Ø"/>
            </a:pPr>
            <a:r>
              <a:rPr lang="en-US" sz="2800" dirty="0" err="1"/>
              <a:t>Eg</a:t>
            </a:r>
            <a:r>
              <a:rPr lang="en-US" sz="2800" dirty="0"/>
              <a:t>. Denial-of-service attacks on a e-commerce web site</a:t>
            </a:r>
          </a:p>
        </p:txBody>
      </p:sp>
      <p:sp>
        <p:nvSpPr>
          <p:cNvPr id="9218" name="Rectangle 2"/>
          <p:cNvSpPr>
            <a:spLocks noGrp="1" noChangeArrowheads="1"/>
          </p:cNvSpPr>
          <p:nvPr>
            <p:ph type="title"/>
          </p:nvPr>
        </p:nvSpPr>
        <p:spPr/>
        <p:txBody>
          <a:bodyPr/>
          <a:lstStyle/>
          <a:p>
            <a:pPr eaLnBrk="1" hangingPunct="1"/>
            <a:r>
              <a:rPr lang="en-US"/>
              <a:t>Categories of Genuine Cybercrime</a:t>
            </a:r>
          </a:p>
        </p:txBody>
      </p:sp>
      <p:pic>
        <p:nvPicPr>
          <p:cNvPr id="26626" name="Picture 2" descr="https://encrypted-tbn0.gstatic.com/images?q=tbn:ANd9GcSDExenEAhPN-Aw0MQ9UeaIhXbDSlq-rci8JLGtzYuVtmhSNj0"/>
          <p:cNvPicPr>
            <a:picLocks noChangeAspect="1" noChangeArrowheads="1"/>
          </p:cNvPicPr>
          <p:nvPr/>
        </p:nvPicPr>
        <p:blipFill>
          <a:blip r:embed="rId2" cstate="print"/>
          <a:srcRect/>
          <a:stretch>
            <a:fillRect/>
          </a:stretch>
        </p:blipFill>
        <p:spPr bwMode="auto">
          <a:xfrm>
            <a:off x="6096000" y="4724400"/>
            <a:ext cx="2514600" cy="1828800"/>
          </a:xfrm>
          <a:prstGeom prst="rect">
            <a:avLst/>
          </a:prstGeom>
          <a:no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3"/>
          <p:cNvSpPr>
            <a:spLocks noGrp="1" noChangeArrowheads="1"/>
          </p:cNvSpPr>
          <p:nvPr>
            <p:ph idx="1"/>
          </p:nvPr>
        </p:nvSpPr>
        <p:spPr/>
        <p:txBody>
          <a:bodyPr/>
          <a:lstStyle/>
          <a:p>
            <a:pPr eaLnBrk="1" hangingPunct="1">
              <a:lnSpc>
                <a:spcPct val="90000"/>
              </a:lnSpc>
            </a:pPr>
            <a:r>
              <a:rPr lang="en-US" sz="2800" b="1" u="sng" dirty="0" err="1"/>
              <a:t>Cybervandalism</a:t>
            </a:r>
            <a:r>
              <a:rPr lang="en-US" sz="2800" dirty="0"/>
              <a:t> : using </a:t>
            </a:r>
            <a:r>
              <a:rPr lang="en-US" sz="2800" b="1" dirty="0" err="1">
                <a:solidFill>
                  <a:srgbClr val="800000"/>
                </a:solidFill>
              </a:rPr>
              <a:t>cybertechnology</a:t>
            </a:r>
            <a:r>
              <a:rPr lang="en-US" sz="2800" dirty="0"/>
              <a:t> to </a:t>
            </a:r>
            <a:r>
              <a:rPr lang="en-US" sz="2800" b="1" dirty="0">
                <a:solidFill>
                  <a:srgbClr val="800000"/>
                </a:solidFill>
              </a:rPr>
              <a:t>unleash one or more programs </a:t>
            </a:r>
            <a:r>
              <a:rPr lang="en-US" sz="2800" dirty="0"/>
              <a:t>that:</a:t>
            </a:r>
          </a:p>
          <a:p>
            <a:pPr eaLnBrk="1" hangingPunct="1">
              <a:lnSpc>
                <a:spcPct val="90000"/>
              </a:lnSpc>
              <a:buFont typeface="Wingdings" pitchFamily="2" charset="2"/>
              <a:buChar char="Ø"/>
            </a:pPr>
            <a:r>
              <a:rPr lang="en-US" sz="2800" dirty="0"/>
              <a:t>Disrupt the transmission of electronic information across one or more computer networks, including the Internet, or</a:t>
            </a:r>
          </a:p>
          <a:p>
            <a:pPr eaLnBrk="1" hangingPunct="1">
              <a:lnSpc>
                <a:spcPct val="90000"/>
              </a:lnSpc>
              <a:buFont typeface="Wingdings" pitchFamily="2" charset="2"/>
              <a:buChar char="Ø"/>
            </a:pPr>
            <a:r>
              <a:rPr lang="en-US" sz="2800" dirty="0"/>
              <a:t>Destroy data resident in a computer or damage a computer system</a:t>
            </a:r>
            <a:r>
              <a:rPr lang="en-US" sz="2800" dirty="0">
                <a:latin typeface="Times New Roman" charset="0"/>
              </a:rPr>
              <a:t>’</a:t>
            </a:r>
            <a:r>
              <a:rPr lang="en-US" sz="2800" dirty="0"/>
              <a:t>s resources, or both</a:t>
            </a:r>
          </a:p>
          <a:p>
            <a:pPr eaLnBrk="1" hangingPunct="1">
              <a:lnSpc>
                <a:spcPct val="90000"/>
              </a:lnSpc>
              <a:buFont typeface="Wingdings" pitchFamily="2" charset="2"/>
              <a:buChar char="Ø"/>
            </a:pPr>
            <a:r>
              <a:rPr lang="en-US" sz="2800" dirty="0" err="1"/>
              <a:t>Eg</a:t>
            </a:r>
            <a:r>
              <a:rPr lang="en-US" sz="2800" dirty="0"/>
              <a:t>. Unleashing the ILOVEYOU virus</a:t>
            </a:r>
          </a:p>
        </p:txBody>
      </p:sp>
      <p:sp>
        <p:nvSpPr>
          <p:cNvPr id="10242" name="Rectangle 2"/>
          <p:cNvSpPr>
            <a:spLocks noGrp="1" noChangeArrowheads="1"/>
          </p:cNvSpPr>
          <p:nvPr>
            <p:ph type="title"/>
          </p:nvPr>
        </p:nvSpPr>
        <p:spPr/>
        <p:txBody>
          <a:bodyPr/>
          <a:lstStyle/>
          <a:p>
            <a:pPr eaLnBrk="1" hangingPunct="1"/>
            <a:r>
              <a:rPr lang="en-US"/>
              <a:t>Categories of Genuine Cybercrime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3"/>
          <p:cNvSpPr>
            <a:spLocks noGrp="1" noChangeArrowheads="1"/>
          </p:cNvSpPr>
          <p:nvPr>
            <p:ph idx="1"/>
          </p:nvPr>
        </p:nvSpPr>
        <p:spPr/>
        <p:txBody>
          <a:bodyPr>
            <a:normAutofit/>
          </a:bodyPr>
          <a:lstStyle/>
          <a:p>
            <a:pPr eaLnBrk="1" hangingPunct="1"/>
            <a:r>
              <a:rPr lang="en-US" sz="2900" b="1" u="sng" dirty="0"/>
              <a:t>Cyber-exacerbated</a:t>
            </a:r>
            <a:r>
              <a:rPr lang="en-US" sz="2900" dirty="0"/>
              <a:t> crimes</a:t>
            </a:r>
          </a:p>
          <a:p>
            <a:pPr eaLnBrk="1" hangingPunct="1">
              <a:buFont typeface="Wingdings" pitchFamily="2" charset="2"/>
              <a:buChar char="Ø"/>
            </a:pPr>
            <a:r>
              <a:rPr lang="en-US" sz="2900" dirty="0" err="1"/>
              <a:t>Cybertechnology</a:t>
            </a:r>
            <a:r>
              <a:rPr lang="en-US" sz="2900" dirty="0"/>
              <a:t> does much more than merely assist someone in carrying out a crime</a:t>
            </a:r>
          </a:p>
          <a:p>
            <a:pPr eaLnBrk="1" hangingPunct="1">
              <a:buFont typeface="Wingdings" pitchFamily="2" charset="2"/>
              <a:buChar char="Ø"/>
            </a:pPr>
            <a:r>
              <a:rPr lang="en-US" sz="2900" dirty="0"/>
              <a:t>Example : </a:t>
            </a:r>
            <a:r>
              <a:rPr lang="en-US" sz="2900" dirty="0" err="1"/>
              <a:t>cyberstalking</a:t>
            </a:r>
            <a:r>
              <a:rPr lang="en-US" sz="2900" dirty="0"/>
              <a:t>, internet pedophilia, internet pornography</a:t>
            </a:r>
          </a:p>
        </p:txBody>
      </p:sp>
      <p:sp>
        <p:nvSpPr>
          <p:cNvPr id="11266" name="Rectangle 2"/>
          <p:cNvSpPr>
            <a:spLocks noGrp="1" noChangeArrowheads="1"/>
          </p:cNvSpPr>
          <p:nvPr>
            <p:ph type="title"/>
          </p:nvPr>
        </p:nvSpPr>
        <p:spPr/>
        <p:txBody>
          <a:bodyPr/>
          <a:lstStyle/>
          <a:p>
            <a:pPr eaLnBrk="1" hangingPunct="1"/>
            <a:r>
              <a:rPr lang="en-US" dirty="0"/>
              <a:t>Cyber-EXACERBATED Crimes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3"/>
          <p:cNvSpPr>
            <a:spLocks noGrp="1" noChangeArrowheads="1"/>
          </p:cNvSpPr>
          <p:nvPr>
            <p:ph idx="1"/>
          </p:nvPr>
        </p:nvSpPr>
        <p:spPr/>
        <p:txBody>
          <a:bodyPr>
            <a:normAutofit/>
          </a:bodyPr>
          <a:lstStyle/>
          <a:p>
            <a:pPr eaLnBrk="1" hangingPunct="1"/>
            <a:r>
              <a:rPr lang="en-US" sz="2800" b="1" u="sng" dirty="0"/>
              <a:t>Cyber-assisted crimes</a:t>
            </a:r>
          </a:p>
          <a:p>
            <a:pPr eaLnBrk="1" hangingPunct="1">
              <a:buFont typeface="Wingdings" pitchFamily="2" charset="2"/>
              <a:buChar char="Ø"/>
            </a:pPr>
            <a:r>
              <a:rPr lang="en-US" sz="2800" dirty="0" err="1"/>
              <a:t>Cybertechnology</a:t>
            </a:r>
            <a:r>
              <a:rPr lang="en-US" sz="2800" dirty="0"/>
              <a:t> merely assist someone in carrying out a crime</a:t>
            </a:r>
          </a:p>
          <a:p>
            <a:pPr eaLnBrk="1" hangingPunct="1">
              <a:buFont typeface="Wingdings" pitchFamily="2" charset="2"/>
              <a:buChar char="Ø"/>
            </a:pPr>
            <a:r>
              <a:rPr lang="en-US" sz="2800" dirty="0"/>
              <a:t>Example : income tax cheating, physical attack with a computer, property damage using a computer</a:t>
            </a:r>
          </a:p>
        </p:txBody>
      </p:sp>
      <p:sp>
        <p:nvSpPr>
          <p:cNvPr id="12290" name="Rectangle 2"/>
          <p:cNvSpPr>
            <a:spLocks noGrp="1" noChangeArrowheads="1"/>
          </p:cNvSpPr>
          <p:nvPr>
            <p:ph type="title"/>
          </p:nvPr>
        </p:nvSpPr>
        <p:spPr/>
        <p:txBody>
          <a:bodyPr/>
          <a:lstStyle/>
          <a:p>
            <a:pPr eaLnBrk="1" hangingPunct="1"/>
            <a:r>
              <a:rPr lang="en-US" dirty="0"/>
              <a:t>Cyber-ASSISTED Crimes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3"/>
          <p:cNvSpPr>
            <a:spLocks noGrp="1" noChangeArrowheads="1"/>
          </p:cNvSpPr>
          <p:nvPr>
            <p:ph idx="1"/>
          </p:nvPr>
        </p:nvSpPr>
        <p:spPr/>
        <p:txBody>
          <a:bodyPr/>
          <a:lstStyle/>
          <a:p>
            <a:pPr eaLnBrk="1" hangingPunct="1">
              <a:lnSpc>
                <a:spcPct val="90000"/>
              </a:lnSpc>
            </a:pPr>
            <a:r>
              <a:rPr lang="en-US" sz="2800" b="1" u="sng" dirty="0"/>
              <a:t>Hackers</a:t>
            </a:r>
          </a:p>
          <a:p>
            <a:pPr eaLnBrk="1" hangingPunct="1">
              <a:lnSpc>
                <a:spcPct val="90000"/>
              </a:lnSpc>
              <a:buFont typeface="Wingdings" pitchFamily="2" charset="2"/>
              <a:buChar char="Ø"/>
            </a:pPr>
            <a:r>
              <a:rPr lang="en-US" sz="2800" dirty="0"/>
              <a:t>Individuals who test the limitations of systems out of intellectual curiosity to see whether can gain access and how far they can go</a:t>
            </a:r>
          </a:p>
          <a:p>
            <a:pPr>
              <a:lnSpc>
                <a:spcPct val="90000"/>
              </a:lnSpc>
            </a:pPr>
            <a:r>
              <a:rPr lang="en-US" sz="2800" b="1" u="sng" dirty="0"/>
              <a:t>Crackers</a:t>
            </a:r>
          </a:p>
          <a:p>
            <a:pPr eaLnBrk="1" hangingPunct="1">
              <a:lnSpc>
                <a:spcPct val="90000"/>
              </a:lnSpc>
              <a:buFont typeface="Wingdings" pitchFamily="2" charset="2"/>
              <a:buChar char="Ø"/>
            </a:pPr>
            <a:r>
              <a:rPr lang="en-US" sz="2800" dirty="0"/>
              <a:t>Break into other people</a:t>
            </a:r>
            <a:r>
              <a:rPr lang="en-US" sz="2800" dirty="0">
                <a:latin typeface="Times New Roman" charset="0"/>
              </a:rPr>
              <a:t>’</a:t>
            </a:r>
            <a:r>
              <a:rPr lang="en-US" sz="2800" dirty="0"/>
              <a:t>s networks and system, deface web pages, crash computers, spread harmful programs</a:t>
            </a:r>
          </a:p>
        </p:txBody>
      </p:sp>
      <p:sp>
        <p:nvSpPr>
          <p:cNvPr id="13314" name="Rectangle 2"/>
          <p:cNvSpPr>
            <a:spLocks noGrp="1" noChangeArrowheads="1"/>
          </p:cNvSpPr>
          <p:nvPr>
            <p:ph type="title"/>
          </p:nvPr>
        </p:nvSpPr>
        <p:spPr/>
        <p:txBody>
          <a:bodyPr/>
          <a:lstStyle/>
          <a:p>
            <a:pPr eaLnBrk="1" hangingPunct="1"/>
            <a:r>
              <a:rPr lang="en-US" dirty="0"/>
              <a:t>Type of Perpetrators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idx="1"/>
          </p:nvPr>
        </p:nvSpPr>
        <p:spPr/>
        <p:txBody>
          <a:bodyPr>
            <a:normAutofit/>
          </a:bodyPr>
          <a:lstStyle/>
          <a:p>
            <a:pPr eaLnBrk="1" hangingPunct="1">
              <a:lnSpc>
                <a:spcPct val="90000"/>
              </a:lnSpc>
            </a:pPr>
            <a:r>
              <a:rPr lang="en-US" sz="2800" b="1" u="sng" dirty="0"/>
              <a:t>Malicious Insiders</a:t>
            </a:r>
          </a:p>
          <a:p>
            <a:pPr eaLnBrk="1" hangingPunct="1">
              <a:lnSpc>
                <a:spcPct val="90000"/>
              </a:lnSpc>
              <a:buFont typeface="Wingdings" pitchFamily="2" charset="2"/>
              <a:buChar char="Ø"/>
            </a:pPr>
            <a:r>
              <a:rPr lang="en-US" sz="2800" dirty="0"/>
              <a:t>An ever-present adversary (number one concern)</a:t>
            </a:r>
          </a:p>
          <a:p>
            <a:pPr eaLnBrk="1" hangingPunct="1">
              <a:lnSpc>
                <a:spcPct val="90000"/>
              </a:lnSpc>
              <a:buFont typeface="Wingdings" pitchFamily="2" charset="2"/>
              <a:buChar char="Ø"/>
            </a:pPr>
            <a:r>
              <a:rPr lang="en-US" sz="2800" dirty="0"/>
              <a:t>Estimated 70% network intruders come from inside:</a:t>
            </a:r>
          </a:p>
          <a:p>
            <a:pPr eaLnBrk="1" hangingPunct="1">
              <a:lnSpc>
                <a:spcPct val="90000"/>
              </a:lnSpc>
              <a:buFont typeface="Wingdings" pitchFamily="2" charset="2"/>
              <a:buChar char="Ø"/>
            </a:pPr>
            <a:r>
              <a:rPr lang="en-US" sz="2800" dirty="0"/>
              <a:t>Employees, consultants, contractors</a:t>
            </a:r>
          </a:p>
          <a:p>
            <a:pPr eaLnBrk="1" hangingPunct="1">
              <a:lnSpc>
                <a:spcPct val="90000"/>
              </a:lnSpc>
              <a:buFont typeface="Wingdings" pitchFamily="2" charset="2"/>
              <a:buChar char="Ø"/>
            </a:pPr>
            <a:r>
              <a:rPr lang="en-US" sz="2800" dirty="0"/>
              <a:t>Motivated by financial gain, revenge on employers, or publicity</a:t>
            </a:r>
          </a:p>
          <a:p>
            <a:pPr eaLnBrk="1" hangingPunct="1">
              <a:lnSpc>
                <a:spcPct val="90000"/>
              </a:lnSpc>
              <a:buFont typeface="Wingdings" pitchFamily="2" charset="2"/>
              <a:buNone/>
            </a:pPr>
            <a:endParaRPr lang="en-US" sz="2800" dirty="0"/>
          </a:p>
        </p:txBody>
      </p:sp>
      <p:sp>
        <p:nvSpPr>
          <p:cNvPr id="14338" name="Rectangle 2"/>
          <p:cNvSpPr>
            <a:spLocks noGrp="1" noChangeArrowheads="1"/>
          </p:cNvSpPr>
          <p:nvPr>
            <p:ph type="title"/>
          </p:nvPr>
        </p:nvSpPr>
        <p:spPr/>
        <p:txBody>
          <a:bodyPr/>
          <a:lstStyle/>
          <a:p>
            <a:pPr eaLnBrk="1" hangingPunct="1"/>
            <a:r>
              <a:rPr lang="en-US"/>
              <a:t>Type of Perpetrators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3"/>
          <p:cNvSpPr>
            <a:spLocks noGrp="1" noChangeArrowheads="1"/>
          </p:cNvSpPr>
          <p:nvPr>
            <p:ph idx="1"/>
          </p:nvPr>
        </p:nvSpPr>
        <p:spPr/>
        <p:txBody>
          <a:bodyPr/>
          <a:lstStyle/>
          <a:p>
            <a:pPr eaLnBrk="1" hangingPunct="1">
              <a:lnSpc>
                <a:spcPct val="90000"/>
              </a:lnSpc>
            </a:pPr>
            <a:r>
              <a:rPr lang="en-US" sz="2800" b="1" u="sng" dirty="0"/>
              <a:t>Malicious Insiders </a:t>
            </a:r>
            <a:r>
              <a:rPr lang="en-US" sz="2800" dirty="0"/>
              <a:t>-- </a:t>
            </a:r>
            <a:r>
              <a:rPr lang="en-US" sz="2800" dirty="0" err="1"/>
              <a:t>cont</a:t>
            </a:r>
            <a:endParaRPr lang="en-US" sz="2800" dirty="0"/>
          </a:p>
          <a:p>
            <a:pPr eaLnBrk="1" hangingPunct="1">
              <a:lnSpc>
                <a:spcPct val="90000"/>
              </a:lnSpc>
              <a:buFont typeface="Wingdings" pitchFamily="2" charset="2"/>
              <a:buChar char="Ø"/>
            </a:pPr>
            <a:r>
              <a:rPr lang="en-US" sz="2800" dirty="0"/>
              <a:t>Has knowledge of system and authorized to access the systems</a:t>
            </a:r>
          </a:p>
          <a:p>
            <a:pPr eaLnBrk="1" hangingPunct="1">
              <a:lnSpc>
                <a:spcPct val="90000"/>
              </a:lnSpc>
              <a:buFont typeface="Wingdings" pitchFamily="2" charset="2"/>
              <a:buChar char="Ø"/>
            </a:pPr>
            <a:r>
              <a:rPr lang="en-US" sz="2800" dirty="0"/>
              <a:t>Know procedure to gain access to login ids and password</a:t>
            </a:r>
          </a:p>
          <a:p>
            <a:pPr eaLnBrk="1" hangingPunct="1">
              <a:lnSpc>
                <a:spcPct val="90000"/>
              </a:lnSpc>
              <a:buFont typeface="Wingdings" pitchFamily="2" charset="2"/>
              <a:buChar char="Ø"/>
            </a:pPr>
            <a:r>
              <a:rPr lang="en-US" sz="2800" dirty="0"/>
              <a:t>Know how systems work and where the weak points are</a:t>
            </a:r>
          </a:p>
          <a:p>
            <a:pPr eaLnBrk="1" hangingPunct="1">
              <a:lnSpc>
                <a:spcPct val="90000"/>
              </a:lnSpc>
              <a:buFont typeface="Wingdings" pitchFamily="2" charset="2"/>
              <a:buChar char="Ø"/>
            </a:pPr>
            <a:r>
              <a:rPr lang="en-US" sz="2800" dirty="0"/>
              <a:t>Know about organizational structure and security procedure to avoid any investigation</a:t>
            </a:r>
          </a:p>
          <a:p>
            <a:pPr eaLnBrk="1" hangingPunct="1">
              <a:lnSpc>
                <a:spcPct val="90000"/>
              </a:lnSpc>
              <a:buFont typeface="Wingdings" pitchFamily="2" charset="2"/>
              <a:buNone/>
            </a:pPr>
            <a:endParaRPr lang="en-US" sz="2800" dirty="0"/>
          </a:p>
        </p:txBody>
      </p:sp>
      <p:sp>
        <p:nvSpPr>
          <p:cNvPr id="15362" name="Rectangle 2"/>
          <p:cNvSpPr>
            <a:spLocks noGrp="1" noChangeArrowheads="1"/>
          </p:cNvSpPr>
          <p:nvPr>
            <p:ph type="title"/>
          </p:nvPr>
        </p:nvSpPr>
        <p:spPr/>
        <p:txBody>
          <a:bodyPr/>
          <a:lstStyle/>
          <a:p>
            <a:pPr eaLnBrk="1" hangingPunct="1"/>
            <a:r>
              <a:rPr lang="en-US" dirty="0"/>
              <a:t>Type of Perpetrators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3"/>
          <p:cNvSpPr>
            <a:spLocks noGrp="1" noChangeArrowheads="1"/>
          </p:cNvSpPr>
          <p:nvPr>
            <p:ph idx="1"/>
          </p:nvPr>
        </p:nvSpPr>
        <p:spPr/>
        <p:txBody>
          <a:bodyPr>
            <a:normAutofit/>
          </a:bodyPr>
          <a:lstStyle/>
          <a:p>
            <a:pPr eaLnBrk="1" hangingPunct="1"/>
            <a:r>
              <a:rPr lang="en-US" sz="2800" b="1" u="sng" dirty="0"/>
              <a:t>Industrial spies</a:t>
            </a:r>
          </a:p>
          <a:p>
            <a:pPr eaLnBrk="1" hangingPunct="1">
              <a:buFont typeface="Wingdings" pitchFamily="2" charset="2"/>
              <a:buChar char="Ø"/>
            </a:pPr>
            <a:r>
              <a:rPr lang="en-US" sz="2800" dirty="0"/>
              <a:t>Use illegal means to obtain trade secrets from the competitors of the firm for which they are hire</a:t>
            </a:r>
          </a:p>
          <a:p>
            <a:pPr eaLnBrk="1" hangingPunct="1">
              <a:buFont typeface="Wingdings" pitchFamily="2" charset="2"/>
              <a:buChar char="Ø"/>
            </a:pPr>
            <a:r>
              <a:rPr lang="en-US" sz="2800" dirty="0"/>
              <a:t>Theft of trade secret by disgruntled employees or ex-employees</a:t>
            </a:r>
          </a:p>
          <a:p>
            <a:pPr eaLnBrk="1" hangingPunct="1">
              <a:buFont typeface="Wingdings" pitchFamily="2" charset="2"/>
              <a:buChar char="Ø"/>
            </a:pPr>
            <a:endParaRPr lang="en-US" sz="2800" dirty="0"/>
          </a:p>
          <a:p>
            <a:pPr eaLnBrk="1" hangingPunct="1">
              <a:buFont typeface="Wingdings" pitchFamily="2" charset="2"/>
              <a:buNone/>
            </a:pPr>
            <a:endParaRPr lang="en-US" sz="2800" dirty="0"/>
          </a:p>
        </p:txBody>
      </p:sp>
      <p:sp>
        <p:nvSpPr>
          <p:cNvPr id="16386" name="Rectangle 2"/>
          <p:cNvSpPr>
            <a:spLocks noGrp="1" noChangeArrowheads="1"/>
          </p:cNvSpPr>
          <p:nvPr>
            <p:ph type="title"/>
          </p:nvPr>
        </p:nvSpPr>
        <p:spPr/>
        <p:txBody>
          <a:bodyPr/>
          <a:lstStyle/>
          <a:p>
            <a:pPr eaLnBrk="1" hangingPunct="1"/>
            <a:r>
              <a:rPr lang="en-US"/>
              <a:t>Type of Perpetrators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3"/>
          <p:cNvSpPr>
            <a:spLocks noGrp="1" noChangeArrowheads="1"/>
          </p:cNvSpPr>
          <p:nvPr>
            <p:ph idx="1"/>
          </p:nvPr>
        </p:nvSpPr>
        <p:spPr/>
        <p:txBody>
          <a:bodyPr>
            <a:normAutofit/>
          </a:bodyPr>
          <a:lstStyle/>
          <a:p>
            <a:pPr eaLnBrk="1" hangingPunct="1"/>
            <a:r>
              <a:rPr lang="en-US" sz="2800" b="1" u="sng" dirty="0"/>
              <a:t>Cybercriminal</a:t>
            </a:r>
          </a:p>
          <a:p>
            <a:pPr eaLnBrk="1" hangingPunct="1">
              <a:buFont typeface="Wingdings" pitchFamily="2" charset="2"/>
              <a:buChar char="Ø"/>
            </a:pPr>
            <a:r>
              <a:rPr lang="en-US" sz="2800" dirty="0"/>
              <a:t>Hack into corporate computer and steal money often transferring money from one account into another</a:t>
            </a:r>
          </a:p>
          <a:p>
            <a:pPr eaLnBrk="1" hangingPunct="1">
              <a:buFont typeface="Wingdings" pitchFamily="2" charset="2"/>
              <a:buChar char="Ø"/>
            </a:pPr>
            <a:r>
              <a:rPr lang="en-US" sz="2800" dirty="0"/>
              <a:t>Engage in all forms of computer fraud</a:t>
            </a:r>
          </a:p>
          <a:p>
            <a:pPr eaLnBrk="1" hangingPunct="1">
              <a:buFont typeface="Wingdings" pitchFamily="2" charset="2"/>
              <a:buChar char="Ø"/>
            </a:pPr>
            <a:r>
              <a:rPr lang="en-US" sz="2800" dirty="0"/>
              <a:t>Can spend large sum of money to but expertise and access</a:t>
            </a:r>
          </a:p>
          <a:p>
            <a:pPr eaLnBrk="1" hangingPunct="1">
              <a:buFont typeface="Wingdings" pitchFamily="2" charset="2"/>
              <a:buChar char="Ø"/>
            </a:pPr>
            <a:endParaRPr lang="en-US" sz="2800" dirty="0"/>
          </a:p>
          <a:p>
            <a:pPr eaLnBrk="1" hangingPunct="1">
              <a:buFont typeface="Wingdings" pitchFamily="2" charset="2"/>
              <a:buNone/>
            </a:pPr>
            <a:endParaRPr lang="en-US" sz="2800" dirty="0"/>
          </a:p>
        </p:txBody>
      </p:sp>
      <p:sp>
        <p:nvSpPr>
          <p:cNvPr id="17410" name="Rectangle 2"/>
          <p:cNvSpPr>
            <a:spLocks noGrp="1" noChangeArrowheads="1"/>
          </p:cNvSpPr>
          <p:nvPr>
            <p:ph type="title"/>
          </p:nvPr>
        </p:nvSpPr>
        <p:spPr/>
        <p:txBody>
          <a:bodyPr/>
          <a:lstStyle/>
          <a:p>
            <a:pPr eaLnBrk="1" hangingPunct="1"/>
            <a:r>
              <a:rPr lang="en-US"/>
              <a:t>Type of Perpetrators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p:txBody>
          <a:bodyPr>
            <a:normAutofit lnSpcReduction="10000"/>
          </a:bodyPr>
          <a:lstStyle/>
          <a:p>
            <a:pPr eaLnBrk="1" hangingPunct="1">
              <a:lnSpc>
                <a:spcPct val="90000"/>
              </a:lnSpc>
            </a:pPr>
            <a:r>
              <a:rPr lang="en-US" sz="2800" b="1" u="sng" dirty="0" err="1"/>
              <a:t>Cyberterrorists</a:t>
            </a:r>
            <a:endParaRPr lang="en-US" sz="2800" b="1" u="sng" dirty="0"/>
          </a:p>
          <a:p>
            <a:pPr eaLnBrk="1" hangingPunct="1">
              <a:lnSpc>
                <a:spcPct val="90000"/>
              </a:lnSpc>
              <a:buFont typeface="Wingdings" pitchFamily="2" charset="2"/>
              <a:buChar char="Ø"/>
            </a:pPr>
            <a:r>
              <a:rPr lang="en-US" sz="2800" dirty="0"/>
              <a:t>Someone who intimidates or coerces a government or organization to advance his or her political or social objectives by launching computer-based attacks against computers, networks, and information stored on them</a:t>
            </a:r>
          </a:p>
          <a:p>
            <a:pPr eaLnBrk="1" hangingPunct="1">
              <a:lnSpc>
                <a:spcPct val="90000"/>
              </a:lnSpc>
              <a:buFont typeface="Wingdings" pitchFamily="2" charset="2"/>
              <a:buChar char="Ø"/>
            </a:pPr>
            <a:r>
              <a:rPr lang="en-US" sz="2800" dirty="0"/>
              <a:t>Cause harm rather than to gather information</a:t>
            </a:r>
          </a:p>
          <a:p>
            <a:pPr eaLnBrk="1" hangingPunct="1">
              <a:lnSpc>
                <a:spcPct val="90000"/>
              </a:lnSpc>
              <a:buFont typeface="Wingdings" pitchFamily="2" charset="2"/>
              <a:buChar char="Ø"/>
            </a:pPr>
            <a:r>
              <a:rPr lang="en-US" sz="2800" dirty="0"/>
              <a:t>Result in outright destruction or disruption of services</a:t>
            </a:r>
          </a:p>
          <a:p>
            <a:pPr eaLnBrk="1" hangingPunct="1">
              <a:lnSpc>
                <a:spcPct val="90000"/>
              </a:lnSpc>
              <a:buFont typeface="Wingdings" pitchFamily="2" charset="2"/>
              <a:buChar char="Ø"/>
            </a:pPr>
            <a:r>
              <a:rPr lang="en-US" sz="2800" dirty="0"/>
              <a:t>Can be well-organized, well-trained, and well-supported</a:t>
            </a:r>
          </a:p>
          <a:p>
            <a:pPr eaLnBrk="1" hangingPunct="1">
              <a:lnSpc>
                <a:spcPct val="90000"/>
              </a:lnSpc>
              <a:buFont typeface="Wingdings" pitchFamily="2" charset="2"/>
              <a:buNone/>
            </a:pPr>
            <a:endParaRPr lang="en-US" sz="2800" dirty="0"/>
          </a:p>
          <a:p>
            <a:pPr eaLnBrk="1" hangingPunct="1">
              <a:lnSpc>
                <a:spcPct val="90000"/>
              </a:lnSpc>
              <a:buFont typeface="Wingdings" pitchFamily="2" charset="2"/>
              <a:buChar char="Ø"/>
            </a:pPr>
            <a:endParaRPr lang="en-US" sz="2800" dirty="0"/>
          </a:p>
          <a:p>
            <a:pPr eaLnBrk="1" hangingPunct="1">
              <a:lnSpc>
                <a:spcPct val="90000"/>
              </a:lnSpc>
              <a:buFont typeface="Wingdings" pitchFamily="2" charset="2"/>
              <a:buNone/>
            </a:pPr>
            <a:endParaRPr lang="en-US" sz="2800" dirty="0"/>
          </a:p>
        </p:txBody>
      </p:sp>
      <p:sp>
        <p:nvSpPr>
          <p:cNvPr id="18434" name="Rectangle 2"/>
          <p:cNvSpPr>
            <a:spLocks noGrp="1" noChangeArrowheads="1"/>
          </p:cNvSpPr>
          <p:nvPr>
            <p:ph type="title"/>
          </p:nvPr>
        </p:nvSpPr>
        <p:spPr/>
        <p:txBody>
          <a:bodyPr/>
          <a:lstStyle/>
          <a:p>
            <a:pPr eaLnBrk="1" hangingPunct="1"/>
            <a:r>
              <a:rPr lang="en-US"/>
              <a:t>Type of Perpetrators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idx="1"/>
          </p:nvPr>
        </p:nvSpPr>
        <p:spPr>
          <a:xfrm>
            <a:off x="380999" y="1719070"/>
            <a:ext cx="8407893" cy="4986530"/>
          </a:xfrm>
        </p:spPr>
        <p:txBody>
          <a:bodyPr>
            <a:noAutofit/>
          </a:bodyPr>
          <a:lstStyle/>
          <a:p>
            <a:pPr eaLnBrk="1" hangingPunct="1"/>
            <a:r>
              <a:rPr lang="en-US" sz="2800" dirty="0"/>
              <a:t>Some causes of </a:t>
            </a:r>
            <a:r>
              <a:rPr lang="en-US" sz="2800" b="1" u="sng" dirty="0">
                <a:solidFill>
                  <a:srgbClr val="800000"/>
                </a:solidFill>
              </a:rPr>
              <a:t>Fraud</a:t>
            </a:r>
          </a:p>
          <a:p>
            <a:pPr eaLnBrk="1" hangingPunct="1">
              <a:buFont typeface="Wingdings" pitchFamily="2" charset="2"/>
              <a:buChar char="Ø"/>
            </a:pPr>
            <a:r>
              <a:rPr lang="en-US" sz="2800" b="1" u="sng" dirty="0"/>
              <a:t>Credit-Card</a:t>
            </a:r>
          </a:p>
          <a:p>
            <a:pPr eaLnBrk="1" hangingPunct="1">
              <a:buFont typeface="Wingdings" pitchFamily="2" charset="2"/>
              <a:buChar char="ü"/>
            </a:pPr>
            <a:r>
              <a:rPr lang="en-US" sz="2800" dirty="0"/>
              <a:t>Stolen receipts, mailed notices, and card</a:t>
            </a:r>
          </a:p>
          <a:p>
            <a:pPr eaLnBrk="1" hangingPunct="1">
              <a:buFont typeface="Wingdings" pitchFamily="2" charset="2"/>
              <a:buChar char="ü"/>
            </a:pPr>
            <a:r>
              <a:rPr lang="en-US" sz="2800" dirty="0"/>
              <a:t>Interception of online transaction or weak e-commerce security</a:t>
            </a:r>
          </a:p>
          <a:p>
            <a:pPr eaLnBrk="1" hangingPunct="1">
              <a:buFont typeface="Wingdings" pitchFamily="2" charset="2"/>
              <a:buChar char="ü"/>
            </a:pPr>
            <a:r>
              <a:rPr lang="en-US" sz="2800" dirty="0"/>
              <a:t>Careless handling by card-owner</a:t>
            </a:r>
          </a:p>
          <a:p>
            <a:pPr eaLnBrk="1" hangingPunct="1">
              <a:buFont typeface="Wingdings" pitchFamily="2" charset="2"/>
              <a:buChar char="Ø"/>
            </a:pPr>
            <a:r>
              <a:rPr lang="en-US" sz="2800" b="1" u="sng" dirty="0"/>
              <a:t>ATM</a:t>
            </a:r>
          </a:p>
          <a:p>
            <a:pPr eaLnBrk="1" hangingPunct="1">
              <a:buFont typeface="Wingdings" pitchFamily="2" charset="2"/>
              <a:buChar char="ü"/>
            </a:pPr>
            <a:r>
              <a:rPr lang="en-US" sz="2800" dirty="0"/>
              <a:t>Stolen account numbers and PINs</a:t>
            </a:r>
          </a:p>
          <a:p>
            <a:pPr eaLnBrk="1" hangingPunct="1">
              <a:buFont typeface="Wingdings" pitchFamily="2" charset="2"/>
              <a:buChar char="ü"/>
            </a:pPr>
            <a:r>
              <a:rPr lang="en-US" sz="2800" dirty="0"/>
              <a:t>Insider knowledge</a:t>
            </a:r>
          </a:p>
          <a:p>
            <a:pPr eaLnBrk="1" hangingPunct="1">
              <a:buFont typeface="Wingdings" pitchFamily="2" charset="2"/>
              <a:buChar char="ü"/>
            </a:pPr>
            <a:r>
              <a:rPr lang="en-US" sz="2800" dirty="0"/>
              <a:t>A counterfeit ATM</a:t>
            </a:r>
          </a:p>
          <a:p>
            <a:pPr eaLnBrk="1" hangingPunct="1">
              <a:buFont typeface="Wingdings" pitchFamily="2" charset="2"/>
              <a:buBlip>
                <a:blip r:embed="rId2"/>
              </a:buBlip>
            </a:pPr>
            <a:endParaRPr lang="en-US" sz="2800" dirty="0"/>
          </a:p>
        </p:txBody>
      </p:sp>
      <p:sp>
        <p:nvSpPr>
          <p:cNvPr id="19458" name="Rectangle 2"/>
          <p:cNvSpPr>
            <a:spLocks noGrp="1" noChangeArrowheads="1"/>
          </p:cNvSpPr>
          <p:nvPr>
            <p:ph type="title"/>
          </p:nvPr>
        </p:nvSpPr>
        <p:spPr/>
        <p:txBody>
          <a:bodyPr/>
          <a:lstStyle/>
          <a:p>
            <a:pPr eaLnBrk="1" hangingPunct="1"/>
            <a:r>
              <a:rPr lang="en-US" sz="3200" dirty="0"/>
              <a:t>Fraud, Embezzlement, Sabotage, Identity theft, and forgery</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idx="1"/>
          </p:nvPr>
        </p:nvSpPr>
        <p:spPr>
          <a:xfrm>
            <a:off x="380999" y="1719070"/>
            <a:ext cx="9220201" cy="4834129"/>
          </a:xfrm>
        </p:spPr>
        <p:txBody>
          <a:bodyPr>
            <a:normAutofit lnSpcReduction="10000"/>
          </a:bodyPr>
          <a:lstStyle/>
          <a:p>
            <a:pPr eaLnBrk="1" hangingPunct="1"/>
            <a:r>
              <a:rPr lang="en-US" sz="2400" b="1" u="sng" dirty="0">
                <a:solidFill>
                  <a:srgbClr val="800000"/>
                </a:solidFill>
              </a:rPr>
              <a:t>Embezzlement</a:t>
            </a:r>
            <a:r>
              <a:rPr lang="en-US" sz="2400" dirty="0">
                <a:solidFill>
                  <a:schemeClr val="tx1"/>
                </a:solidFill>
              </a:rPr>
              <a:t> and </a:t>
            </a:r>
            <a:r>
              <a:rPr lang="en-US" sz="2400" b="1" u="sng" dirty="0">
                <a:solidFill>
                  <a:srgbClr val="800000"/>
                </a:solidFill>
              </a:rPr>
              <a:t>Sabotage</a:t>
            </a:r>
          </a:p>
          <a:p>
            <a:pPr eaLnBrk="1" hangingPunct="1">
              <a:buFont typeface="Wingdings" pitchFamily="2" charset="2"/>
              <a:buChar char="Ø"/>
            </a:pPr>
            <a:r>
              <a:rPr lang="en-US" sz="2400" b="1" dirty="0">
                <a:solidFill>
                  <a:schemeClr val="tx1"/>
                </a:solidFill>
              </a:rPr>
              <a:t>Some causes</a:t>
            </a:r>
          </a:p>
          <a:p>
            <a:pPr eaLnBrk="1" hangingPunct="1">
              <a:buFont typeface="Wingdings" pitchFamily="2" charset="2"/>
              <a:buChar char="ü"/>
            </a:pPr>
            <a:r>
              <a:rPr lang="en-US" sz="2400" dirty="0"/>
              <a:t>Insider information</a:t>
            </a:r>
          </a:p>
          <a:p>
            <a:pPr eaLnBrk="1" hangingPunct="1">
              <a:buFont typeface="Wingdings" pitchFamily="2" charset="2"/>
              <a:buChar char="ü"/>
            </a:pPr>
            <a:r>
              <a:rPr lang="en-US" sz="2400" dirty="0"/>
              <a:t>Poor security</a:t>
            </a:r>
          </a:p>
          <a:p>
            <a:pPr eaLnBrk="1" hangingPunct="1">
              <a:buFont typeface="Wingdings" pitchFamily="2" charset="2"/>
              <a:buChar char="ü"/>
            </a:pPr>
            <a:r>
              <a:rPr lang="en-US" sz="2400" dirty="0"/>
              <a:t>Complex financial transaction </a:t>
            </a:r>
          </a:p>
          <a:p>
            <a:pPr eaLnBrk="1" hangingPunct="1">
              <a:buFont typeface="Wingdings" pitchFamily="2" charset="2"/>
              <a:buChar char="ü"/>
            </a:pPr>
            <a:r>
              <a:rPr lang="en-US" sz="2400" dirty="0"/>
              <a:t>Anonymity of computer users</a:t>
            </a:r>
          </a:p>
          <a:p>
            <a:pPr eaLnBrk="1" hangingPunct="1">
              <a:buFont typeface="Wingdings" pitchFamily="2" charset="2"/>
              <a:buChar char="Ø"/>
            </a:pPr>
            <a:r>
              <a:rPr lang="en-US" sz="2400" b="1" dirty="0">
                <a:solidFill>
                  <a:schemeClr val="tx1"/>
                </a:solidFill>
              </a:rPr>
              <a:t>Some defenses</a:t>
            </a:r>
          </a:p>
          <a:p>
            <a:pPr eaLnBrk="1" hangingPunct="1">
              <a:buFont typeface="Wingdings" pitchFamily="2" charset="2"/>
              <a:buChar char="ü"/>
            </a:pPr>
            <a:r>
              <a:rPr lang="en-US" sz="2400" dirty="0"/>
              <a:t>Rotate employee responsibility</a:t>
            </a:r>
          </a:p>
          <a:p>
            <a:pPr eaLnBrk="1" hangingPunct="1">
              <a:buFont typeface="Wingdings" pitchFamily="2" charset="2"/>
              <a:buChar char="ü"/>
            </a:pPr>
            <a:r>
              <a:rPr lang="en-US" sz="2400" dirty="0"/>
              <a:t>Require use of employee ID and password</a:t>
            </a:r>
          </a:p>
          <a:p>
            <a:pPr eaLnBrk="1" hangingPunct="1">
              <a:buFont typeface="Wingdings" pitchFamily="2" charset="2"/>
              <a:buChar char="ü"/>
            </a:pPr>
            <a:r>
              <a:rPr lang="en-US" sz="2400" dirty="0"/>
              <a:t>Implement audit trail</a:t>
            </a:r>
          </a:p>
          <a:p>
            <a:pPr eaLnBrk="1" hangingPunct="1">
              <a:buFont typeface="Wingdings" pitchFamily="2" charset="2"/>
              <a:buChar char="ü"/>
            </a:pPr>
            <a:r>
              <a:rPr lang="en-US" sz="2400" dirty="0"/>
              <a:t>Careful screening and background checks of employees</a:t>
            </a:r>
          </a:p>
          <a:p>
            <a:pPr eaLnBrk="1" hangingPunct="1">
              <a:buFont typeface="Wingdings" pitchFamily="2" charset="2"/>
              <a:buBlip>
                <a:blip r:embed="rId3"/>
              </a:buBlip>
            </a:pPr>
            <a:endParaRPr lang="en-US" sz="2400" dirty="0"/>
          </a:p>
        </p:txBody>
      </p:sp>
      <p:sp>
        <p:nvSpPr>
          <p:cNvPr id="20482" name="Rectangle 2"/>
          <p:cNvSpPr>
            <a:spLocks noGrp="1" noChangeArrowheads="1"/>
          </p:cNvSpPr>
          <p:nvPr>
            <p:ph type="title"/>
          </p:nvPr>
        </p:nvSpPr>
        <p:spPr/>
        <p:txBody>
          <a:bodyPr/>
          <a:lstStyle/>
          <a:p>
            <a:pPr eaLnBrk="1" hangingPunct="1"/>
            <a:r>
              <a:rPr lang="en-US" sz="3200"/>
              <a:t>Fraud, Embezzlement, Sabotage, Identity theft, and forgery</a:t>
            </a:r>
          </a:p>
        </p:txBody>
      </p:sp>
      <p:pic>
        <p:nvPicPr>
          <p:cNvPr id="15362" name="Picture 2" descr="http://t1.gstatic.com/images?q=tbn:ANd9GcT2q4HD87I10D1aLta2EZZNX7QEgTcRauuzS36aWeAwqazyds8W0A"/>
          <p:cNvPicPr>
            <a:picLocks noChangeAspect="1" noChangeArrowheads="1"/>
          </p:cNvPicPr>
          <p:nvPr/>
        </p:nvPicPr>
        <p:blipFill>
          <a:blip r:embed="rId4" cstate="print"/>
          <a:srcRect/>
          <a:stretch>
            <a:fillRect/>
          </a:stretch>
        </p:blipFill>
        <p:spPr bwMode="auto">
          <a:xfrm>
            <a:off x="6324600" y="1719070"/>
            <a:ext cx="2609850" cy="2819400"/>
          </a:xfrm>
          <a:prstGeom prst="rect">
            <a:avLst/>
          </a:prstGeom>
          <a:noFill/>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3"/>
          <p:cNvSpPr>
            <a:spLocks noGrp="1" noChangeArrowheads="1"/>
          </p:cNvSpPr>
          <p:nvPr>
            <p:ph idx="1"/>
          </p:nvPr>
        </p:nvSpPr>
        <p:spPr>
          <a:xfrm>
            <a:off x="380999" y="1719070"/>
            <a:ext cx="8407893" cy="4834129"/>
          </a:xfrm>
        </p:spPr>
        <p:txBody>
          <a:bodyPr>
            <a:noAutofit/>
          </a:bodyPr>
          <a:lstStyle/>
          <a:p>
            <a:pPr eaLnBrk="1" hangingPunct="1">
              <a:lnSpc>
                <a:spcPct val="90000"/>
              </a:lnSpc>
            </a:pPr>
            <a:r>
              <a:rPr lang="en-US" sz="2800" b="1" u="sng" dirty="0">
                <a:solidFill>
                  <a:srgbClr val="800000"/>
                </a:solidFill>
              </a:rPr>
              <a:t>Identity Theft</a:t>
            </a:r>
          </a:p>
          <a:p>
            <a:pPr eaLnBrk="1" hangingPunct="1">
              <a:lnSpc>
                <a:spcPct val="90000"/>
              </a:lnSpc>
              <a:buFont typeface="Wingdings" pitchFamily="2" charset="2"/>
              <a:buChar char="Ø"/>
            </a:pPr>
            <a:r>
              <a:rPr lang="en-US" sz="2200" b="1" dirty="0">
                <a:solidFill>
                  <a:schemeClr val="tx1"/>
                </a:solidFill>
              </a:rPr>
              <a:t>Some causes</a:t>
            </a:r>
          </a:p>
          <a:p>
            <a:pPr eaLnBrk="1" hangingPunct="1">
              <a:lnSpc>
                <a:spcPct val="90000"/>
              </a:lnSpc>
              <a:buFont typeface="Wingdings" pitchFamily="2" charset="2"/>
              <a:buChar char="ü"/>
            </a:pPr>
            <a:r>
              <a:rPr lang="en-US" sz="2200" dirty="0"/>
              <a:t>Insecure and inappropriate use of identification card number</a:t>
            </a:r>
          </a:p>
          <a:p>
            <a:pPr eaLnBrk="1" hangingPunct="1">
              <a:lnSpc>
                <a:spcPct val="90000"/>
              </a:lnSpc>
              <a:buFont typeface="Wingdings" pitchFamily="2" charset="2"/>
              <a:buChar char="ü"/>
            </a:pPr>
            <a:r>
              <a:rPr lang="en-US" sz="2200" dirty="0"/>
              <a:t>Careless handling of personally identifiable information</a:t>
            </a:r>
          </a:p>
          <a:p>
            <a:pPr eaLnBrk="1" hangingPunct="1">
              <a:lnSpc>
                <a:spcPct val="90000"/>
              </a:lnSpc>
              <a:buFont typeface="Wingdings" pitchFamily="2" charset="2"/>
              <a:buChar char="ü"/>
            </a:pPr>
            <a:r>
              <a:rPr lang="en-US" sz="2200" dirty="0"/>
              <a:t>Weak security of stored records</a:t>
            </a:r>
          </a:p>
          <a:p>
            <a:pPr eaLnBrk="1" hangingPunct="1">
              <a:lnSpc>
                <a:spcPct val="90000"/>
              </a:lnSpc>
              <a:buFont typeface="Wingdings" pitchFamily="2" charset="2"/>
              <a:buChar char="ü"/>
            </a:pPr>
            <a:r>
              <a:rPr lang="en-US" sz="2200" dirty="0"/>
              <a:t>Insufficient assistance to identity theft</a:t>
            </a:r>
          </a:p>
          <a:p>
            <a:pPr eaLnBrk="1" hangingPunct="1">
              <a:lnSpc>
                <a:spcPct val="90000"/>
              </a:lnSpc>
              <a:buFont typeface="Wingdings" pitchFamily="2" charset="2"/>
              <a:buChar char="Ø"/>
            </a:pPr>
            <a:r>
              <a:rPr lang="en-US" sz="2200" b="1" dirty="0">
                <a:solidFill>
                  <a:schemeClr val="tx1"/>
                </a:solidFill>
              </a:rPr>
              <a:t>Some defenses</a:t>
            </a:r>
          </a:p>
          <a:p>
            <a:pPr eaLnBrk="1" hangingPunct="1">
              <a:lnSpc>
                <a:spcPct val="90000"/>
              </a:lnSpc>
              <a:buFont typeface="Wingdings" pitchFamily="2" charset="2"/>
              <a:buChar char="ü"/>
            </a:pPr>
            <a:r>
              <a:rPr lang="en-US" sz="2200" dirty="0"/>
              <a:t>Limit use of personally identifiable information</a:t>
            </a:r>
          </a:p>
          <a:p>
            <a:pPr eaLnBrk="1" hangingPunct="1">
              <a:lnSpc>
                <a:spcPct val="90000"/>
              </a:lnSpc>
              <a:buFont typeface="Wingdings" pitchFamily="2" charset="2"/>
              <a:buChar char="ü"/>
            </a:pPr>
            <a:r>
              <a:rPr lang="en-US" sz="2200" dirty="0"/>
              <a:t>Increase security of information stored by business and government agencies</a:t>
            </a:r>
          </a:p>
          <a:p>
            <a:pPr eaLnBrk="1" hangingPunct="1">
              <a:lnSpc>
                <a:spcPct val="90000"/>
              </a:lnSpc>
              <a:buFont typeface="Wingdings" pitchFamily="2" charset="2"/>
              <a:buChar char="ü"/>
            </a:pPr>
            <a:r>
              <a:rPr lang="en-US" sz="2200" dirty="0"/>
              <a:t>Improve methods to accurately identify a person</a:t>
            </a:r>
          </a:p>
          <a:p>
            <a:pPr eaLnBrk="1" hangingPunct="1">
              <a:lnSpc>
                <a:spcPct val="90000"/>
              </a:lnSpc>
              <a:buFont typeface="Wingdings" pitchFamily="2" charset="2"/>
              <a:buChar char="ü"/>
            </a:pPr>
            <a:r>
              <a:rPr lang="en-US" sz="2200" dirty="0"/>
              <a:t>Educate consumers</a:t>
            </a:r>
          </a:p>
          <a:p>
            <a:pPr eaLnBrk="1" hangingPunct="1">
              <a:lnSpc>
                <a:spcPct val="90000"/>
              </a:lnSpc>
              <a:buFont typeface="Wingdings" pitchFamily="2" charset="2"/>
              <a:buBlip>
                <a:blip r:embed="rId2"/>
              </a:buBlip>
            </a:pPr>
            <a:endParaRPr lang="en-US" dirty="0"/>
          </a:p>
        </p:txBody>
      </p:sp>
      <p:sp>
        <p:nvSpPr>
          <p:cNvPr id="21506" name="Rectangle 2"/>
          <p:cNvSpPr>
            <a:spLocks noGrp="1" noChangeArrowheads="1"/>
          </p:cNvSpPr>
          <p:nvPr>
            <p:ph type="title"/>
          </p:nvPr>
        </p:nvSpPr>
        <p:spPr/>
        <p:txBody>
          <a:bodyPr/>
          <a:lstStyle/>
          <a:p>
            <a:pPr eaLnBrk="1" hangingPunct="1"/>
            <a:r>
              <a:rPr lang="en-US" sz="3200"/>
              <a:t>Fraud, Embezzlement, Sabotage, Identity theft, and forgery</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3"/>
          <p:cNvSpPr>
            <a:spLocks noGrp="1" noChangeArrowheads="1"/>
          </p:cNvSpPr>
          <p:nvPr>
            <p:ph idx="1"/>
          </p:nvPr>
        </p:nvSpPr>
        <p:spPr/>
        <p:txBody>
          <a:bodyPr>
            <a:normAutofit lnSpcReduction="10000"/>
          </a:bodyPr>
          <a:lstStyle/>
          <a:p>
            <a:pPr eaLnBrk="1" hangingPunct="1"/>
            <a:r>
              <a:rPr lang="en-US" sz="2800" b="1" u="sng" dirty="0">
                <a:solidFill>
                  <a:srgbClr val="800000"/>
                </a:solidFill>
              </a:rPr>
              <a:t>Forgery</a:t>
            </a:r>
          </a:p>
          <a:p>
            <a:pPr eaLnBrk="1" hangingPunct="1">
              <a:buFont typeface="Wingdings" pitchFamily="2" charset="2"/>
              <a:buChar char="Ø"/>
            </a:pPr>
            <a:r>
              <a:rPr lang="en-US" sz="2400" b="1" dirty="0">
                <a:solidFill>
                  <a:schemeClr val="tx1"/>
                </a:solidFill>
              </a:rPr>
              <a:t>Some causes</a:t>
            </a:r>
          </a:p>
          <a:p>
            <a:pPr eaLnBrk="1" hangingPunct="1">
              <a:buFont typeface="Wingdings" pitchFamily="2" charset="2"/>
              <a:buChar char="ü"/>
            </a:pPr>
            <a:r>
              <a:rPr lang="en-US" sz="2400" dirty="0"/>
              <a:t>Powerful computers and digital manipulation software</a:t>
            </a:r>
          </a:p>
          <a:p>
            <a:pPr eaLnBrk="1" hangingPunct="1">
              <a:buFont typeface="Wingdings" pitchFamily="2" charset="2"/>
              <a:buChar char="ü"/>
            </a:pPr>
            <a:r>
              <a:rPr lang="en-US" sz="2400" dirty="0"/>
              <a:t>High-quality printers, copiers, and scanners</a:t>
            </a:r>
          </a:p>
          <a:p>
            <a:pPr eaLnBrk="1" hangingPunct="1">
              <a:buFont typeface="Wingdings" pitchFamily="2" charset="2"/>
              <a:buChar char="Ø"/>
            </a:pPr>
            <a:r>
              <a:rPr lang="en-US" sz="2400" b="1" dirty="0">
                <a:solidFill>
                  <a:schemeClr val="tx1"/>
                </a:solidFill>
              </a:rPr>
              <a:t>Some defenses</a:t>
            </a:r>
          </a:p>
          <a:p>
            <a:pPr eaLnBrk="1" hangingPunct="1">
              <a:buFont typeface="Wingdings" pitchFamily="2" charset="2"/>
              <a:buChar char="ü"/>
            </a:pPr>
            <a:r>
              <a:rPr lang="en-US" sz="2400" dirty="0"/>
              <a:t>Educate consumers and employees</a:t>
            </a:r>
          </a:p>
          <a:p>
            <a:pPr eaLnBrk="1" hangingPunct="1">
              <a:buFont typeface="Wingdings" pitchFamily="2" charset="2"/>
              <a:buChar char="ü"/>
            </a:pPr>
            <a:r>
              <a:rPr lang="en-US" sz="2400" dirty="0"/>
              <a:t>Use anti-counterfeiting techniques during production</a:t>
            </a:r>
          </a:p>
          <a:p>
            <a:pPr eaLnBrk="1" hangingPunct="1">
              <a:buFont typeface="Wingdings" pitchFamily="2" charset="2"/>
              <a:buChar char="ü"/>
            </a:pPr>
            <a:r>
              <a:rPr lang="en-US" sz="2400" dirty="0"/>
              <a:t>Use counterfeit detection methods</a:t>
            </a:r>
          </a:p>
          <a:p>
            <a:pPr eaLnBrk="1" hangingPunct="1">
              <a:buFont typeface="Wingdings" pitchFamily="2" charset="2"/>
              <a:buChar char="ü"/>
            </a:pPr>
            <a:r>
              <a:rPr lang="en-US" sz="2400" dirty="0"/>
              <a:t>Create legal and procedural incentives to improve security</a:t>
            </a:r>
          </a:p>
          <a:p>
            <a:pPr eaLnBrk="1" hangingPunct="1">
              <a:buFont typeface="Wingdings" pitchFamily="2" charset="2"/>
              <a:buBlip>
                <a:blip r:embed="rId3"/>
              </a:buBlip>
            </a:pPr>
            <a:endParaRPr lang="en-US" sz="2400" dirty="0"/>
          </a:p>
        </p:txBody>
      </p:sp>
      <p:sp>
        <p:nvSpPr>
          <p:cNvPr id="22530" name="Rectangle 2"/>
          <p:cNvSpPr>
            <a:spLocks noGrp="1" noChangeArrowheads="1"/>
          </p:cNvSpPr>
          <p:nvPr>
            <p:ph type="title"/>
          </p:nvPr>
        </p:nvSpPr>
        <p:spPr/>
        <p:txBody>
          <a:bodyPr/>
          <a:lstStyle/>
          <a:p>
            <a:pPr eaLnBrk="1" hangingPunct="1"/>
            <a:r>
              <a:rPr lang="en-US" sz="3200"/>
              <a:t>Fraud, Embezzlement, Sabotage, Identity theft, and forgery</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CYBERCRIME in Malaysia</a:t>
            </a:r>
          </a:p>
        </p:txBody>
      </p:sp>
      <p:sp>
        <p:nvSpPr>
          <p:cNvPr id="4" name="Rectangle 3"/>
          <p:cNvSpPr/>
          <p:nvPr/>
        </p:nvSpPr>
        <p:spPr>
          <a:xfrm>
            <a:off x="152030" y="1595021"/>
            <a:ext cx="8839200" cy="4770537"/>
          </a:xfrm>
          <a:prstGeom prst="rect">
            <a:avLst/>
          </a:prstGeom>
        </p:spPr>
        <p:txBody>
          <a:bodyPr wrap="square">
            <a:spAutoFit/>
          </a:bodyPr>
          <a:lstStyle/>
          <a:p>
            <a:pPr marL="342900" indent="-342900" algn="just">
              <a:buFont typeface="Wingdings" pitchFamily="2" charset="2"/>
              <a:buChar char="§"/>
            </a:pPr>
            <a:r>
              <a:rPr lang="en-US" dirty="0"/>
              <a:t>Cybercrime has </a:t>
            </a:r>
            <a:r>
              <a:rPr lang="en-US" b="1" dirty="0">
                <a:solidFill>
                  <a:srgbClr val="800000"/>
                </a:solidFill>
              </a:rPr>
              <a:t>surpassed</a:t>
            </a:r>
            <a:r>
              <a:rPr lang="en-US" dirty="0">
                <a:solidFill>
                  <a:srgbClr val="800000"/>
                </a:solidFill>
              </a:rPr>
              <a:t> </a:t>
            </a:r>
            <a:r>
              <a:rPr lang="en-US" dirty="0"/>
              <a:t>drug trafficking as the most lucrative crime. </a:t>
            </a:r>
          </a:p>
          <a:p>
            <a:pPr marL="342900" indent="-342900" algn="just">
              <a:buFont typeface="Wingdings" pitchFamily="2" charset="2"/>
              <a:buChar char="§"/>
            </a:pPr>
            <a:r>
              <a:rPr lang="en-US" dirty="0"/>
              <a:t>Almost </a:t>
            </a:r>
            <a:r>
              <a:rPr lang="en-US" b="1" dirty="0">
                <a:solidFill>
                  <a:srgbClr val="800000"/>
                </a:solidFill>
              </a:rPr>
              <a:t>anybody</a:t>
            </a:r>
            <a:r>
              <a:rPr lang="en-US" dirty="0"/>
              <a:t> who is an active computer/ online user would have been a cybercrime victim, and in most cases too its perpetrators. </a:t>
            </a:r>
          </a:p>
          <a:p>
            <a:pPr marL="342900" indent="-342900" algn="just">
              <a:buFont typeface="Wingdings" pitchFamily="2" charset="2"/>
              <a:buChar char="§"/>
            </a:pPr>
            <a:r>
              <a:rPr lang="en-US" dirty="0"/>
              <a:t>The </a:t>
            </a:r>
            <a:r>
              <a:rPr lang="en-US" b="1" dirty="0">
                <a:solidFill>
                  <a:srgbClr val="800000"/>
                </a:solidFill>
              </a:rPr>
              <a:t>younger generation </a:t>
            </a:r>
            <a:r>
              <a:rPr lang="en-US" dirty="0"/>
              <a:t>are the most vulnerable. </a:t>
            </a:r>
          </a:p>
          <a:p>
            <a:pPr marL="342900" indent="-342900" algn="just">
              <a:buFont typeface="Wingdings" pitchFamily="2" charset="2"/>
              <a:buChar char="§"/>
            </a:pPr>
            <a:r>
              <a:rPr lang="en-US" dirty="0"/>
              <a:t>Use of technology to cheat, harass, disseminate false information. </a:t>
            </a:r>
          </a:p>
          <a:p>
            <a:pPr marL="342900" indent="-342900" algn="just">
              <a:buFont typeface="Wingdings" pitchFamily="2" charset="2"/>
              <a:buChar char="§"/>
            </a:pPr>
            <a:r>
              <a:rPr lang="en-US" b="1" dirty="0">
                <a:solidFill>
                  <a:srgbClr val="800000"/>
                </a:solidFill>
              </a:rPr>
              <a:t>70 % </a:t>
            </a:r>
            <a:r>
              <a:rPr lang="en-US" dirty="0"/>
              <a:t>of commercial crime cases now can be </a:t>
            </a:r>
            <a:r>
              <a:rPr lang="en-US" dirty="0" err="1"/>
              <a:t>categorised</a:t>
            </a:r>
            <a:r>
              <a:rPr lang="en-US" dirty="0"/>
              <a:t> as </a:t>
            </a:r>
            <a:r>
              <a:rPr lang="en-US" b="1" dirty="0">
                <a:solidFill>
                  <a:srgbClr val="800000"/>
                </a:solidFill>
              </a:rPr>
              <a:t>cybercrime</a:t>
            </a:r>
            <a:r>
              <a:rPr lang="en-US" dirty="0"/>
              <a:t> cases.</a:t>
            </a:r>
          </a:p>
          <a:p>
            <a:pPr algn="r"/>
            <a:r>
              <a:rPr lang="en-US" sz="1600" dirty="0"/>
              <a:t>Ref:</a:t>
            </a:r>
          </a:p>
          <a:p>
            <a:pPr algn="r"/>
            <a:r>
              <a:rPr lang="en-US" sz="1600" dirty="0"/>
              <a:t>Cybercrime: Malaysia Document</a:t>
            </a:r>
          </a:p>
          <a:p>
            <a:pPr algn="r"/>
            <a:r>
              <a:rPr lang="en-US" sz="1600" dirty="0"/>
              <a:t>DSP </a:t>
            </a:r>
            <a:r>
              <a:rPr lang="en-US" sz="1600" dirty="0" err="1"/>
              <a:t>Mahfuz</a:t>
            </a:r>
            <a:r>
              <a:rPr lang="en-US" sz="1600" dirty="0"/>
              <a:t> bin Dato’ Ab. Majid </a:t>
            </a:r>
          </a:p>
          <a:p>
            <a:pPr algn="r"/>
            <a:r>
              <a:rPr lang="en-US" sz="1600" dirty="0"/>
              <a:t>Royal Malaysia Police</a:t>
            </a:r>
          </a:p>
        </p:txBody>
      </p:sp>
    </p:spTree>
    <p:extLst>
      <p:ext uri="{BB962C8B-B14F-4D97-AF65-F5344CB8AC3E}">
        <p14:creationId xmlns:p14="http://schemas.microsoft.com/office/powerpoint/2010/main" val="16505189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81000" y="1905000"/>
            <a:ext cx="8382000" cy="4643171"/>
          </a:xfrm>
          <a:prstGeom prst="rect">
            <a:avLst/>
          </a:prstGeom>
        </p:spPr>
      </p:pic>
      <p:sp>
        <p:nvSpPr>
          <p:cNvPr id="6" name="Title 5"/>
          <p:cNvSpPr>
            <a:spLocks noGrp="1"/>
          </p:cNvSpPr>
          <p:nvPr>
            <p:ph type="title"/>
          </p:nvPr>
        </p:nvSpPr>
        <p:spPr/>
        <p:txBody>
          <a:bodyPr/>
          <a:lstStyle/>
          <a:p>
            <a:r>
              <a:rPr lang="en-US" sz="2800" dirty="0"/>
              <a:t>Current Challenges in cybercrime investigation : Royal Malaysian police</a:t>
            </a:r>
          </a:p>
        </p:txBody>
      </p:sp>
    </p:spTree>
    <p:extLst>
      <p:ext uri="{BB962C8B-B14F-4D97-AF65-F5344CB8AC3E}">
        <p14:creationId xmlns:p14="http://schemas.microsoft.com/office/powerpoint/2010/main" val="42399070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3"/>
          <p:cNvSpPr>
            <a:spLocks noGrp="1" noChangeArrowheads="1"/>
          </p:cNvSpPr>
          <p:nvPr>
            <p:ph idx="1"/>
          </p:nvPr>
        </p:nvSpPr>
        <p:spPr>
          <a:xfrm>
            <a:off x="304801" y="1719070"/>
            <a:ext cx="8484092" cy="5138929"/>
          </a:xfrm>
        </p:spPr>
        <p:txBody>
          <a:bodyPr>
            <a:noAutofit/>
          </a:bodyPr>
          <a:lstStyle/>
          <a:p>
            <a:pPr eaLnBrk="1" hangingPunct="1">
              <a:lnSpc>
                <a:spcPct val="90000"/>
              </a:lnSpc>
            </a:pPr>
            <a:r>
              <a:rPr lang="en-US" sz="2200" dirty="0"/>
              <a:t>Date of coming into operation: 1/6/2000</a:t>
            </a:r>
          </a:p>
          <a:p>
            <a:pPr eaLnBrk="1" hangingPunct="1">
              <a:lnSpc>
                <a:spcPct val="90000"/>
              </a:lnSpc>
            </a:pPr>
            <a:r>
              <a:rPr lang="en-US" sz="2200" b="1" dirty="0">
                <a:solidFill>
                  <a:srgbClr val="800000"/>
                </a:solidFill>
              </a:rPr>
              <a:t>Purpose: </a:t>
            </a:r>
            <a:r>
              <a:rPr lang="en-US" sz="2200" dirty="0"/>
              <a:t>to provide punishment related to computer misuse</a:t>
            </a:r>
          </a:p>
          <a:p>
            <a:pPr eaLnBrk="1" hangingPunct="1">
              <a:lnSpc>
                <a:spcPct val="90000"/>
              </a:lnSpc>
            </a:pPr>
            <a:r>
              <a:rPr lang="en-US" sz="2200" b="1" dirty="0">
                <a:solidFill>
                  <a:srgbClr val="800000"/>
                </a:solidFill>
              </a:rPr>
              <a:t>The law gives enforcer a framework to define:</a:t>
            </a:r>
          </a:p>
          <a:p>
            <a:pPr eaLnBrk="1" hangingPunct="1">
              <a:lnSpc>
                <a:spcPct val="90000"/>
              </a:lnSpc>
              <a:buFont typeface="Wingdings" pitchFamily="2" charset="2"/>
              <a:buChar char="Ø"/>
            </a:pPr>
            <a:r>
              <a:rPr lang="en-US" sz="2200" dirty="0"/>
              <a:t>Reading, overtaking, and using computer together with computer information illegally</a:t>
            </a:r>
          </a:p>
          <a:p>
            <a:pPr eaLnBrk="1" hangingPunct="1">
              <a:lnSpc>
                <a:spcPct val="90000"/>
              </a:lnSpc>
              <a:buFont typeface="Wingdings" pitchFamily="2" charset="2"/>
              <a:buChar char="Ø"/>
            </a:pPr>
            <a:r>
              <a:rPr lang="en-US" sz="2200" dirty="0"/>
              <a:t>Standard for service providers</a:t>
            </a:r>
          </a:p>
          <a:p>
            <a:pPr eaLnBrk="1" hangingPunct="1">
              <a:lnSpc>
                <a:spcPct val="90000"/>
              </a:lnSpc>
              <a:buFont typeface="Wingdings" pitchFamily="2" charset="2"/>
              <a:buChar char="Ø"/>
            </a:pPr>
            <a:r>
              <a:rPr lang="en-US" sz="2200" dirty="0"/>
              <a:t>Outlines punishment to those guilty</a:t>
            </a:r>
          </a:p>
          <a:p>
            <a:pPr>
              <a:lnSpc>
                <a:spcPct val="90000"/>
              </a:lnSpc>
            </a:pPr>
            <a:r>
              <a:rPr lang="en-US" sz="2200" b="1" dirty="0">
                <a:solidFill>
                  <a:srgbClr val="800000"/>
                </a:solidFill>
              </a:rPr>
              <a:t>The mentioned crimes include:</a:t>
            </a:r>
          </a:p>
          <a:p>
            <a:pPr eaLnBrk="1" hangingPunct="1">
              <a:lnSpc>
                <a:spcPct val="90000"/>
              </a:lnSpc>
              <a:buFont typeface="Wingdings" pitchFamily="2" charset="2"/>
              <a:buChar char="Ø"/>
            </a:pPr>
            <a:r>
              <a:rPr lang="en-US" sz="2200" dirty="0"/>
              <a:t>Trespassing</a:t>
            </a:r>
          </a:p>
          <a:p>
            <a:pPr eaLnBrk="1" hangingPunct="1">
              <a:lnSpc>
                <a:spcPct val="90000"/>
              </a:lnSpc>
              <a:buFont typeface="Wingdings" pitchFamily="2" charset="2"/>
              <a:buChar char="Ø"/>
            </a:pPr>
            <a:r>
              <a:rPr lang="en-US" sz="2200" dirty="0"/>
              <a:t>Steal and destroy data</a:t>
            </a:r>
          </a:p>
          <a:p>
            <a:pPr eaLnBrk="1" hangingPunct="1">
              <a:lnSpc>
                <a:spcPct val="90000"/>
              </a:lnSpc>
              <a:buFont typeface="Wingdings" pitchFamily="2" charset="2"/>
              <a:buChar char="Ø"/>
            </a:pPr>
            <a:r>
              <a:rPr lang="en-US" sz="2200" dirty="0"/>
              <a:t>Deface of web pages</a:t>
            </a:r>
          </a:p>
          <a:p>
            <a:pPr eaLnBrk="1" hangingPunct="1">
              <a:lnSpc>
                <a:spcPct val="90000"/>
              </a:lnSpc>
              <a:buFont typeface="Wingdings" pitchFamily="2" charset="2"/>
              <a:buChar char="Ø"/>
            </a:pPr>
            <a:r>
              <a:rPr lang="en-US" sz="2200" dirty="0"/>
              <a:t>Steal e-mail</a:t>
            </a:r>
          </a:p>
          <a:p>
            <a:pPr eaLnBrk="1" hangingPunct="1">
              <a:lnSpc>
                <a:spcPct val="90000"/>
              </a:lnSpc>
              <a:buFont typeface="Wingdings" pitchFamily="2" charset="2"/>
              <a:buChar char="Ø"/>
            </a:pPr>
            <a:r>
              <a:rPr lang="en-US" sz="2200" dirty="0"/>
              <a:t>Misuse of credit card for fraud</a:t>
            </a:r>
          </a:p>
          <a:p>
            <a:pPr eaLnBrk="1" hangingPunct="1">
              <a:lnSpc>
                <a:spcPct val="90000"/>
              </a:lnSpc>
            </a:pPr>
            <a:endParaRPr lang="en-US" sz="2200" dirty="0"/>
          </a:p>
        </p:txBody>
      </p:sp>
      <p:sp>
        <p:nvSpPr>
          <p:cNvPr id="23554" name="Rectangle 2"/>
          <p:cNvSpPr>
            <a:spLocks noGrp="1" noChangeArrowheads="1"/>
          </p:cNvSpPr>
          <p:nvPr>
            <p:ph type="title"/>
          </p:nvPr>
        </p:nvSpPr>
        <p:spPr/>
        <p:txBody>
          <a:bodyPr/>
          <a:lstStyle/>
          <a:p>
            <a:pPr eaLnBrk="1" hangingPunct="1"/>
            <a:r>
              <a:rPr lang="en-US"/>
              <a:t>Computer Crimes Act 1997</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noChangeArrowheads="1"/>
          </p:cNvSpPr>
          <p:nvPr>
            <p:ph idx="1"/>
          </p:nvPr>
        </p:nvSpPr>
        <p:spPr>
          <a:xfrm>
            <a:off x="380999" y="1719070"/>
            <a:ext cx="8407893" cy="4986530"/>
          </a:xfrm>
        </p:spPr>
        <p:txBody>
          <a:bodyPr>
            <a:noAutofit/>
          </a:bodyPr>
          <a:lstStyle/>
          <a:p>
            <a:pPr eaLnBrk="1" hangingPunct="1"/>
            <a:r>
              <a:rPr lang="en-US" sz="2400" b="1" dirty="0">
                <a:solidFill>
                  <a:srgbClr val="800000"/>
                </a:solidFill>
              </a:rPr>
              <a:t>Cybercrime on property : </a:t>
            </a:r>
          </a:p>
          <a:p>
            <a:pPr eaLnBrk="1" hangingPunct="1"/>
            <a:r>
              <a:rPr lang="en-US" sz="2400" dirty="0"/>
              <a:t>steal information, money, service.</a:t>
            </a:r>
          </a:p>
          <a:p>
            <a:pPr eaLnBrk="1" hangingPunct="1"/>
            <a:r>
              <a:rPr lang="en-US" sz="2400" dirty="0"/>
              <a:t>Consists of fraud, forgery, mischief</a:t>
            </a:r>
          </a:p>
          <a:p>
            <a:pPr eaLnBrk="1" hangingPunct="1"/>
            <a:r>
              <a:rPr lang="en-US" sz="2400" dirty="0">
                <a:solidFill>
                  <a:schemeClr val="tx1"/>
                </a:solidFill>
              </a:rPr>
              <a:t>Examples are:</a:t>
            </a:r>
          </a:p>
          <a:p>
            <a:pPr eaLnBrk="1" hangingPunct="1">
              <a:buFont typeface="Wingdings" pitchFamily="2" charset="2"/>
              <a:buChar char="Ø"/>
            </a:pPr>
            <a:r>
              <a:rPr lang="en-US" sz="2400" dirty="0"/>
              <a:t>Using statement and wrongly interpret  to persuade the country to give property and valuables such as multilevel marketing, franchise, auction through computer</a:t>
            </a:r>
          </a:p>
          <a:p>
            <a:pPr eaLnBrk="1" hangingPunct="1">
              <a:buFont typeface="Wingdings" pitchFamily="2" charset="2"/>
              <a:buChar char="Ø"/>
            </a:pPr>
            <a:r>
              <a:rPr lang="en-US" sz="2400" dirty="0"/>
              <a:t>Spreading of computer virus through downloaded programs or email attachment</a:t>
            </a:r>
          </a:p>
          <a:p>
            <a:pPr eaLnBrk="1" hangingPunct="1">
              <a:buFont typeface="Wingdings" pitchFamily="2" charset="2"/>
              <a:buChar char="Ø"/>
            </a:pPr>
            <a:r>
              <a:rPr lang="en-US" sz="2400" dirty="0"/>
              <a:t>Illegal access computer systems with intention to destroy or disrupt information</a:t>
            </a:r>
          </a:p>
          <a:p>
            <a:pPr eaLnBrk="1" hangingPunct="1"/>
            <a:endParaRPr lang="en-US" sz="2400" dirty="0"/>
          </a:p>
        </p:txBody>
      </p:sp>
      <p:sp>
        <p:nvSpPr>
          <p:cNvPr id="24578" name="Rectangle 2"/>
          <p:cNvSpPr>
            <a:spLocks noGrp="1" noChangeArrowheads="1"/>
          </p:cNvSpPr>
          <p:nvPr>
            <p:ph type="title"/>
          </p:nvPr>
        </p:nvSpPr>
        <p:spPr/>
        <p:txBody>
          <a:bodyPr/>
          <a:lstStyle/>
          <a:p>
            <a:pPr eaLnBrk="1" hangingPunct="1"/>
            <a:r>
              <a:rPr lang="en-US"/>
              <a:t>Computer Crimes Act 1997</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3"/>
          <p:cNvSpPr>
            <a:spLocks noGrp="1" noChangeArrowheads="1"/>
          </p:cNvSpPr>
          <p:nvPr>
            <p:ph idx="1"/>
          </p:nvPr>
        </p:nvSpPr>
        <p:spPr/>
        <p:txBody>
          <a:bodyPr>
            <a:normAutofit/>
          </a:bodyPr>
          <a:lstStyle/>
          <a:p>
            <a:pPr eaLnBrk="1" hangingPunct="1"/>
            <a:r>
              <a:rPr lang="en-US" sz="2800" b="1" dirty="0">
                <a:solidFill>
                  <a:srgbClr val="800000"/>
                </a:solidFill>
              </a:rPr>
              <a:t>Cybercrime on human:</a:t>
            </a:r>
          </a:p>
          <a:p>
            <a:pPr eaLnBrk="1" hangingPunct="1"/>
            <a:r>
              <a:rPr lang="en-US" sz="2800" b="1" dirty="0">
                <a:solidFill>
                  <a:schemeClr val="tx1"/>
                </a:solidFill>
              </a:rPr>
              <a:t>Examples are:</a:t>
            </a:r>
          </a:p>
          <a:p>
            <a:pPr eaLnBrk="1" hangingPunct="1">
              <a:buFont typeface="Wingdings" pitchFamily="2" charset="2"/>
              <a:buChar char="Ø"/>
            </a:pPr>
            <a:r>
              <a:rPr lang="en-US" sz="2800" dirty="0"/>
              <a:t>Pornography, cyber disturbance in which victims are disturbed through internet via web pages, e-mail or chat</a:t>
            </a:r>
          </a:p>
          <a:p>
            <a:pPr eaLnBrk="1" hangingPunct="1">
              <a:buFont typeface="Wingdings" pitchFamily="2" charset="2"/>
              <a:buChar char="Ø"/>
            </a:pPr>
            <a:r>
              <a:rPr lang="en-US" sz="2800" dirty="0"/>
              <a:t>Stalking to threaten victims via e-mail message</a:t>
            </a:r>
          </a:p>
          <a:p>
            <a:pPr eaLnBrk="1" hangingPunct="1">
              <a:buFont typeface="Wingdings" pitchFamily="2" charset="2"/>
              <a:buChar char="Ø"/>
            </a:pPr>
            <a:r>
              <a:rPr lang="en-US" sz="2800" dirty="0"/>
              <a:t>Illegal access computer systems with intention to destroy or disrupt information</a:t>
            </a:r>
          </a:p>
          <a:p>
            <a:pPr eaLnBrk="1" hangingPunct="1"/>
            <a:endParaRPr lang="en-US" sz="2800" dirty="0"/>
          </a:p>
        </p:txBody>
      </p:sp>
      <p:sp>
        <p:nvSpPr>
          <p:cNvPr id="25602" name="Rectangle 2"/>
          <p:cNvSpPr>
            <a:spLocks noGrp="1" noChangeArrowheads="1"/>
          </p:cNvSpPr>
          <p:nvPr>
            <p:ph type="title"/>
          </p:nvPr>
        </p:nvSpPr>
        <p:spPr/>
        <p:txBody>
          <a:bodyPr/>
          <a:lstStyle/>
          <a:p>
            <a:pPr eaLnBrk="1" hangingPunct="1"/>
            <a:r>
              <a:rPr lang="en-US"/>
              <a:t>Computer Crimes Act 1997</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3"/>
          <p:cNvSpPr>
            <a:spLocks noGrp="1" noChangeArrowheads="1"/>
          </p:cNvSpPr>
          <p:nvPr>
            <p:ph idx="1"/>
          </p:nvPr>
        </p:nvSpPr>
        <p:spPr/>
        <p:txBody>
          <a:bodyPr>
            <a:normAutofit/>
          </a:bodyPr>
          <a:lstStyle/>
          <a:p>
            <a:pPr eaLnBrk="1" hangingPunct="1"/>
            <a:r>
              <a:rPr lang="en-US" sz="2800" b="1" dirty="0">
                <a:solidFill>
                  <a:srgbClr val="800000"/>
                </a:solidFill>
              </a:rPr>
              <a:t>Cyber terrorist</a:t>
            </a:r>
          </a:p>
          <a:p>
            <a:pPr eaLnBrk="1" hangingPunct="1"/>
            <a:r>
              <a:rPr lang="en-US" sz="2800" b="1" dirty="0">
                <a:solidFill>
                  <a:schemeClr val="tx1"/>
                </a:solidFill>
              </a:rPr>
              <a:t>Examples are:</a:t>
            </a:r>
          </a:p>
          <a:p>
            <a:pPr eaLnBrk="1" hangingPunct="1">
              <a:buFont typeface="Wingdings" pitchFamily="2" charset="2"/>
              <a:buChar char="Ø"/>
            </a:pPr>
            <a:r>
              <a:rPr lang="en-US" sz="2800" dirty="0"/>
              <a:t>Accessing air traffic control to detour flight route to cause crashes</a:t>
            </a:r>
          </a:p>
          <a:p>
            <a:pPr eaLnBrk="1" hangingPunct="1">
              <a:buFont typeface="Wingdings" pitchFamily="2" charset="2"/>
              <a:buChar char="Ø"/>
            </a:pPr>
            <a:r>
              <a:rPr lang="en-US" sz="2800" dirty="0"/>
              <a:t>Remote access to food manufacturing system by changing the level of iron that can cause death to children</a:t>
            </a:r>
          </a:p>
          <a:p>
            <a:pPr eaLnBrk="1" hangingPunct="1">
              <a:buFont typeface="Wingdings" pitchFamily="2" charset="2"/>
              <a:buNone/>
            </a:pPr>
            <a:endParaRPr lang="en-US" sz="2800" dirty="0"/>
          </a:p>
        </p:txBody>
      </p:sp>
      <p:sp>
        <p:nvSpPr>
          <p:cNvPr id="26626" name="Rectangle 2"/>
          <p:cNvSpPr>
            <a:spLocks noGrp="1" noChangeArrowheads="1"/>
          </p:cNvSpPr>
          <p:nvPr>
            <p:ph type="title"/>
          </p:nvPr>
        </p:nvSpPr>
        <p:spPr/>
        <p:txBody>
          <a:bodyPr/>
          <a:lstStyle/>
          <a:p>
            <a:pPr eaLnBrk="1" hangingPunct="1"/>
            <a:r>
              <a:rPr lang="en-US"/>
              <a:t>Computer Crimes Act 1997</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3"/>
          <p:cNvSpPr>
            <a:spLocks noGrp="1" noChangeArrowheads="1"/>
          </p:cNvSpPr>
          <p:nvPr>
            <p:ph idx="1"/>
          </p:nvPr>
        </p:nvSpPr>
        <p:spPr/>
        <p:txBody>
          <a:bodyPr>
            <a:normAutofit/>
          </a:bodyPr>
          <a:lstStyle/>
          <a:p>
            <a:pPr eaLnBrk="1" hangingPunct="1"/>
            <a:r>
              <a:rPr lang="en-US" sz="2800" b="1" dirty="0">
                <a:solidFill>
                  <a:schemeClr val="tx1"/>
                </a:solidFill>
              </a:rPr>
              <a:t>Three mains' offences:</a:t>
            </a:r>
          </a:p>
          <a:p>
            <a:pPr eaLnBrk="1" hangingPunct="1">
              <a:buFont typeface="Wingdings" pitchFamily="2" charset="2"/>
              <a:buChar char="Ø"/>
            </a:pPr>
            <a:r>
              <a:rPr lang="en-US" sz="2800" dirty="0"/>
              <a:t>Unauthorized access to </a:t>
            </a:r>
            <a:r>
              <a:rPr lang="en-US" sz="2800" b="1" dirty="0"/>
              <a:t>computer material</a:t>
            </a:r>
            <a:r>
              <a:rPr lang="en-US" sz="2800" dirty="0"/>
              <a:t>, Section 3</a:t>
            </a:r>
          </a:p>
          <a:p>
            <a:pPr eaLnBrk="1" hangingPunct="1">
              <a:buFont typeface="Wingdings" pitchFamily="2" charset="2"/>
              <a:buChar char="Ø"/>
            </a:pPr>
            <a:r>
              <a:rPr lang="en-US" sz="2800" dirty="0"/>
              <a:t>Unauthorized access with intent to commit or facilitate commission of further offence, Section 4</a:t>
            </a:r>
          </a:p>
          <a:p>
            <a:pPr eaLnBrk="1" hangingPunct="1">
              <a:buFont typeface="Wingdings" pitchFamily="2" charset="2"/>
              <a:buChar char="Ø"/>
            </a:pPr>
            <a:r>
              <a:rPr lang="en-US" sz="2800" dirty="0"/>
              <a:t>Unauthorized </a:t>
            </a:r>
            <a:r>
              <a:rPr lang="en-US" sz="2800" b="1" dirty="0"/>
              <a:t>modification of the contents</a:t>
            </a:r>
            <a:r>
              <a:rPr lang="en-US" sz="2800" dirty="0"/>
              <a:t> of any computer, Section 5</a:t>
            </a:r>
          </a:p>
          <a:p>
            <a:pPr eaLnBrk="1" hangingPunct="1">
              <a:buFont typeface="Wingdings" pitchFamily="2" charset="2"/>
              <a:buNone/>
            </a:pPr>
            <a:endParaRPr lang="en-US" sz="2800" dirty="0"/>
          </a:p>
        </p:txBody>
      </p:sp>
      <p:sp>
        <p:nvSpPr>
          <p:cNvPr id="27650" name="Rectangle 2"/>
          <p:cNvSpPr>
            <a:spLocks noGrp="1" noChangeArrowheads="1"/>
          </p:cNvSpPr>
          <p:nvPr>
            <p:ph type="title"/>
          </p:nvPr>
        </p:nvSpPr>
        <p:spPr/>
        <p:txBody>
          <a:bodyPr/>
          <a:lstStyle/>
          <a:p>
            <a:pPr eaLnBrk="1" hangingPunct="1"/>
            <a:r>
              <a:rPr lang="en-US"/>
              <a:t>Computer Crimes Act 1997</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3"/>
          <p:cNvSpPr>
            <a:spLocks noGrp="1" noChangeArrowheads="1"/>
          </p:cNvSpPr>
          <p:nvPr>
            <p:ph idx="1"/>
          </p:nvPr>
        </p:nvSpPr>
        <p:spPr/>
        <p:txBody>
          <a:bodyPr>
            <a:noAutofit/>
          </a:bodyPr>
          <a:lstStyle/>
          <a:p>
            <a:pPr eaLnBrk="1" hangingPunct="1"/>
            <a:r>
              <a:rPr lang="en-US" sz="2400" b="1" dirty="0">
                <a:solidFill>
                  <a:schemeClr val="tx1"/>
                </a:solidFill>
              </a:rPr>
              <a:t>Unauthorized access to computer material:</a:t>
            </a:r>
          </a:p>
          <a:p>
            <a:pPr eaLnBrk="1" hangingPunct="1">
              <a:buFont typeface="Wingdings" pitchFamily="2" charset="2"/>
              <a:buChar char="Ø"/>
            </a:pPr>
            <a:r>
              <a:rPr lang="en-US" sz="2400" dirty="0"/>
              <a:t>Section 3(1), a person shall be guilty of an offence if:</a:t>
            </a:r>
          </a:p>
          <a:p>
            <a:pPr eaLnBrk="1" hangingPunct="1">
              <a:buFont typeface="Wingdings" pitchFamily="2" charset="2"/>
              <a:buChar char="ü"/>
            </a:pPr>
            <a:r>
              <a:rPr lang="en-US" sz="2400" dirty="0"/>
              <a:t>He causes a computer to perform any function with intent to secure access to any program or data held in any computer</a:t>
            </a:r>
          </a:p>
          <a:p>
            <a:pPr eaLnBrk="1" hangingPunct="1">
              <a:buFont typeface="Wingdings" pitchFamily="2" charset="2"/>
              <a:buChar char="ü"/>
            </a:pPr>
            <a:r>
              <a:rPr lang="en-US" sz="2400" dirty="0"/>
              <a:t>The access he intends to secure is unauthorized; and</a:t>
            </a:r>
          </a:p>
          <a:p>
            <a:pPr eaLnBrk="1" hangingPunct="1">
              <a:buFont typeface="Wingdings" pitchFamily="2" charset="2"/>
              <a:buChar char="ü"/>
            </a:pPr>
            <a:r>
              <a:rPr lang="en-US" sz="2400" dirty="0"/>
              <a:t>He knows at the time when he causes the computer to perform the function that is the case.</a:t>
            </a:r>
          </a:p>
          <a:p>
            <a:pPr eaLnBrk="1" hangingPunct="1">
              <a:buFont typeface="Wingdings" pitchFamily="2" charset="2"/>
              <a:buChar char="Ø"/>
            </a:pPr>
            <a:r>
              <a:rPr lang="en-US" sz="2400" dirty="0"/>
              <a:t>Fine not exceeding RM50,000 or imprisonment for a term not exceeding five years or both</a:t>
            </a:r>
          </a:p>
          <a:p>
            <a:pPr eaLnBrk="1" hangingPunct="1">
              <a:buFont typeface="Wingdings" pitchFamily="2" charset="2"/>
              <a:buNone/>
            </a:pPr>
            <a:endParaRPr lang="en-US" sz="2400" dirty="0"/>
          </a:p>
        </p:txBody>
      </p:sp>
      <p:sp>
        <p:nvSpPr>
          <p:cNvPr id="28674" name="Rectangle 2"/>
          <p:cNvSpPr>
            <a:spLocks noGrp="1" noChangeArrowheads="1"/>
          </p:cNvSpPr>
          <p:nvPr>
            <p:ph type="title"/>
          </p:nvPr>
        </p:nvSpPr>
        <p:spPr/>
        <p:txBody>
          <a:bodyPr/>
          <a:lstStyle/>
          <a:p>
            <a:pPr eaLnBrk="1" hangingPunct="1"/>
            <a:r>
              <a:rPr lang="en-US"/>
              <a:t>Computer Crimes Act 1997</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3"/>
          <p:cNvSpPr>
            <a:spLocks noGrp="1" noChangeArrowheads="1"/>
          </p:cNvSpPr>
          <p:nvPr>
            <p:ph idx="1"/>
          </p:nvPr>
        </p:nvSpPr>
        <p:spPr/>
        <p:txBody>
          <a:bodyPr/>
          <a:lstStyle/>
          <a:p>
            <a:pPr eaLnBrk="1" hangingPunct="1">
              <a:lnSpc>
                <a:spcPct val="90000"/>
              </a:lnSpc>
            </a:pPr>
            <a:r>
              <a:rPr lang="en-US" sz="2000" b="1" dirty="0">
                <a:solidFill>
                  <a:schemeClr val="tx1"/>
                </a:solidFill>
              </a:rPr>
              <a:t>Unauthorized access with intent to commit or facilitate commission of further offence</a:t>
            </a:r>
          </a:p>
          <a:p>
            <a:pPr eaLnBrk="1" hangingPunct="1">
              <a:lnSpc>
                <a:spcPct val="90000"/>
              </a:lnSpc>
              <a:buFont typeface="Wingdings" pitchFamily="2" charset="2"/>
              <a:buChar char="Ø"/>
            </a:pPr>
            <a:r>
              <a:rPr lang="en-US" sz="2000" dirty="0"/>
              <a:t>Section 4, a person shall be guilty of an offence if he commits an offence referred to in section 3 with intent:</a:t>
            </a:r>
          </a:p>
          <a:p>
            <a:pPr eaLnBrk="1" hangingPunct="1">
              <a:lnSpc>
                <a:spcPct val="90000"/>
              </a:lnSpc>
              <a:buFont typeface="Wingdings" pitchFamily="2" charset="2"/>
              <a:buChar char="ü"/>
            </a:pPr>
            <a:r>
              <a:rPr lang="en-US" sz="2000" dirty="0"/>
              <a:t>To commit an offence involving fraud or dishonesty or which causes injury as defined in the Penal Code [Act 574]; or</a:t>
            </a:r>
          </a:p>
          <a:p>
            <a:pPr eaLnBrk="1" hangingPunct="1">
              <a:lnSpc>
                <a:spcPct val="90000"/>
              </a:lnSpc>
              <a:buFont typeface="Wingdings" pitchFamily="2" charset="2"/>
              <a:buChar char="ü"/>
            </a:pPr>
            <a:r>
              <a:rPr lang="en-US" sz="2000" dirty="0"/>
              <a:t>To facilitate the commission of such an offence whether by himself or by any other person</a:t>
            </a:r>
          </a:p>
          <a:p>
            <a:pPr eaLnBrk="1" hangingPunct="1">
              <a:lnSpc>
                <a:spcPct val="90000"/>
              </a:lnSpc>
              <a:buFont typeface="Wingdings" pitchFamily="2" charset="2"/>
              <a:buChar char="ü"/>
            </a:pPr>
            <a:r>
              <a:rPr lang="en-US" sz="2000" dirty="0"/>
              <a:t>It is immaterial whether the offence is to be committed at the same time when the unauthorized access is secured or on any future occasion</a:t>
            </a:r>
          </a:p>
          <a:p>
            <a:pPr eaLnBrk="1" hangingPunct="1">
              <a:lnSpc>
                <a:spcPct val="90000"/>
              </a:lnSpc>
              <a:buFont typeface="Wingdings" pitchFamily="2" charset="2"/>
              <a:buChar char="Ø"/>
            </a:pPr>
            <a:r>
              <a:rPr lang="en-US" sz="2000" dirty="0"/>
              <a:t>Fine not exceeding RM150,000 or imprisonment for a term not exceeding ten years or both</a:t>
            </a:r>
          </a:p>
          <a:p>
            <a:pPr eaLnBrk="1" hangingPunct="1">
              <a:lnSpc>
                <a:spcPct val="90000"/>
              </a:lnSpc>
              <a:buFont typeface="Wingdings" pitchFamily="2" charset="2"/>
              <a:buNone/>
            </a:pPr>
            <a:endParaRPr lang="en-US" sz="2000" dirty="0"/>
          </a:p>
        </p:txBody>
      </p:sp>
      <p:sp>
        <p:nvSpPr>
          <p:cNvPr id="29698" name="Rectangle 2"/>
          <p:cNvSpPr>
            <a:spLocks noGrp="1" noChangeArrowheads="1"/>
          </p:cNvSpPr>
          <p:nvPr>
            <p:ph type="title"/>
          </p:nvPr>
        </p:nvSpPr>
        <p:spPr/>
        <p:txBody>
          <a:bodyPr/>
          <a:lstStyle/>
          <a:p>
            <a:pPr eaLnBrk="1" hangingPunct="1"/>
            <a:r>
              <a:rPr lang="en-US"/>
              <a:t>Computer Crimes Act 1997</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3"/>
          <p:cNvSpPr>
            <a:spLocks noGrp="1" noChangeArrowheads="1"/>
          </p:cNvSpPr>
          <p:nvPr>
            <p:ph idx="1"/>
          </p:nvPr>
        </p:nvSpPr>
        <p:spPr>
          <a:xfrm>
            <a:off x="380999" y="1719070"/>
            <a:ext cx="8407893" cy="4834129"/>
          </a:xfrm>
        </p:spPr>
        <p:txBody>
          <a:bodyPr>
            <a:noAutofit/>
          </a:bodyPr>
          <a:lstStyle/>
          <a:p>
            <a:pPr>
              <a:lnSpc>
                <a:spcPct val="90000"/>
              </a:lnSpc>
            </a:pPr>
            <a:r>
              <a:rPr lang="en-US" b="1" dirty="0">
                <a:solidFill>
                  <a:schemeClr val="tx1"/>
                </a:solidFill>
              </a:rPr>
              <a:t>Unauthorized modification of the contents of any computer:</a:t>
            </a:r>
          </a:p>
          <a:p>
            <a:pPr eaLnBrk="1" hangingPunct="1">
              <a:lnSpc>
                <a:spcPct val="90000"/>
              </a:lnSpc>
              <a:buFont typeface="Wingdings" pitchFamily="2" charset="2"/>
              <a:buChar char="Ø"/>
            </a:pPr>
            <a:r>
              <a:rPr lang="en-US" dirty="0"/>
              <a:t>Section 5, a person shall be guilty of an offence if he does any act which he knows will cause unauthorized modification of the contents of any computer</a:t>
            </a:r>
          </a:p>
          <a:p>
            <a:pPr eaLnBrk="1" hangingPunct="1">
              <a:lnSpc>
                <a:spcPct val="90000"/>
              </a:lnSpc>
              <a:buFont typeface="Wingdings" pitchFamily="2" charset="2"/>
              <a:buChar char="ü"/>
            </a:pPr>
            <a:r>
              <a:rPr lang="en-US" dirty="0"/>
              <a:t>Section 2(7), a modification of the contents of any computer takes place if, by the operation of any function of the computer concerned or any other computer -</a:t>
            </a:r>
          </a:p>
          <a:p>
            <a:pPr eaLnBrk="1" hangingPunct="1">
              <a:lnSpc>
                <a:spcPct val="90000"/>
              </a:lnSpc>
              <a:buFont typeface="Wingdings" pitchFamily="2" charset="2"/>
              <a:buNone/>
            </a:pPr>
            <a:r>
              <a:rPr lang="en-US" dirty="0"/>
              <a:t>     a) any program or data held in the computer concerned is altered or erased</a:t>
            </a:r>
          </a:p>
          <a:p>
            <a:pPr eaLnBrk="1" hangingPunct="1">
              <a:lnSpc>
                <a:spcPct val="90000"/>
              </a:lnSpc>
              <a:buFont typeface="Wingdings" pitchFamily="2" charset="2"/>
              <a:buNone/>
            </a:pPr>
            <a:r>
              <a:rPr lang="en-US" dirty="0"/>
              <a:t>     b) any program or data is introduced or added to its contents; or</a:t>
            </a:r>
          </a:p>
          <a:p>
            <a:pPr eaLnBrk="1" hangingPunct="1">
              <a:lnSpc>
                <a:spcPct val="90000"/>
              </a:lnSpc>
              <a:buFont typeface="Wingdings" pitchFamily="2" charset="2"/>
              <a:buNone/>
            </a:pPr>
            <a:r>
              <a:rPr lang="en-US" dirty="0"/>
              <a:t>     c) any event occurs which impairs the normal operation of any computer</a:t>
            </a:r>
          </a:p>
          <a:p>
            <a:pPr eaLnBrk="1" hangingPunct="1">
              <a:lnSpc>
                <a:spcPct val="90000"/>
              </a:lnSpc>
              <a:buFont typeface="Wingdings" pitchFamily="2" charset="2"/>
              <a:buChar char="ü"/>
            </a:pPr>
            <a:r>
              <a:rPr lang="en-US" dirty="0"/>
              <a:t>And any act that contributes towards causing such modification shall be regarded as causing it</a:t>
            </a:r>
          </a:p>
          <a:p>
            <a:pPr eaLnBrk="1" hangingPunct="1">
              <a:lnSpc>
                <a:spcPct val="90000"/>
              </a:lnSpc>
              <a:buFont typeface="Wingdings" pitchFamily="2" charset="2"/>
              <a:buNone/>
            </a:pPr>
            <a:endParaRPr lang="en-US" dirty="0"/>
          </a:p>
          <a:p>
            <a:pPr eaLnBrk="1" hangingPunct="1">
              <a:lnSpc>
                <a:spcPct val="90000"/>
              </a:lnSpc>
              <a:buFont typeface="Wingdings" pitchFamily="2" charset="2"/>
              <a:buNone/>
            </a:pPr>
            <a:endParaRPr lang="en-US" dirty="0"/>
          </a:p>
        </p:txBody>
      </p:sp>
      <p:sp>
        <p:nvSpPr>
          <p:cNvPr id="30722" name="Rectangle 2"/>
          <p:cNvSpPr>
            <a:spLocks noGrp="1" noChangeArrowheads="1"/>
          </p:cNvSpPr>
          <p:nvPr>
            <p:ph type="title"/>
          </p:nvPr>
        </p:nvSpPr>
        <p:spPr/>
        <p:txBody>
          <a:bodyPr/>
          <a:lstStyle/>
          <a:p>
            <a:pPr eaLnBrk="1" hangingPunct="1"/>
            <a:r>
              <a:rPr lang="en-US"/>
              <a:t>Computer Crimes Act 1997</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3"/>
          <p:cNvSpPr>
            <a:spLocks noGrp="1" noChangeArrowheads="1"/>
          </p:cNvSpPr>
          <p:nvPr>
            <p:ph idx="1"/>
          </p:nvPr>
        </p:nvSpPr>
        <p:spPr/>
        <p:txBody>
          <a:bodyPr>
            <a:noAutofit/>
          </a:bodyPr>
          <a:lstStyle/>
          <a:p>
            <a:r>
              <a:rPr lang="en-US" sz="2400" b="1" dirty="0">
                <a:solidFill>
                  <a:schemeClr val="tx1"/>
                </a:solidFill>
              </a:rPr>
              <a:t>Unauthorized modification of the contents of any computer</a:t>
            </a:r>
          </a:p>
          <a:p>
            <a:pPr eaLnBrk="1" hangingPunct="1">
              <a:buFont typeface="Wingdings" pitchFamily="2" charset="2"/>
              <a:buChar char="Ø"/>
            </a:pPr>
            <a:r>
              <a:rPr lang="en-US" sz="2400" dirty="0"/>
              <a:t>Any modification is authorized if, 2(8)</a:t>
            </a:r>
          </a:p>
          <a:p>
            <a:pPr eaLnBrk="1" hangingPunct="1">
              <a:buFont typeface="Wingdings" pitchFamily="2" charset="2"/>
              <a:buNone/>
            </a:pPr>
            <a:r>
              <a:rPr lang="en-US" sz="2400" dirty="0"/>
              <a:t>     a) a person whose act causes it is not himself entitled to determine whether the modification should be made; and</a:t>
            </a:r>
          </a:p>
          <a:p>
            <a:pPr eaLnBrk="1" hangingPunct="1">
              <a:buFont typeface="Wingdings" pitchFamily="2" charset="2"/>
              <a:buNone/>
            </a:pPr>
            <a:r>
              <a:rPr lang="en-US" sz="2400" dirty="0"/>
              <a:t>     b) he does not have consent to the modification from any person who is so entitled</a:t>
            </a:r>
          </a:p>
          <a:p>
            <a:pPr eaLnBrk="1" hangingPunct="1">
              <a:buFont typeface="Wingdings" pitchFamily="2" charset="2"/>
              <a:buChar char="ü"/>
            </a:pPr>
            <a:r>
              <a:rPr lang="en-US" sz="2400" dirty="0"/>
              <a:t>And any act that contributes towards causing such modification shall be regarded as causing it</a:t>
            </a:r>
          </a:p>
          <a:p>
            <a:pPr eaLnBrk="1" hangingPunct="1">
              <a:buFont typeface="Wingdings" pitchFamily="2" charset="2"/>
              <a:buNone/>
            </a:pPr>
            <a:endParaRPr lang="en-US" sz="2400" dirty="0"/>
          </a:p>
          <a:p>
            <a:pPr eaLnBrk="1" hangingPunct="1">
              <a:buFont typeface="Wingdings" pitchFamily="2" charset="2"/>
              <a:buNone/>
            </a:pPr>
            <a:endParaRPr lang="en-US" sz="2400" dirty="0"/>
          </a:p>
        </p:txBody>
      </p:sp>
      <p:sp>
        <p:nvSpPr>
          <p:cNvPr id="31746" name="Rectangle 2"/>
          <p:cNvSpPr>
            <a:spLocks noGrp="1" noChangeArrowheads="1"/>
          </p:cNvSpPr>
          <p:nvPr>
            <p:ph type="title"/>
          </p:nvPr>
        </p:nvSpPr>
        <p:spPr/>
        <p:txBody>
          <a:bodyPr/>
          <a:lstStyle/>
          <a:p>
            <a:pPr eaLnBrk="1" hangingPunct="1"/>
            <a:r>
              <a:rPr lang="en-US"/>
              <a:t>Computer Crimes Act 1997</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3"/>
          <p:cNvSpPr>
            <a:spLocks noGrp="1" noChangeArrowheads="1"/>
          </p:cNvSpPr>
          <p:nvPr>
            <p:ph idx="1"/>
          </p:nvPr>
        </p:nvSpPr>
        <p:spPr/>
        <p:txBody>
          <a:bodyPr>
            <a:normAutofit/>
          </a:bodyPr>
          <a:lstStyle/>
          <a:p>
            <a:r>
              <a:rPr lang="en-US" sz="2400" b="1" dirty="0">
                <a:solidFill>
                  <a:schemeClr val="tx1"/>
                </a:solidFill>
              </a:rPr>
              <a:t>Wrongful communication, Section 6</a:t>
            </a:r>
          </a:p>
          <a:p>
            <a:pPr eaLnBrk="1" hangingPunct="1">
              <a:buFont typeface="Wingdings" pitchFamily="2" charset="2"/>
              <a:buChar char="Ø"/>
            </a:pPr>
            <a:r>
              <a:rPr lang="en-US" sz="2400" dirty="0"/>
              <a:t>A person shall be guilty of an offence if he communicates directly or indirectly a number, code, password or other means of access to a computer to any person other than a person to whom he is duly authorized to communicate</a:t>
            </a:r>
          </a:p>
          <a:p>
            <a:pPr eaLnBrk="1" hangingPunct="1">
              <a:buFont typeface="Wingdings" pitchFamily="2" charset="2"/>
              <a:buChar char="Ø"/>
            </a:pPr>
            <a:r>
              <a:rPr lang="en-US" sz="2400" dirty="0"/>
              <a:t>Fine not exceeding RM25,000 or imprisonment for a term not exceeding three years or both</a:t>
            </a:r>
          </a:p>
          <a:p>
            <a:pPr eaLnBrk="1" hangingPunct="1">
              <a:buFont typeface="Wingdings" pitchFamily="2" charset="2"/>
              <a:buChar char="Ø"/>
            </a:pPr>
            <a:endParaRPr lang="en-US" sz="2400" dirty="0"/>
          </a:p>
          <a:p>
            <a:pPr eaLnBrk="1" hangingPunct="1">
              <a:buFont typeface="Wingdings" pitchFamily="2" charset="2"/>
              <a:buNone/>
            </a:pPr>
            <a:endParaRPr lang="en-US" sz="2400" dirty="0"/>
          </a:p>
          <a:p>
            <a:pPr eaLnBrk="1" hangingPunct="1">
              <a:buFont typeface="Wingdings" pitchFamily="2" charset="2"/>
              <a:buNone/>
            </a:pPr>
            <a:endParaRPr lang="en-US" sz="2400" dirty="0"/>
          </a:p>
        </p:txBody>
      </p:sp>
      <p:sp>
        <p:nvSpPr>
          <p:cNvPr id="32770" name="Rectangle 2"/>
          <p:cNvSpPr>
            <a:spLocks noGrp="1" noChangeArrowheads="1"/>
          </p:cNvSpPr>
          <p:nvPr>
            <p:ph type="title"/>
          </p:nvPr>
        </p:nvSpPr>
        <p:spPr/>
        <p:txBody>
          <a:bodyPr/>
          <a:lstStyle/>
          <a:p>
            <a:pPr eaLnBrk="1" hangingPunct="1"/>
            <a:r>
              <a:rPr lang="en-US"/>
              <a:t>Computer Crimes Act 1997</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3"/>
          <p:cNvSpPr>
            <a:spLocks noGrp="1" noChangeArrowheads="1"/>
          </p:cNvSpPr>
          <p:nvPr>
            <p:ph idx="1"/>
          </p:nvPr>
        </p:nvSpPr>
        <p:spPr/>
        <p:txBody>
          <a:bodyPr>
            <a:normAutofit/>
          </a:bodyPr>
          <a:lstStyle/>
          <a:p>
            <a:r>
              <a:rPr lang="en-US" sz="2800" b="1" dirty="0">
                <a:solidFill>
                  <a:schemeClr val="tx1"/>
                </a:solidFill>
              </a:rPr>
              <a:t>Abetments and attempts punishable as offences, Section 7</a:t>
            </a:r>
          </a:p>
          <a:p>
            <a:pPr eaLnBrk="1" hangingPunct="1">
              <a:buFont typeface="Wingdings" pitchFamily="2" charset="2"/>
              <a:buChar char="Ø"/>
            </a:pPr>
            <a:r>
              <a:rPr lang="en-US" sz="2800" dirty="0"/>
              <a:t>A person who abets the commission of or who attempts to commit any offence shall be guilty of that offence</a:t>
            </a:r>
          </a:p>
          <a:p>
            <a:pPr eaLnBrk="1" hangingPunct="1">
              <a:buFont typeface="Wingdings" pitchFamily="2" charset="2"/>
              <a:buChar char="Ø"/>
            </a:pPr>
            <a:r>
              <a:rPr lang="en-US" sz="2800" dirty="0"/>
              <a:t>A person who does any act preparatory to or in furtherance of the commission of any offence shall be guilty of that offence</a:t>
            </a:r>
          </a:p>
          <a:p>
            <a:pPr eaLnBrk="1" hangingPunct="1">
              <a:buFont typeface="Wingdings" pitchFamily="2" charset="2"/>
              <a:buNone/>
            </a:pPr>
            <a:endParaRPr lang="en-US" sz="2800" dirty="0"/>
          </a:p>
          <a:p>
            <a:pPr eaLnBrk="1" hangingPunct="1">
              <a:buFont typeface="Wingdings" pitchFamily="2" charset="2"/>
              <a:buChar char="Ø"/>
            </a:pPr>
            <a:endParaRPr lang="en-US" sz="2800" dirty="0"/>
          </a:p>
          <a:p>
            <a:pPr eaLnBrk="1" hangingPunct="1">
              <a:buFont typeface="Wingdings" pitchFamily="2" charset="2"/>
              <a:buNone/>
            </a:pPr>
            <a:endParaRPr lang="en-US" sz="2800" dirty="0"/>
          </a:p>
          <a:p>
            <a:pPr eaLnBrk="1" hangingPunct="1">
              <a:buFont typeface="Wingdings" pitchFamily="2" charset="2"/>
              <a:buNone/>
            </a:pPr>
            <a:endParaRPr lang="en-US" sz="2800" dirty="0"/>
          </a:p>
        </p:txBody>
      </p:sp>
      <p:sp>
        <p:nvSpPr>
          <p:cNvPr id="33794" name="Rectangle 2"/>
          <p:cNvSpPr>
            <a:spLocks noGrp="1" noChangeArrowheads="1"/>
          </p:cNvSpPr>
          <p:nvPr>
            <p:ph type="title"/>
          </p:nvPr>
        </p:nvSpPr>
        <p:spPr/>
        <p:txBody>
          <a:bodyPr/>
          <a:lstStyle/>
          <a:p>
            <a:pPr eaLnBrk="1" hangingPunct="1"/>
            <a:r>
              <a:rPr lang="en-US"/>
              <a:t>Computer Crimes Act 1997</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3"/>
          <p:cNvSpPr>
            <a:spLocks noGrp="1" noChangeArrowheads="1"/>
          </p:cNvSpPr>
          <p:nvPr>
            <p:ph idx="1"/>
          </p:nvPr>
        </p:nvSpPr>
        <p:spPr/>
        <p:txBody>
          <a:bodyPr>
            <a:normAutofit/>
          </a:bodyPr>
          <a:lstStyle/>
          <a:p>
            <a:r>
              <a:rPr lang="en-US" sz="2400" b="1" dirty="0">
                <a:solidFill>
                  <a:schemeClr val="tx1"/>
                </a:solidFill>
              </a:rPr>
              <a:t>Presumption, Section 7</a:t>
            </a:r>
          </a:p>
          <a:p>
            <a:pPr eaLnBrk="1" hangingPunct="1">
              <a:buFont typeface="Wingdings" pitchFamily="2" charset="2"/>
              <a:buChar char="Ø"/>
            </a:pPr>
            <a:r>
              <a:rPr lang="en-US" sz="2400" dirty="0"/>
              <a:t>A person who has in his custody or control any program, data or other information which is held in any computer or retrieved from any computer which he is not authorized to have in his custody or control shall be deemed to have obtained unauthorized access to such program, data or information unless the contrary is proved</a:t>
            </a:r>
          </a:p>
          <a:p>
            <a:endParaRPr lang="en-US" sz="2400" dirty="0"/>
          </a:p>
          <a:p>
            <a:pPr eaLnBrk="1" hangingPunct="1">
              <a:buFont typeface="Wingdings" pitchFamily="2" charset="2"/>
              <a:buChar char="Ø"/>
            </a:pPr>
            <a:endParaRPr lang="en-US" sz="2400" dirty="0"/>
          </a:p>
          <a:p>
            <a:endParaRPr lang="en-US" sz="2400" dirty="0"/>
          </a:p>
          <a:p>
            <a:endParaRPr lang="en-US" sz="2400" dirty="0"/>
          </a:p>
        </p:txBody>
      </p:sp>
      <p:sp>
        <p:nvSpPr>
          <p:cNvPr id="34818" name="Rectangle 2"/>
          <p:cNvSpPr>
            <a:spLocks noGrp="1" noChangeArrowheads="1"/>
          </p:cNvSpPr>
          <p:nvPr>
            <p:ph type="title"/>
          </p:nvPr>
        </p:nvSpPr>
        <p:spPr/>
        <p:txBody>
          <a:bodyPr/>
          <a:lstStyle/>
          <a:p>
            <a:pPr eaLnBrk="1" hangingPunct="1"/>
            <a:r>
              <a:rPr lang="en-US"/>
              <a:t>Computer Crimes Act 1997</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CYBERLAWS OF MALAYSIA</a:t>
            </a:r>
            <a:br>
              <a:rPr lang="en-US" dirty="0"/>
            </a:br>
            <a:endParaRPr lang="en-US" dirty="0"/>
          </a:p>
        </p:txBody>
      </p:sp>
      <p:sp>
        <p:nvSpPr>
          <p:cNvPr id="4" name="Rectangle 3"/>
          <p:cNvSpPr/>
          <p:nvPr/>
        </p:nvSpPr>
        <p:spPr>
          <a:xfrm>
            <a:off x="152400" y="2286000"/>
            <a:ext cx="8839200" cy="3416320"/>
          </a:xfrm>
          <a:prstGeom prst="rect">
            <a:avLst/>
          </a:prstGeom>
        </p:spPr>
        <p:txBody>
          <a:bodyPr wrap="square">
            <a:spAutoFit/>
          </a:bodyPr>
          <a:lstStyle/>
          <a:p>
            <a:r>
              <a:rPr lang="en-US" dirty="0"/>
              <a:t>1.COMPUTER CRIME ACT 1997 </a:t>
            </a:r>
          </a:p>
          <a:p>
            <a:r>
              <a:rPr lang="en-US" dirty="0"/>
              <a:t>2.COMMUNICATIONS AND MULTIMEDIA ACT 1998 (CMA) </a:t>
            </a:r>
          </a:p>
          <a:p>
            <a:r>
              <a:rPr lang="en-US" dirty="0"/>
              <a:t>3.MALAYSIAN COMMUNICATIONS AND MULTIMEDIA COMMISSION ACT 1998 </a:t>
            </a:r>
          </a:p>
          <a:p>
            <a:r>
              <a:rPr lang="en-US" dirty="0"/>
              <a:t>4.DIGITAL SIGNATURE ACT 1997 </a:t>
            </a:r>
          </a:p>
          <a:p>
            <a:r>
              <a:rPr lang="en-US" dirty="0"/>
              <a:t>5.COPYRIGHT ACT (AMENDMENT) 1997 </a:t>
            </a:r>
          </a:p>
          <a:p>
            <a:r>
              <a:rPr lang="en-US" dirty="0"/>
              <a:t>6.TELEMEDICINE ACT 1997 </a:t>
            </a:r>
          </a:p>
          <a:p>
            <a:r>
              <a:rPr lang="en-US" dirty="0"/>
              <a:t>7.OPTICAL DISC ACT 2000 </a:t>
            </a:r>
          </a:p>
          <a:p>
            <a:r>
              <a:rPr lang="en-US" dirty="0"/>
              <a:t>8.ELECTRONIC TRANSACTIONS ACT 2006</a:t>
            </a:r>
          </a:p>
        </p:txBody>
      </p:sp>
      <p:sp>
        <p:nvSpPr>
          <p:cNvPr id="5" name="Rectangle 4"/>
          <p:cNvSpPr/>
          <p:nvPr/>
        </p:nvSpPr>
        <p:spPr>
          <a:xfrm>
            <a:off x="4526069" y="6248400"/>
            <a:ext cx="4617931" cy="461665"/>
          </a:xfrm>
          <a:prstGeom prst="rect">
            <a:avLst/>
          </a:prstGeom>
        </p:spPr>
        <p:txBody>
          <a:bodyPr wrap="none">
            <a:spAutoFit/>
          </a:bodyPr>
          <a:lstStyle/>
          <a:p>
            <a:r>
              <a:rPr lang="en-US" dirty="0" err="1"/>
              <a:t>Souce:ROYAL</a:t>
            </a:r>
            <a:r>
              <a:rPr lang="en-US" dirty="0"/>
              <a:t> MALAYSIA POLICE</a:t>
            </a:r>
          </a:p>
        </p:txBody>
      </p:sp>
    </p:spTree>
    <p:extLst>
      <p:ext uri="{BB962C8B-B14F-4D97-AF65-F5344CB8AC3E}">
        <p14:creationId xmlns:p14="http://schemas.microsoft.com/office/powerpoint/2010/main" val="381415989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lstStyle/>
          <a:p>
            <a:endParaRPr lang="en-US"/>
          </a:p>
        </p:txBody>
      </p:sp>
      <p:sp>
        <p:nvSpPr>
          <p:cNvPr id="4" name="Title 3"/>
          <p:cNvSpPr>
            <a:spLocks noGrp="1"/>
          </p:cNvSpPr>
          <p:nvPr>
            <p:ph type="title"/>
          </p:nvPr>
        </p:nvSpPr>
        <p:spPr/>
        <p:txBody>
          <a:bodyPr/>
          <a:lstStyle/>
          <a:p>
            <a:r>
              <a:rPr lang="en-US" dirty="0"/>
              <a:t>Example cybercrime case in Malaysia</a:t>
            </a:r>
            <a:br>
              <a:rPr lang="en-US" dirty="0"/>
            </a:br>
            <a:r>
              <a:rPr lang="en-US" dirty="0"/>
              <a:t>offences under computer crime act 1997</a:t>
            </a:r>
          </a:p>
        </p:txBody>
      </p:sp>
    </p:spTree>
    <p:extLst>
      <p:ext uri="{BB962C8B-B14F-4D97-AF65-F5344CB8AC3E}">
        <p14:creationId xmlns:p14="http://schemas.microsoft.com/office/powerpoint/2010/main" val="36721977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Case-1</a:t>
            </a:r>
          </a:p>
        </p:txBody>
      </p:sp>
      <p:pic>
        <p:nvPicPr>
          <p:cNvPr id="5" name="Picture 4"/>
          <p:cNvPicPr>
            <a:picLocks noChangeAspect="1"/>
          </p:cNvPicPr>
          <p:nvPr/>
        </p:nvPicPr>
        <p:blipFill>
          <a:blip r:embed="rId2"/>
          <a:stretch>
            <a:fillRect/>
          </a:stretch>
        </p:blipFill>
        <p:spPr>
          <a:xfrm>
            <a:off x="1175796" y="1524000"/>
            <a:ext cx="6791667" cy="4865625"/>
          </a:xfrm>
          <a:prstGeom prst="rect">
            <a:avLst/>
          </a:prstGeom>
        </p:spPr>
      </p:pic>
    </p:spTree>
    <p:extLst>
      <p:ext uri="{BB962C8B-B14F-4D97-AF65-F5344CB8AC3E}">
        <p14:creationId xmlns:p14="http://schemas.microsoft.com/office/powerpoint/2010/main" val="15202657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Case-2</a:t>
            </a:r>
          </a:p>
        </p:txBody>
      </p:sp>
      <p:pic>
        <p:nvPicPr>
          <p:cNvPr id="4" name="Picture 3"/>
          <p:cNvPicPr>
            <a:picLocks noChangeAspect="1"/>
          </p:cNvPicPr>
          <p:nvPr/>
        </p:nvPicPr>
        <p:blipFill>
          <a:blip r:embed="rId2"/>
          <a:stretch>
            <a:fillRect/>
          </a:stretch>
        </p:blipFill>
        <p:spPr>
          <a:xfrm>
            <a:off x="1131007" y="1752600"/>
            <a:ext cx="6881246" cy="4484485"/>
          </a:xfrm>
          <a:prstGeom prst="rect">
            <a:avLst/>
          </a:prstGeom>
        </p:spPr>
      </p:pic>
    </p:spTree>
    <p:extLst>
      <p:ext uri="{BB962C8B-B14F-4D97-AF65-F5344CB8AC3E}">
        <p14:creationId xmlns:p14="http://schemas.microsoft.com/office/powerpoint/2010/main" val="5424456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Case-3</a:t>
            </a:r>
          </a:p>
        </p:txBody>
      </p:sp>
      <p:pic>
        <p:nvPicPr>
          <p:cNvPr id="4" name="Picture 3"/>
          <p:cNvPicPr>
            <a:picLocks noChangeAspect="1"/>
          </p:cNvPicPr>
          <p:nvPr/>
        </p:nvPicPr>
        <p:blipFill>
          <a:blip r:embed="rId2"/>
          <a:stretch>
            <a:fillRect/>
          </a:stretch>
        </p:blipFill>
        <p:spPr>
          <a:xfrm>
            <a:off x="1090289" y="1677075"/>
            <a:ext cx="6962681" cy="4825078"/>
          </a:xfrm>
          <a:prstGeom prst="rect">
            <a:avLst/>
          </a:prstGeom>
        </p:spPr>
      </p:pic>
    </p:spTree>
    <p:extLst>
      <p:ext uri="{BB962C8B-B14F-4D97-AF65-F5344CB8AC3E}">
        <p14:creationId xmlns:p14="http://schemas.microsoft.com/office/powerpoint/2010/main" val="255140020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Case-3 </a:t>
            </a:r>
            <a:r>
              <a:rPr lang="en-US" dirty="0" err="1"/>
              <a:t>cont</a:t>
            </a:r>
            <a:endParaRPr lang="en-US" dirty="0"/>
          </a:p>
        </p:txBody>
      </p:sp>
      <p:pic>
        <p:nvPicPr>
          <p:cNvPr id="4" name="Picture 3"/>
          <p:cNvPicPr>
            <a:picLocks noChangeAspect="1"/>
          </p:cNvPicPr>
          <p:nvPr/>
        </p:nvPicPr>
        <p:blipFill>
          <a:blip r:embed="rId2"/>
          <a:stretch>
            <a:fillRect/>
          </a:stretch>
        </p:blipFill>
        <p:spPr>
          <a:xfrm>
            <a:off x="1371600" y="2057400"/>
            <a:ext cx="5961032" cy="4322297"/>
          </a:xfrm>
          <a:prstGeom prst="rect">
            <a:avLst/>
          </a:prstGeom>
        </p:spPr>
      </p:pic>
    </p:spTree>
    <p:extLst>
      <p:ext uri="{BB962C8B-B14F-4D97-AF65-F5344CB8AC3E}">
        <p14:creationId xmlns:p14="http://schemas.microsoft.com/office/powerpoint/2010/main" val="183725264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lstStyle/>
          <a:p>
            <a:endParaRPr lang="en-US"/>
          </a:p>
        </p:txBody>
      </p:sp>
      <p:sp>
        <p:nvSpPr>
          <p:cNvPr id="4" name="Title 3"/>
          <p:cNvSpPr>
            <a:spLocks noGrp="1"/>
          </p:cNvSpPr>
          <p:nvPr>
            <p:ph type="title"/>
          </p:nvPr>
        </p:nvSpPr>
        <p:spPr>
          <a:xfrm>
            <a:off x="457200" y="304800"/>
            <a:ext cx="6324600" cy="3576960"/>
          </a:xfrm>
        </p:spPr>
        <p:txBody>
          <a:bodyPr/>
          <a:lstStyle/>
          <a:p>
            <a:r>
              <a:rPr lang="en-US"/>
              <a:t>Offences under the Communication and Multimedia Act 1998 </a:t>
            </a:r>
            <a:endParaRPr lang="en-US" dirty="0"/>
          </a:p>
        </p:txBody>
      </p:sp>
    </p:spTree>
    <p:extLst>
      <p:ext uri="{BB962C8B-B14F-4D97-AF65-F5344CB8AC3E}">
        <p14:creationId xmlns:p14="http://schemas.microsoft.com/office/powerpoint/2010/main" val="98461735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Case-1</a:t>
            </a:r>
          </a:p>
        </p:txBody>
      </p:sp>
      <p:pic>
        <p:nvPicPr>
          <p:cNvPr id="4" name="Picture 3"/>
          <p:cNvPicPr>
            <a:picLocks noChangeAspect="1"/>
          </p:cNvPicPr>
          <p:nvPr/>
        </p:nvPicPr>
        <p:blipFill>
          <a:blip r:embed="rId2"/>
          <a:stretch>
            <a:fillRect/>
          </a:stretch>
        </p:blipFill>
        <p:spPr>
          <a:xfrm>
            <a:off x="685800" y="1676400"/>
            <a:ext cx="6934200" cy="4557328"/>
          </a:xfrm>
          <a:prstGeom prst="rect">
            <a:avLst/>
          </a:prstGeom>
        </p:spPr>
      </p:pic>
    </p:spTree>
    <p:extLst>
      <p:ext uri="{BB962C8B-B14F-4D97-AF65-F5344CB8AC3E}">
        <p14:creationId xmlns:p14="http://schemas.microsoft.com/office/powerpoint/2010/main" val="384010746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Case-2</a:t>
            </a:r>
          </a:p>
        </p:txBody>
      </p:sp>
      <p:pic>
        <p:nvPicPr>
          <p:cNvPr id="5" name="Picture 4"/>
          <p:cNvPicPr>
            <a:picLocks noChangeAspect="1"/>
          </p:cNvPicPr>
          <p:nvPr/>
        </p:nvPicPr>
        <p:blipFill>
          <a:blip r:embed="rId2"/>
          <a:stretch>
            <a:fillRect/>
          </a:stretch>
        </p:blipFill>
        <p:spPr>
          <a:xfrm>
            <a:off x="1295400" y="2286000"/>
            <a:ext cx="5887740" cy="3916828"/>
          </a:xfrm>
          <a:prstGeom prst="rect">
            <a:avLst/>
          </a:prstGeom>
        </p:spPr>
      </p:pic>
    </p:spTree>
    <p:extLst>
      <p:ext uri="{BB962C8B-B14F-4D97-AF65-F5344CB8AC3E}">
        <p14:creationId xmlns:p14="http://schemas.microsoft.com/office/powerpoint/2010/main" val="367730165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Case-2…</a:t>
            </a:r>
            <a:r>
              <a:rPr lang="en-US" dirty="0" err="1"/>
              <a:t>cont</a:t>
            </a:r>
            <a:endParaRPr lang="en-US" dirty="0"/>
          </a:p>
        </p:txBody>
      </p:sp>
      <p:pic>
        <p:nvPicPr>
          <p:cNvPr id="4" name="Picture 3"/>
          <p:cNvPicPr>
            <a:picLocks noChangeAspect="1"/>
          </p:cNvPicPr>
          <p:nvPr/>
        </p:nvPicPr>
        <p:blipFill>
          <a:blip r:embed="rId2"/>
          <a:stretch>
            <a:fillRect/>
          </a:stretch>
        </p:blipFill>
        <p:spPr>
          <a:xfrm>
            <a:off x="1524000" y="2057400"/>
            <a:ext cx="5684153" cy="4119563"/>
          </a:xfrm>
          <a:prstGeom prst="rect">
            <a:avLst/>
          </a:prstGeom>
        </p:spPr>
      </p:pic>
    </p:spTree>
    <p:extLst>
      <p:ext uri="{BB962C8B-B14F-4D97-AF65-F5344CB8AC3E}">
        <p14:creationId xmlns:p14="http://schemas.microsoft.com/office/powerpoint/2010/main" val="33787764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Case-3</a:t>
            </a:r>
          </a:p>
        </p:txBody>
      </p:sp>
      <p:pic>
        <p:nvPicPr>
          <p:cNvPr id="4" name="Picture 3"/>
          <p:cNvPicPr>
            <a:picLocks noChangeAspect="1"/>
          </p:cNvPicPr>
          <p:nvPr/>
        </p:nvPicPr>
        <p:blipFill>
          <a:blip r:embed="rId2"/>
          <a:stretch>
            <a:fillRect/>
          </a:stretch>
        </p:blipFill>
        <p:spPr>
          <a:xfrm>
            <a:off x="1648118" y="1752600"/>
            <a:ext cx="5847023" cy="4833188"/>
          </a:xfrm>
          <a:prstGeom prst="rect">
            <a:avLst/>
          </a:prstGeom>
        </p:spPr>
      </p:pic>
    </p:spTree>
    <p:extLst>
      <p:ext uri="{BB962C8B-B14F-4D97-AF65-F5344CB8AC3E}">
        <p14:creationId xmlns:p14="http://schemas.microsoft.com/office/powerpoint/2010/main" val="60236148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Case-3 ..</a:t>
            </a:r>
            <a:r>
              <a:rPr lang="en-US" dirty="0" err="1"/>
              <a:t>cont</a:t>
            </a:r>
            <a:endParaRPr lang="en-US" dirty="0"/>
          </a:p>
        </p:txBody>
      </p:sp>
      <p:pic>
        <p:nvPicPr>
          <p:cNvPr id="4" name="Picture 3"/>
          <p:cNvPicPr>
            <a:picLocks noChangeAspect="1"/>
          </p:cNvPicPr>
          <p:nvPr/>
        </p:nvPicPr>
        <p:blipFill>
          <a:blip r:embed="rId2"/>
          <a:stretch>
            <a:fillRect/>
          </a:stretch>
        </p:blipFill>
        <p:spPr>
          <a:xfrm>
            <a:off x="1676400" y="2209800"/>
            <a:ext cx="4959383" cy="2513906"/>
          </a:xfrm>
          <a:prstGeom prst="rect">
            <a:avLst/>
          </a:prstGeom>
        </p:spPr>
      </p:pic>
    </p:spTree>
    <p:extLst>
      <p:ext uri="{BB962C8B-B14F-4D97-AF65-F5344CB8AC3E}">
        <p14:creationId xmlns:p14="http://schemas.microsoft.com/office/powerpoint/2010/main" val="210090891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2000" dirty="0"/>
              <a:t>All of cybercrime cases are taken from  https://www.amazon.com/CYBERCRIME-CASES-DECADEMALAYSIAN-EXPERIENCE/dp/1692537709/ </a:t>
            </a:r>
          </a:p>
        </p:txBody>
      </p:sp>
      <p:pic>
        <p:nvPicPr>
          <p:cNvPr id="4" name="Picture 3"/>
          <p:cNvPicPr>
            <a:picLocks noChangeAspect="1"/>
          </p:cNvPicPr>
          <p:nvPr/>
        </p:nvPicPr>
        <p:blipFill>
          <a:blip r:embed="rId2"/>
          <a:stretch>
            <a:fillRect/>
          </a:stretch>
        </p:blipFill>
        <p:spPr>
          <a:xfrm>
            <a:off x="914400" y="2362200"/>
            <a:ext cx="6091328" cy="3924938"/>
          </a:xfrm>
          <a:prstGeom prst="rect">
            <a:avLst/>
          </a:prstGeom>
        </p:spPr>
      </p:pic>
      <p:sp>
        <p:nvSpPr>
          <p:cNvPr id="5" name="TextBox 4"/>
          <p:cNvSpPr txBox="1"/>
          <p:nvPr/>
        </p:nvSpPr>
        <p:spPr>
          <a:xfrm>
            <a:off x="762000" y="1750462"/>
            <a:ext cx="3925498" cy="584775"/>
          </a:xfrm>
          <a:prstGeom prst="rect">
            <a:avLst/>
          </a:prstGeom>
          <a:noFill/>
        </p:spPr>
        <p:txBody>
          <a:bodyPr wrap="none" rtlCol="0">
            <a:spAutoFit/>
          </a:bodyPr>
          <a:lstStyle/>
          <a:p>
            <a:r>
              <a:rPr lang="en-US" sz="3200" dirty="0">
                <a:solidFill>
                  <a:srgbClr val="FF0000"/>
                </a:solidFill>
              </a:rPr>
              <a:t>Biography of author:</a:t>
            </a:r>
          </a:p>
        </p:txBody>
      </p:sp>
    </p:spTree>
    <p:extLst>
      <p:ext uri="{BB962C8B-B14F-4D97-AF65-F5344CB8AC3E}">
        <p14:creationId xmlns:p14="http://schemas.microsoft.com/office/powerpoint/2010/main" val="328379176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75176" y="1879856"/>
            <a:ext cx="5219048" cy="4085714"/>
          </a:xfrm>
        </p:spPr>
      </p:pic>
      <p:sp>
        <p:nvSpPr>
          <p:cNvPr id="3" name="Title 2"/>
          <p:cNvSpPr>
            <a:spLocks noGrp="1"/>
          </p:cNvSpPr>
          <p:nvPr>
            <p:ph type="title"/>
          </p:nvPr>
        </p:nvSpPr>
        <p:spPr/>
        <p:txBody>
          <a:bodyPr/>
          <a:lstStyle/>
          <a:p>
            <a:endParaRPr lang="en-MY"/>
          </a:p>
        </p:txBody>
      </p:sp>
    </p:spTree>
    <p:extLst>
      <p:ext uri="{BB962C8B-B14F-4D97-AF65-F5344CB8AC3E}">
        <p14:creationId xmlns:p14="http://schemas.microsoft.com/office/powerpoint/2010/main" val="10731129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Top 20 Countries with the highest rate of Cybercrime</a:t>
            </a:r>
          </a:p>
        </p:txBody>
      </p:sp>
      <p:pic>
        <p:nvPicPr>
          <p:cNvPr id="4" name="Picture 3"/>
          <p:cNvPicPr>
            <a:picLocks noChangeAspect="1"/>
          </p:cNvPicPr>
          <p:nvPr/>
        </p:nvPicPr>
        <p:blipFill>
          <a:blip r:embed="rId2"/>
          <a:stretch>
            <a:fillRect/>
          </a:stretch>
        </p:blipFill>
        <p:spPr>
          <a:xfrm>
            <a:off x="857250" y="1627163"/>
            <a:ext cx="6686550" cy="4559105"/>
          </a:xfrm>
          <a:prstGeom prst="rect">
            <a:avLst/>
          </a:prstGeom>
        </p:spPr>
      </p:pic>
      <p:sp>
        <p:nvSpPr>
          <p:cNvPr id="5" name="Rectangle 4"/>
          <p:cNvSpPr/>
          <p:nvPr/>
        </p:nvSpPr>
        <p:spPr>
          <a:xfrm>
            <a:off x="4267200" y="6172200"/>
            <a:ext cx="4971680" cy="461665"/>
          </a:xfrm>
          <a:prstGeom prst="rect">
            <a:avLst/>
          </a:prstGeom>
        </p:spPr>
        <p:txBody>
          <a:bodyPr wrap="square">
            <a:spAutoFit/>
          </a:bodyPr>
          <a:lstStyle/>
          <a:p>
            <a:r>
              <a:rPr lang="en-US" dirty="0"/>
              <a:t>(source: BusinessWeek/Symantec)</a:t>
            </a:r>
          </a:p>
        </p:txBody>
      </p:sp>
    </p:spTree>
    <p:extLst>
      <p:ext uri="{BB962C8B-B14F-4D97-AF65-F5344CB8AC3E}">
        <p14:creationId xmlns:p14="http://schemas.microsoft.com/office/powerpoint/2010/main" val="143444077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heme1">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Grid">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ajorFont>
      <a:min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inorFont>
    </a:fontScheme>
    <a:fmtScheme name="Grid">
      <a:fillStyleLst>
        <a:solidFill>
          <a:schemeClr val="phClr"/>
        </a:solidFill>
        <a:solidFill>
          <a:schemeClr val="phClr">
            <a:tint val="50000"/>
          </a:schemeClr>
        </a:solidFill>
        <a:gradFill rotWithShape="1">
          <a:gsLst>
            <a:gs pos="0">
              <a:schemeClr val="phClr"/>
            </a:gs>
            <a:gs pos="90000">
              <a:schemeClr val="phClr">
                <a:shade val="100000"/>
              </a:schemeClr>
            </a:gs>
            <a:gs pos="100000">
              <a:schemeClr val="phClr">
                <a:shade val="85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effectStyle>
        <a:effectStyle>
          <a:effectLst>
            <a:outerShdw blurRad="31750" dist="25400" dir="5400000" rotWithShape="0">
              <a:srgbClr val="000000">
                <a:alpha val="50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30000"/>
              </a:schemeClr>
            </a:contourClr>
          </a:sp3d>
        </a:effectStyle>
      </a:effectStyleLst>
      <a:bgFillStyleLst>
        <a:solidFill>
          <a:schemeClr val="phClr"/>
        </a:solidFill>
        <a:solidFill>
          <a:schemeClr val="phClr">
            <a:tint val="90000"/>
            <a:shade val="93000"/>
            <a:satMod val="150000"/>
          </a:schemeClr>
        </a:solidFill>
        <a:blipFill rotWithShape="1">
          <a:blip xmlns:r="http://schemas.openxmlformats.org/officeDocument/2006/relationships" r:embed="rId1">
            <a:duotone>
              <a:schemeClr val="phClr">
                <a:tint val="95000"/>
              </a:schemeClr>
              <a:schemeClr val="phClr">
                <a:shade val="93000"/>
                <a:satMod val="11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2613</TotalTime>
  <Words>2059</Words>
  <Application>Microsoft Macintosh PowerPoint</Application>
  <PresentationFormat>On-screen Show (4:3)</PresentationFormat>
  <Paragraphs>258</Paragraphs>
  <Slides>50</Slides>
  <Notes>13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50</vt:i4>
      </vt:variant>
    </vt:vector>
  </HeadingPairs>
  <TitlesOfParts>
    <vt:vector size="58" baseType="lpstr">
      <vt:lpstr>Arial</vt:lpstr>
      <vt:lpstr>Calibri</vt:lpstr>
      <vt:lpstr>Franklin Gothic Medium</vt:lpstr>
      <vt:lpstr>Tahoma</vt:lpstr>
      <vt:lpstr>Times New Roman</vt:lpstr>
      <vt:lpstr>Wingdings</vt:lpstr>
      <vt:lpstr>Wingdings 2</vt:lpstr>
      <vt:lpstr>Theme1</vt:lpstr>
      <vt:lpstr>CHAPTER 5: computer and cyber crime</vt:lpstr>
      <vt:lpstr>objectives</vt:lpstr>
      <vt:lpstr>Introduction</vt:lpstr>
      <vt:lpstr>Malaysia cybercrime cases</vt:lpstr>
      <vt:lpstr>Defining Cybercrime</vt:lpstr>
      <vt:lpstr>Defining Cybercrime</vt:lpstr>
      <vt:lpstr>Categories of Genuine Cybercrime</vt:lpstr>
      <vt:lpstr>Categories of Genuine Cybercrime</vt:lpstr>
      <vt:lpstr>Categories of Genuine Cybercrime</vt:lpstr>
      <vt:lpstr>Cyber-EXACERBATED Crimes</vt:lpstr>
      <vt:lpstr>Cyber-ASSISTED Crimes</vt:lpstr>
      <vt:lpstr>Type of Perpetrators</vt:lpstr>
      <vt:lpstr>Type of Perpetrators</vt:lpstr>
      <vt:lpstr>Type of Perpetrators</vt:lpstr>
      <vt:lpstr>Type of Perpetrators</vt:lpstr>
      <vt:lpstr>Type of Perpetrators</vt:lpstr>
      <vt:lpstr>Type of Perpetrators</vt:lpstr>
      <vt:lpstr>Fraud, Embezzlement, Sabotage, Identity theft, and forgery</vt:lpstr>
      <vt:lpstr>Fraud, Embezzlement, Sabotage, Identity theft, and forgery</vt:lpstr>
      <vt:lpstr>Fraud, Embezzlement, Sabotage, Identity theft, and forgery</vt:lpstr>
      <vt:lpstr>Fraud, Embezzlement, Sabotage, Identity theft, and forgery</vt:lpstr>
      <vt:lpstr>CYBERCRIME in Malaysia</vt:lpstr>
      <vt:lpstr>Current Challenges in cybercrime investigation : Royal Malaysian police</vt:lpstr>
      <vt:lpstr>Computer Crimes Act 1997</vt:lpstr>
      <vt:lpstr>Computer Crimes Act 1997</vt:lpstr>
      <vt:lpstr>Computer Crimes Act 1997</vt:lpstr>
      <vt:lpstr>Computer Crimes Act 1997</vt:lpstr>
      <vt:lpstr>Computer Crimes Act 1997</vt:lpstr>
      <vt:lpstr>Computer Crimes Act 1997</vt:lpstr>
      <vt:lpstr>Computer Crimes Act 1997</vt:lpstr>
      <vt:lpstr>Computer Crimes Act 1997</vt:lpstr>
      <vt:lpstr>Computer Crimes Act 1997</vt:lpstr>
      <vt:lpstr>Computer Crimes Act 1997</vt:lpstr>
      <vt:lpstr>Computer Crimes Act 1997</vt:lpstr>
      <vt:lpstr>Computer Crimes Act 1997</vt:lpstr>
      <vt:lpstr>CYBERLAWS OF MALAYSIA </vt:lpstr>
      <vt:lpstr>Example cybercrime case in Malaysia offences under computer crime act 1997</vt:lpstr>
      <vt:lpstr>Case-1</vt:lpstr>
      <vt:lpstr>Case-2</vt:lpstr>
      <vt:lpstr>Case-3</vt:lpstr>
      <vt:lpstr>Case-3 cont</vt:lpstr>
      <vt:lpstr>Offences under the Communication and Multimedia Act 1998 </vt:lpstr>
      <vt:lpstr>Case-1</vt:lpstr>
      <vt:lpstr>Case-2</vt:lpstr>
      <vt:lpstr>Case-2…cont</vt:lpstr>
      <vt:lpstr>Case-3</vt:lpstr>
      <vt:lpstr>Case-3 ..cont</vt:lpstr>
      <vt:lpstr>All of cybercrime cases are taken from  https://www.amazon.com/CYBERCRIME-CASES-DECADEMALAYSIAN-EXPERIENCE/dp/1692537709/ </vt:lpstr>
      <vt:lpstr>PowerPoint Presentation</vt:lpstr>
      <vt:lpstr>Top 20 Countries with the highest rate of Cybercrime</vt:lpstr>
    </vt:vector>
  </TitlesOfParts>
  <Company>upm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SIM4207</dc:title>
  <dc:creator>Azim</dc:creator>
  <cp:lastModifiedBy>ROZI NOR HAIZAN BINTI NOR</cp:lastModifiedBy>
  <cp:revision>58</cp:revision>
  <cp:lastPrinted>2016-05-10T07:08:34Z</cp:lastPrinted>
  <dcterms:created xsi:type="dcterms:W3CDTF">2007-03-30T01:28:44Z</dcterms:created>
  <dcterms:modified xsi:type="dcterms:W3CDTF">2025-05-20T02:36:44Z</dcterms:modified>
</cp:coreProperties>
</file>