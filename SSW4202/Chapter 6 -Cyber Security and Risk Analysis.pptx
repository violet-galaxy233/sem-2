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63"/>
  </p:notesMasterIdLst>
  <p:handoutMasterIdLst>
    <p:handoutMasterId r:id="rId64"/>
  </p:handoutMasterIdLst>
  <p:sldIdLst>
    <p:sldId id="256" r:id="rId2"/>
    <p:sldId id="257" r:id="rId3"/>
    <p:sldId id="258" r:id="rId4"/>
    <p:sldId id="259" r:id="rId5"/>
    <p:sldId id="311" r:id="rId6"/>
    <p:sldId id="260" r:id="rId7"/>
    <p:sldId id="261" r:id="rId8"/>
    <p:sldId id="262" r:id="rId9"/>
    <p:sldId id="263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3" r:id="rId41"/>
    <p:sldId id="312" r:id="rId42"/>
    <p:sldId id="290" r:id="rId43"/>
    <p:sldId id="292" r:id="rId44"/>
    <p:sldId id="295" r:id="rId45"/>
    <p:sldId id="294" r:id="rId46"/>
    <p:sldId id="296" r:id="rId47"/>
    <p:sldId id="298" r:id="rId48"/>
    <p:sldId id="303" r:id="rId49"/>
    <p:sldId id="304" r:id="rId50"/>
    <p:sldId id="299" r:id="rId51"/>
    <p:sldId id="300" r:id="rId52"/>
    <p:sldId id="301" r:id="rId53"/>
    <p:sldId id="302" r:id="rId54"/>
    <p:sldId id="305" r:id="rId55"/>
    <p:sldId id="306" r:id="rId56"/>
    <p:sldId id="307" r:id="rId57"/>
    <p:sldId id="308" r:id="rId58"/>
    <p:sldId id="309" r:id="rId59"/>
    <p:sldId id="310" r:id="rId60"/>
    <p:sldId id="333" r:id="rId61"/>
    <p:sldId id="332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20" autoAdjust="0"/>
    <p:restoredTop sz="79938" autoAdjust="0"/>
  </p:normalViewPr>
  <p:slideViewPr>
    <p:cSldViewPr>
      <p:cViewPr varScale="1">
        <p:scale>
          <a:sx n="88" d="100"/>
          <a:sy n="88" d="100"/>
        </p:scale>
        <p:origin x="28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E0A20-FE88-41DF-A42E-99A6B5FD85EA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85B7A7-542D-42E2-BE01-7EF48747C26E}">
      <dgm:prSet phldrT="[Text]" custT="1"/>
      <dgm:spPr>
        <a:solidFill>
          <a:srgbClr val="647D33"/>
        </a:solidFill>
      </dgm:spPr>
      <dgm:t>
        <a:bodyPr/>
        <a:lstStyle/>
        <a:p>
          <a:r>
            <a:rPr lang="en-US" sz="2800" b="1" dirty="0">
              <a:solidFill>
                <a:schemeClr val="bg1"/>
              </a:solidFill>
            </a:rPr>
            <a:t>Responsible net citizens</a:t>
          </a:r>
        </a:p>
      </dgm:t>
    </dgm:pt>
    <dgm:pt modelId="{BF68599E-17BD-43DF-8F9A-4695454FC847}" type="parTrans" cxnId="{F89A4F1B-64AD-4726-A8FB-11DF5E1ED088}">
      <dgm:prSet/>
      <dgm:spPr/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375CE95B-789B-4D88-A036-23860CAD5310}" type="sibTrans" cxnId="{F89A4F1B-64AD-4726-A8FB-11DF5E1ED088}">
      <dgm:prSet/>
      <dgm:spPr/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26E593E5-86C4-450A-A5BE-78B5BEC730B6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 dirty="0">
              <a:solidFill>
                <a:srgbClr val="660033"/>
              </a:solidFill>
            </a:rPr>
            <a:t>Cooperation </a:t>
          </a:r>
          <a:r>
            <a:rPr lang="en-US" sz="1800" b="1" dirty="0">
              <a:solidFill>
                <a:schemeClr val="bg1"/>
              </a:solidFill>
            </a:rPr>
            <a:t>–</a:t>
          </a:r>
        </a:p>
        <a:p>
          <a:r>
            <a:rPr lang="en-US" sz="1800" b="0" dirty="0">
              <a:solidFill>
                <a:schemeClr val="bg1"/>
              </a:solidFill>
            </a:rPr>
            <a:t>To develop better relationship with all relevant bodies</a:t>
          </a:r>
        </a:p>
      </dgm:t>
    </dgm:pt>
    <dgm:pt modelId="{BD5BA37E-F360-4100-B735-0A453C8BF8B3}" type="parTrans" cxnId="{44FA1BCE-5E82-4851-B56F-30185C78000A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endParaRPr lang="en-US" sz="2800">
            <a:solidFill>
              <a:srgbClr val="00B0F0"/>
            </a:solidFill>
            <a:highlight>
              <a:srgbClr val="00FF00"/>
            </a:highlight>
          </a:endParaRPr>
        </a:p>
      </dgm:t>
    </dgm:pt>
    <dgm:pt modelId="{11B38268-35DB-4E58-9298-8E3CFDA16C98}" type="sibTrans" cxnId="{44FA1BCE-5E82-4851-B56F-30185C78000A}">
      <dgm:prSet/>
      <dgm:spPr/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C5D127FC-18A5-4BE4-8030-4634D66C3EDF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 dirty="0">
              <a:solidFill>
                <a:srgbClr val="660033"/>
              </a:solidFill>
            </a:rPr>
            <a:t>Education &amp; Awareness </a:t>
          </a:r>
          <a:r>
            <a:rPr lang="en-US" sz="1800" b="1" dirty="0">
              <a:solidFill>
                <a:schemeClr val="bg1"/>
              </a:solidFill>
            </a:rPr>
            <a:t>– </a:t>
          </a:r>
        </a:p>
        <a:p>
          <a:r>
            <a:rPr lang="en-US" sz="1800" dirty="0">
              <a:solidFill>
                <a:schemeClr val="bg1"/>
              </a:solidFill>
            </a:rPr>
            <a:t>To educate the public to use the Internet wisely and promote positive and safe usage of the Internet</a:t>
          </a:r>
          <a:r>
            <a:rPr lang="en-US" sz="1800" b="1" dirty="0">
              <a:solidFill>
                <a:schemeClr val="bg1"/>
              </a:solidFill>
            </a:rPr>
            <a:t>   </a:t>
          </a:r>
        </a:p>
      </dgm:t>
    </dgm:pt>
    <dgm:pt modelId="{FC7A38C0-B422-4FBE-AE33-0D0641686393}" type="sibTrans" cxnId="{A0880EE6-FA24-4B1C-BB41-B1403E2699D6}">
      <dgm:prSet/>
      <dgm:spPr/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A7393FFD-FF11-47C5-8207-C1D8A74BCA44}" type="parTrans" cxnId="{A0880EE6-FA24-4B1C-BB41-B1403E2699D6}">
      <dgm:prSet/>
      <dgm:spPr>
        <a:solidFill>
          <a:srgbClr val="647D33"/>
        </a:solidFill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C3DEAFE1-FC5F-4492-BC05-3CDF02FB0267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800" b="1" dirty="0">
              <a:solidFill>
                <a:srgbClr val="660033"/>
              </a:solidFill>
            </a:rPr>
            <a:t>Legal and Regulatory Frameworks </a:t>
          </a:r>
          <a:r>
            <a:rPr lang="en-US" sz="1800" b="1" dirty="0">
              <a:solidFill>
                <a:schemeClr val="bg1"/>
              </a:solidFill>
            </a:rPr>
            <a:t>–</a:t>
          </a:r>
        </a:p>
        <a:p>
          <a:r>
            <a:rPr lang="en-US" sz="1800" b="0" dirty="0">
              <a:solidFill>
                <a:schemeClr val="bg1"/>
              </a:solidFill>
            </a:rPr>
            <a:t>Regular review of the laws, regulations and facilities to ensure fair &amp; equitable protection</a:t>
          </a:r>
        </a:p>
      </dgm:t>
    </dgm:pt>
    <dgm:pt modelId="{C317945F-9E02-4AAC-A6AD-0B55ED41ED37}" type="parTrans" cxnId="{19FDED2F-3B63-428C-87A3-D190CA8D5228}">
      <dgm:prSet/>
      <dgm:spPr>
        <a:solidFill>
          <a:srgbClr val="647D33"/>
        </a:solidFill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E7842552-D6F1-471E-8F20-2465CA0E7A5E}" type="sibTrans" cxnId="{19FDED2F-3B63-428C-87A3-D190CA8D5228}">
      <dgm:prSet/>
      <dgm:spPr/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A2B5F17E-7804-42D6-B488-63AE5DE6E5E7}" type="pres">
      <dgm:prSet presAssocID="{F58E0A20-FE88-41DF-A42E-99A6B5FD85E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8D5180F-BD47-486A-8EFE-A437243F73E1}" type="pres">
      <dgm:prSet presAssocID="{3485B7A7-542D-42E2-BE01-7EF48747C26E}" presName="centerShape" presStyleLbl="node0" presStyleIdx="0" presStyleCnt="1" custScaleX="132518" custLinFactNeighborX="-1562" custLinFactNeighborY="-4105"/>
      <dgm:spPr/>
    </dgm:pt>
    <dgm:pt modelId="{FE17B045-6AF1-47E7-A832-8E0633098DBC}" type="pres">
      <dgm:prSet presAssocID="{A7393FFD-FF11-47C5-8207-C1D8A74BCA44}" presName="parTrans" presStyleLbl="bgSibTrans2D1" presStyleIdx="0" presStyleCnt="3"/>
      <dgm:spPr/>
    </dgm:pt>
    <dgm:pt modelId="{606AD75F-CDFD-40BB-81D9-FAF00BC5ED69}" type="pres">
      <dgm:prSet presAssocID="{C5D127FC-18A5-4BE4-8030-4634D66C3EDF}" presName="node" presStyleLbl="node1" presStyleIdx="0" presStyleCnt="3" custScaleX="101631" custScaleY="163045" custRadScaleRad="117596" custRadScaleInc="-10362">
        <dgm:presLayoutVars>
          <dgm:bulletEnabled val="1"/>
        </dgm:presLayoutVars>
      </dgm:prSet>
      <dgm:spPr/>
    </dgm:pt>
    <dgm:pt modelId="{A4FCBA3E-6404-433C-9BE5-1D0D9ACD9BB2}" type="pres">
      <dgm:prSet presAssocID="{BD5BA37E-F360-4100-B735-0A453C8BF8B3}" presName="parTrans" presStyleLbl="bgSibTrans2D1" presStyleIdx="1" presStyleCnt="3"/>
      <dgm:spPr/>
    </dgm:pt>
    <dgm:pt modelId="{C81D0077-20D0-4BBE-B8F3-F1A588A04865}" type="pres">
      <dgm:prSet presAssocID="{26E593E5-86C4-450A-A5BE-78B5BEC730B6}" presName="node" presStyleLbl="node1" presStyleIdx="1" presStyleCnt="3" custScaleY="107360">
        <dgm:presLayoutVars>
          <dgm:bulletEnabled val="1"/>
        </dgm:presLayoutVars>
      </dgm:prSet>
      <dgm:spPr/>
    </dgm:pt>
    <dgm:pt modelId="{F3364BC7-1FC0-42CC-8A00-A64A1DAB0DA1}" type="pres">
      <dgm:prSet presAssocID="{C317945F-9E02-4AAC-A6AD-0B55ED41ED37}" presName="parTrans" presStyleLbl="bgSibTrans2D1" presStyleIdx="2" presStyleCnt="3"/>
      <dgm:spPr/>
    </dgm:pt>
    <dgm:pt modelId="{1675571D-C0C4-4CEF-9EB3-300A3F9F62B9}" type="pres">
      <dgm:prSet presAssocID="{C3DEAFE1-FC5F-4492-BC05-3CDF02FB0267}" presName="node" presStyleLbl="node1" presStyleIdx="2" presStyleCnt="3" custScaleX="105359" custScaleY="188457" custRadScaleRad="113818" custRadScaleInc="17101">
        <dgm:presLayoutVars>
          <dgm:bulletEnabled val="1"/>
        </dgm:presLayoutVars>
      </dgm:prSet>
      <dgm:spPr/>
    </dgm:pt>
  </dgm:ptLst>
  <dgm:cxnLst>
    <dgm:cxn modelId="{F89A4F1B-64AD-4726-A8FB-11DF5E1ED088}" srcId="{F58E0A20-FE88-41DF-A42E-99A6B5FD85EA}" destId="{3485B7A7-542D-42E2-BE01-7EF48747C26E}" srcOrd="0" destOrd="0" parTransId="{BF68599E-17BD-43DF-8F9A-4695454FC847}" sibTransId="{375CE95B-789B-4D88-A036-23860CAD5310}"/>
    <dgm:cxn modelId="{D6500325-F6D9-4E42-806A-B52E1D80F66E}" type="presOf" srcId="{BD5BA37E-F360-4100-B735-0A453C8BF8B3}" destId="{A4FCBA3E-6404-433C-9BE5-1D0D9ACD9BB2}" srcOrd="0" destOrd="0" presId="urn:microsoft.com/office/officeart/2005/8/layout/radial4"/>
    <dgm:cxn modelId="{19FDED2F-3B63-428C-87A3-D190CA8D5228}" srcId="{3485B7A7-542D-42E2-BE01-7EF48747C26E}" destId="{C3DEAFE1-FC5F-4492-BC05-3CDF02FB0267}" srcOrd="2" destOrd="0" parTransId="{C317945F-9E02-4AAC-A6AD-0B55ED41ED37}" sibTransId="{E7842552-D6F1-471E-8F20-2465CA0E7A5E}"/>
    <dgm:cxn modelId="{4FF03C3F-280B-4A1E-99C2-87A45C619AA0}" type="presOf" srcId="{26E593E5-86C4-450A-A5BE-78B5BEC730B6}" destId="{C81D0077-20D0-4BBE-B8F3-F1A588A04865}" srcOrd="0" destOrd="0" presId="urn:microsoft.com/office/officeart/2005/8/layout/radial4"/>
    <dgm:cxn modelId="{5EF8854E-F801-4536-ADDD-43C5D746729A}" type="presOf" srcId="{C5D127FC-18A5-4BE4-8030-4634D66C3EDF}" destId="{606AD75F-CDFD-40BB-81D9-FAF00BC5ED69}" srcOrd="0" destOrd="0" presId="urn:microsoft.com/office/officeart/2005/8/layout/radial4"/>
    <dgm:cxn modelId="{02100191-A81C-4A06-87DE-F3E6E5B90E51}" type="presOf" srcId="{F58E0A20-FE88-41DF-A42E-99A6B5FD85EA}" destId="{A2B5F17E-7804-42D6-B488-63AE5DE6E5E7}" srcOrd="0" destOrd="0" presId="urn:microsoft.com/office/officeart/2005/8/layout/radial4"/>
    <dgm:cxn modelId="{A041B5AA-E93E-475F-A7C8-E8D2A8B4D272}" type="presOf" srcId="{A7393FFD-FF11-47C5-8207-C1D8A74BCA44}" destId="{FE17B045-6AF1-47E7-A832-8E0633098DBC}" srcOrd="0" destOrd="0" presId="urn:microsoft.com/office/officeart/2005/8/layout/radial4"/>
    <dgm:cxn modelId="{32C2F5B9-10B8-4553-9ABC-8744D2EF7A82}" type="presOf" srcId="{C317945F-9E02-4AAC-A6AD-0B55ED41ED37}" destId="{F3364BC7-1FC0-42CC-8A00-A64A1DAB0DA1}" srcOrd="0" destOrd="0" presId="urn:microsoft.com/office/officeart/2005/8/layout/radial4"/>
    <dgm:cxn modelId="{44FA1BCE-5E82-4851-B56F-30185C78000A}" srcId="{3485B7A7-542D-42E2-BE01-7EF48747C26E}" destId="{26E593E5-86C4-450A-A5BE-78B5BEC730B6}" srcOrd="1" destOrd="0" parTransId="{BD5BA37E-F360-4100-B735-0A453C8BF8B3}" sibTransId="{11B38268-35DB-4E58-9298-8E3CFDA16C98}"/>
    <dgm:cxn modelId="{5A1C76E5-AF51-4840-BA6B-7DCA4FD06AD2}" type="presOf" srcId="{3485B7A7-542D-42E2-BE01-7EF48747C26E}" destId="{18D5180F-BD47-486A-8EFE-A437243F73E1}" srcOrd="0" destOrd="0" presId="urn:microsoft.com/office/officeart/2005/8/layout/radial4"/>
    <dgm:cxn modelId="{A0880EE6-FA24-4B1C-BB41-B1403E2699D6}" srcId="{3485B7A7-542D-42E2-BE01-7EF48747C26E}" destId="{C5D127FC-18A5-4BE4-8030-4634D66C3EDF}" srcOrd="0" destOrd="0" parTransId="{A7393FFD-FF11-47C5-8207-C1D8A74BCA44}" sibTransId="{FC7A38C0-B422-4FBE-AE33-0D0641686393}"/>
    <dgm:cxn modelId="{7E8DA1F2-20F2-4B9D-88D7-4E3D7B2739CB}" type="presOf" srcId="{C3DEAFE1-FC5F-4492-BC05-3CDF02FB0267}" destId="{1675571D-C0C4-4CEF-9EB3-300A3F9F62B9}" srcOrd="0" destOrd="0" presId="urn:microsoft.com/office/officeart/2005/8/layout/radial4"/>
    <dgm:cxn modelId="{0D347F12-8671-4156-86BF-DC93A61DD186}" type="presParOf" srcId="{A2B5F17E-7804-42D6-B488-63AE5DE6E5E7}" destId="{18D5180F-BD47-486A-8EFE-A437243F73E1}" srcOrd="0" destOrd="0" presId="urn:microsoft.com/office/officeart/2005/8/layout/radial4"/>
    <dgm:cxn modelId="{6DC44B0B-7ACE-4D02-A38D-4089D0B72800}" type="presParOf" srcId="{A2B5F17E-7804-42D6-B488-63AE5DE6E5E7}" destId="{FE17B045-6AF1-47E7-A832-8E0633098DBC}" srcOrd="1" destOrd="0" presId="urn:microsoft.com/office/officeart/2005/8/layout/radial4"/>
    <dgm:cxn modelId="{34C1C178-FE4E-4C4A-9EDA-FA6EF224B8B9}" type="presParOf" srcId="{A2B5F17E-7804-42D6-B488-63AE5DE6E5E7}" destId="{606AD75F-CDFD-40BB-81D9-FAF00BC5ED69}" srcOrd="2" destOrd="0" presId="urn:microsoft.com/office/officeart/2005/8/layout/radial4"/>
    <dgm:cxn modelId="{44A3A9AC-128B-4670-8738-48F8D3065D35}" type="presParOf" srcId="{A2B5F17E-7804-42D6-B488-63AE5DE6E5E7}" destId="{A4FCBA3E-6404-433C-9BE5-1D0D9ACD9BB2}" srcOrd="3" destOrd="0" presId="urn:microsoft.com/office/officeart/2005/8/layout/radial4"/>
    <dgm:cxn modelId="{D8A8D3A3-B380-4E02-873B-338A0A77135E}" type="presParOf" srcId="{A2B5F17E-7804-42D6-B488-63AE5DE6E5E7}" destId="{C81D0077-20D0-4BBE-B8F3-F1A588A04865}" srcOrd="4" destOrd="0" presId="urn:microsoft.com/office/officeart/2005/8/layout/radial4"/>
    <dgm:cxn modelId="{F66B5009-B621-4780-9484-DAE985E454E0}" type="presParOf" srcId="{A2B5F17E-7804-42D6-B488-63AE5DE6E5E7}" destId="{F3364BC7-1FC0-42CC-8A00-A64A1DAB0DA1}" srcOrd="5" destOrd="0" presId="urn:microsoft.com/office/officeart/2005/8/layout/radial4"/>
    <dgm:cxn modelId="{683962D9-DF05-415E-BA18-A6337D769A2C}" type="presParOf" srcId="{A2B5F17E-7804-42D6-B488-63AE5DE6E5E7}" destId="{1675571D-C0C4-4CEF-9EB3-300A3F9F62B9}" srcOrd="6" destOrd="0" presId="urn:microsoft.com/office/officeart/2005/8/layout/radial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5180F-BD47-486A-8EFE-A437243F73E1}">
      <dsp:nvSpPr>
        <dsp:cNvPr id="0" name=""/>
        <dsp:cNvSpPr/>
      </dsp:nvSpPr>
      <dsp:spPr>
        <a:xfrm>
          <a:off x="2671610" y="2520218"/>
          <a:ext cx="3038739" cy="2293076"/>
        </a:xfrm>
        <a:prstGeom prst="ellipse">
          <a:avLst/>
        </a:prstGeom>
        <a:solidFill>
          <a:srgbClr val="647D3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</a:rPr>
            <a:t>Responsible net citizens</a:t>
          </a:r>
        </a:p>
      </dsp:txBody>
      <dsp:txXfrm>
        <a:off x="3116623" y="2856031"/>
        <a:ext cx="2148713" cy="1621450"/>
      </dsp:txXfrm>
    </dsp:sp>
    <dsp:sp modelId="{FE17B045-6AF1-47E7-A832-8E0633098DBC}">
      <dsp:nvSpPr>
        <dsp:cNvPr id="0" name=""/>
        <dsp:cNvSpPr/>
      </dsp:nvSpPr>
      <dsp:spPr>
        <a:xfrm rot="12350702">
          <a:off x="1092372" y="2278812"/>
          <a:ext cx="1815692" cy="653526"/>
        </a:xfrm>
        <a:prstGeom prst="leftArrow">
          <a:avLst>
            <a:gd name="adj1" fmla="val 60000"/>
            <a:gd name="adj2" fmla="val 50000"/>
          </a:avLst>
        </a:prstGeom>
        <a:solidFill>
          <a:srgbClr val="647D3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AD75F-CDFD-40BB-81D9-FAF00BC5ED69}">
      <dsp:nvSpPr>
        <dsp:cNvPr id="0" name=""/>
        <dsp:cNvSpPr/>
      </dsp:nvSpPr>
      <dsp:spPr>
        <a:xfrm>
          <a:off x="76202" y="789087"/>
          <a:ext cx="2213953" cy="2841447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660033"/>
              </a:solidFill>
            </a:rPr>
            <a:t>Education &amp; Awareness </a:t>
          </a:r>
          <a:r>
            <a:rPr lang="en-US" sz="1800" b="1" kern="1200" dirty="0">
              <a:solidFill>
                <a:schemeClr val="bg1"/>
              </a:solidFill>
            </a:rPr>
            <a:t>–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To educate the public to use the Internet wisely and promote positive and safe usage of the Internet</a:t>
          </a:r>
          <a:r>
            <a:rPr lang="en-US" sz="1800" b="1" kern="1200" dirty="0">
              <a:solidFill>
                <a:schemeClr val="bg1"/>
              </a:solidFill>
            </a:rPr>
            <a:t>   </a:t>
          </a:r>
        </a:p>
      </dsp:txBody>
      <dsp:txXfrm>
        <a:off x="141046" y="853931"/>
        <a:ext cx="2084265" cy="2711759"/>
      </dsp:txXfrm>
    </dsp:sp>
    <dsp:sp modelId="{A4FCBA3E-6404-433C-9BE5-1D0D9ACD9BB2}">
      <dsp:nvSpPr>
        <dsp:cNvPr id="0" name=""/>
        <dsp:cNvSpPr/>
      </dsp:nvSpPr>
      <dsp:spPr>
        <a:xfrm rot="16316956">
          <a:off x="3494875" y="1341250"/>
          <a:ext cx="1528259" cy="653526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D0077-20D0-4BBE-B8F3-F1A588A04865}">
      <dsp:nvSpPr>
        <dsp:cNvPr id="0" name=""/>
        <dsp:cNvSpPr/>
      </dsp:nvSpPr>
      <dsp:spPr>
        <a:xfrm>
          <a:off x="3195785" y="-31176"/>
          <a:ext cx="2178422" cy="1871003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660033"/>
              </a:solidFill>
            </a:rPr>
            <a:t>Cooperation </a:t>
          </a:r>
          <a:r>
            <a:rPr lang="en-US" sz="1800" b="1" kern="1200" dirty="0">
              <a:solidFill>
                <a:schemeClr val="bg1"/>
              </a:solidFill>
            </a:rPr>
            <a:t>–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</a:rPr>
            <a:t>To develop better relationship with all relevant bodies</a:t>
          </a:r>
        </a:p>
      </dsp:txBody>
      <dsp:txXfrm>
        <a:off x="3250585" y="23624"/>
        <a:ext cx="2068822" cy="1761403"/>
      </dsp:txXfrm>
    </dsp:sp>
    <dsp:sp modelId="{F3364BC7-1FC0-42CC-8A00-A64A1DAB0DA1}">
      <dsp:nvSpPr>
        <dsp:cNvPr id="0" name=""/>
        <dsp:cNvSpPr/>
      </dsp:nvSpPr>
      <dsp:spPr>
        <a:xfrm rot="20381208">
          <a:off x="5598632" y="2475576"/>
          <a:ext cx="1855036" cy="653526"/>
        </a:xfrm>
        <a:prstGeom prst="leftArrow">
          <a:avLst>
            <a:gd name="adj1" fmla="val 60000"/>
            <a:gd name="adj2" fmla="val 50000"/>
          </a:avLst>
        </a:prstGeom>
        <a:solidFill>
          <a:srgbClr val="647D3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5571D-C0C4-4CEF-9EB3-300A3F9F62B9}">
      <dsp:nvSpPr>
        <dsp:cNvPr id="0" name=""/>
        <dsp:cNvSpPr/>
      </dsp:nvSpPr>
      <dsp:spPr>
        <a:xfrm>
          <a:off x="6248402" y="838194"/>
          <a:ext cx="2295164" cy="328431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660033"/>
              </a:solidFill>
            </a:rPr>
            <a:t>Legal and Regulatory Frameworks </a:t>
          </a:r>
          <a:r>
            <a:rPr lang="en-US" sz="1800" b="1" kern="1200" dirty="0">
              <a:solidFill>
                <a:schemeClr val="bg1"/>
              </a:solidFill>
            </a:rPr>
            <a:t>–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</a:rPr>
            <a:t>Regular review of the laws, regulations and facilities to ensure fair &amp; equitable protection</a:t>
          </a:r>
        </a:p>
      </dsp:txBody>
      <dsp:txXfrm>
        <a:off x="6315625" y="905417"/>
        <a:ext cx="2160718" cy="3149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1AEBC-C885-4AF2-8479-285FAC05ACFC}" type="datetimeFigureOut">
              <a:rPr lang="en-MY" smtClean="0"/>
              <a:t>13/05/2025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CD9C0-4384-4138-879B-CC624AEDD2F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84435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39A80-6B34-4F2D-A32F-931628BF46EF}" type="datetimeFigureOut">
              <a:rPr lang="en-MY" smtClean="0"/>
              <a:t>13/05/2025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73C61-156C-49B8-988B-4BC2BC68CC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477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sz="8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Confidential personal identity data exposure</a:t>
            </a:r>
            <a:endParaRPr lang="en-MY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MY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 Card information</a:t>
            </a:r>
          </a:p>
          <a:p>
            <a:pPr lvl="1"/>
            <a:r>
              <a:rPr lang="en-MY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theft</a:t>
            </a:r>
          </a:p>
          <a:p>
            <a:r>
              <a:rPr lang="en-MY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2.Criminal activity/investigation</a:t>
            </a:r>
            <a:endParaRPr lang="en-MY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theft, fraud</a:t>
            </a: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Threatening communication</a:t>
            </a: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 pornography</a:t>
            </a:r>
          </a:p>
          <a:p>
            <a:r>
              <a:rPr lang="en-MY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Denial of Service</a:t>
            </a:r>
            <a:endParaRPr lang="en-MY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or distributed (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DDoS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Inbound or outbound</a:t>
            </a:r>
          </a:p>
          <a:p>
            <a:r>
              <a:rPr lang="en-MY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Digital Millennium Copyright Act (DMCA) violation</a:t>
            </a:r>
            <a:endParaRPr lang="en-MY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Illegal distribution of copyrighted or licensed material (movies, music, software, games)</a:t>
            </a:r>
          </a:p>
          <a:p>
            <a:r>
              <a:rPr lang="en-MY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Malicious code activity</a:t>
            </a:r>
            <a:endParaRPr lang="en-MY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Worm, virus, Trojan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73C61-156C-49B8-988B-4BC2BC68CC0B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1417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73C61-156C-49B8-988B-4BC2BC68CC0B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9676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73C61-156C-49B8-988B-4BC2BC68CC0B}" type="slidenum">
              <a:rPr lang="en-MY" smtClean="0"/>
              <a:t>26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5106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73C61-156C-49B8-988B-4BC2BC68CC0B}" type="slidenum">
              <a:rPr lang="en-MY" smtClean="0"/>
              <a:t>29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0165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73C61-156C-49B8-988B-4BC2BC68CC0B}" type="slidenum">
              <a:rPr lang="en-MY" smtClean="0"/>
              <a:t>47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4380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A9EBEA-740B-40A1-AEBC-CD523A6B4F44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83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/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615A827-145C-4524-91ED-467A292DF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B70E5-3F5D-4965-91F8-91AC603893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10400" y="152400"/>
            <a:ext cx="1981200" cy="6556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53988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0C657BB-9B8B-4F0D-AA75-A69629682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80817-4F3D-4EFA-9101-45B270CEA9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B9E03-2B0D-4E6C-89AE-13BAFDE0B9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F21B7-B8AC-4901-87CA-86612765BC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0813"/>
            <a:ext cx="8831263" cy="6556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3D003-707C-42C2-85FE-5840480C3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7" name="Rectangle 6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EE8F2D6-AFCD-423C-B668-63943148A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ectangle 5"/>
          <p:cNvSpPr/>
          <p:nvPr/>
        </p:nvSpPr>
        <p:spPr>
          <a:xfrm>
            <a:off x="7010400" y="150813"/>
            <a:ext cx="1981200" cy="65563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9D1C-895C-472F-9800-50EFFE5433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F0F20-CC0A-4613-A014-A5A86588B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47638"/>
            <a:ext cx="6705600" cy="6556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10400" y="147638"/>
            <a:ext cx="1955800" cy="6556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6A59BBA-E9F8-4079-B4A7-9B8A791DF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5125"/>
            <a:ext cx="8831263" cy="5045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2400"/>
            <a:ext cx="8813800" cy="1346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600"/>
            <a:ext cx="8382000" cy="1054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719263"/>
            <a:ext cx="8407400" cy="4406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475" y="6356350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363" y="6354763"/>
            <a:ext cx="582612" cy="274637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B8F41B-8311-481D-8CE2-E6F0B19768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46" r:id="rId2"/>
    <p:sldLayoutId id="2147483752" r:id="rId3"/>
    <p:sldLayoutId id="2147483747" r:id="rId4"/>
    <p:sldLayoutId id="2147483748" r:id="rId5"/>
    <p:sldLayoutId id="2147483749" r:id="rId6"/>
    <p:sldLayoutId id="2147483753" r:id="rId7"/>
    <p:sldLayoutId id="2147483754" r:id="rId8"/>
    <p:sldLayoutId id="2147483755" r:id="rId9"/>
    <p:sldLayoutId id="2147483750" r:id="rId10"/>
    <p:sldLayoutId id="214748375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 cap="all" spc="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Medium" pitchFamily="34" charset="0"/>
        </a:defRPr>
      </a:lvl9pPr>
    </p:titleStyle>
    <p:bodyStyle>
      <a:lvl1pPr marL="2730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"/>
        <a:defRPr sz="2000" kern="1200" spc="150">
          <a:solidFill>
            <a:schemeClr val="tx2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ern="1200" spc="1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Font typeface="Wingdings" pitchFamily="2" charset="2"/>
        <a:buChar char="§"/>
        <a:defRPr sz="1600" kern="1200" spc="100">
          <a:solidFill>
            <a:schemeClr val="tx2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ct val="20000"/>
        </a:spcBef>
        <a:spcAft>
          <a:spcPct val="0"/>
        </a:spcAft>
        <a:buClr>
          <a:srgbClr val="A5C249"/>
        </a:buClr>
        <a:buFont typeface="Wingdings" pitchFamily="2" charset="2"/>
        <a:buChar char="§"/>
        <a:defRPr sz="1300" kern="1200" spc="10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ns.org/top20/2000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676400"/>
            <a:ext cx="7315200" cy="1828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/>
              <a:t>Chap</a:t>
            </a:r>
            <a:r>
              <a:rPr lang="en-US" b="1">
                <a:solidFill>
                  <a:srgbClr val="FFFF00"/>
                </a:solidFill>
              </a:rPr>
              <a:t>ter 6:</a:t>
            </a:r>
            <a:br>
              <a:rPr lang="en-US" b="1" dirty="0"/>
            </a:br>
            <a:r>
              <a:rPr lang="en-US" b="1" dirty="0"/>
              <a:t> CYBER SECURITY </a:t>
            </a:r>
            <a:r>
              <a:rPr lang="en-US" b="1" dirty="0">
                <a:solidFill>
                  <a:srgbClr val="FFFF00"/>
                </a:solidFill>
              </a:rPr>
              <a:t>AND RISK ANALYSIS</a:t>
            </a:r>
          </a:p>
        </p:txBody>
      </p:sp>
      <p:sp>
        <p:nvSpPr>
          <p:cNvPr id="3" name="Subtitle 1"/>
          <p:cNvSpPr>
            <a:spLocks noGrp="1"/>
          </p:cNvSpPr>
          <p:nvPr>
            <p:ph type="subTitle" idx="1"/>
          </p:nvPr>
        </p:nvSpPr>
        <p:spPr>
          <a:xfrm>
            <a:off x="7010400" y="5562600"/>
            <a:ext cx="1981200" cy="1143000"/>
          </a:xfrm>
        </p:spPr>
        <p:txBody>
          <a:bodyPr>
            <a:normAutofit/>
          </a:bodyPr>
          <a:lstStyle/>
          <a:p>
            <a:pPr algn="r" fontAlgn="auto">
              <a:spcAft>
                <a:spcPts val="0"/>
              </a:spcAft>
              <a:defRPr/>
            </a:pPr>
            <a:r>
              <a:rPr lang="en-MY" sz="11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TS. DR. ROZI NOR HAIZAN </a:t>
            </a:r>
          </a:p>
          <a:p>
            <a:pPr algn="r" fontAlgn="auto">
              <a:spcAft>
                <a:spcPts val="0"/>
              </a:spcAft>
              <a:defRPr/>
            </a:pPr>
            <a:r>
              <a:rPr lang="en-MY" sz="11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BINTI NOR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To define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To differentiate between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aspect of 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To know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hacking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hacker ethic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To describe various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threats</a:t>
            </a:r>
            <a:r>
              <a:rPr lang="en-US" sz="2800" dirty="0"/>
              <a:t> to 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To describe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security 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  countermeasures 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FF00"/>
                </a:solidFill>
              </a:rPr>
              <a:t>OBJECTIVES</a:t>
            </a:r>
          </a:p>
        </p:txBody>
      </p:sp>
      <p:pic>
        <p:nvPicPr>
          <p:cNvPr id="9220" name="Picture 5" descr="http://ts2.mm.bing.net/th?id=HN.607991400120585961&amp;pid=15.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91000"/>
            <a:ext cx="21431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Introduction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Defining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Three distinct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aspects of 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Knowing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computer hackers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Threats</a:t>
            </a:r>
            <a:r>
              <a:rPr lang="en-US" sz="2800" dirty="0"/>
              <a:t> to 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Security countermeasures 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FF00"/>
                </a:solidFill>
              </a:rPr>
              <a:t>contents</a:t>
            </a:r>
          </a:p>
        </p:txBody>
      </p:sp>
      <p:pic>
        <p:nvPicPr>
          <p:cNvPr id="10244" name="Picture 5" descr="http://ts1.mm.bing.net/th?id=HN.608008902117754812&amp;pid=15.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3657600"/>
            <a:ext cx="3124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Computers getting faster and less expensive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Utility of computers increasing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Email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Web surfing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Shopping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Managing personal information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Increasing use of computers </a:t>
            </a:r>
            <a:r>
              <a:rPr lang="en-US" sz="2800" dirty="0">
                <a:sym typeface="Symbol" pitchFamily="18" charset="2"/>
              </a:rPr>
              <a:t> growing importance of computer security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>
                <a:sym typeface="Symbol" pitchFamily="18" charset="2"/>
              </a:rPr>
              <a:t> Computer security/IT security/ Cyber security is of utmost importance.</a:t>
            </a:r>
            <a:endParaRPr lang="en-US" sz="2800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solidFill>
                  <a:srgbClr val="FFFF00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5190245"/>
            <a:ext cx="7469187" cy="457200"/>
          </a:xfrm>
        </p:spPr>
        <p:txBody>
          <a:bodyPr/>
          <a:lstStyle/>
          <a:p>
            <a:pPr marL="274320" eaLnBrk="1" fontAlgn="auto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1" dirty="0">
                <a:latin typeface="Arial Unicode MS" pitchFamily="34" charset="-128"/>
              </a:rPr>
              <a:t>Source: CERT Web site at www.CERT.org/stats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endParaRPr lang="en-US" sz="2400" b="1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162925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>
                <a:solidFill>
                  <a:srgbClr val="FFFF00"/>
                </a:solidFill>
              </a:rPr>
              <a:t>IT Security Incidents</a:t>
            </a: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1219200" y="1905000"/>
            <a:ext cx="7162800" cy="3276600"/>
            <a:chOff x="-3" y="-3"/>
            <a:chExt cx="2705" cy="2424"/>
          </a:xfrm>
        </p:grpSpPr>
        <p:grpSp>
          <p:nvGrpSpPr>
            <p:cNvPr id="12293" name="Group 5"/>
            <p:cNvGrpSpPr>
              <a:grpSpLocks/>
            </p:cNvGrpSpPr>
            <p:nvPr/>
          </p:nvGrpSpPr>
          <p:grpSpPr bwMode="auto">
            <a:xfrm>
              <a:off x="0" y="0"/>
              <a:ext cx="2699" cy="2418"/>
              <a:chOff x="0" y="0"/>
              <a:chExt cx="2699" cy="2418"/>
            </a:xfrm>
          </p:grpSpPr>
          <p:grpSp>
            <p:nvGrpSpPr>
              <p:cNvPr id="12295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633" cy="403"/>
                <a:chOff x="0" y="0"/>
                <a:chExt cx="633" cy="403"/>
              </a:xfrm>
            </p:grpSpPr>
            <p:sp>
              <p:nvSpPr>
                <p:cNvPr id="12329" name="Rectangle 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pPr algn="ctr"/>
                  <a:r>
                    <a:rPr lang="en-US" sz="2800" b="1" dirty="0">
                      <a:solidFill>
                        <a:srgbClr val="000000"/>
                      </a:solidFill>
                      <a:latin typeface="Arial Unicode MS" pitchFamily="34" charset="-128"/>
                    </a:rPr>
                    <a:t>Year</a:t>
                  </a:r>
                </a:p>
                <a:p>
                  <a:pPr eaLnBrk="0" hangingPunct="0"/>
                  <a:endParaRPr lang="en-US" sz="4800" dirty="0">
                    <a:latin typeface="Arial Unicode MS" pitchFamily="34" charset="-128"/>
                  </a:endParaRPr>
                </a:p>
              </p:txBody>
            </p:sp>
            <p:sp>
              <p:nvSpPr>
                <p:cNvPr id="12330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>
                    <a:solidFill>
                      <a:schemeClr val="bg2">
                        <a:lumMod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12296" name="Group 9"/>
              <p:cNvGrpSpPr>
                <a:grpSpLocks/>
              </p:cNvGrpSpPr>
              <p:nvPr/>
            </p:nvGrpSpPr>
            <p:grpSpPr bwMode="auto">
              <a:xfrm>
                <a:off x="633" y="0"/>
                <a:ext cx="2066" cy="403"/>
                <a:chOff x="633" y="0"/>
                <a:chExt cx="2066" cy="403"/>
              </a:xfrm>
            </p:grpSpPr>
            <p:sp>
              <p:nvSpPr>
                <p:cNvPr id="12327" name="Rectangle 10"/>
                <p:cNvSpPr>
                  <a:spLocks noChangeArrowheads="1"/>
                </p:cNvSpPr>
                <p:nvPr/>
              </p:nvSpPr>
              <p:spPr bwMode="auto">
                <a:xfrm>
                  <a:off x="676" y="0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pPr algn="ctr"/>
                  <a:r>
                    <a:rPr lang="en-US" sz="2800" b="1" dirty="0">
                      <a:solidFill>
                        <a:srgbClr val="000000"/>
                      </a:solidFill>
                      <a:latin typeface="Arial Unicode MS" pitchFamily="34" charset="-128"/>
                    </a:rPr>
                    <a:t>Number of Incidents Reported</a:t>
                  </a:r>
                </a:p>
                <a:p>
                  <a:pPr eaLnBrk="0" hangingPunct="0"/>
                  <a:endParaRPr lang="en-US" sz="4800" dirty="0">
                    <a:latin typeface="Arial Unicode MS" pitchFamily="34" charset="-128"/>
                  </a:endParaRPr>
                </a:p>
              </p:txBody>
            </p:sp>
            <p:sp>
              <p:nvSpPr>
                <p:cNvPr id="12328" name="Rectangle 11"/>
                <p:cNvSpPr>
                  <a:spLocks noChangeArrowheads="1"/>
                </p:cNvSpPr>
                <p:nvPr/>
              </p:nvSpPr>
              <p:spPr bwMode="auto">
                <a:xfrm>
                  <a:off x="633" y="0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297" name="Group 12"/>
              <p:cNvGrpSpPr>
                <a:grpSpLocks/>
              </p:cNvGrpSpPr>
              <p:nvPr/>
            </p:nvGrpSpPr>
            <p:grpSpPr bwMode="auto">
              <a:xfrm>
                <a:off x="0" y="403"/>
                <a:ext cx="633" cy="403"/>
                <a:chOff x="0" y="403"/>
                <a:chExt cx="633" cy="403"/>
              </a:xfrm>
            </p:grpSpPr>
            <p:sp>
              <p:nvSpPr>
                <p:cNvPr id="12325" name="Rectangle 13"/>
                <p:cNvSpPr>
                  <a:spLocks noChangeArrowheads="1"/>
                </p:cNvSpPr>
                <p:nvPr/>
              </p:nvSpPr>
              <p:spPr bwMode="auto">
                <a:xfrm>
                  <a:off x="43" y="403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2001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26" name="Rectangle 14"/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298" name="Group 15"/>
              <p:cNvGrpSpPr>
                <a:grpSpLocks/>
              </p:cNvGrpSpPr>
              <p:nvPr/>
            </p:nvGrpSpPr>
            <p:grpSpPr bwMode="auto">
              <a:xfrm>
                <a:off x="633" y="403"/>
                <a:ext cx="2066" cy="403"/>
                <a:chOff x="633" y="403"/>
                <a:chExt cx="2066" cy="403"/>
              </a:xfrm>
            </p:grpSpPr>
            <p:sp>
              <p:nvSpPr>
                <p:cNvPr id="12323" name="Rectangle 16"/>
                <p:cNvSpPr>
                  <a:spLocks noChangeArrowheads="1"/>
                </p:cNvSpPr>
                <p:nvPr/>
              </p:nvSpPr>
              <p:spPr bwMode="auto">
                <a:xfrm>
                  <a:off x="676" y="403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52,658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24" name="Rectangle 17"/>
                <p:cNvSpPr>
                  <a:spLocks noChangeArrowheads="1"/>
                </p:cNvSpPr>
                <p:nvPr/>
              </p:nvSpPr>
              <p:spPr bwMode="auto">
                <a:xfrm>
                  <a:off x="633" y="403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299" name="Group 18"/>
              <p:cNvGrpSpPr>
                <a:grpSpLocks/>
              </p:cNvGrpSpPr>
              <p:nvPr/>
            </p:nvGrpSpPr>
            <p:grpSpPr bwMode="auto">
              <a:xfrm>
                <a:off x="0" y="806"/>
                <a:ext cx="633" cy="403"/>
                <a:chOff x="0" y="806"/>
                <a:chExt cx="633" cy="403"/>
              </a:xfrm>
            </p:grpSpPr>
            <p:sp>
              <p:nvSpPr>
                <p:cNvPr id="12321" name="Rectangle 19"/>
                <p:cNvSpPr>
                  <a:spLocks noChangeArrowheads="1"/>
                </p:cNvSpPr>
                <p:nvPr/>
              </p:nvSpPr>
              <p:spPr bwMode="auto">
                <a:xfrm>
                  <a:off x="43" y="806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2000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22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0" name="Group 21"/>
              <p:cNvGrpSpPr>
                <a:grpSpLocks/>
              </p:cNvGrpSpPr>
              <p:nvPr/>
            </p:nvGrpSpPr>
            <p:grpSpPr bwMode="auto">
              <a:xfrm>
                <a:off x="633" y="806"/>
                <a:ext cx="2066" cy="403"/>
                <a:chOff x="633" y="806"/>
                <a:chExt cx="2066" cy="403"/>
              </a:xfrm>
            </p:grpSpPr>
            <p:sp>
              <p:nvSpPr>
                <p:cNvPr id="12319" name="Rectangle 22"/>
                <p:cNvSpPr>
                  <a:spLocks noChangeArrowheads="1"/>
                </p:cNvSpPr>
                <p:nvPr/>
              </p:nvSpPr>
              <p:spPr bwMode="auto">
                <a:xfrm>
                  <a:off x="676" y="806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21,756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20" name="Rectangle 23"/>
                <p:cNvSpPr>
                  <a:spLocks noChangeArrowheads="1"/>
                </p:cNvSpPr>
                <p:nvPr/>
              </p:nvSpPr>
              <p:spPr bwMode="auto">
                <a:xfrm>
                  <a:off x="633" y="806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1" name="Group 24"/>
              <p:cNvGrpSpPr>
                <a:grpSpLocks/>
              </p:cNvGrpSpPr>
              <p:nvPr/>
            </p:nvGrpSpPr>
            <p:grpSpPr bwMode="auto">
              <a:xfrm>
                <a:off x="0" y="1209"/>
                <a:ext cx="633" cy="403"/>
                <a:chOff x="0" y="1209"/>
                <a:chExt cx="633" cy="403"/>
              </a:xfrm>
            </p:grpSpPr>
            <p:sp>
              <p:nvSpPr>
                <p:cNvPr id="12317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1209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1999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18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2" name="Group 27"/>
              <p:cNvGrpSpPr>
                <a:grpSpLocks/>
              </p:cNvGrpSpPr>
              <p:nvPr/>
            </p:nvGrpSpPr>
            <p:grpSpPr bwMode="auto">
              <a:xfrm>
                <a:off x="633" y="1209"/>
                <a:ext cx="2066" cy="403"/>
                <a:chOff x="633" y="1209"/>
                <a:chExt cx="2066" cy="403"/>
              </a:xfrm>
            </p:grpSpPr>
            <p:sp>
              <p:nvSpPr>
                <p:cNvPr id="12315" name="Rectangle 28"/>
                <p:cNvSpPr>
                  <a:spLocks noChangeArrowheads="1"/>
                </p:cNvSpPr>
                <p:nvPr/>
              </p:nvSpPr>
              <p:spPr bwMode="auto">
                <a:xfrm>
                  <a:off x="676" y="1209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9,859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16" name="Rectangle 29"/>
                <p:cNvSpPr>
                  <a:spLocks noChangeArrowheads="1"/>
                </p:cNvSpPr>
                <p:nvPr/>
              </p:nvSpPr>
              <p:spPr bwMode="auto">
                <a:xfrm>
                  <a:off x="633" y="1209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3" name="Group 30"/>
              <p:cNvGrpSpPr>
                <a:grpSpLocks/>
              </p:cNvGrpSpPr>
              <p:nvPr/>
            </p:nvGrpSpPr>
            <p:grpSpPr bwMode="auto">
              <a:xfrm>
                <a:off x="0" y="1612"/>
                <a:ext cx="633" cy="403"/>
                <a:chOff x="0" y="1612"/>
                <a:chExt cx="633" cy="403"/>
              </a:xfrm>
            </p:grpSpPr>
            <p:sp>
              <p:nvSpPr>
                <p:cNvPr id="12313" name="Rectangle 31"/>
                <p:cNvSpPr>
                  <a:spLocks noChangeArrowheads="1"/>
                </p:cNvSpPr>
                <p:nvPr/>
              </p:nvSpPr>
              <p:spPr bwMode="auto">
                <a:xfrm>
                  <a:off x="43" y="1612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1998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14" name="Rectangle 32"/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4" name="Group 33"/>
              <p:cNvGrpSpPr>
                <a:grpSpLocks/>
              </p:cNvGrpSpPr>
              <p:nvPr/>
            </p:nvGrpSpPr>
            <p:grpSpPr bwMode="auto">
              <a:xfrm>
                <a:off x="633" y="1612"/>
                <a:ext cx="2066" cy="403"/>
                <a:chOff x="633" y="1612"/>
                <a:chExt cx="2066" cy="403"/>
              </a:xfrm>
            </p:grpSpPr>
            <p:sp>
              <p:nvSpPr>
                <p:cNvPr id="12311" name="Rectangle 34"/>
                <p:cNvSpPr>
                  <a:spLocks noChangeArrowheads="1"/>
                </p:cNvSpPr>
                <p:nvPr/>
              </p:nvSpPr>
              <p:spPr bwMode="auto">
                <a:xfrm>
                  <a:off x="676" y="1612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3,734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12" name="Rectangle 35"/>
                <p:cNvSpPr>
                  <a:spLocks noChangeArrowheads="1"/>
                </p:cNvSpPr>
                <p:nvPr/>
              </p:nvSpPr>
              <p:spPr bwMode="auto">
                <a:xfrm>
                  <a:off x="633" y="1612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5" name="Group 36"/>
              <p:cNvGrpSpPr>
                <a:grpSpLocks/>
              </p:cNvGrpSpPr>
              <p:nvPr/>
            </p:nvGrpSpPr>
            <p:grpSpPr bwMode="auto">
              <a:xfrm>
                <a:off x="0" y="2015"/>
                <a:ext cx="633" cy="403"/>
                <a:chOff x="0" y="2015"/>
                <a:chExt cx="633" cy="403"/>
              </a:xfrm>
            </p:grpSpPr>
            <p:sp>
              <p:nvSpPr>
                <p:cNvPr id="12309" name="Rectangle 37"/>
                <p:cNvSpPr>
                  <a:spLocks noChangeArrowheads="1"/>
                </p:cNvSpPr>
                <p:nvPr/>
              </p:nvSpPr>
              <p:spPr bwMode="auto">
                <a:xfrm>
                  <a:off x="43" y="2015"/>
                  <a:ext cx="547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 dirty="0">
                      <a:solidFill>
                        <a:srgbClr val="000000"/>
                      </a:solidFill>
                      <a:latin typeface="Arial Unicode MS" pitchFamily="34" charset="-128"/>
                    </a:rPr>
                    <a:t>1997</a:t>
                  </a:r>
                  <a:endParaRPr lang="en-US" sz="2800" b="1" dirty="0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1800" dirty="0">
                    <a:latin typeface="Arial Unicode MS" pitchFamily="34" charset="-128"/>
                  </a:endParaRPr>
                </a:p>
              </p:txBody>
            </p:sp>
            <p:sp>
              <p:nvSpPr>
                <p:cNvPr id="12310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2015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  <p:grpSp>
            <p:nvGrpSpPr>
              <p:cNvPr id="12306" name="Group 39"/>
              <p:cNvGrpSpPr>
                <a:grpSpLocks/>
              </p:cNvGrpSpPr>
              <p:nvPr/>
            </p:nvGrpSpPr>
            <p:grpSpPr bwMode="auto">
              <a:xfrm>
                <a:off x="633" y="2015"/>
                <a:ext cx="2066" cy="403"/>
                <a:chOff x="633" y="2015"/>
                <a:chExt cx="2066" cy="403"/>
              </a:xfrm>
            </p:grpSpPr>
            <p:sp>
              <p:nvSpPr>
                <p:cNvPr id="12307" name="Rectangle 40"/>
                <p:cNvSpPr>
                  <a:spLocks noChangeArrowheads="1"/>
                </p:cNvSpPr>
                <p:nvPr/>
              </p:nvSpPr>
              <p:spPr bwMode="auto">
                <a:xfrm>
                  <a:off x="676" y="2015"/>
                  <a:ext cx="1980" cy="4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rIns="0"/>
                <a:lstStyle/>
                <a:p>
                  <a:r>
                    <a:rPr lang="en-US" sz="2800">
                      <a:solidFill>
                        <a:srgbClr val="000000"/>
                      </a:solidFill>
                      <a:latin typeface="Arial Unicode MS" pitchFamily="34" charset="-128"/>
                    </a:rPr>
                    <a:t>2,134</a:t>
                  </a:r>
                  <a:endParaRPr lang="en-US" sz="2800" b="1">
                    <a:solidFill>
                      <a:srgbClr val="000000"/>
                    </a:solidFill>
                    <a:latin typeface="Arial Unicode MS" pitchFamily="34" charset="-128"/>
                  </a:endParaRPr>
                </a:p>
                <a:p>
                  <a:pPr eaLnBrk="0" hangingPunct="0"/>
                  <a:endParaRPr lang="en-US" sz="4800">
                    <a:latin typeface="Arial Unicode MS" pitchFamily="34" charset="-128"/>
                  </a:endParaRPr>
                </a:p>
              </p:txBody>
            </p:sp>
            <p:sp>
              <p:nvSpPr>
                <p:cNvPr id="12308" name="Rectangle 41"/>
                <p:cNvSpPr>
                  <a:spLocks noChangeArrowheads="1"/>
                </p:cNvSpPr>
                <p:nvPr/>
              </p:nvSpPr>
              <p:spPr bwMode="auto">
                <a:xfrm>
                  <a:off x="633" y="2015"/>
                  <a:ext cx="206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800"/>
                </a:p>
              </p:txBody>
            </p:sp>
          </p:grpSp>
        </p:grpSp>
        <p:sp>
          <p:nvSpPr>
            <p:cNvPr id="12294" name="Rectangle 42"/>
            <p:cNvSpPr>
              <a:spLocks noChangeArrowheads="1"/>
            </p:cNvSpPr>
            <p:nvPr/>
          </p:nvSpPr>
          <p:spPr bwMode="auto">
            <a:xfrm>
              <a:off x="-3" y="-3"/>
              <a:ext cx="2705" cy="2424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 sz="28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BE38D8-597B-BD49-872B-D418F3ECF010}"/>
              </a:ext>
            </a:extLst>
          </p:cNvPr>
          <p:cNvSpPr txBox="1"/>
          <p:nvPr/>
        </p:nvSpPr>
        <p:spPr>
          <a:xfrm>
            <a:off x="1600200" y="5867400"/>
            <a:ext cx="6441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60033"/>
                </a:solidFill>
              </a:rPr>
              <a:t>Why computer incidents are so prevalent??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3200" dirty="0">
                <a:cs typeface="Times New Roman" pitchFamily="18" charset="0"/>
              </a:rPr>
              <a:t>As applied to </a:t>
            </a:r>
            <a:r>
              <a:rPr lang="en-US" sz="3200" b="1" dirty="0">
                <a:solidFill>
                  <a:srgbClr val="660033"/>
                </a:solidFill>
                <a:cs typeface="Times New Roman" pitchFamily="18" charset="0"/>
              </a:rPr>
              <a:t>cyber technology</a:t>
            </a:r>
            <a:r>
              <a:rPr lang="en-US" sz="3200" dirty="0">
                <a:cs typeface="Times New Roman" pitchFamily="18" charset="0"/>
              </a:rPr>
              <a:t>, </a:t>
            </a:r>
            <a:r>
              <a:rPr lang="en-US" sz="3200" i="1" dirty="0">
                <a:cs typeface="Times New Roman" pitchFamily="18" charset="0"/>
              </a:rPr>
              <a:t>security</a:t>
            </a:r>
            <a:r>
              <a:rPr lang="en-US" sz="3200" dirty="0">
                <a:cs typeface="Times New Roman" pitchFamily="18" charset="0"/>
              </a:rPr>
              <a:t> can be thought of in terms of various measures designed to protect against: </a:t>
            </a:r>
            <a:endParaRPr lang="en-US" sz="3200" dirty="0"/>
          </a:p>
          <a:p>
            <a:pPr marL="617220" indent="-571500" eaLnBrk="1" fontAlgn="auto" hangingPunct="1">
              <a:spcAft>
                <a:spcPts val="0"/>
              </a:spcAft>
              <a:buFont typeface="+mj-lt"/>
              <a:buAutoNum type="romanLcPeriod"/>
              <a:defRPr/>
            </a:pPr>
            <a:r>
              <a:rPr lang="en-US" sz="2800" dirty="0"/>
              <a:t>unauthorized access to computer </a:t>
            </a:r>
            <a:r>
              <a:rPr lang="en-US" sz="2800" b="1" dirty="0">
                <a:solidFill>
                  <a:srgbClr val="660033"/>
                </a:solidFill>
              </a:rPr>
              <a:t>system</a:t>
            </a:r>
          </a:p>
          <a:p>
            <a:pPr marL="617220" indent="-571500" eaLnBrk="1" fontAlgn="auto" hangingPunct="1">
              <a:spcAft>
                <a:spcPts val="0"/>
              </a:spcAft>
              <a:buFont typeface="+mj-lt"/>
              <a:buAutoNum type="romanLcPeriod"/>
              <a:defRPr/>
            </a:pPr>
            <a:r>
              <a:rPr lang="en-US" sz="2800" dirty="0"/>
              <a:t>alteration of </a:t>
            </a:r>
            <a:r>
              <a:rPr lang="en-US" sz="2800" b="1" dirty="0">
                <a:solidFill>
                  <a:srgbClr val="660033"/>
                </a:solidFill>
              </a:rPr>
              <a:t>data</a:t>
            </a:r>
            <a:r>
              <a:rPr lang="en-US" sz="2800" b="1" dirty="0"/>
              <a:t> </a:t>
            </a:r>
            <a:r>
              <a:rPr lang="en-US" sz="2800" dirty="0"/>
              <a:t>that resides in and transmitted between computer system </a:t>
            </a:r>
          </a:p>
          <a:p>
            <a:pPr marL="617220" indent="-571500" eaLnBrk="1" fontAlgn="auto" hangingPunct="1">
              <a:spcAft>
                <a:spcPts val="0"/>
              </a:spcAft>
              <a:buFont typeface="+mj-lt"/>
              <a:buAutoNum type="romanLcPeriod"/>
              <a:defRPr/>
            </a:pPr>
            <a:r>
              <a:rPr lang="en-US" sz="2800" dirty="0"/>
              <a:t>disruption, vandalism, and sabotage of computer systems and </a:t>
            </a:r>
            <a:r>
              <a:rPr lang="en-US" sz="2800" b="1" dirty="0">
                <a:solidFill>
                  <a:srgbClr val="660033"/>
                </a:solidFill>
              </a:rPr>
              <a:t>networks</a:t>
            </a:r>
            <a:r>
              <a:rPr lang="en-US" sz="2800" b="1" dirty="0"/>
              <a:t>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Defining Computer Security 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3200" b="1" dirty="0" err="1"/>
              <a:t>Garfinkel</a:t>
            </a:r>
            <a:r>
              <a:rPr lang="en-US" sz="3200" b="1" dirty="0"/>
              <a:t> and </a:t>
            </a:r>
            <a:r>
              <a:rPr lang="en-US" sz="3200" b="1" dirty="0" err="1"/>
              <a:t>Spafford</a:t>
            </a:r>
            <a:r>
              <a:rPr lang="en-US" sz="3200" b="1" dirty="0"/>
              <a:t> (1996)</a:t>
            </a:r>
          </a:p>
          <a:p>
            <a:pPr marL="45720" indent="0" eaLnBrk="1" fontAlgn="auto" hangingPunct="1">
              <a:spcAft>
                <a:spcPts val="0"/>
              </a:spcAft>
              <a:buNone/>
              <a:defRPr/>
            </a:pPr>
            <a:r>
              <a:rPr lang="en-US" sz="2800" dirty="0"/>
              <a:t>A computer is secure when two conditions are satisfied: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/>
              <a:t>   1) you can </a:t>
            </a:r>
            <a:r>
              <a:rPr lang="en-US" sz="2800" dirty="0">
                <a:solidFill>
                  <a:srgbClr val="660033"/>
                </a:solidFill>
              </a:rPr>
              <a:t>depend</a:t>
            </a:r>
            <a:r>
              <a:rPr lang="en-US" sz="2800" dirty="0"/>
              <a:t> on it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/>
              <a:t>   2) its software </a:t>
            </a:r>
            <a:r>
              <a:rPr lang="en-US" sz="2800" dirty="0">
                <a:solidFill>
                  <a:srgbClr val="660033"/>
                </a:solidFill>
              </a:rPr>
              <a:t>behaves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/>
              <a:t>       as you expect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Defining Computer Security (2)</a:t>
            </a:r>
          </a:p>
        </p:txBody>
      </p:sp>
      <p:pic>
        <p:nvPicPr>
          <p:cNvPr id="14340" name="Picture 7" descr="http://ts4.mm.bing.net/th?id=HN.607991009281378191&amp;pid=15.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276600"/>
            <a:ext cx="342900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305800" cy="4406900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 err="1"/>
              <a:t>Kizza</a:t>
            </a:r>
            <a:r>
              <a:rPr lang="en-US" sz="3200" b="1" dirty="0"/>
              <a:t> (1998)</a:t>
            </a:r>
          </a:p>
          <a:p>
            <a:pPr marL="4572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800" dirty="0"/>
              <a:t>Defines in terms of three elements: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660033"/>
                </a:solidFill>
              </a:rPr>
              <a:t>Confidentiality</a:t>
            </a:r>
            <a:r>
              <a:rPr lang="en-US" sz="2800" dirty="0"/>
              <a:t>: protect against unauthorized disclosure of information to third parties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660033"/>
                </a:solidFill>
              </a:rPr>
              <a:t>Availability</a:t>
            </a:r>
            <a:r>
              <a:rPr lang="en-US" sz="2800" dirty="0"/>
              <a:t> : prevents unauthorized withholding of information from those who need it when they need it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dirty="0">
                <a:solidFill>
                  <a:srgbClr val="660033"/>
                </a:solidFill>
              </a:rPr>
              <a:t>Integrity</a:t>
            </a:r>
            <a:r>
              <a:rPr lang="en-US" sz="2800" dirty="0"/>
              <a:t>: prevents unauthorized modification of files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Defining Computer Security (3)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3200" b="1" dirty="0" err="1"/>
              <a:t>Spafford</a:t>
            </a:r>
            <a:r>
              <a:rPr lang="en-US" sz="3200" b="1" dirty="0"/>
              <a:t> et. al (1989)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36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b="1" dirty="0">
                <a:solidFill>
                  <a:srgbClr val="660033"/>
                </a:solidFill>
              </a:rPr>
              <a:t>Consistency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200" b="1" dirty="0">
              <a:solidFill>
                <a:srgbClr val="660033"/>
              </a:solidFill>
            </a:endParaRP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b="1" dirty="0">
                <a:solidFill>
                  <a:srgbClr val="660033"/>
                </a:solidFill>
              </a:rPr>
              <a:t>Controlling access to resources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Defining Computer Security (4)</a:t>
            </a:r>
          </a:p>
        </p:txBody>
      </p:sp>
      <p:pic>
        <p:nvPicPr>
          <p:cNvPr id="16388" name="Picture 5" descr="http://4.bp.blogspot.com/-IPz_h8lR9Vs/UE9wXNo427I/AAAAAAAABVE/PMspet0YoRQ/s320/consistenc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362200"/>
            <a:ext cx="30480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7" descr="It takes practice and consistency to get up and repeat something we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362200"/>
            <a:ext cx="2286000" cy="259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rgbClr val="FFFF00"/>
                </a:solidFill>
              </a:rPr>
              <a:t>Three Aspects of Cyber security: </a:t>
            </a:r>
            <a:br>
              <a:rPr lang="en-US" altLang="en-US" sz="2800" b="1" dirty="0">
                <a:solidFill>
                  <a:srgbClr val="FFFF00"/>
                </a:solidFill>
              </a:rPr>
            </a:br>
            <a:r>
              <a:rPr lang="en-US" altLang="en-US" sz="2800" b="1" dirty="0">
                <a:solidFill>
                  <a:srgbClr val="FFC000"/>
                </a:solidFill>
              </a:rPr>
              <a:t>Data</a:t>
            </a:r>
            <a:r>
              <a:rPr lang="en-US" altLang="en-US" sz="2800" b="1" dirty="0">
                <a:solidFill>
                  <a:srgbClr val="FFFF00"/>
                </a:solidFill>
              </a:rPr>
              <a:t>, </a:t>
            </a:r>
            <a:r>
              <a:rPr lang="en-US" altLang="en-US" sz="2800" b="1" dirty="0">
                <a:solidFill>
                  <a:srgbClr val="FFC000"/>
                </a:solidFill>
              </a:rPr>
              <a:t>System</a:t>
            </a:r>
            <a:r>
              <a:rPr lang="en-US" altLang="en-US" sz="2800" b="1" dirty="0">
                <a:solidFill>
                  <a:srgbClr val="FFFF00"/>
                </a:solidFill>
              </a:rPr>
              <a:t>, and </a:t>
            </a:r>
            <a:r>
              <a:rPr lang="en-US" altLang="en-US" sz="2800" b="1" dirty="0">
                <a:solidFill>
                  <a:srgbClr val="FFC000"/>
                </a:solidFill>
              </a:rPr>
              <a:t>Network Security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754563"/>
          </a:xfrm>
        </p:spPr>
        <p:txBody>
          <a:bodyPr>
            <a:noAutofit/>
          </a:bodyPr>
          <a:lstStyle/>
          <a:p>
            <a:pPr marL="812800" indent="-812800">
              <a:lnSpc>
                <a:spcPct val="80000"/>
              </a:lnSpc>
            </a:pPr>
            <a:r>
              <a:rPr lang="en-US" altLang="en-US" sz="2800" dirty="0"/>
              <a:t>Security issues involving cyber technology span concerns having to do with three distinct kinds of vulnerabilities, which include:  </a:t>
            </a:r>
          </a:p>
          <a:p>
            <a:pPr marL="1068832" lvl="1" indent="-8128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rgbClr val="660033"/>
                </a:solidFill>
              </a:rPr>
              <a:t>unauthorized access to</a:t>
            </a:r>
            <a:r>
              <a:rPr lang="en-US" altLang="en-US" sz="2400" i="1" dirty="0">
                <a:solidFill>
                  <a:srgbClr val="660033"/>
                </a:solidFill>
              </a:rPr>
              <a:t> data</a:t>
            </a:r>
            <a:r>
              <a:rPr lang="en-US" altLang="en-US" sz="2400" dirty="0"/>
              <a:t>, which either is resident in or exchanged between computer systems (i.e., </a:t>
            </a:r>
            <a:r>
              <a:rPr lang="en-US" altLang="en-US" sz="2400" i="1" dirty="0"/>
              <a:t>data security</a:t>
            </a:r>
            <a:r>
              <a:rPr lang="en-US" altLang="en-US" sz="2400" dirty="0"/>
              <a:t>); </a:t>
            </a:r>
          </a:p>
          <a:p>
            <a:pPr marL="1068832" lvl="1" indent="-8128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rgbClr val="660033"/>
                </a:solidFill>
              </a:rPr>
              <a:t>attacks on</a:t>
            </a:r>
            <a:r>
              <a:rPr lang="en-US" altLang="en-US" sz="2400" i="1" dirty="0">
                <a:solidFill>
                  <a:srgbClr val="660033"/>
                </a:solidFill>
              </a:rPr>
              <a:t> system resources</a:t>
            </a:r>
            <a:r>
              <a:rPr lang="en-US" altLang="en-US" sz="2400" dirty="0">
                <a:solidFill>
                  <a:srgbClr val="660033"/>
                </a:solidFill>
              </a:rPr>
              <a:t> </a:t>
            </a:r>
            <a:r>
              <a:rPr lang="en-US" altLang="en-US" sz="2400" dirty="0"/>
              <a:t>(such as computer hardware, operating system software, and application software) by malicious computer programs (i.e., </a:t>
            </a:r>
            <a:r>
              <a:rPr lang="en-US" altLang="en-US" sz="2400" i="1" dirty="0"/>
              <a:t>system security</a:t>
            </a:r>
            <a:r>
              <a:rPr lang="en-US" altLang="en-US" sz="2400" dirty="0"/>
              <a:t>);</a:t>
            </a:r>
          </a:p>
          <a:p>
            <a:pPr marL="1068832" lvl="1" indent="-8128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rgbClr val="660033"/>
                </a:solidFill>
              </a:rPr>
              <a:t>attacks on </a:t>
            </a:r>
            <a:r>
              <a:rPr lang="en-US" altLang="en-US" sz="2400" i="1" dirty="0">
                <a:solidFill>
                  <a:srgbClr val="660033"/>
                </a:solidFill>
              </a:rPr>
              <a:t>computer networks</a:t>
            </a:r>
            <a:r>
              <a:rPr lang="en-US" altLang="en-US" sz="2400" dirty="0"/>
              <a:t>, including the infrastructure of privately owned networks and the Internet itself (i.e., </a:t>
            </a:r>
            <a:r>
              <a:rPr lang="en-US" altLang="en-US" sz="2400" i="1" dirty="0"/>
              <a:t>network security</a:t>
            </a:r>
            <a:r>
              <a:rPr lang="en-US" altLang="en-US" sz="24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71527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7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solidFill>
                  <a:srgbClr val="FFFF00"/>
                </a:solidFill>
                <a:effectLst/>
                <a:cs typeface="Times New Roman" pitchFamily="18" charset="0"/>
              </a:rPr>
              <a:t>Data Security: </a:t>
            </a:r>
            <a:br>
              <a:rPr lang="en-US" altLang="en-US" sz="2400" b="1" dirty="0">
                <a:solidFill>
                  <a:srgbClr val="FFFF00"/>
                </a:solidFill>
                <a:effectLst/>
                <a:cs typeface="Times New Roman" pitchFamily="18" charset="0"/>
              </a:rPr>
            </a:br>
            <a:r>
              <a:rPr lang="en-US" altLang="en-US" sz="2400" b="1" dirty="0">
                <a:solidFill>
                  <a:srgbClr val="FFFF00"/>
                </a:solidFill>
                <a:effectLst/>
                <a:cs typeface="Times New Roman" pitchFamily="18" charset="0"/>
              </a:rPr>
              <a:t>Confidentiality, Integrity, and </a:t>
            </a:r>
            <a:br>
              <a:rPr lang="en-US" altLang="en-US" sz="2400" b="1" dirty="0">
                <a:solidFill>
                  <a:srgbClr val="FFFF00"/>
                </a:solidFill>
                <a:effectLst/>
                <a:cs typeface="Times New Roman" pitchFamily="18" charset="0"/>
              </a:rPr>
            </a:br>
            <a:r>
              <a:rPr lang="en-US" altLang="en-US" sz="2400" b="1" dirty="0">
                <a:solidFill>
                  <a:srgbClr val="FFFF00"/>
                </a:solidFill>
                <a:effectLst/>
                <a:cs typeface="Times New Roman" pitchFamily="18" charset="0"/>
              </a:rPr>
              <a:t>Availability of Information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900" y="18288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en-US" sz="2400" i="1" dirty="0"/>
              <a:t>Data security</a:t>
            </a:r>
            <a:r>
              <a:rPr lang="en-US" altLang="en-US" sz="2400" dirty="0"/>
              <a:t> is concerned with vulnerabilities pertaining to unauthorized access to data that can either: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en-US" sz="2400" b="1" dirty="0">
                <a:solidFill>
                  <a:srgbClr val="660033"/>
                </a:solidFill>
              </a:rPr>
              <a:t>reside in </a:t>
            </a:r>
            <a:r>
              <a:rPr lang="en-US" altLang="en-US" sz="2400" dirty="0"/>
              <a:t>one or more computer storage devices, or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en-US" sz="2400" b="1" dirty="0">
                <a:solidFill>
                  <a:srgbClr val="660033"/>
                </a:solidFill>
              </a:rPr>
              <a:t>be exchanged </a:t>
            </a:r>
            <a:r>
              <a:rPr lang="en-US" altLang="en-US" sz="2400" dirty="0"/>
              <a:t>between two or more computer systems (transmitted data), or both. </a:t>
            </a:r>
          </a:p>
          <a:p>
            <a:r>
              <a:rPr lang="en-US" altLang="en-US" sz="2400" dirty="0"/>
              <a:t>Data-security issues affect the confidentiality, integrity, and availability of information. </a:t>
            </a:r>
          </a:p>
        </p:txBody>
      </p:sp>
    </p:spTree>
    <p:extLst>
      <p:ext uri="{BB962C8B-B14F-4D97-AF65-F5344CB8AC3E}">
        <p14:creationId xmlns:p14="http://schemas.microsoft.com/office/powerpoint/2010/main" val="144423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7680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  <a:cs typeface="Times New Roman" pitchFamily="18" charset="0"/>
              </a:rPr>
              <a:t>Data Security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rgbClr val="000000"/>
                </a:solidFill>
                <a:cs typeface="Times New Roman" pitchFamily="18" charset="0"/>
              </a:rPr>
              <a:t>Richard </a:t>
            </a:r>
            <a:r>
              <a:rPr lang="en-US" altLang="en-US" sz="2800" dirty="0" err="1">
                <a:solidFill>
                  <a:srgbClr val="000000"/>
                </a:solidFill>
                <a:cs typeface="Times New Roman" pitchFamily="18" charset="0"/>
              </a:rPr>
              <a:t>Spinello</a:t>
            </a:r>
            <a:r>
              <a:rPr lang="en-US" altLang="en-US" sz="2800" dirty="0">
                <a:solidFill>
                  <a:srgbClr val="000000"/>
                </a:solidFill>
                <a:cs typeface="Times New Roman" pitchFamily="18" charset="0"/>
              </a:rPr>
              <a:t> (2000) describes what is required for </a:t>
            </a:r>
            <a:r>
              <a:rPr lang="en-US" altLang="en-US" sz="2800" i="1" dirty="0">
                <a:solidFill>
                  <a:srgbClr val="000000"/>
                </a:solidFill>
                <a:cs typeface="Times New Roman" pitchFamily="18" charset="0"/>
              </a:rPr>
              <a:t>data security</a:t>
            </a:r>
            <a:r>
              <a:rPr lang="en-US" altLang="en-US" sz="2800" dirty="0">
                <a:solidFill>
                  <a:srgbClr val="000000"/>
                </a:solidFill>
                <a:cs typeface="Times New Roman" pitchFamily="18" charset="0"/>
              </a:rPr>
              <a:t> by noting that: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1400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>
                <a:solidFill>
                  <a:srgbClr val="000000"/>
                </a:solidFill>
                <a:cs typeface="Times New Roman" pitchFamily="18" charset="0"/>
              </a:rPr>
              <a:t>   …</a:t>
            </a:r>
            <a:r>
              <a:rPr lang="en-US" altLang="en-US" sz="2400" i="1" dirty="0">
                <a:solidFill>
                  <a:srgbClr val="000000"/>
                </a:solidFill>
                <a:cs typeface="Times New Roman" pitchFamily="18" charset="0"/>
              </a:rPr>
              <a:t>proprietary or sensitive information</a:t>
            </a:r>
            <a:r>
              <a:rPr lang="en-US" altLang="en-US" sz="2400" dirty="0">
                <a:solidFill>
                  <a:srgbClr val="000000"/>
                </a:solidFill>
                <a:cs typeface="Times New Roman" pitchFamily="18" charset="0"/>
              </a:rPr>
              <a:t> under one's custodial care is kept confidential and secure, that information being transmitted is not altered in form or content and </a:t>
            </a:r>
            <a:r>
              <a:rPr lang="en-US" altLang="en-US" sz="2400" i="1" dirty="0">
                <a:solidFill>
                  <a:srgbClr val="000000"/>
                </a:solidFill>
                <a:cs typeface="Times New Roman" pitchFamily="18" charset="0"/>
              </a:rPr>
              <a:t>cannot be read by unauthorized parties</a:t>
            </a:r>
            <a:r>
              <a:rPr lang="en-US" altLang="en-US" sz="2400" dirty="0">
                <a:solidFill>
                  <a:srgbClr val="000000"/>
                </a:solidFill>
                <a:cs typeface="Times New Roman" pitchFamily="18" charset="0"/>
              </a:rPr>
              <a:t>, and that all information being disseminated or otherwise made accessible through Web sites and on-line data repositories is </a:t>
            </a:r>
            <a:r>
              <a:rPr lang="en-US" altLang="en-US" sz="2400" i="1" dirty="0">
                <a:solidFill>
                  <a:srgbClr val="000000"/>
                </a:solidFill>
                <a:cs typeface="Times New Roman" pitchFamily="18" charset="0"/>
              </a:rPr>
              <a:t>as accessible and reliable as possible</a:t>
            </a:r>
            <a:r>
              <a:rPr lang="en-US" altLang="en-US" sz="2400" dirty="0">
                <a:solidFill>
                  <a:srgbClr val="000000"/>
                </a:solidFill>
                <a:cs typeface="Times New Roman" pitchFamily="18" charset="0"/>
              </a:rPr>
              <a:t>. 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578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</a:rPr>
              <a:t>System Security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i="1" dirty="0"/>
              <a:t>System security</a:t>
            </a:r>
            <a:r>
              <a:rPr lang="en-US" altLang="en-US" sz="2800" dirty="0"/>
              <a:t> is concerned with </a:t>
            </a:r>
            <a:r>
              <a:rPr lang="en-US" altLang="en-US" sz="2800" dirty="0">
                <a:solidFill>
                  <a:srgbClr val="660033"/>
                </a:solidFill>
              </a:rPr>
              <a:t>vulnerabilities to system resources </a:t>
            </a:r>
            <a:r>
              <a:rPr lang="en-US" altLang="en-US" sz="2800" dirty="0"/>
              <a:t>such as computer hardware, operating system software, and application software. </a:t>
            </a:r>
          </a:p>
          <a:p>
            <a:r>
              <a:rPr lang="en-US" altLang="en-US" sz="2800" dirty="0"/>
              <a:t>It is concerned with </a:t>
            </a:r>
            <a:r>
              <a:rPr lang="en-US" altLang="en-US" sz="2800" dirty="0">
                <a:solidFill>
                  <a:srgbClr val="660033"/>
                </a:solidFill>
              </a:rPr>
              <a:t>various kinds of viruses, worms, and related “malicious programs” </a:t>
            </a:r>
            <a:r>
              <a:rPr lang="en-US" altLang="en-US" sz="2800" dirty="0"/>
              <a:t>that can disrupt and sometimes destroy computer systems. </a:t>
            </a:r>
          </a:p>
        </p:txBody>
      </p:sp>
    </p:spTree>
    <p:extLst>
      <p:ext uri="{BB962C8B-B14F-4D97-AF65-F5344CB8AC3E}">
        <p14:creationId xmlns:p14="http://schemas.microsoft.com/office/powerpoint/2010/main" val="307928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</a:rPr>
              <a:t>System Security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Examples of </a:t>
            </a:r>
            <a:r>
              <a:rPr lang="en-US" altLang="en-US" sz="2800" dirty="0">
                <a:solidFill>
                  <a:srgbClr val="660033"/>
                </a:solidFill>
              </a:rPr>
              <a:t>malicious programs </a:t>
            </a:r>
            <a:r>
              <a:rPr lang="en-US" altLang="en-US" sz="2800" dirty="0"/>
              <a:t>that have disrupted system security are the: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Internet Worm (1988);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ILOVEYOU Virus (2001);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Code Red Worm (2002);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Blaster virus (2004).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What are the differences between computer viruses and worms?</a:t>
            </a:r>
          </a:p>
        </p:txBody>
      </p:sp>
    </p:spTree>
    <p:extLst>
      <p:ext uri="{BB962C8B-B14F-4D97-AF65-F5344CB8AC3E}">
        <p14:creationId xmlns:p14="http://schemas.microsoft.com/office/powerpoint/2010/main" val="37727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</a:rPr>
              <a:t>Network Security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Network security is concerned with securing computer networks – i.e., from </a:t>
            </a:r>
            <a:r>
              <a:rPr lang="en-US" altLang="en-US" sz="2800" dirty="0">
                <a:solidFill>
                  <a:srgbClr val="660033"/>
                </a:solidFill>
              </a:rPr>
              <a:t>privately</a:t>
            </a:r>
            <a:r>
              <a:rPr lang="en-US" altLang="en-US" sz="2800" dirty="0"/>
              <a:t> owned computer networks (such as LANs and WANs) to the </a:t>
            </a:r>
            <a:r>
              <a:rPr lang="en-US" altLang="en-US" sz="2800" dirty="0">
                <a:solidFill>
                  <a:srgbClr val="660033"/>
                </a:solidFill>
              </a:rPr>
              <a:t>Internet </a:t>
            </a:r>
            <a:r>
              <a:rPr lang="en-US" altLang="en-US" sz="2800" dirty="0"/>
              <a:t>itself – against various kinds of attacks. 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Internet’s infrastructure, which includes the set of protocols that makes communication across individual computer networks possible, has been the </a:t>
            </a:r>
            <a:r>
              <a:rPr lang="en-US" altLang="en-US" sz="2800" dirty="0">
                <a:solidFill>
                  <a:srgbClr val="660033"/>
                </a:solidFill>
              </a:rPr>
              <a:t>victim of several attacks. </a:t>
            </a:r>
          </a:p>
        </p:txBody>
      </p:sp>
    </p:spTree>
    <p:extLst>
      <p:ext uri="{BB962C8B-B14F-4D97-AF65-F5344CB8AC3E}">
        <p14:creationId xmlns:p14="http://schemas.microsoft.com/office/powerpoint/2010/main" val="73109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</a:rPr>
              <a:t>Network Security (Cont.)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r>
              <a:rPr lang="en-US" altLang="en-US" sz="2800" dirty="0"/>
              <a:t>Attacks on computer networks have ranged from programs launched by individuals with </a:t>
            </a:r>
            <a:r>
              <a:rPr lang="en-US" altLang="en-US" sz="2800" dirty="0">
                <a:solidFill>
                  <a:srgbClr val="660033"/>
                </a:solidFill>
              </a:rPr>
              <a:t>malicious intentions </a:t>
            </a:r>
            <a:r>
              <a:rPr lang="en-US" altLang="en-US" sz="2800" dirty="0"/>
              <a:t>to individuals who claimed their intentions were benign.</a:t>
            </a:r>
          </a:p>
          <a:p>
            <a:r>
              <a:rPr lang="en-US" altLang="en-US" sz="2800" dirty="0"/>
              <a:t>Some network attacks have severely </a:t>
            </a:r>
            <a:r>
              <a:rPr lang="en-US" altLang="en-US" sz="2800" dirty="0">
                <a:solidFill>
                  <a:srgbClr val="660033"/>
                </a:solidFill>
              </a:rPr>
              <a:t>disrupted activities </a:t>
            </a:r>
            <a:r>
              <a:rPr lang="en-US" altLang="en-US" sz="2800" dirty="0"/>
              <a:t>on segments of the Internet. </a:t>
            </a:r>
          </a:p>
          <a:p>
            <a:r>
              <a:rPr lang="en-US" altLang="en-US" sz="2800" dirty="0"/>
              <a:t>In a few cases, these attacks have also rendered the Internet virtually</a:t>
            </a:r>
            <a:r>
              <a:rPr lang="en-US" altLang="en-US" sz="2800" dirty="0">
                <a:solidFill>
                  <a:srgbClr val="660033"/>
                </a:solidFill>
              </a:rPr>
              <a:t> inoperable</a:t>
            </a:r>
            <a:r>
              <a:rPr lang="en-US" alt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874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indoor, table&#10;&#10;Description automatically generated">
            <a:extLst>
              <a:ext uri="{FF2B5EF4-FFF2-40B4-BE49-F238E27FC236}">
                <a16:creationId xmlns:a16="http://schemas.microsoft.com/office/drawing/2014/main" id="{9C3FE3FA-E285-9648-9196-46054832A1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8057"/>
          <a:stretch/>
        </p:blipFill>
        <p:spPr>
          <a:xfrm>
            <a:off x="457200" y="1719072"/>
            <a:ext cx="3200400" cy="3691128"/>
          </a:xfrm>
          <a:prstGeom prst="rect">
            <a:avLst/>
          </a:prstGeom>
          <a:noFill/>
        </p:spPr>
      </p:pic>
      <p:sp>
        <p:nvSpPr>
          <p:cNvPr id="81923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657600" y="1719072"/>
            <a:ext cx="5257800" cy="478332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In 1988, world realized for the first time just how </a:t>
            </a:r>
            <a:r>
              <a:rPr lang="en-US" altLang="en-US" sz="1600" b="1" dirty="0">
                <a:solidFill>
                  <a:srgbClr val="660033"/>
                </a:solidFill>
              </a:rPr>
              <a:t>vulnerable the Internet </a:t>
            </a:r>
            <a:r>
              <a:rPr lang="en-US" altLang="en-US" sz="1600" dirty="0"/>
              <a:t>was to attacks.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Robert Morris unleashed a program, later described as the "Internet worm," that disabled much of the Internet. </a:t>
            </a:r>
          </a:p>
          <a:p>
            <a:pPr marL="365125" lvl="1" indent="0"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Several </a:t>
            </a:r>
            <a:r>
              <a:rPr lang="en-US" altLang="en-US" sz="1600" b="1" dirty="0">
                <a:solidFill>
                  <a:srgbClr val="660033"/>
                </a:solidFill>
              </a:rPr>
              <a:t>Internet disruptions </a:t>
            </a:r>
            <a:r>
              <a:rPr lang="en-US" altLang="en-US" sz="1600" dirty="0"/>
              <a:t>have since followed. 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It is </a:t>
            </a:r>
            <a:r>
              <a:rPr lang="en-US" altLang="en-US" sz="1600" b="1" dirty="0">
                <a:solidFill>
                  <a:srgbClr val="660033"/>
                </a:solidFill>
              </a:rPr>
              <a:t>not always easy to determine </a:t>
            </a:r>
            <a:r>
              <a:rPr lang="en-US" altLang="en-US" sz="1600" dirty="0"/>
              <a:t>whether a major computer network disruption is the result of malicious individuals or is due to the failure of some aspect of the network infrastructure itself.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e.g., was the significant power outage experienced by the AT&amp;T long distance telephone service in 1990 was attributed to a software glitch in the system’s programming code that caused the network to crash or was it caused by “malicious” individuals? </a:t>
            </a:r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55600"/>
            <a:ext cx="8382000" cy="1054100"/>
          </a:xfrm>
        </p:spPr>
        <p:txBody>
          <a:bodyPr anchor="ctr">
            <a:normAutofit/>
          </a:bodyPr>
          <a:lstStyle/>
          <a:p>
            <a:r>
              <a:rPr lang="en-US" altLang="en-US" b="1" dirty="0">
                <a:solidFill>
                  <a:srgbClr val="FFFF00"/>
                </a:solidFill>
              </a:rPr>
              <a:t>Network Security (Cont.)</a:t>
            </a:r>
          </a:p>
        </p:txBody>
      </p:sp>
    </p:spTree>
    <p:extLst>
      <p:ext uri="{BB962C8B-B14F-4D97-AF65-F5344CB8AC3E}">
        <p14:creationId xmlns:p14="http://schemas.microsoft.com/office/powerpoint/2010/main" val="40970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  <p:bldP spid="819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>
            <a:norm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/>
              <a:t>The Phases of Hacking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b="1" dirty="0"/>
              <a:t>Phase One : the early years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660033"/>
                </a:solidFill>
              </a:rPr>
              <a:t>1960s and 1970s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dirty="0"/>
              <a:t>Originally, </a:t>
            </a:r>
            <a:r>
              <a:rPr lang="en-US" sz="2000" i="1" dirty="0"/>
              <a:t>hacker </a:t>
            </a:r>
            <a:r>
              <a:rPr lang="en-US" sz="2000" dirty="0"/>
              <a:t>referred to a creative programmer wrote clever code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dirty="0"/>
              <a:t>The first operating systems and computer games were written by hackers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dirty="0"/>
              <a:t>The term hacking was a positive term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dirty="0"/>
              <a:t>Hackers were usually high-school and college students</a:t>
            </a:r>
          </a:p>
        </p:txBody>
      </p:sp>
      <p:pic>
        <p:nvPicPr>
          <p:cNvPr id="4" name="Picture 2" descr="Hackers Are Evolving Faster Than Technology">
            <a:extLst>
              <a:ext uri="{FF2B5EF4-FFF2-40B4-BE49-F238E27FC236}">
                <a16:creationId xmlns:a16="http://schemas.microsoft.com/office/drawing/2014/main" id="{CCCE7ED1-1C11-7841-B77D-8E6D5AD2C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3" r="19460" b="-1"/>
          <a:stretch/>
        </p:blipFill>
        <p:spPr bwMode="auto">
          <a:xfrm>
            <a:off x="4648200" y="1719072"/>
            <a:ext cx="4038600" cy="440740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55600"/>
            <a:ext cx="8382000" cy="1054100"/>
          </a:xfrm>
        </p:spPr>
        <p:txBody>
          <a:bodyPr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Hacking (1/3)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/>
              <a:t>Phase Two : Hacking takes on a more negative meaning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660033"/>
                </a:solidFill>
              </a:rPr>
              <a:t>1970s and 1990s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Authors and media used the term hacker to describe someone who used computers, without authorization, sometimes to commit crimes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Early computer crimes were launched against business and government computers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Adult criminals began using computers to commit their crimes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Hacking (2/3)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8339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/>
              <a:t>Phase Three : the web era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660033"/>
                </a:solidFill>
              </a:rPr>
              <a:t>Beginning in the mid-1990s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The increased use of the Internet for school, work, business transaction, and recreation makes it attractive to criminals with basic computer skill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Crimes include the release of malicious code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Unprotected computers can be used, unsuspectingly, to accomplish network disruption or commit fraud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Hackers with minimal computer skills can create havoc by using malicious code written by others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Hacking (3/3)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36147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500" b="1" dirty="0">
                <a:solidFill>
                  <a:srgbClr val="660033"/>
                </a:solidFill>
              </a:rPr>
              <a:t>Steven Levy </a:t>
            </a:r>
            <a:r>
              <a:rPr lang="en-US" sz="2500" b="1" dirty="0"/>
              <a:t>describe hacker ethics as 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dirty="0"/>
              <a:t>Access to computers should be </a:t>
            </a:r>
            <a:r>
              <a:rPr lang="en-US" sz="2500" b="1" dirty="0">
                <a:solidFill>
                  <a:srgbClr val="660033"/>
                </a:solidFill>
              </a:rPr>
              <a:t>unlimited</a:t>
            </a:r>
            <a:r>
              <a:rPr lang="en-US" sz="2500" dirty="0"/>
              <a:t> and total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dirty="0"/>
              <a:t>All information should be </a:t>
            </a:r>
            <a:r>
              <a:rPr lang="en-US" sz="2500" b="1" dirty="0">
                <a:solidFill>
                  <a:srgbClr val="660033"/>
                </a:solidFill>
              </a:rPr>
              <a:t>free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b="1" dirty="0">
                <a:solidFill>
                  <a:srgbClr val="660033"/>
                </a:solidFill>
              </a:rPr>
              <a:t>Mistrust Authority </a:t>
            </a:r>
            <a:r>
              <a:rPr lang="en-US" sz="2500" dirty="0">
                <a:latin typeface="Times New Roman" pitchFamily="18" charset="0"/>
              </a:rPr>
              <a:t>–</a:t>
            </a:r>
            <a:r>
              <a:rPr lang="en-US" sz="2500" dirty="0"/>
              <a:t> promote decentralization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dirty="0"/>
              <a:t>Hackers should be </a:t>
            </a:r>
            <a:r>
              <a:rPr lang="en-US" sz="2500" b="1" dirty="0">
                <a:solidFill>
                  <a:srgbClr val="660033"/>
                </a:solidFill>
              </a:rPr>
              <a:t>judged by their hacking</a:t>
            </a:r>
            <a:r>
              <a:rPr lang="en-US" sz="2500" dirty="0"/>
              <a:t>, not bogus criteria such as degrees, age, race or position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dirty="0"/>
              <a:t>You can </a:t>
            </a:r>
            <a:r>
              <a:rPr lang="en-US" sz="2500" b="1" dirty="0">
                <a:solidFill>
                  <a:srgbClr val="660033"/>
                </a:solidFill>
              </a:rPr>
              <a:t>create art and beauty </a:t>
            </a:r>
            <a:r>
              <a:rPr lang="en-US" sz="2500" dirty="0"/>
              <a:t>on a computer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500" dirty="0"/>
              <a:t>Computers can </a:t>
            </a:r>
            <a:r>
              <a:rPr lang="en-US" sz="2500" b="1" dirty="0">
                <a:solidFill>
                  <a:srgbClr val="660033"/>
                </a:solidFill>
              </a:rPr>
              <a:t>change your life </a:t>
            </a:r>
            <a:r>
              <a:rPr lang="en-US" sz="2500" dirty="0"/>
              <a:t>for the better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Hacker Ethic (1/5)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More recently, hackers embrace these principles 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Information should be </a:t>
            </a:r>
            <a:r>
              <a:rPr lang="en-US" sz="2800" b="1" dirty="0">
                <a:solidFill>
                  <a:srgbClr val="660033"/>
                </a:solidFill>
              </a:rPr>
              <a:t>free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Hackers provide society with a </a:t>
            </a:r>
            <a:r>
              <a:rPr lang="en-US" sz="2800" b="1" dirty="0">
                <a:solidFill>
                  <a:srgbClr val="660033"/>
                </a:solidFill>
              </a:rPr>
              <a:t>useful and important service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Activities in cyberspace are </a:t>
            </a:r>
            <a:r>
              <a:rPr lang="en-US" sz="2800" b="1" dirty="0">
                <a:solidFill>
                  <a:srgbClr val="660033"/>
                </a:solidFill>
              </a:rPr>
              <a:t>virtual</a:t>
            </a:r>
            <a:r>
              <a:rPr lang="en-US" sz="2800" dirty="0"/>
              <a:t> in nature and thus do not harm real people in the real world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Hacker Ethic (2/5)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Information should be free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Mantra for many hackers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dirty="0" err="1">
                <a:solidFill>
                  <a:srgbClr val="660033"/>
                </a:solidFill>
              </a:rPr>
              <a:t>Spafford</a:t>
            </a:r>
            <a:r>
              <a:rPr lang="en-US" sz="2800" i="1" dirty="0"/>
              <a:t> views: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i="1" dirty="0"/>
              <a:t>Privacy</a:t>
            </a:r>
            <a:r>
              <a:rPr lang="en-US" sz="2800" dirty="0"/>
              <a:t> would not possible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b="1" i="1" dirty="0"/>
              <a:t>Integrity</a:t>
            </a:r>
            <a:r>
              <a:rPr lang="en-US" sz="2800" dirty="0"/>
              <a:t> and </a:t>
            </a:r>
            <a:r>
              <a:rPr lang="en-US" sz="2800" b="1" i="1" dirty="0"/>
              <a:t>accuracy</a:t>
            </a:r>
            <a:r>
              <a:rPr lang="en-US" sz="2800" dirty="0"/>
              <a:t> of information would not be possible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Hacker Ethic (3/5)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757737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b="1" dirty="0"/>
              <a:t>Hackers provide society with a useful and important service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Doing favor by searching and exposing security holes in cyberspace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Counterexamples: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Would you be willing to thanks a burglar, who in the process of burglarizing your house, was able to show that your home security system was adequate?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Would we permit someone to start a fire in a crowded shopping mall in order to expose the fact that the mall</a:t>
            </a:r>
            <a:r>
              <a:rPr lang="en-US" sz="2200" dirty="0">
                <a:latin typeface="Times New Roman" pitchFamily="18" charset="0"/>
              </a:rPr>
              <a:t>’</a:t>
            </a:r>
            <a:r>
              <a:rPr lang="en-US" sz="2200" dirty="0"/>
              <a:t>s sprinkler was not adequate?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Thus, should we thank hackers for showing us that our computers are insecure?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Hacker Ethic (4/5)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3000" b="1" dirty="0"/>
              <a:t>Hacking causes only virtual harm, not real harm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Break-ins and vandalism in cyberspace cause no real harm because they occur only in the virtual world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Counterexamples: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Someone sends you an e-mail unfairly accuse you of being malicious person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Hacker Ethic (5/5)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610600" cy="4406900"/>
          </a:xfrm>
        </p:spPr>
        <p:txBody>
          <a:bodyPr>
            <a:normAutofit lnSpcReduction="10000"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>
                <a:solidFill>
                  <a:srgbClr val="660033"/>
                </a:solidFill>
              </a:rPr>
              <a:t>Movie: </a:t>
            </a:r>
            <a:r>
              <a:rPr lang="en-US" sz="3200" b="1" i="1" dirty="0" err="1">
                <a:solidFill>
                  <a:srgbClr val="660033"/>
                </a:solidFill>
              </a:rPr>
              <a:t>WarGames</a:t>
            </a:r>
            <a:endParaRPr lang="en-US" sz="3200" b="1" i="1" dirty="0">
              <a:solidFill>
                <a:srgbClr val="660033"/>
              </a:solidFill>
            </a:endParaRP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/>
              <a:t>Meaning of “hacker” changed</a:t>
            </a:r>
            <a:endParaRPr lang="en-US" sz="3200" b="1" i="1" dirty="0">
              <a:solidFill>
                <a:srgbClr val="660033"/>
              </a:solidFill>
            </a:endParaRP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600" b="1" i="1" dirty="0"/>
              <a:t>Teenagers accessing corporate and government computer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Guessing valid password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Dumpster diving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Social engineering(Manipulation people)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600" b="1" i="1" dirty="0"/>
              <a:t>Malicious acts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Destroying databases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Stealing confidential personal information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Examples (1/5)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833937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>
                <a:solidFill>
                  <a:srgbClr val="660033"/>
                </a:solidFill>
              </a:rPr>
              <a:t>Novel: The Cuckoo</a:t>
            </a:r>
            <a:r>
              <a:rPr lang="en-US" sz="3200" b="1" dirty="0">
                <a:solidFill>
                  <a:srgbClr val="660033"/>
                </a:solidFill>
                <a:latin typeface="Times New Roman" pitchFamily="18" charset="0"/>
              </a:rPr>
              <a:t>’</a:t>
            </a:r>
            <a:r>
              <a:rPr lang="en-US" sz="3200" b="1" dirty="0">
                <a:solidFill>
                  <a:srgbClr val="660033"/>
                </a:solidFill>
              </a:rPr>
              <a:t>s Egg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Clifford Stoll: system administrator at Lawrence Berkeley Laboratory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Tracked accounting error, discovered unauthorized user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Hacker was </a:t>
            </a:r>
            <a:r>
              <a:rPr lang="en-US" sz="2800" b="1" i="1" dirty="0"/>
              <a:t>accessing military computers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FBI, CIA, NSA, AFOSI, DIA joined search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Trail led to group of West German hackers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Examples (2/5)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833937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/>
              <a:t>A 15-year-old hacked </a:t>
            </a:r>
            <a:r>
              <a:rPr lang="en-US" sz="3200" dirty="0"/>
              <a:t>a credit-reporting service and telephone system in a  scheme to get Western Union to wire money to him from other people</a:t>
            </a:r>
            <a:r>
              <a:rPr lang="en-US" sz="3200" dirty="0">
                <a:latin typeface="Times New Roman" pitchFamily="18" charset="0"/>
              </a:rPr>
              <a:t>’</a:t>
            </a:r>
            <a:r>
              <a:rPr lang="en-US" sz="3200" dirty="0"/>
              <a:t>s account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/>
              <a:t>A Russian man </a:t>
            </a:r>
            <a:r>
              <a:rPr lang="en-US" sz="3200" dirty="0"/>
              <a:t>with accomplices in several countries used stolen passwords to steal $400,000 from Citicorp. He transferred $11 million to bank account in other countries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3200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>
                <a:solidFill>
                  <a:srgbClr val="FFFF00"/>
                </a:solidFill>
              </a:rPr>
              <a:t>Examples (3/5)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719262"/>
            <a:ext cx="8636000" cy="4833937"/>
          </a:xfrm>
        </p:spPr>
        <p:txBody>
          <a:bodyPr>
            <a:no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b="1" dirty="0"/>
              <a:t>Kevin </a:t>
            </a:r>
            <a:r>
              <a:rPr lang="en-US" sz="2400" b="1" dirty="0" err="1"/>
              <a:t>Mitnick</a:t>
            </a:r>
            <a:r>
              <a:rPr lang="en-US" sz="2400" b="1" dirty="0"/>
              <a:t> (Public </a:t>
            </a:r>
            <a:r>
              <a:rPr lang="en-US" sz="2400" b="1" dirty="0" err="1"/>
              <a:t>Cyberenemy</a:t>
            </a:r>
            <a:r>
              <a:rPr lang="en-US" sz="2400" b="1" dirty="0"/>
              <a:t> No. 1)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Activities span nearly 20 years.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1982, 18-year-old </a:t>
            </a:r>
            <a:r>
              <a:rPr lang="en-US" sz="2200" dirty="0" err="1"/>
              <a:t>Mitnick</a:t>
            </a:r>
            <a:r>
              <a:rPr lang="en-US" sz="2200" dirty="0"/>
              <a:t> broke into the computer system of the North American Air Defense Command.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Six years later he broke into the computer network of Digital Equipment Corporation and monitored its e-mail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Stole Digital</a:t>
            </a:r>
            <a:r>
              <a:rPr lang="en-US" sz="2200" dirty="0">
                <a:latin typeface="Times New Roman" pitchFamily="18" charset="0"/>
              </a:rPr>
              <a:t>’</a:t>
            </a:r>
            <a:r>
              <a:rPr lang="en-US" sz="2200" dirty="0"/>
              <a:t>s VMS operating system while security expert </a:t>
            </a:r>
            <a:r>
              <a:rPr lang="en-US" sz="2200" dirty="0">
                <a:latin typeface="Times New Roman" pitchFamily="18" charset="0"/>
              </a:rPr>
              <a:t>“</a:t>
            </a:r>
            <a:r>
              <a:rPr lang="en-US" sz="2200" dirty="0"/>
              <a:t>simply watched millions of lines of their code being downloaded, unable to do anything about it</a:t>
            </a:r>
            <a:r>
              <a:rPr lang="en-US" sz="2200" dirty="0">
                <a:latin typeface="Times New Roman" pitchFamily="18" charset="0"/>
              </a:rPr>
              <a:t>”</a:t>
            </a:r>
            <a:endParaRPr lang="en-US" sz="2200" dirty="0"/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Arrested, prosecuted, convicted for first time in 1989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200" dirty="0"/>
              <a:t>In 1995, Stealing thousands of files from the home computer of Tsutomu Shimomura, a computer security expert at the San Diego Supercomputer Center.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3200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Examples (4/5)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 err="1"/>
              <a:t>Dimitri</a:t>
            </a:r>
            <a:r>
              <a:rPr lang="en-US" sz="2800" b="1" dirty="0"/>
              <a:t>, a Russian teenager, </a:t>
            </a:r>
            <a:r>
              <a:rPr lang="en-US" sz="2800" dirty="0"/>
              <a:t>took advantage of a bug in a Microsoft program to break into computers at the Microsoft Corporation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 err="1"/>
              <a:t>Rafeal</a:t>
            </a:r>
            <a:r>
              <a:rPr lang="en-US" sz="2800" b="1" dirty="0"/>
              <a:t> Grey (</a:t>
            </a:r>
            <a:r>
              <a:rPr lang="en-US" sz="2800" b="1" dirty="0" err="1"/>
              <a:t>Curador</a:t>
            </a:r>
            <a:r>
              <a:rPr lang="en-US" sz="2800" b="1" dirty="0"/>
              <a:t>), </a:t>
            </a:r>
            <a:r>
              <a:rPr lang="en-US" sz="2800" dirty="0"/>
              <a:t>an England teenager, stole thousands of credit cards numbers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And there are many examples </a:t>
            </a:r>
            <a:r>
              <a:rPr lang="en-US" sz="2800" dirty="0">
                <a:latin typeface="Times New Roman" pitchFamily="18" charset="0"/>
              </a:rPr>
              <a:t>…</a:t>
            </a:r>
            <a:r>
              <a:rPr lang="en-US" sz="2800" dirty="0"/>
              <a:t>.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Examples (5/5)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>
                <a:solidFill>
                  <a:srgbClr val="660033"/>
                </a:solidFill>
              </a:rPr>
              <a:t>Undesired programs </a:t>
            </a:r>
            <a:r>
              <a:rPr lang="en-US" sz="3200" dirty="0"/>
              <a:t>can become active on computers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/>
              <a:t>Consume </a:t>
            </a:r>
            <a:r>
              <a:rPr lang="en-US" sz="3200" b="1" dirty="0">
                <a:solidFill>
                  <a:srgbClr val="660033"/>
                </a:solidFill>
              </a:rPr>
              <a:t>CPU time </a:t>
            </a:r>
            <a:r>
              <a:rPr lang="en-US" sz="3200" dirty="0"/>
              <a:t>and </a:t>
            </a:r>
            <a:r>
              <a:rPr lang="en-US" sz="3200" b="1" dirty="0">
                <a:solidFill>
                  <a:srgbClr val="660033"/>
                </a:solidFill>
              </a:rPr>
              <a:t>disk space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dirty="0">
                <a:solidFill>
                  <a:srgbClr val="660033"/>
                </a:solidFill>
              </a:rPr>
              <a:t>Destroy valuable data</a:t>
            </a:r>
            <a:r>
              <a:rPr lang="en-US" sz="3200" dirty="0"/>
              <a:t> stored in file</a:t>
            </a:r>
            <a:r>
              <a:rPr lang="en-US" sz="3200" dirty="0">
                <a:latin typeface="Times New Roman" pitchFamily="18" charset="0"/>
              </a:rPr>
              <a:t>’</a:t>
            </a:r>
            <a:r>
              <a:rPr lang="en-US" sz="3200" dirty="0"/>
              <a:t>s system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/>
              <a:t>Allow outsiders to </a:t>
            </a:r>
            <a:r>
              <a:rPr lang="en-US" sz="3200" b="1" dirty="0">
                <a:solidFill>
                  <a:srgbClr val="660033"/>
                </a:solidFill>
              </a:rPr>
              <a:t>seize control </a:t>
            </a:r>
            <a:r>
              <a:rPr lang="en-US" sz="3200" dirty="0"/>
              <a:t>of computers; act as depository for stolen information, a launch pad for spam, denial-of-service attack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Viruses, Worms, and Trojan Horses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rgbClr val="660033"/>
                </a:solidFill>
              </a:rPr>
              <a:t>Virus: </a:t>
            </a:r>
            <a:r>
              <a:rPr lang="en-US" sz="2800" dirty="0"/>
              <a:t>piece of self-replicating code embedded within another program (host)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Viruses associated with program files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Hard disks, floppy disks, CD-ROMS, thumb drives.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Email attachments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How viruses spread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Diskettes, CDs, thumb drives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Email</a:t>
            </a:r>
          </a:p>
          <a:p>
            <a:pPr marL="548958"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Files downloaded from Internet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Viruses (1/2)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3200" b="1" i="1" dirty="0"/>
              <a:t>Well-known viruses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dirty="0"/>
              <a:t>Brain, Michelangelo, Melissa, Love Bug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3200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Viruses (2/2)</a:t>
            </a:r>
          </a:p>
        </p:txBody>
      </p:sp>
      <p:pic>
        <p:nvPicPr>
          <p:cNvPr id="36868" name="Picture 5" descr="http://ts2.mm.bing.net/th?id=HN.607997434550878333&amp;pid=15.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124200"/>
            <a:ext cx="3124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6705600" cy="4406900"/>
          </a:xfrm>
        </p:spPr>
        <p:txBody>
          <a:bodyPr>
            <a:normAutofit lnSpcReduction="10000"/>
          </a:bodyPr>
          <a:lstStyle/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rgbClr val="660033"/>
                </a:solidFill>
              </a:rPr>
              <a:t>Worm: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dirty="0"/>
              <a:t>Self-contained program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dirty="0"/>
              <a:t>Spread through a computer network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dirty="0"/>
              <a:t>Exploits security holes in networked computers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200" b="1" i="1" dirty="0"/>
              <a:t>Famous worms</a:t>
            </a:r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3200" dirty="0"/>
              <a:t>WANK, Code Red, Sapphire (Slammer), Blaster, </a:t>
            </a:r>
            <a:r>
              <a:rPr lang="en-US" sz="3200" dirty="0" err="1"/>
              <a:t>Sasser</a:t>
            </a:r>
            <a:endParaRPr lang="en-US" sz="3200" dirty="0"/>
          </a:p>
          <a:p>
            <a:pPr marL="27432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320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Worms</a:t>
            </a:r>
          </a:p>
        </p:txBody>
      </p:sp>
      <p:pic>
        <p:nvPicPr>
          <p:cNvPr id="1026" name="Picture 2" descr="http://cs.stanford.edu/people/eroberts/cs181/projects/2003-04/security/wor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048000"/>
            <a:ext cx="2590800" cy="349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76400"/>
            <a:ext cx="8839200" cy="5105400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Robert Tappan Morris, Jr.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Graduate student at Cornell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Released worm onto Internet from MIT computer</a:t>
            </a:r>
          </a:p>
          <a:p>
            <a:pPr marL="388620" indent="-34290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Effect of worm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Spread to 6000 Unix computers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Infected computers kept crashing or became unresponsive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Took a day for fixes to be published</a:t>
            </a:r>
          </a:p>
          <a:p>
            <a:pPr marL="388620" indent="-34290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Impact on Morris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Suspended from Cornell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3 years</a:t>
            </a:r>
            <a:r>
              <a:rPr lang="en-US" sz="2200" dirty="0">
                <a:latin typeface="Times New Roman" pitchFamily="18" charset="0"/>
              </a:rPr>
              <a:t>’</a:t>
            </a:r>
            <a:r>
              <a:rPr lang="en-US" sz="2200" dirty="0"/>
              <a:t> probation + 400 hours community service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$150,000 in legal fees and fines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CASE: The Internet Worm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7577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Kantian evaluation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Morris used others by gaining access to their computers without permission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b="1" dirty="0">
                <a:solidFill>
                  <a:srgbClr val="660033"/>
                </a:solidFill>
              </a:rPr>
              <a:t>Social contract theory evaluation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Morris violated property rights of organizations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b="1" dirty="0">
                <a:solidFill>
                  <a:srgbClr val="660033"/>
                </a:solidFill>
              </a:rPr>
              <a:t>Utilitarian evaluation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Benefits: Organizations learned of security flaws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Harms: Time spent by those fighting worm, unavailable computers, disrupted network traffic, Morris</a:t>
            </a:r>
            <a:r>
              <a:rPr lang="en-US" sz="2400" dirty="0">
                <a:latin typeface="Times New Roman" pitchFamily="18" charset="0"/>
              </a:rPr>
              <a:t>’</a:t>
            </a:r>
            <a:r>
              <a:rPr lang="en-US" sz="2400" dirty="0"/>
              <a:t>s punishments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Morris was wrong to have release the Internet worm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6413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Ethical Evaluation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2"/>
            <a:ext cx="8407400" cy="46815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>
                <a:solidFill>
                  <a:srgbClr val="660033"/>
                </a:solidFill>
              </a:rPr>
              <a:t>Trojan horse: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program with benign capability that conceals a sinister purpose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b="1" dirty="0"/>
              <a:t>Examples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Opening an Internet connection to allow an outsider to gain access to files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Logging the keystrokes of a user and storing them on a file that an attacker can peruse to learn confidential information such as passwords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Looking for passwords stored and emailing them to the attacker</a:t>
            </a:r>
            <a:r>
              <a:rPr lang="en-US" sz="2400" dirty="0">
                <a:latin typeface="Times New Roman" pitchFamily="18" charset="0"/>
              </a:rPr>
              <a:t>’</a:t>
            </a:r>
            <a:r>
              <a:rPr lang="en-US" sz="2400" dirty="0"/>
              <a:t>s address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Trojan Horses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b="1" dirty="0"/>
              <a:t>Examples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Destroying files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Launching a denial-of-service attack on a web site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Turning the user</a:t>
            </a:r>
            <a:r>
              <a:rPr lang="en-US" sz="2400" dirty="0">
                <a:latin typeface="Times New Roman" pitchFamily="18" charset="0"/>
              </a:rPr>
              <a:t>’</a:t>
            </a:r>
            <a:r>
              <a:rPr lang="en-US" sz="2400" dirty="0"/>
              <a:t>s computer into a proxy server that can be used to launch spam or stash information gained from illegal activities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Trojan Horses</a:t>
            </a:r>
          </a:p>
        </p:txBody>
      </p:sp>
      <p:pic>
        <p:nvPicPr>
          <p:cNvPr id="41988" name="Picture 5" descr="http://ts1.mm.bing.net/th?id=HN.608043803012695856&amp;pid=15.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961410"/>
            <a:ext cx="3810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b="1" dirty="0">
                <a:solidFill>
                  <a:srgbClr val="660033"/>
                </a:solidFill>
              </a:rPr>
              <a:t>Remote access Trojan: 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Trojan horse that gives attack access to victim</a:t>
            </a:r>
            <a:r>
              <a:rPr lang="en-US" sz="2800" dirty="0">
                <a:latin typeface="Times New Roman" pitchFamily="18" charset="0"/>
              </a:rPr>
              <a:t>’</a:t>
            </a:r>
            <a:r>
              <a:rPr lang="en-US" sz="2800" dirty="0"/>
              <a:t>s computer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Back Orifice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 err="1"/>
              <a:t>SubSeven</a:t>
            </a:r>
            <a:endParaRPr lang="en-US" sz="28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RAT servers often found within files downloaded from erotica/porn Usenet sites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Trojan Horses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Systems administrators play key role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Authentication: </a:t>
            </a:r>
            <a:r>
              <a:rPr lang="en-US" sz="2800" dirty="0"/>
              <a:t>determine/verify that people are who they claim to be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Authorization: </a:t>
            </a:r>
            <a:r>
              <a:rPr lang="en-US" sz="2800" dirty="0"/>
              <a:t>determine that a user has permission to </a:t>
            </a:r>
            <a:r>
              <a:rPr lang="en-US" sz="2800" u="sng" dirty="0"/>
              <a:t>perform a particular action/Level of access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Firewall: </a:t>
            </a:r>
            <a:r>
              <a:rPr lang="en-US" sz="2800" dirty="0"/>
              <a:t>a computer monitoring packets entering and leaving a local area network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Defensive Measures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660033"/>
                </a:solidFill>
              </a:rPr>
              <a:t>Denial-of-service-(DoS) </a:t>
            </a:r>
            <a:r>
              <a:rPr lang="en-US" sz="2400" dirty="0"/>
              <a:t>is an attempt to make a computer resource unavailable to its intended users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Syn-flood-attack-A SYN flood is a form of DoS in which an attacker sends a succession of SYN requests to a target's system.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dirty="0"/>
              <a:t>The </a:t>
            </a:r>
            <a:r>
              <a:rPr lang="en-US" sz="2400" dirty="0" err="1"/>
              <a:t>smurf</a:t>
            </a:r>
            <a:r>
              <a:rPr lang="en-US" sz="2400" dirty="0"/>
              <a:t> attack:  named after its exploit program, is a DoS that uses spoofed broadcast ping messages to flood a target system.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endParaRPr lang="en-US" sz="2400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Attacks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Denial-of-service attack: an intentional action designed to prevent legitimate users from making use of a computer service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Goal of attack: disrupt a server</a:t>
            </a:r>
            <a:r>
              <a:rPr lang="en-US" sz="2400" dirty="0">
                <a:latin typeface="Times New Roman" pitchFamily="18" charset="0"/>
              </a:rPr>
              <a:t>’</a:t>
            </a:r>
            <a:r>
              <a:rPr lang="en-US" sz="2400" dirty="0"/>
              <a:t>s ability to respond to its clients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About 4,000 web sites attacked each week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Asymmetrical attack that may prove popular with terrorists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“Asymmetrical attack “  is type of attacks that can be executed with limited resources against a large, sophisticated site.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000" dirty="0"/>
              <a:t>For example, an attacker with an old PC and a slow modem may be able to disable much faster and more sophisticated machines or networks.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Denial-of-Service Attacks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6815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SYN flood attack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the attacker begins the process of establishing a connection to the victim machine, but does it in such a way as to prevent the ultimate completion of the connection.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Smurf attack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Fill target computer</a:t>
            </a:r>
            <a:r>
              <a:rPr lang="en-US" sz="2800" dirty="0">
                <a:latin typeface="Times New Roman" pitchFamily="18" charset="0"/>
              </a:rPr>
              <a:t>’</a:t>
            </a:r>
            <a:r>
              <a:rPr lang="en-US" sz="2800" dirty="0"/>
              <a:t>s hard disk</a:t>
            </a:r>
          </a:p>
          <a:p>
            <a:pPr marL="548958" lvl="1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Email bombing</a:t>
            </a:r>
          </a:p>
          <a:p>
            <a:pPr marL="548958" lvl="1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Worm</a:t>
            </a:r>
          </a:p>
          <a:p>
            <a:pPr marL="548958" lvl="1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Break-in followed by file copying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62925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Attacks that Consume Scarce Resources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Attacker gains access to thousands of computers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Launches simultaneous attack on target servers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800" dirty="0"/>
              <a:t>Defensive measures</a:t>
            </a:r>
          </a:p>
          <a:p>
            <a:pPr marL="548958" lvl="1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Secure computers to prevent hijacking</a:t>
            </a:r>
          </a:p>
          <a:p>
            <a:pPr marL="548958" lvl="1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Check for forged IP addresses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162925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Distributed Denial-of-Service Attacks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Physical security of server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dirty="0"/>
              <a:t>Server is protected by backup and offsite data storage, Uninterruptible Power Supply (UPS), cooling and electrical capacity etc.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Benchmarking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Disk quota systems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dirty="0"/>
              <a:t>allows system administrators to control the number of files and data blocks that can be allocated to users or groups.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Disabling unused network services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Turning off routers</a:t>
            </a:r>
            <a:r>
              <a:rPr lang="en-US" sz="2400" dirty="0">
                <a:latin typeface="Times New Roman" pitchFamily="18" charset="0"/>
              </a:rPr>
              <a:t>’</a:t>
            </a:r>
            <a:r>
              <a:rPr lang="en-US" sz="2400" dirty="0"/>
              <a:t> amplifier network capability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Defensive Measures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200" dirty="0"/>
              <a:t>It is a crime to access, alter, damage, or destroy information on a computer without authorization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200" b="1" dirty="0"/>
              <a:t>Examples of illegal activities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Accessing without authorization any internet computer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Transmitting a virus or worm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Trafficking in computer passwords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Intercepting a telephone conversation, email, or any other data transmission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Accessing stored email messages without authorization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200" dirty="0"/>
              <a:t>Adopting another identity to carry out illegal activity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200" dirty="0"/>
              <a:t>Maximum penalty: 20 years in prison + $250,000 fine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>
                <a:solidFill>
                  <a:srgbClr val="FFFF00"/>
                </a:solidFill>
              </a:rPr>
              <a:t>Penalties for Hacking (the Law)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2"/>
            <a:ext cx="8407400" cy="4681537"/>
          </a:xfrm>
        </p:spPr>
        <p:txBody>
          <a:bodyPr>
            <a:norm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Requires </a:t>
            </a:r>
            <a:r>
              <a:rPr lang="en-US" sz="2800" b="1" dirty="0"/>
              <a:t>law enforcement </a:t>
            </a:r>
            <a:r>
              <a:rPr lang="en-US" sz="2800" dirty="0"/>
              <a:t>to recognize and respond to myriad hacking attacks</a:t>
            </a:r>
          </a:p>
          <a:p>
            <a:pPr marL="388620" indent="-34290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MY" dirty="0"/>
              <a:t>Cyber laws – </a:t>
            </a:r>
            <a:r>
              <a:rPr lang="en-MY" b="1" dirty="0"/>
              <a:t>laws relating to protect the internet and other online communication technologies</a:t>
            </a:r>
            <a:r>
              <a:rPr lang="en-MY" dirty="0"/>
              <a:t>. -Digital Signature Act 1997. -Telemedicine Act 1997. -Communication and Multimedia Act 1998. -Computer Crime Act 1997.</a:t>
            </a:r>
            <a:endParaRPr lang="en-US" sz="2800" dirty="0"/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Computer forensics tools </a:t>
            </a:r>
            <a:r>
              <a:rPr lang="en-US" sz="2800" dirty="0"/>
              <a:t>may include: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Undercover agents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Honey pots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Archives of online message boards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Tools for recovering deleted or coded information 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Catching Hackers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Establish a security policy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Defines the security requirements of an organization and describes the controls and sanctions to be used to meet those requirements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The delineation of the responsibilities and expected behavior of members of the organization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Outlines what needs to be done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b="1" i="1" dirty="0"/>
              <a:t>Example: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Password must be changed every 30 days</a:t>
            </a:r>
          </a:p>
          <a:p>
            <a:pPr marL="548640" lvl="1" indent="-18288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No executable file attachments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Educate employees, contractors, and part-time workers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Guarding their passwords to protect against unauthorized access to their accounts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Not allowing others to use their passwords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Applying strict access controls to protect data from disclosure or destruction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Reporting all unusual activity</a:t>
            </a:r>
          </a:p>
          <a:p>
            <a:pPr marL="388620" indent="-34290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rgbClr val="660033"/>
                </a:solidFill>
              </a:rPr>
              <a:t>Better system design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Security as one of the non-functional requirement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endParaRPr lang="en-US" sz="2400" dirty="0"/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Firewall technology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A system or combination of systems that enforces a boundary between two or more networks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Filters and gateways are designed to secure communication traffic entering or leaving a specific network domain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Help secures systems from unauthorized access to information in databases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Help prevent unwanted and unauthorized communication into and out of a privately owned network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660033"/>
                </a:solidFill>
              </a:rPr>
              <a:t>Antivirus software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To </a:t>
            </a:r>
            <a:r>
              <a:rPr lang="en-US" sz="2800" dirty="0">
                <a:latin typeface="Times New Roman" pitchFamily="18" charset="0"/>
              </a:rPr>
              <a:t>“</a:t>
            </a:r>
            <a:r>
              <a:rPr lang="en-US" sz="2800" dirty="0"/>
              <a:t>inoculate</a:t>
            </a:r>
            <a:r>
              <a:rPr lang="en-US" sz="2800" dirty="0">
                <a:latin typeface="Times New Roman" pitchFamily="18" charset="0"/>
              </a:rPr>
              <a:t>”</a:t>
            </a:r>
            <a:r>
              <a:rPr lang="en-US" sz="2800" dirty="0"/>
              <a:t> computer systems against virus, worms, and other forms of malicious programs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Able to detect and eliminate viruses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Can repair infected files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Can remove infected sectors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Consistently update antivirus</a:t>
            </a: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Safeguards against malicious insiders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Prompt deletion of accounts, login ids, and passwords of departing employee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Carefully defines roles of employees: separation of responsibility so that a single individual is not responsible to accomplish a high security task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Frequently rotate people in sensitive positions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Creates roles and user accounts to authorize the responsibility and no more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Audit trail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660033"/>
                </a:solidFill>
              </a:rPr>
              <a:t>Address the top ten most critical internet security threats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Look for them at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www.sans.org/top20/2000/</a:t>
            </a:r>
            <a:r>
              <a:rPr lang="en-US" sz="2800" dirty="0"/>
              <a:t> (system admin network security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periodic IT security audit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Evaluate whether a well-thought-out security policy in place and if it is followed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Resulted in a list of items to be corrected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19263"/>
            <a:ext cx="8407400" cy="4757737"/>
          </a:xfrm>
        </p:spPr>
        <p:txBody>
          <a:bodyPr>
            <a:noAutofit/>
          </a:bodyPr>
          <a:lstStyle/>
          <a:p>
            <a:pPr marL="223838" indent="-223838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660033"/>
                </a:solidFill>
              </a:rPr>
              <a:t>Intrusion detection systems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Monitors systems and network resources and activities and, using information gathered, notifies authority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400" dirty="0"/>
              <a:t>Two approaches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sz="2400" b="1" i="1" dirty="0"/>
              <a:t>Knowledge-based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Contains info about specific attacks and system vulnerabilities and watch and watch for attempt to exploit these vulnerabilities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Example: repeated login failures, attempting to download a program to a server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23838" indent="-223838" eaLnBrk="1" fontAlgn="auto" hangingPunct="1">
              <a:spcAft>
                <a:spcPts val="0"/>
              </a:spcAft>
              <a:defRPr/>
            </a:pPr>
            <a:r>
              <a:rPr lang="en-US" sz="2400" dirty="0"/>
              <a:t>Intrusion detection systems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/>
              <a:t>2. </a:t>
            </a:r>
            <a:r>
              <a:rPr lang="en-US" sz="2400" b="1" i="1" dirty="0"/>
              <a:t>Behavior-based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Develop a model of normal behavior of the system and its users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Compare current activity to this model and generate an alarm if a deviation is observed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Example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/>
              <a:t>Unusual traffic at odd hours, a user from different department is accessing an accounting system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23838" indent="-223838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660033"/>
                </a:solidFill>
              </a:rPr>
              <a:t>Honeypot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To provide would-be hackers with fake information about network by means of a decoy server to confuse them, trace them, or keep a record for prosecution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Is well-isolated from the rest of the network and is capable of extensively logging the activities of intruders</a:t>
            </a:r>
          </a:p>
          <a:p>
            <a:pPr marL="223838" indent="-22383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1075" y="457200"/>
            <a:ext cx="7477125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600" b="1" dirty="0">
                <a:solidFill>
                  <a:srgbClr val="660033"/>
                </a:solidFill>
              </a:rPr>
              <a:t>Encryption tools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600" b="1" dirty="0"/>
              <a:t>Cryptography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dirty="0"/>
              <a:t>Is the making and breaking of secret codes; the art and science of hiding data in plain sight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600" dirty="0"/>
              <a:t>To transform (encryption) a message or data (called plaintext) into a form that is meaningless (called </a:t>
            </a:r>
            <a:r>
              <a:rPr lang="en-US" sz="2600" dirty="0" err="1"/>
              <a:t>ciphertext</a:t>
            </a:r>
            <a:r>
              <a:rPr lang="en-US" sz="2600" dirty="0"/>
              <a:t>) to anyone who might intercept it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600" dirty="0"/>
              <a:t>The recipient of the </a:t>
            </a:r>
            <a:r>
              <a:rPr lang="en-US" sz="2600" dirty="0" err="1"/>
              <a:t>ciphertext</a:t>
            </a:r>
            <a:r>
              <a:rPr lang="en-US" sz="2600" dirty="0"/>
              <a:t> decodes (decryption) and reads the plaintext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600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19263"/>
            <a:ext cx="8839200" cy="4833937"/>
          </a:xfrm>
        </p:spPr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300" b="1" dirty="0"/>
              <a:t>Symmetric encryption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A single key is needed to encrypt and decrypt a message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Both sender and recipient must know the key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The key must be secure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300" dirty="0"/>
              <a:t>Public key cryptography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There are two mathematically related keys; one for encryption and the other for decryption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Each person has a pair of keys; encryption key is public key and decryption key is private key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300" dirty="0"/>
              <a:t>Public key can be made available in directories so that anyone want send message can use the recipient</a:t>
            </a:r>
            <a:r>
              <a:rPr lang="en-US" sz="2300" dirty="0">
                <a:latin typeface="Times New Roman" pitchFamily="18" charset="0"/>
              </a:rPr>
              <a:t>’</a:t>
            </a:r>
            <a:r>
              <a:rPr lang="en-US" sz="2300" dirty="0"/>
              <a:t>s public key</a:t>
            </a:r>
          </a:p>
          <a:p>
            <a:pPr marL="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300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Security countermeasures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Protecting communications from unauthorized access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Protecting data in transit from unauthorized access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Protecting stored data from unauthorized access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Authentication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Digital cash and micropayment system</a:t>
            </a:r>
          </a:p>
          <a:p>
            <a:pPr marL="274320" eaLnBrk="1" fontAlgn="auto" hangingPunct="1">
              <a:spcAft>
                <a:spcPts val="0"/>
              </a:spcAft>
              <a:defRPr/>
            </a:pPr>
            <a:r>
              <a:rPr lang="en-US" sz="2800" dirty="0"/>
              <a:t>Protection of intellectual property in electronic form from copyright infringement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Uses of Encryption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29C2B3-25FE-CB44-9B67-02C3B1ED80EB}"/>
              </a:ext>
            </a:extLst>
          </p:cNvPr>
          <p:cNvSpPr txBox="1">
            <a:spLocks/>
          </p:cNvSpPr>
          <p:nvPr/>
        </p:nvSpPr>
        <p:spPr>
          <a:xfrm>
            <a:off x="762000" y="360362"/>
            <a:ext cx="8229600" cy="7429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3600" b="1" dirty="0">
                <a:solidFill>
                  <a:srgbClr val="FFFF00"/>
                </a:solidFill>
                <a:cs typeface="Verdana"/>
              </a:rPr>
              <a:t>Challenges in the cyber environment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CA750-213C-D64E-B1C9-BBD06DEC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19262"/>
            <a:ext cx="5562600" cy="5014157"/>
          </a:xfrm>
        </p:spPr>
        <p:txBody>
          <a:bodyPr>
            <a:normAutofit fontScale="92500" lnSpcReduction="10000"/>
          </a:bodyPr>
          <a:lstStyle/>
          <a:p>
            <a:pPr marL="400050" indent="-285750">
              <a:spcBef>
                <a:spcPct val="25000"/>
              </a:spcBef>
            </a:pPr>
            <a:r>
              <a:rPr lang="en-US" sz="1600" b="1" dirty="0">
                <a:solidFill>
                  <a:srgbClr val="660033"/>
                </a:solidFill>
                <a:ea typeface="Verdana" pitchFamily="34" charset="0"/>
                <a:cs typeface="Verdana" pitchFamily="34" charset="0"/>
              </a:rPr>
              <a:t>1. </a:t>
            </a:r>
            <a:r>
              <a:rPr lang="en-US" sz="1400" b="1" dirty="0">
                <a:solidFill>
                  <a:srgbClr val="660033"/>
                </a:solidFill>
                <a:ea typeface="Verdana" pitchFamily="34" charset="0"/>
                <a:cs typeface="Verdana" pitchFamily="34" charset="0"/>
              </a:rPr>
              <a:t>Globalization</a:t>
            </a:r>
          </a:p>
          <a:p>
            <a:pPr marL="400050" lvl="1" indent="-285750">
              <a:spcBef>
                <a:spcPct val="25000"/>
              </a:spcBef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Differences in provisions on laws and jurisdiction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Differences in culture, religion, social values across countries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Access to content across borders</a:t>
            </a:r>
          </a:p>
          <a:p>
            <a:pPr marL="400050" lvl="1" indent="-285750"/>
            <a:endParaRPr lang="en-US" sz="1400" dirty="0">
              <a:ea typeface="Verdana" pitchFamily="34" charset="0"/>
              <a:cs typeface="Verdana" pitchFamily="34" charset="0"/>
            </a:endParaRPr>
          </a:p>
          <a:p>
            <a:pPr marL="125412" indent="-285750"/>
            <a:r>
              <a:rPr lang="en-US" sz="1600" b="1" dirty="0">
                <a:solidFill>
                  <a:srgbClr val="660033"/>
                </a:solidFill>
                <a:ea typeface="Verdana" pitchFamily="34" charset="0"/>
                <a:cs typeface="Verdana" pitchFamily="34" charset="0"/>
              </a:rPr>
              <a:t>2. Enforcement Process</a:t>
            </a:r>
          </a:p>
          <a:p>
            <a:pPr marL="400050" lvl="1" indent="-285750">
              <a:spcBef>
                <a:spcPct val="25000"/>
              </a:spcBef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Unidentifiable/not traceable suspects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Offender overseas – process to extradite accused is complicated and costly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Foreign based websites/operators not subjected to Malaysian laws &amp; jurisdictions of LEAs</a:t>
            </a:r>
            <a:endParaRPr lang="en-US" sz="1400" i="1" dirty="0">
              <a:ea typeface="Verdana" pitchFamily="34" charset="0"/>
              <a:cs typeface="Verdana" pitchFamily="34" charset="0"/>
            </a:endParaRPr>
          </a:p>
          <a:p>
            <a:pPr marL="400050" lvl="1" indent="-285750"/>
            <a:endParaRPr lang="en-US" sz="1400" dirty="0">
              <a:ea typeface="Verdana" pitchFamily="34" charset="0"/>
              <a:cs typeface="Verdana" pitchFamily="34" charset="0"/>
            </a:endParaRPr>
          </a:p>
          <a:p>
            <a:pPr marL="125412" indent="-285750"/>
            <a:r>
              <a:rPr lang="en-US" sz="1600" b="1" dirty="0">
                <a:solidFill>
                  <a:srgbClr val="660033"/>
                </a:solidFill>
                <a:ea typeface="Verdana" pitchFamily="34" charset="0"/>
                <a:cs typeface="Verdana" pitchFamily="34" charset="0"/>
              </a:rPr>
              <a:t>3. Technology capabilities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Increasing usage of media and communications medium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Fast changing technology</a:t>
            </a:r>
          </a:p>
          <a:p>
            <a:pPr marL="114300" lvl="1"/>
            <a:endParaRPr lang="en-US" sz="1400" i="1" dirty="0">
              <a:solidFill>
                <a:srgbClr val="660033"/>
              </a:solidFill>
              <a:ea typeface="Verdana" pitchFamily="34" charset="0"/>
              <a:cs typeface="Verdana" pitchFamily="34" charset="0"/>
            </a:endParaRPr>
          </a:p>
          <a:p>
            <a:pPr marL="285750" indent="-285750"/>
            <a:r>
              <a:rPr lang="en-US" sz="1600" b="1" dirty="0">
                <a:solidFill>
                  <a:srgbClr val="660033"/>
                </a:solidFill>
                <a:ea typeface="Verdana" pitchFamily="34" charset="0"/>
                <a:cs typeface="Verdana" pitchFamily="34" charset="0"/>
              </a:rPr>
              <a:t>4. Consumer empowerment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Consumers not as careful online as they are offline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Still some reluctance on users’ part to take own action (which includes reporting to web administrator or filing civil action)</a:t>
            </a:r>
          </a:p>
          <a:p>
            <a:pPr marL="400050" lvl="1" indent="-285750">
              <a:buFontTx/>
              <a:buChar char="-"/>
            </a:pPr>
            <a:r>
              <a:rPr lang="en-US" sz="1400" dirty="0">
                <a:ea typeface="Verdana" pitchFamily="34" charset="0"/>
                <a:cs typeface="Verdana" pitchFamily="34" charset="0"/>
              </a:rPr>
              <a:t>Low levels of legal literacy</a:t>
            </a:r>
            <a:endParaRPr lang="en-US" sz="1600" dirty="0"/>
          </a:p>
        </p:txBody>
      </p:sp>
      <p:pic>
        <p:nvPicPr>
          <p:cNvPr id="9" name="Picture 45" descr="4026083719_3153f19d8e_b.jpg">
            <a:hlinkClick r:id="" action="ppaction://noaction"/>
            <a:extLst>
              <a:ext uri="{FF2B5EF4-FFF2-40B4-BE49-F238E27FC236}">
                <a16:creationId xmlns:a16="http://schemas.microsoft.com/office/drawing/2014/main" id="{13B12D3E-6EDE-934B-911D-3AE869F88CC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6725" r="33997"/>
          <a:stretch>
            <a:fillRect/>
          </a:stretch>
        </p:blipFill>
        <p:spPr bwMode="auto">
          <a:xfrm>
            <a:off x="5791200" y="1447800"/>
            <a:ext cx="3352800" cy="5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120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614764398"/>
              </p:ext>
            </p:extLst>
          </p:nvPr>
        </p:nvGraphicFramePr>
        <p:xfrm>
          <a:off x="381000" y="1600200"/>
          <a:ext cx="8610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156DDA68-9B2B-8D4A-9255-493CF8C46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62925" cy="579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1171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3542</Words>
  <Application>Microsoft Macintosh PowerPoint</Application>
  <PresentationFormat>On-screen Show (4:3)</PresentationFormat>
  <Paragraphs>437</Paragraphs>
  <Slides>61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Arial Unicode MS</vt:lpstr>
      <vt:lpstr>Calibri</vt:lpstr>
      <vt:lpstr>Franklin Gothic Medium</vt:lpstr>
      <vt:lpstr>Symbol</vt:lpstr>
      <vt:lpstr>Times New Roman</vt:lpstr>
      <vt:lpstr>Verdana</vt:lpstr>
      <vt:lpstr>Wingdings</vt:lpstr>
      <vt:lpstr>Wingdings 2</vt:lpstr>
      <vt:lpstr>Theme1</vt:lpstr>
      <vt:lpstr>Chapter 6:  CYBER SECURITY AND RISK ANALYSIS</vt:lpstr>
      <vt:lpstr>OBJECTIVES</vt:lpstr>
      <vt:lpstr>contents</vt:lpstr>
      <vt:lpstr>Introduction</vt:lpstr>
      <vt:lpstr>IT Security Incidents</vt:lpstr>
      <vt:lpstr>Defining Computer Security (1)</vt:lpstr>
      <vt:lpstr>Defining Computer Security (2)</vt:lpstr>
      <vt:lpstr>Defining Computer Security (3)</vt:lpstr>
      <vt:lpstr>Defining Computer Security (4)</vt:lpstr>
      <vt:lpstr>Three Aspects of Cyber security:  Data, System, and Network Security </vt:lpstr>
      <vt:lpstr>Data Security:  Confidentiality, Integrity, and  Availability of Information</vt:lpstr>
      <vt:lpstr>Data Security (Cont.)</vt:lpstr>
      <vt:lpstr>System Security</vt:lpstr>
      <vt:lpstr>System Security (Cont.)</vt:lpstr>
      <vt:lpstr>Network Security</vt:lpstr>
      <vt:lpstr>Network Security (Cont.)</vt:lpstr>
      <vt:lpstr>Network Security (Cont.)</vt:lpstr>
      <vt:lpstr>Hacking (1/3)</vt:lpstr>
      <vt:lpstr>Hacking (2/3)</vt:lpstr>
      <vt:lpstr>Hacking (3/3)</vt:lpstr>
      <vt:lpstr>Hacker Ethic (1/5)</vt:lpstr>
      <vt:lpstr>Hacker Ethic (2/5)</vt:lpstr>
      <vt:lpstr>Hacker Ethic (3/5)</vt:lpstr>
      <vt:lpstr>Hacker Ethic (4/5)</vt:lpstr>
      <vt:lpstr>Hacker Ethic (5/5)</vt:lpstr>
      <vt:lpstr>Examples (1/5)</vt:lpstr>
      <vt:lpstr>Examples (2/5)</vt:lpstr>
      <vt:lpstr>Examples (3/5)</vt:lpstr>
      <vt:lpstr>Examples (4/5) </vt:lpstr>
      <vt:lpstr>Examples (5/5)</vt:lpstr>
      <vt:lpstr>Viruses, Worms, and Trojan Horses</vt:lpstr>
      <vt:lpstr>Viruses (1/2)</vt:lpstr>
      <vt:lpstr>Viruses (2/2)</vt:lpstr>
      <vt:lpstr>Worms</vt:lpstr>
      <vt:lpstr>CASE: The Internet Worm</vt:lpstr>
      <vt:lpstr>Ethical Evaluation</vt:lpstr>
      <vt:lpstr>Trojan Horses</vt:lpstr>
      <vt:lpstr>Trojan Horses</vt:lpstr>
      <vt:lpstr>Trojan Horses</vt:lpstr>
      <vt:lpstr>Defensive Measures</vt:lpstr>
      <vt:lpstr>Attacks</vt:lpstr>
      <vt:lpstr>Denial-of-Service Attacks</vt:lpstr>
      <vt:lpstr>Attacks that Consume Scarce Resources</vt:lpstr>
      <vt:lpstr>Distributed Denial-of-Service Attacks</vt:lpstr>
      <vt:lpstr>Defensive Measures</vt:lpstr>
      <vt:lpstr>Penalties for Hacking (the Law)</vt:lpstr>
      <vt:lpstr>Catching Hackers</vt:lpstr>
      <vt:lpstr>Security countermeasure</vt:lpstr>
      <vt:lpstr>Security countermeasure</vt:lpstr>
      <vt:lpstr>Security countermeasures</vt:lpstr>
      <vt:lpstr>Security countermeasures</vt:lpstr>
      <vt:lpstr>Security countermeasures</vt:lpstr>
      <vt:lpstr>Security countermeasures</vt:lpstr>
      <vt:lpstr>Security countermeasures</vt:lpstr>
      <vt:lpstr>Security countermeasures</vt:lpstr>
      <vt:lpstr>Security countermeasures</vt:lpstr>
      <vt:lpstr>Security countermeasures</vt:lpstr>
      <vt:lpstr>Security countermeasures</vt:lpstr>
      <vt:lpstr>Uses of Encryption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CYBER SECURITY AND RISK ANALYSIS</dc:title>
  <dc:creator>ROZI NOR HAIZAN BINTI NOR</dc:creator>
  <cp:lastModifiedBy>ROZI NOR HAIZAN BINTI NOR</cp:lastModifiedBy>
  <cp:revision>7</cp:revision>
  <dcterms:created xsi:type="dcterms:W3CDTF">2021-12-16T08:55:41Z</dcterms:created>
  <dcterms:modified xsi:type="dcterms:W3CDTF">2025-05-13T00:41:29Z</dcterms:modified>
</cp:coreProperties>
</file>