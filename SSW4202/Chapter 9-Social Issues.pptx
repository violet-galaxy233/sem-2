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86" r:id="rId1"/>
  </p:sldMasterIdLst>
  <p:notesMasterIdLst>
    <p:notesMasterId r:id="rId44"/>
  </p:notesMasterIdLst>
  <p:handoutMasterIdLst>
    <p:handoutMasterId r:id="rId45"/>
  </p:handoutMasterIdLst>
  <p:sldIdLst>
    <p:sldId id="302" r:id="rId2"/>
    <p:sldId id="303" r:id="rId3"/>
    <p:sldId id="304" r:id="rId4"/>
    <p:sldId id="305" r:id="rId5"/>
    <p:sldId id="306" r:id="rId6"/>
    <p:sldId id="307" r:id="rId7"/>
    <p:sldId id="308" r:id="rId8"/>
    <p:sldId id="309" r:id="rId9"/>
    <p:sldId id="310" r:id="rId10"/>
    <p:sldId id="311" r:id="rId11"/>
    <p:sldId id="312" r:id="rId12"/>
    <p:sldId id="313" r:id="rId13"/>
    <p:sldId id="314" r:id="rId14"/>
    <p:sldId id="315" r:id="rId15"/>
    <p:sldId id="316" r:id="rId16"/>
    <p:sldId id="317" r:id="rId17"/>
    <p:sldId id="318" r:id="rId18"/>
    <p:sldId id="319" r:id="rId19"/>
    <p:sldId id="320" r:id="rId20"/>
    <p:sldId id="321" r:id="rId21"/>
    <p:sldId id="322" r:id="rId22"/>
    <p:sldId id="323" r:id="rId23"/>
    <p:sldId id="324" r:id="rId24"/>
    <p:sldId id="325" r:id="rId25"/>
    <p:sldId id="326" r:id="rId26"/>
    <p:sldId id="327" r:id="rId27"/>
    <p:sldId id="328" r:id="rId28"/>
    <p:sldId id="329" r:id="rId29"/>
    <p:sldId id="330" r:id="rId30"/>
    <p:sldId id="331" r:id="rId31"/>
    <p:sldId id="332" r:id="rId32"/>
    <p:sldId id="333" r:id="rId33"/>
    <p:sldId id="334" r:id="rId34"/>
    <p:sldId id="335" r:id="rId35"/>
    <p:sldId id="336" r:id="rId36"/>
    <p:sldId id="337" r:id="rId37"/>
    <p:sldId id="338" r:id="rId38"/>
    <p:sldId id="339" r:id="rId39"/>
    <p:sldId id="340" r:id="rId40"/>
    <p:sldId id="341" r:id="rId41"/>
    <p:sldId id="342" r:id="rId42"/>
    <p:sldId id="343" r:id="rId43"/>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bg1"/>
        </a:solidFill>
        <a:latin typeface="Times New Roman" pitchFamily="18" charset="0"/>
        <a:ea typeface="MS Gothic" charset="-128"/>
        <a:cs typeface="+mn-cs"/>
      </a:defRPr>
    </a:lvl1pPr>
    <a:lvl2pPr marL="457200" algn="l" rtl="0" eaLnBrk="0" fontAlgn="base" hangingPunct="0">
      <a:spcBef>
        <a:spcPct val="0"/>
      </a:spcBef>
      <a:spcAft>
        <a:spcPct val="0"/>
      </a:spcAft>
      <a:defRPr kern="1200">
        <a:solidFill>
          <a:schemeClr val="bg1"/>
        </a:solidFill>
        <a:latin typeface="Times New Roman" pitchFamily="18" charset="0"/>
        <a:ea typeface="MS Gothic" charset="-128"/>
        <a:cs typeface="+mn-cs"/>
      </a:defRPr>
    </a:lvl2pPr>
    <a:lvl3pPr marL="914400" algn="l" rtl="0" eaLnBrk="0" fontAlgn="base" hangingPunct="0">
      <a:spcBef>
        <a:spcPct val="0"/>
      </a:spcBef>
      <a:spcAft>
        <a:spcPct val="0"/>
      </a:spcAft>
      <a:defRPr kern="1200">
        <a:solidFill>
          <a:schemeClr val="bg1"/>
        </a:solidFill>
        <a:latin typeface="Times New Roman" pitchFamily="18" charset="0"/>
        <a:ea typeface="MS Gothic" charset="-128"/>
        <a:cs typeface="+mn-cs"/>
      </a:defRPr>
    </a:lvl3pPr>
    <a:lvl4pPr marL="1371600" algn="l" rtl="0" eaLnBrk="0" fontAlgn="base" hangingPunct="0">
      <a:spcBef>
        <a:spcPct val="0"/>
      </a:spcBef>
      <a:spcAft>
        <a:spcPct val="0"/>
      </a:spcAft>
      <a:defRPr kern="1200">
        <a:solidFill>
          <a:schemeClr val="bg1"/>
        </a:solidFill>
        <a:latin typeface="Times New Roman" pitchFamily="18" charset="0"/>
        <a:ea typeface="MS Gothic" charset="-128"/>
        <a:cs typeface="+mn-cs"/>
      </a:defRPr>
    </a:lvl4pPr>
    <a:lvl5pPr marL="1828800" algn="l" rtl="0" eaLnBrk="0" fontAlgn="base" hangingPunct="0">
      <a:spcBef>
        <a:spcPct val="0"/>
      </a:spcBef>
      <a:spcAft>
        <a:spcPct val="0"/>
      </a:spcAft>
      <a:defRPr kern="1200">
        <a:solidFill>
          <a:schemeClr val="bg1"/>
        </a:solidFill>
        <a:latin typeface="Times New Roman" pitchFamily="18" charset="0"/>
        <a:ea typeface="MS Gothic" charset="-128"/>
        <a:cs typeface="+mn-cs"/>
      </a:defRPr>
    </a:lvl5pPr>
    <a:lvl6pPr marL="2286000" algn="l" defTabSz="914400" rtl="0" eaLnBrk="1" latinLnBrk="0" hangingPunct="1">
      <a:defRPr kern="1200">
        <a:solidFill>
          <a:schemeClr val="bg1"/>
        </a:solidFill>
        <a:latin typeface="Times New Roman" pitchFamily="18" charset="0"/>
        <a:ea typeface="MS Gothic" charset="-128"/>
        <a:cs typeface="+mn-cs"/>
      </a:defRPr>
    </a:lvl6pPr>
    <a:lvl7pPr marL="2743200" algn="l" defTabSz="914400" rtl="0" eaLnBrk="1" latinLnBrk="0" hangingPunct="1">
      <a:defRPr kern="1200">
        <a:solidFill>
          <a:schemeClr val="bg1"/>
        </a:solidFill>
        <a:latin typeface="Times New Roman" pitchFamily="18" charset="0"/>
        <a:ea typeface="MS Gothic" charset="-128"/>
        <a:cs typeface="+mn-cs"/>
      </a:defRPr>
    </a:lvl7pPr>
    <a:lvl8pPr marL="3200400" algn="l" defTabSz="914400" rtl="0" eaLnBrk="1" latinLnBrk="0" hangingPunct="1">
      <a:defRPr kern="1200">
        <a:solidFill>
          <a:schemeClr val="bg1"/>
        </a:solidFill>
        <a:latin typeface="Times New Roman" pitchFamily="18" charset="0"/>
        <a:ea typeface="MS Gothic" charset="-128"/>
        <a:cs typeface="+mn-cs"/>
      </a:defRPr>
    </a:lvl8pPr>
    <a:lvl9pPr marL="3657600" algn="l" defTabSz="914400" rtl="0" eaLnBrk="1" latinLnBrk="0" hangingPunct="1">
      <a:defRPr kern="1200">
        <a:solidFill>
          <a:schemeClr val="bg1"/>
        </a:solidFill>
        <a:latin typeface="Times New Roman" pitchFamily="18" charset="0"/>
        <a:ea typeface="MS Gothic"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99FF33"/>
    <a:srgbClr val="3333FF"/>
    <a:srgbClr val="003300"/>
    <a:srgbClr val="99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53"/>
    <p:restoredTop sz="90947"/>
  </p:normalViewPr>
  <p:slideViewPr>
    <p:cSldViewPr>
      <p:cViewPr varScale="1">
        <p:scale>
          <a:sx n="115" d="100"/>
          <a:sy n="115" d="100"/>
        </p:scale>
        <p:origin x="576" y="192"/>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9" d="100"/>
          <a:sy n="59" d="100"/>
        </p:scale>
        <p:origin x="-175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charset="0"/>
                <a:ea typeface="+mn-ea"/>
              </a:defRPr>
            </a:lvl1pPr>
          </a:lstStyle>
          <a:p>
            <a:pPr>
              <a:defRPr/>
            </a:pPr>
            <a:endParaRPr lang="en-US"/>
          </a:p>
        </p:txBody>
      </p:sp>
      <p:sp>
        <p:nvSpPr>
          <p:cNvPr id="5427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charset="0"/>
                <a:ea typeface="+mn-ea"/>
              </a:defRPr>
            </a:lvl1pPr>
          </a:lstStyle>
          <a:p>
            <a:pPr>
              <a:defRPr/>
            </a:pPr>
            <a:endParaRPr lang="en-US"/>
          </a:p>
        </p:txBody>
      </p:sp>
      <p:sp>
        <p:nvSpPr>
          <p:cNvPr id="5427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charset="0"/>
                <a:ea typeface="+mn-ea"/>
              </a:defRPr>
            </a:lvl1pPr>
          </a:lstStyle>
          <a:p>
            <a:pPr>
              <a:defRPr/>
            </a:pPr>
            <a:endParaRPr lang="en-US"/>
          </a:p>
        </p:txBody>
      </p:sp>
      <p:sp>
        <p:nvSpPr>
          <p:cNvPr id="5427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charset="0"/>
                <a:ea typeface="+mn-ea"/>
              </a:defRPr>
            </a:lvl1pPr>
          </a:lstStyle>
          <a:p>
            <a:pPr>
              <a:defRPr/>
            </a:pPr>
            <a:fld id="{44E3F90B-5A34-49FB-AA35-648D13953962}" type="slidenum">
              <a:rPr lang="en-US"/>
              <a:pPr>
                <a:defRPr/>
              </a:pPr>
              <a:t>‹#›</a:t>
            </a:fld>
            <a:endParaRPr lang="en-US"/>
          </a:p>
        </p:txBody>
      </p:sp>
    </p:spTree>
    <p:extLst>
      <p:ext uri="{BB962C8B-B14F-4D97-AF65-F5344CB8AC3E}">
        <p14:creationId xmlns:p14="http://schemas.microsoft.com/office/powerpoint/2010/main" val="20949186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178" name="Rectangle 1"/>
          <p:cNvSpPr>
            <a:spLocks noGrp="1" noRot="1" noChangeAspect="1" noChangeArrowheads="1" noTextEdit="1"/>
          </p:cNvSpPr>
          <p:nvPr>
            <p:ph type="sldImg"/>
          </p:nvPr>
        </p:nvSpPr>
        <p:spPr bwMode="auto">
          <a:xfrm>
            <a:off x="0" y="303213"/>
            <a:ext cx="1588" cy="1587"/>
          </a:xfrm>
          <a:prstGeom prst="rect">
            <a:avLst/>
          </a:prstGeom>
          <a:solidFill>
            <a:srgbClr val="FFFFFF"/>
          </a:solidFill>
          <a:ln w="9525">
            <a:solidFill>
              <a:srgbClr val="000000"/>
            </a:solidFill>
            <a:miter lim="800000"/>
            <a:headEnd/>
            <a:tailEnd/>
          </a:ln>
        </p:spPr>
      </p:sp>
      <p:sp>
        <p:nvSpPr>
          <p:cNvPr id="3074" name="Rectangle 2"/>
          <p:cNvSpPr txBox="1">
            <a:spLocks noGrp="1" noChangeArrowheads="1"/>
          </p:cNvSpPr>
          <p:nvPr>
            <p:ph type="body" idx="1"/>
          </p:nvPr>
        </p:nvSpPr>
        <p:spPr bwMode="auto">
          <a:xfrm>
            <a:off x="503238" y="4316413"/>
            <a:ext cx="5856287" cy="405923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endParaRPr lang="en-US" noProof="0"/>
          </a:p>
        </p:txBody>
      </p:sp>
    </p:spTree>
    <p:extLst>
      <p:ext uri="{BB962C8B-B14F-4D97-AF65-F5344CB8AC3E}">
        <p14:creationId xmlns:p14="http://schemas.microsoft.com/office/powerpoint/2010/main" val="3620033370"/>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7010400" y="152399"/>
            <a:ext cx="19812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53923"/>
            <a:ext cx="6705600" cy="6553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7010400" y="2052960"/>
            <a:ext cx="1981200" cy="1828800"/>
          </a:xfrm>
        </p:spPr>
        <p:txBody>
          <a:bodyPr anchor="ctr">
            <a:normAutofit/>
          </a:bodyPr>
          <a:lstStyle>
            <a:lvl1pPr marL="0" indent="0" algn="l">
              <a:buNone/>
              <a:defRPr sz="19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0" name="Date Placeholder 9"/>
          <p:cNvSpPr>
            <a:spLocks noGrp="1"/>
          </p:cNvSpPr>
          <p:nvPr>
            <p:ph type="dt" sz="half" idx="10"/>
          </p:nvPr>
        </p:nvSpPr>
        <p:spPr/>
        <p:txBody>
          <a:bodyPr/>
          <a:lstStyle>
            <a:lvl1pPr>
              <a:defRPr>
                <a:solidFill>
                  <a:schemeClr val="bg2"/>
                </a:solidFill>
              </a:defRPr>
            </a:lvl1pPr>
          </a:lstStyle>
          <a:p>
            <a:pPr>
              <a:defRPr/>
            </a:pPr>
            <a:endParaRPr lang="en-US"/>
          </a:p>
        </p:txBody>
      </p:sp>
      <p:sp>
        <p:nvSpPr>
          <p:cNvPr id="11" name="Slide Number Placeholder 10"/>
          <p:cNvSpPr>
            <a:spLocks noGrp="1"/>
          </p:cNvSpPr>
          <p:nvPr>
            <p:ph type="sldNum" sz="quarter" idx="11"/>
          </p:nvPr>
        </p:nvSpPr>
        <p:spPr/>
        <p:txBody>
          <a:bodyPr/>
          <a:lstStyle>
            <a:lvl1pPr>
              <a:defRPr>
                <a:solidFill>
                  <a:srgbClr val="FFFFFF"/>
                </a:solidFill>
              </a:defRPr>
            </a:lvl1pPr>
          </a:lstStyle>
          <a:p>
            <a:pPr>
              <a:defRPr/>
            </a:pPr>
            <a:fld id="{CCDC7F88-AC99-4B8B-9118-66FE7D39D712}" type="slidenum">
              <a:rPr lang="en-US" smtClean="0"/>
              <a:pPr>
                <a:defRPr/>
              </a:pPr>
              <a:t>‹#›</a:t>
            </a:fld>
            <a:endParaRPr lang="en-US"/>
          </a:p>
        </p:txBody>
      </p:sp>
      <p:sp>
        <p:nvSpPr>
          <p:cNvPr id="12" name="Footer Placeholder 11"/>
          <p:cNvSpPr>
            <a:spLocks noGrp="1"/>
          </p:cNvSpPr>
          <p:nvPr>
            <p:ph type="ftr" sz="quarter" idx="12"/>
          </p:nvPr>
        </p:nvSpPr>
        <p:spPr/>
        <p:txBody>
          <a:bodyPr/>
          <a:lstStyle>
            <a:lvl1pPr>
              <a:defRPr>
                <a:solidFill>
                  <a:schemeClr val="bg2"/>
                </a:solidFill>
              </a:defRPr>
            </a:lvl1pPr>
          </a:lstStyle>
          <a:p>
            <a:pPr>
              <a:defRPr/>
            </a:pPr>
            <a:endParaRPr lang="en-US"/>
          </a:p>
        </p:txBody>
      </p:sp>
      <p:sp>
        <p:nvSpPr>
          <p:cNvPr id="13" name="Title 12"/>
          <p:cNvSpPr>
            <a:spLocks noGrp="1"/>
          </p:cNvSpPr>
          <p:nvPr>
            <p:ph type="title"/>
          </p:nvPr>
        </p:nvSpPr>
        <p:spPr>
          <a:xfrm>
            <a:off x="457200" y="2052960"/>
            <a:ext cx="6324600" cy="1828800"/>
          </a:xfrm>
        </p:spPr>
        <p:txBody>
          <a:bodyPr/>
          <a:lstStyle>
            <a:lvl1pPr algn="r">
              <a:defRPr sz="4200" spc="150" baseline="0"/>
            </a:lvl1pPr>
          </a:lstStyle>
          <a:p>
            <a:r>
              <a:rPr lang="en-US"/>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30A5CAE-472F-4E1E-985A-CDB3BB29500E}" type="slidenum">
              <a:rPr lang="en-US" smtClean="0"/>
              <a:pPr>
                <a:defRPr/>
              </a:pPr>
              <a:t>‹#›</a:t>
            </a:fld>
            <a:endParaRPr lang="en-US"/>
          </a:p>
        </p:txBody>
      </p:sp>
      <p:sp>
        <p:nvSpPr>
          <p:cNvPr id="7" name="Title 6"/>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7010400" y="152399"/>
            <a:ext cx="1981200"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53923"/>
            <a:ext cx="6705600" cy="6553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7162799" y="2892277"/>
            <a:ext cx="1600201" cy="1645920"/>
          </a:xfrm>
        </p:spPr>
        <p:txBody>
          <a:bodyPr anchor="ctr"/>
          <a:lstStyle>
            <a:lvl1pPr marL="0" indent="0">
              <a:buNone/>
              <a:defRPr sz="20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Date Placeholder 8"/>
          <p:cNvSpPr>
            <a:spLocks noGrp="1"/>
          </p:cNvSpPr>
          <p:nvPr>
            <p:ph type="dt" sz="half" idx="10"/>
          </p:nvPr>
        </p:nvSpPr>
        <p:spPr/>
        <p:txBody>
          <a:bodyPr/>
          <a:lstStyle>
            <a:lvl1pPr>
              <a:defRPr>
                <a:solidFill>
                  <a:srgbClr val="FFFFFF"/>
                </a:solidFill>
              </a:defRPr>
            </a:lvl1pPr>
          </a:lstStyle>
          <a:p>
            <a:pPr>
              <a:defRPr/>
            </a:pPr>
            <a:endParaRPr lang="en-US"/>
          </a:p>
        </p:txBody>
      </p:sp>
      <p:sp>
        <p:nvSpPr>
          <p:cNvPr id="10" name="Slide Number Placeholder 9"/>
          <p:cNvSpPr>
            <a:spLocks noGrp="1"/>
          </p:cNvSpPr>
          <p:nvPr>
            <p:ph type="sldNum" sz="quarter" idx="11"/>
          </p:nvPr>
        </p:nvSpPr>
        <p:spPr/>
        <p:txBody>
          <a:bodyPr/>
          <a:lstStyle>
            <a:lvl1pPr>
              <a:defRPr>
                <a:solidFill>
                  <a:schemeClr val="bg2"/>
                </a:solidFill>
              </a:defRPr>
            </a:lvl1pPr>
          </a:lstStyle>
          <a:p>
            <a:pPr>
              <a:defRPr/>
            </a:pPr>
            <a:fld id="{DF0A8EB6-3BA7-49D6-8971-001D9F1E5E03}" type="slidenum">
              <a:rPr lang="en-US" smtClean="0"/>
              <a:pPr>
                <a:defRPr/>
              </a:pPr>
              <a:t>‹#›</a:t>
            </a:fld>
            <a:endParaRPr lang="en-US"/>
          </a:p>
        </p:txBody>
      </p:sp>
      <p:sp>
        <p:nvSpPr>
          <p:cNvPr id="11" name="Footer Placeholder 10"/>
          <p:cNvSpPr>
            <a:spLocks noGrp="1"/>
          </p:cNvSpPr>
          <p:nvPr>
            <p:ph type="ftr" sz="quarter" idx="12"/>
          </p:nvPr>
        </p:nvSpPr>
        <p:spPr/>
        <p:txBody>
          <a:bodyPr/>
          <a:lstStyle>
            <a:lvl1pPr>
              <a:defRPr>
                <a:solidFill>
                  <a:srgbClr val="FFFFFF"/>
                </a:solidFill>
              </a:defRPr>
            </a:lvl1pPr>
          </a:lstStyle>
          <a:p>
            <a:pPr>
              <a:defRPr/>
            </a:pPr>
            <a:endParaRPr lang="en-US"/>
          </a:p>
        </p:txBody>
      </p:sp>
      <p:sp>
        <p:nvSpPr>
          <p:cNvPr id="12" name="Title 11"/>
          <p:cNvSpPr>
            <a:spLocks noGrp="1"/>
          </p:cNvSpPr>
          <p:nvPr>
            <p:ph type="title"/>
          </p:nvPr>
        </p:nvSpPr>
        <p:spPr>
          <a:xfrm>
            <a:off x="381000" y="2892277"/>
            <a:ext cx="6324600" cy="1645920"/>
          </a:xfrm>
        </p:spPr>
        <p:txBody>
          <a:bodyPr/>
          <a:lstStyle>
            <a:lvl1pPr algn="r">
              <a:defRPr sz="4200" spc="150" baseline="0"/>
            </a:lvl1pPr>
          </a:lstStyle>
          <a:p>
            <a:r>
              <a:rPr lang="en-US"/>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5E0DE364-DB58-4B09-A181-D003CA4F959D}" type="slidenum">
              <a:rPr lang="en-US" smtClean="0"/>
              <a:pPr>
                <a:defRPr/>
              </a:pPr>
              <a:t>‹#›</a:t>
            </a:fld>
            <a:endParaRPr lang="en-US"/>
          </a:p>
        </p:txBody>
      </p:sp>
      <p:sp>
        <p:nvSpPr>
          <p:cNvPr id="8" name="Title 7"/>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722438"/>
            <a:ext cx="4040188"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399"/>
            <a:ext cx="4040188"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722438"/>
            <a:ext cx="4041775"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438399"/>
            <a:ext cx="4041775"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8B2FFCB2-D5FA-428E-9CC8-CA1DE3C0F6C9}" type="slidenum">
              <a:rPr lang="en-US" smtClean="0"/>
              <a:pPr>
                <a:defRPr/>
              </a:pPr>
              <a:t>‹#›</a:t>
            </a:fld>
            <a:endParaRPr lang="en-US"/>
          </a:p>
        </p:txBody>
      </p:sp>
      <p:sp>
        <p:nvSpPr>
          <p:cNvPr id="10" name="Title 9"/>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D910D298-B0DD-494D-9E4B-A1014DAFA85A}" type="slidenum">
              <a:rPr lang="en-US" smtClean="0"/>
              <a:pPr>
                <a:defRPr/>
              </a:pPr>
              <a:t>‹#›</a:t>
            </a:fld>
            <a:endParaRPr lang="en-US"/>
          </a:p>
        </p:txBody>
      </p:sp>
      <p:sp>
        <p:nvSpPr>
          <p:cNvPr id="6" name="Title 5"/>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152400" y="150919"/>
            <a:ext cx="8831802"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F3D73025-7B55-4A1D-A40F-984712683ED2}"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10400" y="150876"/>
            <a:ext cx="19812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152400" y="152400"/>
            <a:ext cx="6705600" cy="6553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09600" y="304800"/>
            <a:ext cx="58674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159752" y="2130552"/>
            <a:ext cx="1673352" cy="2816352"/>
          </a:xfrm>
        </p:spPr>
        <p:txBody>
          <a:bodyPr tIns="0"/>
          <a:lstStyle>
            <a:lvl1pPr marL="0" indent="0">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a:ln>
            <a:noFill/>
          </a:ln>
        </p:spPr>
        <p:txBody>
          <a:bodyPr/>
          <a:lstStyle>
            <a:lvl1pPr>
              <a:defRPr>
                <a:solidFill>
                  <a:srgbClr val="FFFFFF"/>
                </a:solidFill>
              </a:defRPr>
            </a:lvl1pPr>
          </a:lstStyle>
          <a:p>
            <a:pPr>
              <a:defRPr/>
            </a:pPr>
            <a:fld id="{4794244A-D92C-493F-ADCD-DE22DCE8B636}" type="slidenum">
              <a:rPr lang="en-US" smtClean="0"/>
              <a:pPr>
                <a:defRPr/>
              </a:pPr>
              <a:t>‹#›</a:t>
            </a:fld>
            <a:endParaRPr lang="en-US"/>
          </a:p>
        </p:txBody>
      </p:sp>
      <p:sp>
        <p:nvSpPr>
          <p:cNvPr id="11" name="Title 10"/>
          <p:cNvSpPr>
            <a:spLocks noGrp="1"/>
          </p:cNvSpPr>
          <p:nvPr>
            <p:ph type="title"/>
          </p:nvPr>
        </p:nvSpPr>
        <p:spPr>
          <a:xfrm>
            <a:off x="7159752" y="457200"/>
            <a:ext cx="1675660" cy="1673352"/>
          </a:xfrm>
        </p:spPr>
        <p:txBody>
          <a:bodyPr anchor="b"/>
          <a:lstStyle>
            <a:lvl1pPr algn="l">
              <a:defRPr sz="2000" spc="150" baseline="0"/>
            </a:lvl1pPr>
          </a:lstStyle>
          <a:p>
            <a:r>
              <a:rPr lang="en-US"/>
              <a:t>Click to edit Master title style</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7010400" y="150876"/>
            <a:ext cx="1981200" cy="65562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152400" y="152400"/>
            <a:ext cx="6705600" cy="6553200"/>
          </a:xfrm>
        </p:spPr>
        <p:txBody>
          <a:bodyPr anchor="ct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162800" y="2133600"/>
            <a:ext cx="1676400" cy="2971800"/>
          </a:xfrm>
        </p:spPr>
        <p:txBody>
          <a:bodyPr tIns="0"/>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C8F49AF5-AEEB-4B0F-8085-AE1C27539D8D}" type="slidenum">
              <a:rPr lang="en-US" smtClean="0"/>
              <a:pPr>
                <a:defRPr/>
              </a:pPr>
              <a:t>‹#›</a:t>
            </a:fld>
            <a:endParaRPr lang="en-US"/>
          </a:p>
        </p:txBody>
      </p:sp>
      <p:sp>
        <p:nvSpPr>
          <p:cNvPr id="10" name="Title 9"/>
          <p:cNvSpPr>
            <a:spLocks noGrp="1"/>
          </p:cNvSpPr>
          <p:nvPr>
            <p:ph type="title"/>
          </p:nvPr>
        </p:nvSpPr>
        <p:spPr>
          <a:xfrm>
            <a:off x="7162800" y="460248"/>
            <a:ext cx="1676400" cy="1673352"/>
          </a:xfrm>
        </p:spPr>
        <p:txBody>
          <a:bodyPr anchor="b"/>
          <a:lstStyle>
            <a:lvl1pPr algn="l">
              <a:defRPr sz="2000" spc="150" baseline="0">
                <a:solidFill>
                  <a:schemeClr val="tx2"/>
                </a:solidFill>
              </a:defRPr>
            </a:lvl1pPr>
          </a:lstStyle>
          <a:p>
            <a:r>
              <a:rPr lang="en-US"/>
              <a:t>Click to edit Master title style</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B5E34B9-E2BE-41EC-9E13-E33D1A5C161C}"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52400" y="147319"/>
            <a:ext cx="6705600"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10400" y="147319"/>
            <a:ext cx="1956046"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7162800" y="274638"/>
            <a:ext cx="16764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lvl1pPr>
              <a:defRPr>
                <a:solidFill>
                  <a:schemeClr val="bg2"/>
                </a:solidFill>
              </a:defRPr>
            </a:lvl1pPr>
          </a:lstStyle>
          <a:p>
            <a:pPr>
              <a:defRPr/>
            </a:pPr>
            <a:fld id="{F0356388-B07E-441D-B424-FBFDDB6C0654}"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7030A0">
            <a:alpha val="0"/>
          </a:srgbClr>
        </a:solidFill>
        <a:effectLst/>
      </p:bgPr>
    </p:bg>
    <p:spTree>
      <p:nvGrpSpPr>
        <p:cNvPr id="1" name=""/>
        <p:cNvGrpSpPr/>
        <p:nvPr/>
      </p:nvGrpSpPr>
      <p:grpSpPr>
        <a:xfrm>
          <a:off x="0" y="0"/>
          <a:ext cx="0" cy="0"/>
          <a:chOff x="0" y="0"/>
          <a:chExt cx="0" cy="0"/>
        </a:xfrm>
      </p:grpSpPr>
      <p:sp>
        <p:nvSpPr>
          <p:cNvPr id="9" name="Rectangle 8"/>
          <p:cNvSpPr/>
          <p:nvPr/>
        </p:nvSpPr>
        <p:spPr>
          <a:xfrm>
            <a:off x="152400" y="1634971"/>
            <a:ext cx="8831802" cy="504547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399" y="152400"/>
            <a:ext cx="8814047" cy="13464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381000" y="355847"/>
            <a:ext cx="8381260" cy="105439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380999" y="1719071"/>
            <a:ext cx="8407893" cy="44074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70888" y="6356350"/>
            <a:ext cx="2133600" cy="274320"/>
          </a:xfrm>
          <a:prstGeom prst="rect">
            <a:avLst/>
          </a:prstGeom>
        </p:spPr>
        <p:txBody>
          <a:bodyPr vert="horz" lIns="91440" tIns="45720" rIns="91440" bIns="45720" rtlCol="0" anchor="ctr"/>
          <a:lstStyle>
            <a:lvl1pPr algn="l">
              <a:defRPr sz="1100">
                <a:solidFill>
                  <a:schemeClr val="tx2"/>
                </a:solidFill>
              </a:defRPr>
            </a:lvl1pPr>
          </a:lstStyle>
          <a:p>
            <a:pPr>
              <a:defRPr/>
            </a:pPr>
            <a:endParaRPr lang="en-US"/>
          </a:p>
        </p:txBody>
      </p:sp>
      <p:sp>
        <p:nvSpPr>
          <p:cNvPr id="5" name="Footer Placeholder 4"/>
          <p:cNvSpPr>
            <a:spLocks noGrp="1"/>
          </p:cNvSpPr>
          <p:nvPr>
            <p:ph type="ftr" sz="quarter" idx="3"/>
          </p:nvPr>
        </p:nvSpPr>
        <p:spPr>
          <a:xfrm>
            <a:off x="3048000" y="6356350"/>
            <a:ext cx="3352800" cy="274320"/>
          </a:xfrm>
          <a:prstGeom prst="rect">
            <a:avLst/>
          </a:prstGeom>
        </p:spPr>
        <p:txBody>
          <a:bodyPr vert="horz" lIns="91440" tIns="45720" rIns="91440" bIns="45720" rtlCol="0" anchor="ctr"/>
          <a:lstStyle>
            <a:lvl1pPr algn="ctr">
              <a:defRPr sz="1100">
                <a:solidFill>
                  <a:schemeClr val="tx2"/>
                </a:solidFill>
              </a:defRPr>
            </a:lvl1pPr>
          </a:lstStyle>
          <a:p>
            <a:pPr>
              <a:defRPr/>
            </a:pPr>
            <a:endParaRPr lang="en-US"/>
          </a:p>
        </p:txBody>
      </p:sp>
      <p:sp>
        <p:nvSpPr>
          <p:cNvPr id="6" name="Slide Number Placeholder 5"/>
          <p:cNvSpPr>
            <a:spLocks noGrp="1"/>
          </p:cNvSpPr>
          <p:nvPr>
            <p:ph type="sldNum" sz="quarter" idx="4"/>
          </p:nvPr>
        </p:nvSpPr>
        <p:spPr>
          <a:xfrm>
            <a:off x="8234680" y="6355080"/>
            <a:ext cx="582966" cy="274320"/>
          </a:xfrm>
          <a:prstGeom prst="rect">
            <a:avLst/>
          </a:prstGeom>
          <a:ln w="19050">
            <a:noFill/>
          </a:ln>
        </p:spPr>
        <p:txBody>
          <a:bodyPr vert="horz" lIns="91440" tIns="45720" rIns="91440" bIns="45720" rtlCol="0" anchor="ctr"/>
          <a:lstStyle>
            <a:lvl1pPr algn="ctr">
              <a:defRPr sz="1100">
                <a:solidFill>
                  <a:schemeClr val="tx2"/>
                </a:solidFill>
              </a:defRPr>
            </a:lvl1pPr>
          </a:lstStyle>
          <a:p>
            <a:pPr>
              <a:defRPr/>
            </a:pPr>
            <a:fld id="{B5194122-D48D-488A-9A26-17B9102A4C8C}"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xStyles>
    <p:titleStyle>
      <a:lvl1pPr algn="ctr" defTabSz="914400" rtl="0" eaLnBrk="1" latinLnBrk="0" hangingPunct="1">
        <a:spcBef>
          <a:spcPct val="0"/>
        </a:spcBef>
        <a:buNone/>
        <a:defRPr sz="3200" kern="1200" cap="all" spc="200" baseline="0">
          <a:ln>
            <a:noFill/>
          </a:ln>
          <a:solidFill>
            <a:schemeClr val="bg1"/>
          </a:solidFill>
          <a:effectLst/>
          <a:latin typeface="+mj-lt"/>
          <a:ea typeface="+mj-ea"/>
          <a:cs typeface="+mj-cs"/>
        </a:defRPr>
      </a:lvl1pPr>
    </p:titleStyle>
    <p:bodyStyle>
      <a:lvl1pPr marL="274320" indent="-228600" algn="l" defTabSz="914400" rtl="0" eaLnBrk="1" latinLnBrk="0" hangingPunct="1">
        <a:spcBef>
          <a:spcPct val="20000"/>
        </a:spcBef>
        <a:buClr>
          <a:schemeClr val="accent1"/>
        </a:buClr>
        <a:buFont typeface="Wingdings 2" pitchFamily="18" charset="2"/>
        <a:buChar char=""/>
        <a:defRPr sz="2000" kern="1200" spc="150" baseline="0">
          <a:solidFill>
            <a:schemeClr val="tx2"/>
          </a:solidFill>
          <a:latin typeface="+mn-lt"/>
          <a:ea typeface="+mn-ea"/>
          <a:cs typeface="+mn-cs"/>
        </a:defRPr>
      </a:lvl1pPr>
      <a:lvl2pPr marL="548640" indent="-182880" algn="l" defTabSz="914400" rtl="0" eaLnBrk="1" latinLnBrk="0" hangingPunct="1">
        <a:spcBef>
          <a:spcPct val="20000"/>
        </a:spcBef>
        <a:buClr>
          <a:schemeClr val="accent2"/>
        </a:buClr>
        <a:buFont typeface="Wingdings" pitchFamily="2" charset="2"/>
        <a:buChar char="§"/>
        <a:defRPr sz="1800" kern="1200" spc="100" baseline="0">
          <a:solidFill>
            <a:schemeClr val="tx2"/>
          </a:solidFill>
          <a:latin typeface="+mn-lt"/>
          <a:ea typeface="+mn-ea"/>
          <a:cs typeface="+mn-cs"/>
        </a:defRPr>
      </a:lvl2pPr>
      <a:lvl3pPr marL="822960" indent="-182880" algn="l" defTabSz="914400" rtl="0" eaLnBrk="1" latinLnBrk="0" hangingPunct="1">
        <a:spcBef>
          <a:spcPct val="20000"/>
        </a:spcBef>
        <a:buClr>
          <a:schemeClr val="accent3"/>
        </a:buClr>
        <a:buFont typeface="Wingdings" pitchFamily="2" charset="2"/>
        <a:buChar char="§"/>
        <a:defRPr sz="1600" kern="1200" spc="100" baseline="0">
          <a:solidFill>
            <a:schemeClr val="tx2"/>
          </a:solidFill>
          <a:latin typeface="+mn-lt"/>
          <a:ea typeface="+mn-ea"/>
          <a:cs typeface="+mn-cs"/>
        </a:defRPr>
      </a:lvl3pPr>
      <a:lvl4pPr marL="1097280" indent="-182880" algn="l" defTabSz="914400" rtl="0" eaLnBrk="1" latinLnBrk="0" hangingPunct="1">
        <a:spcBef>
          <a:spcPct val="20000"/>
        </a:spcBef>
        <a:buClr>
          <a:schemeClr val="accent4"/>
        </a:buClr>
        <a:buFont typeface="Wingdings" pitchFamily="2" charset="2"/>
        <a:buChar char="§"/>
        <a:defRPr sz="1400" kern="1200">
          <a:solidFill>
            <a:schemeClr val="tx2"/>
          </a:solidFill>
          <a:latin typeface="+mn-lt"/>
          <a:ea typeface="+mn-ea"/>
          <a:cs typeface="+mn-cs"/>
        </a:defRPr>
      </a:lvl4pPr>
      <a:lvl5pPr marL="1280160" indent="-182880" algn="l" defTabSz="914400" rtl="0" eaLnBrk="1" latinLnBrk="0" hangingPunct="1">
        <a:spcBef>
          <a:spcPct val="20000"/>
        </a:spcBef>
        <a:buClr>
          <a:schemeClr val="accent6"/>
        </a:buClr>
        <a:buFont typeface="Wingdings" pitchFamily="2" charset="2"/>
        <a:buChar char="§"/>
        <a:defRPr sz="1300" kern="1200" spc="100" baseline="0">
          <a:solidFill>
            <a:schemeClr val="tx2"/>
          </a:solidFill>
          <a:latin typeface="+mn-lt"/>
          <a:ea typeface="+mn-ea"/>
          <a:cs typeface="+mn-cs"/>
        </a:defRPr>
      </a:lvl5pPr>
      <a:lvl6pPr marL="1554480" indent="-182880" algn="l" defTabSz="914400" rtl="0" eaLnBrk="1" latinLnBrk="0" hangingPunct="1">
        <a:spcBef>
          <a:spcPct val="20000"/>
        </a:spcBef>
        <a:buClr>
          <a:schemeClr val="accent1"/>
        </a:buClr>
        <a:buFont typeface="Wingdings" pitchFamily="2" charset="2"/>
        <a:buChar char="§"/>
        <a:defRPr sz="1200" kern="1200">
          <a:solidFill>
            <a:schemeClr val="tx2"/>
          </a:solidFill>
          <a:latin typeface="+mn-lt"/>
          <a:ea typeface="+mn-ea"/>
          <a:cs typeface="+mn-cs"/>
        </a:defRPr>
      </a:lvl6pPr>
      <a:lvl7pPr marL="1828800" indent="-182880" algn="l" defTabSz="914400" rtl="0" eaLnBrk="1" latinLnBrk="0" hangingPunct="1">
        <a:spcBef>
          <a:spcPct val="20000"/>
        </a:spcBef>
        <a:buClr>
          <a:schemeClr val="accent2"/>
        </a:buClr>
        <a:buFont typeface="Wingdings" pitchFamily="2" charset="2"/>
        <a:buChar char="§"/>
        <a:defRPr sz="1200" kern="1200">
          <a:solidFill>
            <a:schemeClr val="tx2"/>
          </a:solidFill>
          <a:latin typeface="+mn-lt"/>
          <a:ea typeface="+mn-ea"/>
          <a:cs typeface="+mn-cs"/>
        </a:defRPr>
      </a:lvl7pPr>
      <a:lvl8pPr marL="2103120" indent="-182880" algn="l" defTabSz="914400" rtl="0" eaLnBrk="1" latinLnBrk="0" hangingPunct="1">
        <a:spcBef>
          <a:spcPct val="20000"/>
        </a:spcBef>
        <a:buClr>
          <a:schemeClr val="accent3"/>
        </a:buClr>
        <a:buFont typeface="Wingdings" pitchFamily="2" charset="2"/>
        <a:buChar char="§"/>
        <a:defRPr sz="1200" kern="1200">
          <a:solidFill>
            <a:schemeClr val="tx2"/>
          </a:solidFill>
          <a:latin typeface="+mn-lt"/>
          <a:ea typeface="+mn-ea"/>
          <a:cs typeface="+mn-cs"/>
        </a:defRPr>
      </a:lvl8pPr>
      <a:lvl9pPr marL="2377440" indent="-182880" algn="l" defTabSz="914400" rtl="0" eaLnBrk="1" latinLnBrk="0" hangingPunct="1">
        <a:spcBef>
          <a:spcPct val="20000"/>
        </a:spcBef>
        <a:buClr>
          <a:schemeClr val="accent5"/>
        </a:buClr>
        <a:buFont typeface="Wingdings" pitchFamily="2" charset="2"/>
        <a:buChar char="§"/>
        <a:defRPr sz="12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7010400" y="5791200"/>
            <a:ext cx="1981200" cy="838200"/>
          </a:xfrm>
        </p:spPr>
        <p:txBody>
          <a:bodyPr>
            <a:normAutofit/>
          </a:bodyPr>
          <a:lstStyle/>
          <a:p>
            <a:pPr algn="r"/>
            <a:r>
              <a:rPr lang="en-MY" sz="1100" b="1" dirty="0">
                <a:solidFill>
                  <a:srgbClr val="FFFF00"/>
                </a:solidFill>
              </a:rPr>
              <a:t>DR. ROZI NOR HAIZAN BINTI NOR</a:t>
            </a:r>
          </a:p>
        </p:txBody>
      </p:sp>
      <p:sp>
        <p:nvSpPr>
          <p:cNvPr id="3074" name="Title 1"/>
          <p:cNvSpPr>
            <a:spLocks noGrp="1"/>
          </p:cNvSpPr>
          <p:nvPr>
            <p:ph type="title"/>
          </p:nvPr>
        </p:nvSpPr>
        <p:spPr>
          <a:xfrm>
            <a:off x="4114800" y="1524000"/>
            <a:ext cx="4572000" cy="1447800"/>
          </a:xfrm>
        </p:spPr>
        <p:txBody>
          <a:bodyPr/>
          <a:lstStyle/>
          <a:p>
            <a:r>
              <a:rPr lang="en-US" b="1" dirty="0">
                <a:solidFill>
                  <a:srgbClr val="FFFF00"/>
                </a:solidFill>
              </a:rPr>
              <a:t>CHAP</a:t>
            </a:r>
            <a:r>
              <a:rPr lang="en-US" b="1" dirty="0"/>
              <a:t> </a:t>
            </a:r>
            <a:r>
              <a:rPr lang="en-US" b="1" dirty="0">
                <a:solidFill>
                  <a:schemeClr val="tx1"/>
                </a:solidFill>
              </a:rPr>
              <a:t>TER 7:</a:t>
            </a:r>
            <a:br>
              <a:rPr lang="en-US" b="1" dirty="0">
                <a:solidFill>
                  <a:schemeClr val="tx1"/>
                </a:solidFill>
              </a:rPr>
            </a:br>
            <a:r>
              <a:rPr lang="en-GB" sz="4400" b="1" dirty="0">
                <a:solidFill>
                  <a:srgbClr val="FFFF00"/>
                </a:solidFill>
              </a:rPr>
              <a:t>SOCIAL </a:t>
            </a:r>
            <a:r>
              <a:rPr lang="en-GB" sz="4400" b="1" dirty="0">
                <a:solidFill>
                  <a:schemeClr val="tx1"/>
                </a:solidFill>
              </a:rPr>
              <a:t>ISSUES</a:t>
            </a:r>
            <a:endParaRPr lang="en-MY" b="1"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a:t>Contents</a:t>
            </a:r>
          </a:p>
        </p:txBody>
      </p:sp>
      <p:sp>
        <p:nvSpPr>
          <p:cNvPr id="3" name="Content Placeholder 2"/>
          <p:cNvSpPr>
            <a:spLocks noGrp="1"/>
          </p:cNvSpPr>
          <p:nvPr>
            <p:ph idx="1"/>
          </p:nvPr>
        </p:nvSpPr>
        <p:spPr/>
        <p:txBody>
          <a:bodyPr>
            <a:normAutofit/>
          </a:bodyPr>
          <a:lstStyle/>
          <a:p>
            <a:pPr algn="ctr"/>
            <a:endParaRPr lang="en-US" sz="3200" dirty="0">
              <a:solidFill>
                <a:srgbClr val="00B050"/>
              </a:solidFill>
            </a:endParaRPr>
          </a:p>
          <a:p>
            <a:pPr algn="ctr"/>
            <a:endParaRPr lang="en-US" sz="3200" dirty="0">
              <a:solidFill>
                <a:srgbClr val="00B050"/>
              </a:solidFill>
            </a:endParaRPr>
          </a:p>
          <a:p>
            <a:pPr marL="45720" indent="0" algn="ctr">
              <a:buNone/>
            </a:pPr>
            <a:r>
              <a:rPr lang="en-US" sz="3200" dirty="0">
                <a:solidFill>
                  <a:srgbClr val="00B050"/>
                </a:solidFill>
              </a:rPr>
              <a:t>Green Computing</a:t>
            </a:r>
          </a:p>
          <a:p>
            <a:pPr marL="45720" indent="0" algn="ctr">
              <a:buNone/>
            </a:pPr>
            <a:r>
              <a:rPr lang="en-US" sz="3200" dirty="0">
                <a:solidFill>
                  <a:schemeClr val="bg2">
                    <a:lumMod val="25000"/>
                  </a:schemeClr>
                </a:solidFill>
              </a:rPr>
              <a:t>Digital Divide</a:t>
            </a:r>
          </a:p>
          <a:p>
            <a:pPr marL="45720" indent="0" algn="ctr">
              <a:buNone/>
            </a:pPr>
            <a:r>
              <a:rPr lang="en-US" sz="3200" dirty="0">
                <a:solidFill>
                  <a:srgbClr val="C00000"/>
                </a:solidFill>
              </a:rPr>
              <a:t>Work Environment</a:t>
            </a:r>
          </a:p>
          <a:p>
            <a:pPr marL="45720" indent="0" algn="ctr">
              <a:buNone/>
            </a:pPr>
            <a:r>
              <a:rPr lang="en-US" sz="3200" dirty="0">
                <a:solidFill>
                  <a:srgbClr val="7030A0"/>
                </a:solidFill>
              </a:rPr>
              <a:t>Social media network</a:t>
            </a:r>
            <a:endParaRPr lang="en-US" sz="2800" dirty="0">
              <a:solidFill>
                <a:srgbClr val="7030A0"/>
              </a:solidFill>
            </a:endParaRPr>
          </a:p>
        </p:txBody>
      </p:sp>
      <p:pic>
        <p:nvPicPr>
          <p:cNvPr id="5"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1599810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a:r>
              <a:rPr lang="en-US" dirty="0"/>
              <a:t>Objectives:</a:t>
            </a:r>
            <a:br>
              <a:rPr lang="en-US" dirty="0"/>
            </a:br>
            <a:r>
              <a:rPr lang="en-US" dirty="0">
                <a:solidFill>
                  <a:srgbClr val="00FF00"/>
                </a:solidFill>
              </a:rPr>
              <a:t>Green Computing</a:t>
            </a:r>
          </a:p>
        </p:txBody>
      </p:sp>
      <p:sp>
        <p:nvSpPr>
          <p:cNvPr id="3" name="Content Placeholder 2"/>
          <p:cNvSpPr>
            <a:spLocks noGrp="1"/>
          </p:cNvSpPr>
          <p:nvPr>
            <p:ph idx="1"/>
          </p:nvPr>
        </p:nvSpPr>
        <p:spPr/>
        <p:txBody>
          <a:bodyPr/>
          <a:lstStyle/>
          <a:p>
            <a:r>
              <a:rPr lang="en-MY" sz="2800" dirty="0"/>
              <a:t>Consider the following questions:</a:t>
            </a:r>
          </a:p>
          <a:p>
            <a:r>
              <a:rPr lang="en-MY" sz="2800" dirty="0"/>
              <a:t>What is green computing?</a:t>
            </a:r>
          </a:p>
          <a:p>
            <a:r>
              <a:rPr lang="en-MY" sz="2800" dirty="0"/>
              <a:t>What are organizations doing to support this initiative?</a:t>
            </a:r>
          </a:p>
          <a:p>
            <a:r>
              <a:rPr lang="en-US" sz="2800" dirty="0"/>
              <a:t>What are the pathways to green computing?</a:t>
            </a:r>
            <a:endParaRPr lang="en-MY" sz="2800" dirty="0"/>
          </a:p>
          <a:p>
            <a:pPr marL="0" indent="0">
              <a:buNone/>
            </a:pPr>
            <a:endParaRPr lang="en-MY" dirty="0"/>
          </a:p>
          <a:p>
            <a:endParaRPr lang="en-MY" dirty="0"/>
          </a:p>
          <a:p>
            <a:endParaRPr lang="en-US" dirty="0"/>
          </a:p>
        </p:txBody>
      </p:sp>
      <p:pic>
        <p:nvPicPr>
          <p:cNvPr id="5"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2272398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a:t>Green Computing</a:t>
            </a:r>
          </a:p>
        </p:txBody>
      </p:sp>
      <p:sp>
        <p:nvSpPr>
          <p:cNvPr id="3" name="Content Placeholder 2"/>
          <p:cNvSpPr>
            <a:spLocks noGrp="1"/>
          </p:cNvSpPr>
          <p:nvPr>
            <p:ph idx="1"/>
          </p:nvPr>
        </p:nvSpPr>
        <p:spPr/>
        <p:txBody>
          <a:bodyPr>
            <a:normAutofit/>
          </a:bodyPr>
          <a:lstStyle/>
          <a:p>
            <a:r>
              <a:rPr lang="en-MY" sz="2400" dirty="0">
                <a:solidFill>
                  <a:srgbClr val="00B050"/>
                </a:solidFill>
              </a:rPr>
              <a:t>Green computing</a:t>
            </a:r>
            <a:r>
              <a:rPr lang="en-MY" sz="2400" dirty="0"/>
              <a:t> is the environmentally responsible and eco-friendly use of computers and their resources. </a:t>
            </a:r>
          </a:p>
          <a:p>
            <a:r>
              <a:rPr lang="en-MY" sz="2400" dirty="0"/>
              <a:t>In broader terms, it is also defined as the study of designing, manufacturing/engineering, using and disposing of computing devices in a way that reduces their environmental impact.</a:t>
            </a:r>
          </a:p>
          <a:p>
            <a:pPr lvl="1"/>
            <a:r>
              <a:rPr lang="en-US" sz="2000" dirty="0"/>
              <a:t>Uses less electricity to run, thus its carbon footprint on the planet is smaller</a:t>
            </a:r>
          </a:p>
        </p:txBody>
      </p:sp>
      <p:pic>
        <p:nvPicPr>
          <p:cNvPr id="6"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3994571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a:r>
              <a:rPr lang="en-US" dirty="0"/>
              <a:t>How IT industry can</a:t>
            </a:r>
            <a:br>
              <a:rPr lang="en-US" dirty="0"/>
            </a:br>
            <a:r>
              <a:rPr lang="en-US" dirty="0"/>
              <a:t>Harm Environment?</a:t>
            </a:r>
            <a:endParaRPr lang="en-MY" dirty="0"/>
          </a:p>
        </p:txBody>
      </p:sp>
      <p:sp>
        <p:nvSpPr>
          <p:cNvPr id="3" name="Content Placeholder 2"/>
          <p:cNvSpPr>
            <a:spLocks noGrp="1"/>
          </p:cNvSpPr>
          <p:nvPr>
            <p:ph idx="1"/>
          </p:nvPr>
        </p:nvSpPr>
        <p:spPr>
          <a:xfrm>
            <a:off x="380999" y="1719070"/>
            <a:ext cx="8407893" cy="4910329"/>
          </a:xfrm>
        </p:spPr>
        <p:txBody>
          <a:bodyPr>
            <a:noAutofit/>
          </a:bodyPr>
          <a:lstStyle/>
          <a:p>
            <a:r>
              <a:rPr lang="en-MY" sz="2000" b="1" u="sng" dirty="0"/>
              <a:t>Consuming resources </a:t>
            </a:r>
            <a:r>
              <a:rPr lang="en-MY" sz="2000" dirty="0"/>
              <a:t>- Non-renewable resources, including precious metals like gold, are used to make technology. Many others, such as coal, are consumed to generate the electricity to use technology. Even some renewable resources, like trees and water, are becoming contaminated or are used up faster than they can renew themselves because of technology.</a:t>
            </a:r>
          </a:p>
          <a:p>
            <a:r>
              <a:rPr lang="en-MY" sz="2000" b="1" u="sng" dirty="0"/>
              <a:t>Waste</a:t>
            </a:r>
            <a:r>
              <a:rPr lang="en-MY" sz="2000" dirty="0"/>
              <a:t> - Manufacturing technology creates large amounts of waste, and used computers and electronics get thrown out when they break or become outdated. Called "</a:t>
            </a:r>
            <a:r>
              <a:rPr lang="en-MY" sz="2000" dirty="0" err="1"/>
              <a:t>technotrash</a:t>
            </a:r>
            <a:r>
              <a:rPr lang="en-MY" sz="2000" dirty="0"/>
              <a:t>," these electronics contain all sorts of hazardous materials that are very unsafe for the environment. They need to be disposed of using special methods.</a:t>
            </a:r>
          </a:p>
          <a:p>
            <a:r>
              <a:rPr lang="en-MY" sz="2000" b="1" u="sng" dirty="0"/>
              <a:t>Health hazards </a:t>
            </a:r>
            <a:r>
              <a:rPr lang="en-MY" sz="2000" dirty="0"/>
              <a:t>- Using toxic materials that can harm our health can cause cancer, and technology addiction can lead to other health problems.</a:t>
            </a:r>
          </a:p>
        </p:txBody>
      </p:sp>
    </p:spTree>
    <p:extLst>
      <p:ext uri="{BB962C8B-B14F-4D97-AF65-F5344CB8AC3E}">
        <p14:creationId xmlns:p14="http://schemas.microsoft.com/office/powerpoint/2010/main" val="37506955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a:r>
              <a:rPr lang="en-US" dirty="0"/>
              <a:t>How IT industry can</a:t>
            </a:r>
            <a:br>
              <a:rPr lang="en-US" dirty="0"/>
            </a:br>
            <a:r>
              <a:rPr lang="en-US" dirty="0"/>
              <a:t>Harm Environment?</a:t>
            </a:r>
            <a:endParaRPr lang="en-MY" dirty="0"/>
          </a:p>
        </p:txBody>
      </p:sp>
      <p:sp>
        <p:nvSpPr>
          <p:cNvPr id="3" name="Content Placeholder 2"/>
          <p:cNvSpPr>
            <a:spLocks noGrp="1"/>
          </p:cNvSpPr>
          <p:nvPr>
            <p:ph idx="1"/>
          </p:nvPr>
        </p:nvSpPr>
        <p:spPr>
          <a:xfrm>
            <a:off x="380999" y="1719071"/>
            <a:ext cx="8407893" cy="4300729"/>
          </a:xfrm>
        </p:spPr>
        <p:txBody>
          <a:bodyPr>
            <a:noAutofit/>
          </a:bodyPr>
          <a:lstStyle/>
          <a:p>
            <a:r>
              <a:rPr lang="en-MY" sz="1800" b="1" u="sng" dirty="0"/>
              <a:t>Carbon emissions</a:t>
            </a:r>
            <a:r>
              <a:rPr lang="en-MY" sz="1800" dirty="0"/>
              <a:t>, mostly carbon dioxide and carbon monoxide, are greenhouse gasses that are produced by people. Greenhouse gasses are gasses in the atmosphere that trap and reflect heat and radiation back to the planet's surface. It is believed that over the last century, the amount of greenhouse gasses in the atmosphere has increased due to carbon emissions, and that they are contributing to global warming.</a:t>
            </a:r>
          </a:p>
          <a:p>
            <a:r>
              <a:rPr lang="en-MY" sz="1800" dirty="0"/>
              <a:t>Carbon emissions get released into the atmosphere from things like cars, air planes, power plants and factories. They also get released by people like you, when you use a vehicle or electricity created from burning fossil fuels. The computer you're using to read this is using electricity, and so is your mobile device and video game system. We're all guilty of enjoying things that aren't exactly eco-friendly, but if we're smarter about how we use technology, we can reduce our environmental impact.</a:t>
            </a:r>
          </a:p>
          <a:p>
            <a:endParaRPr lang="en-MY" sz="1800" dirty="0"/>
          </a:p>
        </p:txBody>
      </p:sp>
      <p:sp>
        <p:nvSpPr>
          <p:cNvPr id="4" name="Rectangle 3"/>
          <p:cNvSpPr/>
          <p:nvPr/>
        </p:nvSpPr>
        <p:spPr>
          <a:xfrm>
            <a:off x="457200" y="6019800"/>
            <a:ext cx="8458200" cy="646331"/>
          </a:xfrm>
          <a:prstGeom prst="rect">
            <a:avLst/>
          </a:prstGeom>
        </p:spPr>
        <p:txBody>
          <a:bodyPr wrap="square">
            <a:spAutoFit/>
          </a:bodyPr>
          <a:lstStyle/>
          <a:p>
            <a:r>
              <a:rPr lang="en-MY" b="1" dirty="0">
                <a:solidFill>
                  <a:srgbClr val="C00000"/>
                </a:solidFill>
              </a:rPr>
              <a:t>The amount of carbon dioxide and other carbon compounds emitted due to the consumption of fossil fuels by a particular person, group, etc.</a:t>
            </a:r>
          </a:p>
        </p:txBody>
      </p:sp>
    </p:spTree>
    <p:extLst>
      <p:ext uri="{BB962C8B-B14F-4D97-AF65-F5344CB8AC3E}">
        <p14:creationId xmlns:p14="http://schemas.microsoft.com/office/powerpoint/2010/main" val="2962481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a:r>
              <a:rPr lang="en-US" dirty="0"/>
              <a:t>How IT industry can</a:t>
            </a:r>
            <a:br>
              <a:rPr lang="en-US" dirty="0"/>
            </a:br>
            <a:r>
              <a:rPr lang="en-US" dirty="0"/>
              <a:t>Harm Environment?</a:t>
            </a:r>
            <a:endParaRPr lang="en-MY" dirty="0"/>
          </a:p>
        </p:txBody>
      </p:sp>
      <p:sp>
        <p:nvSpPr>
          <p:cNvPr id="3" name="Content Placeholder 2"/>
          <p:cNvSpPr>
            <a:spLocks noGrp="1"/>
          </p:cNvSpPr>
          <p:nvPr>
            <p:ph idx="1"/>
          </p:nvPr>
        </p:nvSpPr>
        <p:spPr>
          <a:xfrm>
            <a:off x="380999" y="1719070"/>
            <a:ext cx="8382001" cy="4757929"/>
          </a:xfrm>
        </p:spPr>
        <p:txBody>
          <a:bodyPr>
            <a:noAutofit/>
          </a:bodyPr>
          <a:lstStyle/>
          <a:p>
            <a:r>
              <a:rPr lang="en-MY" sz="2000" b="1" u="sng" dirty="0" err="1"/>
              <a:t>Technotrash</a:t>
            </a:r>
            <a:r>
              <a:rPr lang="en-MY" sz="2000" dirty="0"/>
              <a:t>, also called electronic waste or e-waste, is any broken or unwanted electrical or electronic device, and is currently the most rapidly-growing type of waste.</a:t>
            </a:r>
          </a:p>
          <a:p>
            <a:r>
              <a:rPr lang="en-MY" sz="2000" dirty="0"/>
              <a:t>If you just throw away </a:t>
            </a:r>
            <a:r>
              <a:rPr lang="en-MY" sz="2000" dirty="0" err="1"/>
              <a:t>technotrash</a:t>
            </a:r>
            <a:r>
              <a:rPr lang="en-MY" sz="2000" dirty="0"/>
              <a:t> with the regular trash, it usually ends up in a landfill. </a:t>
            </a:r>
          </a:p>
          <a:p>
            <a:r>
              <a:rPr lang="en-MY" sz="2000" dirty="0"/>
              <a:t>Most electronics contain non-biodegradable materials, and heavy metals and toxic materials like cadmium, lead and mercury. Over time, these toxic materials can leak into the ground, where they can contaminate the water we drink, the plants we eat and the animals that live around the area.</a:t>
            </a:r>
          </a:p>
          <a:p>
            <a:r>
              <a:rPr lang="en-MY" sz="2000" dirty="0"/>
              <a:t>These toxic materials can cause all kinds of bad effects including nausea, </a:t>
            </a:r>
            <a:r>
              <a:rPr lang="en-MY" sz="2000" dirty="0" err="1"/>
              <a:t>diarrhea</a:t>
            </a:r>
            <a:r>
              <a:rPr lang="en-MY" sz="2000" dirty="0"/>
              <a:t>, vomiting and even cancer. </a:t>
            </a:r>
          </a:p>
        </p:txBody>
      </p:sp>
    </p:spTree>
    <p:extLst>
      <p:ext uri="{BB962C8B-B14F-4D97-AF65-F5344CB8AC3E}">
        <p14:creationId xmlns:p14="http://schemas.microsoft.com/office/powerpoint/2010/main" val="30915649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a:t>The Goal of Green Computing</a:t>
            </a:r>
          </a:p>
        </p:txBody>
      </p:sp>
      <p:sp>
        <p:nvSpPr>
          <p:cNvPr id="3" name="Content Placeholder 2"/>
          <p:cNvSpPr>
            <a:spLocks noGrp="1"/>
          </p:cNvSpPr>
          <p:nvPr>
            <p:ph idx="1"/>
          </p:nvPr>
        </p:nvSpPr>
        <p:spPr/>
        <p:txBody>
          <a:bodyPr>
            <a:normAutofit/>
          </a:bodyPr>
          <a:lstStyle/>
          <a:p>
            <a:r>
              <a:rPr lang="en-MY" sz="2800" dirty="0">
                <a:solidFill>
                  <a:srgbClr val="C00000"/>
                </a:solidFill>
              </a:rPr>
              <a:t>Reduces</a:t>
            </a:r>
            <a:r>
              <a:rPr lang="en-MY" sz="2800" dirty="0"/>
              <a:t> the use of hazardous materials, </a:t>
            </a:r>
            <a:r>
              <a:rPr lang="en-MY" sz="2800" dirty="0">
                <a:solidFill>
                  <a:srgbClr val="C00000"/>
                </a:solidFill>
              </a:rPr>
              <a:t>maximise energy efficiency </a:t>
            </a:r>
            <a:r>
              <a:rPr lang="en-MY" sz="2800" dirty="0"/>
              <a:t>during the product’s lifetime, and to promote recyclability and biodegradability of defunct product and factory usage </a:t>
            </a:r>
          </a:p>
          <a:p>
            <a:pPr marL="0" indent="0">
              <a:buNone/>
            </a:pPr>
            <a:endParaRPr lang="en-MY" sz="2800" dirty="0"/>
          </a:p>
        </p:txBody>
      </p:sp>
      <p:pic>
        <p:nvPicPr>
          <p:cNvPr id="6"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1421618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a:t>Green Computing</a:t>
            </a:r>
          </a:p>
        </p:txBody>
      </p:sp>
      <p:sp>
        <p:nvSpPr>
          <p:cNvPr id="3" name="Content Placeholder 2"/>
          <p:cNvSpPr>
            <a:spLocks noGrp="1"/>
          </p:cNvSpPr>
          <p:nvPr>
            <p:ph idx="1"/>
          </p:nvPr>
        </p:nvSpPr>
        <p:spPr/>
        <p:txBody>
          <a:bodyPr>
            <a:normAutofit/>
          </a:bodyPr>
          <a:lstStyle/>
          <a:p>
            <a:r>
              <a:rPr lang="en-MY" sz="2800" dirty="0"/>
              <a:t>To manufacture truly “green” products, companies must:</a:t>
            </a:r>
          </a:p>
          <a:p>
            <a:pPr lvl="1"/>
            <a:r>
              <a:rPr lang="en-MY" sz="2400" dirty="0"/>
              <a:t>Produce product that requires less electricity</a:t>
            </a:r>
          </a:p>
          <a:p>
            <a:pPr lvl="1"/>
            <a:r>
              <a:rPr lang="en-MY" sz="2400" dirty="0"/>
              <a:t>Reduce the number of hazardous materials used</a:t>
            </a:r>
          </a:p>
          <a:p>
            <a:pPr lvl="1"/>
            <a:r>
              <a:rPr lang="en-MY" sz="2400" dirty="0"/>
              <a:t>Increase amount of reusable or recyclable materials</a:t>
            </a:r>
          </a:p>
          <a:p>
            <a:pPr lvl="1"/>
            <a:r>
              <a:rPr lang="en-MY" sz="2400" dirty="0"/>
              <a:t>Help consumers dispose of their products in an environmentally safe manner at the end of the product’s useful life</a:t>
            </a:r>
          </a:p>
          <a:p>
            <a:endParaRPr lang="en-US" sz="2800" dirty="0"/>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4250429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a:t>Green Computing</a:t>
            </a:r>
          </a:p>
        </p:txBody>
      </p:sp>
      <p:sp>
        <p:nvSpPr>
          <p:cNvPr id="3" name="Content Placeholder 2"/>
          <p:cNvSpPr>
            <a:spLocks noGrp="1"/>
          </p:cNvSpPr>
          <p:nvPr>
            <p:ph idx="1"/>
          </p:nvPr>
        </p:nvSpPr>
        <p:spPr/>
        <p:txBody>
          <a:bodyPr>
            <a:normAutofit/>
          </a:bodyPr>
          <a:lstStyle/>
          <a:p>
            <a:r>
              <a:rPr lang="en-MY" sz="2800" dirty="0"/>
              <a:t>Personal computers and cell phones contain thousands of components composed of many different materials</a:t>
            </a:r>
          </a:p>
          <a:p>
            <a:pPr lvl="1"/>
            <a:r>
              <a:rPr lang="en-MY" sz="2400" dirty="0"/>
              <a:t>Some harmful to humans and environment</a:t>
            </a:r>
          </a:p>
          <a:p>
            <a:pPr lvl="2"/>
            <a:r>
              <a:rPr lang="en-US" sz="2000" dirty="0"/>
              <a:t>Beryllium, cadmium, lead, mercury, brominated flame retardants, selenium, polyvinyl chloride</a:t>
            </a:r>
            <a:endParaRPr lang="en-MY" sz="2000" dirty="0"/>
          </a:p>
          <a:p>
            <a:pPr lvl="1"/>
            <a:r>
              <a:rPr lang="en-MY" sz="2400" dirty="0"/>
              <a:t>Workers along the entire supply chain at risk</a:t>
            </a:r>
          </a:p>
          <a:p>
            <a:pPr lvl="1"/>
            <a:r>
              <a:rPr lang="en-MY" sz="2400" dirty="0"/>
              <a:t>Users can also be exposed to these materials</a:t>
            </a:r>
            <a:endParaRPr lang="en-US" sz="2400" dirty="0"/>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1525505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a:t>Green Computing</a:t>
            </a:r>
          </a:p>
        </p:txBody>
      </p:sp>
      <p:sp>
        <p:nvSpPr>
          <p:cNvPr id="3" name="Content Placeholder 2"/>
          <p:cNvSpPr>
            <a:spLocks noGrp="1"/>
          </p:cNvSpPr>
          <p:nvPr>
            <p:ph idx="1"/>
          </p:nvPr>
        </p:nvSpPr>
        <p:spPr/>
        <p:txBody>
          <a:bodyPr>
            <a:normAutofit/>
          </a:bodyPr>
          <a:lstStyle/>
          <a:p>
            <a:r>
              <a:rPr lang="en-MY" sz="2400" dirty="0"/>
              <a:t>EPEAT (Electronic Product Environmental Assessment Tool)</a:t>
            </a:r>
          </a:p>
          <a:p>
            <a:pPr lvl="1"/>
            <a:r>
              <a:rPr lang="en-MY" sz="2000" dirty="0"/>
              <a:t>Enables purchasers to evaluate, compare, and select electronic products</a:t>
            </a:r>
          </a:p>
          <a:p>
            <a:pPr lvl="2"/>
            <a:r>
              <a:rPr lang="en-MY" sz="1800" dirty="0"/>
              <a:t>Based on a total of 51 environmental criteria</a:t>
            </a:r>
          </a:p>
          <a:p>
            <a:pPr lvl="2"/>
            <a:r>
              <a:rPr lang="en-MY" sz="1800" dirty="0"/>
              <a:t>Products are ranked in three tiers of environmental performance</a:t>
            </a:r>
          </a:p>
          <a:p>
            <a:r>
              <a:rPr lang="en-MY" sz="2400" dirty="0"/>
              <a:t>European Restriction of Hazardous Substances Directive</a:t>
            </a:r>
          </a:p>
          <a:p>
            <a:pPr lvl="1"/>
            <a:r>
              <a:rPr lang="en-MY" sz="2000" dirty="0"/>
              <a:t>Restricts use of many hazardous materials in computer manufacturing</a:t>
            </a:r>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23126112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a:t>Green Computing</a:t>
            </a:r>
          </a:p>
        </p:txBody>
      </p:sp>
      <p:sp>
        <p:nvSpPr>
          <p:cNvPr id="3" name="Content Placeholder 2"/>
          <p:cNvSpPr>
            <a:spLocks noGrp="1"/>
          </p:cNvSpPr>
          <p:nvPr>
            <p:ph idx="1"/>
          </p:nvPr>
        </p:nvSpPr>
        <p:spPr>
          <a:xfrm>
            <a:off x="380999" y="1719070"/>
            <a:ext cx="8407893" cy="4701323"/>
          </a:xfrm>
        </p:spPr>
        <p:txBody>
          <a:bodyPr>
            <a:normAutofit fontScale="92500"/>
          </a:bodyPr>
          <a:lstStyle/>
          <a:p>
            <a:r>
              <a:rPr lang="en-MY" sz="2800" dirty="0"/>
              <a:t>How to safely dispose of obsolete computers</a:t>
            </a:r>
          </a:p>
          <a:p>
            <a:pPr lvl="1"/>
            <a:r>
              <a:rPr lang="en-MY" sz="2400" dirty="0"/>
              <a:t>Many states have recycling programs</a:t>
            </a:r>
          </a:p>
          <a:p>
            <a:pPr lvl="1"/>
            <a:r>
              <a:rPr lang="en-MY" sz="2400" dirty="0"/>
              <a:t>Some manufacturers have developed programs</a:t>
            </a:r>
          </a:p>
          <a:p>
            <a:r>
              <a:rPr lang="en-MY" sz="2800" dirty="0"/>
              <a:t>Greenpeace environmental activist organization</a:t>
            </a:r>
          </a:p>
          <a:p>
            <a:pPr lvl="1"/>
            <a:r>
              <a:rPr lang="en-MY" sz="2400" dirty="0"/>
              <a:t>Issues quarterly ratings of </a:t>
            </a:r>
          </a:p>
          <a:p>
            <a:pPr marL="365760" lvl="1" indent="0">
              <a:buNone/>
            </a:pPr>
            <a:r>
              <a:rPr lang="en-MY" sz="2400" dirty="0"/>
              <a:t>manufacturers according to the </a:t>
            </a:r>
          </a:p>
          <a:p>
            <a:pPr marL="365760" lvl="1" indent="0">
              <a:buNone/>
            </a:pPr>
            <a:r>
              <a:rPr lang="en-MY" sz="2400" dirty="0"/>
              <a:t>manufacturers’ policies on </a:t>
            </a:r>
          </a:p>
          <a:p>
            <a:pPr marL="365760" lvl="1" indent="0">
              <a:buNone/>
            </a:pPr>
            <a:r>
              <a:rPr lang="en-MY" sz="2400" dirty="0"/>
              <a:t>toxic chemicals, recycling, </a:t>
            </a:r>
          </a:p>
          <a:p>
            <a:pPr marL="365760" lvl="1" indent="0">
              <a:buNone/>
            </a:pPr>
            <a:r>
              <a:rPr lang="en-MY" sz="2400" dirty="0"/>
              <a:t>and climate change</a:t>
            </a:r>
          </a:p>
          <a:p>
            <a:pPr marL="365760" lvl="1" indent="0">
              <a:buNone/>
            </a:pPr>
            <a:r>
              <a:rPr lang="en-MY" sz="2000" dirty="0"/>
              <a:t>Manufacturers have long way </a:t>
            </a:r>
          </a:p>
          <a:p>
            <a:pPr marL="365760" lvl="1" indent="0">
              <a:buNone/>
            </a:pPr>
            <a:r>
              <a:rPr lang="en-MY" sz="2000" dirty="0"/>
              <a:t>to go to meet the high standards</a:t>
            </a:r>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pic>
        <p:nvPicPr>
          <p:cNvPr id="1026" name="Picture 2" descr="Environmental Protection - Recycling Centres / Points - Tzu Chi Malaysia">
            <a:extLst>
              <a:ext uri="{FF2B5EF4-FFF2-40B4-BE49-F238E27FC236}">
                <a16:creationId xmlns:a16="http://schemas.microsoft.com/office/drawing/2014/main" id="{4BCD1385-9EC7-CCFC-D712-FAC491DAC1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3669566"/>
            <a:ext cx="3057797" cy="3057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8096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MY"/>
          </a:p>
        </p:txBody>
      </p:sp>
      <p:sp>
        <p:nvSpPr>
          <p:cNvPr id="3" name="Content Placeholder 2"/>
          <p:cNvSpPr>
            <a:spLocks noGrp="1"/>
          </p:cNvSpPr>
          <p:nvPr>
            <p:ph idx="1"/>
          </p:nvPr>
        </p:nvSpPr>
        <p:spPr/>
        <p:txBody>
          <a:bodyPr>
            <a:normAutofit/>
          </a:bodyPr>
          <a:lstStyle/>
          <a:p>
            <a:pPr marL="0" indent="0" algn="ctr">
              <a:buNone/>
            </a:pPr>
            <a:endParaRPr lang="en-US" sz="2800" b="1" dirty="0"/>
          </a:p>
          <a:p>
            <a:pPr marL="0" indent="0" algn="ctr">
              <a:buNone/>
            </a:pPr>
            <a:endParaRPr lang="en-US" sz="2800" b="1" dirty="0"/>
          </a:p>
          <a:p>
            <a:pPr marL="0" indent="0" algn="ctr">
              <a:buNone/>
            </a:pPr>
            <a:endParaRPr lang="en-US" sz="2800" b="1" dirty="0"/>
          </a:p>
          <a:p>
            <a:pPr marL="0" indent="0" algn="ctr">
              <a:buNone/>
            </a:pPr>
            <a:r>
              <a:rPr lang="en-US" sz="2800" b="1" u="sng" dirty="0">
                <a:solidFill>
                  <a:srgbClr val="FF0000"/>
                </a:solidFill>
              </a:rPr>
              <a:t>What are the initiatives in Malaysia?</a:t>
            </a:r>
            <a:endParaRPr lang="en-MY" sz="2800" b="1" u="sng" dirty="0">
              <a:solidFill>
                <a:srgbClr val="FF0000"/>
              </a:solidFill>
            </a:endParaRPr>
          </a:p>
        </p:txBody>
      </p:sp>
    </p:spTree>
    <p:extLst>
      <p:ext uri="{BB962C8B-B14F-4D97-AF65-F5344CB8AC3E}">
        <p14:creationId xmlns:p14="http://schemas.microsoft.com/office/powerpoint/2010/main" val="33352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a:t>Pathways to Green Computing</a:t>
            </a:r>
          </a:p>
        </p:txBody>
      </p:sp>
      <p:sp>
        <p:nvSpPr>
          <p:cNvPr id="3" name="Content Placeholder 2"/>
          <p:cNvSpPr>
            <a:spLocks noGrp="1"/>
          </p:cNvSpPr>
          <p:nvPr>
            <p:ph idx="1"/>
          </p:nvPr>
        </p:nvSpPr>
        <p:spPr/>
        <p:txBody>
          <a:bodyPr>
            <a:normAutofit/>
          </a:bodyPr>
          <a:lstStyle/>
          <a:p>
            <a:r>
              <a:rPr lang="en-US" sz="2400" dirty="0"/>
              <a:t>Green use</a:t>
            </a:r>
          </a:p>
          <a:p>
            <a:pPr lvl="1"/>
            <a:r>
              <a:rPr lang="en-US" sz="2000" dirty="0"/>
              <a:t>Intelligent use of energy and information system.</a:t>
            </a:r>
          </a:p>
          <a:p>
            <a:pPr lvl="1"/>
            <a:r>
              <a:rPr lang="en-US" sz="2000" dirty="0"/>
              <a:t>Reducing the energy consumption of computers and other systems as well as using them in an environmentally sound manner.</a:t>
            </a:r>
          </a:p>
          <a:p>
            <a:r>
              <a:rPr lang="en-US" sz="2400" dirty="0"/>
              <a:t>Green Disposal</a:t>
            </a:r>
          </a:p>
          <a:p>
            <a:pPr lvl="1"/>
            <a:r>
              <a:rPr lang="en-US" sz="2000" dirty="0"/>
              <a:t>Reduction of waste, reuse and refurbishment of hardware.</a:t>
            </a:r>
          </a:p>
          <a:p>
            <a:pPr lvl="1"/>
            <a:r>
              <a:rPr lang="en-US" sz="2000" dirty="0"/>
              <a:t>Recycling of out of use peripherals and other items.</a:t>
            </a:r>
          </a:p>
          <a:p>
            <a:pPr lvl="1"/>
            <a:r>
              <a:rPr lang="en-US" sz="2000" dirty="0"/>
              <a:t>Refurbishment and reuse old computers</a:t>
            </a:r>
          </a:p>
          <a:p>
            <a:pPr lvl="1"/>
            <a:r>
              <a:rPr lang="en-US" sz="2000" dirty="0"/>
              <a:t>Proper recycling unwanted computer and other electronic equipment</a:t>
            </a:r>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4126014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a:t>Pathways to Green Computing</a:t>
            </a:r>
          </a:p>
        </p:txBody>
      </p:sp>
      <p:sp>
        <p:nvSpPr>
          <p:cNvPr id="3" name="Content Placeholder 2"/>
          <p:cNvSpPr>
            <a:spLocks noGrp="1"/>
          </p:cNvSpPr>
          <p:nvPr>
            <p:ph idx="1"/>
          </p:nvPr>
        </p:nvSpPr>
        <p:spPr/>
        <p:txBody>
          <a:bodyPr>
            <a:normAutofit/>
          </a:bodyPr>
          <a:lstStyle/>
          <a:p>
            <a:r>
              <a:rPr lang="en-US" sz="2400" dirty="0"/>
              <a:t>Green design</a:t>
            </a:r>
          </a:p>
          <a:p>
            <a:pPr lvl="1"/>
            <a:r>
              <a:rPr lang="en-US" sz="2000" dirty="0"/>
              <a:t>Efficient design of data centers and workstation.</a:t>
            </a:r>
          </a:p>
          <a:p>
            <a:pPr lvl="1"/>
            <a:r>
              <a:rPr lang="en-US" sz="2000" dirty="0"/>
              <a:t>Design energy-efficient and environmentally sound components, computers, servers, cooling equipment, and data centers.</a:t>
            </a:r>
          </a:p>
          <a:p>
            <a:r>
              <a:rPr lang="en-US" sz="2400" dirty="0"/>
              <a:t>Green manufacturing</a:t>
            </a:r>
          </a:p>
          <a:p>
            <a:pPr lvl="1"/>
            <a:r>
              <a:rPr lang="en-US" sz="2000" dirty="0"/>
              <a:t>Informed purchasing of components, peripherals, and equipment manufactured with the environment in mind.</a:t>
            </a:r>
          </a:p>
          <a:p>
            <a:pPr lvl="1"/>
            <a:r>
              <a:rPr lang="en-US" sz="2000" dirty="0"/>
              <a:t>Manufacturing electronic components, computers, and other associated subsystems with minimal impact on the environment.</a:t>
            </a:r>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8503903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a:r>
              <a:rPr lang="en-US" dirty="0"/>
              <a:t>Objective:</a:t>
            </a:r>
            <a:br>
              <a:rPr lang="en-US" dirty="0"/>
            </a:br>
            <a:r>
              <a:rPr lang="en-US" dirty="0"/>
              <a:t> </a:t>
            </a:r>
            <a:r>
              <a:rPr lang="en-US" dirty="0">
                <a:solidFill>
                  <a:srgbClr val="00FF00"/>
                </a:solidFill>
              </a:rPr>
              <a:t>Digital Divides</a:t>
            </a:r>
            <a:endParaRPr lang="en-MY" dirty="0">
              <a:solidFill>
                <a:srgbClr val="00FF00"/>
              </a:solidFill>
            </a:endParaRPr>
          </a:p>
        </p:txBody>
      </p:sp>
      <p:sp>
        <p:nvSpPr>
          <p:cNvPr id="3" name="Content Placeholder 2"/>
          <p:cNvSpPr>
            <a:spLocks noGrp="1"/>
          </p:cNvSpPr>
          <p:nvPr>
            <p:ph idx="1"/>
          </p:nvPr>
        </p:nvSpPr>
        <p:spPr/>
        <p:txBody>
          <a:bodyPr>
            <a:normAutofit/>
          </a:bodyPr>
          <a:lstStyle/>
          <a:p>
            <a:r>
              <a:rPr lang="en-MY" sz="2800" dirty="0"/>
              <a:t>What is digital divides?</a:t>
            </a:r>
          </a:p>
          <a:p>
            <a:r>
              <a:rPr lang="en-MY" sz="2800" dirty="0"/>
              <a:t>What is being done to reduce the negative influence of the digital divide?</a:t>
            </a:r>
          </a:p>
          <a:p>
            <a:endParaRPr lang="en-MY" sz="2800" dirty="0"/>
          </a:p>
        </p:txBody>
      </p:sp>
    </p:spTree>
    <p:extLst>
      <p:ext uri="{BB962C8B-B14F-4D97-AF65-F5344CB8AC3E}">
        <p14:creationId xmlns:p14="http://schemas.microsoft.com/office/powerpoint/2010/main" val="23392928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a:br>
              <a:rPr lang="en-US" dirty="0"/>
            </a:br>
            <a:r>
              <a:rPr lang="en-US" dirty="0"/>
              <a:t>The Digital Divides</a:t>
            </a:r>
          </a:p>
        </p:txBody>
      </p:sp>
      <p:sp>
        <p:nvSpPr>
          <p:cNvPr id="3" name="Content Placeholder 2"/>
          <p:cNvSpPr>
            <a:spLocks noGrp="1"/>
          </p:cNvSpPr>
          <p:nvPr>
            <p:ph idx="1"/>
          </p:nvPr>
        </p:nvSpPr>
        <p:spPr/>
        <p:txBody>
          <a:bodyPr>
            <a:normAutofit/>
          </a:bodyPr>
          <a:lstStyle/>
          <a:p>
            <a:r>
              <a:rPr lang="en-MY" sz="2400" dirty="0"/>
              <a:t>Standard of living</a:t>
            </a:r>
          </a:p>
          <a:p>
            <a:pPr lvl="1"/>
            <a:r>
              <a:rPr lang="en-MY" sz="2000" dirty="0"/>
              <a:t>Level of material comfort measured by the goods, services, and luxuries available</a:t>
            </a:r>
          </a:p>
          <a:p>
            <a:r>
              <a:rPr lang="en-US" sz="2400" dirty="0"/>
              <a:t>Digital divide</a:t>
            </a:r>
          </a:p>
          <a:p>
            <a:pPr lvl="1"/>
            <a:r>
              <a:rPr lang="en-US" sz="2000" dirty="0"/>
              <a:t>Refers to the </a:t>
            </a:r>
            <a:r>
              <a:rPr lang="en-US" sz="2000" b="1" dirty="0">
                <a:solidFill>
                  <a:srgbClr val="C00000"/>
                </a:solidFill>
              </a:rPr>
              <a:t>gulf</a:t>
            </a:r>
            <a:r>
              <a:rPr lang="en-US" sz="2000" dirty="0">
                <a:solidFill>
                  <a:srgbClr val="C00000"/>
                </a:solidFill>
              </a:rPr>
              <a:t> </a:t>
            </a:r>
            <a:r>
              <a:rPr lang="en-US" sz="2000" dirty="0"/>
              <a:t>between some group of people enjoy access to and regularly use the various forms of modern information technology, while others do not</a:t>
            </a:r>
          </a:p>
          <a:p>
            <a:pPr lvl="2"/>
            <a:r>
              <a:rPr lang="en-MY" sz="1800" dirty="0"/>
              <a:t>Cell phones</a:t>
            </a:r>
          </a:p>
          <a:p>
            <a:pPr lvl="2"/>
            <a:r>
              <a:rPr lang="en-MY" sz="1800" dirty="0"/>
              <a:t>Personal computers</a:t>
            </a:r>
          </a:p>
          <a:p>
            <a:pPr lvl="2"/>
            <a:r>
              <a:rPr lang="en-MY" sz="1800" dirty="0"/>
              <a:t>The Internet</a:t>
            </a:r>
          </a:p>
          <a:p>
            <a:pPr lvl="1"/>
            <a:r>
              <a:rPr lang="en-MY" sz="2000" dirty="0"/>
              <a:t>Gulf among age groups, economic classes, and cities/rural areas</a:t>
            </a:r>
          </a:p>
          <a:p>
            <a:pPr lvl="1"/>
            <a:endParaRPr lang="en-MY" sz="2000" dirty="0"/>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28560579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a:br>
              <a:rPr lang="en-US" dirty="0"/>
            </a:br>
            <a:r>
              <a:rPr lang="en-US" dirty="0"/>
              <a:t>The Digital Divides</a:t>
            </a:r>
          </a:p>
        </p:txBody>
      </p:sp>
      <p:sp>
        <p:nvSpPr>
          <p:cNvPr id="3" name="Content Placeholder 2"/>
          <p:cNvSpPr>
            <a:spLocks noGrp="1"/>
          </p:cNvSpPr>
          <p:nvPr>
            <p:ph idx="1"/>
          </p:nvPr>
        </p:nvSpPr>
        <p:spPr/>
        <p:txBody>
          <a:bodyPr>
            <a:normAutofit/>
          </a:bodyPr>
          <a:lstStyle/>
          <a:p>
            <a:r>
              <a:rPr lang="en-MY" sz="2400" dirty="0"/>
              <a:t>Digital divide must be </a:t>
            </a:r>
            <a:r>
              <a:rPr lang="en-MY" sz="2400" b="1" dirty="0">
                <a:solidFill>
                  <a:srgbClr val="C00000"/>
                </a:solidFill>
              </a:rPr>
              <a:t>bridged</a:t>
            </a:r>
            <a:r>
              <a:rPr lang="en-MY" sz="2400" dirty="0"/>
              <a:t> to improve resolution of:</a:t>
            </a:r>
          </a:p>
          <a:p>
            <a:pPr lvl="1"/>
            <a:r>
              <a:rPr lang="en-MY" sz="2000" dirty="0"/>
              <a:t>Health emergencies</a:t>
            </a:r>
          </a:p>
          <a:p>
            <a:pPr lvl="1"/>
            <a:r>
              <a:rPr lang="en-MY" sz="2000" dirty="0"/>
              <a:t>Crime emergencies</a:t>
            </a:r>
          </a:p>
          <a:p>
            <a:pPr lvl="1"/>
            <a:r>
              <a:rPr lang="en-MY" sz="2000" dirty="0"/>
              <a:t>Other emergencies</a:t>
            </a:r>
          </a:p>
          <a:p>
            <a:r>
              <a:rPr lang="en-MY" sz="2400" dirty="0"/>
              <a:t>Access to IT and communications technology:</a:t>
            </a:r>
          </a:p>
          <a:p>
            <a:pPr lvl="1"/>
            <a:r>
              <a:rPr lang="en-MY" sz="2000" dirty="0"/>
              <a:t>Enhances learning</a:t>
            </a:r>
          </a:p>
          <a:p>
            <a:pPr lvl="1"/>
            <a:r>
              <a:rPr lang="en-MY" sz="2000" dirty="0"/>
              <a:t>Provides educational and economic opportunities</a:t>
            </a:r>
          </a:p>
          <a:p>
            <a:pPr lvl="1"/>
            <a:r>
              <a:rPr lang="en-MY" sz="2000" dirty="0"/>
              <a:t>Influences cultural, social, and political conditions</a:t>
            </a:r>
          </a:p>
          <a:p>
            <a:pPr lvl="2"/>
            <a:endParaRPr lang="en-MY" sz="1800" dirty="0"/>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18792853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a:br>
              <a:rPr lang="en-US" dirty="0"/>
            </a:br>
            <a:r>
              <a:rPr lang="en-US" dirty="0"/>
              <a:t>The Digital Divides</a:t>
            </a:r>
          </a:p>
        </p:txBody>
      </p:sp>
      <p:sp>
        <p:nvSpPr>
          <p:cNvPr id="3" name="Content Placeholder 2"/>
          <p:cNvSpPr>
            <a:spLocks noGrp="1"/>
          </p:cNvSpPr>
          <p:nvPr>
            <p:ph idx="1"/>
          </p:nvPr>
        </p:nvSpPr>
        <p:spPr/>
        <p:txBody>
          <a:bodyPr>
            <a:normAutofit/>
          </a:bodyPr>
          <a:lstStyle/>
          <a:p>
            <a:r>
              <a:rPr lang="en-MY" sz="2400" dirty="0"/>
              <a:t>Low-cost computers for developing countries</a:t>
            </a:r>
          </a:p>
          <a:p>
            <a:pPr lvl="1"/>
            <a:r>
              <a:rPr lang="en-MY" sz="2000" dirty="0"/>
              <a:t>One Laptop per Child (OLPC) </a:t>
            </a:r>
          </a:p>
          <a:p>
            <a:pPr lvl="2"/>
            <a:r>
              <a:rPr lang="en-MY" sz="1800" dirty="0"/>
              <a:t>Provides low-cost laptop computers for education</a:t>
            </a:r>
          </a:p>
          <a:p>
            <a:pPr lvl="1"/>
            <a:r>
              <a:rPr lang="en-MY" sz="2000" dirty="0"/>
              <a:t>Classmate PC from Intel</a:t>
            </a:r>
          </a:p>
          <a:p>
            <a:pPr lvl="1"/>
            <a:r>
              <a:rPr lang="en-MY" sz="2000" dirty="0" err="1"/>
              <a:t>Eee</a:t>
            </a:r>
            <a:r>
              <a:rPr lang="en-MY" sz="2000" dirty="0"/>
              <a:t> notebook from Asus</a:t>
            </a:r>
          </a:p>
          <a:p>
            <a:r>
              <a:rPr lang="en-MY" sz="2400" dirty="0"/>
              <a:t>Mobile phone </a:t>
            </a:r>
          </a:p>
          <a:p>
            <a:pPr lvl="1"/>
            <a:r>
              <a:rPr lang="en-MY" sz="2000" dirty="0"/>
              <a:t>Tool to bridge the digital divide</a:t>
            </a:r>
          </a:p>
          <a:p>
            <a:pPr lvl="1"/>
            <a:r>
              <a:rPr lang="en-MY" sz="2000" dirty="0"/>
              <a:t>Costs less than PC and more </a:t>
            </a:r>
          </a:p>
          <a:p>
            <a:pPr marL="365760" lvl="1" indent="0">
              <a:buNone/>
            </a:pPr>
            <a:r>
              <a:rPr lang="en-MY" sz="2000" dirty="0"/>
              <a:t>   broadly available</a:t>
            </a:r>
          </a:p>
          <a:p>
            <a:pPr lvl="3"/>
            <a:endParaRPr lang="en-MY" sz="1600" dirty="0"/>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pic>
        <p:nvPicPr>
          <p:cNvPr id="5" name="Picture 2" descr="PerantiSiswa Keluarga Malaysia Tablet Untuk Siswa B40">
            <a:extLst>
              <a:ext uri="{FF2B5EF4-FFF2-40B4-BE49-F238E27FC236}">
                <a16:creationId xmlns:a16="http://schemas.microsoft.com/office/drawing/2014/main" id="{C76E5BA4-3098-0A4C-B608-6A40498768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5464" y="3225437"/>
            <a:ext cx="3349625"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62275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a:r>
              <a:rPr lang="en-US" dirty="0"/>
              <a:t>Objective:</a:t>
            </a:r>
            <a:br>
              <a:rPr lang="en-US" dirty="0"/>
            </a:br>
            <a:r>
              <a:rPr lang="en-US" dirty="0"/>
              <a:t> </a:t>
            </a:r>
            <a:r>
              <a:rPr lang="en-US" dirty="0">
                <a:solidFill>
                  <a:srgbClr val="00FF00"/>
                </a:solidFill>
              </a:rPr>
              <a:t>Work environment</a:t>
            </a:r>
            <a:endParaRPr lang="en-MY" dirty="0">
              <a:solidFill>
                <a:srgbClr val="00FF00"/>
              </a:solidFill>
            </a:endParaRPr>
          </a:p>
        </p:txBody>
      </p:sp>
      <p:sp>
        <p:nvSpPr>
          <p:cNvPr id="3" name="Content Placeholder 2"/>
          <p:cNvSpPr>
            <a:spLocks noGrp="1"/>
          </p:cNvSpPr>
          <p:nvPr>
            <p:ph idx="1"/>
          </p:nvPr>
        </p:nvSpPr>
        <p:spPr/>
        <p:txBody>
          <a:bodyPr>
            <a:normAutofit/>
          </a:bodyPr>
          <a:lstStyle/>
          <a:p>
            <a:r>
              <a:rPr lang="en-US" sz="2800" dirty="0"/>
              <a:t>What are the concern in the workplace related to electronic monitoring?</a:t>
            </a:r>
          </a:p>
          <a:p>
            <a:pPr marL="0" indent="0">
              <a:buNone/>
            </a:pPr>
            <a:endParaRPr lang="en-MY" sz="2800" dirty="0"/>
          </a:p>
        </p:txBody>
      </p:sp>
    </p:spTree>
    <p:extLst>
      <p:ext uri="{BB962C8B-B14F-4D97-AF65-F5344CB8AC3E}">
        <p14:creationId xmlns:p14="http://schemas.microsoft.com/office/powerpoint/2010/main" val="28701252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a:r>
              <a:rPr lang="en-US" dirty="0"/>
              <a:t>Work environment:</a:t>
            </a:r>
            <a:br>
              <a:rPr lang="en-US" dirty="0"/>
            </a:br>
            <a:r>
              <a:rPr lang="en-US" dirty="0"/>
              <a:t>Monitoring</a:t>
            </a:r>
          </a:p>
        </p:txBody>
      </p:sp>
      <p:sp>
        <p:nvSpPr>
          <p:cNvPr id="3" name="Content Placeholder 2"/>
          <p:cNvSpPr>
            <a:spLocks noGrp="1"/>
          </p:cNvSpPr>
          <p:nvPr>
            <p:ph idx="1"/>
          </p:nvPr>
        </p:nvSpPr>
        <p:spPr/>
        <p:txBody>
          <a:bodyPr>
            <a:normAutofit/>
          </a:bodyPr>
          <a:lstStyle/>
          <a:p>
            <a:r>
              <a:rPr lang="en-MY" sz="2800" dirty="0"/>
              <a:t>Monitoring concerns in the workplace</a:t>
            </a:r>
          </a:p>
          <a:p>
            <a:pPr lvl="1"/>
            <a:r>
              <a:rPr lang="en-MY" sz="2400" b="1" dirty="0"/>
              <a:t>Blogging</a:t>
            </a:r>
            <a:r>
              <a:rPr lang="en-MY" sz="2400" dirty="0"/>
              <a:t>: Blogging represents a possible monitoring risk in the workplace as private thoughts put online can be seen by the anyone. If posting sensitive information and an employer stumbles on to your blog, it is quite possible you could be demoted or fired.</a:t>
            </a:r>
            <a:endParaRPr lang="en-US" sz="2400" dirty="0"/>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14738017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a:r>
              <a:rPr lang="en-US" dirty="0"/>
              <a:t>Work environment:</a:t>
            </a:r>
            <a:br>
              <a:rPr lang="en-US" dirty="0"/>
            </a:br>
            <a:r>
              <a:rPr lang="en-US" dirty="0"/>
              <a:t>Monitoring</a:t>
            </a:r>
          </a:p>
        </p:txBody>
      </p:sp>
      <p:sp>
        <p:nvSpPr>
          <p:cNvPr id="3" name="Content Placeholder 2"/>
          <p:cNvSpPr>
            <a:spLocks noGrp="1"/>
          </p:cNvSpPr>
          <p:nvPr>
            <p:ph idx="1"/>
          </p:nvPr>
        </p:nvSpPr>
        <p:spPr/>
        <p:txBody>
          <a:bodyPr>
            <a:normAutofit/>
          </a:bodyPr>
          <a:lstStyle/>
          <a:p>
            <a:r>
              <a:rPr lang="en-MY" sz="2800" dirty="0"/>
              <a:t>Monitoring concerns in the workplace</a:t>
            </a:r>
          </a:p>
          <a:p>
            <a:pPr lvl="1"/>
            <a:r>
              <a:rPr lang="en-MY" sz="2400" b="1" dirty="0"/>
              <a:t>Time Management: </a:t>
            </a:r>
            <a:r>
              <a:rPr lang="en-MY" sz="2400" dirty="0"/>
              <a:t>Programs exist that can monitor what webpages you visit on the company's computer. Data analysts can have their performance judged based on how much they type. And when all else fails, video </a:t>
            </a:r>
            <a:r>
              <a:rPr lang="en-MY" sz="2400" dirty="0" err="1"/>
              <a:t>surveillence</a:t>
            </a:r>
            <a:r>
              <a:rPr lang="en-MY" sz="2400" dirty="0"/>
              <a:t> allows a company to keep records of an employee's activity.</a:t>
            </a:r>
            <a:endParaRPr lang="en-US" sz="2400" dirty="0"/>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1974084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a:r>
              <a:rPr lang="en-US" dirty="0"/>
              <a:t>Work environment:</a:t>
            </a:r>
            <a:br>
              <a:rPr lang="en-US" dirty="0"/>
            </a:br>
            <a:r>
              <a:rPr lang="en-US" dirty="0"/>
              <a:t>Monitoring</a:t>
            </a:r>
          </a:p>
        </p:txBody>
      </p:sp>
      <p:sp>
        <p:nvSpPr>
          <p:cNvPr id="3" name="Content Placeholder 2"/>
          <p:cNvSpPr>
            <a:spLocks noGrp="1"/>
          </p:cNvSpPr>
          <p:nvPr>
            <p:ph idx="1"/>
          </p:nvPr>
        </p:nvSpPr>
        <p:spPr/>
        <p:txBody>
          <a:bodyPr>
            <a:normAutofit/>
          </a:bodyPr>
          <a:lstStyle/>
          <a:p>
            <a:r>
              <a:rPr lang="en-MY" sz="2800" dirty="0"/>
              <a:t>Monitoring concerns in the workplace</a:t>
            </a:r>
          </a:p>
          <a:p>
            <a:pPr lvl="1"/>
            <a:r>
              <a:rPr lang="en-MY" sz="2400" b="1" dirty="0"/>
              <a:t>Privacy Concerns: </a:t>
            </a:r>
            <a:r>
              <a:rPr lang="en-MY" sz="2400" dirty="0"/>
              <a:t>In addition to being able to monitor what websites you visit, it is also possible and legal for a company to monitor what calls you make from the company phone, and even record the phone call itself.</a:t>
            </a:r>
            <a:endParaRPr lang="en-US" sz="2400" dirty="0"/>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9268919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a:r>
              <a:rPr lang="en-US" dirty="0"/>
              <a:t>Work environment:</a:t>
            </a:r>
            <a:br>
              <a:rPr lang="en-US" dirty="0"/>
            </a:br>
            <a:r>
              <a:rPr lang="en-US" dirty="0"/>
              <a:t>Monitoring</a:t>
            </a:r>
          </a:p>
        </p:txBody>
      </p:sp>
      <p:sp>
        <p:nvSpPr>
          <p:cNvPr id="3" name="Content Placeholder 2"/>
          <p:cNvSpPr>
            <a:spLocks noGrp="1"/>
          </p:cNvSpPr>
          <p:nvPr>
            <p:ph idx="1"/>
          </p:nvPr>
        </p:nvSpPr>
        <p:spPr/>
        <p:txBody>
          <a:bodyPr>
            <a:normAutofit/>
          </a:bodyPr>
          <a:lstStyle/>
          <a:p>
            <a:r>
              <a:rPr lang="en-MY" sz="2400" dirty="0"/>
              <a:t>What can be done to protect yourself?</a:t>
            </a:r>
          </a:p>
          <a:p>
            <a:pPr lvl="1"/>
            <a:r>
              <a:rPr lang="en-MY" sz="2000" dirty="0"/>
              <a:t>If you have a blog, avoid blogging about work. </a:t>
            </a:r>
          </a:p>
          <a:p>
            <a:pPr lvl="1"/>
            <a:r>
              <a:rPr lang="en-MY" sz="2000" dirty="0"/>
              <a:t>If this isn't desirable, try and privatize entries pertaining to work so that only you or a selected list of people can read them. </a:t>
            </a:r>
          </a:p>
          <a:p>
            <a:pPr lvl="1"/>
            <a:r>
              <a:rPr lang="en-MY" sz="2000" dirty="0"/>
              <a:t>When blogging about your job, try to be as general as possible - avoid using the company name, names of employers, or specific events or addresses. </a:t>
            </a:r>
          </a:p>
          <a:p>
            <a:pPr lvl="1"/>
            <a:r>
              <a:rPr lang="en-MY" sz="2000" dirty="0"/>
              <a:t>Also, blogging under a pseudonym can help keep you hidden.</a:t>
            </a:r>
            <a:endParaRPr lang="en-US" sz="2000" dirty="0"/>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4155160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a:r>
              <a:rPr lang="en-US" dirty="0"/>
              <a:t>Work environment:</a:t>
            </a:r>
            <a:br>
              <a:rPr lang="en-US" dirty="0"/>
            </a:br>
            <a:r>
              <a:rPr lang="en-US" dirty="0"/>
              <a:t>Monitoring</a:t>
            </a:r>
          </a:p>
        </p:txBody>
      </p:sp>
      <p:sp>
        <p:nvSpPr>
          <p:cNvPr id="3" name="Content Placeholder 2"/>
          <p:cNvSpPr>
            <a:spLocks noGrp="1"/>
          </p:cNvSpPr>
          <p:nvPr>
            <p:ph idx="1"/>
          </p:nvPr>
        </p:nvSpPr>
        <p:spPr/>
        <p:txBody>
          <a:bodyPr>
            <a:normAutofit/>
          </a:bodyPr>
          <a:lstStyle/>
          <a:p>
            <a:r>
              <a:rPr lang="en-MY" sz="2800" dirty="0"/>
              <a:t>What can be done to protect yourself?</a:t>
            </a:r>
          </a:p>
          <a:p>
            <a:pPr lvl="1"/>
            <a:r>
              <a:rPr lang="en-MY" sz="2400" dirty="0"/>
              <a:t>Be aware of your company's policies on all of these issues. Find out what information they record and how often it is checked.</a:t>
            </a:r>
          </a:p>
          <a:p>
            <a:pPr lvl="1"/>
            <a:r>
              <a:rPr lang="en-MY" sz="2400" dirty="0"/>
              <a:t>Avoid patently personal use of company time and equipment. </a:t>
            </a:r>
            <a:endParaRPr lang="en-US" sz="2400" dirty="0"/>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24172871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a:r>
              <a:rPr lang="en-US" dirty="0"/>
              <a:t>Work environment:</a:t>
            </a:r>
            <a:br>
              <a:rPr lang="en-US" dirty="0"/>
            </a:br>
            <a:r>
              <a:rPr lang="en-US" dirty="0"/>
              <a:t>Web-Surfing at work</a:t>
            </a:r>
          </a:p>
        </p:txBody>
      </p:sp>
      <p:sp>
        <p:nvSpPr>
          <p:cNvPr id="3" name="Content Placeholder 2"/>
          <p:cNvSpPr>
            <a:spLocks noGrp="1"/>
          </p:cNvSpPr>
          <p:nvPr>
            <p:ph idx="1"/>
          </p:nvPr>
        </p:nvSpPr>
        <p:spPr/>
        <p:txBody>
          <a:bodyPr>
            <a:normAutofit/>
          </a:bodyPr>
          <a:lstStyle/>
          <a:p>
            <a:r>
              <a:rPr lang="en-MY" sz="2800" dirty="0"/>
              <a:t>Personal Internet Use at Work</a:t>
            </a:r>
          </a:p>
          <a:p>
            <a:pPr lvl="1"/>
            <a:r>
              <a:rPr lang="en-MY" sz="2400" dirty="0"/>
              <a:t>it is not uncommon for everyone to go off on a tangent and surf the web.</a:t>
            </a:r>
          </a:p>
          <a:p>
            <a:pPr lvl="1"/>
            <a:r>
              <a:rPr lang="en-MY" sz="2400" dirty="0"/>
              <a:t>Usage aside from work related material range from sending personal email, online shopping, online gaming, chatting, etc. </a:t>
            </a:r>
          </a:p>
          <a:p>
            <a:pPr lvl="1"/>
            <a:r>
              <a:rPr lang="en-MY" sz="2400" dirty="0"/>
              <a:t>Usage should be based on the employers’ policy if one is in place. </a:t>
            </a:r>
          </a:p>
          <a:p>
            <a:pPr lvl="1"/>
            <a:endParaRPr lang="en-US" sz="2400" dirty="0"/>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14293069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a:br>
              <a:rPr lang="en-US" dirty="0"/>
            </a:br>
            <a:r>
              <a:rPr lang="en-US" dirty="0"/>
              <a:t>Objective:</a:t>
            </a:r>
            <a:br>
              <a:rPr lang="en-US" dirty="0"/>
            </a:br>
            <a:r>
              <a:rPr lang="en-US" dirty="0">
                <a:solidFill>
                  <a:srgbClr val="00FF00"/>
                </a:solidFill>
              </a:rPr>
              <a:t>Social Media Networking</a:t>
            </a:r>
            <a:br>
              <a:rPr lang="en-US" dirty="0"/>
            </a:br>
            <a:endParaRPr lang="en-US" dirty="0"/>
          </a:p>
        </p:txBody>
      </p:sp>
      <p:sp>
        <p:nvSpPr>
          <p:cNvPr id="3" name="Content Placeholder 2"/>
          <p:cNvSpPr>
            <a:spLocks noGrp="1"/>
          </p:cNvSpPr>
          <p:nvPr>
            <p:ph idx="1"/>
          </p:nvPr>
        </p:nvSpPr>
        <p:spPr/>
        <p:txBody>
          <a:bodyPr>
            <a:normAutofit/>
          </a:bodyPr>
          <a:lstStyle/>
          <a:p>
            <a:r>
              <a:rPr lang="en-MY" sz="2800" dirty="0"/>
              <a:t>What are social networks, how do people use them, and what are some of their practical business uses?</a:t>
            </a:r>
          </a:p>
          <a:p>
            <a:r>
              <a:rPr lang="en-MY" sz="2800" dirty="0"/>
              <a:t>What are some of the key ethical issues associated with the use of social networking Web sites?</a:t>
            </a:r>
          </a:p>
          <a:p>
            <a:endParaRPr lang="en-US" sz="2800" dirty="0"/>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36776870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a:r>
              <a:rPr lang="en-MY" dirty="0"/>
              <a:t>What Is a </a:t>
            </a:r>
            <a:br>
              <a:rPr lang="en-MY" dirty="0"/>
            </a:br>
            <a:r>
              <a:rPr lang="en-MY" dirty="0"/>
              <a:t>Social Networking Web Site?</a:t>
            </a:r>
            <a:endParaRPr lang="en-US" dirty="0"/>
          </a:p>
        </p:txBody>
      </p:sp>
      <p:sp>
        <p:nvSpPr>
          <p:cNvPr id="3" name="Content Placeholder 2"/>
          <p:cNvSpPr>
            <a:spLocks noGrp="1"/>
          </p:cNvSpPr>
          <p:nvPr>
            <p:ph idx="1"/>
          </p:nvPr>
        </p:nvSpPr>
        <p:spPr/>
        <p:txBody>
          <a:bodyPr>
            <a:normAutofit/>
          </a:bodyPr>
          <a:lstStyle/>
          <a:p>
            <a:r>
              <a:rPr lang="en-MY" sz="2400" dirty="0"/>
              <a:t>Creates an online community of Internet users that eliminates barriers created by time, distance, and cultural differences </a:t>
            </a:r>
          </a:p>
          <a:p>
            <a:r>
              <a:rPr lang="en-MY" sz="2400" dirty="0"/>
              <a:t>Allows people to interact with others online by sharing opinions, insights, information, interests, and experiences </a:t>
            </a:r>
          </a:p>
          <a:p>
            <a:r>
              <a:rPr lang="en-MY" sz="2400" dirty="0"/>
              <a:t>Members may use the site to interact with friends, family members, and colleagues they already know</a:t>
            </a:r>
          </a:p>
          <a:p>
            <a:r>
              <a:rPr lang="en-MY" sz="2400" dirty="0"/>
              <a:t>Members may also wish to develop new personal and professional relationships</a:t>
            </a:r>
          </a:p>
          <a:p>
            <a:endParaRPr lang="en-US" sz="2400" dirty="0"/>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35131556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a:t>Social Networking Web Site</a:t>
            </a:r>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82415" y="1600200"/>
            <a:ext cx="7779169"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824991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a:t>Social Networking Web Site</a:t>
            </a:r>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82415" y="1600200"/>
            <a:ext cx="7779169"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913" y="334963"/>
            <a:ext cx="8510587" cy="588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344606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a:r>
              <a:rPr lang="en-MY" dirty="0"/>
              <a:t>Business Applications of Online Social Networking</a:t>
            </a:r>
            <a:endParaRPr lang="en-US" dirty="0"/>
          </a:p>
        </p:txBody>
      </p:sp>
      <p:sp>
        <p:nvSpPr>
          <p:cNvPr id="3" name="Content Placeholder 2"/>
          <p:cNvSpPr>
            <a:spLocks noGrp="1"/>
          </p:cNvSpPr>
          <p:nvPr>
            <p:ph idx="1"/>
          </p:nvPr>
        </p:nvSpPr>
        <p:spPr/>
        <p:txBody>
          <a:bodyPr>
            <a:normAutofit/>
          </a:bodyPr>
          <a:lstStyle/>
          <a:p>
            <a:r>
              <a:rPr lang="en-MY" sz="2400" dirty="0"/>
              <a:t>Social network advertising</a:t>
            </a:r>
          </a:p>
          <a:p>
            <a:pPr lvl="1"/>
            <a:r>
              <a:rPr lang="en-MY" sz="2000" dirty="0"/>
              <a:t>Uses social networks to communicate and promote the benefits of products and services</a:t>
            </a:r>
          </a:p>
          <a:p>
            <a:r>
              <a:rPr lang="en-MY" sz="2400" dirty="0"/>
              <a:t>Social network advertising strategies</a:t>
            </a:r>
          </a:p>
          <a:p>
            <a:pPr lvl="1"/>
            <a:r>
              <a:rPr lang="en-MY" sz="2000" dirty="0"/>
              <a:t>Direct advertising</a:t>
            </a:r>
          </a:p>
          <a:p>
            <a:pPr lvl="2"/>
            <a:r>
              <a:rPr lang="en-MY" sz="1800" dirty="0"/>
              <a:t>Banner ads on social networking Web site</a:t>
            </a:r>
          </a:p>
          <a:p>
            <a:pPr lvl="1"/>
            <a:r>
              <a:rPr lang="en-MY" sz="2000" dirty="0"/>
              <a:t>Advertising using an individual’s network of friends</a:t>
            </a:r>
          </a:p>
          <a:p>
            <a:pPr lvl="2"/>
            <a:r>
              <a:rPr lang="en-MY" sz="1800" dirty="0"/>
              <a:t>People frequently make decisions based on input from their close group of friends</a:t>
            </a:r>
          </a:p>
          <a:p>
            <a:pPr lvl="2"/>
            <a:r>
              <a:rPr lang="en-MY" sz="1800" dirty="0"/>
              <a:t>Ethical issues with exploiting an individual’s personal relationships for the financial benefit of a company</a:t>
            </a:r>
          </a:p>
          <a:p>
            <a:endParaRPr lang="en-US" sz="2400" dirty="0"/>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41709868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a:r>
              <a:rPr lang="en-MY" dirty="0"/>
              <a:t>Business Applications of Online Social Networking (cont’d.)</a:t>
            </a:r>
            <a:endParaRPr lang="en-US" dirty="0"/>
          </a:p>
        </p:txBody>
      </p:sp>
      <p:sp>
        <p:nvSpPr>
          <p:cNvPr id="3" name="Content Placeholder 2"/>
          <p:cNvSpPr>
            <a:spLocks noGrp="1"/>
          </p:cNvSpPr>
          <p:nvPr>
            <p:ph idx="1"/>
          </p:nvPr>
        </p:nvSpPr>
        <p:spPr/>
        <p:txBody>
          <a:bodyPr>
            <a:normAutofit/>
          </a:bodyPr>
          <a:lstStyle/>
          <a:p>
            <a:r>
              <a:rPr lang="en-MY" sz="2400" dirty="0"/>
              <a:t>Social network advertising strategies (cont’d.)</a:t>
            </a:r>
          </a:p>
          <a:p>
            <a:pPr lvl="1"/>
            <a:r>
              <a:rPr lang="en-MY" sz="2000" dirty="0"/>
              <a:t>Indirect advertising through groups</a:t>
            </a:r>
          </a:p>
          <a:p>
            <a:pPr lvl="2"/>
            <a:r>
              <a:rPr lang="en-MY" sz="1800" dirty="0"/>
              <a:t>Interested users can join by becoming “fans”</a:t>
            </a:r>
          </a:p>
          <a:p>
            <a:pPr lvl="2"/>
            <a:r>
              <a:rPr lang="en-MY" sz="1800" dirty="0"/>
              <a:t>Fans gained in this manner may not remain loyal</a:t>
            </a:r>
          </a:p>
          <a:p>
            <a:pPr lvl="1"/>
            <a:r>
              <a:rPr lang="en-MY" sz="2000" dirty="0"/>
              <a:t>Company-owned social networking Web site</a:t>
            </a:r>
          </a:p>
          <a:p>
            <a:pPr lvl="2"/>
            <a:r>
              <a:rPr lang="en-MY" sz="1800" dirty="0"/>
              <a:t>Users can talk about what new products, services, or improvements they would like to see</a:t>
            </a:r>
          </a:p>
          <a:p>
            <a:pPr lvl="1"/>
            <a:r>
              <a:rPr lang="en-MY" sz="2000" dirty="0"/>
              <a:t>Viral marketing</a:t>
            </a:r>
          </a:p>
          <a:p>
            <a:pPr lvl="2"/>
            <a:r>
              <a:rPr lang="en-MY" sz="1800" dirty="0"/>
              <a:t>Users pass along marketing message to others, creating the potential for exponential growth</a:t>
            </a:r>
          </a:p>
          <a:p>
            <a:endParaRPr lang="en-US" sz="2400" dirty="0"/>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19137975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a:r>
              <a:rPr lang="en-MY" dirty="0"/>
              <a:t>The Use of Social Networks in the </a:t>
            </a:r>
            <a:r>
              <a:rPr lang="en-MY" b="1" dirty="0">
                <a:solidFill>
                  <a:srgbClr val="FFC000"/>
                </a:solidFill>
              </a:rPr>
              <a:t>Hiring Process</a:t>
            </a:r>
            <a:endParaRPr lang="en-US" b="1" dirty="0">
              <a:solidFill>
                <a:srgbClr val="FFC000"/>
              </a:solidFill>
            </a:endParaRPr>
          </a:p>
        </p:txBody>
      </p:sp>
      <p:sp>
        <p:nvSpPr>
          <p:cNvPr id="3" name="Content Placeholder 2"/>
          <p:cNvSpPr>
            <a:spLocks noGrp="1"/>
          </p:cNvSpPr>
          <p:nvPr>
            <p:ph idx="1"/>
          </p:nvPr>
        </p:nvSpPr>
        <p:spPr/>
        <p:txBody>
          <a:bodyPr>
            <a:normAutofit/>
          </a:bodyPr>
          <a:lstStyle/>
          <a:p>
            <a:r>
              <a:rPr lang="en-MY" sz="2400" dirty="0"/>
              <a:t>recruiters use some form of social media in the recruiting process</a:t>
            </a:r>
          </a:p>
          <a:p>
            <a:r>
              <a:rPr lang="en-MY" sz="2400" dirty="0"/>
              <a:t>Employers can and do look at the social networking profiles of job candidates when hiring</a:t>
            </a:r>
          </a:p>
          <a:p>
            <a:r>
              <a:rPr lang="en-MY" sz="2400" dirty="0"/>
              <a:t>Companies may reject candidates who post:</a:t>
            </a:r>
          </a:p>
          <a:p>
            <a:pPr lvl="1"/>
            <a:r>
              <a:rPr lang="en-MY" sz="2000" dirty="0"/>
              <a:t>Information about their drinking or drug use</a:t>
            </a:r>
          </a:p>
          <a:p>
            <a:pPr lvl="1"/>
            <a:r>
              <a:rPr lang="en-MY" sz="2000" dirty="0"/>
              <a:t>Provocative or inappropriate photos</a:t>
            </a:r>
          </a:p>
          <a:p>
            <a:pPr lvl="1"/>
            <a:r>
              <a:rPr lang="en-MY" sz="2000" dirty="0"/>
              <a:t>Discriminatory remarks relating to race, gender, or religion </a:t>
            </a:r>
          </a:p>
          <a:p>
            <a:pPr lvl="1"/>
            <a:r>
              <a:rPr lang="en-MY" sz="2000" dirty="0"/>
              <a:t>Confidential information</a:t>
            </a:r>
          </a:p>
          <a:p>
            <a:endParaRPr lang="en-US" sz="2400" dirty="0"/>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13103871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a:r>
              <a:rPr lang="en-MY" dirty="0"/>
              <a:t>Use of Social Media to Improve </a:t>
            </a:r>
            <a:r>
              <a:rPr lang="en-MY" b="1" dirty="0">
                <a:solidFill>
                  <a:srgbClr val="FFC000"/>
                </a:solidFill>
              </a:rPr>
              <a:t>Customer Service</a:t>
            </a:r>
            <a:endParaRPr lang="en-US" b="1" dirty="0">
              <a:solidFill>
                <a:srgbClr val="FFC000"/>
              </a:solidFill>
            </a:endParaRPr>
          </a:p>
        </p:txBody>
      </p:sp>
      <p:sp>
        <p:nvSpPr>
          <p:cNvPr id="3" name="Content Placeholder 2"/>
          <p:cNvSpPr>
            <a:spLocks noGrp="1"/>
          </p:cNvSpPr>
          <p:nvPr>
            <p:ph idx="1"/>
          </p:nvPr>
        </p:nvSpPr>
        <p:spPr/>
        <p:txBody>
          <a:bodyPr>
            <a:normAutofit/>
          </a:bodyPr>
          <a:lstStyle/>
          <a:p>
            <a:r>
              <a:rPr lang="en-MY" sz="2400" dirty="0"/>
              <a:t>Consumers use social networks to share their experiences, both good and bad, with others</a:t>
            </a:r>
          </a:p>
          <a:p>
            <a:r>
              <a:rPr lang="en-MY" sz="2400" dirty="0"/>
              <a:t>Also seek help and advice on how to use products more effectively and how to deal with special situations</a:t>
            </a:r>
          </a:p>
          <a:p>
            <a:r>
              <a:rPr lang="en-MY" sz="2400" dirty="0"/>
              <a:t>Unless organizations monitor social networks, customers are left to resolve questions and issues on their own, risking loss of customers and future sales</a:t>
            </a:r>
          </a:p>
          <a:p>
            <a:endParaRPr lang="en-US" sz="2400" dirty="0"/>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42202446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a:t>Social Shopping Web Sites</a:t>
            </a:r>
          </a:p>
        </p:txBody>
      </p:sp>
      <p:sp>
        <p:nvSpPr>
          <p:cNvPr id="3" name="Content Placeholder 2"/>
          <p:cNvSpPr>
            <a:spLocks noGrp="1"/>
          </p:cNvSpPr>
          <p:nvPr>
            <p:ph idx="1"/>
          </p:nvPr>
        </p:nvSpPr>
        <p:spPr/>
        <p:txBody>
          <a:bodyPr>
            <a:normAutofit/>
          </a:bodyPr>
          <a:lstStyle/>
          <a:p>
            <a:r>
              <a:rPr lang="en-MY" sz="2400" dirty="0"/>
              <a:t>Combine two highly popular online activities: shopping and social networking</a:t>
            </a:r>
          </a:p>
          <a:p>
            <a:r>
              <a:rPr lang="en-MY" sz="2400" dirty="0"/>
              <a:t>Shoppers and sellers can share information and make recommendations while shopping online</a:t>
            </a:r>
          </a:p>
          <a:p>
            <a:r>
              <a:rPr lang="en-MY" sz="2400" dirty="0"/>
              <a:t>Revenue is generated through retailer advertising or by sharing with retailers data about their members’ likes and dislikes</a:t>
            </a:r>
          </a:p>
          <a:p>
            <a:r>
              <a:rPr lang="en-MY" sz="2400" dirty="0"/>
              <a:t>Retailers can design product improvements based on input and get ideas for new product lines</a:t>
            </a:r>
          </a:p>
          <a:p>
            <a:r>
              <a:rPr lang="en-MY" sz="2400" dirty="0"/>
              <a:t>Great way for small businesses to boost sales</a:t>
            </a:r>
          </a:p>
          <a:p>
            <a:endParaRPr lang="en-US" sz="2400" dirty="0"/>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4232414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pic>
        <p:nvPicPr>
          <p:cNvPr id="3074"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28997" y="1600200"/>
            <a:ext cx="7686006"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617588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a:t>Social Networking Ethical Issues</a:t>
            </a:r>
          </a:p>
        </p:txBody>
      </p:sp>
      <p:sp>
        <p:nvSpPr>
          <p:cNvPr id="3" name="Content Placeholder 2"/>
          <p:cNvSpPr>
            <a:spLocks noGrp="1"/>
          </p:cNvSpPr>
          <p:nvPr>
            <p:ph idx="1"/>
          </p:nvPr>
        </p:nvSpPr>
        <p:spPr/>
        <p:txBody>
          <a:bodyPr>
            <a:normAutofit/>
          </a:bodyPr>
          <a:lstStyle/>
          <a:p>
            <a:r>
              <a:rPr lang="en-MY" sz="2400" dirty="0"/>
              <a:t>Ethical issues for social networking Web sites are:</a:t>
            </a:r>
          </a:p>
          <a:p>
            <a:pPr lvl="1"/>
            <a:r>
              <a:rPr lang="en-MY" sz="2000" dirty="0"/>
              <a:t>Cyberbullying</a:t>
            </a:r>
          </a:p>
          <a:p>
            <a:pPr lvl="1"/>
            <a:r>
              <a:rPr lang="en-MY" sz="2000" dirty="0"/>
              <a:t>Cyberstalking</a:t>
            </a:r>
          </a:p>
          <a:p>
            <a:pPr lvl="1"/>
            <a:r>
              <a:rPr lang="en-MY" sz="2000" dirty="0"/>
              <a:t>Sexual predators</a:t>
            </a:r>
          </a:p>
          <a:p>
            <a:pPr lvl="1"/>
            <a:r>
              <a:rPr lang="en-MY" sz="2000" dirty="0"/>
              <a:t>Uploading inappropriate material</a:t>
            </a:r>
          </a:p>
          <a:p>
            <a:r>
              <a:rPr lang="en-MY" sz="2400" dirty="0"/>
              <a:t>Cyberbullying</a:t>
            </a:r>
          </a:p>
          <a:p>
            <a:pPr lvl="1"/>
            <a:r>
              <a:rPr lang="en-MY" sz="2000" dirty="0"/>
              <a:t>Harassment, torment, humiliation, or threatening of one minor by another minor or group of minors via the Internet or cell phone</a:t>
            </a:r>
          </a:p>
          <a:p>
            <a:pPr lvl="1"/>
            <a:r>
              <a:rPr lang="en-MY" sz="2000" dirty="0"/>
              <a:t>Cyberbullying can become so intense, child commits suicide</a:t>
            </a:r>
          </a:p>
          <a:p>
            <a:endParaRPr lang="en-US" sz="2400" dirty="0"/>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16659854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a:r>
              <a:rPr lang="en-MY" dirty="0"/>
              <a:t>Social Networking Ethical Issues (cont’d.)</a:t>
            </a:r>
            <a:endParaRPr lang="en-US" dirty="0"/>
          </a:p>
        </p:txBody>
      </p:sp>
      <p:sp>
        <p:nvSpPr>
          <p:cNvPr id="3" name="Content Placeholder 2"/>
          <p:cNvSpPr>
            <a:spLocks noGrp="1"/>
          </p:cNvSpPr>
          <p:nvPr>
            <p:ph idx="1"/>
          </p:nvPr>
        </p:nvSpPr>
        <p:spPr/>
        <p:txBody>
          <a:bodyPr>
            <a:normAutofit/>
          </a:bodyPr>
          <a:lstStyle/>
          <a:p>
            <a:r>
              <a:rPr lang="en-MY" sz="2400" dirty="0"/>
              <a:t>Numerous forms of cyberbullying</a:t>
            </a:r>
          </a:p>
          <a:p>
            <a:pPr lvl="1"/>
            <a:r>
              <a:rPr lang="en-MY" sz="2000" dirty="0"/>
              <a:t>Sending mean-spirited or threatening messages</a:t>
            </a:r>
          </a:p>
          <a:p>
            <a:pPr lvl="1"/>
            <a:r>
              <a:rPr lang="en-MY" sz="2000" dirty="0"/>
              <a:t>Sending thousands of text messages to victim’s cell phone and running up a huge cell phone bill</a:t>
            </a:r>
          </a:p>
          <a:p>
            <a:pPr lvl="1"/>
            <a:r>
              <a:rPr lang="en-MY" sz="2000" dirty="0"/>
              <a:t>Impersonating victim and sending inappropriate messages to others</a:t>
            </a:r>
          </a:p>
          <a:p>
            <a:pPr lvl="1"/>
            <a:r>
              <a:rPr lang="en-MY" sz="2000" dirty="0"/>
              <a:t>Stealing victim’s password and modifying his or her profile to include racist, homophobic, sexual, or other inappropriate data that offends others or attracts the attention of undesirable people</a:t>
            </a:r>
          </a:p>
          <a:p>
            <a:endParaRPr lang="en-US" sz="2400" dirty="0"/>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39996403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a:r>
              <a:rPr lang="en-MY" dirty="0"/>
              <a:t>Social Networking Ethical Issues (cont’d.)</a:t>
            </a:r>
            <a:endParaRPr lang="en-US" dirty="0"/>
          </a:p>
        </p:txBody>
      </p:sp>
      <p:sp>
        <p:nvSpPr>
          <p:cNvPr id="3" name="Content Placeholder 2"/>
          <p:cNvSpPr>
            <a:spLocks noGrp="1"/>
          </p:cNvSpPr>
          <p:nvPr>
            <p:ph idx="1"/>
          </p:nvPr>
        </p:nvSpPr>
        <p:spPr/>
        <p:txBody>
          <a:bodyPr>
            <a:normAutofit/>
          </a:bodyPr>
          <a:lstStyle/>
          <a:p>
            <a:r>
              <a:rPr lang="en-MY" sz="2400" dirty="0"/>
              <a:t>Numerous forms of cyberbullying (cont’d.)</a:t>
            </a:r>
          </a:p>
          <a:p>
            <a:pPr lvl="1"/>
            <a:r>
              <a:rPr lang="en-MY" sz="2000" dirty="0"/>
              <a:t>Posting mean, personal, or false information about the victim in the </a:t>
            </a:r>
            <a:r>
              <a:rPr lang="en-MY" sz="2000" dirty="0" err="1"/>
              <a:t>cyberbully’s</a:t>
            </a:r>
            <a:r>
              <a:rPr lang="en-MY" sz="2000" dirty="0"/>
              <a:t> blog</a:t>
            </a:r>
          </a:p>
          <a:p>
            <a:pPr lvl="1"/>
            <a:r>
              <a:rPr lang="en-MY" sz="2000" dirty="0"/>
              <a:t>Creating a Web site whose purpose is to humiliate or threaten the victim</a:t>
            </a:r>
          </a:p>
          <a:p>
            <a:pPr lvl="1"/>
            <a:r>
              <a:rPr lang="en-MY" sz="2000" dirty="0"/>
              <a:t>Taking inappropriate photos of the victim and either posting online or sending to others via cell phone</a:t>
            </a:r>
          </a:p>
          <a:p>
            <a:pPr lvl="1"/>
            <a:r>
              <a:rPr lang="en-MY" sz="2000" dirty="0"/>
              <a:t>Setting up an Internet poll to elicit responses to embarrassing questions regarding victim</a:t>
            </a:r>
          </a:p>
          <a:p>
            <a:pPr lvl="1"/>
            <a:r>
              <a:rPr lang="en-MY" sz="2000" dirty="0"/>
              <a:t>Sending inappropriate messages while playing interactive games</a:t>
            </a:r>
          </a:p>
          <a:p>
            <a:endParaRPr lang="en-US" sz="2400" dirty="0"/>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16460233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a:r>
              <a:rPr lang="en-MY" dirty="0"/>
              <a:t>Social Networking Ethical Issues (cont’d.)</a:t>
            </a:r>
            <a:endParaRPr lang="en-US" dirty="0"/>
          </a:p>
        </p:txBody>
      </p:sp>
      <p:sp>
        <p:nvSpPr>
          <p:cNvPr id="3" name="Content Placeholder 2"/>
          <p:cNvSpPr>
            <a:spLocks noGrp="1"/>
          </p:cNvSpPr>
          <p:nvPr>
            <p:ph idx="1"/>
          </p:nvPr>
        </p:nvSpPr>
        <p:spPr/>
        <p:txBody>
          <a:bodyPr>
            <a:normAutofit/>
          </a:bodyPr>
          <a:lstStyle/>
          <a:p>
            <a:r>
              <a:rPr lang="en-MY" sz="2400" dirty="0"/>
              <a:t>Cyberstalking</a:t>
            </a:r>
          </a:p>
          <a:p>
            <a:pPr lvl="1"/>
            <a:r>
              <a:rPr lang="en-MY" sz="2000" dirty="0"/>
              <a:t>Threatening </a:t>
            </a:r>
            <a:r>
              <a:rPr lang="en-MY" sz="2000" dirty="0" err="1"/>
              <a:t>behavior</a:t>
            </a:r>
            <a:r>
              <a:rPr lang="en-MY" sz="2000" dirty="0"/>
              <a:t> or unwanted advances using the Internet or online and electronic communications</a:t>
            </a:r>
          </a:p>
          <a:p>
            <a:pPr lvl="1"/>
            <a:r>
              <a:rPr lang="en-MY" sz="2000" dirty="0"/>
              <a:t>Adult version of cyberbullying</a:t>
            </a:r>
          </a:p>
          <a:p>
            <a:pPr lvl="1"/>
            <a:r>
              <a:rPr lang="en-MY" sz="2000" dirty="0"/>
              <a:t>Can escalate into:</a:t>
            </a:r>
          </a:p>
          <a:p>
            <a:pPr lvl="2"/>
            <a:r>
              <a:rPr lang="en-MY" sz="1800" dirty="0"/>
              <a:t>Abusive or excessive phone calls</a:t>
            </a:r>
          </a:p>
          <a:p>
            <a:pPr lvl="2"/>
            <a:r>
              <a:rPr lang="en-MY" sz="1800" dirty="0"/>
              <a:t>Threatening or obscene mail</a:t>
            </a:r>
          </a:p>
          <a:p>
            <a:pPr lvl="2"/>
            <a:r>
              <a:rPr lang="en-MY" sz="1800" dirty="0"/>
              <a:t>Trespassing</a:t>
            </a:r>
          </a:p>
          <a:p>
            <a:pPr lvl="2"/>
            <a:r>
              <a:rPr lang="en-MY" sz="1800" dirty="0"/>
              <a:t>Vandalism</a:t>
            </a:r>
          </a:p>
          <a:p>
            <a:pPr lvl="2"/>
            <a:r>
              <a:rPr lang="en-MY" sz="1800" dirty="0"/>
              <a:t>Physical stalking</a:t>
            </a:r>
          </a:p>
          <a:p>
            <a:pPr lvl="2"/>
            <a:r>
              <a:rPr lang="en-MY" sz="1800" dirty="0"/>
              <a:t>Physical assault</a:t>
            </a:r>
          </a:p>
          <a:p>
            <a:endParaRPr lang="en-US" sz="2400" dirty="0"/>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33944251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a:r>
              <a:rPr lang="en-MY" dirty="0"/>
              <a:t>Social Networking Ethical Issues (cont’d.)</a:t>
            </a:r>
            <a:endParaRPr lang="en-US" dirty="0"/>
          </a:p>
        </p:txBody>
      </p:sp>
      <p:sp>
        <p:nvSpPr>
          <p:cNvPr id="3" name="Content Placeholder 2"/>
          <p:cNvSpPr>
            <a:spLocks noGrp="1"/>
          </p:cNvSpPr>
          <p:nvPr>
            <p:ph idx="1"/>
          </p:nvPr>
        </p:nvSpPr>
        <p:spPr/>
        <p:txBody>
          <a:bodyPr>
            <a:normAutofit/>
          </a:bodyPr>
          <a:lstStyle/>
          <a:p>
            <a:r>
              <a:rPr lang="en-MY" sz="2800" dirty="0"/>
              <a:t>Uploading of inappropriate material</a:t>
            </a:r>
          </a:p>
          <a:p>
            <a:pPr lvl="1"/>
            <a:r>
              <a:rPr lang="en-MY" sz="2400" dirty="0"/>
              <a:t>Social networking Web sites have policies against uploading videos depicting violence or obscenity</a:t>
            </a:r>
          </a:p>
          <a:p>
            <a:pPr lvl="1"/>
            <a:r>
              <a:rPr lang="en-MY" sz="2400" dirty="0"/>
              <a:t>Most social networking Web sites have terms of use agreements that give the sites the right to delete material and terminate users accounts that violate their policy</a:t>
            </a:r>
          </a:p>
          <a:p>
            <a:pPr lvl="1"/>
            <a:r>
              <a:rPr lang="en-MY" sz="2400" dirty="0"/>
              <a:t>Most Web sites do not have sufficient resources to review all material posted</a:t>
            </a:r>
          </a:p>
          <a:p>
            <a:endParaRPr lang="en-US" sz="2800" dirty="0"/>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29924404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a:t>Evaluating Information</a:t>
            </a:r>
          </a:p>
        </p:txBody>
      </p:sp>
      <p:sp>
        <p:nvSpPr>
          <p:cNvPr id="3" name="Content Placeholder 2"/>
          <p:cNvSpPr>
            <a:spLocks noGrp="1"/>
          </p:cNvSpPr>
          <p:nvPr>
            <p:ph idx="1"/>
          </p:nvPr>
        </p:nvSpPr>
        <p:spPr/>
        <p:txBody>
          <a:bodyPr>
            <a:normAutofit/>
          </a:bodyPr>
          <a:lstStyle/>
          <a:p>
            <a:r>
              <a:rPr lang="en-US" sz="2400" dirty="0"/>
              <a:t>Does the openness of the web increase distribution of useful or inaccurate, foolish, and biased information?</a:t>
            </a:r>
          </a:p>
        </p:txBody>
      </p:sp>
      <p:pic>
        <p:nvPicPr>
          <p:cNvPr id="4" name="Content Placeholder 4" descr="Inner-UPM-Template_Option-1A.jpg"/>
          <p:cNvPicPr>
            <a:picLocks noChangeAspect="1"/>
          </p:cNvPicPr>
          <p:nvPr/>
        </p:nvPicPr>
        <p:blipFill>
          <a:blip r:embed="rId2"/>
          <a:stretch>
            <a:fillRect/>
          </a:stretch>
        </p:blipFill>
        <p:spPr>
          <a:xfrm>
            <a:off x="0" y="6420394"/>
            <a:ext cx="7315200" cy="437606"/>
          </a:xfrm>
          <a:prstGeom prst="rect">
            <a:avLst/>
          </a:prstGeom>
        </p:spPr>
      </p:pic>
    </p:spTree>
    <p:extLst>
      <p:ext uri="{BB962C8B-B14F-4D97-AF65-F5344CB8AC3E}">
        <p14:creationId xmlns:p14="http://schemas.microsoft.com/office/powerpoint/2010/main" val="335188235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1">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Grid">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Grid">
      <a:fillStyleLst>
        <a:solidFill>
          <a:schemeClr val="phClr"/>
        </a:solidFill>
        <a:solidFill>
          <a:schemeClr val="phClr">
            <a:tint val="50000"/>
          </a:schemeClr>
        </a:solidFill>
        <a:gradFill rotWithShape="1">
          <a:gsLst>
            <a:gs pos="0">
              <a:schemeClr val="phClr"/>
            </a:gs>
            <a:gs pos="90000">
              <a:schemeClr val="phClr">
                <a:shade val="100000"/>
              </a:schemeClr>
            </a:gs>
            <a:gs pos="100000">
              <a:schemeClr val="phClr">
                <a:shade val="85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effectStyle>
        <a:effectStyle>
          <a:effectLst>
            <a:outerShdw blurRad="31750" dist="25400" dir="5400000" rotWithShape="0">
              <a:srgbClr val="000000">
                <a:alpha val="50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30000"/>
              </a:schemeClr>
            </a:contourClr>
          </a:sp3d>
        </a:effectStyle>
      </a:effectStyleLst>
      <a:bgFillStyleLst>
        <a:solidFill>
          <a:schemeClr val="phClr"/>
        </a:solidFill>
        <a:solidFill>
          <a:schemeClr val="phClr">
            <a:tint val="90000"/>
            <a:shade val="93000"/>
            <a:satMod val="150000"/>
          </a:schemeClr>
        </a:solidFill>
        <a:blipFill rotWithShape="1">
          <a:blip xmlns:r="http://schemas.openxmlformats.org/officeDocument/2006/relationships" r:embed="rId1">
            <a:duotone>
              <a:schemeClr val="phClr">
                <a:tint val="95000"/>
              </a:schemeClr>
              <a:schemeClr val="phClr">
                <a:shade val="93000"/>
                <a:satMod val="11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1533</TotalTime>
  <Words>2376</Words>
  <Application>Microsoft Macintosh PowerPoint</Application>
  <PresentationFormat>On-screen Show (4:3)</PresentationFormat>
  <Paragraphs>228</Paragraphs>
  <Slides>42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Franklin Gothic Medium</vt:lpstr>
      <vt:lpstr>Times New Roman</vt:lpstr>
      <vt:lpstr>Wingdings</vt:lpstr>
      <vt:lpstr>Wingdings 2</vt:lpstr>
      <vt:lpstr>Theme1</vt:lpstr>
      <vt:lpstr>CHAP TER 7: SOCIAL ISSUES</vt:lpstr>
      <vt:lpstr>Contents</vt:lpstr>
      <vt:lpstr>Objectives: Green Computing</vt:lpstr>
      <vt:lpstr>Green Computing</vt:lpstr>
      <vt:lpstr>How IT industry can Harm Environment?</vt:lpstr>
      <vt:lpstr>How IT industry can Harm Environment?</vt:lpstr>
      <vt:lpstr>How IT industry can Harm Environment?</vt:lpstr>
      <vt:lpstr>The Goal of Green Computing</vt:lpstr>
      <vt:lpstr>Green Computing</vt:lpstr>
      <vt:lpstr>Green Computing</vt:lpstr>
      <vt:lpstr>Green Computing</vt:lpstr>
      <vt:lpstr>Green Computing</vt:lpstr>
      <vt:lpstr>PowerPoint Presentation</vt:lpstr>
      <vt:lpstr>Pathways to Green Computing</vt:lpstr>
      <vt:lpstr>Pathways to Green Computing</vt:lpstr>
      <vt:lpstr>Objective:  Digital Divides</vt:lpstr>
      <vt:lpstr> The Digital Divides</vt:lpstr>
      <vt:lpstr> The Digital Divides</vt:lpstr>
      <vt:lpstr> The Digital Divides</vt:lpstr>
      <vt:lpstr>Objective:  Work environment</vt:lpstr>
      <vt:lpstr>Work environment: Monitoring</vt:lpstr>
      <vt:lpstr>Work environment: Monitoring</vt:lpstr>
      <vt:lpstr>Work environment: Monitoring</vt:lpstr>
      <vt:lpstr>Work environment: Monitoring</vt:lpstr>
      <vt:lpstr>Work environment: Monitoring</vt:lpstr>
      <vt:lpstr>Work environment: Web-Surfing at work</vt:lpstr>
      <vt:lpstr> Objective: Social Media Networking </vt:lpstr>
      <vt:lpstr>What Is a  Social Networking Web Site?</vt:lpstr>
      <vt:lpstr>Social Networking Web Site</vt:lpstr>
      <vt:lpstr>Social Networking Web Site</vt:lpstr>
      <vt:lpstr>Business Applications of Online Social Networking</vt:lpstr>
      <vt:lpstr>Business Applications of Online Social Networking (cont’d.)</vt:lpstr>
      <vt:lpstr>The Use of Social Networks in the Hiring Process</vt:lpstr>
      <vt:lpstr>Use of Social Media to Improve Customer Service</vt:lpstr>
      <vt:lpstr>Social Shopping Web Sites</vt:lpstr>
      <vt:lpstr>PowerPoint Presentation</vt:lpstr>
      <vt:lpstr>Social Networking Ethical Issues</vt:lpstr>
      <vt:lpstr>Social Networking Ethical Issues (cont’d.)</vt:lpstr>
      <vt:lpstr>Social Networking Ethical Issues (cont’d.)</vt:lpstr>
      <vt:lpstr>Social Networking Ethical Issues (cont’d.)</vt:lpstr>
      <vt:lpstr>Social Networking Ethical Issues (cont’d.)</vt:lpstr>
      <vt:lpstr>Evaluating Information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PRIVACY</dc:title>
  <dc:creator>ROZI</dc:creator>
  <cp:lastModifiedBy>ROZI NOR HAIZAN BINTI NOR</cp:lastModifiedBy>
  <cp:revision>71</cp:revision>
  <dcterms:modified xsi:type="dcterms:W3CDTF">2023-01-09T03:17:48Z</dcterms:modified>
</cp:coreProperties>
</file>