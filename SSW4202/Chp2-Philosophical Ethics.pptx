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7" r:id="rId1"/>
  </p:sldMasterIdLst>
  <p:notesMasterIdLst>
    <p:notesMasterId r:id="rId45"/>
  </p:notesMasterIdLst>
  <p:handoutMasterIdLst>
    <p:handoutMasterId r:id="rId46"/>
  </p:handoutMasterIdLst>
  <p:sldIdLst>
    <p:sldId id="353" r:id="rId2"/>
    <p:sldId id="394" r:id="rId3"/>
    <p:sldId id="354" r:id="rId4"/>
    <p:sldId id="355" r:id="rId5"/>
    <p:sldId id="356" r:id="rId6"/>
    <p:sldId id="357" r:id="rId7"/>
    <p:sldId id="358" r:id="rId8"/>
    <p:sldId id="359" r:id="rId9"/>
    <p:sldId id="360" r:id="rId10"/>
    <p:sldId id="361" r:id="rId11"/>
    <p:sldId id="362" r:id="rId12"/>
    <p:sldId id="363" r:id="rId13"/>
    <p:sldId id="364" r:id="rId14"/>
    <p:sldId id="365" r:id="rId15"/>
    <p:sldId id="366" r:id="rId16"/>
    <p:sldId id="367" r:id="rId17"/>
    <p:sldId id="368" r:id="rId18"/>
    <p:sldId id="369" r:id="rId19"/>
    <p:sldId id="370" r:id="rId20"/>
    <p:sldId id="371" r:id="rId21"/>
    <p:sldId id="372" r:id="rId22"/>
    <p:sldId id="373" r:id="rId23"/>
    <p:sldId id="374" r:id="rId24"/>
    <p:sldId id="375" r:id="rId25"/>
    <p:sldId id="376" r:id="rId26"/>
    <p:sldId id="377" r:id="rId27"/>
    <p:sldId id="378" r:id="rId28"/>
    <p:sldId id="379" r:id="rId29"/>
    <p:sldId id="380" r:id="rId30"/>
    <p:sldId id="381" r:id="rId31"/>
    <p:sldId id="382" r:id="rId32"/>
    <p:sldId id="383" r:id="rId33"/>
    <p:sldId id="384" r:id="rId34"/>
    <p:sldId id="385" r:id="rId35"/>
    <p:sldId id="386" r:id="rId36"/>
    <p:sldId id="387" r:id="rId37"/>
    <p:sldId id="388" r:id="rId38"/>
    <p:sldId id="389" r:id="rId39"/>
    <p:sldId id="390" r:id="rId40"/>
    <p:sldId id="391" r:id="rId41"/>
    <p:sldId id="392" r:id="rId42"/>
    <p:sldId id="393" r:id="rId43"/>
    <p:sldId id="396" r:id="rId44"/>
  </p:sldIdLst>
  <p:sldSz cx="9144000" cy="6858000" type="screen4x3"/>
  <p:notesSz cx="6761163" cy="9942513"/>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02E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83" autoAdjust="0"/>
    <p:restoredTop sz="71692" autoAdjust="0"/>
  </p:normalViewPr>
  <p:slideViewPr>
    <p:cSldViewPr>
      <p:cViewPr varScale="1">
        <p:scale>
          <a:sx n="78" d="100"/>
          <a:sy n="78" d="100"/>
        </p:scale>
        <p:origin x="2904" y="18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Lst>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3" Type="http://schemas.openxmlformats.org/officeDocument/2006/relationships/slide" Target="slides/slide15.xml"/><Relationship Id="rId18" Type="http://schemas.openxmlformats.org/officeDocument/2006/relationships/slide" Target="slides/slide20.xml"/><Relationship Id="rId26" Type="http://schemas.openxmlformats.org/officeDocument/2006/relationships/slide" Target="slides/slide28.xml"/><Relationship Id="rId21" Type="http://schemas.openxmlformats.org/officeDocument/2006/relationships/slide" Target="slides/slide23.xml"/><Relationship Id="rId34" Type="http://schemas.openxmlformats.org/officeDocument/2006/relationships/slide" Target="slides/slide36.xml"/><Relationship Id="rId7" Type="http://schemas.openxmlformats.org/officeDocument/2006/relationships/slide" Target="slides/slide9.xml"/><Relationship Id="rId12" Type="http://schemas.openxmlformats.org/officeDocument/2006/relationships/slide" Target="slides/slide14.xml"/><Relationship Id="rId17" Type="http://schemas.openxmlformats.org/officeDocument/2006/relationships/slide" Target="slides/slide19.xml"/><Relationship Id="rId25" Type="http://schemas.openxmlformats.org/officeDocument/2006/relationships/slide" Target="slides/slide27.xml"/><Relationship Id="rId33" Type="http://schemas.openxmlformats.org/officeDocument/2006/relationships/slide" Target="slides/slide35.xml"/><Relationship Id="rId2" Type="http://schemas.openxmlformats.org/officeDocument/2006/relationships/slide" Target="slides/slide4.xml"/><Relationship Id="rId16" Type="http://schemas.openxmlformats.org/officeDocument/2006/relationships/slide" Target="slides/slide18.xml"/><Relationship Id="rId20" Type="http://schemas.openxmlformats.org/officeDocument/2006/relationships/slide" Target="slides/slide22.xml"/><Relationship Id="rId29" Type="http://schemas.openxmlformats.org/officeDocument/2006/relationships/slide" Target="slides/slide31.xml"/><Relationship Id="rId1" Type="http://schemas.openxmlformats.org/officeDocument/2006/relationships/slide" Target="slides/slide3.xml"/><Relationship Id="rId6" Type="http://schemas.openxmlformats.org/officeDocument/2006/relationships/slide" Target="slides/slide8.xml"/><Relationship Id="rId11" Type="http://schemas.openxmlformats.org/officeDocument/2006/relationships/slide" Target="slides/slide13.xml"/><Relationship Id="rId24" Type="http://schemas.openxmlformats.org/officeDocument/2006/relationships/slide" Target="slides/slide26.xml"/><Relationship Id="rId32" Type="http://schemas.openxmlformats.org/officeDocument/2006/relationships/slide" Target="slides/slide34.xml"/><Relationship Id="rId37" Type="http://schemas.openxmlformats.org/officeDocument/2006/relationships/slide" Target="slides/slide39.xml"/><Relationship Id="rId5" Type="http://schemas.openxmlformats.org/officeDocument/2006/relationships/slide" Target="slides/slide7.xml"/><Relationship Id="rId15" Type="http://schemas.openxmlformats.org/officeDocument/2006/relationships/slide" Target="slides/slide17.xml"/><Relationship Id="rId23" Type="http://schemas.openxmlformats.org/officeDocument/2006/relationships/slide" Target="slides/slide25.xml"/><Relationship Id="rId28" Type="http://schemas.openxmlformats.org/officeDocument/2006/relationships/slide" Target="slides/slide30.xml"/><Relationship Id="rId36" Type="http://schemas.openxmlformats.org/officeDocument/2006/relationships/slide" Target="slides/slide38.xml"/><Relationship Id="rId10" Type="http://schemas.openxmlformats.org/officeDocument/2006/relationships/slide" Target="slides/slide12.xml"/><Relationship Id="rId19" Type="http://schemas.openxmlformats.org/officeDocument/2006/relationships/slide" Target="slides/slide21.xml"/><Relationship Id="rId31" Type="http://schemas.openxmlformats.org/officeDocument/2006/relationships/slide" Target="slides/slide33.xml"/><Relationship Id="rId4" Type="http://schemas.openxmlformats.org/officeDocument/2006/relationships/slide" Target="slides/slide6.xml"/><Relationship Id="rId9" Type="http://schemas.openxmlformats.org/officeDocument/2006/relationships/slide" Target="slides/slide11.xml"/><Relationship Id="rId14" Type="http://schemas.openxmlformats.org/officeDocument/2006/relationships/slide" Target="slides/slide16.xml"/><Relationship Id="rId22" Type="http://schemas.openxmlformats.org/officeDocument/2006/relationships/slide" Target="slides/slide24.xml"/><Relationship Id="rId27" Type="http://schemas.openxmlformats.org/officeDocument/2006/relationships/slide" Target="slides/slide29.xml"/><Relationship Id="rId30" Type="http://schemas.openxmlformats.org/officeDocument/2006/relationships/slide" Target="slides/slide32.xml"/><Relationship Id="rId35" Type="http://schemas.openxmlformats.org/officeDocument/2006/relationships/slide" Target="slides/slide37.xml"/><Relationship Id="rId8" Type="http://schemas.openxmlformats.org/officeDocument/2006/relationships/slide" Target="slides/slide10.xml"/><Relationship Id="rId3"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E92D9C12-0A38-4138-BB67-9A2B49927112}" type="datetimeFigureOut">
              <a:rPr lang="en-MY" smtClean="0"/>
              <a:pPr/>
              <a:t>20/03/2025</a:t>
            </a:fld>
            <a:endParaRPr lang="en-MY"/>
          </a:p>
        </p:txBody>
      </p:sp>
      <p:sp>
        <p:nvSpPr>
          <p:cNvPr id="4" name="Footer Placeholder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37C3DEBF-9632-42D1-B5CF-E7C07AA71B9E}" type="slidenum">
              <a:rPr lang="en-MY" smtClean="0"/>
              <a:pPr/>
              <a:t>‹#›</a:t>
            </a:fld>
            <a:endParaRPr lang="en-MY"/>
          </a:p>
        </p:txBody>
      </p:sp>
    </p:spTree>
    <p:extLst>
      <p:ext uri="{BB962C8B-B14F-4D97-AF65-F5344CB8AC3E}">
        <p14:creationId xmlns:p14="http://schemas.microsoft.com/office/powerpoint/2010/main" val="12316853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29837" cy="4971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31326" y="0"/>
            <a:ext cx="2929837" cy="4971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87044" name="Rectangle 4"/>
          <p:cNvSpPr>
            <a:spLocks noGrp="1" noRot="1" noChangeAspect="1" noChangeArrowheads="1" noTextEdit="1"/>
          </p:cNvSpPr>
          <p:nvPr>
            <p:ph type="sldImg" idx="2"/>
          </p:nvPr>
        </p:nvSpPr>
        <p:spPr bwMode="auto">
          <a:xfrm>
            <a:off x="896938" y="746125"/>
            <a:ext cx="4967287"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01489" y="4722694"/>
            <a:ext cx="4958186" cy="44741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9445387"/>
            <a:ext cx="2929837" cy="49712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31326" y="9445387"/>
            <a:ext cx="2929837" cy="49712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D25FDDA-D587-4D20-9A56-5823FC35D44E}" type="slidenum">
              <a:rPr lang="en-US"/>
              <a:pPr>
                <a:defRPr/>
              </a:pPr>
              <a:t>‹#›</a:t>
            </a:fld>
            <a:endParaRPr lang="en-US"/>
          </a:p>
        </p:txBody>
      </p:sp>
    </p:spTree>
    <p:extLst>
      <p:ext uri="{BB962C8B-B14F-4D97-AF65-F5344CB8AC3E}">
        <p14:creationId xmlns:p14="http://schemas.microsoft.com/office/powerpoint/2010/main" val="9900132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1</a:t>
            </a:fld>
            <a:endParaRPr lang="en-US"/>
          </a:p>
        </p:txBody>
      </p:sp>
    </p:spTree>
    <p:extLst>
      <p:ext uri="{BB962C8B-B14F-4D97-AF65-F5344CB8AC3E}">
        <p14:creationId xmlns:p14="http://schemas.microsoft.com/office/powerpoint/2010/main" val="1737618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ethics/ moral behavior need some approaches in philosophical ethics studies or field  that we call it Ethics theory. </a:t>
            </a:r>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2</a:t>
            </a:fld>
            <a:endParaRPr lang="en-US"/>
          </a:p>
        </p:txBody>
      </p:sp>
    </p:spTree>
    <p:extLst>
      <p:ext uri="{BB962C8B-B14F-4D97-AF65-F5344CB8AC3E}">
        <p14:creationId xmlns:p14="http://schemas.microsoft.com/office/powerpoint/2010/main" val="450978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Coherent /</a:t>
            </a:r>
            <a:r>
              <a:rPr lang="en-US" dirty="0" err="1"/>
              <a:t>Berhubung</a:t>
            </a:r>
            <a:r>
              <a:rPr lang="en-US" dirty="0"/>
              <a:t> </a:t>
            </a:r>
            <a:r>
              <a:rPr lang="en-US" dirty="0" err="1"/>
              <a:t>secara</a:t>
            </a:r>
            <a:r>
              <a:rPr lang="en-US" dirty="0"/>
              <a:t> </a:t>
            </a:r>
            <a:r>
              <a:rPr lang="en-US" dirty="0" err="1"/>
              <a:t>logik</a:t>
            </a:r>
            <a:r>
              <a:rPr lang="en-US" dirty="0"/>
              <a:t>– theory element must fit and suit each others ( complement each other)</a:t>
            </a:r>
          </a:p>
          <a:p>
            <a:r>
              <a:rPr lang="en-US" dirty="0"/>
              <a:t>Consistent /</a:t>
            </a:r>
            <a:r>
              <a:rPr lang="en-US" dirty="0" err="1"/>
              <a:t>Tidak</a:t>
            </a:r>
            <a:r>
              <a:rPr lang="en-US" dirty="0"/>
              <a:t> </a:t>
            </a:r>
            <a:r>
              <a:rPr lang="en-US" dirty="0" err="1"/>
              <a:t>Kontradik</a:t>
            </a:r>
            <a:r>
              <a:rPr lang="en-US" dirty="0"/>
              <a:t>– Cannot contrast or contradict each other (support each other)</a:t>
            </a:r>
          </a:p>
          <a:p>
            <a:r>
              <a:rPr lang="en-US" dirty="0"/>
              <a:t>Comprehensive/</a:t>
            </a:r>
            <a:r>
              <a:rPr lang="en-US" dirty="0" err="1"/>
              <a:t>Merangkumi</a:t>
            </a:r>
            <a:r>
              <a:rPr lang="en-US" dirty="0"/>
              <a:t> </a:t>
            </a:r>
            <a:r>
              <a:rPr lang="en-US" dirty="0" err="1"/>
              <a:t>semua</a:t>
            </a:r>
            <a:r>
              <a:rPr lang="en-US" dirty="0"/>
              <a:t> </a:t>
            </a:r>
            <a:r>
              <a:rPr lang="en-US" dirty="0" err="1"/>
              <a:t>spek</a:t>
            </a:r>
            <a:r>
              <a:rPr lang="en-US" dirty="0"/>
              <a:t> yang </a:t>
            </a:r>
            <a:r>
              <a:rPr lang="en-US" dirty="0" err="1"/>
              <a:t>berkaitan</a:t>
            </a:r>
            <a:r>
              <a:rPr lang="en-US" dirty="0"/>
              <a:t> – They can apply abroad </a:t>
            </a:r>
            <a:r>
              <a:rPr lang="en-US" dirty="0" err="1"/>
              <a:t>esp</a:t>
            </a:r>
            <a:r>
              <a:rPr lang="en-US" dirty="0"/>
              <a:t> for the similar of action (not only specifically for the action)</a:t>
            </a:r>
          </a:p>
          <a:p>
            <a:r>
              <a:rPr lang="en-US" dirty="0"/>
              <a:t>Systematic/</a:t>
            </a:r>
            <a:r>
              <a:rPr lang="en-US" dirty="0" err="1"/>
              <a:t>Teratur</a:t>
            </a:r>
            <a:r>
              <a:rPr lang="en-US" dirty="0"/>
              <a:t> – Apply to other similar action with the similar/main/basic guidelines provided</a:t>
            </a:r>
          </a:p>
          <a:p>
            <a:endParaRPr lang="en-MY" dirty="0"/>
          </a:p>
          <a:p>
            <a:endParaRPr lang="en-MY" dirty="0"/>
          </a:p>
          <a:p>
            <a:endParaRPr lang="en-MY" dirty="0"/>
          </a:p>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3</a:t>
            </a:fld>
            <a:endParaRPr lang="en-US"/>
          </a:p>
        </p:txBody>
      </p:sp>
    </p:spTree>
    <p:extLst>
      <p:ext uri="{BB962C8B-B14F-4D97-AF65-F5344CB8AC3E}">
        <p14:creationId xmlns:p14="http://schemas.microsoft.com/office/powerpoint/2010/main" val="1824880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MY" b="1" dirty="0"/>
              <a:t>Structure ethical theory should: </a:t>
            </a:r>
          </a:p>
          <a:p>
            <a:pPr>
              <a:buFont typeface="+mj-lt"/>
              <a:buAutoNum type="arabicPeriod"/>
            </a:pPr>
            <a:endParaRPr lang="en-MY" b="1" dirty="0"/>
          </a:p>
          <a:p>
            <a:pPr marL="171450" indent="-171450">
              <a:buFont typeface="Arial" panose="020B0604020202020204" pitchFamily="34" charset="0"/>
              <a:buChar char="•"/>
            </a:pPr>
            <a:r>
              <a:rPr lang="en-MY" b="1" dirty="0" err="1"/>
              <a:t>Koheren</a:t>
            </a:r>
            <a:r>
              <a:rPr lang="en-MY" dirty="0"/>
              <a:t>:</a:t>
            </a:r>
          </a:p>
          <a:p>
            <a:pPr marL="742950" lvl="1" indent="-285750">
              <a:buFont typeface="+mj-lt"/>
              <a:buAutoNum type="arabicPeriod"/>
            </a:pPr>
            <a:r>
              <a:rPr lang="en-MY" dirty="0" err="1"/>
              <a:t>Teori</a:t>
            </a:r>
            <a:r>
              <a:rPr lang="en-MY" dirty="0"/>
              <a:t> yang </a:t>
            </a:r>
            <a:r>
              <a:rPr lang="en-MY" dirty="0" err="1"/>
              <a:t>koheren</a:t>
            </a:r>
            <a:r>
              <a:rPr lang="en-MY" dirty="0"/>
              <a:t> </a:t>
            </a:r>
            <a:r>
              <a:rPr lang="en-MY" dirty="0" err="1"/>
              <a:t>bermaksud</a:t>
            </a:r>
            <a:r>
              <a:rPr lang="en-MY" dirty="0"/>
              <a:t> </a:t>
            </a:r>
            <a:r>
              <a:rPr lang="en-MY" dirty="0" err="1"/>
              <a:t>bahawa</a:t>
            </a:r>
            <a:r>
              <a:rPr lang="en-MY" dirty="0"/>
              <a:t> </a:t>
            </a:r>
            <a:r>
              <a:rPr lang="en-MY" dirty="0" err="1"/>
              <a:t>semua</a:t>
            </a:r>
            <a:r>
              <a:rPr lang="en-MY" dirty="0"/>
              <a:t> </a:t>
            </a:r>
            <a:r>
              <a:rPr lang="en-MY" dirty="0" err="1"/>
              <a:t>bahagian</a:t>
            </a:r>
            <a:r>
              <a:rPr lang="en-MY" dirty="0"/>
              <a:t> </a:t>
            </a:r>
            <a:r>
              <a:rPr lang="en-MY" dirty="0" err="1"/>
              <a:t>dalam</a:t>
            </a:r>
            <a:r>
              <a:rPr lang="en-MY" dirty="0"/>
              <a:t> </a:t>
            </a:r>
            <a:r>
              <a:rPr lang="en-MY" dirty="0" err="1"/>
              <a:t>teori</a:t>
            </a:r>
            <a:r>
              <a:rPr lang="en-MY" dirty="0"/>
              <a:t> </a:t>
            </a:r>
            <a:r>
              <a:rPr lang="en-MY" dirty="0" err="1"/>
              <a:t>itu</a:t>
            </a:r>
            <a:r>
              <a:rPr lang="en-MY" dirty="0"/>
              <a:t> </a:t>
            </a:r>
            <a:r>
              <a:rPr lang="en-MY" dirty="0" err="1"/>
              <a:t>saling</a:t>
            </a:r>
            <a:r>
              <a:rPr lang="en-MY" dirty="0"/>
              <a:t> </a:t>
            </a:r>
            <a:r>
              <a:rPr lang="en-MY" dirty="0" err="1"/>
              <a:t>berhubung</a:t>
            </a:r>
            <a:r>
              <a:rPr lang="en-MY" dirty="0"/>
              <a:t> </a:t>
            </a:r>
            <a:r>
              <a:rPr lang="en-MY" dirty="0" err="1"/>
              <a:t>secara</a:t>
            </a:r>
            <a:r>
              <a:rPr lang="en-MY" dirty="0"/>
              <a:t> </a:t>
            </a:r>
            <a:r>
              <a:rPr lang="en-MY" dirty="0" err="1"/>
              <a:t>logik</a:t>
            </a:r>
            <a:r>
              <a:rPr lang="en-MY" dirty="0"/>
              <a:t> dan </a:t>
            </a:r>
            <a:r>
              <a:rPr lang="en-MY" dirty="0" err="1"/>
              <a:t>membuatkan</a:t>
            </a:r>
            <a:r>
              <a:rPr lang="en-MY" dirty="0"/>
              <a:t> </a:t>
            </a:r>
            <a:r>
              <a:rPr lang="en-MY" dirty="0" err="1"/>
              <a:t>keseluruhan</a:t>
            </a:r>
            <a:r>
              <a:rPr lang="en-MY" dirty="0"/>
              <a:t> </a:t>
            </a:r>
            <a:r>
              <a:rPr lang="en-MY" dirty="0" err="1"/>
              <a:t>teori</a:t>
            </a:r>
            <a:r>
              <a:rPr lang="en-MY" dirty="0"/>
              <a:t> </a:t>
            </a:r>
            <a:r>
              <a:rPr lang="en-MY" dirty="0" err="1"/>
              <a:t>itu</a:t>
            </a:r>
            <a:r>
              <a:rPr lang="en-MY" dirty="0"/>
              <a:t> </a:t>
            </a:r>
            <a:r>
              <a:rPr lang="en-MY" dirty="0" err="1"/>
              <a:t>masuk</a:t>
            </a:r>
            <a:r>
              <a:rPr lang="en-MY" dirty="0"/>
              <a:t> </a:t>
            </a:r>
            <a:r>
              <a:rPr lang="en-MY" dirty="0" err="1"/>
              <a:t>akal</a:t>
            </a:r>
            <a:r>
              <a:rPr lang="en-MY" dirty="0"/>
              <a:t>. </a:t>
            </a:r>
            <a:r>
              <a:rPr lang="en-MY" dirty="0" err="1"/>
              <a:t>Konsep-konsep</a:t>
            </a:r>
            <a:r>
              <a:rPr lang="en-MY" dirty="0"/>
              <a:t> </a:t>
            </a:r>
            <a:r>
              <a:rPr lang="en-MY" dirty="0" err="1"/>
              <a:t>dalam</a:t>
            </a:r>
            <a:r>
              <a:rPr lang="en-MY" dirty="0"/>
              <a:t> </a:t>
            </a:r>
            <a:r>
              <a:rPr lang="en-MY" dirty="0" err="1"/>
              <a:t>teori</a:t>
            </a:r>
            <a:r>
              <a:rPr lang="en-MY" dirty="0"/>
              <a:t> </a:t>
            </a:r>
            <a:r>
              <a:rPr lang="en-MY" dirty="0" err="1"/>
              <a:t>harus</a:t>
            </a:r>
            <a:r>
              <a:rPr lang="en-MY" dirty="0"/>
              <a:t> </a:t>
            </a:r>
            <a:r>
              <a:rPr lang="en-MY" dirty="0" err="1"/>
              <a:t>saling</a:t>
            </a:r>
            <a:r>
              <a:rPr lang="en-MY" dirty="0"/>
              <a:t> </a:t>
            </a:r>
            <a:r>
              <a:rPr lang="en-MY" dirty="0" err="1"/>
              <a:t>menghubungkan</a:t>
            </a:r>
            <a:r>
              <a:rPr lang="en-MY" dirty="0"/>
              <a:t> </a:t>
            </a:r>
            <a:r>
              <a:rPr lang="en-MY" dirty="0" err="1"/>
              <a:t>dengan</a:t>
            </a:r>
            <a:r>
              <a:rPr lang="en-MY" dirty="0"/>
              <a:t> </a:t>
            </a:r>
            <a:r>
              <a:rPr lang="en-MY" dirty="0" err="1"/>
              <a:t>cara</a:t>
            </a:r>
            <a:r>
              <a:rPr lang="en-MY" dirty="0"/>
              <a:t> yang </a:t>
            </a:r>
            <a:r>
              <a:rPr lang="en-MY" dirty="0" err="1"/>
              <a:t>jelas</a:t>
            </a:r>
            <a:r>
              <a:rPr lang="en-MY" dirty="0"/>
              <a:t> dan </a:t>
            </a:r>
            <a:r>
              <a:rPr lang="en-MY" dirty="0" err="1"/>
              <a:t>mudah</a:t>
            </a:r>
            <a:r>
              <a:rPr lang="en-MY" dirty="0"/>
              <a:t> </a:t>
            </a:r>
            <a:r>
              <a:rPr lang="en-MY" dirty="0" err="1"/>
              <a:t>difahami</a:t>
            </a:r>
            <a:r>
              <a:rPr lang="en-MY" dirty="0"/>
              <a:t>, </a:t>
            </a:r>
            <a:r>
              <a:rPr lang="en-MY" dirty="0" err="1"/>
              <a:t>tanpa</a:t>
            </a:r>
            <a:r>
              <a:rPr lang="en-MY" dirty="0"/>
              <a:t> </a:t>
            </a:r>
            <a:r>
              <a:rPr lang="en-MY" dirty="0" err="1"/>
              <a:t>kontradiksi</a:t>
            </a:r>
            <a:r>
              <a:rPr lang="en-MY" dirty="0"/>
              <a:t>.</a:t>
            </a:r>
          </a:p>
          <a:p>
            <a:pPr marL="742950" lvl="1" indent="-285750">
              <a:buFont typeface="+mj-lt"/>
              <a:buAutoNum type="arabicPeriod"/>
            </a:pPr>
            <a:r>
              <a:rPr lang="en-MY" b="1" dirty="0" err="1"/>
              <a:t>Contoh</a:t>
            </a:r>
            <a:r>
              <a:rPr lang="en-MY" dirty="0"/>
              <a:t>: Jika </a:t>
            </a:r>
            <a:r>
              <a:rPr lang="en-MY" dirty="0" err="1"/>
              <a:t>sebuah</a:t>
            </a:r>
            <a:r>
              <a:rPr lang="en-MY" dirty="0"/>
              <a:t> </a:t>
            </a:r>
            <a:r>
              <a:rPr lang="en-MY" dirty="0" err="1"/>
              <a:t>teori</a:t>
            </a:r>
            <a:r>
              <a:rPr lang="en-MY" dirty="0"/>
              <a:t> </a:t>
            </a:r>
            <a:r>
              <a:rPr lang="en-MY" dirty="0" err="1"/>
              <a:t>tentang</a:t>
            </a:r>
            <a:r>
              <a:rPr lang="en-MY" dirty="0"/>
              <a:t> </a:t>
            </a:r>
            <a:r>
              <a:rPr lang="en-MY" dirty="0" err="1"/>
              <a:t>tingkah</a:t>
            </a:r>
            <a:r>
              <a:rPr lang="en-MY" dirty="0"/>
              <a:t> </a:t>
            </a:r>
            <a:r>
              <a:rPr lang="en-MY" dirty="0" err="1"/>
              <a:t>laku</a:t>
            </a:r>
            <a:r>
              <a:rPr lang="en-MY" dirty="0"/>
              <a:t> </a:t>
            </a:r>
            <a:r>
              <a:rPr lang="en-MY" dirty="0" err="1"/>
              <a:t>manusia</a:t>
            </a:r>
            <a:r>
              <a:rPr lang="en-MY" dirty="0"/>
              <a:t> </a:t>
            </a:r>
            <a:r>
              <a:rPr lang="en-MY" dirty="0" err="1"/>
              <a:t>mencadangkan</a:t>
            </a:r>
            <a:r>
              <a:rPr lang="en-MY" dirty="0"/>
              <a:t> </a:t>
            </a:r>
            <a:r>
              <a:rPr lang="en-MY" dirty="0" err="1"/>
              <a:t>bahawa</a:t>
            </a:r>
            <a:r>
              <a:rPr lang="en-MY" dirty="0"/>
              <a:t> </a:t>
            </a:r>
            <a:r>
              <a:rPr lang="en-MY" dirty="0" err="1"/>
              <a:t>manusia</a:t>
            </a:r>
            <a:r>
              <a:rPr lang="en-MY" dirty="0"/>
              <a:t> </a:t>
            </a:r>
            <a:r>
              <a:rPr lang="en-MY" dirty="0" err="1"/>
              <a:t>adalah</a:t>
            </a:r>
            <a:r>
              <a:rPr lang="en-MY" dirty="0"/>
              <a:t> </a:t>
            </a:r>
            <a:r>
              <a:rPr lang="en-MY" dirty="0" err="1"/>
              <a:t>sepenuhnya</a:t>
            </a:r>
            <a:r>
              <a:rPr lang="en-MY" dirty="0"/>
              <a:t> </a:t>
            </a:r>
            <a:r>
              <a:rPr lang="en-MY" dirty="0" err="1"/>
              <a:t>rasional</a:t>
            </a:r>
            <a:r>
              <a:rPr lang="en-MY" dirty="0"/>
              <a:t>, </a:t>
            </a:r>
            <a:r>
              <a:rPr lang="en-MY" dirty="0" err="1"/>
              <a:t>ia</a:t>
            </a:r>
            <a:r>
              <a:rPr lang="en-MY" dirty="0"/>
              <a:t> </a:t>
            </a:r>
            <a:r>
              <a:rPr lang="en-MY" dirty="0" err="1"/>
              <a:t>seharusnya</a:t>
            </a:r>
            <a:r>
              <a:rPr lang="en-MY" dirty="0"/>
              <a:t> </a:t>
            </a:r>
            <a:r>
              <a:rPr lang="en-MY" dirty="0" err="1"/>
              <a:t>mencerminkan</a:t>
            </a:r>
            <a:r>
              <a:rPr lang="en-MY" dirty="0"/>
              <a:t> </a:t>
            </a:r>
            <a:r>
              <a:rPr lang="en-MY" dirty="0" err="1"/>
              <a:t>konsistensi</a:t>
            </a:r>
            <a:r>
              <a:rPr lang="en-MY" dirty="0"/>
              <a:t> </a:t>
            </a:r>
            <a:r>
              <a:rPr lang="en-MY" dirty="0" err="1"/>
              <a:t>dalam</a:t>
            </a:r>
            <a:r>
              <a:rPr lang="en-MY" dirty="0"/>
              <a:t> </a:t>
            </a:r>
            <a:r>
              <a:rPr lang="en-MY" dirty="0" err="1"/>
              <a:t>semua</a:t>
            </a:r>
            <a:r>
              <a:rPr lang="en-MY" dirty="0"/>
              <a:t> </a:t>
            </a:r>
            <a:r>
              <a:rPr lang="en-MY" dirty="0" err="1"/>
              <a:t>penjelasan</a:t>
            </a:r>
            <a:r>
              <a:rPr lang="en-MY" dirty="0"/>
              <a:t> dan </a:t>
            </a:r>
            <a:r>
              <a:rPr lang="en-MY" dirty="0" err="1"/>
              <a:t>ramalannya</a:t>
            </a:r>
            <a:r>
              <a:rPr lang="en-MY" dirty="0"/>
              <a:t>.</a:t>
            </a:r>
          </a:p>
          <a:p>
            <a:pPr marL="171450" indent="-171450">
              <a:buFont typeface="Arial" panose="020B0604020202020204" pitchFamily="34" charset="0"/>
              <a:buChar char="•"/>
            </a:pPr>
            <a:r>
              <a:rPr lang="en-MY" b="1" dirty="0" err="1"/>
              <a:t>Konsisten</a:t>
            </a:r>
            <a:r>
              <a:rPr lang="en-MY" dirty="0"/>
              <a:t>:</a:t>
            </a:r>
          </a:p>
          <a:p>
            <a:pPr marL="742950" lvl="1" indent="-285750">
              <a:buFont typeface="+mj-lt"/>
              <a:buAutoNum type="arabicPeriod"/>
            </a:pPr>
            <a:r>
              <a:rPr lang="en-MY" dirty="0" err="1"/>
              <a:t>Konsistensi</a:t>
            </a:r>
            <a:r>
              <a:rPr lang="en-MY" dirty="0"/>
              <a:t> </a:t>
            </a:r>
            <a:r>
              <a:rPr lang="en-MY" dirty="0" err="1"/>
              <a:t>dalam</a:t>
            </a:r>
            <a:r>
              <a:rPr lang="en-MY" dirty="0"/>
              <a:t> </a:t>
            </a:r>
            <a:r>
              <a:rPr lang="en-MY" dirty="0" err="1"/>
              <a:t>sebuah</a:t>
            </a:r>
            <a:r>
              <a:rPr lang="en-MY" dirty="0"/>
              <a:t> </a:t>
            </a:r>
            <a:r>
              <a:rPr lang="en-MY" dirty="0" err="1"/>
              <a:t>teori</a:t>
            </a:r>
            <a:r>
              <a:rPr lang="en-MY" dirty="0"/>
              <a:t> </a:t>
            </a:r>
            <a:r>
              <a:rPr lang="en-MY" dirty="0" err="1"/>
              <a:t>bermaksud</a:t>
            </a:r>
            <a:r>
              <a:rPr lang="en-MY" dirty="0"/>
              <a:t> </a:t>
            </a:r>
            <a:r>
              <a:rPr lang="en-MY" dirty="0" err="1"/>
              <a:t>ia</a:t>
            </a:r>
            <a:r>
              <a:rPr lang="en-MY" dirty="0"/>
              <a:t> </a:t>
            </a:r>
            <a:r>
              <a:rPr lang="en-MY" dirty="0" err="1"/>
              <a:t>tidak</a:t>
            </a:r>
            <a:r>
              <a:rPr lang="en-MY" dirty="0"/>
              <a:t> </a:t>
            </a:r>
            <a:r>
              <a:rPr lang="en-MY" dirty="0" err="1"/>
              <a:t>bertentangan</a:t>
            </a:r>
            <a:r>
              <a:rPr lang="en-MY" dirty="0"/>
              <a:t> </a:t>
            </a:r>
            <a:r>
              <a:rPr lang="en-MY" dirty="0" err="1"/>
              <a:t>dengan</a:t>
            </a:r>
            <a:r>
              <a:rPr lang="en-MY" dirty="0"/>
              <a:t> </a:t>
            </a:r>
            <a:r>
              <a:rPr lang="en-MY" dirty="0" err="1"/>
              <a:t>dirinya</a:t>
            </a:r>
            <a:r>
              <a:rPr lang="en-MY" dirty="0"/>
              <a:t> </a:t>
            </a:r>
            <a:r>
              <a:rPr lang="en-MY" dirty="0" err="1"/>
              <a:t>sendiri</a:t>
            </a:r>
            <a:r>
              <a:rPr lang="en-MY" dirty="0"/>
              <a:t>. </a:t>
            </a:r>
            <a:r>
              <a:rPr lang="en-MY" dirty="0" err="1"/>
              <a:t>Prinsip</a:t>
            </a:r>
            <a:r>
              <a:rPr lang="en-MY" dirty="0"/>
              <a:t> dan </a:t>
            </a:r>
            <a:r>
              <a:rPr lang="en-MY" dirty="0" err="1"/>
              <a:t>pernyataan</a:t>
            </a:r>
            <a:r>
              <a:rPr lang="en-MY" dirty="0"/>
              <a:t> </a:t>
            </a:r>
            <a:r>
              <a:rPr lang="en-MY" dirty="0" err="1"/>
              <a:t>dalam</a:t>
            </a:r>
            <a:r>
              <a:rPr lang="en-MY" dirty="0"/>
              <a:t> </a:t>
            </a:r>
            <a:r>
              <a:rPr lang="en-MY" dirty="0" err="1"/>
              <a:t>teori</a:t>
            </a:r>
            <a:r>
              <a:rPr lang="en-MY" dirty="0"/>
              <a:t> </a:t>
            </a:r>
            <a:r>
              <a:rPr lang="en-MY" dirty="0" err="1"/>
              <a:t>harus</a:t>
            </a:r>
            <a:r>
              <a:rPr lang="en-MY" dirty="0"/>
              <a:t> </a:t>
            </a:r>
            <a:r>
              <a:rPr lang="en-MY" dirty="0" err="1"/>
              <a:t>sejajar</a:t>
            </a:r>
            <a:r>
              <a:rPr lang="en-MY" dirty="0"/>
              <a:t> </a:t>
            </a:r>
            <a:r>
              <a:rPr lang="en-MY" dirty="0" err="1"/>
              <a:t>antara</a:t>
            </a:r>
            <a:r>
              <a:rPr lang="en-MY" dirty="0"/>
              <a:t> </a:t>
            </a:r>
            <a:r>
              <a:rPr lang="en-MY" dirty="0" err="1"/>
              <a:t>satu</a:t>
            </a:r>
            <a:r>
              <a:rPr lang="en-MY" dirty="0"/>
              <a:t> </a:t>
            </a:r>
            <a:r>
              <a:rPr lang="en-MY" dirty="0" err="1"/>
              <a:t>sama</a:t>
            </a:r>
            <a:r>
              <a:rPr lang="en-MY" dirty="0"/>
              <a:t> lain, </a:t>
            </a:r>
            <a:r>
              <a:rPr lang="en-MY" dirty="0" err="1"/>
              <a:t>sehingga</a:t>
            </a:r>
            <a:r>
              <a:rPr lang="en-MY" dirty="0"/>
              <a:t> </a:t>
            </a:r>
            <a:r>
              <a:rPr lang="en-MY" dirty="0" err="1"/>
              <a:t>jika</a:t>
            </a:r>
            <a:r>
              <a:rPr lang="en-MY" dirty="0"/>
              <a:t> </a:t>
            </a:r>
            <a:r>
              <a:rPr lang="en-MY" dirty="0" err="1"/>
              <a:t>satu</a:t>
            </a:r>
            <a:r>
              <a:rPr lang="en-MY" dirty="0"/>
              <a:t> </a:t>
            </a:r>
            <a:r>
              <a:rPr lang="en-MY" dirty="0" err="1"/>
              <a:t>bahagian</a:t>
            </a:r>
            <a:r>
              <a:rPr lang="en-MY" dirty="0"/>
              <a:t> </a:t>
            </a:r>
            <a:r>
              <a:rPr lang="en-MY" dirty="0" err="1"/>
              <a:t>adalah</a:t>
            </a:r>
            <a:r>
              <a:rPr lang="en-MY" dirty="0"/>
              <a:t> </a:t>
            </a:r>
            <a:r>
              <a:rPr lang="en-MY" dirty="0" err="1"/>
              <a:t>benar</a:t>
            </a:r>
            <a:r>
              <a:rPr lang="en-MY" dirty="0"/>
              <a:t>, </a:t>
            </a:r>
            <a:r>
              <a:rPr lang="en-MY" dirty="0" err="1"/>
              <a:t>ia</a:t>
            </a:r>
            <a:r>
              <a:rPr lang="en-MY" dirty="0"/>
              <a:t> </a:t>
            </a:r>
            <a:r>
              <a:rPr lang="en-MY" dirty="0" err="1"/>
              <a:t>tidak</a:t>
            </a:r>
            <a:r>
              <a:rPr lang="en-MY" dirty="0"/>
              <a:t> </a:t>
            </a:r>
            <a:r>
              <a:rPr lang="en-MY" dirty="0" err="1"/>
              <a:t>menafikan</a:t>
            </a:r>
            <a:r>
              <a:rPr lang="en-MY" dirty="0"/>
              <a:t> </a:t>
            </a:r>
            <a:r>
              <a:rPr lang="en-MY" dirty="0" err="1"/>
              <a:t>bahagian</a:t>
            </a:r>
            <a:r>
              <a:rPr lang="en-MY" dirty="0"/>
              <a:t> yang lain.</a:t>
            </a:r>
          </a:p>
          <a:p>
            <a:pPr marL="742950" lvl="1" indent="-285750">
              <a:buFont typeface="+mj-lt"/>
              <a:buAutoNum type="arabicPeriod"/>
            </a:pPr>
            <a:r>
              <a:rPr lang="en-MY" b="1" dirty="0" err="1"/>
              <a:t>Contoh</a:t>
            </a:r>
            <a:r>
              <a:rPr lang="en-MY" dirty="0"/>
              <a:t>: Jika </a:t>
            </a:r>
            <a:r>
              <a:rPr lang="en-MY" dirty="0" err="1"/>
              <a:t>sebuah</a:t>
            </a:r>
            <a:r>
              <a:rPr lang="en-MY" dirty="0"/>
              <a:t> </a:t>
            </a:r>
            <a:r>
              <a:rPr lang="en-MY" dirty="0" err="1"/>
              <a:t>teori</a:t>
            </a:r>
            <a:r>
              <a:rPr lang="en-MY" dirty="0"/>
              <a:t> </a:t>
            </a:r>
            <a:r>
              <a:rPr lang="en-MY" dirty="0" err="1"/>
              <a:t>saintifik</a:t>
            </a:r>
            <a:r>
              <a:rPr lang="en-MY" dirty="0"/>
              <a:t> </a:t>
            </a:r>
            <a:r>
              <a:rPr lang="en-MY" dirty="0" err="1"/>
              <a:t>mendakwa</a:t>
            </a:r>
            <a:r>
              <a:rPr lang="en-MY" dirty="0"/>
              <a:t> </a:t>
            </a:r>
            <a:r>
              <a:rPr lang="en-MY" dirty="0" err="1"/>
              <a:t>hasil</a:t>
            </a:r>
            <a:r>
              <a:rPr lang="en-MY" dirty="0"/>
              <a:t> </a:t>
            </a:r>
            <a:r>
              <a:rPr lang="en-MY" dirty="0" err="1"/>
              <a:t>tertentu</a:t>
            </a:r>
            <a:r>
              <a:rPr lang="en-MY" dirty="0"/>
              <a:t> </a:t>
            </a:r>
            <a:r>
              <a:rPr lang="en-MY" dirty="0" err="1"/>
              <a:t>dalam</a:t>
            </a:r>
            <a:r>
              <a:rPr lang="en-MY" dirty="0"/>
              <a:t> </a:t>
            </a:r>
            <a:r>
              <a:rPr lang="en-MY" dirty="0" err="1"/>
              <a:t>keadaan</a:t>
            </a:r>
            <a:r>
              <a:rPr lang="en-MY" dirty="0"/>
              <a:t> </a:t>
            </a:r>
            <a:r>
              <a:rPr lang="en-MY" dirty="0" err="1"/>
              <a:t>tertentu</a:t>
            </a:r>
            <a:r>
              <a:rPr lang="en-MY" dirty="0"/>
              <a:t>, </a:t>
            </a:r>
            <a:r>
              <a:rPr lang="en-MY" dirty="0" err="1"/>
              <a:t>ia</a:t>
            </a:r>
            <a:r>
              <a:rPr lang="en-MY" dirty="0"/>
              <a:t> </a:t>
            </a:r>
            <a:r>
              <a:rPr lang="en-MY" dirty="0" err="1"/>
              <a:t>harus</a:t>
            </a:r>
            <a:r>
              <a:rPr lang="en-MY" dirty="0"/>
              <a:t> </a:t>
            </a:r>
            <a:r>
              <a:rPr lang="en-MY" dirty="0" err="1"/>
              <a:t>menghasilkan</a:t>
            </a:r>
            <a:r>
              <a:rPr lang="en-MY" dirty="0"/>
              <a:t> </a:t>
            </a:r>
            <a:r>
              <a:rPr lang="en-MY" dirty="0" err="1"/>
              <a:t>keputusan</a:t>
            </a:r>
            <a:r>
              <a:rPr lang="en-MY" dirty="0"/>
              <a:t> yang </a:t>
            </a:r>
            <a:r>
              <a:rPr lang="en-MY" dirty="0" err="1"/>
              <a:t>sama</a:t>
            </a:r>
            <a:r>
              <a:rPr lang="en-MY" dirty="0"/>
              <a:t> </a:t>
            </a:r>
            <a:r>
              <a:rPr lang="en-MY" dirty="0" err="1"/>
              <a:t>jika</a:t>
            </a:r>
            <a:r>
              <a:rPr lang="en-MY" dirty="0"/>
              <a:t> </a:t>
            </a:r>
            <a:r>
              <a:rPr lang="en-MY" dirty="0" err="1"/>
              <a:t>keadaan</a:t>
            </a:r>
            <a:r>
              <a:rPr lang="en-MY" dirty="0"/>
              <a:t> </a:t>
            </a:r>
            <a:r>
              <a:rPr lang="en-MY" dirty="0" err="1"/>
              <a:t>tersebut</a:t>
            </a:r>
            <a:r>
              <a:rPr lang="en-MY" dirty="0"/>
              <a:t> </a:t>
            </a:r>
            <a:r>
              <a:rPr lang="en-MY" dirty="0" err="1"/>
              <a:t>diulang</a:t>
            </a:r>
            <a:r>
              <a:rPr lang="en-MY" dirty="0"/>
              <a:t>. </a:t>
            </a:r>
            <a:r>
              <a:rPr lang="en-MY" dirty="0" err="1"/>
              <a:t>Ketidakselarasan</a:t>
            </a:r>
            <a:r>
              <a:rPr lang="en-MY" dirty="0"/>
              <a:t> </a:t>
            </a:r>
            <a:r>
              <a:rPr lang="en-MY" dirty="0" err="1"/>
              <a:t>boleh</a:t>
            </a:r>
            <a:r>
              <a:rPr lang="en-MY" dirty="0"/>
              <a:t> </a:t>
            </a:r>
            <a:r>
              <a:rPr lang="en-MY" dirty="0" err="1"/>
              <a:t>merosakkan</a:t>
            </a:r>
            <a:r>
              <a:rPr lang="en-MY" dirty="0"/>
              <a:t> </a:t>
            </a:r>
            <a:r>
              <a:rPr lang="en-MY" dirty="0" err="1"/>
              <a:t>kredibiliti</a:t>
            </a:r>
            <a:r>
              <a:rPr lang="en-MY" dirty="0"/>
              <a:t> </a:t>
            </a:r>
            <a:r>
              <a:rPr lang="en-MY" dirty="0" err="1"/>
              <a:t>teori</a:t>
            </a:r>
            <a:r>
              <a:rPr lang="en-MY" dirty="0"/>
              <a:t> </a:t>
            </a:r>
            <a:r>
              <a:rPr lang="en-MY" dirty="0" err="1"/>
              <a:t>tersebut</a:t>
            </a:r>
            <a:r>
              <a:rPr lang="en-MY" dirty="0"/>
              <a:t>.</a:t>
            </a:r>
          </a:p>
          <a:p>
            <a:pPr marL="171450" indent="-171450">
              <a:buFont typeface="Arial" panose="020B0604020202020204" pitchFamily="34" charset="0"/>
              <a:buChar char="•"/>
            </a:pPr>
            <a:r>
              <a:rPr lang="en-MY" b="1" dirty="0" err="1"/>
              <a:t>Komprehensif</a:t>
            </a:r>
            <a:r>
              <a:rPr lang="en-MY" dirty="0"/>
              <a:t>:</a:t>
            </a:r>
          </a:p>
          <a:p>
            <a:pPr marL="742950" lvl="1" indent="-285750">
              <a:buFont typeface="+mj-lt"/>
              <a:buAutoNum type="arabicPeriod"/>
            </a:pPr>
            <a:r>
              <a:rPr lang="en-MY" dirty="0" err="1"/>
              <a:t>Teori</a:t>
            </a:r>
            <a:r>
              <a:rPr lang="en-MY" dirty="0"/>
              <a:t> yang </a:t>
            </a:r>
            <a:r>
              <a:rPr lang="en-MY" dirty="0" err="1"/>
              <a:t>komprehensif</a:t>
            </a:r>
            <a:r>
              <a:rPr lang="en-MY" dirty="0"/>
              <a:t> </a:t>
            </a:r>
            <a:r>
              <a:rPr lang="en-MY" dirty="0" err="1"/>
              <a:t>seharusnya</a:t>
            </a:r>
            <a:r>
              <a:rPr lang="en-MY" dirty="0"/>
              <a:t> </a:t>
            </a:r>
            <a:r>
              <a:rPr lang="en-MY" dirty="0" err="1"/>
              <a:t>merangkumi</a:t>
            </a:r>
            <a:r>
              <a:rPr lang="en-MY" dirty="0"/>
              <a:t> </a:t>
            </a:r>
            <a:r>
              <a:rPr lang="en-MY" dirty="0" err="1"/>
              <a:t>pelbagai</a:t>
            </a:r>
            <a:r>
              <a:rPr lang="en-MY" dirty="0"/>
              <a:t> </a:t>
            </a:r>
            <a:r>
              <a:rPr lang="en-MY" dirty="0" err="1"/>
              <a:t>fenomena</a:t>
            </a:r>
            <a:r>
              <a:rPr lang="en-MY" dirty="0"/>
              <a:t> yang </a:t>
            </a:r>
            <a:r>
              <a:rPr lang="en-MY" dirty="0" err="1"/>
              <a:t>berkaitan</a:t>
            </a:r>
            <a:r>
              <a:rPr lang="en-MY" dirty="0"/>
              <a:t> </a:t>
            </a:r>
            <a:r>
              <a:rPr lang="en-MY" dirty="0" err="1"/>
              <a:t>dengan</a:t>
            </a:r>
            <a:r>
              <a:rPr lang="en-MY" dirty="0"/>
              <a:t> </a:t>
            </a:r>
            <a:r>
              <a:rPr lang="en-MY" dirty="0" err="1"/>
              <a:t>subjek</a:t>
            </a:r>
            <a:r>
              <a:rPr lang="en-MY" dirty="0"/>
              <a:t> yang </a:t>
            </a:r>
            <a:r>
              <a:rPr lang="en-MY" dirty="0" err="1"/>
              <a:t>dibincangkan</a:t>
            </a:r>
            <a:r>
              <a:rPr lang="en-MY" dirty="0"/>
              <a:t>. </a:t>
            </a:r>
            <a:r>
              <a:rPr lang="en-MY" dirty="0" err="1"/>
              <a:t>Ia</a:t>
            </a:r>
            <a:r>
              <a:rPr lang="en-MY" dirty="0"/>
              <a:t> </a:t>
            </a:r>
            <a:r>
              <a:rPr lang="en-MY" dirty="0" err="1"/>
              <a:t>harus</a:t>
            </a:r>
            <a:r>
              <a:rPr lang="en-MY" dirty="0"/>
              <a:t> </a:t>
            </a:r>
            <a:r>
              <a:rPr lang="en-MY" dirty="0" err="1"/>
              <a:t>menerangkan</a:t>
            </a:r>
            <a:r>
              <a:rPr lang="en-MY" dirty="0"/>
              <a:t> </a:t>
            </a:r>
            <a:r>
              <a:rPr lang="en-MY" dirty="0" err="1"/>
              <a:t>pelbagai</a:t>
            </a:r>
            <a:r>
              <a:rPr lang="en-MY" dirty="0"/>
              <a:t> </a:t>
            </a:r>
            <a:r>
              <a:rPr lang="en-MY" dirty="0" err="1"/>
              <a:t>aspek</a:t>
            </a:r>
            <a:r>
              <a:rPr lang="en-MY" dirty="0"/>
              <a:t> </a:t>
            </a:r>
            <a:r>
              <a:rPr lang="en-MY" dirty="0" err="1"/>
              <a:t>topik</a:t>
            </a:r>
            <a:r>
              <a:rPr lang="en-MY" dirty="0"/>
              <a:t> dan </a:t>
            </a:r>
            <a:r>
              <a:rPr lang="en-MY" dirty="0" err="1"/>
              <a:t>mengambil</a:t>
            </a:r>
            <a:r>
              <a:rPr lang="en-MY" dirty="0"/>
              <a:t> </a:t>
            </a:r>
            <a:r>
              <a:rPr lang="en-MY" dirty="0" err="1"/>
              <a:t>kira</a:t>
            </a:r>
            <a:r>
              <a:rPr lang="en-MY" dirty="0"/>
              <a:t> </a:t>
            </a:r>
            <a:r>
              <a:rPr lang="en-MY" dirty="0" err="1"/>
              <a:t>pelbagai</a:t>
            </a:r>
            <a:r>
              <a:rPr lang="en-MY" dirty="0"/>
              <a:t> </a:t>
            </a:r>
            <a:r>
              <a:rPr lang="en-MY" dirty="0" err="1"/>
              <a:t>senario</a:t>
            </a:r>
            <a:r>
              <a:rPr lang="en-MY" dirty="0"/>
              <a:t> dan </a:t>
            </a:r>
            <a:r>
              <a:rPr lang="en-MY" dirty="0" err="1"/>
              <a:t>kes</a:t>
            </a:r>
            <a:r>
              <a:rPr lang="en-MY" dirty="0"/>
              <a:t>.</a:t>
            </a:r>
          </a:p>
          <a:p>
            <a:pPr marL="742950" lvl="1" indent="-285750">
              <a:buFont typeface="+mj-lt"/>
              <a:buAutoNum type="arabicPeriod"/>
            </a:pPr>
            <a:r>
              <a:rPr lang="en-MY" b="1" dirty="0" err="1"/>
              <a:t>Contoh</a:t>
            </a:r>
            <a:r>
              <a:rPr lang="en-MY" dirty="0"/>
              <a:t>: </a:t>
            </a:r>
            <a:r>
              <a:rPr lang="en-MY" dirty="0" err="1"/>
              <a:t>Sebuah</a:t>
            </a:r>
            <a:r>
              <a:rPr lang="en-MY" dirty="0"/>
              <a:t> </a:t>
            </a:r>
            <a:r>
              <a:rPr lang="en-MY" dirty="0" err="1"/>
              <a:t>teori</a:t>
            </a:r>
            <a:r>
              <a:rPr lang="en-MY" dirty="0"/>
              <a:t> </a:t>
            </a:r>
            <a:r>
              <a:rPr lang="en-MY" dirty="0" err="1"/>
              <a:t>pendidikan</a:t>
            </a:r>
            <a:r>
              <a:rPr lang="en-MY" dirty="0"/>
              <a:t> yang </a:t>
            </a:r>
            <a:r>
              <a:rPr lang="en-MY" dirty="0" err="1"/>
              <a:t>komprehensif</a:t>
            </a:r>
            <a:r>
              <a:rPr lang="en-MY" dirty="0"/>
              <a:t> </a:t>
            </a:r>
            <a:r>
              <a:rPr lang="en-MY" dirty="0" err="1"/>
              <a:t>tidak</a:t>
            </a:r>
            <a:r>
              <a:rPr lang="en-MY" dirty="0"/>
              <a:t> </a:t>
            </a:r>
            <a:r>
              <a:rPr lang="en-MY" dirty="0" err="1"/>
              <a:t>hanya</a:t>
            </a:r>
            <a:r>
              <a:rPr lang="en-MY" dirty="0"/>
              <a:t> </a:t>
            </a:r>
            <a:r>
              <a:rPr lang="en-MY" dirty="0" err="1"/>
              <a:t>akan</a:t>
            </a:r>
            <a:r>
              <a:rPr lang="en-MY" dirty="0"/>
              <a:t> </a:t>
            </a:r>
            <a:r>
              <a:rPr lang="en-MY" dirty="0" err="1"/>
              <a:t>membincangkan</a:t>
            </a:r>
            <a:r>
              <a:rPr lang="en-MY" dirty="0"/>
              <a:t> </a:t>
            </a:r>
            <a:r>
              <a:rPr lang="en-MY" dirty="0" err="1"/>
              <a:t>kaedah</a:t>
            </a:r>
            <a:r>
              <a:rPr lang="en-MY" dirty="0"/>
              <a:t> </a:t>
            </a:r>
            <a:r>
              <a:rPr lang="en-MY" dirty="0" err="1"/>
              <a:t>pengajaran</a:t>
            </a:r>
            <a:r>
              <a:rPr lang="en-MY" dirty="0"/>
              <a:t>, </a:t>
            </a:r>
            <a:r>
              <a:rPr lang="en-MY" dirty="0" err="1"/>
              <a:t>tetapi</a:t>
            </a:r>
            <a:r>
              <a:rPr lang="en-MY" dirty="0"/>
              <a:t> juga </a:t>
            </a:r>
            <a:r>
              <a:rPr lang="en-MY" dirty="0" err="1"/>
              <a:t>mempertimbangkan</a:t>
            </a:r>
            <a:r>
              <a:rPr lang="en-MY" dirty="0"/>
              <a:t> </a:t>
            </a:r>
            <a:r>
              <a:rPr lang="en-MY" dirty="0" err="1"/>
              <a:t>faktor-faktor</a:t>
            </a:r>
            <a:r>
              <a:rPr lang="en-MY" dirty="0"/>
              <a:t> </a:t>
            </a:r>
            <a:r>
              <a:rPr lang="en-MY" dirty="0" err="1"/>
              <a:t>seperti</a:t>
            </a:r>
            <a:r>
              <a:rPr lang="en-MY" dirty="0"/>
              <a:t> </a:t>
            </a:r>
            <a:r>
              <a:rPr lang="en-MY" dirty="0" err="1"/>
              <a:t>motivasi</a:t>
            </a:r>
            <a:r>
              <a:rPr lang="en-MY" dirty="0"/>
              <a:t> </a:t>
            </a:r>
            <a:r>
              <a:rPr lang="en-MY" dirty="0" err="1"/>
              <a:t>pelajar</a:t>
            </a:r>
            <a:r>
              <a:rPr lang="en-MY" dirty="0"/>
              <a:t>, </a:t>
            </a:r>
            <a:r>
              <a:rPr lang="en-MY" dirty="0" err="1"/>
              <a:t>pengaruh</a:t>
            </a:r>
            <a:r>
              <a:rPr lang="en-MY" dirty="0"/>
              <a:t> </a:t>
            </a:r>
            <a:r>
              <a:rPr lang="en-MY" dirty="0" err="1"/>
              <a:t>budaya</a:t>
            </a:r>
            <a:r>
              <a:rPr lang="en-MY" dirty="0"/>
              <a:t>, dan </a:t>
            </a:r>
            <a:r>
              <a:rPr lang="en-MY" dirty="0" err="1"/>
              <a:t>teknik</a:t>
            </a:r>
            <a:r>
              <a:rPr lang="en-MY" dirty="0"/>
              <a:t> </a:t>
            </a:r>
            <a:r>
              <a:rPr lang="en-MY" dirty="0" err="1"/>
              <a:t>penilaian</a:t>
            </a:r>
            <a:r>
              <a:rPr lang="en-MY" dirty="0"/>
              <a:t>.</a:t>
            </a:r>
          </a:p>
          <a:p>
            <a:pPr marL="171450" indent="-171450">
              <a:buFont typeface="Arial" panose="020B0604020202020204" pitchFamily="34" charset="0"/>
              <a:buChar char="•"/>
            </a:pPr>
            <a:r>
              <a:rPr lang="en-MY" b="1" dirty="0" err="1"/>
              <a:t>Sistematik</a:t>
            </a:r>
            <a:r>
              <a:rPr lang="en-MY" dirty="0"/>
              <a:t>:</a:t>
            </a:r>
          </a:p>
          <a:p>
            <a:pPr marL="742950" lvl="1" indent="-285750">
              <a:buFont typeface="+mj-lt"/>
              <a:buAutoNum type="arabicPeriod"/>
            </a:pPr>
            <a:r>
              <a:rPr lang="en-MY" dirty="0" err="1"/>
              <a:t>Teori</a:t>
            </a:r>
            <a:r>
              <a:rPr lang="en-MY" dirty="0"/>
              <a:t> yang </a:t>
            </a:r>
            <a:r>
              <a:rPr lang="en-MY" dirty="0" err="1"/>
              <a:t>sistematik</a:t>
            </a:r>
            <a:r>
              <a:rPr lang="en-MY" dirty="0"/>
              <a:t> </a:t>
            </a:r>
            <a:r>
              <a:rPr lang="en-MY" dirty="0" err="1"/>
              <a:t>teratur</a:t>
            </a:r>
            <a:r>
              <a:rPr lang="en-MY" dirty="0"/>
              <a:t> dan </a:t>
            </a:r>
            <a:r>
              <a:rPr lang="en-MY" dirty="0" err="1"/>
              <a:t>mengikuti</a:t>
            </a:r>
            <a:r>
              <a:rPr lang="en-MY" dirty="0"/>
              <a:t> </a:t>
            </a:r>
            <a:r>
              <a:rPr lang="en-MY" dirty="0" err="1"/>
              <a:t>struktur</a:t>
            </a:r>
            <a:r>
              <a:rPr lang="en-MY" dirty="0"/>
              <a:t> yang </a:t>
            </a:r>
            <a:r>
              <a:rPr lang="en-MY" dirty="0" err="1"/>
              <a:t>jelas</a:t>
            </a:r>
            <a:r>
              <a:rPr lang="en-MY" dirty="0"/>
              <a:t>. </a:t>
            </a:r>
            <a:r>
              <a:rPr lang="en-MY" dirty="0" err="1"/>
              <a:t>Ia</a:t>
            </a:r>
            <a:r>
              <a:rPr lang="en-MY" dirty="0"/>
              <a:t> </a:t>
            </a:r>
            <a:r>
              <a:rPr lang="en-MY" dirty="0" err="1"/>
              <a:t>harus</a:t>
            </a:r>
            <a:r>
              <a:rPr lang="en-MY" dirty="0"/>
              <a:t> </a:t>
            </a:r>
            <a:r>
              <a:rPr lang="en-MY" dirty="0" err="1"/>
              <a:t>menyampaikan</a:t>
            </a:r>
            <a:r>
              <a:rPr lang="en-MY" dirty="0"/>
              <a:t> idea dan </a:t>
            </a:r>
            <a:r>
              <a:rPr lang="en-MY" dirty="0" err="1"/>
              <a:t>hujahnya</a:t>
            </a:r>
            <a:r>
              <a:rPr lang="en-MY" dirty="0"/>
              <a:t> </a:t>
            </a:r>
            <a:r>
              <a:rPr lang="en-MY" dirty="0" err="1"/>
              <a:t>dengan</a:t>
            </a:r>
            <a:r>
              <a:rPr lang="en-MY" dirty="0"/>
              <a:t> </a:t>
            </a:r>
            <a:r>
              <a:rPr lang="en-MY" dirty="0" err="1"/>
              <a:t>cara</a:t>
            </a:r>
            <a:r>
              <a:rPr lang="en-MY" dirty="0"/>
              <a:t> yang </a:t>
            </a:r>
            <a:r>
              <a:rPr lang="en-MY" dirty="0" err="1"/>
              <a:t>teratur</a:t>
            </a:r>
            <a:r>
              <a:rPr lang="en-MY" dirty="0"/>
              <a:t>, </a:t>
            </a:r>
            <a:r>
              <a:rPr lang="en-MY" dirty="0" err="1"/>
              <a:t>membolehkan</a:t>
            </a:r>
            <a:r>
              <a:rPr lang="en-MY" dirty="0"/>
              <a:t> </a:t>
            </a:r>
            <a:r>
              <a:rPr lang="en-MY" dirty="0" err="1"/>
              <a:t>kemajuan</a:t>
            </a:r>
            <a:r>
              <a:rPr lang="en-MY" dirty="0"/>
              <a:t> </a:t>
            </a:r>
            <a:r>
              <a:rPr lang="en-MY" dirty="0" err="1"/>
              <a:t>pemikiran</a:t>
            </a:r>
            <a:r>
              <a:rPr lang="en-MY" dirty="0"/>
              <a:t> yang </a:t>
            </a:r>
            <a:r>
              <a:rPr lang="en-MY" dirty="0" err="1"/>
              <a:t>logik</a:t>
            </a:r>
            <a:r>
              <a:rPr lang="en-MY" dirty="0"/>
              <a:t>.</a:t>
            </a:r>
          </a:p>
          <a:p>
            <a:pPr marL="742950" lvl="1" indent="-285750">
              <a:buFont typeface="+mj-lt"/>
              <a:buAutoNum type="arabicPeriod"/>
            </a:pPr>
            <a:r>
              <a:rPr lang="en-MY" b="1" dirty="0" err="1"/>
              <a:t>Contoh</a:t>
            </a:r>
            <a:r>
              <a:rPr lang="en-MY" dirty="0"/>
              <a:t>: </a:t>
            </a:r>
            <a:r>
              <a:rPr lang="en-MY" dirty="0" err="1"/>
              <a:t>Sebuah</a:t>
            </a:r>
            <a:r>
              <a:rPr lang="en-MY" dirty="0"/>
              <a:t> </a:t>
            </a:r>
            <a:r>
              <a:rPr lang="en-MY" dirty="0" err="1"/>
              <a:t>teori</a:t>
            </a:r>
            <a:r>
              <a:rPr lang="en-MY" dirty="0"/>
              <a:t> </a:t>
            </a:r>
            <a:r>
              <a:rPr lang="en-MY" dirty="0" err="1"/>
              <a:t>psikologi</a:t>
            </a:r>
            <a:r>
              <a:rPr lang="en-MY" dirty="0"/>
              <a:t> yang </a:t>
            </a:r>
            <a:r>
              <a:rPr lang="en-MY" dirty="0" err="1"/>
              <a:t>sistematik</a:t>
            </a:r>
            <a:r>
              <a:rPr lang="en-MY" dirty="0"/>
              <a:t> </a:t>
            </a:r>
            <a:r>
              <a:rPr lang="en-MY" dirty="0" err="1"/>
              <a:t>mungkin</a:t>
            </a:r>
            <a:r>
              <a:rPr lang="en-MY" dirty="0"/>
              <a:t> </a:t>
            </a:r>
            <a:r>
              <a:rPr lang="en-MY" dirty="0" err="1"/>
              <a:t>akan</a:t>
            </a:r>
            <a:r>
              <a:rPr lang="en-MY" dirty="0"/>
              <a:t> </a:t>
            </a:r>
            <a:r>
              <a:rPr lang="en-MY" dirty="0" err="1"/>
              <a:t>menyusun</a:t>
            </a:r>
            <a:r>
              <a:rPr lang="en-MY" dirty="0"/>
              <a:t> </a:t>
            </a:r>
            <a:r>
              <a:rPr lang="en-MY" dirty="0" err="1"/>
              <a:t>konsep</a:t>
            </a:r>
            <a:r>
              <a:rPr lang="en-MY" dirty="0"/>
              <a:t>, </a:t>
            </a:r>
            <a:r>
              <a:rPr lang="en-MY" dirty="0" err="1"/>
              <a:t>anggapan</a:t>
            </a:r>
            <a:r>
              <a:rPr lang="en-MY" dirty="0"/>
              <a:t>, dan </a:t>
            </a:r>
            <a:r>
              <a:rPr lang="en-MY" dirty="0" err="1"/>
              <a:t>kaedahnya</a:t>
            </a:r>
            <a:r>
              <a:rPr lang="en-MY" dirty="0"/>
              <a:t> </a:t>
            </a:r>
            <a:r>
              <a:rPr lang="en-MY" dirty="0" err="1"/>
              <a:t>dengan</a:t>
            </a:r>
            <a:r>
              <a:rPr lang="en-MY" dirty="0"/>
              <a:t> </a:t>
            </a:r>
            <a:r>
              <a:rPr lang="en-MY" dirty="0" err="1"/>
              <a:t>cara</a:t>
            </a:r>
            <a:r>
              <a:rPr lang="en-MY" dirty="0"/>
              <a:t> yang </a:t>
            </a:r>
            <a:r>
              <a:rPr lang="en-MY" dirty="0" err="1"/>
              <a:t>mudah</a:t>
            </a:r>
            <a:r>
              <a:rPr lang="en-MY" dirty="0"/>
              <a:t> </a:t>
            </a:r>
            <a:r>
              <a:rPr lang="en-MY" dirty="0" err="1"/>
              <a:t>diikuti</a:t>
            </a:r>
            <a:r>
              <a:rPr lang="en-MY" dirty="0"/>
              <a:t> dan </a:t>
            </a:r>
            <a:r>
              <a:rPr lang="en-MY" dirty="0" err="1"/>
              <a:t>dibangunkan</a:t>
            </a:r>
            <a:r>
              <a:rPr lang="en-MY" dirty="0"/>
              <a:t> oleh orang lain.</a:t>
            </a:r>
          </a:p>
          <a:p>
            <a:endParaRPr lang="en-MY" dirty="0"/>
          </a:p>
          <a:p>
            <a:r>
              <a:rPr lang="en-MY" dirty="0" err="1"/>
              <a:t>Kesimpulannya</a:t>
            </a:r>
            <a:r>
              <a:rPr lang="en-MY" dirty="0"/>
              <a:t>, </a:t>
            </a:r>
            <a:r>
              <a:rPr lang="en-MY" dirty="0" err="1"/>
              <a:t>teori</a:t>
            </a:r>
            <a:r>
              <a:rPr lang="en-MY" dirty="0"/>
              <a:t> yang </a:t>
            </a:r>
            <a:r>
              <a:rPr lang="en-MY" dirty="0" err="1"/>
              <a:t>baik</a:t>
            </a:r>
            <a:r>
              <a:rPr lang="en-MY" dirty="0"/>
              <a:t> </a:t>
            </a:r>
            <a:r>
              <a:rPr lang="en-MY" dirty="0" err="1"/>
              <a:t>harus</a:t>
            </a:r>
            <a:r>
              <a:rPr lang="en-MY" dirty="0"/>
              <a:t> </a:t>
            </a:r>
            <a:r>
              <a:rPr lang="en-MY" dirty="0" err="1"/>
              <a:t>koheren</a:t>
            </a:r>
            <a:r>
              <a:rPr lang="en-MY" dirty="0"/>
              <a:t> (</a:t>
            </a:r>
            <a:r>
              <a:rPr lang="en-MY" dirty="0" err="1"/>
              <a:t>berhubung</a:t>
            </a:r>
            <a:r>
              <a:rPr lang="en-MY" dirty="0"/>
              <a:t> </a:t>
            </a:r>
            <a:r>
              <a:rPr lang="en-MY" dirty="0" err="1"/>
              <a:t>secara</a:t>
            </a:r>
            <a:r>
              <a:rPr lang="en-MY" dirty="0"/>
              <a:t> </a:t>
            </a:r>
            <a:r>
              <a:rPr lang="en-MY" dirty="0" err="1"/>
              <a:t>logik</a:t>
            </a:r>
            <a:r>
              <a:rPr lang="en-MY" dirty="0"/>
              <a:t>), </a:t>
            </a:r>
            <a:r>
              <a:rPr lang="en-MY" dirty="0" err="1"/>
              <a:t>konsisten</a:t>
            </a:r>
            <a:r>
              <a:rPr lang="en-MY" dirty="0"/>
              <a:t> (</a:t>
            </a:r>
            <a:r>
              <a:rPr lang="en-MY" dirty="0" err="1"/>
              <a:t>bebas</a:t>
            </a:r>
            <a:r>
              <a:rPr lang="en-MY" dirty="0"/>
              <a:t> </a:t>
            </a:r>
            <a:r>
              <a:rPr lang="en-MY" dirty="0" err="1"/>
              <a:t>daripada</a:t>
            </a:r>
            <a:r>
              <a:rPr lang="en-MY" dirty="0"/>
              <a:t> </a:t>
            </a:r>
            <a:r>
              <a:rPr lang="en-MY" dirty="0" err="1"/>
              <a:t>kontradiksi</a:t>
            </a:r>
            <a:r>
              <a:rPr lang="en-MY" dirty="0"/>
              <a:t>), </a:t>
            </a:r>
            <a:r>
              <a:rPr lang="en-MY" dirty="0" err="1"/>
              <a:t>komprehensif</a:t>
            </a:r>
            <a:r>
              <a:rPr lang="en-MY" dirty="0"/>
              <a:t> (</a:t>
            </a:r>
            <a:r>
              <a:rPr lang="en-MY" dirty="0" err="1"/>
              <a:t>merangkumi</a:t>
            </a:r>
            <a:r>
              <a:rPr lang="en-MY" dirty="0"/>
              <a:t> </a:t>
            </a:r>
            <a:r>
              <a:rPr lang="en-MY" dirty="0" err="1"/>
              <a:t>aspek</a:t>
            </a:r>
            <a:r>
              <a:rPr lang="en-MY" dirty="0"/>
              <a:t> yang </a:t>
            </a:r>
            <a:r>
              <a:rPr lang="en-MY" dirty="0" err="1"/>
              <a:t>berkaitan</a:t>
            </a:r>
            <a:r>
              <a:rPr lang="en-MY" dirty="0"/>
              <a:t>), dan </a:t>
            </a:r>
            <a:r>
              <a:rPr lang="en-MY" dirty="0" err="1"/>
              <a:t>sistematik</a:t>
            </a:r>
            <a:r>
              <a:rPr lang="en-MY" dirty="0"/>
              <a:t> (</a:t>
            </a:r>
            <a:r>
              <a:rPr lang="en-MY" dirty="0" err="1"/>
              <a:t>teratur</a:t>
            </a:r>
            <a:r>
              <a:rPr lang="en-MY" dirty="0"/>
              <a:t>). </a:t>
            </a:r>
            <a:r>
              <a:rPr lang="en-MY" dirty="0" err="1"/>
              <a:t>Kualiti-kualiti</a:t>
            </a:r>
            <a:r>
              <a:rPr lang="en-MY" dirty="0"/>
              <a:t> </a:t>
            </a:r>
            <a:r>
              <a:rPr lang="en-MY" dirty="0" err="1"/>
              <a:t>ini</a:t>
            </a:r>
            <a:r>
              <a:rPr lang="en-MY" dirty="0"/>
              <a:t> </a:t>
            </a:r>
            <a:r>
              <a:rPr lang="en-MY" dirty="0" err="1"/>
              <a:t>memastikan</a:t>
            </a:r>
            <a:r>
              <a:rPr lang="en-MY" dirty="0"/>
              <a:t> </a:t>
            </a:r>
            <a:r>
              <a:rPr lang="en-MY" dirty="0" err="1"/>
              <a:t>bahawa</a:t>
            </a:r>
            <a:r>
              <a:rPr lang="en-MY" dirty="0"/>
              <a:t> </a:t>
            </a:r>
            <a:r>
              <a:rPr lang="en-MY" dirty="0" err="1"/>
              <a:t>teori</a:t>
            </a:r>
            <a:r>
              <a:rPr lang="en-MY" dirty="0"/>
              <a:t> </a:t>
            </a:r>
            <a:r>
              <a:rPr lang="en-MY" dirty="0" err="1"/>
              <a:t>tersebut</a:t>
            </a:r>
            <a:r>
              <a:rPr lang="en-MY" dirty="0"/>
              <a:t> </a:t>
            </a:r>
            <a:r>
              <a:rPr lang="en-MY" dirty="0" err="1"/>
              <a:t>kukuh</a:t>
            </a:r>
            <a:r>
              <a:rPr lang="en-MY" dirty="0"/>
              <a:t> dan </a:t>
            </a:r>
            <a:r>
              <a:rPr lang="en-MY" dirty="0" err="1"/>
              <a:t>boleh</a:t>
            </a:r>
            <a:r>
              <a:rPr lang="en-MY" dirty="0"/>
              <a:t> </a:t>
            </a:r>
            <a:r>
              <a:rPr lang="en-MY" dirty="0" err="1"/>
              <a:t>disampaikan</a:t>
            </a:r>
            <a:r>
              <a:rPr lang="en-MY" dirty="0"/>
              <a:t> </a:t>
            </a:r>
            <a:r>
              <a:rPr lang="en-MY" dirty="0" err="1"/>
              <a:t>serta</a:t>
            </a:r>
            <a:r>
              <a:rPr lang="en-MY" dirty="0"/>
              <a:t> </a:t>
            </a:r>
            <a:r>
              <a:rPr lang="en-MY" dirty="0" err="1"/>
              <a:t>diuji</a:t>
            </a:r>
            <a:r>
              <a:rPr lang="en-MY" dirty="0"/>
              <a:t> </a:t>
            </a:r>
            <a:r>
              <a:rPr lang="en-MY" dirty="0" err="1"/>
              <a:t>dengan</a:t>
            </a:r>
            <a:r>
              <a:rPr lang="en-MY" dirty="0"/>
              <a:t> </a:t>
            </a:r>
            <a:r>
              <a:rPr lang="en-MY" dirty="0" err="1"/>
              <a:t>berkesan</a:t>
            </a:r>
            <a:r>
              <a:rPr lang="en-MY" dirty="0"/>
              <a: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4</a:t>
            </a:fld>
            <a:endParaRPr lang="en-US"/>
          </a:p>
        </p:txBody>
      </p:sp>
    </p:spTree>
    <p:extLst>
      <p:ext uri="{BB962C8B-B14F-4D97-AF65-F5344CB8AC3E}">
        <p14:creationId xmlns:p14="http://schemas.microsoft.com/office/powerpoint/2010/main" val="998713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5</a:t>
            </a:fld>
            <a:endParaRPr lang="en-US"/>
          </a:p>
        </p:txBody>
      </p:sp>
    </p:spTree>
    <p:extLst>
      <p:ext uri="{BB962C8B-B14F-4D97-AF65-F5344CB8AC3E}">
        <p14:creationId xmlns:p14="http://schemas.microsoft.com/office/powerpoint/2010/main" val="776400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t>
            </a:r>
            <a:r>
              <a:rPr lang="en-MY" dirty="0" err="1"/>
              <a:t>Dalam</a:t>
            </a:r>
            <a:r>
              <a:rPr lang="en-MY" dirty="0"/>
              <a:t> </a:t>
            </a:r>
            <a:r>
              <a:rPr lang="en-MY" dirty="0" err="1"/>
              <a:t>menentukan</a:t>
            </a:r>
            <a:r>
              <a:rPr lang="en-MY" dirty="0"/>
              <a:t> </a:t>
            </a:r>
            <a:r>
              <a:rPr lang="en-MY" dirty="0" err="1"/>
              <a:t>hasil</a:t>
            </a:r>
            <a:r>
              <a:rPr lang="en-MY" dirty="0"/>
              <a:t> yang </a:t>
            </a:r>
            <a:r>
              <a:rPr lang="en-MY" dirty="0" err="1"/>
              <a:t>terbaik</a:t>
            </a:r>
            <a:r>
              <a:rPr lang="en-MY" dirty="0"/>
              <a:t>, </a:t>
            </a:r>
            <a:r>
              <a:rPr lang="en-MY" dirty="0" err="1"/>
              <a:t>kita</a:t>
            </a:r>
            <a:r>
              <a:rPr lang="en-MY" dirty="0"/>
              <a:t> </a:t>
            </a:r>
            <a:r>
              <a:rPr lang="en-MY" dirty="0" err="1"/>
              <a:t>boleh</a:t>
            </a:r>
            <a:r>
              <a:rPr lang="en-MY" dirty="0"/>
              <a:t> </a:t>
            </a:r>
            <a:r>
              <a:rPr lang="en-MY" dirty="0" err="1"/>
              <a:t>bertanya</a:t>
            </a:r>
            <a:r>
              <a:rPr lang="en-MY" dirty="0"/>
              <a:t> </a:t>
            </a:r>
            <a:r>
              <a:rPr lang="en-MY" dirty="0" err="1"/>
              <a:t>soalan</a:t>
            </a:r>
            <a:r>
              <a:rPr lang="en-MY" dirty="0"/>
              <a:t>, </a:t>
            </a:r>
            <a:r>
              <a:rPr lang="en-MY" b="1" dirty="0" err="1">
                <a:solidFill>
                  <a:srgbClr val="FF0000"/>
                </a:solidFill>
              </a:rPr>
              <a:t>hasil</a:t>
            </a:r>
            <a:r>
              <a:rPr lang="en-MY" b="1" dirty="0">
                <a:solidFill>
                  <a:srgbClr val="FF0000"/>
                </a:solidFill>
              </a:rPr>
              <a:t> </a:t>
            </a:r>
            <a:r>
              <a:rPr lang="en-MY" b="1" dirty="0" err="1">
                <a:solidFill>
                  <a:srgbClr val="FF0000"/>
                </a:solidFill>
              </a:rPr>
              <a:t>siapa</a:t>
            </a:r>
            <a:r>
              <a:rPr lang="en-MY" b="1" dirty="0">
                <a:solidFill>
                  <a:srgbClr val="FF0000"/>
                </a:solidFill>
              </a:rPr>
              <a:t>?”</a:t>
            </a:r>
          </a:p>
          <a:p>
            <a:r>
              <a:rPr lang="en-MY" b="1" dirty="0">
                <a:solidFill>
                  <a:srgbClr val="FF0000"/>
                </a:solidFill>
              </a:rPr>
              <a:t> </a:t>
            </a:r>
          </a:p>
          <a:p>
            <a:r>
              <a:rPr lang="en-MY" b="1" dirty="0">
                <a:solidFill>
                  <a:srgbClr val="FF0000"/>
                </a:solidFill>
              </a:rPr>
              <a:t>Moral deliberation – </a:t>
            </a:r>
            <a:r>
              <a:rPr lang="en-MY" b="0" dirty="0" err="1">
                <a:solidFill>
                  <a:srgbClr val="FF0000"/>
                </a:solidFill>
              </a:rPr>
              <a:t>perbincangan</a:t>
            </a:r>
            <a:r>
              <a:rPr lang="en-MY" b="0" dirty="0">
                <a:solidFill>
                  <a:srgbClr val="FF0000"/>
                </a:solidFill>
              </a:rPr>
              <a:t> moral</a:t>
            </a:r>
            <a:endParaRPr lang="en-US" b="0" dirty="0">
              <a:solidFill>
                <a:srgbClr val="FF0000"/>
              </a:solidFill>
            </a:endParaRPr>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7</a:t>
            </a:fld>
            <a:endParaRPr lang="en-US"/>
          </a:p>
        </p:txBody>
      </p:sp>
    </p:spTree>
    <p:extLst>
      <p:ext uri="{BB962C8B-B14F-4D97-AF65-F5344CB8AC3E}">
        <p14:creationId xmlns:p14="http://schemas.microsoft.com/office/powerpoint/2010/main" val="890261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dirty="0"/>
              <a:t>Act Utilitarianism:</a:t>
            </a:r>
          </a:p>
          <a:p>
            <a:pPr>
              <a:buFont typeface="Arial" panose="020B0604020202020204" pitchFamily="34" charset="0"/>
              <a:buChar char="•"/>
            </a:pPr>
            <a:r>
              <a:rPr lang="en-MY" b="1" dirty="0"/>
              <a:t>Meaning</a:t>
            </a:r>
            <a:r>
              <a:rPr lang="en-MY" dirty="0"/>
              <a:t>: Act utilitarianism is the ethical theory that evaluates the morality of an action based on its specific consequences. According to this view, an action is considered morally right if it produces the greatest good (or happiness) for the greatest number of people in that particular situation.</a:t>
            </a:r>
          </a:p>
          <a:p>
            <a:pPr>
              <a:buFont typeface="Arial" panose="020B0604020202020204" pitchFamily="34" charset="0"/>
              <a:buChar char="•"/>
            </a:pPr>
            <a:r>
              <a:rPr lang="en-MY" b="1" dirty="0"/>
              <a:t>Example</a:t>
            </a:r>
            <a:r>
              <a:rPr lang="en-MY" dirty="0"/>
              <a:t>: If lying in a specific instance will lead to better overall outcomes (e.g., preventing harm or providing comfort), an act utilitarian would argue that lying is the right thing to do in that case.</a:t>
            </a:r>
          </a:p>
          <a:p>
            <a:endParaRPr lang="en-MY" b="1" dirty="0"/>
          </a:p>
          <a:p>
            <a:r>
              <a:rPr lang="en-MY" b="1" dirty="0"/>
              <a:t>Rule Utilitarianism:</a:t>
            </a:r>
          </a:p>
          <a:p>
            <a:pPr>
              <a:buFont typeface="Arial" panose="020B0604020202020204" pitchFamily="34" charset="0"/>
              <a:buChar char="•"/>
            </a:pPr>
            <a:r>
              <a:rPr lang="en-MY" b="1" dirty="0"/>
              <a:t>Meaning</a:t>
            </a:r>
            <a:r>
              <a:rPr lang="en-MY" dirty="0"/>
              <a:t>: Rule utilitarianism, on the other hand, assesses the morality of actions based on the rules that generally lead to the greatest good when followed consistently. This means that instead of evaluating individual actions, rule utilitarianism considers whether a rule, if generally followed, would produce the best outcomes.</a:t>
            </a:r>
          </a:p>
          <a:p>
            <a:pPr>
              <a:buFont typeface="Arial" panose="020B0604020202020204" pitchFamily="34" charset="0"/>
              <a:buChar char="•"/>
            </a:pPr>
            <a:r>
              <a:rPr lang="en-MY" b="1" dirty="0"/>
              <a:t>Example</a:t>
            </a:r>
            <a:r>
              <a:rPr lang="en-MY" dirty="0"/>
              <a:t>: A rule utilitarian might argue that lying is generally wrong because if everyone lied whenever it suited them, it would lead to distrust and worse overall outcomes. Therefore, following a rule against lying would promote greater happiness in the long run.</a:t>
            </a:r>
          </a:p>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12</a:t>
            </a:fld>
            <a:endParaRPr lang="en-US"/>
          </a:p>
        </p:txBody>
      </p:sp>
    </p:spTree>
    <p:extLst>
      <p:ext uri="{BB962C8B-B14F-4D97-AF65-F5344CB8AC3E}">
        <p14:creationId xmlns:p14="http://schemas.microsoft.com/office/powerpoint/2010/main" val="972788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dirty="0"/>
              <a:t>Key Differences:</a:t>
            </a:r>
          </a:p>
          <a:p>
            <a:pPr>
              <a:buFont typeface="+mj-lt"/>
              <a:buAutoNum type="arabicPeriod"/>
            </a:pPr>
            <a:r>
              <a:rPr lang="en-MY" b="1" dirty="0"/>
              <a:t>Focus</a:t>
            </a:r>
            <a:r>
              <a:rPr lang="en-MY" dirty="0"/>
              <a:t>:</a:t>
            </a:r>
          </a:p>
          <a:p>
            <a:pPr marL="742950" lvl="1" indent="-285750">
              <a:buFont typeface="Arial" panose="020B0604020202020204" pitchFamily="34" charset="0"/>
              <a:buChar char="•"/>
            </a:pPr>
            <a:r>
              <a:rPr lang="en-MY" b="1" dirty="0"/>
              <a:t>Act Utilitarianism</a:t>
            </a:r>
            <a:r>
              <a:rPr lang="en-MY" dirty="0"/>
              <a:t>: Focuses on individual actions and their immediate consequences.</a:t>
            </a:r>
          </a:p>
          <a:p>
            <a:pPr marL="742950" lvl="1" indent="-285750">
              <a:buFont typeface="Arial" panose="020B0604020202020204" pitchFamily="34" charset="0"/>
              <a:buChar char="•"/>
            </a:pPr>
            <a:r>
              <a:rPr lang="en-MY" b="1" dirty="0"/>
              <a:t>Rule Utilitarianism</a:t>
            </a:r>
            <a:r>
              <a:rPr lang="en-MY" dirty="0"/>
              <a:t>: Focuses on the general rules that guide actions and their long-term consequences.</a:t>
            </a:r>
          </a:p>
          <a:p>
            <a:pPr marL="742950" lvl="1" indent="-285750">
              <a:buFont typeface="Arial" panose="020B0604020202020204" pitchFamily="34" charset="0"/>
              <a:buChar char="•"/>
            </a:pPr>
            <a:endParaRPr lang="en-MY" dirty="0"/>
          </a:p>
          <a:p>
            <a:pPr>
              <a:buFont typeface="+mj-lt"/>
              <a:buAutoNum type="arabicPeriod"/>
            </a:pPr>
            <a:r>
              <a:rPr lang="en-MY" b="1" dirty="0"/>
              <a:t>Evaluation</a:t>
            </a:r>
            <a:r>
              <a:rPr lang="en-MY" dirty="0"/>
              <a:t>:</a:t>
            </a:r>
          </a:p>
          <a:p>
            <a:pPr marL="742950" lvl="1" indent="-285750">
              <a:buFont typeface="Arial" panose="020B0604020202020204" pitchFamily="34" charset="0"/>
              <a:buChar char="•"/>
            </a:pPr>
            <a:r>
              <a:rPr lang="en-MY" b="1" dirty="0"/>
              <a:t>Act Utilitarianism</a:t>
            </a:r>
            <a:r>
              <a:rPr lang="en-MY" dirty="0"/>
              <a:t>: Evaluates each action on a case-by-case basis.</a:t>
            </a:r>
          </a:p>
          <a:p>
            <a:pPr marL="742950" lvl="1" indent="-285750">
              <a:buFont typeface="Arial" panose="020B0604020202020204" pitchFamily="34" charset="0"/>
              <a:buChar char="•"/>
            </a:pPr>
            <a:r>
              <a:rPr lang="en-MY" b="1" dirty="0"/>
              <a:t>Rule Utilitarianism</a:t>
            </a:r>
            <a:r>
              <a:rPr lang="en-MY" dirty="0"/>
              <a:t>: Evaluates the effectiveness of rules based on their outcomes when consistently </a:t>
            </a:r>
            <a:r>
              <a:rPr lang="en-MY"/>
              <a:t>applied.</a:t>
            </a:r>
          </a:p>
          <a:p>
            <a:pPr marL="457200" lvl="1" indent="0">
              <a:buFont typeface="Arial" panose="020B0604020202020204" pitchFamily="34" charset="0"/>
              <a:buNone/>
            </a:pPr>
            <a:endParaRPr lang="en-MY" dirty="0"/>
          </a:p>
          <a:p>
            <a:r>
              <a:rPr lang="en-MY" b="1" dirty="0"/>
              <a:t>Flexibility</a:t>
            </a:r>
            <a:r>
              <a:rPr lang="en-MY" dirty="0"/>
              <a:t>:</a:t>
            </a:r>
          </a:p>
          <a:p>
            <a:pPr marL="742950" lvl="1" indent="-285750">
              <a:buFont typeface="Arial" panose="020B0604020202020204" pitchFamily="34" charset="0"/>
              <a:buChar char="•"/>
            </a:pPr>
            <a:r>
              <a:rPr lang="en-MY" b="1" dirty="0" err="1"/>
              <a:t>Flexibility</a:t>
            </a:r>
            <a:r>
              <a:rPr lang="en-MY" dirty="0" err="1"/>
              <a:t>:</a:t>
            </a:r>
            <a:r>
              <a:rPr lang="en-MY" b="1" dirty="0" err="1"/>
              <a:t>Act</a:t>
            </a:r>
            <a:r>
              <a:rPr lang="en-MY" b="1" dirty="0"/>
              <a:t> Utilitarianism</a:t>
            </a:r>
            <a:r>
              <a:rPr lang="en-MY" dirty="0"/>
              <a:t>: More flexible, as it allows for exceptions to rules if the outcome justifies it.</a:t>
            </a:r>
          </a:p>
          <a:p>
            <a:pPr marL="742950" lvl="1" indent="-285750">
              <a:buFont typeface="Arial" panose="020B0604020202020204" pitchFamily="34" charset="0"/>
              <a:buChar char="•"/>
            </a:pPr>
            <a:r>
              <a:rPr lang="en-MY" b="1" dirty="0"/>
              <a:t>Rule Utilitarianism</a:t>
            </a:r>
            <a:r>
              <a:rPr lang="en-MY" dirty="0"/>
              <a:t>: More rigid, as it</a:t>
            </a:r>
          </a:p>
          <a:p>
            <a:pPr marL="742950" lvl="1" indent="-285750">
              <a:buFont typeface="Arial" panose="020B0604020202020204" pitchFamily="34" charset="0"/>
              <a:buChar char="•"/>
            </a:pPr>
            <a:r>
              <a:rPr lang="en-MY" dirty="0"/>
              <a:t>adheres to established rules even if some exceptions might seem beneficial in certain situations.</a:t>
            </a:r>
          </a:p>
          <a:p>
            <a:endParaRPr lang="en-MY" dirty="0"/>
          </a:p>
          <a:p>
            <a:r>
              <a:rPr lang="en-MY" dirty="0"/>
              <a:t>In summary, while both act and rule utilitarianism aim to promote overall happiness, they differ in their approach to evaluating moral actions and the application of ethical principles.</a:t>
            </a:r>
          </a:p>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15</a:t>
            </a:fld>
            <a:endParaRPr lang="en-US"/>
          </a:p>
        </p:txBody>
      </p:sp>
    </p:spTree>
    <p:extLst>
      <p:ext uri="{BB962C8B-B14F-4D97-AF65-F5344CB8AC3E}">
        <p14:creationId xmlns:p14="http://schemas.microsoft.com/office/powerpoint/2010/main" val="3090739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dirty="0"/>
              <a:t>(1) </a:t>
            </a:r>
            <a:r>
              <a:rPr lang="en-MY" b="1" dirty="0" err="1"/>
              <a:t>Manusia</a:t>
            </a:r>
            <a:r>
              <a:rPr lang="en-MY" b="1" dirty="0"/>
              <a:t> </a:t>
            </a:r>
            <a:r>
              <a:rPr lang="en-MY" b="1" dirty="0" err="1"/>
              <a:t>adalah</a:t>
            </a:r>
            <a:r>
              <a:rPr lang="en-MY" b="1" dirty="0"/>
              <a:t> </a:t>
            </a:r>
            <a:r>
              <a:rPr lang="en-MY" b="1" dirty="0" err="1"/>
              <a:t>agen</a:t>
            </a:r>
            <a:r>
              <a:rPr lang="en-MY" b="1" dirty="0"/>
              <a:t> yang </a:t>
            </a:r>
            <a:r>
              <a:rPr lang="en-MY" b="1" dirty="0" err="1"/>
              <a:t>rasional</a:t>
            </a:r>
            <a:r>
              <a:rPr lang="en-MY" b="1" dirty="0"/>
              <a:t> dan </a:t>
            </a:r>
            <a:r>
              <a:rPr lang="en-MY" b="1" dirty="0" err="1"/>
              <a:t>autonomi</a:t>
            </a:r>
            <a:endParaRPr lang="en-MY" b="1" dirty="0"/>
          </a:p>
          <a:p>
            <a:r>
              <a:rPr lang="en-MY" dirty="0" err="1"/>
              <a:t>Ini</a:t>
            </a:r>
            <a:r>
              <a:rPr lang="en-MY" dirty="0"/>
              <a:t> </a:t>
            </a:r>
            <a:r>
              <a:rPr lang="en-MY" dirty="0" err="1"/>
              <a:t>bermaksud</a:t>
            </a:r>
            <a:r>
              <a:rPr lang="en-MY" dirty="0"/>
              <a:t> </a:t>
            </a:r>
            <a:r>
              <a:rPr lang="en-MY" dirty="0" err="1"/>
              <a:t>bahawa</a:t>
            </a:r>
            <a:r>
              <a:rPr lang="en-MY" dirty="0"/>
              <a:t> </a:t>
            </a:r>
            <a:r>
              <a:rPr lang="en-MY" dirty="0" err="1"/>
              <a:t>manusia</a:t>
            </a:r>
            <a:r>
              <a:rPr lang="en-MY" dirty="0"/>
              <a:t> </a:t>
            </a:r>
            <a:r>
              <a:rPr lang="en-MY" dirty="0" err="1"/>
              <a:t>mempunyai</a:t>
            </a:r>
            <a:r>
              <a:rPr lang="en-MY" dirty="0"/>
              <a:t> </a:t>
            </a:r>
            <a:r>
              <a:rPr lang="en-MY" dirty="0" err="1"/>
              <a:t>keupayaan</a:t>
            </a:r>
            <a:r>
              <a:rPr lang="en-MY" dirty="0"/>
              <a:t> </a:t>
            </a:r>
            <a:r>
              <a:rPr lang="en-MY" dirty="0" err="1"/>
              <a:t>untuk</a:t>
            </a:r>
            <a:r>
              <a:rPr lang="en-MY" dirty="0"/>
              <a:t> </a:t>
            </a:r>
            <a:r>
              <a:rPr lang="en-MY" dirty="0" err="1"/>
              <a:t>berfikir</a:t>
            </a:r>
            <a:r>
              <a:rPr lang="en-MY" dirty="0"/>
              <a:t> </a:t>
            </a:r>
            <a:r>
              <a:rPr lang="en-MY" dirty="0" err="1"/>
              <a:t>secara</a:t>
            </a:r>
            <a:r>
              <a:rPr lang="en-MY" dirty="0"/>
              <a:t> </a:t>
            </a:r>
            <a:r>
              <a:rPr lang="en-MY" dirty="0" err="1"/>
              <a:t>rasional</a:t>
            </a:r>
            <a:r>
              <a:rPr lang="en-MY" dirty="0"/>
              <a:t> dan </a:t>
            </a:r>
            <a:r>
              <a:rPr lang="en-MY" dirty="0" err="1"/>
              <a:t>membuat</a:t>
            </a:r>
            <a:r>
              <a:rPr lang="en-MY" dirty="0"/>
              <a:t> </a:t>
            </a:r>
            <a:r>
              <a:rPr lang="en-MY" dirty="0" err="1"/>
              <a:t>keputusan</a:t>
            </a:r>
            <a:r>
              <a:rPr lang="en-MY" dirty="0"/>
              <a:t> </a:t>
            </a:r>
            <a:r>
              <a:rPr lang="en-MY" dirty="0" err="1"/>
              <a:t>berdasarkan</a:t>
            </a:r>
            <a:r>
              <a:rPr lang="en-MY" dirty="0"/>
              <a:t> </a:t>
            </a:r>
            <a:r>
              <a:rPr lang="en-MY" dirty="0" err="1"/>
              <a:t>pemikiran</a:t>
            </a:r>
            <a:r>
              <a:rPr lang="en-MY" dirty="0"/>
              <a:t> yang </a:t>
            </a:r>
            <a:r>
              <a:rPr lang="en-MY" dirty="0" err="1"/>
              <a:t>logik</a:t>
            </a:r>
            <a:r>
              <a:rPr lang="en-MY" dirty="0"/>
              <a:t>, </a:t>
            </a:r>
            <a:r>
              <a:rPr lang="en-MY" dirty="0" err="1"/>
              <a:t>bukan</a:t>
            </a:r>
            <a:r>
              <a:rPr lang="en-MY" dirty="0"/>
              <a:t> </a:t>
            </a:r>
            <a:r>
              <a:rPr lang="en-MY" dirty="0" err="1"/>
              <a:t>hanya</a:t>
            </a:r>
            <a:r>
              <a:rPr lang="en-MY" dirty="0"/>
              <a:t> </a:t>
            </a:r>
            <a:r>
              <a:rPr lang="en-MY" dirty="0" err="1"/>
              <a:t>mengikut</a:t>
            </a:r>
            <a:r>
              <a:rPr lang="en-MY" dirty="0"/>
              <a:t> </a:t>
            </a:r>
            <a:r>
              <a:rPr lang="en-MY" dirty="0" err="1"/>
              <a:t>naluri</a:t>
            </a:r>
            <a:r>
              <a:rPr lang="en-MY" dirty="0"/>
              <a:t> </a:t>
            </a:r>
            <a:r>
              <a:rPr lang="en-MY" dirty="0" err="1"/>
              <a:t>atau</a:t>
            </a:r>
            <a:r>
              <a:rPr lang="en-MY" dirty="0"/>
              <a:t> </a:t>
            </a:r>
            <a:r>
              <a:rPr lang="en-MY" dirty="0" err="1"/>
              <a:t>dorongan</a:t>
            </a:r>
            <a:r>
              <a:rPr lang="en-MY" dirty="0"/>
              <a:t> </a:t>
            </a:r>
            <a:r>
              <a:rPr lang="en-MY" dirty="0" err="1"/>
              <a:t>semata-mata</a:t>
            </a:r>
            <a:r>
              <a:rPr lang="en-MY" dirty="0"/>
              <a:t>. "</a:t>
            </a:r>
            <a:r>
              <a:rPr lang="en-MY" dirty="0" err="1"/>
              <a:t>Autonomi</a:t>
            </a:r>
            <a:r>
              <a:rPr lang="en-MY" dirty="0"/>
              <a:t>" di </a:t>
            </a:r>
            <a:r>
              <a:rPr lang="en-MY" dirty="0" err="1"/>
              <a:t>sini</a:t>
            </a:r>
            <a:r>
              <a:rPr lang="en-MY" dirty="0"/>
              <a:t> </a:t>
            </a:r>
            <a:r>
              <a:rPr lang="en-MY" dirty="0" err="1"/>
              <a:t>bermaksud</a:t>
            </a:r>
            <a:r>
              <a:rPr lang="en-MY" dirty="0"/>
              <a:t> </a:t>
            </a:r>
            <a:r>
              <a:rPr lang="en-MY" dirty="0" err="1"/>
              <a:t>bahawa</a:t>
            </a:r>
            <a:r>
              <a:rPr lang="en-MY" dirty="0"/>
              <a:t> </a:t>
            </a:r>
            <a:r>
              <a:rPr lang="en-MY" dirty="0" err="1"/>
              <a:t>manusia</a:t>
            </a:r>
            <a:r>
              <a:rPr lang="en-MY" dirty="0"/>
              <a:t> </a:t>
            </a:r>
            <a:r>
              <a:rPr lang="en-MY" dirty="0" err="1"/>
              <a:t>mempunyai</a:t>
            </a:r>
            <a:r>
              <a:rPr lang="en-MY" dirty="0"/>
              <a:t> </a:t>
            </a:r>
            <a:r>
              <a:rPr lang="en-MY" dirty="0" err="1"/>
              <a:t>kebebasan</a:t>
            </a:r>
            <a:r>
              <a:rPr lang="en-MY" dirty="0"/>
              <a:t> </a:t>
            </a:r>
            <a:r>
              <a:rPr lang="en-MY" dirty="0" err="1"/>
              <a:t>untuk</a:t>
            </a:r>
            <a:r>
              <a:rPr lang="en-MY" dirty="0"/>
              <a:t> </a:t>
            </a:r>
            <a:r>
              <a:rPr lang="en-MY" dirty="0" err="1"/>
              <a:t>mengawal</a:t>
            </a:r>
            <a:r>
              <a:rPr lang="en-MY" dirty="0"/>
              <a:t> </a:t>
            </a:r>
            <a:r>
              <a:rPr lang="en-MY" dirty="0" err="1"/>
              <a:t>diri</a:t>
            </a:r>
            <a:r>
              <a:rPr lang="en-MY" dirty="0"/>
              <a:t> dan </a:t>
            </a:r>
            <a:r>
              <a:rPr lang="en-MY" dirty="0" err="1"/>
              <a:t>membuat</a:t>
            </a:r>
            <a:r>
              <a:rPr lang="en-MY" dirty="0"/>
              <a:t> </a:t>
            </a:r>
            <a:r>
              <a:rPr lang="en-MY" dirty="0" err="1"/>
              <a:t>keputusan</a:t>
            </a:r>
            <a:r>
              <a:rPr lang="en-MY" dirty="0"/>
              <a:t> </a:t>
            </a:r>
            <a:r>
              <a:rPr lang="en-MY" dirty="0" err="1"/>
              <a:t>sendiri</a:t>
            </a:r>
            <a:r>
              <a:rPr lang="en-MY" dirty="0"/>
              <a:t>, </a:t>
            </a:r>
            <a:r>
              <a:rPr lang="en-MY" dirty="0" err="1"/>
              <a:t>berlandaskan</a:t>
            </a:r>
            <a:r>
              <a:rPr lang="en-MY" dirty="0"/>
              <a:t> </a:t>
            </a:r>
            <a:r>
              <a:rPr lang="en-MY" dirty="0" err="1"/>
              <a:t>prinsip</a:t>
            </a:r>
            <a:r>
              <a:rPr lang="en-MY" dirty="0"/>
              <a:t> dan </a:t>
            </a:r>
            <a:r>
              <a:rPr lang="en-MY" dirty="0" err="1"/>
              <a:t>undang-undang</a:t>
            </a:r>
            <a:r>
              <a:rPr lang="en-MY" dirty="0"/>
              <a:t> moral </a:t>
            </a:r>
            <a:r>
              <a:rPr lang="en-MY" dirty="0" err="1"/>
              <a:t>mereka</a:t>
            </a:r>
            <a:r>
              <a:rPr lang="en-MY" dirty="0"/>
              <a:t>. </a:t>
            </a:r>
            <a:r>
              <a:rPr lang="en-MY" dirty="0" err="1"/>
              <a:t>Ia</a:t>
            </a:r>
            <a:r>
              <a:rPr lang="en-MY" dirty="0"/>
              <a:t> </a:t>
            </a:r>
            <a:r>
              <a:rPr lang="en-MY" dirty="0" err="1"/>
              <a:t>menekankan</a:t>
            </a:r>
            <a:r>
              <a:rPr lang="en-MY" dirty="0"/>
              <a:t> </a:t>
            </a:r>
            <a:r>
              <a:rPr lang="en-MY" dirty="0" err="1"/>
              <a:t>bahawa</a:t>
            </a:r>
            <a:r>
              <a:rPr lang="en-MY" dirty="0"/>
              <a:t> </a:t>
            </a:r>
            <a:r>
              <a:rPr lang="en-MY" dirty="0" err="1"/>
              <a:t>setiap</a:t>
            </a:r>
            <a:r>
              <a:rPr lang="en-MY" dirty="0"/>
              <a:t> </a:t>
            </a:r>
            <a:r>
              <a:rPr lang="en-MY" dirty="0" err="1"/>
              <a:t>individu</a:t>
            </a:r>
            <a:r>
              <a:rPr lang="en-MY" dirty="0"/>
              <a:t> </a:t>
            </a:r>
            <a:r>
              <a:rPr lang="en-MY" dirty="0" err="1"/>
              <a:t>mampu</a:t>
            </a:r>
            <a:r>
              <a:rPr lang="en-MY" dirty="0"/>
              <a:t> </a:t>
            </a:r>
            <a:r>
              <a:rPr lang="en-MY" dirty="0" err="1"/>
              <a:t>menetapkan</a:t>
            </a:r>
            <a:r>
              <a:rPr lang="en-MY" dirty="0"/>
              <a:t> </a:t>
            </a:r>
            <a:r>
              <a:rPr lang="en-MY" dirty="0" err="1"/>
              <a:t>matlamat</a:t>
            </a:r>
            <a:r>
              <a:rPr lang="en-MY" dirty="0"/>
              <a:t> </a:t>
            </a:r>
            <a:r>
              <a:rPr lang="en-MY" dirty="0" err="1"/>
              <a:t>sendiri</a:t>
            </a:r>
            <a:r>
              <a:rPr lang="en-MY" dirty="0"/>
              <a:t> dan </a:t>
            </a:r>
            <a:r>
              <a:rPr lang="en-MY" dirty="0" err="1"/>
              <a:t>memilih</a:t>
            </a:r>
            <a:r>
              <a:rPr lang="en-MY" dirty="0"/>
              <a:t> </a:t>
            </a:r>
            <a:r>
              <a:rPr lang="en-MY" dirty="0" err="1"/>
              <a:t>tindakan</a:t>
            </a:r>
            <a:r>
              <a:rPr lang="en-MY" dirty="0"/>
              <a:t> yang </a:t>
            </a:r>
            <a:r>
              <a:rPr lang="en-MY" dirty="0" err="1"/>
              <a:t>diambil</a:t>
            </a:r>
            <a:r>
              <a:rPr lang="en-MY" dirty="0"/>
              <a:t> </a:t>
            </a:r>
            <a:r>
              <a:rPr lang="en-MY" dirty="0" err="1"/>
              <a:t>berdasarkan</a:t>
            </a:r>
            <a:r>
              <a:rPr lang="en-MY" dirty="0"/>
              <a:t> </a:t>
            </a:r>
            <a:r>
              <a:rPr lang="en-MY" dirty="0" err="1"/>
              <a:t>pertimbangan</a:t>
            </a:r>
            <a:r>
              <a:rPr lang="en-MY" dirty="0"/>
              <a:t> moral.</a:t>
            </a:r>
          </a:p>
          <a:p>
            <a:endParaRPr lang="en-MY" b="1" dirty="0"/>
          </a:p>
          <a:p>
            <a:r>
              <a:rPr lang="en-MY" b="1" dirty="0"/>
              <a:t>(2) </a:t>
            </a:r>
            <a:r>
              <a:rPr lang="en-MY" b="1" dirty="0" err="1"/>
              <a:t>Manusia</a:t>
            </a:r>
            <a:r>
              <a:rPr lang="en-MY" b="1" dirty="0"/>
              <a:t> </a:t>
            </a:r>
            <a:r>
              <a:rPr lang="en-MY" b="1" dirty="0" err="1"/>
              <a:t>adalah</a:t>
            </a:r>
            <a:r>
              <a:rPr lang="en-MY" b="1" dirty="0"/>
              <a:t> </a:t>
            </a:r>
            <a:r>
              <a:rPr lang="en-MY" b="1" dirty="0" err="1"/>
              <a:t>tujuan</a:t>
            </a:r>
            <a:r>
              <a:rPr lang="en-MY" b="1" dirty="0"/>
              <a:t> pada </a:t>
            </a:r>
            <a:r>
              <a:rPr lang="en-MY" b="1" dirty="0" err="1"/>
              <a:t>dirinya</a:t>
            </a:r>
            <a:r>
              <a:rPr lang="en-MY" b="1" dirty="0"/>
              <a:t> </a:t>
            </a:r>
            <a:r>
              <a:rPr lang="en-MY" b="1" dirty="0" err="1"/>
              <a:t>sendiri</a:t>
            </a:r>
            <a:r>
              <a:rPr lang="en-MY" b="1" dirty="0"/>
              <a:t>, dan </a:t>
            </a:r>
            <a:r>
              <a:rPr lang="en-MY" b="1" dirty="0" err="1"/>
              <a:t>bukan</a:t>
            </a:r>
            <a:r>
              <a:rPr lang="en-MY" b="1" dirty="0"/>
              <a:t> </a:t>
            </a:r>
            <a:r>
              <a:rPr lang="en-MY" b="1" dirty="0" err="1"/>
              <a:t>alat</a:t>
            </a:r>
            <a:r>
              <a:rPr lang="en-MY" b="1" dirty="0"/>
              <a:t> </a:t>
            </a:r>
            <a:r>
              <a:rPr lang="en-MY" b="1" dirty="0" err="1"/>
              <a:t>untuk</a:t>
            </a:r>
            <a:r>
              <a:rPr lang="en-MY" b="1" dirty="0"/>
              <a:t> </a:t>
            </a:r>
            <a:r>
              <a:rPr lang="en-MY" b="1" dirty="0" err="1"/>
              <a:t>mencapai</a:t>
            </a:r>
            <a:r>
              <a:rPr lang="en-MY" b="1" dirty="0"/>
              <a:t> </a:t>
            </a:r>
            <a:r>
              <a:rPr lang="en-MY" b="1" dirty="0" err="1"/>
              <a:t>tujuan</a:t>
            </a:r>
            <a:endParaRPr lang="en-MY" b="1" dirty="0"/>
          </a:p>
          <a:p>
            <a:r>
              <a:rPr lang="en-MY" dirty="0" err="1"/>
              <a:t>Ini</a:t>
            </a:r>
            <a:r>
              <a:rPr lang="en-MY" dirty="0"/>
              <a:t> </a:t>
            </a:r>
            <a:r>
              <a:rPr lang="en-MY" dirty="0" err="1"/>
              <a:t>bermakna</a:t>
            </a:r>
            <a:r>
              <a:rPr lang="en-MY" dirty="0"/>
              <a:t> </a:t>
            </a:r>
            <a:r>
              <a:rPr lang="en-MY" dirty="0" err="1"/>
              <a:t>setiap</a:t>
            </a:r>
            <a:r>
              <a:rPr lang="en-MY" dirty="0"/>
              <a:t> </a:t>
            </a:r>
            <a:r>
              <a:rPr lang="en-MY" dirty="0" err="1"/>
              <a:t>individu</a:t>
            </a:r>
            <a:r>
              <a:rPr lang="en-MY" dirty="0"/>
              <a:t> </a:t>
            </a:r>
            <a:r>
              <a:rPr lang="en-MY" dirty="0" err="1"/>
              <a:t>mempunyai</a:t>
            </a:r>
            <a:r>
              <a:rPr lang="en-MY" dirty="0"/>
              <a:t> </a:t>
            </a:r>
            <a:r>
              <a:rPr lang="en-MY" dirty="0" err="1"/>
              <a:t>nilai</a:t>
            </a:r>
            <a:r>
              <a:rPr lang="en-MY" dirty="0"/>
              <a:t> yang </a:t>
            </a:r>
            <a:r>
              <a:rPr lang="en-MY" dirty="0" err="1"/>
              <a:t>tersendiri</a:t>
            </a:r>
            <a:r>
              <a:rPr lang="en-MY" dirty="0"/>
              <a:t> dan </a:t>
            </a:r>
            <a:r>
              <a:rPr lang="en-MY" dirty="0" err="1"/>
              <a:t>harus</a:t>
            </a:r>
            <a:r>
              <a:rPr lang="en-MY" dirty="0"/>
              <a:t> </a:t>
            </a:r>
            <a:r>
              <a:rPr lang="en-MY" dirty="0" err="1"/>
              <a:t>dilayan</a:t>
            </a:r>
            <a:r>
              <a:rPr lang="en-MY" dirty="0"/>
              <a:t> </a:t>
            </a:r>
            <a:r>
              <a:rPr lang="en-MY" dirty="0" err="1"/>
              <a:t>dengan</a:t>
            </a:r>
            <a:r>
              <a:rPr lang="en-MY" dirty="0"/>
              <a:t> </a:t>
            </a:r>
            <a:r>
              <a:rPr lang="en-MY" dirty="0" err="1"/>
              <a:t>maruah</a:t>
            </a:r>
            <a:r>
              <a:rPr lang="en-MY" dirty="0"/>
              <a:t> dan </a:t>
            </a:r>
            <a:r>
              <a:rPr lang="en-MY" dirty="0" err="1"/>
              <a:t>hormat</a:t>
            </a:r>
            <a:r>
              <a:rPr lang="en-MY" dirty="0"/>
              <a:t>. </a:t>
            </a:r>
            <a:r>
              <a:rPr lang="en-MY" dirty="0" err="1"/>
              <a:t>Manusia</a:t>
            </a:r>
            <a:r>
              <a:rPr lang="en-MY" dirty="0"/>
              <a:t> </a:t>
            </a:r>
            <a:r>
              <a:rPr lang="en-MY" dirty="0" err="1"/>
              <a:t>tidak</a:t>
            </a:r>
            <a:r>
              <a:rPr lang="en-MY" dirty="0"/>
              <a:t> </a:t>
            </a:r>
            <a:r>
              <a:rPr lang="en-MY" dirty="0" err="1"/>
              <a:t>sepatutnya</a:t>
            </a:r>
            <a:r>
              <a:rPr lang="en-MY" dirty="0"/>
              <a:t> </a:t>
            </a:r>
            <a:r>
              <a:rPr lang="en-MY" dirty="0" err="1"/>
              <a:t>dianggap</a:t>
            </a:r>
            <a:r>
              <a:rPr lang="en-MY" dirty="0"/>
              <a:t> </a:t>
            </a:r>
            <a:r>
              <a:rPr lang="en-MY" dirty="0" err="1"/>
              <a:t>sebagai</a:t>
            </a:r>
            <a:r>
              <a:rPr lang="en-MY" dirty="0"/>
              <a:t> </a:t>
            </a:r>
            <a:r>
              <a:rPr lang="en-MY" dirty="0" err="1"/>
              <a:t>alat</a:t>
            </a:r>
            <a:r>
              <a:rPr lang="en-MY" dirty="0"/>
              <a:t> </a:t>
            </a:r>
            <a:r>
              <a:rPr lang="en-MY" dirty="0" err="1"/>
              <a:t>atau</a:t>
            </a:r>
            <a:r>
              <a:rPr lang="en-MY" dirty="0"/>
              <a:t> </a:t>
            </a:r>
            <a:r>
              <a:rPr lang="en-MY" dirty="0" err="1"/>
              <a:t>instrumen</a:t>
            </a:r>
            <a:r>
              <a:rPr lang="en-MY" dirty="0"/>
              <a:t> </a:t>
            </a:r>
            <a:r>
              <a:rPr lang="en-MY" dirty="0" err="1"/>
              <a:t>semata-mata</a:t>
            </a:r>
            <a:r>
              <a:rPr lang="en-MY" dirty="0"/>
              <a:t> </a:t>
            </a:r>
            <a:r>
              <a:rPr lang="en-MY" dirty="0" err="1"/>
              <a:t>untuk</a:t>
            </a:r>
            <a:r>
              <a:rPr lang="en-MY" dirty="0"/>
              <a:t> </a:t>
            </a:r>
            <a:r>
              <a:rPr lang="en-MY" dirty="0" err="1"/>
              <a:t>mencapai</a:t>
            </a:r>
            <a:r>
              <a:rPr lang="en-MY" dirty="0"/>
              <a:t> </a:t>
            </a:r>
            <a:r>
              <a:rPr lang="en-MY" dirty="0" err="1"/>
              <a:t>matlamat</a:t>
            </a:r>
            <a:r>
              <a:rPr lang="en-MY" dirty="0"/>
              <a:t> orang lain. </a:t>
            </a:r>
            <a:r>
              <a:rPr lang="en-MY" dirty="0" err="1"/>
              <a:t>Sebaliknya</a:t>
            </a:r>
            <a:r>
              <a:rPr lang="en-MY" dirty="0"/>
              <a:t>, </a:t>
            </a:r>
            <a:r>
              <a:rPr lang="en-MY" dirty="0" err="1"/>
              <a:t>mereka</a:t>
            </a:r>
            <a:r>
              <a:rPr lang="en-MY" dirty="0"/>
              <a:t> </a:t>
            </a:r>
            <a:r>
              <a:rPr lang="en-MY" dirty="0" err="1"/>
              <a:t>adalah</a:t>
            </a:r>
            <a:r>
              <a:rPr lang="en-MY" dirty="0"/>
              <a:t> </a:t>
            </a:r>
            <a:r>
              <a:rPr lang="en-MY" dirty="0" err="1"/>
              <a:t>berharga</a:t>
            </a:r>
            <a:r>
              <a:rPr lang="en-MY" dirty="0"/>
              <a:t> kerana </a:t>
            </a:r>
            <a:r>
              <a:rPr lang="en-MY" dirty="0" err="1"/>
              <a:t>kewujudan</a:t>
            </a:r>
            <a:r>
              <a:rPr lang="en-MY" dirty="0"/>
              <a:t> </a:t>
            </a:r>
            <a:r>
              <a:rPr lang="en-MY" dirty="0" err="1"/>
              <a:t>mereka</a:t>
            </a:r>
            <a:r>
              <a:rPr lang="en-MY" dirty="0"/>
              <a:t> </a:t>
            </a:r>
            <a:r>
              <a:rPr lang="en-MY" dirty="0" err="1"/>
              <a:t>sendiri</a:t>
            </a:r>
            <a:r>
              <a:rPr lang="en-MY" dirty="0"/>
              <a:t>. </a:t>
            </a:r>
            <a:r>
              <a:rPr lang="en-MY" dirty="0" err="1"/>
              <a:t>Dalam</a:t>
            </a:r>
            <a:r>
              <a:rPr lang="en-MY" dirty="0"/>
              <a:t> </a:t>
            </a:r>
            <a:r>
              <a:rPr lang="en-MY" dirty="0" err="1"/>
              <a:t>membuat</a:t>
            </a:r>
            <a:r>
              <a:rPr lang="en-MY" dirty="0"/>
              <a:t> </a:t>
            </a:r>
            <a:r>
              <a:rPr lang="en-MY" dirty="0" err="1"/>
              <a:t>keputusan</a:t>
            </a:r>
            <a:r>
              <a:rPr lang="en-MY" dirty="0"/>
              <a:t> </a:t>
            </a:r>
            <a:r>
              <a:rPr lang="en-MY" dirty="0" err="1"/>
              <a:t>etika</a:t>
            </a:r>
            <a:r>
              <a:rPr lang="en-MY" dirty="0"/>
              <a:t>, </a:t>
            </a:r>
            <a:r>
              <a:rPr lang="en-MY" dirty="0" err="1"/>
              <a:t>adalah</a:t>
            </a:r>
            <a:r>
              <a:rPr lang="en-MY" dirty="0"/>
              <a:t> </a:t>
            </a:r>
            <a:r>
              <a:rPr lang="en-MY" dirty="0" err="1"/>
              <a:t>penting</a:t>
            </a:r>
            <a:r>
              <a:rPr lang="en-MY" dirty="0"/>
              <a:t> </a:t>
            </a:r>
            <a:r>
              <a:rPr lang="en-MY" dirty="0" err="1"/>
              <a:t>untuk</a:t>
            </a:r>
            <a:r>
              <a:rPr lang="en-MY" dirty="0"/>
              <a:t> </a:t>
            </a:r>
            <a:r>
              <a:rPr lang="en-MY" dirty="0" err="1"/>
              <a:t>menghormati</a:t>
            </a:r>
            <a:r>
              <a:rPr lang="en-MY" dirty="0"/>
              <a:t> </a:t>
            </a:r>
            <a:r>
              <a:rPr lang="en-MY" dirty="0" err="1"/>
              <a:t>nilai</a:t>
            </a:r>
            <a:r>
              <a:rPr lang="en-MY" dirty="0"/>
              <a:t> </a:t>
            </a:r>
            <a:r>
              <a:rPr lang="en-MY" dirty="0" err="1"/>
              <a:t>intrinsik</a:t>
            </a:r>
            <a:r>
              <a:rPr lang="en-MY" dirty="0"/>
              <a:t> </a:t>
            </a:r>
            <a:r>
              <a:rPr lang="en-MY" dirty="0" err="1"/>
              <a:t>setiap</a:t>
            </a:r>
            <a:r>
              <a:rPr lang="en-MY" dirty="0"/>
              <a:t> orang, dan </a:t>
            </a:r>
            <a:r>
              <a:rPr lang="en-MY" dirty="0" err="1"/>
              <a:t>bukannya</a:t>
            </a:r>
            <a:r>
              <a:rPr lang="en-MY" dirty="0"/>
              <a:t> </a:t>
            </a:r>
            <a:r>
              <a:rPr lang="en-MY" dirty="0" err="1"/>
              <a:t>melihat</a:t>
            </a:r>
            <a:r>
              <a:rPr lang="en-MY" dirty="0"/>
              <a:t> </a:t>
            </a:r>
            <a:r>
              <a:rPr lang="en-MY" dirty="0" err="1"/>
              <a:t>mereka</a:t>
            </a:r>
            <a:r>
              <a:rPr lang="en-MY" dirty="0"/>
              <a:t> </a:t>
            </a:r>
            <a:r>
              <a:rPr lang="en-MY" dirty="0" err="1"/>
              <a:t>sebagai</a:t>
            </a:r>
            <a:r>
              <a:rPr lang="en-MY" dirty="0"/>
              <a:t> </a:t>
            </a:r>
            <a:r>
              <a:rPr lang="en-MY" dirty="0" err="1"/>
              <a:t>cara</a:t>
            </a:r>
            <a:r>
              <a:rPr lang="en-MY" dirty="0"/>
              <a:t> </a:t>
            </a:r>
            <a:r>
              <a:rPr lang="en-MY" dirty="0" err="1"/>
              <a:t>untuk</a:t>
            </a:r>
            <a:r>
              <a:rPr lang="en-MY" dirty="0"/>
              <a:t> </a:t>
            </a:r>
            <a:r>
              <a:rPr lang="en-MY" dirty="0" err="1"/>
              <a:t>mendapatkan</a:t>
            </a:r>
            <a:r>
              <a:rPr lang="en-MY" dirty="0"/>
              <a:t> </a:t>
            </a:r>
            <a:r>
              <a:rPr lang="en-MY" dirty="0" err="1"/>
              <a:t>sesuatu</a:t>
            </a:r>
            <a:r>
              <a:rPr lang="en-MY" dirty="0"/>
              <a:t> yang lain.</a:t>
            </a:r>
          </a:p>
          <a:p>
            <a:endParaRPr lang="en-MY" dirty="0"/>
          </a:p>
          <a:p>
            <a:r>
              <a:rPr lang="en-MY" dirty="0" err="1"/>
              <a:t>Secara</a:t>
            </a:r>
            <a:r>
              <a:rPr lang="en-MY" dirty="0"/>
              <a:t> </a:t>
            </a:r>
            <a:r>
              <a:rPr lang="en-MY" dirty="0" err="1"/>
              <a:t>keseluruhan</a:t>
            </a:r>
            <a:r>
              <a:rPr lang="en-MY" dirty="0"/>
              <a:t>, </a:t>
            </a:r>
            <a:r>
              <a:rPr lang="en-MY" dirty="0" err="1"/>
              <a:t>kedua</a:t>
            </a:r>
            <a:r>
              <a:rPr lang="en-MY" dirty="0"/>
              <a:t>-dua idea </a:t>
            </a:r>
            <a:r>
              <a:rPr lang="en-MY" dirty="0" err="1"/>
              <a:t>ini</a:t>
            </a:r>
            <a:r>
              <a:rPr lang="en-MY" dirty="0"/>
              <a:t> </a:t>
            </a:r>
            <a:r>
              <a:rPr lang="en-MY" dirty="0" err="1"/>
              <a:t>menekankan</a:t>
            </a:r>
            <a:r>
              <a:rPr lang="en-MY" dirty="0"/>
              <a:t> </a:t>
            </a:r>
            <a:r>
              <a:rPr lang="en-MY" dirty="0" err="1"/>
              <a:t>kewajipan</a:t>
            </a:r>
            <a:r>
              <a:rPr lang="en-MY" dirty="0"/>
              <a:t> moral </a:t>
            </a:r>
            <a:r>
              <a:rPr lang="en-MY" dirty="0" err="1"/>
              <a:t>untuk</a:t>
            </a:r>
            <a:r>
              <a:rPr lang="en-MY" dirty="0"/>
              <a:t> </a:t>
            </a:r>
            <a:r>
              <a:rPr lang="en-MY" dirty="0" err="1"/>
              <a:t>menghormati</a:t>
            </a:r>
            <a:r>
              <a:rPr lang="en-MY" dirty="0"/>
              <a:t> </a:t>
            </a:r>
            <a:r>
              <a:rPr lang="en-MY" dirty="0" err="1"/>
              <a:t>kebebasan</a:t>
            </a:r>
            <a:r>
              <a:rPr lang="en-MY" dirty="0"/>
              <a:t>, </a:t>
            </a:r>
            <a:r>
              <a:rPr lang="en-MY" dirty="0" err="1"/>
              <a:t>rasionaliti</a:t>
            </a:r>
            <a:r>
              <a:rPr lang="en-MY" dirty="0"/>
              <a:t>, dan </a:t>
            </a:r>
            <a:r>
              <a:rPr lang="en-MY" dirty="0" err="1"/>
              <a:t>nilai</a:t>
            </a:r>
            <a:r>
              <a:rPr lang="en-MY" dirty="0"/>
              <a:t> </a:t>
            </a:r>
            <a:r>
              <a:rPr lang="en-MY" dirty="0" err="1"/>
              <a:t>diri</a:t>
            </a:r>
            <a:r>
              <a:rPr lang="en-MY" dirty="0"/>
              <a:t> </a:t>
            </a:r>
            <a:r>
              <a:rPr lang="en-MY" dirty="0" err="1"/>
              <a:t>seseorang</a:t>
            </a:r>
            <a:r>
              <a:rPr lang="en-MY" dirty="0"/>
              <a:t> </a:t>
            </a:r>
            <a:r>
              <a:rPr lang="en-MY" dirty="0" err="1"/>
              <a:t>ketika</a:t>
            </a:r>
            <a:r>
              <a:rPr lang="en-MY" dirty="0"/>
              <a:t> </a:t>
            </a:r>
            <a:r>
              <a:rPr lang="en-MY" dirty="0" err="1"/>
              <a:t>membuat</a:t>
            </a:r>
            <a:r>
              <a:rPr lang="en-MY" dirty="0"/>
              <a:t> </a:t>
            </a:r>
            <a:r>
              <a:rPr lang="en-MY" dirty="0" err="1"/>
              <a:t>pilihan</a:t>
            </a:r>
            <a:r>
              <a:rPr lang="en-MY" dirty="0"/>
              <a:t> </a:t>
            </a:r>
            <a:r>
              <a:rPr lang="en-MY" dirty="0" err="1"/>
              <a:t>etika</a:t>
            </a:r>
            <a:r>
              <a:rPr lang="en-MY" dirty="0"/>
              <a:t>.</a:t>
            </a:r>
          </a:p>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19</a:t>
            </a:fld>
            <a:endParaRPr lang="en-US"/>
          </a:p>
        </p:txBody>
      </p:sp>
    </p:spTree>
    <p:extLst>
      <p:ext uri="{BB962C8B-B14F-4D97-AF65-F5344CB8AC3E}">
        <p14:creationId xmlns:p14="http://schemas.microsoft.com/office/powerpoint/2010/main" val="2762668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This principle is known as the </a:t>
            </a:r>
            <a:r>
              <a:rPr lang="en-MY" b="1" dirty="0"/>
              <a:t>Formula of Humanity</a:t>
            </a:r>
            <a:r>
              <a:rPr lang="en-MY" dirty="0"/>
              <a:t> in Kant's moral philosophy. It is a guideline for ethical </a:t>
            </a:r>
            <a:r>
              <a:rPr lang="en-MY" dirty="0" err="1"/>
              <a:t>behavior</a:t>
            </a:r>
            <a:r>
              <a:rPr lang="en-MY" dirty="0"/>
              <a:t> that directs us to act in ways that respect the intrinsic value of every person. Here's what it means:</a:t>
            </a:r>
          </a:p>
          <a:p>
            <a:endParaRPr lang="en-MY" b="1" dirty="0"/>
          </a:p>
          <a:p>
            <a:r>
              <a:rPr lang="en-MY" b="1" dirty="0"/>
              <a:t>Explanation</a:t>
            </a:r>
          </a:p>
          <a:p>
            <a:r>
              <a:rPr lang="en-MY" dirty="0"/>
              <a:t>When you act according to a maxim (a personal rule or principle), you should ensure that your actions treat other individuals as having inherent worth and dignity, not merely as tools or instruments for achieving your own objectives. In other words, every person should be valued for who they are and respected in their own right, rather than being used as a way to get something else.</a:t>
            </a:r>
          </a:p>
          <a:p>
            <a:endParaRPr lang="en-MY" dirty="0"/>
          </a:p>
          <a:p>
            <a:r>
              <a:rPr lang="en-MY" dirty="0"/>
              <a:t>This principle emphasizes that ethical actions should respect the humanity and autonomy of others. We should never manipulate, exploit, or deceive people just to </a:t>
            </a:r>
            <a:r>
              <a:rPr lang="en-MY" dirty="0" err="1"/>
              <a:t>fulfill</a:t>
            </a:r>
            <a:r>
              <a:rPr lang="en-MY" dirty="0"/>
              <a:t> our own needs or desires. Instead, our actions should acknowledge and uphold the dignity and moral rights of all individuals.</a:t>
            </a:r>
          </a:p>
          <a:p>
            <a:endParaRPr lang="en-MY" dirty="0"/>
          </a:p>
          <a:p>
            <a:r>
              <a:rPr lang="en-MY" dirty="0"/>
              <a:t>In summary, the </a:t>
            </a:r>
            <a:r>
              <a:rPr lang="en-MY" b="1" dirty="0"/>
              <a:t>formula of humanity is a specific interpretation of the broader categorical imperative</a:t>
            </a:r>
            <a:r>
              <a:rPr lang="en-MY" dirty="0"/>
              <a:t>. Both aim to guide moral actions, but the formula of humanity focuses particularly on the treatment of individuals and their inherent value</a:t>
            </a:r>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20</a:t>
            </a:fld>
            <a:endParaRPr lang="en-US"/>
          </a:p>
        </p:txBody>
      </p:sp>
    </p:spTree>
    <p:extLst>
      <p:ext uri="{BB962C8B-B14F-4D97-AF65-F5344CB8AC3E}">
        <p14:creationId xmlns:p14="http://schemas.microsoft.com/office/powerpoint/2010/main" val="3169388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This principle is known as the </a:t>
            </a:r>
            <a:r>
              <a:rPr lang="en-MY" b="1" dirty="0"/>
              <a:t>Formula of Universal Law</a:t>
            </a:r>
            <a:r>
              <a:rPr lang="en-MY" dirty="0"/>
              <a:t> in Kant's moral philosophy. It means that when you choose a maxim (a principle or rule of action), it should be one that you can consistently will to become a universal law, applying to everyone without exception.</a:t>
            </a:r>
          </a:p>
          <a:p>
            <a:endParaRPr lang="en-MY" b="1" dirty="0"/>
          </a:p>
          <a:p>
            <a:r>
              <a:rPr lang="en-MY" b="1" dirty="0"/>
              <a:t>Explanation</a:t>
            </a:r>
          </a:p>
          <a:p>
            <a:r>
              <a:rPr lang="en-MY" dirty="0"/>
              <a:t>When you act according to a maxim, ask yourself whether you would want everyone else to follow the same rule in similar circumstances. If a rule can be universally applied to all human beings without leading to contradictions or negative consequences, then it is considered morally acceptable. However, if the maxim would lead to inconsistency or undesirable outcomes if universally followed, it should not be used as a basis for your actions.</a:t>
            </a:r>
          </a:p>
          <a:p>
            <a:endParaRPr lang="en-MY" dirty="0"/>
          </a:p>
          <a:p>
            <a:r>
              <a:rPr lang="en-MY" dirty="0"/>
              <a:t>The principle requires that your actions be guided by rules that can be applied universally, treating everyone equally under the same moral standards. It emphasizes consistency and fairness in moral decision-making, ensuring that what is right for one person is right for all in similar situations./</a:t>
            </a:r>
          </a:p>
          <a:p>
            <a:endParaRPr lang="en-MY" dirty="0"/>
          </a:p>
          <a:p>
            <a:r>
              <a:rPr lang="en-MY" dirty="0" err="1"/>
              <a:t>Prinsip</a:t>
            </a:r>
            <a:r>
              <a:rPr lang="en-MY" dirty="0"/>
              <a:t> </a:t>
            </a:r>
            <a:r>
              <a:rPr lang="en-MY" dirty="0" err="1"/>
              <a:t>ini</a:t>
            </a:r>
            <a:r>
              <a:rPr lang="en-MY" dirty="0"/>
              <a:t> </a:t>
            </a:r>
            <a:r>
              <a:rPr lang="en-MY" dirty="0" err="1"/>
              <a:t>menghendaki</a:t>
            </a:r>
            <a:r>
              <a:rPr lang="en-MY" dirty="0"/>
              <a:t> </a:t>
            </a:r>
            <a:r>
              <a:rPr lang="en-MY" dirty="0" err="1"/>
              <a:t>tindakan</a:t>
            </a:r>
            <a:r>
              <a:rPr lang="en-MY" dirty="0"/>
              <a:t> </a:t>
            </a:r>
            <a:r>
              <a:rPr lang="en-MY" dirty="0" err="1"/>
              <a:t>anda</a:t>
            </a:r>
            <a:r>
              <a:rPr lang="en-MY" dirty="0"/>
              <a:t> </a:t>
            </a:r>
            <a:r>
              <a:rPr lang="en-MY" dirty="0" err="1"/>
              <a:t>dipandu</a:t>
            </a:r>
            <a:r>
              <a:rPr lang="en-MY" dirty="0"/>
              <a:t> oleh </a:t>
            </a:r>
            <a:r>
              <a:rPr lang="en-MY" dirty="0" err="1"/>
              <a:t>peraturan</a:t>
            </a:r>
            <a:r>
              <a:rPr lang="en-MY" dirty="0"/>
              <a:t> yang </a:t>
            </a:r>
            <a:r>
              <a:rPr lang="en-MY" dirty="0" err="1"/>
              <a:t>boleh</a:t>
            </a:r>
            <a:r>
              <a:rPr lang="en-MY" dirty="0"/>
              <a:t> </a:t>
            </a:r>
            <a:r>
              <a:rPr lang="en-MY" dirty="0" err="1"/>
              <a:t>diterapkan</a:t>
            </a:r>
            <a:r>
              <a:rPr lang="en-MY" dirty="0"/>
              <a:t> </a:t>
            </a:r>
            <a:r>
              <a:rPr lang="en-MY" dirty="0" err="1"/>
              <a:t>secara</a:t>
            </a:r>
            <a:r>
              <a:rPr lang="en-MY" dirty="0"/>
              <a:t> universal, </a:t>
            </a:r>
            <a:r>
              <a:rPr lang="en-MY" dirty="0" err="1"/>
              <a:t>memperlakukan</a:t>
            </a:r>
            <a:r>
              <a:rPr lang="en-MY" dirty="0"/>
              <a:t> </a:t>
            </a:r>
            <a:r>
              <a:rPr lang="en-MY" dirty="0" err="1"/>
              <a:t>semua</a:t>
            </a:r>
            <a:r>
              <a:rPr lang="en-MY" dirty="0"/>
              <a:t> orang </a:t>
            </a:r>
            <a:r>
              <a:rPr lang="en-MY" dirty="0" err="1"/>
              <a:t>secara</a:t>
            </a:r>
            <a:r>
              <a:rPr lang="en-MY" dirty="0"/>
              <a:t> </a:t>
            </a:r>
            <a:r>
              <a:rPr lang="en-MY" dirty="0" err="1"/>
              <a:t>sama</a:t>
            </a:r>
            <a:r>
              <a:rPr lang="en-MY" dirty="0"/>
              <a:t> di </a:t>
            </a:r>
            <a:r>
              <a:rPr lang="en-MY" dirty="0" err="1"/>
              <a:t>bawah</a:t>
            </a:r>
            <a:r>
              <a:rPr lang="en-MY" dirty="0"/>
              <a:t> standard moral yang </a:t>
            </a:r>
            <a:r>
              <a:rPr lang="en-MY" dirty="0" err="1"/>
              <a:t>sama</a:t>
            </a:r>
            <a:r>
              <a:rPr lang="en-MY" dirty="0"/>
              <a:t>. </a:t>
            </a:r>
            <a:r>
              <a:rPr lang="en-MY" dirty="0" err="1"/>
              <a:t>Ia</a:t>
            </a:r>
            <a:r>
              <a:rPr lang="en-MY" dirty="0"/>
              <a:t> </a:t>
            </a:r>
            <a:r>
              <a:rPr lang="en-MY" dirty="0" err="1"/>
              <a:t>menekankan</a:t>
            </a:r>
            <a:r>
              <a:rPr lang="en-MY" dirty="0"/>
              <a:t> </a:t>
            </a:r>
            <a:r>
              <a:rPr lang="en-MY" dirty="0" err="1"/>
              <a:t>konsistensi</a:t>
            </a:r>
            <a:r>
              <a:rPr lang="en-MY" dirty="0"/>
              <a:t> dan </a:t>
            </a:r>
            <a:r>
              <a:rPr lang="en-MY" dirty="0" err="1"/>
              <a:t>keadilan</a:t>
            </a:r>
            <a:r>
              <a:rPr lang="en-MY" dirty="0"/>
              <a:t> </a:t>
            </a:r>
            <a:r>
              <a:rPr lang="en-MY" dirty="0" err="1"/>
              <a:t>dalam</a:t>
            </a:r>
            <a:r>
              <a:rPr lang="en-MY" dirty="0"/>
              <a:t> </a:t>
            </a:r>
            <a:r>
              <a:rPr lang="en-MY" dirty="0" err="1"/>
              <a:t>membuat</a:t>
            </a:r>
            <a:r>
              <a:rPr lang="en-MY" dirty="0"/>
              <a:t> </a:t>
            </a:r>
            <a:r>
              <a:rPr lang="en-MY" dirty="0" err="1"/>
              <a:t>keputusan</a:t>
            </a:r>
            <a:r>
              <a:rPr lang="en-MY" dirty="0"/>
              <a:t> moral, </a:t>
            </a:r>
            <a:r>
              <a:rPr lang="en-MY" dirty="0" err="1"/>
              <a:t>memastikan</a:t>
            </a:r>
            <a:r>
              <a:rPr lang="en-MY" dirty="0"/>
              <a:t> </a:t>
            </a:r>
            <a:r>
              <a:rPr lang="en-MY" dirty="0" err="1"/>
              <a:t>bahawa</a:t>
            </a:r>
            <a:r>
              <a:rPr lang="en-MY" dirty="0"/>
              <a:t> </a:t>
            </a:r>
            <a:r>
              <a:rPr lang="en-MY" dirty="0" err="1"/>
              <a:t>apa</a:t>
            </a:r>
            <a:r>
              <a:rPr lang="en-MY" dirty="0"/>
              <a:t> yang </a:t>
            </a:r>
            <a:r>
              <a:rPr lang="en-MY" dirty="0" err="1"/>
              <a:t>betul</a:t>
            </a:r>
            <a:r>
              <a:rPr lang="en-MY" dirty="0"/>
              <a:t> </a:t>
            </a:r>
            <a:r>
              <a:rPr lang="en-MY" dirty="0" err="1"/>
              <a:t>untuk</a:t>
            </a:r>
            <a:r>
              <a:rPr lang="en-MY" dirty="0"/>
              <a:t> </a:t>
            </a:r>
            <a:r>
              <a:rPr lang="en-MY" dirty="0" err="1"/>
              <a:t>seorang</a:t>
            </a:r>
            <a:r>
              <a:rPr lang="en-MY" dirty="0"/>
              <a:t> </a:t>
            </a:r>
            <a:r>
              <a:rPr lang="en-MY" dirty="0" err="1"/>
              <a:t>adalah</a:t>
            </a:r>
            <a:r>
              <a:rPr lang="en-MY" dirty="0"/>
              <a:t> </a:t>
            </a:r>
            <a:r>
              <a:rPr lang="en-MY" dirty="0" err="1"/>
              <a:t>betul</a:t>
            </a:r>
            <a:r>
              <a:rPr lang="en-MY" dirty="0"/>
              <a:t> </a:t>
            </a:r>
            <a:r>
              <a:rPr lang="en-MY" dirty="0" err="1"/>
              <a:t>untuk</a:t>
            </a:r>
            <a:r>
              <a:rPr lang="en-MY" dirty="0"/>
              <a:t> </a:t>
            </a:r>
            <a:r>
              <a:rPr lang="en-MY" dirty="0" err="1"/>
              <a:t>semua</a:t>
            </a:r>
            <a:r>
              <a:rPr lang="en-MY" dirty="0"/>
              <a:t> </a:t>
            </a:r>
            <a:r>
              <a:rPr lang="en-MY" dirty="0" err="1"/>
              <a:t>dalam</a:t>
            </a:r>
            <a:r>
              <a:rPr lang="en-MY" dirty="0"/>
              <a:t> </a:t>
            </a:r>
            <a:r>
              <a:rPr lang="en-MY" dirty="0" err="1"/>
              <a:t>situasi</a:t>
            </a:r>
            <a:r>
              <a:rPr lang="en-MY" dirty="0"/>
              <a:t> yang </a:t>
            </a:r>
            <a:r>
              <a:rPr lang="en-MY" dirty="0" err="1"/>
              <a:t>serupa</a:t>
            </a:r>
            <a:r>
              <a:rPr lang="en-MY" dirty="0"/>
              <a:t>.</a:t>
            </a:r>
          </a:p>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21</a:t>
            </a:fld>
            <a:endParaRPr lang="en-US"/>
          </a:p>
        </p:txBody>
      </p:sp>
    </p:spTree>
    <p:extLst>
      <p:ext uri="{BB962C8B-B14F-4D97-AF65-F5344CB8AC3E}">
        <p14:creationId xmlns:p14="http://schemas.microsoft.com/office/powerpoint/2010/main" val="67942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Kant's moral theory emphasizes acting according to universal moral laws that apply to all rational beings. </a:t>
            </a:r>
          </a:p>
          <a:p>
            <a:endParaRPr lang="en-MY" dirty="0"/>
          </a:p>
          <a:p>
            <a:r>
              <a:rPr lang="en-MY" dirty="0"/>
              <a:t>However, in real-life situations, there can be cases where two duties conflict. For example:</a:t>
            </a:r>
          </a:p>
          <a:p>
            <a:pPr>
              <a:buFont typeface="Arial" panose="020B0604020202020204" pitchFamily="34" charset="0"/>
              <a:buChar char="•"/>
            </a:pPr>
            <a:r>
              <a:rPr lang="en-MY" dirty="0"/>
              <a:t>Suppose you have a duty to tell the truth (honesty) and a duty to protect someone from harm (beneficence). If an innocent person is hiding from a dangerous pursuer and you are asked to disclose their whereabouts, telling the truth could cause harm to that person, while lying would violate the duty of honesty.</a:t>
            </a:r>
          </a:p>
          <a:p>
            <a:r>
              <a:rPr lang="en-MY" dirty="0"/>
              <a:t>In this scenario, both duties (telling the truth and protecting someone from harm) are morally important, but they conflict, making it difficult to determine which duty should take precedence.</a:t>
            </a:r>
          </a:p>
          <a:p>
            <a:endParaRPr lang="en-MY" b="1" dirty="0"/>
          </a:p>
          <a:p>
            <a:r>
              <a:rPr lang="en-MY" b="1" dirty="0"/>
              <a:t>Why the Categorical Imperative Struggles Here</a:t>
            </a:r>
          </a:p>
          <a:p>
            <a:r>
              <a:rPr lang="en-MY" dirty="0"/>
              <a:t>The categorical imperative, in its original formulation, does not offer a clear method for prioritizing one duty over another when they conflict. It requires that moral rules be applied universally and consistently, but when duties clash, both cannot be fulfilled simultaneously. Kant’s theory lacks a systematic approach for deciding which duty overrides the other in cases of moral conflict, leading to criticism that it is not always practical for resolving complex ethical dilemmas./</a:t>
            </a:r>
          </a:p>
          <a:p>
            <a:endParaRPr lang="en-MY" dirty="0"/>
          </a:p>
          <a:p>
            <a:r>
              <a:rPr lang="en-MY" dirty="0" err="1"/>
              <a:t>Imperatif</a:t>
            </a:r>
            <a:r>
              <a:rPr lang="en-MY" dirty="0"/>
              <a:t> </a:t>
            </a:r>
            <a:r>
              <a:rPr lang="en-MY" dirty="0" err="1"/>
              <a:t>kategorikal</a:t>
            </a:r>
            <a:r>
              <a:rPr lang="en-MY" dirty="0"/>
              <a:t> </a:t>
            </a:r>
            <a:r>
              <a:rPr lang="en-MY" dirty="0" err="1"/>
              <a:t>dalam</a:t>
            </a:r>
            <a:r>
              <a:rPr lang="en-MY" dirty="0"/>
              <a:t> </a:t>
            </a:r>
            <a:r>
              <a:rPr lang="en-MY" dirty="0" err="1"/>
              <a:t>formulasi</a:t>
            </a:r>
            <a:r>
              <a:rPr lang="en-MY" dirty="0"/>
              <a:t> </a:t>
            </a:r>
            <a:r>
              <a:rPr lang="en-MY" dirty="0" err="1"/>
              <a:t>asalnya</a:t>
            </a:r>
            <a:r>
              <a:rPr lang="en-MY" dirty="0"/>
              <a:t> </a:t>
            </a:r>
            <a:r>
              <a:rPr lang="en-MY" dirty="0" err="1"/>
              <a:t>tidak</a:t>
            </a:r>
            <a:r>
              <a:rPr lang="en-MY" dirty="0"/>
              <a:t> </a:t>
            </a:r>
            <a:r>
              <a:rPr lang="en-MY" dirty="0" err="1"/>
              <a:t>menawarkan</a:t>
            </a:r>
            <a:r>
              <a:rPr lang="en-MY" dirty="0"/>
              <a:t> </a:t>
            </a:r>
            <a:r>
              <a:rPr lang="en-MY" dirty="0" err="1"/>
              <a:t>kaedah</a:t>
            </a:r>
            <a:r>
              <a:rPr lang="en-MY" dirty="0"/>
              <a:t> yang </a:t>
            </a:r>
            <a:r>
              <a:rPr lang="en-MY" dirty="0" err="1"/>
              <a:t>jelas</a:t>
            </a:r>
            <a:r>
              <a:rPr lang="en-MY" dirty="0"/>
              <a:t> </a:t>
            </a:r>
            <a:r>
              <a:rPr lang="en-MY" dirty="0" err="1"/>
              <a:t>untuk</a:t>
            </a:r>
            <a:r>
              <a:rPr lang="en-MY" dirty="0"/>
              <a:t> </a:t>
            </a:r>
            <a:r>
              <a:rPr lang="en-MY" dirty="0" err="1"/>
              <a:t>mengutamakan</a:t>
            </a:r>
            <a:r>
              <a:rPr lang="en-MY" dirty="0"/>
              <a:t> </a:t>
            </a:r>
            <a:r>
              <a:rPr lang="en-MY" dirty="0" err="1"/>
              <a:t>satu</a:t>
            </a:r>
            <a:r>
              <a:rPr lang="en-MY" dirty="0"/>
              <a:t> </a:t>
            </a:r>
            <a:r>
              <a:rPr lang="en-MY" dirty="0" err="1"/>
              <a:t>kewajipan</a:t>
            </a:r>
            <a:r>
              <a:rPr lang="en-MY" dirty="0"/>
              <a:t> </a:t>
            </a:r>
            <a:r>
              <a:rPr lang="en-MY" dirty="0" err="1"/>
              <a:t>berbanding</a:t>
            </a:r>
            <a:r>
              <a:rPr lang="en-MY" dirty="0"/>
              <a:t> yang lain </a:t>
            </a:r>
            <a:r>
              <a:rPr lang="en-MY" dirty="0" err="1"/>
              <a:t>apabila</a:t>
            </a:r>
            <a:r>
              <a:rPr lang="en-MY" dirty="0"/>
              <a:t> </a:t>
            </a:r>
            <a:r>
              <a:rPr lang="en-MY" dirty="0" err="1"/>
              <a:t>berlaku</a:t>
            </a:r>
            <a:r>
              <a:rPr lang="en-MY" dirty="0"/>
              <a:t> </a:t>
            </a:r>
            <a:r>
              <a:rPr lang="en-MY" dirty="0" err="1"/>
              <a:t>konflik</a:t>
            </a:r>
            <a:r>
              <a:rPr lang="en-MY" dirty="0"/>
              <a:t>. </a:t>
            </a:r>
            <a:r>
              <a:rPr lang="en-MY" dirty="0" err="1"/>
              <a:t>Ia</a:t>
            </a:r>
            <a:r>
              <a:rPr lang="en-MY" dirty="0"/>
              <a:t> </a:t>
            </a:r>
            <a:r>
              <a:rPr lang="en-MY" dirty="0" err="1"/>
              <a:t>memerlukan</a:t>
            </a:r>
            <a:r>
              <a:rPr lang="en-MY" dirty="0"/>
              <a:t> </a:t>
            </a:r>
            <a:r>
              <a:rPr lang="en-MY" dirty="0" err="1"/>
              <a:t>peraturan</a:t>
            </a:r>
            <a:r>
              <a:rPr lang="en-MY" dirty="0"/>
              <a:t> moral </a:t>
            </a:r>
            <a:r>
              <a:rPr lang="en-MY" dirty="0" err="1"/>
              <a:t>diterapkan</a:t>
            </a:r>
            <a:r>
              <a:rPr lang="en-MY" dirty="0"/>
              <a:t> </a:t>
            </a:r>
            <a:r>
              <a:rPr lang="en-MY" dirty="0" err="1"/>
              <a:t>secara</a:t>
            </a:r>
            <a:r>
              <a:rPr lang="en-MY" dirty="0"/>
              <a:t> universal dan </a:t>
            </a:r>
            <a:r>
              <a:rPr lang="en-MY" dirty="0" err="1"/>
              <a:t>konsisten</a:t>
            </a:r>
            <a:r>
              <a:rPr lang="en-MY" dirty="0"/>
              <a:t>, </a:t>
            </a:r>
            <a:r>
              <a:rPr lang="en-MY" dirty="0" err="1"/>
              <a:t>tetapi</a:t>
            </a:r>
            <a:r>
              <a:rPr lang="en-MY" dirty="0"/>
              <a:t> </a:t>
            </a:r>
            <a:r>
              <a:rPr lang="en-MY" dirty="0" err="1"/>
              <a:t>apabila</a:t>
            </a:r>
            <a:r>
              <a:rPr lang="en-MY" dirty="0"/>
              <a:t> </a:t>
            </a:r>
            <a:r>
              <a:rPr lang="en-MY" dirty="0" err="1"/>
              <a:t>kewajipan</a:t>
            </a:r>
            <a:r>
              <a:rPr lang="en-MY" dirty="0"/>
              <a:t> </a:t>
            </a:r>
            <a:r>
              <a:rPr lang="en-MY" dirty="0" err="1"/>
              <a:t>bertembung</a:t>
            </a:r>
            <a:r>
              <a:rPr lang="en-MY" dirty="0"/>
              <a:t>, </a:t>
            </a:r>
            <a:r>
              <a:rPr lang="en-MY" dirty="0" err="1"/>
              <a:t>kedua-duanya</a:t>
            </a:r>
            <a:r>
              <a:rPr lang="en-MY" dirty="0"/>
              <a:t> </a:t>
            </a:r>
            <a:r>
              <a:rPr lang="en-MY" dirty="0" err="1"/>
              <a:t>tidak</a:t>
            </a:r>
            <a:r>
              <a:rPr lang="en-MY" dirty="0"/>
              <a:t> </a:t>
            </a:r>
            <a:r>
              <a:rPr lang="en-MY" dirty="0" err="1"/>
              <a:t>dapat</a:t>
            </a:r>
            <a:r>
              <a:rPr lang="en-MY" dirty="0"/>
              <a:t> </a:t>
            </a:r>
            <a:r>
              <a:rPr lang="en-MY" dirty="0" err="1"/>
              <a:t>dipenuhi</a:t>
            </a:r>
            <a:r>
              <a:rPr lang="en-MY" dirty="0"/>
              <a:t> </a:t>
            </a:r>
            <a:r>
              <a:rPr lang="en-MY" dirty="0" err="1"/>
              <a:t>serentak</a:t>
            </a:r>
            <a:r>
              <a:rPr lang="en-MY" dirty="0"/>
              <a:t>. </a:t>
            </a:r>
            <a:r>
              <a:rPr lang="en-MY" dirty="0" err="1"/>
              <a:t>Teori</a:t>
            </a:r>
            <a:r>
              <a:rPr lang="en-MY" dirty="0"/>
              <a:t> Kant </a:t>
            </a:r>
            <a:r>
              <a:rPr lang="en-MY" dirty="0" err="1"/>
              <a:t>tidak</a:t>
            </a:r>
            <a:r>
              <a:rPr lang="en-MY" dirty="0"/>
              <a:t> </a:t>
            </a:r>
            <a:r>
              <a:rPr lang="en-MY" dirty="0" err="1"/>
              <a:t>mempunyai</a:t>
            </a:r>
            <a:r>
              <a:rPr lang="en-MY" dirty="0"/>
              <a:t> </a:t>
            </a:r>
            <a:r>
              <a:rPr lang="en-MY" dirty="0" err="1"/>
              <a:t>pendekatan</a:t>
            </a:r>
            <a:r>
              <a:rPr lang="en-MY" dirty="0"/>
              <a:t> yang </a:t>
            </a:r>
            <a:r>
              <a:rPr lang="en-MY" dirty="0" err="1"/>
              <a:t>sistematik</a:t>
            </a:r>
            <a:r>
              <a:rPr lang="en-MY" dirty="0"/>
              <a:t> </a:t>
            </a:r>
            <a:r>
              <a:rPr lang="en-MY" dirty="0" err="1"/>
              <a:t>untuk</a:t>
            </a:r>
            <a:r>
              <a:rPr lang="en-MY" dirty="0"/>
              <a:t> </a:t>
            </a:r>
            <a:r>
              <a:rPr lang="en-MY" dirty="0" err="1"/>
              <a:t>menentukan</a:t>
            </a:r>
            <a:r>
              <a:rPr lang="en-MY" dirty="0"/>
              <a:t> </a:t>
            </a:r>
            <a:r>
              <a:rPr lang="en-MY" dirty="0" err="1"/>
              <a:t>kewajipan</a:t>
            </a:r>
            <a:r>
              <a:rPr lang="en-MY" dirty="0"/>
              <a:t> mana yang </a:t>
            </a:r>
            <a:r>
              <a:rPr lang="en-MY" dirty="0" err="1"/>
              <a:t>perlu</a:t>
            </a:r>
            <a:r>
              <a:rPr lang="en-MY" dirty="0"/>
              <a:t> </a:t>
            </a:r>
            <a:r>
              <a:rPr lang="en-MY" dirty="0" err="1"/>
              <a:t>diutamakan</a:t>
            </a:r>
            <a:r>
              <a:rPr lang="en-MY" dirty="0"/>
              <a:t> </a:t>
            </a:r>
            <a:r>
              <a:rPr lang="en-MY" dirty="0" err="1"/>
              <a:t>dalam</a:t>
            </a:r>
            <a:r>
              <a:rPr lang="en-MY" dirty="0"/>
              <a:t> </a:t>
            </a:r>
            <a:r>
              <a:rPr lang="en-MY" dirty="0" err="1"/>
              <a:t>situasi</a:t>
            </a:r>
            <a:r>
              <a:rPr lang="en-MY" dirty="0"/>
              <a:t> </a:t>
            </a:r>
            <a:r>
              <a:rPr lang="en-MY" dirty="0" err="1"/>
              <a:t>konflik</a:t>
            </a:r>
            <a:r>
              <a:rPr lang="en-MY" dirty="0"/>
              <a:t> moral, </a:t>
            </a:r>
            <a:r>
              <a:rPr lang="en-MY" dirty="0" err="1"/>
              <a:t>menyebabkan</a:t>
            </a:r>
            <a:r>
              <a:rPr lang="en-MY" dirty="0"/>
              <a:t> </a:t>
            </a:r>
            <a:r>
              <a:rPr lang="en-MY" dirty="0" err="1"/>
              <a:t>kritikan</a:t>
            </a:r>
            <a:r>
              <a:rPr lang="en-MY" dirty="0"/>
              <a:t> </a:t>
            </a:r>
            <a:r>
              <a:rPr lang="en-MY" dirty="0" err="1"/>
              <a:t>bahawa</a:t>
            </a:r>
            <a:r>
              <a:rPr lang="en-MY" dirty="0"/>
              <a:t> </a:t>
            </a:r>
            <a:r>
              <a:rPr lang="en-MY" dirty="0" err="1"/>
              <a:t>ia</a:t>
            </a:r>
            <a:r>
              <a:rPr lang="en-MY" dirty="0"/>
              <a:t> </a:t>
            </a:r>
            <a:r>
              <a:rPr lang="en-MY" dirty="0" err="1"/>
              <a:t>tidak</a:t>
            </a:r>
            <a:r>
              <a:rPr lang="en-MY" dirty="0"/>
              <a:t> </a:t>
            </a:r>
            <a:r>
              <a:rPr lang="en-MY" dirty="0" err="1"/>
              <a:t>selalu</a:t>
            </a:r>
            <a:r>
              <a:rPr lang="en-MY" dirty="0"/>
              <a:t> </a:t>
            </a:r>
            <a:r>
              <a:rPr lang="en-MY" dirty="0" err="1"/>
              <a:t>praktikal</a:t>
            </a:r>
            <a:r>
              <a:rPr lang="en-MY" dirty="0"/>
              <a:t> </a:t>
            </a:r>
            <a:r>
              <a:rPr lang="en-MY" dirty="0" err="1"/>
              <a:t>untuk</a:t>
            </a:r>
            <a:r>
              <a:rPr lang="en-MY" dirty="0"/>
              <a:t> </a:t>
            </a:r>
            <a:r>
              <a:rPr lang="en-MY" dirty="0" err="1"/>
              <a:t>menyelesaikan</a:t>
            </a:r>
            <a:r>
              <a:rPr lang="en-MY" dirty="0"/>
              <a:t> </a:t>
            </a:r>
            <a:r>
              <a:rPr lang="en-MY" dirty="0" err="1"/>
              <a:t>dilema</a:t>
            </a:r>
            <a:r>
              <a:rPr lang="en-MY" dirty="0"/>
              <a:t> </a:t>
            </a:r>
            <a:r>
              <a:rPr lang="en-MY" dirty="0" err="1"/>
              <a:t>etika</a:t>
            </a:r>
            <a:r>
              <a:rPr lang="en-MY" dirty="0"/>
              <a:t> yang </a:t>
            </a:r>
            <a:r>
              <a:rPr lang="en-MY" dirty="0" err="1"/>
              <a:t>kompleks</a:t>
            </a:r>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23</a:t>
            </a:fld>
            <a:endParaRPr lang="en-US"/>
          </a:p>
        </p:txBody>
      </p:sp>
    </p:spTree>
    <p:extLst>
      <p:ext uri="{BB962C8B-B14F-4D97-AF65-F5344CB8AC3E}">
        <p14:creationId xmlns:p14="http://schemas.microsoft.com/office/powerpoint/2010/main" val="1646542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dirty="0"/>
              <a:t>1. Act Deontology</a:t>
            </a:r>
          </a:p>
          <a:p>
            <a:pPr>
              <a:buFont typeface="Arial" panose="020B0604020202020204" pitchFamily="34" charset="0"/>
              <a:buChar char="•"/>
            </a:pPr>
            <a:r>
              <a:rPr lang="en-MY" b="1" dirty="0"/>
              <a:t>Definition:</a:t>
            </a:r>
            <a:r>
              <a:rPr lang="en-MY" dirty="0"/>
              <a:t> Act deontology emphasizes evaluating each moral situation individually to determine the morally right action based on one's duties. It does not rely on a set of fixed rules to guide </a:t>
            </a:r>
            <a:r>
              <a:rPr lang="en-MY" dirty="0" err="1"/>
              <a:t>behavior</a:t>
            </a:r>
            <a:r>
              <a:rPr lang="en-MY" dirty="0"/>
              <a:t> in every circumstance.</a:t>
            </a:r>
          </a:p>
          <a:p>
            <a:pPr>
              <a:buFont typeface="Arial" panose="020B0604020202020204" pitchFamily="34" charset="0"/>
              <a:buChar char="•"/>
            </a:pPr>
            <a:r>
              <a:rPr lang="en-MY" b="1" dirty="0"/>
              <a:t>Approach:</a:t>
            </a:r>
            <a:r>
              <a:rPr lang="en-MY" dirty="0"/>
              <a:t> In act deontology, the decision-maker considers each situation on a case-by-case basis and applies moral principles or duties directly to that specific context. The right action is determined by assessing the particular moral obligations relevant to the unique situation.</a:t>
            </a:r>
          </a:p>
          <a:p>
            <a:pPr>
              <a:buFont typeface="Arial" panose="020B0604020202020204" pitchFamily="34" charset="0"/>
              <a:buChar char="•"/>
            </a:pPr>
            <a:r>
              <a:rPr lang="en-MY" b="1" dirty="0"/>
              <a:t>Example:</a:t>
            </a:r>
            <a:r>
              <a:rPr lang="en-MY" dirty="0"/>
              <a:t> If you find a wallet on the street, act deontology would have you consider the specific details of the situation (e.g., the likelihood of returning it to the owner) and decide whether returning it or keeping it would </a:t>
            </a:r>
            <a:r>
              <a:rPr lang="en-MY" dirty="0" err="1"/>
              <a:t>fulfill</a:t>
            </a:r>
            <a:r>
              <a:rPr lang="en-MY" dirty="0"/>
              <a:t> your duty.</a:t>
            </a:r>
          </a:p>
          <a:p>
            <a:pPr>
              <a:buFont typeface="Arial" panose="020B0604020202020204" pitchFamily="34" charset="0"/>
              <a:buChar char="•"/>
            </a:pPr>
            <a:endParaRPr lang="en-MY" dirty="0"/>
          </a:p>
          <a:p>
            <a:pPr>
              <a:buFont typeface="Arial" panose="020B0604020202020204" pitchFamily="34" charset="0"/>
              <a:buNone/>
            </a:pPr>
            <a:endParaRPr lang="en-MY" dirty="0"/>
          </a:p>
          <a:p>
            <a:r>
              <a:rPr lang="en-MY" b="1" dirty="0"/>
              <a:t>2. Rule Deontology</a:t>
            </a:r>
          </a:p>
          <a:p>
            <a:pPr>
              <a:buFont typeface="Arial" panose="020B0604020202020204" pitchFamily="34" charset="0"/>
              <a:buChar char="•"/>
            </a:pPr>
            <a:r>
              <a:rPr lang="en-MY" b="1" dirty="0"/>
              <a:t>Definition:</a:t>
            </a:r>
            <a:r>
              <a:rPr lang="en-MY" dirty="0"/>
              <a:t> Rule deontology, on the other hand, asserts that moral rules or principles should be followed consistently, regardless of the specific situation. These rules are considered to be universally applicable and derived from duties or moral laws.</a:t>
            </a:r>
          </a:p>
          <a:p>
            <a:pPr>
              <a:buFont typeface="Arial" panose="020B0604020202020204" pitchFamily="34" charset="0"/>
              <a:buChar char="•"/>
            </a:pPr>
            <a:r>
              <a:rPr lang="en-MY" b="1" dirty="0"/>
              <a:t>Approach:</a:t>
            </a:r>
            <a:r>
              <a:rPr lang="en-MY" dirty="0"/>
              <a:t> In rule deontology, actions are judged according to whether they conform to established rules that outline what is morally right. The rules are applied universally, with less regard for situational specifics.</a:t>
            </a:r>
          </a:p>
          <a:p>
            <a:pPr>
              <a:buFont typeface="Arial" panose="020B0604020202020204" pitchFamily="34" charset="0"/>
              <a:buChar char="•"/>
            </a:pPr>
            <a:r>
              <a:rPr lang="en-MY" b="1" dirty="0"/>
              <a:t>Example:</a:t>
            </a:r>
            <a:r>
              <a:rPr lang="en-MY" dirty="0"/>
              <a:t> In the same situation of finding a wallet, rule deontology would guide you to follow a moral rule like "always return lost property to its owner," as this rule is considered a universal duty that should be adhered to in every similar situation.</a:t>
            </a:r>
          </a:p>
          <a:p>
            <a:pPr>
              <a:buFont typeface="Arial" panose="020B0604020202020204" pitchFamily="34" charset="0"/>
              <a:buChar char="•"/>
            </a:pPr>
            <a:endParaRPr lang="en-MY"/>
          </a:p>
          <a:p>
            <a:pPr>
              <a:buFont typeface="Arial" panose="020B0604020202020204" pitchFamily="34" charset="0"/>
              <a:buNone/>
            </a:pPr>
            <a:endParaRPr lang="en-MY" dirty="0"/>
          </a:p>
          <a:p>
            <a:r>
              <a:rPr lang="en-MY" b="1" dirty="0"/>
              <a:t>Key Differences</a:t>
            </a:r>
          </a:p>
          <a:p>
            <a:pPr>
              <a:buFont typeface="Arial" panose="020B0604020202020204" pitchFamily="34" charset="0"/>
              <a:buChar char="•"/>
            </a:pPr>
            <a:r>
              <a:rPr lang="en-MY" b="1" dirty="0"/>
              <a:t>Act deontology</a:t>
            </a:r>
            <a:r>
              <a:rPr lang="en-MY" dirty="0"/>
              <a:t> focuses on the moral assessment of individual actions in particular contexts.</a:t>
            </a:r>
          </a:p>
          <a:p>
            <a:pPr>
              <a:buFont typeface="Arial" panose="020B0604020202020204" pitchFamily="34" charset="0"/>
              <a:buChar char="•"/>
            </a:pPr>
            <a:r>
              <a:rPr lang="en-MY" b="1" dirty="0"/>
              <a:t>Rule deontology</a:t>
            </a:r>
            <a:r>
              <a:rPr lang="en-MY" dirty="0"/>
              <a:t> relies on general moral rules that apply to all situations uniformly.</a:t>
            </a:r>
          </a:p>
          <a:p>
            <a:r>
              <a:rPr lang="en-MY" dirty="0"/>
              <a:t>Both approaches aim to respect moral duties, but they differ in how rigidly they apply those duties across different circumstances.</a:t>
            </a:r>
          </a:p>
          <a:p>
            <a:endParaRPr lang="en-US" dirty="0"/>
          </a:p>
        </p:txBody>
      </p:sp>
      <p:sp>
        <p:nvSpPr>
          <p:cNvPr id="4" name="Slide Number Placeholder 3"/>
          <p:cNvSpPr>
            <a:spLocks noGrp="1"/>
          </p:cNvSpPr>
          <p:nvPr>
            <p:ph type="sldNum" sz="quarter" idx="5"/>
          </p:nvPr>
        </p:nvSpPr>
        <p:spPr/>
        <p:txBody>
          <a:bodyPr/>
          <a:lstStyle/>
          <a:p>
            <a:pPr>
              <a:defRPr/>
            </a:pPr>
            <a:fld id="{BD25FDDA-D587-4D20-9A56-5823FC35D44E}" type="slidenum">
              <a:rPr lang="en-US" smtClean="0"/>
              <a:pPr>
                <a:defRPr/>
              </a:pPr>
              <a:t>28</a:t>
            </a:fld>
            <a:endParaRPr lang="en-US"/>
          </a:p>
        </p:txBody>
      </p:sp>
    </p:spTree>
    <p:extLst>
      <p:ext uri="{BB962C8B-B14F-4D97-AF65-F5344CB8AC3E}">
        <p14:creationId xmlns:p14="http://schemas.microsoft.com/office/powerpoint/2010/main" val="2061883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pPr>
              <a:defRPr/>
            </a:pPr>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pPr>
              <a:defRPr/>
            </a:pPr>
            <a:fld id="{CCDC7F88-AC99-4B8B-9118-66FE7D39D712}" type="slidenum">
              <a:rPr lang="en-US" smtClean="0"/>
              <a:pPr>
                <a:defRPr/>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pPr>
              <a:defRPr/>
            </a:pPr>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30A5CAE-472F-4E1E-985A-CDB3BB29500E}" type="slidenum">
              <a:rPr lang="en-US" smtClean="0"/>
              <a:pPr>
                <a:defRPr/>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pPr>
              <a:defRPr/>
            </a:pPr>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pPr>
              <a:defRPr/>
            </a:pPr>
            <a:fld id="{DF0A8EB6-3BA7-49D6-8971-001D9F1E5E03}" type="slidenum">
              <a:rPr lang="en-US" smtClean="0"/>
              <a:pPr>
                <a:defRPr/>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pPr>
              <a:defRPr/>
            </a:pPr>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E0DE364-DB58-4B09-A181-D003CA4F959D}" type="slidenum">
              <a:rPr lang="en-US" smtClean="0"/>
              <a:pPr>
                <a:defRPr/>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B2FFCB2-D5FA-428E-9CC8-CA1DE3C0F6C9}" type="slidenum">
              <a:rPr lang="en-US" smtClean="0"/>
              <a:pPr>
                <a:defRPr/>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D910D298-B0DD-494D-9E4B-A1014DAFA85A}" type="slidenum">
              <a:rPr lang="en-US" smtClean="0"/>
              <a:pPr>
                <a:defRPr/>
              </a:pPr>
              <a:t>‹#›</a:t>
            </a:fld>
            <a:endParaRPr lang="en-US"/>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F3D73025-7B55-4A1D-A40F-984712683ED2}"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pPr>
              <a:defRPr/>
            </a:pPr>
            <a:fld id="{4794244A-D92C-493F-ADCD-DE22DCE8B636}" type="slidenum">
              <a:rPr lang="en-US" smtClean="0"/>
              <a:pPr>
                <a:defRPr/>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8F49AF5-AEEB-4B0F-8085-AE1C27539D8D}" type="slidenum">
              <a:rPr lang="en-US" smtClean="0"/>
              <a:pPr>
                <a:defRPr/>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B5E34B9-E2BE-41EC-9E13-E33D1A5C161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pPr>
              <a:defRPr/>
            </a:pPr>
            <a:fld id="{F0356388-B07E-441D-B424-FBFDDB6C065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pPr>
              <a:defRPr/>
            </a:pPr>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pPr>
              <a:defRPr/>
            </a:pPr>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pPr>
              <a:defRPr/>
            </a:pPr>
            <a:fld id="{B5194122-D48D-488A-9A26-17B9102A4C8C}"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3"/>
          <p:cNvSpPr>
            <a:spLocks noGrp="1"/>
          </p:cNvSpPr>
          <p:nvPr>
            <p:ph type="ctrTitle"/>
          </p:nvPr>
        </p:nvSpPr>
        <p:spPr>
          <a:xfrm>
            <a:off x="2590800" y="2895600"/>
            <a:ext cx="6324600" cy="1828800"/>
          </a:xfrm>
        </p:spPr>
        <p:txBody>
          <a:bodyPr/>
          <a:lstStyle/>
          <a:p>
            <a:r>
              <a:rPr lang="en-US" dirty="0"/>
              <a:t>CHAPTER 2:</a:t>
            </a:r>
            <a:br>
              <a:rPr lang="en-US" dirty="0"/>
            </a:br>
            <a:r>
              <a:rPr lang="en-US" dirty="0"/>
              <a:t>PHILOSOPHICAL  </a:t>
            </a:r>
            <a:r>
              <a:rPr lang="en-US" dirty="0">
                <a:solidFill>
                  <a:schemeClr val="tx1"/>
                </a:solidFill>
              </a:rPr>
              <a:t>ETHICS</a:t>
            </a:r>
            <a:endParaRPr lang="en-MY" dirty="0">
              <a:solidFill>
                <a:schemeClr val="tx1"/>
              </a:solidFill>
            </a:endParaRPr>
          </a:p>
        </p:txBody>
      </p:sp>
      <p:sp>
        <p:nvSpPr>
          <p:cNvPr id="4" name="Subtitle 1"/>
          <p:cNvSpPr>
            <a:spLocks noGrp="1"/>
          </p:cNvSpPr>
          <p:nvPr>
            <p:ph type="subTitle" idx="1"/>
          </p:nvPr>
        </p:nvSpPr>
        <p:spPr>
          <a:xfrm>
            <a:off x="6477000" y="5562600"/>
            <a:ext cx="2514600" cy="1143000"/>
          </a:xfrm>
        </p:spPr>
        <p:txBody>
          <a:bodyPr>
            <a:normAutofit/>
          </a:bodyPr>
          <a:lstStyle/>
          <a:p>
            <a:pPr algn="r"/>
            <a:r>
              <a:rPr lang="en-MY" sz="1400" b="1" dirty="0">
                <a:solidFill>
                  <a:schemeClr val="accent2">
                    <a:lumMod val="75000"/>
                  </a:schemeClr>
                </a:solidFill>
              </a:rPr>
              <a:t>TS. DR. ROZI NOR HAIZAN </a:t>
            </a:r>
          </a:p>
          <a:p>
            <a:pPr algn="r"/>
            <a:r>
              <a:rPr lang="en-MY" sz="1400" b="1" dirty="0">
                <a:solidFill>
                  <a:schemeClr val="accent2">
                    <a:lumMod val="75000"/>
                  </a:schemeClr>
                </a:solidFill>
              </a:rPr>
              <a:t>BINTI NOR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MY" sz="3600" dirty="0"/>
              <a:t>Know some approaches in </a:t>
            </a:r>
            <a:r>
              <a:rPr lang="en-MY" sz="3600" dirty="0">
                <a:solidFill>
                  <a:srgbClr val="C00000"/>
                </a:solidFill>
              </a:rPr>
              <a:t>philosophical ethics</a:t>
            </a:r>
          </a:p>
          <a:p>
            <a:r>
              <a:rPr lang="en-MY" sz="3600" dirty="0">
                <a:solidFill>
                  <a:srgbClr val="C00000"/>
                </a:solidFill>
              </a:rPr>
              <a:t>Evaluate</a:t>
            </a:r>
            <a:r>
              <a:rPr lang="en-MY" sz="3600" dirty="0"/>
              <a:t> actions based on them</a:t>
            </a:r>
          </a:p>
          <a:p>
            <a:endParaRPr lang="en-MY" sz="3200" dirty="0"/>
          </a:p>
        </p:txBody>
      </p:sp>
      <p:sp>
        <p:nvSpPr>
          <p:cNvPr id="3" name="Title 2"/>
          <p:cNvSpPr>
            <a:spLocks noGrp="1"/>
          </p:cNvSpPr>
          <p:nvPr>
            <p:ph type="title"/>
          </p:nvPr>
        </p:nvSpPr>
        <p:spPr/>
        <p:txBody>
          <a:bodyPr/>
          <a:lstStyle/>
          <a:p>
            <a:r>
              <a:rPr lang="en-MY" dirty="0"/>
              <a:t>LEARNING OUTCOMES</a:t>
            </a:r>
          </a:p>
        </p:txBody>
      </p:sp>
      <p:sp>
        <p:nvSpPr>
          <p:cNvPr id="4" name="AutoShape 2" descr="Image result for Ethics in I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733800"/>
            <a:ext cx="6096000"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sz="4000">
                <a:cs typeface="Times New Roman" pitchFamily="18" charset="0"/>
              </a:rPr>
              <a:t>The Structure of Ethical Theories</a:t>
            </a:r>
            <a:r>
              <a:rPr lang="en-US" sz="4000"/>
              <a:t> </a:t>
            </a:r>
          </a:p>
        </p:txBody>
      </p:sp>
      <p:sp>
        <p:nvSpPr>
          <p:cNvPr id="48131" name="Rectangle 3"/>
          <p:cNvSpPr>
            <a:spLocks noGrp="1" noChangeArrowheads="1"/>
          </p:cNvSpPr>
          <p:nvPr>
            <p:ph type="body" idx="1"/>
          </p:nvPr>
        </p:nvSpPr>
        <p:spPr/>
        <p:txBody>
          <a:bodyPr/>
          <a:lstStyle/>
          <a:p>
            <a:pPr eaLnBrk="1" hangingPunct="1">
              <a:lnSpc>
                <a:spcPct val="90000"/>
              </a:lnSpc>
            </a:pPr>
            <a:r>
              <a:rPr lang="en-US" sz="2800" dirty="0">
                <a:cs typeface="Times New Roman" pitchFamily="18" charset="0"/>
              </a:rPr>
              <a:t>An essential feature of theory in general is that it guides us in our </a:t>
            </a:r>
            <a:r>
              <a:rPr lang="en-US" sz="2800" dirty="0">
                <a:solidFill>
                  <a:srgbClr val="C00000"/>
                </a:solidFill>
                <a:cs typeface="Times New Roman" pitchFamily="18" charset="0"/>
              </a:rPr>
              <a:t>investigations</a:t>
            </a:r>
            <a:r>
              <a:rPr lang="en-US" sz="2800" dirty="0">
                <a:cs typeface="Times New Roman" pitchFamily="18" charset="0"/>
              </a:rPr>
              <a:t>. </a:t>
            </a:r>
          </a:p>
          <a:p>
            <a:pPr lvl="1">
              <a:lnSpc>
                <a:spcPct val="90000"/>
              </a:lnSpc>
              <a:buClr>
                <a:srgbClr val="FFC000"/>
              </a:buClr>
            </a:pPr>
            <a:r>
              <a:rPr lang="en-US" sz="2400" b="1" i="1" dirty="0">
                <a:cs typeface="Times New Roman" pitchFamily="18" charset="0"/>
              </a:rPr>
              <a:t>In science, theory provides us with some general </a:t>
            </a:r>
            <a:r>
              <a:rPr lang="en-US" sz="2400" b="1" i="1" dirty="0">
                <a:solidFill>
                  <a:srgbClr val="C00000"/>
                </a:solidFill>
                <a:cs typeface="Times New Roman" pitchFamily="18" charset="0"/>
              </a:rPr>
              <a:t>principles</a:t>
            </a:r>
            <a:r>
              <a:rPr lang="en-US" sz="2400" b="1" i="1" dirty="0">
                <a:solidFill>
                  <a:schemeClr val="accent2">
                    <a:lumMod val="75000"/>
                  </a:schemeClr>
                </a:solidFill>
                <a:cs typeface="Times New Roman" pitchFamily="18" charset="0"/>
              </a:rPr>
              <a:t> </a:t>
            </a:r>
            <a:r>
              <a:rPr lang="en-US" sz="2400" b="1" i="1" dirty="0">
                <a:cs typeface="Times New Roman" pitchFamily="18" charset="0"/>
              </a:rPr>
              <a:t>and </a:t>
            </a:r>
            <a:r>
              <a:rPr lang="en-US" sz="2400" b="1" i="1" dirty="0">
                <a:solidFill>
                  <a:srgbClr val="C00000"/>
                </a:solidFill>
                <a:cs typeface="Times New Roman" pitchFamily="18" charset="0"/>
              </a:rPr>
              <a:t>structures</a:t>
            </a:r>
            <a:r>
              <a:rPr lang="en-US" sz="2400" b="1" i="1" dirty="0">
                <a:cs typeface="Times New Roman" pitchFamily="18" charset="0"/>
              </a:rPr>
              <a:t> to analyze our data. </a:t>
            </a:r>
          </a:p>
          <a:p>
            <a:pPr eaLnBrk="1" hangingPunct="1">
              <a:lnSpc>
                <a:spcPct val="90000"/>
              </a:lnSpc>
            </a:pPr>
            <a:r>
              <a:rPr lang="en-US" sz="2800" dirty="0">
                <a:cs typeface="Times New Roman" pitchFamily="18" charset="0"/>
              </a:rPr>
              <a:t>The purpose of ethical theory, like scientific theory, is to provide a </a:t>
            </a:r>
            <a:r>
              <a:rPr lang="en-US" sz="2800" dirty="0">
                <a:solidFill>
                  <a:srgbClr val="C00000"/>
                </a:solidFill>
                <a:cs typeface="Times New Roman" pitchFamily="18" charset="0"/>
              </a:rPr>
              <a:t>framework</a:t>
            </a:r>
            <a:r>
              <a:rPr lang="en-US" sz="2800" dirty="0">
                <a:solidFill>
                  <a:schemeClr val="accent2">
                    <a:lumMod val="75000"/>
                  </a:schemeClr>
                </a:solidFill>
                <a:cs typeface="Times New Roman" pitchFamily="18" charset="0"/>
              </a:rPr>
              <a:t> </a:t>
            </a:r>
            <a:r>
              <a:rPr lang="en-US" sz="2800" dirty="0">
                <a:cs typeface="Times New Roman" pitchFamily="18" charset="0"/>
              </a:rPr>
              <a:t>for analyzing issues.</a:t>
            </a:r>
          </a:p>
          <a:p>
            <a:pPr eaLnBrk="1" hangingPunct="1">
              <a:lnSpc>
                <a:spcPct val="90000"/>
              </a:lnSpc>
            </a:pPr>
            <a:r>
              <a:rPr lang="en-US" sz="2800" dirty="0">
                <a:cs typeface="Times New Roman" pitchFamily="18" charset="0"/>
              </a:rPr>
              <a:t>Ideally, a good theory should be </a:t>
            </a:r>
            <a:r>
              <a:rPr lang="en-US" sz="2800" b="1" i="1" dirty="0">
                <a:solidFill>
                  <a:srgbClr val="C00000"/>
                </a:solidFill>
                <a:cs typeface="Times New Roman" pitchFamily="18" charset="0"/>
              </a:rPr>
              <a:t>coherent, consistent, comprehensive, and systematic</a:t>
            </a:r>
            <a:r>
              <a:rPr lang="en-US" sz="2800" i="1" dirty="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8131">
                                            <p:txEl>
                                              <p:pRg st="1" end="1"/>
                                            </p:txEl>
                                          </p:spTgt>
                                        </p:tgtEl>
                                        <p:attrNameLst>
                                          <p:attrName>style.visibility</p:attrName>
                                        </p:attrNameLst>
                                      </p:cBhvr>
                                      <p:to>
                                        <p:strVal val="visible"/>
                                      </p:to>
                                    </p:set>
                                    <p:anim calcmode="lin" valueType="num">
                                      <p:cBhvr additive="base">
                                        <p:cTn id="11" dur="500" fill="hold"/>
                                        <p:tgtEl>
                                          <p:spTgt spid="4813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81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 calcmode="lin" valueType="num">
                                      <p:cBhvr additive="base">
                                        <p:cTn id="17" dur="500" fill="hold"/>
                                        <p:tgtEl>
                                          <p:spTgt spid="4813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81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48131">
                                            <p:txEl>
                                              <p:pRg st="3" end="3"/>
                                            </p:txEl>
                                          </p:spTgt>
                                        </p:tgtEl>
                                        <p:attrNameLst>
                                          <p:attrName>style.visibility</p:attrName>
                                        </p:attrNameLst>
                                      </p:cBhvr>
                                      <p:to>
                                        <p:strVal val="visible"/>
                                      </p:to>
                                    </p:set>
                                    <p:anim calcmode="lin" valueType="num">
                                      <p:cBhvr additive="base">
                                        <p:cTn id="23" dur="500" fill="hold"/>
                                        <p:tgtEl>
                                          <p:spTgt spid="48131">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81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pPr eaLnBrk="1" hangingPunct="1"/>
            <a:r>
              <a:rPr lang="en-US" sz="4000"/>
              <a:t>The Structure of Ethical Theories (Continued)</a:t>
            </a:r>
          </a:p>
        </p:txBody>
      </p:sp>
      <p:sp>
        <p:nvSpPr>
          <p:cNvPr id="49155" name="Rectangle 3"/>
          <p:cNvSpPr>
            <a:spLocks noGrp="1" noChangeArrowheads="1"/>
          </p:cNvSpPr>
          <p:nvPr>
            <p:ph type="body" idx="1"/>
          </p:nvPr>
        </p:nvSpPr>
        <p:spPr/>
        <p:txBody>
          <a:bodyPr/>
          <a:lstStyle/>
          <a:p>
            <a:pPr eaLnBrk="1" hangingPunct="1">
              <a:lnSpc>
                <a:spcPct val="90000"/>
              </a:lnSpc>
            </a:pPr>
            <a:r>
              <a:rPr lang="en-US" sz="2800" dirty="0">
                <a:cs typeface="Times New Roman" pitchFamily="18" charset="0"/>
              </a:rPr>
              <a:t>To be </a:t>
            </a:r>
            <a:r>
              <a:rPr lang="en-US" sz="2800" i="1" dirty="0">
                <a:solidFill>
                  <a:srgbClr val="C00000"/>
                </a:solidFill>
                <a:cs typeface="Times New Roman" pitchFamily="18" charset="0"/>
              </a:rPr>
              <a:t>coherent</a:t>
            </a:r>
            <a:r>
              <a:rPr lang="en-US" sz="2800" dirty="0">
                <a:cs typeface="Times New Roman" pitchFamily="18" charset="0"/>
              </a:rPr>
              <a:t>, the individual elements of the theory must fit together to form a unified.</a:t>
            </a:r>
          </a:p>
          <a:p>
            <a:pPr eaLnBrk="1" hangingPunct="1">
              <a:lnSpc>
                <a:spcPct val="90000"/>
              </a:lnSpc>
            </a:pPr>
            <a:r>
              <a:rPr lang="en-US" sz="2800" dirty="0">
                <a:cs typeface="Times New Roman" pitchFamily="18" charset="0"/>
              </a:rPr>
              <a:t>For a theory to be </a:t>
            </a:r>
            <a:r>
              <a:rPr lang="en-US" sz="2800" i="1" dirty="0">
                <a:solidFill>
                  <a:srgbClr val="C00000"/>
                </a:solidFill>
                <a:cs typeface="Times New Roman" pitchFamily="18" charset="0"/>
              </a:rPr>
              <a:t>consistent</a:t>
            </a:r>
            <a:r>
              <a:rPr lang="en-US" sz="2800" dirty="0">
                <a:cs typeface="Times New Roman" pitchFamily="18" charset="0"/>
              </a:rPr>
              <a:t>, its component parts cannot contradict each other. </a:t>
            </a:r>
          </a:p>
          <a:p>
            <a:pPr eaLnBrk="1" hangingPunct="1">
              <a:lnSpc>
                <a:spcPct val="90000"/>
              </a:lnSpc>
            </a:pPr>
            <a:r>
              <a:rPr lang="en-US" sz="2800" dirty="0">
                <a:cs typeface="Times New Roman" pitchFamily="18" charset="0"/>
              </a:rPr>
              <a:t>To be </a:t>
            </a:r>
            <a:r>
              <a:rPr lang="en-US" sz="2800" i="1" dirty="0">
                <a:solidFill>
                  <a:srgbClr val="C00000"/>
                </a:solidFill>
                <a:cs typeface="Times New Roman" pitchFamily="18" charset="0"/>
              </a:rPr>
              <a:t>comprehensive</a:t>
            </a:r>
            <a:r>
              <a:rPr lang="en-US" sz="2800" dirty="0">
                <a:cs typeface="Times New Roman" pitchFamily="18" charset="0"/>
              </a:rPr>
              <a:t>, a theory must be able to apply broadly to a wide range of actions. </a:t>
            </a:r>
          </a:p>
          <a:p>
            <a:pPr eaLnBrk="1" hangingPunct="1">
              <a:lnSpc>
                <a:spcPct val="90000"/>
              </a:lnSpc>
            </a:pPr>
            <a:r>
              <a:rPr lang="en-US" sz="2800" dirty="0">
                <a:cs typeface="Times New Roman" pitchFamily="18" charset="0"/>
              </a:rPr>
              <a:t>And to be </a:t>
            </a:r>
            <a:r>
              <a:rPr lang="en-US" sz="2800" i="1" dirty="0">
                <a:solidFill>
                  <a:srgbClr val="C00000"/>
                </a:solidFill>
                <a:cs typeface="Times New Roman" pitchFamily="18" charset="0"/>
              </a:rPr>
              <a:t>systematic</a:t>
            </a:r>
            <a:r>
              <a:rPr lang="en-US" sz="2800" dirty="0">
                <a:cs typeface="Times New Roman" pitchFamily="18" charset="0"/>
              </a:rPr>
              <a:t>, the theory cannot simply address individual symptoms peculiar to specific cases, while ignoring general principles that would apply in similar cases. </a:t>
            </a:r>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 calcmode="lin" valueType="num">
                                      <p:cBhvr additive="base">
                                        <p:cTn id="7" dur="500" fill="hold"/>
                                        <p:tgtEl>
                                          <p:spTgt spid="491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1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155">
                                            <p:txEl>
                                              <p:pRg st="1" end="1"/>
                                            </p:txEl>
                                          </p:spTgt>
                                        </p:tgtEl>
                                        <p:attrNameLst>
                                          <p:attrName>style.visibility</p:attrName>
                                        </p:attrNameLst>
                                      </p:cBhvr>
                                      <p:to>
                                        <p:strVal val="visible"/>
                                      </p:to>
                                    </p:set>
                                    <p:anim calcmode="lin" valueType="num">
                                      <p:cBhvr additive="base">
                                        <p:cTn id="13" dur="500" fill="hold"/>
                                        <p:tgtEl>
                                          <p:spTgt spid="491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91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9155">
                                            <p:txEl>
                                              <p:pRg st="2" end="2"/>
                                            </p:txEl>
                                          </p:spTgt>
                                        </p:tgtEl>
                                        <p:attrNameLst>
                                          <p:attrName>style.visibility</p:attrName>
                                        </p:attrNameLst>
                                      </p:cBhvr>
                                      <p:to>
                                        <p:strVal val="visible"/>
                                      </p:to>
                                    </p:set>
                                    <p:anim calcmode="lin" valueType="num">
                                      <p:cBhvr additive="base">
                                        <p:cTn id="19" dur="500" fill="hold"/>
                                        <p:tgtEl>
                                          <p:spTgt spid="491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91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9155">
                                            <p:txEl>
                                              <p:pRg st="3" end="3"/>
                                            </p:txEl>
                                          </p:spTgt>
                                        </p:tgtEl>
                                        <p:attrNameLst>
                                          <p:attrName>style.visibility</p:attrName>
                                        </p:attrNameLst>
                                      </p:cBhvr>
                                      <p:to>
                                        <p:strVal val="visible"/>
                                      </p:to>
                                    </p:set>
                                    <p:anim calcmode="lin" valueType="num">
                                      <p:cBhvr additive="base">
                                        <p:cTn id="25" dur="500" fill="hold"/>
                                        <p:tgtEl>
                                          <p:spTgt spid="491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915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Four Kinds of Ethical Theories</a:t>
            </a:r>
          </a:p>
        </p:txBody>
      </p:sp>
      <p:sp>
        <p:nvSpPr>
          <p:cNvPr id="51203" name="Rectangle 3"/>
          <p:cNvSpPr>
            <a:spLocks noGrp="1" noChangeArrowheads="1"/>
          </p:cNvSpPr>
          <p:nvPr>
            <p:ph type="body" idx="1"/>
          </p:nvPr>
        </p:nvSpPr>
        <p:spPr/>
        <p:txBody>
          <a:bodyPr>
            <a:normAutofit/>
          </a:bodyPr>
          <a:lstStyle/>
          <a:p>
            <a:pPr eaLnBrk="1" hangingPunct="1"/>
            <a:r>
              <a:rPr lang="en-US" sz="3200" b="1" dirty="0"/>
              <a:t>Consequence-based</a:t>
            </a:r>
          </a:p>
          <a:p>
            <a:pPr eaLnBrk="1" hangingPunct="1"/>
            <a:r>
              <a:rPr lang="en-US" sz="3200" b="1" dirty="0"/>
              <a:t>Duty-based</a:t>
            </a:r>
          </a:p>
          <a:p>
            <a:pPr eaLnBrk="1" hangingPunct="1"/>
            <a:r>
              <a:rPr lang="en-US" sz="3200" b="1" dirty="0"/>
              <a:t>Contract-based</a:t>
            </a:r>
          </a:p>
          <a:p>
            <a:pPr eaLnBrk="1" hangingPunct="1"/>
            <a:r>
              <a:rPr lang="en-US" sz="3200" b="1" dirty="0"/>
              <a:t>Character-based</a:t>
            </a:r>
          </a:p>
          <a:p>
            <a:pPr eaLnBrk="1" hangingPunct="1"/>
            <a:endParaRPr lang="en-US" sz="3200" dirty="0"/>
          </a:p>
        </p:txBody>
      </p:sp>
      <p:pic>
        <p:nvPicPr>
          <p:cNvPr id="2050" name="Picture 2" descr="Image result for Ethics in 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8975" y="3124200"/>
            <a:ext cx="4343400" cy="3390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 calcmode="lin" valueType="num">
                                      <p:cBhvr additive="base">
                                        <p:cTn id="13" dur="500" fill="hold"/>
                                        <p:tgtEl>
                                          <p:spTgt spid="512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03">
                                            <p:txEl>
                                              <p:pRg st="2" end="2"/>
                                            </p:txEl>
                                          </p:spTgt>
                                        </p:tgtEl>
                                        <p:attrNameLst>
                                          <p:attrName>style.visibility</p:attrName>
                                        </p:attrNameLst>
                                      </p:cBhvr>
                                      <p:to>
                                        <p:strVal val="visible"/>
                                      </p:to>
                                    </p:set>
                                    <p:anim calcmode="lin" valueType="num">
                                      <p:cBhvr additive="base">
                                        <p:cTn id="19" dur="500" fill="hold"/>
                                        <p:tgtEl>
                                          <p:spTgt spid="512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1203">
                                            <p:txEl>
                                              <p:pRg st="3" end="3"/>
                                            </p:txEl>
                                          </p:spTgt>
                                        </p:tgtEl>
                                        <p:attrNameLst>
                                          <p:attrName>style.visibility</p:attrName>
                                        </p:attrNameLst>
                                      </p:cBhvr>
                                      <p:to>
                                        <p:strVal val="visible"/>
                                      </p:to>
                                    </p:set>
                                    <p:anim calcmode="lin" valueType="num">
                                      <p:cBhvr additive="base">
                                        <p:cTn id="25" dur="500" fill="hold"/>
                                        <p:tgtEl>
                                          <p:spTgt spid="512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20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sz="4000"/>
              <a:t>Consequence-based Ethical Theories</a:t>
            </a:r>
          </a:p>
        </p:txBody>
      </p:sp>
      <p:sp>
        <p:nvSpPr>
          <p:cNvPr id="52227" name="Rectangle 3"/>
          <p:cNvSpPr>
            <a:spLocks noGrp="1" noChangeArrowheads="1"/>
          </p:cNvSpPr>
          <p:nvPr>
            <p:ph type="body" idx="1"/>
          </p:nvPr>
        </p:nvSpPr>
        <p:spPr/>
        <p:txBody>
          <a:bodyPr/>
          <a:lstStyle/>
          <a:p>
            <a:pPr eaLnBrk="1" hangingPunct="1">
              <a:lnSpc>
                <a:spcPct val="90000"/>
              </a:lnSpc>
            </a:pPr>
            <a:r>
              <a:rPr lang="en-US" sz="2800" dirty="0">
                <a:cs typeface="Times New Roman" pitchFamily="18" charset="0"/>
              </a:rPr>
              <a:t>Some argue that the primary goal of a moral system is to produce </a:t>
            </a:r>
            <a:r>
              <a:rPr lang="en-US" sz="2800" dirty="0">
                <a:solidFill>
                  <a:srgbClr val="C00000"/>
                </a:solidFill>
                <a:cs typeface="Times New Roman" pitchFamily="18" charset="0"/>
              </a:rPr>
              <a:t>desirable consequences </a:t>
            </a:r>
            <a:r>
              <a:rPr lang="en-US" sz="2800" dirty="0">
                <a:cs typeface="Times New Roman" pitchFamily="18" charset="0"/>
              </a:rPr>
              <a:t>or outcomes for its members. </a:t>
            </a:r>
          </a:p>
          <a:p>
            <a:pPr eaLnBrk="1" hangingPunct="1">
              <a:lnSpc>
                <a:spcPct val="90000"/>
              </a:lnSpc>
            </a:pPr>
            <a:r>
              <a:rPr lang="en-US" sz="2800" dirty="0">
                <a:cs typeface="Times New Roman" pitchFamily="18" charset="0"/>
              </a:rPr>
              <a:t>On this view, the </a:t>
            </a:r>
            <a:r>
              <a:rPr lang="en-US" sz="2800" dirty="0">
                <a:solidFill>
                  <a:srgbClr val="C00000"/>
                </a:solidFill>
                <a:cs typeface="Times New Roman" pitchFamily="18" charset="0"/>
              </a:rPr>
              <a:t>consequences</a:t>
            </a:r>
            <a:r>
              <a:rPr lang="en-US" sz="2800" dirty="0">
                <a:cs typeface="Times New Roman" pitchFamily="18" charset="0"/>
              </a:rPr>
              <a:t> (i.e. the ends achieved) of actions and policies that provide the ultimate standard against which moral decisions must be evaluated. </a:t>
            </a:r>
          </a:p>
          <a:p>
            <a:pPr eaLnBrk="1" hangingPunct="1">
              <a:lnSpc>
                <a:spcPct val="90000"/>
              </a:lnSpc>
            </a:pPr>
            <a:r>
              <a:rPr lang="en-US" sz="2800" dirty="0">
                <a:cs typeface="Times New Roman" pitchFamily="18" charset="0"/>
              </a:rPr>
              <a:t>So, if choosing between acts A </a:t>
            </a:r>
            <a:r>
              <a:rPr lang="en-US" sz="2800" i="1" dirty="0">
                <a:cs typeface="Times New Roman" pitchFamily="18" charset="0"/>
              </a:rPr>
              <a:t>or</a:t>
            </a:r>
            <a:r>
              <a:rPr lang="en-US" sz="2800" dirty="0">
                <a:cs typeface="Times New Roman" pitchFamily="18" charset="0"/>
              </a:rPr>
              <a:t> B, the morally correct action will be the one that produces the </a:t>
            </a:r>
            <a:r>
              <a:rPr lang="en-US" sz="2800" dirty="0">
                <a:solidFill>
                  <a:srgbClr val="C00000"/>
                </a:solidFill>
                <a:cs typeface="Times New Roman" pitchFamily="18" charset="0"/>
              </a:rPr>
              <a:t>most desirable outcome</a:t>
            </a:r>
            <a:r>
              <a:rPr lang="en-US" sz="2800" dirty="0">
                <a:cs typeface="Times New Roman" pitchFamily="18" charset="0"/>
              </a:rPr>
              <a:t>. </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pPr eaLnBrk="1" hangingPunct="1"/>
            <a:r>
              <a:rPr lang="en-US" sz="4000"/>
              <a:t>Consequence-based Theories (Continued)</a:t>
            </a:r>
          </a:p>
        </p:txBody>
      </p:sp>
      <p:sp>
        <p:nvSpPr>
          <p:cNvPr id="53251" name="Rectangle 3"/>
          <p:cNvSpPr>
            <a:spLocks noGrp="1" noChangeArrowheads="1"/>
          </p:cNvSpPr>
          <p:nvPr>
            <p:ph type="body" idx="1"/>
          </p:nvPr>
        </p:nvSpPr>
        <p:spPr/>
        <p:txBody>
          <a:bodyPr>
            <a:normAutofit/>
          </a:bodyPr>
          <a:lstStyle/>
          <a:p>
            <a:pPr eaLnBrk="1" hangingPunct="1"/>
            <a:r>
              <a:rPr lang="en-US" sz="2800" dirty="0">
                <a:cs typeface="Times New Roman" pitchFamily="18" charset="0"/>
              </a:rPr>
              <a:t>In determining the best outcome, we can ask the question, </a:t>
            </a:r>
            <a:r>
              <a:rPr lang="en-US" sz="2800" i="1" dirty="0">
                <a:solidFill>
                  <a:srgbClr val="C00000"/>
                </a:solidFill>
                <a:cs typeface="Times New Roman" pitchFamily="18" charset="0"/>
              </a:rPr>
              <a:t>whose outcome</a:t>
            </a:r>
            <a:r>
              <a:rPr lang="en-US" sz="2800" dirty="0">
                <a:cs typeface="Times New Roman" pitchFamily="18" charset="0"/>
              </a:rPr>
              <a:t>? </a:t>
            </a:r>
          </a:p>
          <a:p>
            <a:pPr eaLnBrk="1" hangingPunct="1"/>
            <a:r>
              <a:rPr lang="en-US" sz="2800" i="1" dirty="0" err="1">
                <a:cs typeface="Times New Roman" pitchFamily="18" charset="0"/>
              </a:rPr>
              <a:t>Utilitarians</a:t>
            </a:r>
            <a:r>
              <a:rPr lang="en-US" sz="2800" i="1" dirty="0">
                <a:cs typeface="Times New Roman" pitchFamily="18" charset="0"/>
              </a:rPr>
              <a:t> </a:t>
            </a:r>
            <a:r>
              <a:rPr lang="en-US" sz="2800" dirty="0">
                <a:cs typeface="Times New Roman" pitchFamily="18" charset="0"/>
              </a:rPr>
              <a:t>argue that it is the </a:t>
            </a:r>
            <a:r>
              <a:rPr lang="en-US" sz="2800" dirty="0">
                <a:solidFill>
                  <a:srgbClr val="C00000"/>
                </a:solidFill>
                <a:cs typeface="Times New Roman" pitchFamily="18" charset="0"/>
              </a:rPr>
              <a:t>consequences of the greatest number of individuals</a:t>
            </a:r>
            <a:r>
              <a:rPr lang="en-US" sz="2800" dirty="0">
                <a:cs typeface="Times New Roman" pitchFamily="18" charset="0"/>
              </a:rPr>
              <a:t>, or the majority, in a given society that deserve consideration in moral deliberation.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3251">
                                            <p:txEl>
                                              <p:pRg st="1" end="1"/>
                                            </p:txEl>
                                          </p:spTgt>
                                        </p:tgtEl>
                                        <p:attrNameLst>
                                          <p:attrName>style.visibility</p:attrName>
                                        </p:attrNameLst>
                                      </p:cBhvr>
                                      <p:to>
                                        <p:strVal val="visible"/>
                                      </p:to>
                                    </p:set>
                                    <p:anim calcmode="lin" valueType="num">
                                      <p:cBhvr additive="base">
                                        <p:cTn id="13" dur="500" fill="hold"/>
                                        <p:tgtEl>
                                          <p:spTgt spid="532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325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fontScale="90000"/>
          </a:bodyPr>
          <a:lstStyle/>
          <a:p>
            <a:pPr eaLnBrk="1" hangingPunct="1"/>
            <a:r>
              <a:rPr lang="en-US" sz="4000"/>
              <a:t>Consequence-based Theories: (Utilitarianism Continued)</a:t>
            </a:r>
          </a:p>
        </p:txBody>
      </p:sp>
      <p:sp>
        <p:nvSpPr>
          <p:cNvPr id="54275" name="Rectangle 3"/>
          <p:cNvSpPr>
            <a:spLocks noGrp="1" noChangeArrowheads="1"/>
          </p:cNvSpPr>
          <p:nvPr>
            <p:ph type="body" idx="1"/>
          </p:nvPr>
        </p:nvSpPr>
        <p:spPr/>
        <p:txBody>
          <a:bodyPr>
            <a:normAutofit/>
          </a:bodyPr>
          <a:lstStyle/>
          <a:p>
            <a:pPr eaLnBrk="1" hangingPunct="1">
              <a:lnSpc>
                <a:spcPct val="90000"/>
              </a:lnSpc>
            </a:pPr>
            <a:r>
              <a:rPr lang="en-US" sz="3200" dirty="0">
                <a:cs typeface="Times New Roman" pitchFamily="18" charset="0"/>
              </a:rPr>
              <a:t>According to the utilitarian theory:</a:t>
            </a:r>
          </a:p>
          <a:p>
            <a:pPr eaLnBrk="1" hangingPunct="1">
              <a:lnSpc>
                <a:spcPct val="90000"/>
              </a:lnSpc>
              <a:buFont typeface="Wingdings" pitchFamily="2" charset="2"/>
              <a:buNone/>
            </a:pPr>
            <a:r>
              <a:rPr lang="en-US" sz="2400" dirty="0"/>
              <a:t> </a:t>
            </a:r>
            <a:r>
              <a:rPr lang="en-US" sz="2400" i="1" dirty="0">
                <a:solidFill>
                  <a:srgbClr val="000000"/>
                </a:solidFill>
                <a:cs typeface="Times New Roman" pitchFamily="18" charset="0"/>
              </a:rPr>
              <a:t>  </a:t>
            </a:r>
          </a:p>
          <a:p>
            <a:pPr eaLnBrk="1" hangingPunct="1">
              <a:lnSpc>
                <a:spcPct val="90000"/>
              </a:lnSpc>
              <a:buFont typeface="Wingdings" pitchFamily="2" charset="2"/>
              <a:buNone/>
            </a:pPr>
            <a:endParaRPr lang="en-US" sz="2400" i="1" dirty="0">
              <a:solidFill>
                <a:srgbClr val="000000"/>
              </a:solidFill>
              <a:cs typeface="Times New Roman" pitchFamily="18" charset="0"/>
            </a:endParaRPr>
          </a:p>
          <a:p>
            <a:pPr eaLnBrk="1" hangingPunct="1">
              <a:lnSpc>
                <a:spcPct val="90000"/>
              </a:lnSpc>
              <a:buFont typeface="Wingdings" pitchFamily="2" charset="2"/>
              <a:buNone/>
            </a:pPr>
            <a:r>
              <a:rPr lang="en-US" sz="2800" i="1" dirty="0">
                <a:solidFill>
                  <a:srgbClr val="000000"/>
                </a:solidFill>
                <a:cs typeface="Times New Roman" pitchFamily="18" charset="0"/>
              </a:rPr>
              <a:t>	An individual act (X) or a social policy (Y) is morally permissible if the consequences that result from (X) or (Y) produce the </a:t>
            </a:r>
            <a:r>
              <a:rPr lang="en-US" sz="2800" i="1" dirty="0">
                <a:solidFill>
                  <a:srgbClr val="C00000"/>
                </a:solidFill>
                <a:cs typeface="Times New Roman" pitchFamily="18" charset="0"/>
              </a:rPr>
              <a:t>greatest amount of good</a:t>
            </a:r>
            <a:r>
              <a:rPr lang="en-US" sz="2800" i="1" dirty="0">
                <a:solidFill>
                  <a:srgbClr val="000000"/>
                </a:solidFill>
                <a:cs typeface="Times New Roman" pitchFamily="18" charset="0"/>
              </a:rPr>
              <a:t> for the </a:t>
            </a:r>
            <a:r>
              <a:rPr lang="en-US" sz="2800" i="1" dirty="0">
                <a:solidFill>
                  <a:srgbClr val="C00000"/>
                </a:solidFill>
                <a:cs typeface="Times New Roman" pitchFamily="18" charset="0"/>
              </a:rPr>
              <a:t>greatest number of persons affected</a:t>
            </a:r>
            <a:r>
              <a:rPr lang="en-US" sz="2800" i="1" dirty="0">
                <a:solidFill>
                  <a:srgbClr val="000000"/>
                </a:solidFill>
                <a:cs typeface="Times New Roman" pitchFamily="18" charset="0"/>
              </a:rPr>
              <a:t> by the act or policy.</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4275">
                                            <p:txEl>
                                              <p:pRg st="3" end="3"/>
                                            </p:txEl>
                                          </p:spTgt>
                                        </p:tgtEl>
                                        <p:attrNameLst>
                                          <p:attrName>style.visibility</p:attrName>
                                        </p:attrNameLst>
                                      </p:cBhvr>
                                      <p:to>
                                        <p:strVal val="visible"/>
                                      </p:to>
                                    </p:set>
                                    <p:anim calcmode="lin" valueType="num">
                                      <p:cBhvr additive="base">
                                        <p:cTn id="19" dur="500" fill="hold"/>
                                        <p:tgtEl>
                                          <p:spTgt spid="5427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427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pPr eaLnBrk="1" hangingPunct="1"/>
            <a:r>
              <a:rPr lang="en-US" sz="4000"/>
              <a:t>Consequence-based Theories: (Utilitarianism Continued)</a:t>
            </a:r>
          </a:p>
        </p:txBody>
      </p:sp>
      <p:sp>
        <p:nvSpPr>
          <p:cNvPr id="55299" name="Rectangle 3"/>
          <p:cNvSpPr>
            <a:spLocks noGrp="1" noChangeArrowheads="1"/>
          </p:cNvSpPr>
          <p:nvPr>
            <p:ph type="body" idx="1"/>
          </p:nvPr>
        </p:nvSpPr>
        <p:spPr/>
        <p:txBody>
          <a:bodyPr/>
          <a:lstStyle/>
          <a:p>
            <a:pPr eaLnBrk="1" hangingPunct="1"/>
            <a:r>
              <a:rPr lang="en-US" sz="2800" dirty="0">
                <a:solidFill>
                  <a:srgbClr val="000000"/>
                </a:solidFill>
                <a:cs typeface="Times New Roman" pitchFamily="18" charset="0"/>
              </a:rPr>
              <a:t>Utilitarian draws on two key points in defending their theory:</a:t>
            </a:r>
          </a:p>
          <a:p>
            <a:pPr>
              <a:buClr>
                <a:srgbClr val="FFC000"/>
              </a:buClr>
            </a:pPr>
            <a:endParaRPr lang="en-US" sz="3200" dirty="0">
              <a:solidFill>
                <a:srgbClr val="000000"/>
              </a:solidFill>
              <a:cs typeface="Times New Roman" pitchFamily="18" charset="0"/>
            </a:endParaRPr>
          </a:p>
          <a:p>
            <a:pPr lvl="1">
              <a:buClr>
                <a:srgbClr val="FFC000"/>
              </a:buClr>
            </a:pPr>
            <a:r>
              <a:rPr lang="en-US" sz="2800" dirty="0">
                <a:solidFill>
                  <a:srgbClr val="000000"/>
                </a:solidFill>
                <a:cs typeface="Times New Roman" pitchFamily="18" charset="0"/>
              </a:rPr>
              <a:t>(</a:t>
            </a:r>
            <a:r>
              <a:rPr lang="en-US" sz="2800" dirty="0" err="1">
                <a:solidFill>
                  <a:srgbClr val="000000"/>
                </a:solidFill>
                <a:cs typeface="Times New Roman" pitchFamily="18" charset="0"/>
              </a:rPr>
              <a:t>i</a:t>
            </a:r>
            <a:r>
              <a:rPr lang="en-US" sz="2800" dirty="0">
                <a:solidFill>
                  <a:srgbClr val="000000"/>
                </a:solidFill>
                <a:cs typeface="Times New Roman" pitchFamily="18" charset="0"/>
              </a:rPr>
              <a:t>) the principle of </a:t>
            </a:r>
            <a:r>
              <a:rPr lang="en-US" sz="2800" dirty="0">
                <a:solidFill>
                  <a:srgbClr val="C00000"/>
                </a:solidFill>
                <a:cs typeface="Times New Roman" pitchFamily="18" charset="0"/>
              </a:rPr>
              <a:t>social utility </a:t>
            </a:r>
            <a:r>
              <a:rPr lang="en-US" sz="2800" dirty="0">
                <a:solidFill>
                  <a:srgbClr val="000000"/>
                </a:solidFill>
                <a:cs typeface="Times New Roman" pitchFamily="18" charset="0"/>
              </a:rPr>
              <a:t>should be used to determine morality;</a:t>
            </a:r>
          </a:p>
          <a:p>
            <a:pPr lvl="1">
              <a:buClr>
                <a:srgbClr val="FFC000"/>
              </a:buClr>
            </a:pPr>
            <a:r>
              <a:rPr lang="en-US" sz="2800" dirty="0">
                <a:solidFill>
                  <a:schemeClr val="tx1"/>
                </a:solidFill>
                <a:cs typeface="Times New Roman" pitchFamily="18" charset="0"/>
              </a:rPr>
              <a:t>(ii) the belief that social utility can be measured by the </a:t>
            </a:r>
            <a:r>
              <a:rPr lang="en-US" sz="2800" dirty="0">
                <a:solidFill>
                  <a:srgbClr val="C00000"/>
                </a:solidFill>
                <a:cs typeface="Times New Roman" pitchFamily="18" charset="0"/>
              </a:rPr>
              <a:t>amount of happiness </a:t>
            </a:r>
            <a:r>
              <a:rPr lang="en-US" sz="2800" dirty="0">
                <a:solidFill>
                  <a:schemeClr val="tx1"/>
                </a:solidFill>
                <a:cs typeface="Times New Roman" pitchFamily="18" charset="0"/>
              </a:rPr>
              <a:t>produced.</a:t>
            </a:r>
            <a:endParaRPr lang="en-US" sz="2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5299">
                                            <p:txEl>
                                              <p:pRg st="2" end="2"/>
                                            </p:txEl>
                                          </p:spTgt>
                                        </p:tgtEl>
                                        <p:attrNameLst>
                                          <p:attrName>style.visibility</p:attrName>
                                        </p:attrNameLst>
                                      </p:cBhvr>
                                      <p:to>
                                        <p:strVal val="visible"/>
                                      </p:to>
                                    </p:set>
                                    <p:anim calcmode="lin" valueType="num">
                                      <p:cBhvr additive="base">
                                        <p:cTn id="11" dur="500" fill="hold"/>
                                        <p:tgtEl>
                                          <p:spTgt spid="55299">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5299">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5299">
                                            <p:txEl>
                                              <p:pRg st="3" end="3"/>
                                            </p:txEl>
                                          </p:spTgt>
                                        </p:tgtEl>
                                        <p:attrNameLst>
                                          <p:attrName>style.visibility</p:attrName>
                                        </p:attrNameLst>
                                      </p:cBhvr>
                                      <p:to>
                                        <p:strVal val="visible"/>
                                      </p:to>
                                    </p:set>
                                    <p:anim calcmode="lin" valueType="num">
                                      <p:cBhvr additive="base">
                                        <p:cTn id="15" dur="500" fill="hold"/>
                                        <p:tgtEl>
                                          <p:spTgt spid="55299">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529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t>Utilitarianism (continued)</a:t>
            </a:r>
          </a:p>
        </p:txBody>
      </p:sp>
      <p:sp>
        <p:nvSpPr>
          <p:cNvPr id="56323" name="Rectangle 3"/>
          <p:cNvSpPr>
            <a:spLocks noGrp="1" noChangeArrowheads="1"/>
          </p:cNvSpPr>
          <p:nvPr>
            <p:ph type="body" idx="1"/>
          </p:nvPr>
        </p:nvSpPr>
        <p:spPr/>
        <p:txBody>
          <a:bodyPr>
            <a:normAutofit/>
          </a:bodyPr>
          <a:lstStyle/>
          <a:p>
            <a:pPr eaLnBrk="1" hangingPunct="1"/>
            <a:r>
              <a:rPr lang="en-US" sz="3200" dirty="0" err="1">
                <a:solidFill>
                  <a:srgbClr val="000000"/>
                </a:solidFill>
                <a:cs typeface="Times New Roman" pitchFamily="18" charset="0"/>
              </a:rPr>
              <a:t>Utilitarians</a:t>
            </a:r>
            <a:r>
              <a:rPr lang="en-US" sz="3200" dirty="0">
                <a:solidFill>
                  <a:srgbClr val="000000"/>
                </a:solidFill>
                <a:cs typeface="Times New Roman" pitchFamily="18" charset="0"/>
              </a:rPr>
              <a:t> such as Jeremy Bentham assume:</a:t>
            </a:r>
          </a:p>
          <a:p>
            <a:pPr lvl="1" eaLnBrk="1" hangingPunct="1">
              <a:buClr>
                <a:srgbClr val="FFC000"/>
              </a:buClr>
            </a:pPr>
            <a:r>
              <a:rPr lang="en-US" sz="2800" dirty="0">
                <a:solidFill>
                  <a:srgbClr val="000000"/>
                </a:solidFill>
                <a:cs typeface="Times New Roman" pitchFamily="18" charset="0"/>
              </a:rPr>
              <a:t>(a) all people </a:t>
            </a:r>
            <a:r>
              <a:rPr lang="en-US" sz="2800" dirty="0">
                <a:solidFill>
                  <a:srgbClr val="C00000"/>
                </a:solidFill>
                <a:cs typeface="Times New Roman" pitchFamily="18" charset="0"/>
              </a:rPr>
              <a:t>desire happiness;</a:t>
            </a:r>
          </a:p>
          <a:p>
            <a:pPr lvl="1" eaLnBrk="1" hangingPunct="1">
              <a:buClr>
                <a:srgbClr val="FFC000"/>
              </a:buClr>
            </a:pPr>
            <a:r>
              <a:rPr lang="en-US" sz="2800" dirty="0">
                <a:solidFill>
                  <a:srgbClr val="000000"/>
                </a:solidFill>
                <a:cs typeface="Times New Roman" pitchFamily="18" charset="0"/>
              </a:rPr>
              <a:t>(b) happiness is an </a:t>
            </a:r>
            <a:r>
              <a:rPr lang="en-US" sz="2800" dirty="0">
                <a:solidFill>
                  <a:srgbClr val="C00000"/>
                </a:solidFill>
                <a:cs typeface="Times New Roman" pitchFamily="18" charset="0"/>
              </a:rPr>
              <a:t>intrinsic good </a:t>
            </a:r>
            <a:r>
              <a:rPr lang="en-US" sz="2800" dirty="0">
                <a:solidFill>
                  <a:srgbClr val="000000"/>
                </a:solidFill>
                <a:cs typeface="Times New Roman" pitchFamily="18" charset="0"/>
              </a:rPr>
              <a:t>that is </a:t>
            </a:r>
          </a:p>
          <a:p>
            <a:pPr lvl="1" eaLnBrk="1" hangingPunct="1">
              <a:buNone/>
            </a:pPr>
            <a:r>
              <a:rPr lang="en-US" sz="2800" dirty="0">
                <a:solidFill>
                  <a:srgbClr val="000000"/>
                </a:solidFill>
                <a:cs typeface="Times New Roman" pitchFamily="18" charset="0"/>
              </a:rPr>
              <a:t>       desired for its </a:t>
            </a:r>
            <a:r>
              <a:rPr lang="en-US" sz="2800" dirty="0">
                <a:solidFill>
                  <a:srgbClr val="C00000"/>
                </a:solidFill>
                <a:cs typeface="Times New Roman" pitchFamily="18" charset="0"/>
              </a:rPr>
              <a:t>own sake. </a:t>
            </a:r>
          </a:p>
          <a:p>
            <a:pPr eaLnBrk="1" hangingPunct="1">
              <a:buFont typeface="Wingdings" pitchFamily="2" charset="2"/>
              <a:buNone/>
            </a:pPr>
            <a:endParaRPr lang="en-US" sz="2400" dirty="0">
              <a:solidFill>
                <a:srgbClr val="000000"/>
              </a:solidFill>
              <a:cs typeface="Times New Roman" pitchFamily="18" charset="0"/>
            </a:endParaRPr>
          </a:p>
          <a:p>
            <a:pPr eaLnBrk="1" hangingPunct="1">
              <a:buFont typeface="Wingdings" pitchFamily="2" charset="2"/>
              <a:buNone/>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additive="base">
                                        <p:cTn id="7" dur="500" fill="hold"/>
                                        <p:tgtEl>
                                          <p:spTgt spid="56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3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anim calcmode="lin" valueType="num">
                                      <p:cBhvr additive="base">
                                        <p:cTn id="11" dur="500" fill="hold"/>
                                        <p:tgtEl>
                                          <p:spTgt spid="5632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632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6323">
                                            <p:txEl>
                                              <p:pRg st="2" end="2"/>
                                            </p:txEl>
                                          </p:spTgt>
                                        </p:tgtEl>
                                        <p:attrNameLst>
                                          <p:attrName>style.visibility</p:attrName>
                                        </p:attrNameLst>
                                      </p:cBhvr>
                                      <p:to>
                                        <p:strVal val="visible"/>
                                      </p:to>
                                    </p:set>
                                    <p:anim calcmode="lin" valueType="num">
                                      <p:cBhvr additive="base">
                                        <p:cTn id="15" dur="500" fill="hold"/>
                                        <p:tgtEl>
                                          <p:spTgt spid="5632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632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6323">
                                            <p:txEl>
                                              <p:pRg st="3" end="3"/>
                                            </p:txEl>
                                          </p:spTgt>
                                        </p:tgtEl>
                                        <p:attrNameLst>
                                          <p:attrName>style.visibility</p:attrName>
                                        </p:attrNameLst>
                                      </p:cBhvr>
                                      <p:to>
                                        <p:strVal val="visible"/>
                                      </p:to>
                                    </p:set>
                                    <p:anim calcmode="lin" valueType="num">
                                      <p:cBhvr additive="base">
                                        <p:cTn id="19" dur="500" fill="hold"/>
                                        <p:tgtEl>
                                          <p:spTgt spid="5632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63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t>Utilitarianism (continued)</a:t>
            </a:r>
          </a:p>
        </p:txBody>
      </p:sp>
      <p:sp>
        <p:nvSpPr>
          <p:cNvPr id="57347" name="Rectangle 3"/>
          <p:cNvSpPr>
            <a:spLocks noGrp="1" noChangeArrowheads="1"/>
          </p:cNvSpPr>
          <p:nvPr>
            <p:ph type="body" idx="1"/>
          </p:nvPr>
        </p:nvSpPr>
        <p:spPr/>
        <p:txBody>
          <a:bodyPr>
            <a:normAutofit/>
          </a:bodyPr>
          <a:lstStyle/>
          <a:p>
            <a:pPr eaLnBrk="1" hangingPunct="1">
              <a:lnSpc>
                <a:spcPct val="90000"/>
              </a:lnSpc>
            </a:pPr>
            <a:r>
              <a:rPr lang="en-US" sz="2800" i="1" dirty="0">
                <a:solidFill>
                  <a:srgbClr val="000000"/>
                </a:solidFill>
                <a:cs typeface="Times New Roman" pitchFamily="18" charset="0"/>
              </a:rPr>
              <a:t>According to John Stuart Mill:</a:t>
            </a:r>
          </a:p>
          <a:p>
            <a:pPr eaLnBrk="1" hangingPunct="1">
              <a:lnSpc>
                <a:spcPct val="90000"/>
              </a:lnSpc>
              <a:buFont typeface="Wingdings" pitchFamily="2" charset="2"/>
              <a:buNone/>
            </a:pPr>
            <a:endParaRPr lang="en-US" sz="1050" dirty="0">
              <a:solidFill>
                <a:srgbClr val="000000"/>
              </a:solidFill>
              <a:cs typeface="Times New Roman" pitchFamily="18" charset="0"/>
            </a:endParaRPr>
          </a:p>
          <a:p>
            <a:pPr lvl="1" eaLnBrk="1" hangingPunct="1">
              <a:lnSpc>
                <a:spcPct val="90000"/>
              </a:lnSpc>
              <a:buFont typeface="Wingdings" pitchFamily="2" charset="2"/>
              <a:buNone/>
            </a:pPr>
            <a:r>
              <a:rPr lang="en-US" sz="2000" i="1" dirty="0">
                <a:solidFill>
                  <a:srgbClr val="000000"/>
                </a:solidFill>
                <a:cs typeface="Times New Roman" pitchFamily="18" charset="0"/>
              </a:rPr>
              <a:t>  </a:t>
            </a:r>
            <a:r>
              <a:rPr lang="en-US" sz="2800" i="1" dirty="0">
                <a:solidFill>
                  <a:srgbClr val="000000"/>
                </a:solidFill>
                <a:cs typeface="Times New Roman" pitchFamily="18" charset="0"/>
              </a:rPr>
              <a:t>The only possible proof showing that something is </a:t>
            </a:r>
            <a:r>
              <a:rPr lang="en-US" sz="2800" i="1" dirty="0">
                <a:solidFill>
                  <a:srgbClr val="C00000"/>
                </a:solidFill>
                <a:cs typeface="Times New Roman" pitchFamily="18" charset="0"/>
              </a:rPr>
              <a:t>audible</a:t>
            </a:r>
            <a:r>
              <a:rPr lang="en-US" sz="2800" i="1" dirty="0">
                <a:solidFill>
                  <a:srgbClr val="000000"/>
                </a:solidFill>
                <a:cs typeface="Times New Roman" pitchFamily="18" charset="0"/>
              </a:rPr>
              <a:t> is that people actually </a:t>
            </a:r>
            <a:r>
              <a:rPr lang="en-US" sz="2800" i="1" dirty="0">
                <a:solidFill>
                  <a:srgbClr val="C00000"/>
                </a:solidFill>
                <a:cs typeface="Times New Roman" pitchFamily="18" charset="0"/>
              </a:rPr>
              <a:t>hear it</a:t>
            </a:r>
            <a:r>
              <a:rPr lang="en-US" sz="2800" i="1" dirty="0">
                <a:solidFill>
                  <a:srgbClr val="000000"/>
                </a:solidFill>
                <a:cs typeface="Times New Roman" pitchFamily="18" charset="0"/>
              </a:rPr>
              <a:t>; the only possible proof that something is </a:t>
            </a:r>
            <a:r>
              <a:rPr lang="en-US" sz="2800" i="1" dirty="0">
                <a:solidFill>
                  <a:srgbClr val="C00000"/>
                </a:solidFill>
                <a:cs typeface="Times New Roman" pitchFamily="18" charset="0"/>
              </a:rPr>
              <a:t>visible </a:t>
            </a:r>
            <a:r>
              <a:rPr lang="en-US" sz="2800" i="1" dirty="0">
                <a:solidFill>
                  <a:srgbClr val="000000"/>
                </a:solidFill>
                <a:cs typeface="Times New Roman" pitchFamily="18" charset="0"/>
              </a:rPr>
              <a:t>is that people actually </a:t>
            </a:r>
            <a:r>
              <a:rPr lang="en-US" sz="2800" i="1" dirty="0">
                <a:solidFill>
                  <a:srgbClr val="C00000"/>
                </a:solidFill>
                <a:cs typeface="Times New Roman" pitchFamily="18" charset="0"/>
              </a:rPr>
              <a:t>see it</a:t>
            </a:r>
            <a:r>
              <a:rPr lang="en-US" sz="2800" i="1" dirty="0">
                <a:solidFill>
                  <a:srgbClr val="000000"/>
                </a:solidFill>
                <a:cs typeface="Times New Roman" pitchFamily="18" charset="0"/>
              </a:rPr>
              <a:t>; and the only possible proof that something is </a:t>
            </a:r>
            <a:r>
              <a:rPr lang="en-US" sz="2800" i="1" dirty="0">
                <a:solidFill>
                  <a:srgbClr val="C00000"/>
                </a:solidFill>
                <a:cs typeface="Times New Roman" pitchFamily="18" charset="0"/>
              </a:rPr>
              <a:t>desired </a:t>
            </a:r>
            <a:r>
              <a:rPr lang="en-US" sz="2800" i="1" dirty="0">
                <a:solidFill>
                  <a:srgbClr val="000000"/>
                </a:solidFill>
                <a:cs typeface="Times New Roman" pitchFamily="18" charset="0"/>
              </a:rPr>
              <a:t>is that people actually </a:t>
            </a:r>
            <a:r>
              <a:rPr lang="en-US" sz="2800" i="1" dirty="0">
                <a:solidFill>
                  <a:srgbClr val="C00000"/>
                </a:solidFill>
                <a:cs typeface="Times New Roman" pitchFamily="18" charset="0"/>
              </a:rPr>
              <a:t>desire it</a:t>
            </a:r>
            <a:r>
              <a:rPr lang="en-US" sz="2800" i="1" dirty="0">
                <a:solidFill>
                  <a:srgbClr val="000000"/>
                </a:solidFill>
                <a:cs typeface="Times New Roman" pitchFamily="18" charset="0"/>
              </a:rPr>
              <a:t>. </a:t>
            </a:r>
          </a:p>
          <a:p>
            <a:pPr eaLnBrk="1" hangingPunct="1">
              <a:lnSpc>
                <a:spcPct val="90000"/>
              </a:lnSpc>
              <a:buFont typeface="Wingdings" pitchFamily="2" charset="2"/>
              <a:buNone/>
            </a:pPr>
            <a:endParaRPr lang="en-US" sz="2400" i="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 calcmode="lin" valueType="num">
                                      <p:cBhvr additive="base">
                                        <p:cTn id="7" dur="500" fill="hold"/>
                                        <p:tgtEl>
                                          <p:spTgt spid="57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3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anim calcmode="lin" valueType="num">
                                      <p:cBhvr additive="base">
                                        <p:cTn id="11" dur="500" fill="hold"/>
                                        <p:tgtEl>
                                          <p:spTgt spid="57347">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73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t>Act Utilitarianism</a:t>
            </a:r>
          </a:p>
        </p:txBody>
      </p:sp>
      <p:sp>
        <p:nvSpPr>
          <p:cNvPr id="58371" name="Rectangle 3"/>
          <p:cNvSpPr>
            <a:spLocks noGrp="1" noChangeArrowheads="1"/>
          </p:cNvSpPr>
          <p:nvPr>
            <p:ph type="body" idx="1"/>
          </p:nvPr>
        </p:nvSpPr>
        <p:spPr/>
        <p:txBody>
          <a:bodyPr>
            <a:normAutofit/>
          </a:bodyPr>
          <a:lstStyle/>
          <a:p>
            <a:pPr eaLnBrk="1" hangingPunct="1"/>
            <a:r>
              <a:rPr lang="en-US" sz="2800" dirty="0">
                <a:solidFill>
                  <a:srgbClr val="000000"/>
                </a:solidFill>
                <a:cs typeface="Times New Roman" pitchFamily="18" charset="0"/>
              </a:rPr>
              <a:t>According to act </a:t>
            </a:r>
            <a:r>
              <a:rPr lang="en-US" sz="2800" dirty="0" err="1">
                <a:solidFill>
                  <a:srgbClr val="000000"/>
                </a:solidFill>
                <a:cs typeface="Times New Roman" pitchFamily="18" charset="0"/>
              </a:rPr>
              <a:t>utilitarians</a:t>
            </a:r>
            <a:r>
              <a:rPr lang="en-US" sz="2800" dirty="0">
                <a:solidFill>
                  <a:srgbClr val="000000"/>
                </a:solidFill>
                <a:cs typeface="Times New Roman" pitchFamily="18" charset="0"/>
              </a:rPr>
              <a:t>:</a:t>
            </a:r>
          </a:p>
          <a:p>
            <a:pPr eaLnBrk="1" hangingPunct="1">
              <a:buFont typeface="Wingdings" pitchFamily="2" charset="2"/>
              <a:buNone/>
            </a:pPr>
            <a:endParaRPr lang="en-US" sz="1100" dirty="0">
              <a:solidFill>
                <a:srgbClr val="000000"/>
              </a:solidFill>
              <a:cs typeface="Times New Roman" pitchFamily="18" charset="0"/>
            </a:endParaRPr>
          </a:p>
          <a:p>
            <a:pPr eaLnBrk="1" hangingPunct="1">
              <a:buFont typeface="Wingdings" pitchFamily="2" charset="2"/>
              <a:buNone/>
            </a:pPr>
            <a:r>
              <a:rPr lang="en-US" sz="2800" i="1" dirty="0">
                <a:solidFill>
                  <a:srgbClr val="000000"/>
                </a:solidFill>
                <a:cs typeface="Times New Roman" pitchFamily="18" charset="0"/>
              </a:rPr>
              <a:t>   </a:t>
            </a:r>
          </a:p>
          <a:p>
            <a:pPr eaLnBrk="1" hangingPunct="1">
              <a:buFont typeface="Wingdings" pitchFamily="2" charset="2"/>
              <a:buNone/>
            </a:pPr>
            <a:r>
              <a:rPr lang="en-US" sz="2800" i="1" dirty="0">
                <a:solidFill>
                  <a:srgbClr val="000000"/>
                </a:solidFill>
                <a:cs typeface="Times New Roman" pitchFamily="18" charset="0"/>
              </a:rPr>
              <a:t>	An act, X, is </a:t>
            </a:r>
            <a:r>
              <a:rPr lang="en-US" sz="2800" i="1" dirty="0">
                <a:solidFill>
                  <a:srgbClr val="C00000"/>
                </a:solidFill>
                <a:cs typeface="Times New Roman" pitchFamily="18" charset="0"/>
              </a:rPr>
              <a:t>morally permissible </a:t>
            </a:r>
            <a:r>
              <a:rPr lang="en-US" sz="2800" i="1" dirty="0">
                <a:solidFill>
                  <a:srgbClr val="000000"/>
                </a:solidFill>
                <a:cs typeface="Times New Roman" pitchFamily="18" charset="0"/>
              </a:rPr>
              <a:t>if the consequences produced by doing X result in the greatest good for the greatest number of persons affected by X.</a:t>
            </a:r>
          </a:p>
          <a:p>
            <a:pPr eaLnBrk="1" hangingPunct="1"/>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 calcmode="lin" valueType="num">
                                      <p:cBhvr additive="base">
                                        <p:cTn id="7" dur="500" fill="hold"/>
                                        <p:tgtEl>
                                          <p:spTgt spid="583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3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371">
                                            <p:txEl>
                                              <p:pRg st="2" end="2"/>
                                            </p:txEl>
                                          </p:spTgt>
                                        </p:tgtEl>
                                        <p:attrNameLst>
                                          <p:attrName>style.visibility</p:attrName>
                                        </p:attrNameLst>
                                      </p:cBhvr>
                                      <p:to>
                                        <p:strVal val="visible"/>
                                      </p:to>
                                    </p:set>
                                    <p:anim calcmode="lin" valueType="num">
                                      <p:cBhvr additive="base">
                                        <p:cTn id="13" dur="500" fill="hold"/>
                                        <p:tgtEl>
                                          <p:spTgt spid="583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3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anim calcmode="lin" valueType="num">
                                      <p:cBhvr additive="base">
                                        <p:cTn id="19" dur="500" fill="hold"/>
                                        <p:tgtEl>
                                          <p:spTgt spid="5837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37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t>Criticism of Act Utilitarianism</a:t>
            </a:r>
          </a:p>
        </p:txBody>
      </p:sp>
      <p:sp>
        <p:nvSpPr>
          <p:cNvPr id="59395" name="Rectangle 3"/>
          <p:cNvSpPr>
            <a:spLocks noGrp="1" noChangeArrowheads="1"/>
          </p:cNvSpPr>
          <p:nvPr>
            <p:ph type="body" idx="1"/>
          </p:nvPr>
        </p:nvSpPr>
        <p:spPr/>
        <p:txBody>
          <a:bodyPr>
            <a:normAutofit/>
          </a:bodyPr>
          <a:lstStyle/>
          <a:p>
            <a:pPr eaLnBrk="1" hangingPunct="1"/>
            <a:r>
              <a:rPr lang="en-US" sz="3200" dirty="0">
                <a:cs typeface="Times New Roman" pitchFamily="18" charset="0"/>
              </a:rPr>
              <a:t>Critics reject the emphasis on the consequence of individual acts.</a:t>
            </a:r>
          </a:p>
          <a:p>
            <a:pPr lvl="1" eaLnBrk="1" hangingPunct="1">
              <a:buClr>
                <a:srgbClr val="FFC000"/>
              </a:buClr>
            </a:pPr>
            <a:r>
              <a:rPr lang="en-US" sz="2800" dirty="0">
                <a:cs typeface="Times New Roman" pitchFamily="18" charset="0"/>
              </a:rPr>
              <a:t>They point out that in our day-to-day activities, we tend not to deliberate on each individual action as if that action were </a:t>
            </a:r>
            <a:r>
              <a:rPr lang="en-US" sz="2800" dirty="0">
                <a:solidFill>
                  <a:srgbClr val="C00000"/>
                </a:solidFill>
                <a:cs typeface="Times New Roman" pitchFamily="18" charset="0"/>
              </a:rPr>
              <a:t>unique</a:t>
            </a:r>
            <a:r>
              <a:rPr lang="en-US" sz="2800" dirty="0">
                <a:cs typeface="Times New Roman" pitchFamily="18" charset="0"/>
              </a:rPr>
              <a:t>.</a:t>
            </a:r>
          </a:p>
          <a:p>
            <a:pPr lvl="1" eaLnBrk="1" hangingPunct="1">
              <a:buClr>
                <a:srgbClr val="FFC000"/>
              </a:buClr>
            </a:pPr>
            <a:r>
              <a:rPr lang="en-US" sz="2800" dirty="0">
                <a:cs typeface="Times New Roman" pitchFamily="18" charset="0"/>
              </a:rPr>
              <a:t>Rather, we are inclined to deliberate on the basis of certain principles or general rules that </a:t>
            </a:r>
            <a:r>
              <a:rPr lang="en-US" sz="2800" dirty="0">
                <a:solidFill>
                  <a:srgbClr val="C00000"/>
                </a:solidFill>
                <a:cs typeface="Times New Roman" pitchFamily="18" charset="0"/>
              </a:rPr>
              <a:t>guide our behavior</a:t>
            </a:r>
            <a:r>
              <a:rPr lang="en-US" sz="2800" dirty="0">
                <a:cs typeface="Times New Roman" pitchFamily="18" charset="0"/>
              </a:rPr>
              <a:t>. </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anim calcmode="lin" valueType="num">
                                      <p:cBhvr additive="base">
                                        <p:cTn id="11" dur="500" fill="hold"/>
                                        <p:tgtEl>
                                          <p:spTgt spid="5939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93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anim calcmode="lin" valueType="num">
                                      <p:cBhvr additive="base">
                                        <p:cTn id="15" dur="500" fill="hold"/>
                                        <p:tgtEl>
                                          <p:spTgt spid="5939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939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fontScale="90000"/>
          </a:bodyPr>
          <a:lstStyle/>
          <a:p>
            <a:pPr eaLnBrk="1" hangingPunct="1"/>
            <a:r>
              <a:rPr lang="en-US" sz="4000"/>
              <a:t>Criticism of Act Utilitarianism (continued)</a:t>
            </a:r>
          </a:p>
        </p:txBody>
      </p:sp>
      <p:sp>
        <p:nvSpPr>
          <p:cNvPr id="60419" name="Rectangle 3"/>
          <p:cNvSpPr>
            <a:spLocks noGrp="1" noChangeArrowheads="1"/>
          </p:cNvSpPr>
          <p:nvPr>
            <p:ph type="body" idx="1"/>
          </p:nvPr>
        </p:nvSpPr>
        <p:spPr>
          <a:xfrm>
            <a:off x="380999" y="1719070"/>
            <a:ext cx="8407893" cy="4757929"/>
          </a:xfrm>
        </p:spPr>
        <p:txBody>
          <a:bodyPr/>
          <a:lstStyle/>
          <a:p>
            <a:pPr eaLnBrk="1" hangingPunct="1">
              <a:buClr>
                <a:srgbClr val="FFC000"/>
              </a:buClr>
            </a:pPr>
            <a:r>
              <a:rPr lang="en-US" sz="2800" dirty="0">
                <a:cs typeface="Times New Roman" pitchFamily="18" charset="0"/>
              </a:rPr>
              <a:t>Consider some principles that may </a:t>
            </a:r>
            <a:r>
              <a:rPr lang="en-US" sz="2800" dirty="0">
                <a:solidFill>
                  <a:srgbClr val="C00000"/>
                </a:solidFill>
                <a:cs typeface="Times New Roman" pitchFamily="18" charset="0"/>
              </a:rPr>
              <a:t>guide</a:t>
            </a:r>
            <a:r>
              <a:rPr lang="en-US" sz="2800" dirty="0">
                <a:cs typeface="Times New Roman" pitchFamily="18" charset="0"/>
              </a:rPr>
              <a:t> your behavior as a consumer. </a:t>
            </a:r>
          </a:p>
          <a:p>
            <a:pPr eaLnBrk="1" hangingPunct="1">
              <a:buClr>
                <a:srgbClr val="FFC000"/>
              </a:buClr>
            </a:pPr>
            <a:r>
              <a:rPr lang="en-US" sz="2800" dirty="0">
                <a:cs typeface="Times New Roman" pitchFamily="18" charset="0"/>
              </a:rPr>
              <a:t>Each time that you enter a store, do you ask yourself the following question: </a:t>
            </a:r>
            <a:r>
              <a:rPr lang="en-US" sz="2800" dirty="0">
                <a:solidFill>
                  <a:srgbClr val="C00000"/>
                </a:solidFill>
                <a:cs typeface="Times New Roman" pitchFamily="18" charset="0"/>
              </a:rPr>
              <a:t>“Shall I steal item X in at this particular time?" </a:t>
            </a:r>
          </a:p>
          <a:p>
            <a:pPr eaLnBrk="1" hangingPunct="1">
              <a:buClr>
                <a:srgbClr val="FFC000"/>
              </a:buClr>
            </a:pPr>
            <a:r>
              <a:rPr lang="en-US" sz="2800" dirty="0">
                <a:cs typeface="Times New Roman" pitchFamily="18" charset="0"/>
              </a:rPr>
              <a:t>Or have you already formulated certain general principles that guide your individual actions, such as a principle to the effect</a:t>
            </a:r>
            <a:r>
              <a:rPr lang="en-US" sz="2800" dirty="0">
                <a:solidFill>
                  <a:schemeClr val="accent5">
                    <a:lumMod val="75000"/>
                  </a:schemeClr>
                </a:solidFill>
                <a:cs typeface="Times New Roman" pitchFamily="18" charset="0"/>
              </a:rPr>
              <a:t>:</a:t>
            </a:r>
            <a:r>
              <a:rPr lang="en-US" sz="2800" dirty="0">
                <a:solidFill>
                  <a:srgbClr val="C00000"/>
                </a:solidFill>
                <a:cs typeface="Times New Roman" pitchFamily="18" charset="0"/>
              </a:rPr>
              <a:t> "It is never morally permissible to steal."</a:t>
            </a:r>
            <a:endParaRPr lang="en-US" sz="28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419">
                                            <p:txEl>
                                              <p:pRg st="1" end="1"/>
                                            </p:txEl>
                                          </p:spTgt>
                                        </p:tgtEl>
                                        <p:attrNameLst>
                                          <p:attrName>style.visibility</p:attrName>
                                        </p:attrNameLst>
                                      </p:cBhvr>
                                      <p:to>
                                        <p:strVal val="visible"/>
                                      </p:to>
                                    </p:set>
                                    <p:anim calcmode="lin" valueType="num">
                                      <p:cBhvr additive="base">
                                        <p:cTn id="13" dur="500" fill="hold"/>
                                        <p:tgtEl>
                                          <p:spTgt spid="604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4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419">
                                            <p:txEl>
                                              <p:pRg st="2" end="2"/>
                                            </p:txEl>
                                          </p:spTgt>
                                        </p:tgtEl>
                                        <p:attrNameLst>
                                          <p:attrName>style.visibility</p:attrName>
                                        </p:attrNameLst>
                                      </p:cBhvr>
                                      <p:to>
                                        <p:strVal val="visible"/>
                                      </p:to>
                                    </p:set>
                                    <p:anim calcmode="lin" valueType="num">
                                      <p:cBhvr additive="base">
                                        <p:cTn id="19" dur="500" fill="hold"/>
                                        <p:tgtEl>
                                          <p:spTgt spid="604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4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t>Rule Utilitarianism</a:t>
            </a:r>
          </a:p>
        </p:txBody>
      </p:sp>
      <p:sp>
        <p:nvSpPr>
          <p:cNvPr id="61443" name="Rectangle 3"/>
          <p:cNvSpPr>
            <a:spLocks noGrp="1" noChangeArrowheads="1"/>
          </p:cNvSpPr>
          <p:nvPr>
            <p:ph type="body" idx="1"/>
          </p:nvPr>
        </p:nvSpPr>
        <p:spPr>
          <a:xfrm>
            <a:off x="380999" y="1719071"/>
            <a:ext cx="8229601" cy="4407408"/>
          </a:xfrm>
        </p:spPr>
        <p:txBody>
          <a:bodyPr>
            <a:normAutofit lnSpcReduction="10000"/>
          </a:bodyPr>
          <a:lstStyle/>
          <a:p>
            <a:pPr eaLnBrk="1" hangingPunct="1">
              <a:lnSpc>
                <a:spcPct val="90000"/>
              </a:lnSpc>
            </a:pPr>
            <a:r>
              <a:rPr lang="en-US" sz="2800" dirty="0">
                <a:solidFill>
                  <a:srgbClr val="000000"/>
                </a:solidFill>
                <a:cs typeface="Times New Roman" pitchFamily="18" charset="0"/>
              </a:rPr>
              <a:t>Some </a:t>
            </a:r>
            <a:r>
              <a:rPr lang="en-US" sz="2800" dirty="0" err="1">
                <a:solidFill>
                  <a:srgbClr val="000000"/>
                </a:solidFill>
                <a:cs typeface="Times New Roman" pitchFamily="18" charset="0"/>
              </a:rPr>
              <a:t>utilitarians</a:t>
            </a:r>
            <a:r>
              <a:rPr lang="en-US" sz="2800" dirty="0">
                <a:solidFill>
                  <a:srgbClr val="000000"/>
                </a:solidFill>
                <a:cs typeface="Times New Roman" pitchFamily="18" charset="0"/>
              </a:rPr>
              <a:t> argue that it is the consequences that result from following </a:t>
            </a:r>
            <a:r>
              <a:rPr lang="en-US" sz="2800" i="1" dirty="0">
                <a:solidFill>
                  <a:srgbClr val="C00000"/>
                </a:solidFill>
                <a:cs typeface="Times New Roman" pitchFamily="18" charset="0"/>
              </a:rPr>
              <a:t>rules</a:t>
            </a:r>
            <a:r>
              <a:rPr lang="en-US" sz="2800" dirty="0">
                <a:solidFill>
                  <a:srgbClr val="C00000"/>
                </a:solidFill>
                <a:cs typeface="Times New Roman" pitchFamily="18" charset="0"/>
              </a:rPr>
              <a:t> or principles, not the consequences of individual acts</a:t>
            </a:r>
            <a:r>
              <a:rPr lang="en-US" sz="2800" dirty="0">
                <a:solidFill>
                  <a:srgbClr val="000000"/>
                </a:solidFill>
                <a:cs typeface="Times New Roman" pitchFamily="18" charset="0"/>
              </a:rPr>
              <a:t>, that are important.</a:t>
            </a:r>
          </a:p>
          <a:p>
            <a:pPr eaLnBrk="1" hangingPunct="1">
              <a:lnSpc>
                <a:spcPct val="90000"/>
              </a:lnSpc>
              <a:buNone/>
            </a:pPr>
            <a:endParaRPr lang="en-US" sz="2800" dirty="0">
              <a:solidFill>
                <a:srgbClr val="000000"/>
              </a:solidFill>
              <a:cs typeface="Times New Roman" pitchFamily="18" charset="0"/>
            </a:endParaRPr>
          </a:p>
          <a:p>
            <a:pPr eaLnBrk="1" hangingPunct="1">
              <a:lnSpc>
                <a:spcPct val="90000"/>
              </a:lnSpc>
            </a:pPr>
            <a:r>
              <a:rPr lang="en-US" sz="2800" dirty="0">
                <a:solidFill>
                  <a:srgbClr val="000000"/>
                </a:solidFill>
                <a:cs typeface="Times New Roman" pitchFamily="18" charset="0"/>
              </a:rPr>
              <a:t>According to </a:t>
            </a:r>
            <a:r>
              <a:rPr lang="en-US" sz="2800" i="1" dirty="0">
                <a:solidFill>
                  <a:srgbClr val="000000"/>
                </a:solidFill>
                <a:cs typeface="Times New Roman" pitchFamily="18" charset="0"/>
              </a:rPr>
              <a:t>rule utilitarianism</a:t>
            </a:r>
            <a:r>
              <a:rPr lang="en-US" sz="2800" dirty="0">
                <a:solidFill>
                  <a:srgbClr val="000000"/>
                </a:solidFill>
                <a:cs typeface="Times New Roman" pitchFamily="18" charset="0"/>
              </a:rPr>
              <a:t>: </a:t>
            </a:r>
          </a:p>
          <a:p>
            <a:pPr eaLnBrk="1" hangingPunct="1">
              <a:lnSpc>
                <a:spcPct val="90000"/>
              </a:lnSpc>
              <a:buFont typeface="Wingdings" pitchFamily="2" charset="2"/>
              <a:buNone/>
            </a:pPr>
            <a:endParaRPr lang="en-US" sz="1200" dirty="0">
              <a:solidFill>
                <a:srgbClr val="000000"/>
              </a:solidFill>
              <a:cs typeface="Times New Roman" pitchFamily="18" charset="0"/>
            </a:endParaRPr>
          </a:p>
          <a:p>
            <a:pPr lvl="1" eaLnBrk="1" hangingPunct="1">
              <a:lnSpc>
                <a:spcPct val="90000"/>
              </a:lnSpc>
              <a:buFont typeface="Wingdings" pitchFamily="2" charset="2"/>
              <a:buNone/>
            </a:pPr>
            <a:r>
              <a:rPr lang="en-US" sz="2400" i="1" dirty="0">
                <a:solidFill>
                  <a:srgbClr val="000000"/>
                </a:solidFill>
                <a:cs typeface="Times New Roman" pitchFamily="18" charset="0"/>
              </a:rPr>
              <a:t>   </a:t>
            </a:r>
            <a:r>
              <a:rPr lang="en-US" sz="2800" i="1" dirty="0">
                <a:solidFill>
                  <a:srgbClr val="000000"/>
                </a:solidFill>
                <a:cs typeface="Times New Roman" pitchFamily="18" charset="0"/>
              </a:rPr>
              <a:t>An act, X, is </a:t>
            </a:r>
            <a:r>
              <a:rPr lang="en-US" sz="2800" i="1" dirty="0">
                <a:solidFill>
                  <a:srgbClr val="C00000"/>
                </a:solidFill>
                <a:cs typeface="Times New Roman" pitchFamily="18" charset="0"/>
              </a:rPr>
              <a:t>morally permissible </a:t>
            </a:r>
            <a:r>
              <a:rPr lang="en-US" sz="2800" i="1" dirty="0">
                <a:solidFill>
                  <a:srgbClr val="000000"/>
                </a:solidFill>
                <a:cs typeface="Times New Roman" pitchFamily="18" charset="0"/>
              </a:rPr>
              <a:t>if the consequences of following the general rule (Y), of which act X is an instance, would bring about the greatest good for the greatest number.</a:t>
            </a:r>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43">
                                            <p:txEl>
                                              <p:pRg st="2" end="2"/>
                                            </p:txEl>
                                          </p:spTgt>
                                        </p:tgtEl>
                                        <p:attrNameLst>
                                          <p:attrName>style.visibility</p:attrName>
                                        </p:attrNameLst>
                                      </p:cBhvr>
                                      <p:to>
                                        <p:strVal val="visible"/>
                                      </p:to>
                                    </p:set>
                                    <p:anim calcmode="lin" valueType="num">
                                      <p:cBhvr additive="base">
                                        <p:cTn id="13" dur="500" fill="hold"/>
                                        <p:tgtEl>
                                          <p:spTgt spid="614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443">
                                            <p:txEl>
                                              <p:pRg st="2" end="2"/>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1443">
                                            <p:txEl>
                                              <p:pRg st="4" end="4"/>
                                            </p:txEl>
                                          </p:spTgt>
                                        </p:tgtEl>
                                        <p:attrNameLst>
                                          <p:attrName>style.visibility</p:attrName>
                                        </p:attrNameLst>
                                      </p:cBhvr>
                                      <p:to>
                                        <p:strVal val="visible"/>
                                      </p:to>
                                    </p:set>
                                    <p:anim calcmode="lin" valueType="num">
                                      <p:cBhvr additive="base">
                                        <p:cTn id="17" dur="500" fill="hold"/>
                                        <p:tgtEl>
                                          <p:spTgt spid="61443">
                                            <p:txEl>
                                              <p:pRg st="4" end="4"/>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14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t>Criticism of Rule Utilitarianism</a:t>
            </a:r>
          </a:p>
        </p:txBody>
      </p:sp>
      <p:sp>
        <p:nvSpPr>
          <p:cNvPr id="62467"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Critics tend to attack one or both of the following aspects of utilitarian theory: </a:t>
            </a:r>
          </a:p>
          <a:p>
            <a:pPr lvl="1" eaLnBrk="1" hangingPunct="1">
              <a:lnSpc>
                <a:spcPct val="90000"/>
              </a:lnSpc>
              <a:buClr>
                <a:srgbClr val="FFC000"/>
              </a:buClr>
            </a:pPr>
            <a:r>
              <a:rPr lang="en-US" sz="2800" i="1" dirty="0">
                <a:solidFill>
                  <a:srgbClr val="000000"/>
                </a:solidFill>
                <a:cs typeface="Times New Roman" pitchFamily="18" charset="0"/>
              </a:rPr>
              <a:t>(I) morality is ultimately tied to </a:t>
            </a:r>
            <a:r>
              <a:rPr lang="en-US" sz="2800" i="1" dirty="0">
                <a:solidFill>
                  <a:srgbClr val="C00000"/>
                </a:solidFill>
                <a:cs typeface="Times New Roman" pitchFamily="18" charset="0"/>
              </a:rPr>
              <a:t>happiness or pleasure</a:t>
            </a:r>
            <a:r>
              <a:rPr lang="en-US" sz="2800" i="1" dirty="0">
                <a:solidFill>
                  <a:srgbClr val="000000"/>
                </a:solidFill>
                <a:cs typeface="Times New Roman" pitchFamily="18" charset="0"/>
              </a:rPr>
              <a:t>; </a:t>
            </a:r>
          </a:p>
          <a:p>
            <a:pPr lvl="1" eaLnBrk="1" hangingPunct="1">
              <a:lnSpc>
                <a:spcPct val="90000"/>
              </a:lnSpc>
              <a:buClr>
                <a:srgbClr val="FFC000"/>
              </a:buClr>
            </a:pPr>
            <a:r>
              <a:rPr lang="en-US" sz="2800" i="1" dirty="0">
                <a:solidFill>
                  <a:srgbClr val="000000"/>
                </a:solidFill>
                <a:cs typeface="Times New Roman" pitchFamily="18" charset="0"/>
              </a:rPr>
              <a:t>(II) morality can ultimately be </a:t>
            </a:r>
            <a:r>
              <a:rPr lang="en-US" sz="2800" i="1" dirty="0">
                <a:solidFill>
                  <a:srgbClr val="C00000"/>
                </a:solidFill>
                <a:cs typeface="Times New Roman" pitchFamily="18" charset="0"/>
              </a:rPr>
              <a:t>determined by consequences</a:t>
            </a:r>
            <a:r>
              <a:rPr lang="en-US" sz="2800" i="1" dirty="0">
                <a:solidFill>
                  <a:srgbClr val="000000"/>
                </a:solidFill>
                <a:cs typeface="Times New Roman" pitchFamily="18" charset="0"/>
              </a:rPr>
              <a:t> (of either acts or policies).</a:t>
            </a:r>
          </a:p>
          <a:p>
            <a:pPr eaLnBrk="1" hangingPunct="1">
              <a:lnSpc>
                <a:spcPct val="90000"/>
              </a:lnSpc>
            </a:pPr>
            <a:r>
              <a:rPr lang="en-US" sz="2800" dirty="0">
                <a:solidFill>
                  <a:srgbClr val="000000"/>
                </a:solidFill>
                <a:cs typeface="Times New Roman" pitchFamily="18" charset="0"/>
              </a:rPr>
              <a:t>Critics of utilitarianism argue that morality can be </a:t>
            </a:r>
            <a:r>
              <a:rPr lang="en-US" sz="2800" dirty="0">
                <a:solidFill>
                  <a:srgbClr val="C00000"/>
                </a:solidFill>
                <a:cs typeface="Times New Roman" pitchFamily="18" charset="0"/>
              </a:rPr>
              <a:t>grounded </a:t>
            </a:r>
            <a:r>
              <a:rPr lang="en-US" sz="2800" dirty="0">
                <a:solidFill>
                  <a:srgbClr val="000000"/>
                </a:solidFill>
                <a:cs typeface="Times New Roman" pitchFamily="18" charset="0"/>
              </a:rPr>
              <a:t>neither in consequences nor in happiness. </a:t>
            </a:r>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anim calcmode="lin" valueType="num">
                                      <p:cBhvr additive="base">
                                        <p:cTn id="11" dur="500" fill="hold"/>
                                        <p:tgtEl>
                                          <p:spTgt spid="6246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246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anim calcmode="lin" valueType="num">
                                      <p:cBhvr additive="base">
                                        <p:cTn id="15" dur="500" fill="hold"/>
                                        <p:tgtEl>
                                          <p:spTgt spid="6246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24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2467">
                                            <p:txEl>
                                              <p:pRg st="3" end="3"/>
                                            </p:txEl>
                                          </p:spTgt>
                                        </p:tgtEl>
                                        <p:attrNameLst>
                                          <p:attrName>style.visibility</p:attrName>
                                        </p:attrNameLst>
                                      </p:cBhvr>
                                      <p:to>
                                        <p:strVal val="visible"/>
                                      </p:to>
                                    </p:set>
                                    <p:anim calcmode="lin" valueType="num">
                                      <p:cBhvr additive="base">
                                        <p:cTn id="21" dur="500" fill="hold"/>
                                        <p:tgtEl>
                                          <p:spTgt spid="6246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246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cs typeface="Times New Roman" pitchFamily="18" charset="0"/>
              </a:rPr>
              <a:t>Duty-based Ethical Theories</a:t>
            </a:r>
            <a:r>
              <a:rPr lang="en-US"/>
              <a:t> </a:t>
            </a:r>
          </a:p>
        </p:txBody>
      </p:sp>
      <p:sp>
        <p:nvSpPr>
          <p:cNvPr id="63491" name="Rectangle 3"/>
          <p:cNvSpPr>
            <a:spLocks noGrp="1" noChangeArrowheads="1"/>
          </p:cNvSpPr>
          <p:nvPr>
            <p:ph type="body" idx="1"/>
          </p:nvPr>
        </p:nvSpPr>
        <p:spPr/>
        <p:txBody>
          <a:bodyPr/>
          <a:lstStyle/>
          <a:p>
            <a:pPr eaLnBrk="1" hangingPunct="1"/>
            <a:r>
              <a:rPr lang="en-US" sz="2800" dirty="0">
                <a:cs typeface="Times New Roman" pitchFamily="18" charset="0"/>
              </a:rPr>
              <a:t>Immanuel </a:t>
            </a:r>
            <a:r>
              <a:rPr lang="en-US" sz="2800" dirty="0">
                <a:solidFill>
                  <a:srgbClr val="C00000"/>
                </a:solidFill>
                <a:cs typeface="Times New Roman" pitchFamily="18" charset="0"/>
              </a:rPr>
              <a:t>Kant</a:t>
            </a:r>
            <a:r>
              <a:rPr lang="en-US" sz="2800" dirty="0">
                <a:cs typeface="Times New Roman" pitchFamily="18" charset="0"/>
              </a:rPr>
              <a:t> argued that morality must ultimately be grounded in the concept of </a:t>
            </a:r>
            <a:r>
              <a:rPr lang="en-US" sz="2800" dirty="0">
                <a:solidFill>
                  <a:srgbClr val="C00000"/>
                </a:solidFill>
                <a:cs typeface="Times New Roman" pitchFamily="18" charset="0"/>
              </a:rPr>
              <a:t>duty</a:t>
            </a:r>
            <a:r>
              <a:rPr lang="en-US" sz="2800" dirty="0">
                <a:cs typeface="Times New Roman" pitchFamily="18" charset="0"/>
              </a:rPr>
              <a:t> or </a:t>
            </a:r>
            <a:r>
              <a:rPr lang="en-US" sz="2800" dirty="0">
                <a:solidFill>
                  <a:srgbClr val="C00000"/>
                </a:solidFill>
                <a:cs typeface="Times New Roman" pitchFamily="18" charset="0"/>
              </a:rPr>
              <a:t>obligations</a:t>
            </a:r>
            <a:r>
              <a:rPr lang="en-US" sz="2800" dirty="0">
                <a:cs typeface="Times New Roman" pitchFamily="18" charset="0"/>
              </a:rPr>
              <a:t> that humans have to one another.</a:t>
            </a:r>
          </a:p>
          <a:p>
            <a:pPr eaLnBrk="1" hangingPunct="1"/>
            <a:r>
              <a:rPr lang="en-US" sz="2800" dirty="0">
                <a:cs typeface="Times New Roman" pitchFamily="18" charset="0"/>
              </a:rPr>
              <a:t>For Kant, morality can never be grounded in the consequences of human actions. </a:t>
            </a:r>
          </a:p>
          <a:p>
            <a:pPr eaLnBrk="1" hangingPunct="1"/>
            <a:r>
              <a:rPr lang="en-US" sz="2800" dirty="0">
                <a:cs typeface="Times New Roman" pitchFamily="18" charset="0"/>
              </a:rPr>
              <a:t>Thus, in Kant’s view, morality has nothing to do with the </a:t>
            </a:r>
            <a:r>
              <a:rPr lang="en-US" sz="2800" dirty="0">
                <a:solidFill>
                  <a:srgbClr val="C00000"/>
                </a:solidFill>
                <a:cs typeface="Times New Roman" pitchFamily="18" charset="0"/>
              </a:rPr>
              <a:t>promotion of happiness </a:t>
            </a:r>
            <a:r>
              <a:rPr lang="en-US" sz="2800" dirty="0">
                <a:cs typeface="Times New Roman" pitchFamily="18" charset="0"/>
              </a:rPr>
              <a:t>or the achievement of </a:t>
            </a:r>
            <a:r>
              <a:rPr lang="en-US" sz="2800" dirty="0">
                <a:solidFill>
                  <a:srgbClr val="C00000"/>
                </a:solidFill>
                <a:cs typeface="Times New Roman" pitchFamily="18" charset="0"/>
              </a:rPr>
              <a:t>desirable consequences</a:t>
            </a:r>
            <a:r>
              <a:rPr lang="en-US" sz="2800" dirty="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3491">
                                            <p:txEl>
                                              <p:pRg st="1" end="1"/>
                                            </p:txEl>
                                          </p:spTgt>
                                        </p:tgtEl>
                                        <p:attrNameLst>
                                          <p:attrName>style.visibility</p:attrName>
                                        </p:attrNameLst>
                                      </p:cBhvr>
                                      <p:to>
                                        <p:strVal val="visible"/>
                                      </p:to>
                                    </p:set>
                                    <p:anim calcmode="lin" valueType="num">
                                      <p:cBhvr additive="base">
                                        <p:cTn id="13" dur="500" fill="hold"/>
                                        <p:tgtEl>
                                          <p:spTgt spid="634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34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3491">
                                            <p:txEl>
                                              <p:pRg st="2" end="2"/>
                                            </p:txEl>
                                          </p:spTgt>
                                        </p:tgtEl>
                                        <p:attrNameLst>
                                          <p:attrName>style.visibility</p:attrName>
                                        </p:attrNameLst>
                                      </p:cBhvr>
                                      <p:to>
                                        <p:strVal val="visible"/>
                                      </p:to>
                                    </p:set>
                                    <p:anim calcmode="lin" valueType="num">
                                      <p:cBhvr additive="base">
                                        <p:cTn id="19" dur="500" fill="hold"/>
                                        <p:tgtEl>
                                          <p:spTgt spid="634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349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fontScale="90000"/>
          </a:bodyPr>
          <a:lstStyle/>
          <a:p>
            <a:pPr eaLnBrk="1" hangingPunct="1"/>
            <a:r>
              <a:rPr lang="en-US" sz="4000"/>
              <a:t>Duty-based Ethical Theories (Continued)</a:t>
            </a:r>
          </a:p>
        </p:txBody>
      </p:sp>
      <p:sp>
        <p:nvSpPr>
          <p:cNvPr id="64515" name="Rectangle 3"/>
          <p:cNvSpPr>
            <a:spLocks noGrp="1" noChangeArrowheads="1"/>
          </p:cNvSpPr>
          <p:nvPr>
            <p:ph type="body" idx="1"/>
          </p:nvPr>
        </p:nvSpPr>
        <p:spPr/>
        <p:txBody>
          <a:bodyPr>
            <a:normAutofit lnSpcReduction="10000"/>
          </a:bodyPr>
          <a:lstStyle/>
          <a:p>
            <a:pPr eaLnBrk="1" hangingPunct="1">
              <a:lnSpc>
                <a:spcPct val="90000"/>
              </a:lnSpc>
            </a:pPr>
            <a:r>
              <a:rPr lang="en-US" sz="2800" dirty="0">
                <a:cs typeface="Times New Roman" pitchFamily="18" charset="0"/>
              </a:rPr>
              <a:t>Kant rejects utilitarianism in particular, and all consequentialist ethical theories in general. </a:t>
            </a:r>
          </a:p>
          <a:p>
            <a:pPr lvl="1" eaLnBrk="1" hangingPunct="1">
              <a:lnSpc>
                <a:spcPct val="90000"/>
              </a:lnSpc>
            </a:pPr>
            <a:r>
              <a:rPr lang="en-US" sz="2400" dirty="0">
                <a:cs typeface="Times New Roman" pitchFamily="18" charset="0"/>
              </a:rPr>
              <a:t>He points out that, in some instances, performing our duties may result in our being unhappy and may not necessarily lead to consequences that are considered desirable. </a:t>
            </a:r>
          </a:p>
          <a:p>
            <a:pPr eaLnBrk="1" hangingPunct="1">
              <a:lnSpc>
                <a:spcPct val="90000"/>
              </a:lnSpc>
            </a:pPr>
            <a:r>
              <a:rPr lang="en-US" sz="2800" dirty="0">
                <a:cs typeface="Times New Roman" pitchFamily="18" charset="0"/>
              </a:rPr>
              <a:t>Theories in which the notion of duty, or obligation, serve a foundation for morality are called </a:t>
            </a:r>
            <a:r>
              <a:rPr lang="en-US" sz="2800" dirty="0">
                <a:solidFill>
                  <a:srgbClr val="C00000"/>
                </a:solidFill>
                <a:cs typeface="Times New Roman" pitchFamily="18" charset="0"/>
              </a:rPr>
              <a:t>deontological theories.</a:t>
            </a:r>
          </a:p>
          <a:p>
            <a:pPr lvl="1" eaLnBrk="1" hangingPunct="1">
              <a:lnSpc>
                <a:spcPct val="90000"/>
              </a:lnSpc>
            </a:pPr>
            <a:r>
              <a:rPr lang="en-US" sz="2400" dirty="0">
                <a:cs typeface="Times New Roman" pitchFamily="18" charset="0"/>
              </a:rPr>
              <a:t>They derive their meaning from the Greek root </a:t>
            </a:r>
            <a:r>
              <a:rPr lang="en-US" sz="2400" i="1" dirty="0" err="1">
                <a:cs typeface="Times New Roman" pitchFamily="18" charset="0"/>
              </a:rPr>
              <a:t>deon</a:t>
            </a:r>
            <a:r>
              <a:rPr lang="en-US" sz="2400" dirty="0">
                <a:cs typeface="Times New Roman" pitchFamily="18" charset="0"/>
              </a:rPr>
              <a:t>, which means duty.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 calcmode="lin" valueType="num">
                                      <p:cBhvr additive="base">
                                        <p:cTn id="7" dur="500" fill="hold"/>
                                        <p:tgtEl>
                                          <p:spTgt spid="645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51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anim calcmode="lin" valueType="num">
                                      <p:cBhvr additive="base">
                                        <p:cTn id="11" dur="500" fill="hold"/>
                                        <p:tgtEl>
                                          <p:spTgt spid="6451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45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4515">
                                            <p:txEl>
                                              <p:pRg st="2" end="2"/>
                                            </p:txEl>
                                          </p:spTgt>
                                        </p:tgtEl>
                                        <p:attrNameLst>
                                          <p:attrName>style.visibility</p:attrName>
                                        </p:attrNameLst>
                                      </p:cBhvr>
                                      <p:to>
                                        <p:strVal val="visible"/>
                                      </p:to>
                                    </p:set>
                                    <p:anim calcmode="lin" valueType="num">
                                      <p:cBhvr additive="base">
                                        <p:cTn id="17" dur="500" fill="hold"/>
                                        <p:tgtEl>
                                          <p:spTgt spid="6451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451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64515">
                                            <p:txEl>
                                              <p:pRg st="3" end="3"/>
                                            </p:txEl>
                                          </p:spTgt>
                                        </p:tgtEl>
                                        <p:attrNameLst>
                                          <p:attrName>style.visibility</p:attrName>
                                        </p:attrNameLst>
                                      </p:cBhvr>
                                      <p:to>
                                        <p:strVal val="visible"/>
                                      </p:to>
                                    </p:set>
                                    <p:anim calcmode="lin" valueType="num">
                                      <p:cBhvr additive="base">
                                        <p:cTn id="21" dur="500" fill="hold"/>
                                        <p:tgtEl>
                                          <p:spTgt spid="64515">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45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rmAutofit fontScale="90000"/>
          </a:bodyPr>
          <a:lstStyle/>
          <a:p>
            <a:pPr eaLnBrk="1" hangingPunct="1"/>
            <a:r>
              <a:rPr lang="en-US" sz="4000"/>
              <a:t>Duty-based Ethical Theories (Continued)</a:t>
            </a:r>
          </a:p>
        </p:txBody>
      </p:sp>
      <p:sp>
        <p:nvSpPr>
          <p:cNvPr id="65539" name="Rectangle 3"/>
          <p:cNvSpPr>
            <a:spLocks noGrp="1" noChangeArrowheads="1"/>
          </p:cNvSpPr>
          <p:nvPr>
            <p:ph type="body" idx="1"/>
          </p:nvPr>
        </p:nvSpPr>
        <p:spPr>
          <a:xfrm>
            <a:off x="304801" y="1719071"/>
            <a:ext cx="8610600" cy="4407408"/>
          </a:xfrm>
        </p:spPr>
        <p:txBody>
          <a:bodyPr>
            <a:normAutofit/>
          </a:bodyPr>
          <a:lstStyle/>
          <a:p>
            <a:pPr eaLnBrk="1" hangingPunct="1"/>
            <a:r>
              <a:rPr lang="en-US" sz="3200" dirty="0">
                <a:cs typeface="Times New Roman" pitchFamily="18" charset="0"/>
              </a:rPr>
              <a:t>Kant defends his ethical theory on the grounds that:</a:t>
            </a:r>
          </a:p>
          <a:p>
            <a:pPr eaLnBrk="1" hangingPunct="1"/>
            <a:endParaRPr lang="en-US" sz="3200" dirty="0">
              <a:cs typeface="Times New Roman" pitchFamily="18" charset="0"/>
            </a:endParaRPr>
          </a:p>
          <a:p>
            <a:pPr lvl="1" eaLnBrk="1" hangingPunct="1"/>
            <a:r>
              <a:rPr lang="en-US" sz="3200" dirty="0">
                <a:cs typeface="Times New Roman" pitchFamily="18" charset="0"/>
              </a:rPr>
              <a:t>(1) humans are </a:t>
            </a:r>
            <a:r>
              <a:rPr lang="en-US" sz="3200" dirty="0">
                <a:solidFill>
                  <a:srgbClr val="C00000"/>
                </a:solidFill>
                <a:cs typeface="Times New Roman" pitchFamily="18" charset="0"/>
              </a:rPr>
              <a:t>rational</a:t>
            </a:r>
            <a:r>
              <a:rPr lang="en-US" sz="3200" dirty="0">
                <a:cs typeface="Times New Roman" pitchFamily="18" charset="0"/>
              </a:rPr>
              <a:t>, </a:t>
            </a:r>
            <a:r>
              <a:rPr lang="en-US" sz="3200" dirty="0">
                <a:solidFill>
                  <a:srgbClr val="C00000"/>
                </a:solidFill>
                <a:cs typeface="Times New Roman" pitchFamily="18" charset="0"/>
              </a:rPr>
              <a:t>autonomous </a:t>
            </a:r>
            <a:r>
              <a:rPr lang="en-US" sz="3200" dirty="0">
                <a:cs typeface="Times New Roman" pitchFamily="18" charset="0"/>
              </a:rPr>
              <a:t>agents;</a:t>
            </a:r>
          </a:p>
          <a:p>
            <a:pPr lvl="1" eaLnBrk="1" hangingPunct="1"/>
            <a:r>
              <a:rPr lang="en-US" sz="3200" dirty="0">
                <a:cs typeface="Times New Roman" pitchFamily="18" charset="0"/>
              </a:rPr>
              <a:t>(2) human beings are </a:t>
            </a:r>
            <a:r>
              <a:rPr lang="en-US" sz="3200" dirty="0">
                <a:solidFill>
                  <a:srgbClr val="C00000"/>
                </a:solidFill>
                <a:cs typeface="Times New Roman" pitchFamily="18" charset="0"/>
              </a:rPr>
              <a:t>ends-in-themselves</a:t>
            </a:r>
            <a:r>
              <a:rPr lang="en-US" sz="3200" dirty="0">
                <a:cs typeface="Times New Roman" pitchFamily="18" charset="0"/>
              </a:rPr>
              <a:t>, and not means to ends.</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5539">
                                            <p:txEl>
                                              <p:pRg st="2" end="2"/>
                                            </p:txEl>
                                          </p:spTgt>
                                        </p:tgtEl>
                                        <p:attrNameLst>
                                          <p:attrName>style.visibility</p:attrName>
                                        </p:attrNameLst>
                                      </p:cBhvr>
                                      <p:to>
                                        <p:strVal val="visible"/>
                                      </p:to>
                                    </p:set>
                                    <p:anim calcmode="lin" valueType="num">
                                      <p:cBhvr additive="base">
                                        <p:cTn id="11" dur="500" fill="hold"/>
                                        <p:tgtEl>
                                          <p:spTgt spid="65539">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5539">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5539">
                                            <p:txEl>
                                              <p:pRg st="3" end="3"/>
                                            </p:txEl>
                                          </p:spTgt>
                                        </p:tgtEl>
                                        <p:attrNameLst>
                                          <p:attrName>style.visibility</p:attrName>
                                        </p:attrNameLst>
                                      </p:cBhvr>
                                      <p:to>
                                        <p:strVal val="visible"/>
                                      </p:to>
                                    </p:set>
                                    <p:anim calcmode="lin" valueType="num">
                                      <p:cBhvr additive="base">
                                        <p:cTn id="15" dur="500" fill="hold"/>
                                        <p:tgtEl>
                                          <p:spTgt spid="65539">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553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t>Rule Deontology</a:t>
            </a:r>
          </a:p>
        </p:txBody>
      </p:sp>
      <p:sp>
        <p:nvSpPr>
          <p:cNvPr id="66563"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For Kant, morality conforms to a </a:t>
            </a:r>
            <a:r>
              <a:rPr lang="en-US" sz="2800" dirty="0">
                <a:solidFill>
                  <a:schemeClr val="tx1"/>
                </a:solidFill>
                <a:cs typeface="Times New Roman" pitchFamily="18" charset="0"/>
              </a:rPr>
              <a:t>standard</a:t>
            </a:r>
            <a:r>
              <a:rPr lang="en-US" sz="2800" dirty="0">
                <a:solidFill>
                  <a:srgbClr val="C00000"/>
                </a:solidFill>
                <a:cs typeface="Times New Roman" pitchFamily="18" charset="0"/>
              </a:rPr>
              <a:t> </a:t>
            </a:r>
            <a:r>
              <a:rPr lang="en-US" sz="2800" dirty="0">
                <a:solidFill>
                  <a:srgbClr val="000000"/>
                </a:solidFill>
                <a:cs typeface="Times New Roman" pitchFamily="18" charset="0"/>
              </a:rPr>
              <a:t>or </a:t>
            </a:r>
            <a:r>
              <a:rPr lang="en-US" sz="2800" dirty="0">
                <a:solidFill>
                  <a:schemeClr val="tx1"/>
                </a:solidFill>
                <a:cs typeface="Times New Roman" pitchFamily="18" charset="0"/>
              </a:rPr>
              <a:t>objective test, </a:t>
            </a:r>
            <a:r>
              <a:rPr lang="en-US" sz="2800" dirty="0">
                <a:solidFill>
                  <a:srgbClr val="000000"/>
                </a:solidFill>
                <a:cs typeface="Times New Roman" pitchFamily="18" charset="0"/>
              </a:rPr>
              <a:t>a principle that he calls the </a:t>
            </a:r>
            <a:r>
              <a:rPr lang="en-US" sz="2800" i="1" dirty="0">
                <a:solidFill>
                  <a:srgbClr val="C00000"/>
                </a:solidFill>
                <a:cs typeface="Times New Roman" pitchFamily="18" charset="0"/>
              </a:rPr>
              <a:t>Categorical Imperative</a:t>
            </a:r>
            <a:r>
              <a:rPr lang="en-US" sz="2800" dirty="0">
                <a:solidFill>
                  <a:srgbClr val="C00000"/>
                </a:solidFill>
                <a:cs typeface="Times New Roman" pitchFamily="18" charset="0"/>
              </a:rPr>
              <a:t>. </a:t>
            </a:r>
          </a:p>
          <a:p>
            <a:pPr eaLnBrk="1" hangingPunct="1">
              <a:lnSpc>
                <a:spcPct val="90000"/>
              </a:lnSpc>
            </a:pPr>
            <a:r>
              <a:rPr lang="en-US" sz="2800" dirty="0">
                <a:solidFill>
                  <a:srgbClr val="000000"/>
                </a:solidFill>
                <a:cs typeface="Times New Roman" pitchFamily="18" charset="0"/>
              </a:rPr>
              <a:t>Kant's imperative has a number of variations, one of which directs us to:</a:t>
            </a:r>
          </a:p>
          <a:p>
            <a:pPr eaLnBrk="1" hangingPunct="1">
              <a:lnSpc>
                <a:spcPct val="90000"/>
              </a:lnSpc>
              <a:buFont typeface="Wingdings" pitchFamily="2" charset="2"/>
              <a:buNone/>
            </a:pPr>
            <a:endParaRPr lang="en-US" sz="1000" dirty="0">
              <a:solidFill>
                <a:srgbClr val="000000"/>
              </a:solidFill>
              <a:cs typeface="Times New Roman" pitchFamily="18" charset="0"/>
            </a:endParaRPr>
          </a:p>
          <a:p>
            <a:pPr lvl="1" eaLnBrk="1" hangingPunct="1">
              <a:lnSpc>
                <a:spcPct val="90000"/>
              </a:lnSpc>
              <a:buFont typeface="Wingdings" pitchFamily="2" charset="2"/>
              <a:buNone/>
            </a:pPr>
            <a:r>
              <a:rPr lang="en-US" sz="2400" dirty="0">
                <a:solidFill>
                  <a:srgbClr val="000000"/>
                </a:solidFill>
                <a:cs typeface="Times New Roman" pitchFamily="18" charset="0"/>
              </a:rPr>
              <a:t>  </a:t>
            </a:r>
            <a:r>
              <a:rPr lang="en-US" sz="2800" i="1" dirty="0">
                <a:solidFill>
                  <a:srgbClr val="000000"/>
                </a:solidFill>
                <a:cs typeface="Times New Roman" pitchFamily="18" charset="0"/>
              </a:rPr>
              <a:t>Act always on that maxim or principle (or rule) which ensures that all individuals will be treated as </a:t>
            </a:r>
            <a:r>
              <a:rPr lang="en-US" sz="2800" i="1" dirty="0">
                <a:solidFill>
                  <a:srgbClr val="C00000"/>
                </a:solidFill>
                <a:cs typeface="Times New Roman" pitchFamily="18" charset="0"/>
              </a:rPr>
              <a:t>ends-in-themselves </a:t>
            </a:r>
            <a:r>
              <a:rPr lang="en-US" sz="2800" i="1" dirty="0">
                <a:solidFill>
                  <a:srgbClr val="000000"/>
                </a:solidFill>
                <a:cs typeface="Times New Roman" pitchFamily="18" charset="0"/>
              </a:rPr>
              <a:t>and never merely as a </a:t>
            </a:r>
            <a:r>
              <a:rPr lang="en-US" sz="2800" i="1" dirty="0">
                <a:solidFill>
                  <a:srgbClr val="C00000"/>
                </a:solidFill>
                <a:cs typeface="Times New Roman" pitchFamily="18" charset="0"/>
              </a:rPr>
              <a:t>means to an end.</a:t>
            </a:r>
            <a:endParaRPr lang="en-US" sz="2800" i="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6563">
                                            <p:txEl>
                                              <p:pRg st="1" end="1"/>
                                            </p:txEl>
                                          </p:spTgt>
                                        </p:tgtEl>
                                        <p:attrNameLst>
                                          <p:attrName>style.visibility</p:attrName>
                                        </p:attrNameLst>
                                      </p:cBhvr>
                                      <p:to>
                                        <p:strVal val="visible"/>
                                      </p:to>
                                    </p:set>
                                    <p:anim calcmode="lin" valueType="num">
                                      <p:cBhvr additive="base">
                                        <p:cTn id="13" dur="500" fill="hold"/>
                                        <p:tgtEl>
                                          <p:spTgt spid="665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656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6563">
                                            <p:txEl>
                                              <p:pRg st="3" end="3"/>
                                            </p:txEl>
                                          </p:spTgt>
                                        </p:tgtEl>
                                        <p:attrNameLst>
                                          <p:attrName>style.visibility</p:attrName>
                                        </p:attrNameLst>
                                      </p:cBhvr>
                                      <p:to>
                                        <p:strVal val="visible"/>
                                      </p:to>
                                    </p:set>
                                    <p:anim calcmode="lin" valueType="num">
                                      <p:cBhvr additive="base">
                                        <p:cTn id="17" dur="500" fill="hold"/>
                                        <p:tgtEl>
                                          <p:spTgt spid="66563">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65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t>Rule Deontology (Continued)</a:t>
            </a:r>
          </a:p>
        </p:txBody>
      </p:sp>
      <p:sp>
        <p:nvSpPr>
          <p:cNvPr id="67587" name="Rectangle 3"/>
          <p:cNvSpPr>
            <a:spLocks noGrp="1" noChangeArrowheads="1"/>
          </p:cNvSpPr>
          <p:nvPr>
            <p:ph type="body" idx="1"/>
          </p:nvPr>
        </p:nvSpPr>
        <p:spPr/>
        <p:txBody>
          <a:bodyPr/>
          <a:lstStyle/>
          <a:p>
            <a:pPr eaLnBrk="1" hangingPunct="1"/>
            <a:r>
              <a:rPr lang="en-US" sz="2800" dirty="0">
                <a:solidFill>
                  <a:srgbClr val="000000"/>
                </a:solidFill>
                <a:cs typeface="Times New Roman" pitchFamily="18" charset="0"/>
              </a:rPr>
              <a:t>Another variation of the Categorical Imperative can be paraphrased as: </a:t>
            </a:r>
          </a:p>
          <a:p>
            <a:pPr eaLnBrk="1" hangingPunct="1">
              <a:buFont typeface="Wingdings" pitchFamily="2" charset="2"/>
              <a:buNone/>
            </a:pPr>
            <a:endParaRPr lang="en-US" sz="1000" dirty="0">
              <a:solidFill>
                <a:srgbClr val="000000"/>
              </a:solidFill>
              <a:cs typeface="Times New Roman" pitchFamily="18" charset="0"/>
            </a:endParaRPr>
          </a:p>
          <a:p>
            <a:pPr lvl="1" eaLnBrk="1" hangingPunct="1">
              <a:buFont typeface="Wingdings" pitchFamily="2" charset="2"/>
              <a:buNone/>
            </a:pPr>
            <a:r>
              <a:rPr lang="en-US" sz="2000" dirty="0">
                <a:solidFill>
                  <a:srgbClr val="000000"/>
                </a:solidFill>
                <a:cs typeface="Times New Roman" pitchFamily="18" charset="0"/>
              </a:rPr>
              <a:t>   </a:t>
            </a:r>
          </a:p>
          <a:p>
            <a:pPr lvl="1" eaLnBrk="1" hangingPunct="1">
              <a:buFont typeface="Wingdings" pitchFamily="2" charset="2"/>
              <a:buNone/>
            </a:pPr>
            <a:r>
              <a:rPr lang="en-US" sz="2000" dirty="0">
                <a:solidFill>
                  <a:srgbClr val="000000"/>
                </a:solidFill>
                <a:cs typeface="Times New Roman" pitchFamily="18" charset="0"/>
              </a:rPr>
              <a:t>	</a:t>
            </a:r>
            <a:r>
              <a:rPr lang="en-US" sz="2800" i="1" dirty="0">
                <a:solidFill>
                  <a:srgbClr val="000000"/>
                </a:solidFill>
                <a:cs typeface="Times New Roman" pitchFamily="18" charset="0"/>
              </a:rPr>
              <a:t>Always act on that maxim or principle (or rule) which can be </a:t>
            </a:r>
            <a:r>
              <a:rPr lang="en-US" sz="2800" i="1" dirty="0">
                <a:solidFill>
                  <a:srgbClr val="C00000"/>
                </a:solidFill>
                <a:cs typeface="Times New Roman" pitchFamily="18" charset="0"/>
              </a:rPr>
              <a:t>universally binding, without exception, </a:t>
            </a:r>
            <a:r>
              <a:rPr lang="en-US" sz="2800" i="1" dirty="0">
                <a:solidFill>
                  <a:schemeClr val="tx1"/>
                </a:solidFill>
                <a:cs typeface="Times New Roman" pitchFamily="18" charset="0"/>
              </a:rPr>
              <a:t>for all human beings.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 calcmode="lin" valueType="num">
                                      <p:cBhvr additive="base">
                                        <p:cTn id="7" dur="500" fill="hold"/>
                                        <p:tgtEl>
                                          <p:spTgt spid="675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75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7587">
                                            <p:txEl>
                                              <p:pRg st="2" end="2"/>
                                            </p:txEl>
                                          </p:spTgt>
                                        </p:tgtEl>
                                        <p:attrNameLst>
                                          <p:attrName>style.visibility</p:attrName>
                                        </p:attrNameLst>
                                      </p:cBhvr>
                                      <p:to>
                                        <p:strVal val="visible"/>
                                      </p:to>
                                    </p:set>
                                    <p:anim calcmode="lin" valueType="num">
                                      <p:cBhvr additive="base">
                                        <p:cTn id="11" dur="500" fill="hold"/>
                                        <p:tgtEl>
                                          <p:spTgt spid="67587">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7587">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7587">
                                            <p:txEl>
                                              <p:pRg st="3" end="3"/>
                                            </p:txEl>
                                          </p:spTgt>
                                        </p:tgtEl>
                                        <p:attrNameLst>
                                          <p:attrName>style.visibility</p:attrName>
                                        </p:attrNameLst>
                                      </p:cBhvr>
                                      <p:to>
                                        <p:strVal val="visible"/>
                                      </p:to>
                                    </p:set>
                                    <p:anim calcmode="lin" valueType="num">
                                      <p:cBhvr additive="base">
                                        <p:cTn id="15" dur="500" fill="hold"/>
                                        <p:tgtEl>
                                          <p:spTgt spid="67587">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75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t>Categorical Imperative</a:t>
            </a:r>
          </a:p>
        </p:txBody>
      </p:sp>
      <p:sp>
        <p:nvSpPr>
          <p:cNvPr id="68611" name="Rectangle 3"/>
          <p:cNvSpPr>
            <a:spLocks noGrp="1" noChangeArrowheads="1"/>
          </p:cNvSpPr>
          <p:nvPr>
            <p:ph type="body" idx="1"/>
          </p:nvPr>
        </p:nvSpPr>
        <p:spPr/>
        <p:txBody>
          <a:bodyPr/>
          <a:lstStyle/>
          <a:p>
            <a:pPr eaLnBrk="1" hangingPunct="1">
              <a:lnSpc>
                <a:spcPct val="80000"/>
              </a:lnSpc>
            </a:pPr>
            <a:r>
              <a:rPr lang="en-US" sz="2800" dirty="0">
                <a:cs typeface="Times New Roman" pitchFamily="18" charset="0"/>
              </a:rPr>
              <a:t>Kant believed that if everyone followed the categorical imperative, we would have a </a:t>
            </a:r>
            <a:r>
              <a:rPr lang="en-US" sz="2800" dirty="0">
                <a:solidFill>
                  <a:srgbClr val="C00000"/>
                </a:solidFill>
                <a:cs typeface="Times New Roman" pitchFamily="18" charset="0"/>
              </a:rPr>
              <a:t>genuinely</a:t>
            </a:r>
            <a:r>
              <a:rPr lang="en-US" sz="2800" dirty="0">
                <a:cs typeface="Times New Roman" pitchFamily="18" charset="0"/>
              </a:rPr>
              <a:t> moral system.</a:t>
            </a:r>
            <a:endParaRPr lang="en-US" sz="1200" dirty="0">
              <a:cs typeface="Times New Roman" pitchFamily="18" charset="0"/>
            </a:endParaRPr>
          </a:p>
          <a:p>
            <a:pPr eaLnBrk="1" hangingPunct="1">
              <a:lnSpc>
                <a:spcPct val="80000"/>
              </a:lnSpc>
            </a:pPr>
            <a:r>
              <a:rPr lang="en-US" sz="2800" dirty="0">
                <a:cs typeface="Times New Roman" pitchFamily="18" charset="0"/>
              </a:rPr>
              <a:t>It would be a system based on two essential principles: </a:t>
            </a:r>
          </a:p>
          <a:p>
            <a:pPr lvl="1">
              <a:lnSpc>
                <a:spcPct val="80000"/>
              </a:lnSpc>
              <a:buClr>
                <a:schemeClr val="accent3">
                  <a:lumMod val="50000"/>
                </a:schemeClr>
              </a:buClr>
            </a:pPr>
            <a:r>
              <a:rPr lang="en-US" sz="2800" i="1" dirty="0">
                <a:cs typeface="Times New Roman" pitchFamily="18" charset="0"/>
              </a:rPr>
              <a:t>universality</a:t>
            </a:r>
            <a:r>
              <a:rPr lang="en-US" sz="2800" dirty="0">
                <a:cs typeface="Times New Roman" pitchFamily="18" charset="0"/>
              </a:rPr>
              <a:t>,</a:t>
            </a:r>
          </a:p>
          <a:p>
            <a:pPr lvl="1">
              <a:lnSpc>
                <a:spcPct val="80000"/>
              </a:lnSpc>
              <a:buClr>
                <a:schemeClr val="accent3">
                  <a:lumMod val="50000"/>
                </a:schemeClr>
              </a:buClr>
            </a:pPr>
            <a:r>
              <a:rPr lang="en-US" sz="2800" i="1" dirty="0">
                <a:cs typeface="Times New Roman" pitchFamily="18" charset="0"/>
              </a:rPr>
              <a:t>impartiality</a:t>
            </a:r>
            <a:r>
              <a:rPr lang="en-US" sz="2800" dirty="0">
                <a:cs typeface="Times New Roman" pitchFamily="18" charset="0"/>
              </a:rPr>
              <a:t>. </a:t>
            </a:r>
          </a:p>
          <a:p>
            <a:pPr eaLnBrk="1" hangingPunct="1">
              <a:lnSpc>
                <a:spcPct val="80000"/>
              </a:lnSpc>
            </a:pPr>
            <a:r>
              <a:rPr lang="en-US" sz="2800" dirty="0">
                <a:cs typeface="Times New Roman" pitchFamily="18" charset="0"/>
              </a:rPr>
              <a:t>In such as system, every individual would be treated </a:t>
            </a:r>
            <a:r>
              <a:rPr lang="en-US" sz="2800" dirty="0">
                <a:solidFill>
                  <a:srgbClr val="C00000"/>
                </a:solidFill>
                <a:cs typeface="Times New Roman" pitchFamily="18" charset="0"/>
              </a:rPr>
              <a:t>fairly</a:t>
            </a:r>
            <a:r>
              <a:rPr lang="en-US" sz="2800" dirty="0">
                <a:cs typeface="Times New Roman" pitchFamily="18" charset="0"/>
              </a:rPr>
              <a:t> since the </a:t>
            </a:r>
            <a:r>
              <a:rPr lang="en-US" sz="2800" b="1" dirty="0">
                <a:solidFill>
                  <a:srgbClr val="C00000"/>
                </a:solidFill>
                <a:cs typeface="Times New Roman" pitchFamily="18" charset="0"/>
              </a:rPr>
              <a:t>same rules </a:t>
            </a:r>
            <a:r>
              <a:rPr lang="en-US" sz="2800" dirty="0">
                <a:cs typeface="Times New Roman" pitchFamily="18" charset="0"/>
              </a:rPr>
              <a:t>would apply </a:t>
            </a:r>
            <a:r>
              <a:rPr lang="en-US" sz="2800" dirty="0">
                <a:solidFill>
                  <a:srgbClr val="C00000"/>
                </a:solidFill>
                <a:cs typeface="Times New Roman" pitchFamily="18" charset="0"/>
              </a:rPr>
              <a:t>universally </a:t>
            </a:r>
            <a:r>
              <a:rPr lang="en-US" sz="2800" dirty="0">
                <a:cs typeface="Times New Roman" pitchFamily="18" charset="0"/>
              </a:rPr>
              <a:t>to all persons. </a:t>
            </a:r>
          </a:p>
          <a:p>
            <a:pPr eaLnBrk="1" hangingPunct="1">
              <a:lnSpc>
                <a:spcPct val="8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 calcmode="lin" valueType="num">
                                      <p:cBhvr additive="base">
                                        <p:cTn id="7" dur="500" fill="hold"/>
                                        <p:tgtEl>
                                          <p:spTgt spid="686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86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8611">
                                            <p:txEl>
                                              <p:pRg st="1" end="1"/>
                                            </p:txEl>
                                          </p:spTgt>
                                        </p:tgtEl>
                                        <p:attrNameLst>
                                          <p:attrName>style.visibility</p:attrName>
                                        </p:attrNameLst>
                                      </p:cBhvr>
                                      <p:to>
                                        <p:strVal val="visible"/>
                                      </p:to>
                                    </p:set>
                                    <p:anim calcmode="lin" valueType="num">
                                      <p:cBhvr additive="base">
                                        <p:cTn id="13" dur="500" fill="hold"/>
                                        <p:tgtEl>
                                          <p:spTgt spid="686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8611">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8611">
                                            <p:txEl>
                                              <p:pRg st="2" end="2"/>
                                            </p:txEl>
                                          </p:spTgt>
                                        </p:tgtEl>
                                        <p:attrNameLst>
                                          <p:attrName>style.visibility</p:attrName>
                                        </p:attrNameLst>
                                      </p:cBhvr>
                                      <p:to>
                                        <p:strVal val="visible"/>
                                      </p:to>
                                    </p:set>
                                    <p:anim calcmode="lin" valueType="num">
                                      <p:cBhvr additive="base">
                                        <p:cTn id="17" dur="500" fill="hold"/>
                                        <p:tgtEl>
                                          <p:spTgt spid="6861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861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68611">
                                            <p:txEl>
                                              <p:pRg st="3" end="3"/>
                                            </p:txEl>
                                          </p:spTgt>
                                        </p:tgtEl>
                                        <p:attrNameLst>
                                          <p:attrName>style.visibility</p:attrName>
                                        </p:attrNameLst>
                                      </p:cBhvr>
                                      <p:to>
                                        <p:strVal val="visible"/>
                                      </p:to>
                                    </p:set>
                                    <p:anim calcmode="lin" valueType="num">
                                      <p:cBhvr additive="base">
                                        <p:cTn id="21" dur="500" fill="hold"/>
                                        <p:tgtEl>
                                          <p:spTgt spid="6861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86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8611">
                                            <p:txEl>
                                              <p:pRg st="4" end="4"/>
                                            </p:txEl>
                                          </p:spTgt>
                                        </p:tgtEl>
                                        <p:attrNameLst>
                                          <p:attrName>style.visibility</p:attrName>
                                        </p:attrNameLst>
                                      </p:cBhvr>
                                      <p:to>
                                        <p:strVal val="visible"/>
                                      </p:to>
                                    </p:set>
                                    <p:anim calcmode="lin" valueType="num">
                                      <p:cBhvr additive="base">
                                        <p:cTn id="27" dur="500" fill="hold"/>
                                        <p:tgtEl>
                                          <p:spTgt spid="68611">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861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t>Criticisms of Rule Deontology</a:t>
            </a:r>
          </a:p>
        </p:txBody>
      </p:sp>
      <p:sp>
        <p:nvSpPr>
          <p:cNvPr id="69635"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Kant's categorical imperative has been criticized because </a:t>
            </a:r>
            <a:r>
              <a:rPr lang="en-US" sz="2800" dirty="0">
                <a:solidFill>
                  <a:schemeClr val="tx1"/>
                </a:solidFill>
                <a:cs typeface="Times New Roman" pitchFamily="18" charset="0"/>
              </a:rPr>
              <a:t>it cannot help us in cases where we have </a:t>
            </a:r>
            <a:r>
              <a:rPr lang="en-US" sz="2800" b="1" dirty="0">
                <a:solidFill>
                  <a:srgbClr val="C00000"/>
                </a:solidFill>
                <a:cs typeface="Times New Roman" pitchFamily="18" charset="0"/>
              </a:rPr>
              <a:t>two or more conflicting duties</a:t>
            </a:r>
            <a:r>
              <a:rPr lang="en-US" sz="2800" dirty="0">
                <a:solidFill>
                  <a:srgbClr val="000000"/>
                </a:solidFill>
                <a:cs typeface="Times New Roman" pitchFamily="18" charset="0"/>
              </a:rPr>
              <a:t>. </a:t>
            </a:r>
          </a:p>
          <a:p>
            <a:pPr lvl="1" eaLnBrk="1" hangingPunct="1">
              <a:lnSpc>
                <a:spcPct val="90000"/>
              </a:lnSpc>
              <a:buClr>
                <a:schemeClr val="accent3">
                  <a:lumMod val="50000"/>
                </a:schemeClr>
              </a:buClr>
            </a:pPr>
            <a:r>
              <a:rPr lang="en-US" sz="2400" dirty="0">
                <a:solidFill>
                  <a:srgbClr val="000000"/>
                </a:solidFill>
                <a:cs typeface="Times New Roman" pitchFamily="18" charset="0"/>
              </a:rPr>
              <a:t>E.g., we have duties to both keep promises and to tell the truth, and sometimes we encounter situations in which we are required </a:t>
            </a:r>
            <a:r>
              <a:rPr lang="en-US" sz="2400" i="1" dirty="0">
                <a:solidFill>
                  <a:srgbClr val="000000"/>
                </a:solidFill>
                <a:cs typeface="Times New Roman" pitchFamily="18" charset="0"/>
              </a:rPr>
              <a:t>either</a:t>
            </a:r>
            <a:r>
              <a:rPr lang="en-US" sz="2400" dirty="0">
                <a:solidFill>
                  <a:srgbClr val="000000"/>
                </a:solidFill>
                <a:cs typeface="Times New Roman" pitchFamily="18" charset="0"/>
              </a:rPr>
              <a:t> to: </a:t>
            </a:r>
          </a:p>
          <a:p>
            <a:pPr lvl="2" eaLnBrk="1" hangingPunct="1">
              <a:lnSpc>
                <a:spcPct val="90000"/>
              </a:lnSpc>
            </a:pPr>
            <a:r>
              <a:rPr lang="en-US" sz="2400" dirty="0">
                <a:solidFill>
                  <a:srgbClr val="000000"/>
                </a:solidFill>
                <a:cs typeface="Times New Roman" pitchFamily="18" charset="0"/>
              </a:rPr>
              <a:t>(a) tell the truth and break a promise </a:t>
            </a:r>
            <a:r>
              <a:rPr lang="en-US" sz="2400" i="1" dirty="0">
                <a:solidFill>
                  <a:srgbClr val="000000"/>
                </a:solidFill>
                <a:cs typeface="Times New Roman" pitchFamily="18" charset="0"/>
              </a:rPr>
              <a:t>or</a:t>
            </a:r>
            <a:r>
              <a:rPr lang="en-US" sz="2400" dirty="0">
                <a:solidFill>
                  <a:srgbClr val="000000"/>
                </a:solidFill>
                <a:cs typeface="Times New Roman" pitchFamily="18" charset="0"/>
              </a:rPr>
              <a:t> </a:t>
            </a:r>
          </a:p>
          <a:p>
            <a:pPr lvl="2" eaLnBrk="1" hangingPunct="1">
              <a:lnSpc>
                <a:spcPct val="90000"/>
              </a:lnSpc>
            </a:pPr>
            <a:r>
              <a:rPr lang="en-US" sz="2400" dirty="0">
                <a:solidFill>
                  <a:srgbClr val="000000"/>
                </a:solidFill>
                <a:cs typeface="Times New Roman" pitchFamily="18" charset="0"/>
              </a:rPr>
              <a:t>(b) to keep a promise and tell a lie. </a:t>
            </a:r>
          </a:p>
          <a:p>
            <a:pPr eaLnBrk="1" hangingPunct="1">
              <a:lnSpc>
                <a:spcPct val="90000"/>
              </a:lnSpc>
            </a:pPr>
            <a:r>
              <a:rPr lang="en-US" sz="2800" dirty="0">
                <a:solidFill>
                  <a:srgbClr val="000000"/>
                </a:solidFill>
                <a:cs typeface="Times New Roman" pitchFamily="18" charset="0"/>
              </a:rPr>
              <a:t>Kant does not provide us with a mechanism for resolving such conflicts. </a:t>
            </a:r>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9635">
                                            <p:txEl>
                                              <p:pRg st="1" end="1"/>
                                            </p:txEl>
                                          </p:spTgt>
                                        </p:tgtEl>
                                        <p:attrNameLst>
                                          <p:attrName>style.visibility</p:attrName>
                                        </p:attrNameLst>
                                      </p:cBhvr>
                                      <p:to>
                                        <p:strVal val="visible"/>
                                      </p:to>
                                    </p:set>
                                    <p:anim calcmode="lin" valueType="num">
                                      <p:cBhvr additive="base">
                                        <p:cTn id="11" dur="500" fill="hold"/>
                                        <p:tgtEl>
                                          <p:spTgt spid="6963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963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9635">
                                            <p:txEl>
                                              <p:pRg st="2" end="2"/>
                                            </p:txEl>
                                          </p:spTgt>
                                        </p:tgtEl>
                                        <p:attrNameLst>
                                          <p:attrName>style.visibility</p:attrName>
                                        </p:attrNameLst>
                                      </p:cBhvr>
                                      <p:to>
                                        <p:strVal val="visible"/>
                                      </p:to>
                                    </p:set>
                                    <p:anim calcmode="lin" valueType="num">
                                      <p:cBhvr additive="base">
                                        <p:cTn id="15" dur="500" fill="hold"/>
                                        <p:tgtEl>
                                          <p:spTgt spid="6963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963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9635">
                                            <p:txEl>
                                              <p:pRg st="3" end="3"/>
                                            </p:txEl>
                                          </p:spTgt>
                                        </p:tgtEl>
                                        <p:attrNameLst>
                                          <p:attrName>style.visibility</p:attrName>
                                        </p:attrNameLst>
                                      </p:cBhvr>
                                      <p:to>
                                        <p:strVal val="visible"/>
                                      </p:to>
                                    </p:set>
                                    <p:anim calcmode="lin" valueType="num">
                                      <p:cBhvr additive="base">
                                        <p:cTn id="19" dur="500" fill="hold"/>
                                        <p:tgtEl>
                                          <p:spTgt spid="696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96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635">
                                            <p:txEl>
                                              <p:pRg st="4" end="4"/>
                                            </p:txEl>
                                          </p:spTgt>
                                        </p:tgtEl>
                                        <p:attrNameLst>
                                          <p:attrName>style.visibility</p:attrName>
                                        </p:attrNameLst>
                                      </p:cBhvr>
                                      <p:to>
                                        <p:strVal val="visible"/>
                                      </p:to>
                                    </p:set>
                                    <p:anim calcmode="lin" valueType="num">
                                      <p:cBhvr additive="base">
                                        <p:cTn id="25" dur="500" fill="hold"/>
                                        <p:tgtEl>
                                          <p:spTgt spid="6963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96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t>Act Deontology</a:t>
            </a:r>
          </a:p>
        </p:txBody>
      </p:sp>
      <p:sp>
        <p:nvSpPr>
          <p:cNvPr id="70659" name="Rectangle 3"/>
          <p:cNvSpPr>
            <a:spLocks noGrp="1" noChangeArrowheads="1"/>
          </p:cNvSpPr>
          <p:nvPr>
            <p:ph type="body" idx="1"/>
          </p:nvPr>
        </p:nvSpPr>
        <p:spPr>
          <a:xfrm>
            <a:off x="380999" y="1719070"/>
            <a:ext cx="8407893" cy="4910329"/>
          </a:xfrm>
        </p:spPr>
        <p:txBody>
          <a:bodyPr>
            <a:noAutofit/>
          </a:bodyPr>
          <a:lstStyle/>
          <a:p>
            <a:pPr eaLnBrk="1" hangingPunct="1"/>
            <a:r>
              <a:rPr lang="en-US" sz="2800" dirty="0">
                <a:solidFill>
                  <a:srgbClr val="000000"/>
                </a:solidFill>
                <a:cs typeface="Times New Roman" pitchFamily="18" charset="0"/>
              </a:rPr>
              <a:t>David Ross argues that when two or more moral duties clash, we have to look at the </a:t>
            </a:r>
            <a:r>
              <a:rPr lang="en-US" sz="2800" dirty="0">
                <a:solidFill>
                  <a:srgbClr val="C00000"/>
                </a:solidFill>
                <a:cs typeface="Times New Roman" pitchFamily="18" charset="0"/>
              </a:rPr>
              <a:t>individual situation </a:t>
            </a:r>
            <a:r>
              <a:rPr lang="en-US" sz="2800" dirty="0">
                <a:solidFill>
                  <a:srgbClr val="000000"/>
                </a:solidFill>
                <a:cs typeface="Times New Roman" pitchFamily="18" charset="0"/>
              </a:rPr>
              <a:t>(or “circumstance”) to determine which duty is overriding.  </a:t>
            </a:r>
          </a:p>
          <a:p>
            <a:pPr lvl="1" eaLnBrk="1" hangingPunct="1"/>
            <a:r>
              <a:rPr lang="en-US" sz="2400" dirty="0">
                <a:solidFill>
                  <a:srgbClr val="000000"/>
                </a:solidFill>
                <a:cs typeface="Times New Roman" pitchFamily="18" charset="0"/>
              </a:rPr>
              <a:t>Like act </a:t>
            </a:r>
            <a:r>
              <a:rPr lang="en-US" sz="2400" dirty="0" err="1">
                <a:solidFill>
                  <a:srgbClr val="000000"/>
                </a:solidFill>
                <a:cs typeface="Times New Roman" pitchFamily="18" charset="0"/>
              </a:rPr>
              <a:t>utilitarians</a:t>
            </a:r>
            <a:r>
              <a:rPr lang="en-US" sz="2400" dirty="0">
                <a:solidFill>
                  <a:srgbClr val="000000"/>
                </a:solidFill>
                <a:cs typeface="Times New Roman" pitchFamily="18" charset="0"/>
              </a:rPr>
              <a:t>, Ross stresses the importance of analyzing individual actions and situations to determine the </a:t>
            </a:r>
            <a:r>
              <a:rPr lang="en-US" sz="2400" dirty="0">
                <a:solidFill>
                  <a:srgbClr val="C00000"/>
                </a:solidFill>
                <a:cs typeface="Times New Roman" pitchFamily="18" charset="0"/>
              </a:rPr>
              <a:t>morally appropriate </a:t>
            </a:r>
            <a:r>
              <a:rPr lang="en-US" sz="2400" dirty="0">
                <a:solidFill>
                  <a:srgbClr val="000000"/>
                </a:solidFill>
                <a:cs typeface="Times New Roman" pitchFamily="18" charset="0"/>
              </a:rPr>
              <a:t>course of action to take.</a:t>
            </a:r>
          </a:p>
          <a:p>
            <a:pPr lvl="1" eaLnBrk="1" hangingPunct="1"/>
            <a:r>
              <a:rPr lang="en-US" sz="2400" dirty="0">
                <a:solidFill>
                  <a:srgbClr val="000000"/>
                </a:solidFill>
                <a:cs typeface="Times New Roman" pitchFamily="18" charset="0"/>
              </a:rPr>
              <a:t>Unlike </a:t>
            </a:r>
            <a:r>
              <a:rPr lang="en-US" sz="2400" dirty="0" err="1">
                <a:solidFill>
                  <a:srgbClr val="000000"/>
                </a:solidFill>
                <a:cs typeface="Times New Roman" pitchFamily="18" charset="0"/>
              </a:rPr>
              <a:t>utilitarians</a:t>
            </a:r>
            <a:r>
              <a:rPr lang="en-US" sz="2400" dirty="0">
                <a:solidFill>
                  <a:srgbClr val="000000"/>
                </a:solidFill>
                <a:cs typeface="Times New Roman" pitchFamily="18" charset="0"/>
              </a:rPr>
              <a:t>, Ross believes that we </a:t>
            </a:r>
            <a:r>
              <a:rPr lang="en-US" sz="2400" dirty="0">
                <a:solidFill>
                  <a:schemeClr val="tx1"/>
                </a:solidFill>
                <a:cs typeface="Times New Roman" pitchFamily="18" charset="0"/>
              </a:rPr>
              <a:t>must not consider the consequences of </a:t>
            </a:r>
            <a:r>
              <a:rPr lang="en-US" sz="2400" dirty="0">
                <a:solidFill>
                  <a:srgbClr val="000000"/>
                </a:solidFill>
                <a:cs typeface="Times New Roman" pitchFamily="18" charset="0"/>
              </a:rPr>
              <a:t>actions when deliberating over which course of action morally </a:t>
            </a:r>
            <a:r>
              <a:rPr lang="en-US" sz="2400" dirty="0">
                <a:solidFill>
                  <a:srgbClr val="C00000"/>
                </a:solidFill>
                <a:cs typeface="Times New Roman" pitchFamily="18" charset="0"/>
              </a:rPr>
              <a:t>trumps</a:t>
            </a:r>
            <a:r>
              <a:rPr lang="en-US" sz="2400" dirty="0">
                <a:solidFill>
                  <a:srgbClr val="000000"/>
                </a:solidFill>
                <a:cs typeface="Times New Roman" pitchFamily="18" charset="0"/>
              </a:rPr>
              <a:t> or </a:t>
            </a:r>
            <a:r>
              <a:rPr lang="en-US" sz="2400" dirty="0">
                <a:solidFill>
                  <a:srgbClr val="C00000"/>
                </a:solidFill>
                <a:cs typeface="Times New Roman" pitchFamily="18" charset="0"/>
              </a:rPr>
              <a:t>outweighs</a:t>
            </a:r>
            <a:r>
              <a:rPr lang="en-US" sz="2400" dirty="0">
                <a:solidFill>
                  <a:srgbClr val="000000"/>
                </a:solidFill>
                <a:cs typeface="Times New Roman" pitchFamily="18" charset="0"/>
              </a:rPr>
              <a:t> another. </a:t>
            </a:r>
          </a:p>
          <a:p>
            <a:pPr lvl="1" eaLnBrk="1" hangingPunct="1"/>
            <a:endParaRPr lang="en-US" sz="2800" dirty="0">
              <a:solidFill>
                <a:srgbClr val="000000"/>
              </a:solidFill>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0659">
                                            <p:txEl>
                                              <p:pRg st="1" end="1"/>
                                            </p:txEl>
                                          </p:spTgt>
                                        </p:tgtEl>
                                        <p:attrNameLst>
                                          <p:attrName>style.visibility</p:attrName>
                                        </p:attrNameLst>
                                      </p:cBhvr>
                                      <p:to>
                                        <p:strVal val="visible"/>
                                      </p:to>
                                    </p:set>
                                    <p:anim calcmode="lin" valueType="num">
                                      <p:cBhvr additive="base">
                                        <p:cTn id="11" dur="500" fill="hold"/>
                                        <p:tgtEl>
                                          <p:spTgt spid="706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065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0659">
                                            <p:txEl>
                                              <p:pRg st="2" end="2"/>
                                            </p:txEl>
                                          </p:spTgt>
                                        </p:tgtEl>
                                        <p:attrNameLst>
                                          <p:attrName>style.visibility</p:attrName>
                                        </p:attrNameLst>
                                      </p:cBhvr>
                                      <p:to>
                                        <p:strVal val="visible"/>
                                      </p:to>
                                    </p:set>
                                    <p:anim calcmode="lin" valueType="num">
                                      <p:cBhvr additive="base">
                                        <p:cTn id="15" dur="500" fill="hold"/>
                                        <p:tgtEl>
                                          <p:spTgt spid="706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065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t>Act Deontology (Continued)</a:t>
            </a:r>
          </a:p>
        </p:txBody>
      </p:sp>
      <p:sp>
        <p:nvSpPr>
          <p:cNvPr id="71683" name="Rectangle 3"/>
          <p:cNvSpPr>
            <a:spLocks noGrp="1" noChangeArrowheads="1"/>
          </p:cNvSpPr>
          <p:nvPr>
            <p:ph type="body" idx="1"/>
          </p:nvPr>
        </p:nvSpPr>
        <p:spPr/>
        <p:txBody>
          <a:bodyPr>
            <a:normAutofit/>
          </a:bodyPr>
          <a:lstStyle/>
          <a:p>
            <a:pPr eaLnBrk="1" hangingPunct="1">
              <a:lnSpc>
                <a:spcPct val="90000"/>
              </a:lnSpc>
            </a:pPr>
            <a:r>
              <a:rPr lang="en-US" sz="2400" dirty="0">
                <a:solidFill>
                  <a:srgbClr val="000000"/>
                </a:solidFill>
                <a:cs typeface="Times New Roman" pitchFamily="18" charset="0"/>
              </a:rPr>
              <a:t>Like Kant (and deontologists in general), Ross believes that the notion of duty is </a:t>
            </a:r>
            <a:r>
              <a:rPr lang="en-US" sz="2400" dirty="0">
                <a:solidFill>
                  <a:srgbClr val="C00000"/>
                </a:solidFill>
                <a:cs typeface="Times New Roman" pitchFamily="18" charset="0"/>
              </a:rPr>
              <a:t>ultimate criterion </a:t>
            </a:r>
            <a:r>
              <a:rPr lang="en-US" sz="2400" dirty="0">
                <a:solidFill>
                  <a:srgbClr val="000000"/>
                </a:solidFill>
                <a:cs typeface="Times New Roman" pitchFamily="18" charset="0"/>
              </a:rPr>
              <a:t>for determining morality. </a:t>
            </a:r>
          </a:p>
          <a:p>
            <a:pPr marL="45720" indent="0" eaLnBrk="1" hangingPunct="1">
              <a:lnSpc>
                <a:spcPct val="90000"/>
              </a:lnSpc>
              <a:buNone/>
            </a:pPr>
            <a:endParaRPr lang="en-US" sz="2400" dirty="0">
              <a:solidFill>
                <a:srgbClr val="000000"/>
              </a:solidFill>
              <a:cs typeface="Times New Roman" pitchFamily="18" charset="0"/>
            </a:endParaRPr>
          </a:p>
          <a:p>
            <a:pPr eaLnBrk="1" hangingPunct="1">
              <a:lnSpc>
                <a:spcPct val="90000"/>
              </a:lnSpc>
            </a:pPr>
            <a:r>
              <a:rPr lang="en-US" sz="2400" dirty="0">
                <a:solidFill>
                  <a:srgbClr val="000000"/>
                </a:solidFill>
                <a:cs typeface="Times New Roman" pitchFamily="18" charset="0"/>
              </a:rPr>
              <a:t>Unlike Kant, however, Ross does not believe that blind adherence to certain maxims or rules </a:t>
            </a:r>
            <a:r>
              <a:rPr lang="en-US" sz="2400" dirty="0">
                <a:solidFill>
                  <a:srgbClr val="C00000"/>
                </a:solidFill>
                <a:cs typeface="Times New Roman" pitchFamily="18" charset="0"/>
              </a:rPr>
              <a:t>can work in every case </a:t>
            </a:r>
            <a:r>
              <a:rPr lang="en-US" sz="2400" dirty="0">
                <a:solidFill>
                  <a:srgbClr val="000000"/>
                </a:solidFill>
                <a:cs typeface="Times New Roman" pitchFamily="18" charset="0"/>
              </a:rPr>
              <a:t>for determining which duties we must ultimately carry out.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3">
                                            <p:txEl>
                                              <p:pRg st="2" end="2"/>
                                            </p:txEl>
                                          </p:spTgt>
                                        </p:tgtEl>
                                        <p:attrNameLst>
                                          <p:attrName>style.visibility</p:attrName>
                                        </p:attrNameLst>
                                      </p:cBhvr>
                                      <p:to>
                                        <p:strVal val="visible"/>
                                      </p:to>
                                    </p:set>
                                    <p:anim calcmode="lin" valueType="num">
                                      <p:cBhvr additive="base">
                                        <p:cTn id="13" dur="500" fill="hold"/>
                                        <p:tgtEl>
                                          <p:spTgt spid="7168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6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t>Act Deontology (Continued)</a:t>
            </a:r>
          </a:p>
        </p:txBody>
      </p:sp>
      <p:sp>
        <p:nvSpPr>
          <p:cNvPr id="72707" name="Rectangle 3"/>
          <p:cNvSpPr>
            <a:spLocks noGrp="1" noChangeArrowheads="1"/>
          </p:cNvSpPr>
          <p:nvPr>
            <p:ph type="body" idx="1"/>
          </p:nvPr>
        </p:nvSpPr>
        <p:spPr/>
        <p:txBody>
          <a:bodyPr>
            <a:normAutofit fontScale="92500"/>
          </a:bodyPr>
          <a:lstStyle/>
          <a:p>
            <a:pPr eaLnBrk="1" hangingPunct="1">
              <a:lnSpc>
                <a:spcPct val="90000"/>
              </a:lnSpc>
            </a:pPr>
            <a:r>
              <a:rPr lang="en-US" sz="2800" dirty="0">
                <a:solidFill>
                  <a:srgbClr val="000000"/>
                </a:solidFill>
                <a:cs typeface="Times New Roman" pitchFamily="18" charset="0"/>
              </a:rPr>
              <a:t>Ross believes that we have certain </a:t>
            </a:r>
            <a:r>
              <a:rPr lang="en-US" sz="2800" dirty="0">
                <a:solidFill>
                  <a:srgbClr val="C00000"/>
                </a:solidFill>
                <a:cs typeface="Times New Roman" pitchFamily="18" charset="0"/>
              </a:rPr>
              <a:t>prima facie </a:t>
            </a:r>
            <a:r>
              <a:rPr lang="en-US" sz="2800" dirty="0">
                <a:solidFill>
                  <a:srgbClr val="000000"/>
                </a:solidFill>
                <a:cs typeface="Times New Roman" pitchFamily="18" charset="0"/>
              </a:rPr>
              <a:t>(or self-evident) duties which, "all things being equal," we must follow. </a:t>
            </a:r>
          </a:p>
          <a:p>
            <a:pPr eaLnBrk="1" hangingPunct="1">
              <a:lnSpc>
                <a:spcPct val="90000"/>
              </a:lnSpc>
            </a:pPr>
            <a:r>
              <a:rPr lang="en-US" sz="2800" dirty="0">
                <a:solidFill>
                  <a:srgbClr val="000000"/>
                </a:solidFill>
                <a:cs typeface="Times New Roman" pitchFamily="18" charset="0"/>
              </a:rPr>
              <a:t>He provides a list of prima facie duties such as honesty, benevolence, justice, etc. </a:t>
            </a:r>
          </a:p>
          <a:p>
            <a:pPr eaLnBrk="1" hangingPunct="1">
              <a:lnSpc>
                <a:spcPct val="90000"/>
              </a:lnSpc>
            </a:pPr>
            <a:endParaRPr lang="en-US" sz="2800" dirty="0">
              <a:solidFill>
                <a:srgbClr val="000000"/>
              </a:solidFill>
              <a:cs typeface="Times New Roman" pitchFamily="18" charset="0"/>
            </a:endParaRPr>
          </a:p>
          <a:p>
            <a:pPr lvl="1" eaLnBrk="1" hangingPunct="1">
              <a:lnSpc>
                <a:spcPct val="90000"/>
              </a:lnSpc>
            </a:pPr>
            <a:r>
              <a:rPr lang="en-US" sz="2600" dirty="0">
                <a:solidFill>
                  <a:srgbClr val="000000"/>
                </a:solidFill>
                <a:cs typeface="Times New Roman" pitchFamily="18" charset="0"/>
              </a:rPr>
              <a:t>For example, we have both a prima facie duty not to lie and a prima facie duty to keep a promise. </a:t>
            </a:r>
          </a:p>
          <a:p>
            <a:pPr marL="365760" lvl="1" indent="0" eaLnBrk="1" hangingPunct="1">
              <a:lnSpc>
                <a:spcPct val="90000"/>
              </a:lnSpc>
              <a:buNone/>
            </a:pPr>
            <a:endParaRPr lang="en-US" sz="2400" dirty="0">
              <a:solidFill>
                <a:srgbClr val="000000"/>
              </a:solidFill>
              <a:cs typeface="Times New Roman" pitchFamily="18" charset="0"/>
            </a:endParaRPr>
          </a:p>
          <a:p>
            <a:pPr eaLnBrk="1" hangingPunct="1">
              <a:lnSpc>
                <a:spcPct val="90000"/>
              </a:lnSpc>
            </a:pPr>
            <a:r>
              <a:rPr lang="en-US" sz="2800" dirty="0">
                <a:solidFill>
                  <a:srgbClr val="000000"/>
                </a:solidFill>
                <a:cs typeface="Times New Roman" pitchFamily="18" charset="0"/>
              </a:rPr>
              <a:t>If there are no conflicts in a given situation, then each prima facie duty is also an </a:t>
            </a:r>
            <a:r>
              <a:rPr lang="en-US" sz="2800" i="1" dirty="0">
                <a:solidFill>
                  <a:srgbClr val="C00000"/>
                </a:solidFill>
                <a:cs typeface="Times New Roman" pitchFamily="18" charset="0"/>
              </a:rPr>
              <a:t>actual duty</a:t>
            </a:r>
            <a:r>
              <a:rPr lang="en-US" sz="2800" dirty="0">
                <a:solidFill>
                  <a:srgbClr val="C00000"/>
                </a:solidFill>
                <a:cs typeface="Times New Roman" pitchFamily="18" charset="0"/>
              </a:rPr>
              <a:t>.</a:t>
            </a:r>
            <a:endParaRPr lang="en-US" sz="28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 calcmode="lin" valueType="num">
                                      <p:cBhvr additive="base">
                                        <p:cTn id="7" dur="500" fill="hold"/>
                                        <p:tgtEl>
                                          <p:spTgt spid="72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2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2707">
                                            <p:txEl>
                                              <p:pRg st="1" end="1"/>
                                            </p:txEl>
                                          </p:spTgt>
                                        </p:tgtEl>
                                        <p:attrNameLst>
                                          <p:attrName>style.visibility</p:attrName>
                                        </p:attrNameLst>
                                      </p:cBhvr>
                                      <p:to>
                                        <p:strVal val="visible"/>
                                      </p:to>
                                    </p:set>
                                    <p:anim calcmode="lin" valueType="num">
                                      <p:cBhvr additive="base">
                                        <p:cTn id="13" dur="500" fill="hold"/>
                                        <p:tgtEl>
                                          <p:spTgt spid="727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2707">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72707">
                                            <p:txEl>
                                              <p:pRg st="3" end="3"/>
                                            </p:txEl>
                                          </p:spTgt>
                                        </p:tgtEl>
                                        <p:attrNameLst>
                                          <p:attrName>style.visibility</p:attrName>
                                        </p:attrNameLst>
                                      </p:cBhvr>
                                      <p:to>
                                        <p:strVal val="visible"/>
                                      </p:to>
                                    </p:set>
                                    <p:anim calcmode="lin" valueType="num">
                                      <p:cBhvr additive="base">
                                        <p:cTn id="17" dur="500" fill="hold"/>
                                        <p:tgtEl>
                                          <p:spTgt spid="72707">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27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2707">
                                            <p:txEl>
                                              <p:pRg st="5" end="5"/>
                                            </p:txEl>
                                          </p:spTgt>
                                        </p:tgtEl>
                                        <p:attrNameLst>
                                          <p:attrName>style.visibility</p:attrName>
                                        </p:attrNameLst>
                                      </p:cBhvr>
                                      <p:to>
                                        <p:strVal val="visible"/>
                                      </p:to>
                                    </p:set>
                                    <p:anim calcmode="lin" valueType="num">
                                      <p:cBhvr additive="base">
                                        <p:cTn id="23" dur="500" fill="hold"/>
                                        <p:tgtEl>
                                          <p:spTgt spid="72707">
                                            <p:txEl>
                                              <p:pRg st="5" end="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270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t>Act Deontology (Continued)</a:t>
            </a:r>
          </a:p>
        </p:txBody>
      </p:sp>
      <p:sp>
        <p:nvSpPr>
          <p:cNvPr id="73731"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Ross believes that we can determine what our overriding duty is in a particular situation by using a two-step deliberative process, in which we: </a:t>
            </a:r>
          </a:p>
          <a:p>
            <a:pPr marL="45720" indent="0" eaLnBrk="1" hangingPunct="1">
              <a:lnSpc>
                <a:spcPct val="90000"/>
              </a:lnSpc>
              <a:buNone/>
            </a:pPr>
            <a:endParaRPr lang="en-US" sz="2800" dirty="0">
              <a:solidFill>
                <a:srgbClr val="000000"/>
              </a:solidFill>
              <a:cs typeface="Times New Roman" pitchFamily="18" charset="0"/>
            </a:endParaRPr>
          </a:p>
          <a:p>
            <a:pPr lvl="1" eaLnBrk="1" hangingPunct="1">
              <a:lnSpc>
                <a:spcPct val="90000"/>
              </a:lnSpc>
            </a:pPr>
            <a:r>
              <a:rPr lang="en-US" sz="2400" dirty="0">
                <a:solidFill>
                  <a:srgbClr val="000000"/>
                </a:solidFill>
                <a:cs typeface="Times New Roman" pitchFamily="18" charset="0"/>
              </a:rPr>
              <a:t>(a)</a:t>
            </a:r>
            <a:r>
              <a:rPr lang="en-US" sz="2400" dirty="0">
                <a:solidFill>
                  <a:srgbClr val="000000"/>
                </a:solidFill>
                <a:latin typeface="Times New Roman" pitchFamily="18" charset="0"/>
                <a:cs typeface="Times New Roman" pitchFamily="18" charset="0"/>
              </a:rPr>
              <a:t> </a:t>
            </a:r>
            <a:r>
              <a:rPr lang="en-US" sz="2400" dirty="0">
                <a:solidFill>
                  <a:srgbClr val="000000"/>
                </a:solidFill>
                <a:cs typeface="Times New Roman" pitchFamily="18" charset="0"/>
              </a:rPr>
              <a:t>reflect on the competing </a:t>
            </a:r>
            <a:r>
              <a:rPr lang="en-US" sz="2400" dirty="0">
                <a:solidFill>
                  <a:srgbClr val="C00000"/>
                </a:solidFill>
                <a:cs typeface="Times New Roman" pitchFamily="18" charset="0"/>
              </a:rPr>
              <a:t>prima facie </a:t>
            </a:r>
            <a:r>
              <a:rPr lang="en-US" sz="2400" dirty="0">
                <a:solidFill>
                  <a:srgbClr val="000000"/>
                </a:solidFill>
                <a:cs typeface="Times New Roman" pitchFamily="18" charset="0"/>
              </a:rPr>
              <a:t>duties, </a:t>
            </a:r>
          </a:p>
          <a:p>
            <a:pPr marL="365760" lvl="1" indent="0" eaLnBrk="1" hangingPunct="1">
              <a:lnSpc>
                <a:spcPct val="90000"/>
              </a:lnSpc>
              <a:buNone/>
            </a:pPr>
            <a:endParaRPr lang="en-US" sz="2400" dirty="0">
              <a:solidFill>
                <a:srgbClr val="000000"/>
              </a:solidFill>
              <a:cs typeface="Times New Roman" pitchFamily="18" charset="0"/>
            </a:endParaRPr>
          </a:p>
          <a:p>
            <a:pPr lvl="1" eaLnBrk="1" hangingPunct="1">
              <a:lnSpc>
                <a:spcPct val="90000"/>
              </a:lnSpc>
            </a:pPr>
            <a:r>
              <a:rPr lang="en-US" sz="2400" dirty="0">
                <a:solidFill>
                  <a:srgbClr val="000000"/>
                </a:solidFill>
                <a:cs typeface="Times New Roman" pitchFamily="18" charset="0"/>
              </a:rPr>
              <a:t>(b)</a:t>
            </a:r>
            <a:r>
              <a:rPr lang="en-US" sz="2400" dirty="0">
                <a:solidFill>
                  <a:srgbClr val="000000"/>
                </a:solidFill>
                <a:latin typeface="Times New Roman" pitchFamily="18" charset="0"/>
                <a:cs typeface="Times New Roman" pitchFamily="18" charset="0"/>
              </a:rPr>
              <a:t> </a:t>
            </a:r>
            <a:r>
              <a:rPr lang="en-US" sz="2400" dirty="0">
                <a:solidFill>
                  <a:srgbClr val="000000"/>
                </a:solidFill>
                <a:cs typeface="Times New Roman" pitchFamily="18" charset="0"/>
              </a:rPr>
              <a:t>weigh the </a:t>
            </a:r>
            <a:r>
              <a:rPr lang="en-US" sz="2400" dirty="0">
                <a:solidFill>
                  <a:srgbClr val="C00000"/>
                </a:solidFill>
                <a:cs typeface="Times New Roman" pitchFamily="18" charset="0"/>
              </a:rPr>
              <a:t>evidence</a:t>
            </a:r>
            <a:r>
              <a:rPr lang="en-US" sz="2400" dirty="0">
                <a:solidFill>
                  <a:srgbClr val="000000"/>
                </a:solidFill>
                <a:cs typeface="Times New Roman" pitchFamily="18" charset="0"/>
              </a:rPr>
              <a:t> at hand to determine which course of action would be required in a particular circumstance.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3731">
                                            <p:txEl>
                                              <p:pRg st="2" end="2"/>
                                            </p:txEl>
                                          </p:spTgt>
                                        </p:tgtEl>
                                        <p:attrNameLst>
                                          <p:attrName>style.visibility</p:attrName>
                                        </p:attrNameLst>
                                      </p:cBhvr>
                                      <p:to>
                                        <p:strVal val="visible"/>
                                      </p:to>
                                    </p:set>
                                    <p:anim calcmode="lin" valueType="num">
                                      <p:cBhvr additive="base">
                                        <p:cTn id="11" dur="500" fill="hold"/>
                                        <p:tgtEl>
                                          <p:spTgt spid="73731">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3731">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3731">
                                            <p:txEl>
                                              <p:pRg st="4" end="4"/>
                                            </p:txEl>
                                          </p:spTgt>
                                        </p:tgtEl>
                                        <p:attrNameLst>
                                          <p:attrName>style.visibility</p:attrName>
                                        </p:attrNameLst>
                                      </p:cBhvr>
                                      <p:to>
                                        <p:strVal val="visible"/>
                                      </p:to>
                                    </p:set>
                                    <p:anim calcmode="lin" valueType="num">
                                      <p:cBhvr additive="base">
                                        <p:cTn id="15" dur="500" fill="hold"/>
                                        <p:tgtEl>
                                          <p:spTgt spid="73731">
                                            <p:txEl>
                                              <p:pRg st="4" end="4"/>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373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sz="4000"/>
              <a:t>Contract-based Ethical Theories</a:t>
            </a:r>
          </a:p>
        </p:txBody>
      </p:sp>
      <p:sp>
        <p:nvSpPr>
          <p:cNvPr id="74755" name="Rectangle 3"/>
          <p:cNvSpPr>
            <a:spLocks noGrp="1" noChangeArrowheads="1"/>
          </p:cNvSpPr>
          <p:nvPr>
            <p:ph type="body" idx="1"/>
          </p:nvPr>
        </p:nvSpPr>
        <p:spPr/>
        <p:txBody>
          <a:bodyPr>
            <a:normAutofit/>
          </a:bodyPr>
          <a:lstStyle/>
          <a:p>
            <a:pPr eaLnBrk="1" hangingPunct="1"/>
            <a:r>
              <a:rPr lang="en-US" sz="2800" dirty="0">
                <a:cs typeface="Times New Roman" pitchFamily="18" charset="0"/>
              </a:rPr>
              <a:t>From the perspective of social-contract theory, a moral system comes into being by </a:t>
            </a:r>
            <a:r>
              <a:rPr lang="en-US" sz="2800" dirty="0">
                <a:solidFill>
                  <a:srgbClr val="C00000"/>
                </a:solidFill>
                <a:cs typeface="Times New Roman" pitchFamily="18" charset="0"/>
              </a:rPr>
              <a:t>virtue </a:t>
            </a:r>
            <a:r>
              <a:rPr lang="en-US" sz="2800" dirty="0">
                <a:cs typeface="Times New Roman" pitchFamily="18" charset="0"/>
              </a:rPr>
              <a:t>of certain </a:t>
            </a:r>
            <a:r>
              <a:rPr lang="en-US" sz="2800" dirty="0">
                <a:solidFill>
                  <a:srgbClr val="C00000"/>
                </a:solidFill>
                <a:cs typeface="Times New Roman" pitchFamily="18" charset="0"/>
              </a:rPr>
              <a:t>contractual agreements </a:t>
            </a:r>
            <a:r>
              <a:rPr lang="en-US" sz="2800" dirty="0">
                <a:cs typeface="Times New Roman" pitchFamily="18" charset="0"/>
              </a:rPr>
              <a:t>between individuals. </a:t>
            </a:r>
          </a:p>
          <a:p>
            <a:pPr eaLnBrk="1" hangingPunct="1"/>
            <a:r>
              <a:rPr lang="en-US" sz="2800" dirty="0">
                <a:cs typeface="Times New Roman" pitchFamily="18" charset="0"/>
              </a:rPr>
              <a:t>One of the earliest versions of a contract-based ethical theory can be found in the writings of Thomas Hobbes.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additive="base">
                                        <p:cTn id="7" dur="500" fill="hold"/>
                                        <p:tgtEl>
                                          <p:spTgt spid="747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47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4755">
                                            <p:txEl>
                                              <p:pRg st="1" end="1"/>
                                            </p:txEl>
                                          </p:spTgt>
                                        </p:tgtEl>
                                        <p:attrNameLst>
                                          <p:attrName>style.visibility</p:attrName>
                                        </p:attrNameLst>
                                      </p:cBhvr>
                                      <p:to>
                                        <p:strVal val="visible"/>
                                      </p:to>
                                    </p:set>
                                    <p:anim calcmode="lin" valueType="num">
                                      <p:cBhvr additive="base">
                                        <p:cTn id="13" dur="500" fill="hold"/>
                                        <p:tgtEl>
                                          <p:spTgt spid="747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75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normAutofit fontScale="90000"/>
          </a:bodyPr>
          <a:lstStyle/>
          <a:p>
            <a:pPr eaLnBrk="1" hangingPunct="1"/>
            <a:r>
              <a:rPr lang="en-US" sz="4000"/>
              <a:t>Contract-based Ethical Theories (Continued)</a:t>
            </a:r>
          </a:p>
        </p:txBody>
      </p:sp>
      <p:sp>
        <p:nvSpPr>
          <p:cNvPr id="75779"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One virtue of the social-contract model is that it gives us a </a:t>
            </a:r>
            <a:r>
              <a:rPr lang="en-US" sz="2800" dirty="0">
                <a:solidFill>
                  <a:srgbClr val="C00000"/>
                </a:solidFill>
                <a:cs typeface="Times New Roman" pitchFamily="18" charset="0"/>
              </a:rPr>
              <a:t>motivation</a:t>
            </a:r>
            <a:r>
              <a:rPr lang="en-US" sz="2800" dirty="0">
                <a:solidFill>
                  <a:srgbClr val="000000"/>
                </a:solidFill>
                <a:cs typeface="Times New Roman" pitchFamily="18" charset="0"/>
              </a:rPr>
              <a:t> for being moral. </a:t>
            </a:r>
          </a:p>
          <a:p>
            <a:pPr lvl="1" eaLnBrk="1" hangingPunct="1">
              <a:lnSpc>
                <a:spcPct val="90000"/>
              </a:lnSpc>
            </a:pPr>
            <a:r>
              <a:rPr lang="en-US" sz="2400" dirty="0">
                <a:solidFill>
                  <a:srgbClr val="000000"/>
                </a:solidFill>
                <a:cs typeface="Times New Roman" pitchFamily="18" charset="0"/>
              </a:rPr>
              <a:t>For example, it is in our individual </a:t>
            </a:r>
            <a:r>
              <a:rPr lang="en-US" sz="2400" dirty="0">
                <a:solidFill>
                  <a:srgbClr val="C00000"/>
                </a:solidFill>
                <a:cs typeface="Times New Roman" pitchFamily="18" charset="0"/>
              </a:rPr>
              <a:t>self-interest</a:t>
            </a:r>
            <a:r>
              <a:rPr lang="en-US" sz="2400" dirty="0">
                <a:solidFill>
                  <a:srgbClr val="000000"/>
                </a:solidFill>
                <a:cs typeface="Times New Roman" pitchFamily="18" charset="0"/>
              </a:rPr>
              <a:t> to develop a moral system with rules (</a:t>
            </a:r>
            <a:r>
              <a:rPr lang="en-US" sz="2400" dirty="0" err="1">
                <a:solidFill>
                  <a:srgbClr val="000000"/>
                </a:solidFill>
                <a:cs typeface="Times New Roman" pitchFamily="18" charset="0"/>
              </a:rPr>
              <a:t>Pojman</a:t>
            </a:r>
            <a:r>
              <a:rPr lang="en-US" sz="2400" dirty="0">
                <a:solidFill>
                  <a:srgbClr val="000000"/>
                </a:solidFill>
                <a:cs typeface="Times New Roman" pitchFamily="18" charset="0"/>
              </a:rPr>
              <a:t> 2006). </a:t>
            </a:r>
          </a:p>
          <a:p>
            <a:pPr eaLnBrk="1" hangingPunct="1">
              <a:lnSpc>
                <a:spcPct val="90000"/>
              </a:lnSpc>
            </a:pPr>
            <a:r>
              <a:rPr lang="en-US" sz="2800" dirty="0">
                <a:solidFill>
                  <a:srgbClr val="000000"/>
                </a:solidFill>
                <a:cs typeface="Times New Roman" pitchFamily="18" charset="0"/>
              </a:rPr>
              <a:t>This type of motivation for establishing a moral system is </a:t>
            </a:r>
            <a:r>
              <a:rPr lang="en-US" sz="2800" dirty="0">
                <a:solidFill>
                  <a:srgbClr val="C00000"/>
                </a:solidFill>
                <a:cs typeface="Times New Roman" pitchFamily="18" charset="0"/>
              </a:rPr>
              <a:t>absent</a:t>
            </a:r>
            <a:r>
              <a:rPr lang="en-US" sz="2800" dirty="0">
                <a:solidFill>
                  <a:srgbClr val="000000"/>
                </a:solidFill>
                <a:cs typeface="Times New Roman" pitchFamily="18" charset="0"/>
              </a:rPr>
              <a:t> in both the utilitarian or deontological theories. </a:t>
            </a:r>
          </a:p>
          <a:p>
            <a:pPr eaLnBrk="1" hangingPunct="1">
              <a:lnSpc>
                <a:spcPct val="90000"/>
              </a:lnSpc>
            </a:pPr>
            <a:r>
              <a:rPr lang="en-US" sz="2800" dirty="0">
                <a:solidFill>
                  <a:srgbClr val="000000"/>
                </a:solidFill>
                <a:cs typeface="Times New Roman" pitchFamily="18" charset="0"/>
              </a:rPr>
              <a:t>So a contract-based ethical theory would seem to have one </a:t>
            </a:r>
            <a:r>
              <a:rPr lang="en-US" sz="2800" dirty="0">
                <a:solidFill>
                  <a:srgbClr val="C00000"/>
                </a:solidFill>
                <a:cs typeface="Times New Roman" pitchFamily="18" charset="0"/>
              </a:rPr>
              <a:t>advantage</a:t>
            </a:r>
            <a:r>
              <a:rPr lang="en-US" sz="2800" dirty="0">
                <a:solidFill>
                  <a:srgbClr val="000000"/>
                </a:solidFill>
                <a:cs typeface="Times New Roman" pitchFamily="18" charset="0"/>
              </a:rPr>
              <a:t> over them.</a:t>
            </a:r>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 calcmode="lin" valueType="num">
                                      <p:cBhvr additive="base">
                                        <p:cTn id="7" dur="500" fill="hold"/>
                                        <p:tgtEl>
                                          <p:spTgt spid="757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577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5779">
                                            <p:txEl>
                                              <p:pRg st="1" end="1"/>
                                            </p:txEl>
                                          </p:spTgt>
                                        </p:tgtEl>
                                        <p:attrNameLst>
                                          <p:attrName>style.visibility</p:attrName>
                                        </p:attrNameLst>
                                      </p:cBhvr>
                                      <p:to>
                                        <p:strVal val="visible"/>
                                      </p:to>
                                    </p:set>
                                    <p:anim calcmode="lin" valueType="num">
                                      <p:cBhvr additive="base">
                                        <p:cTn id="11" dur="500" fill="hold"/>
                                        <p:tgtEl>
                                          <p:spTgt spid="7577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57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 calcmode="lin" valueType="num">
                                      <p:cBhvr additive="base">
                                        <p:cTn id="17" dur="500" fill="hold"/>
                                        <p:tgtEl>
                                          <p:spTgt spid="7577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57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5779">
                                            <p:txEl>
                                              <p:pRg st="3" end="3"/>
                                            </p:txEl>
                                          </p:spTgt>
                                        </p:tgtEl>
                                        <p:attrNameLst>
                                          <p:attrName>style.visibility</p:attrName>
                                        </p:attrNameLst>
                                      </p:cBhvr>
                                      <p:to>
                                        <p:strVal val="visible"/>
                                      </p:to>
                                    </p:set>
                                    <p:anim calcmode="lin" valueType="num">
                                      <p:cBhvr additive="base">
                                        <p:cTn id="23" dur="500" fill="hold"/>
                                        <p:tgtEl>
                                          <p:spTgt spid="75779">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577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sz="3600"/>
              <a:t>Criticisms of Social Contract Theory</a:t>
            </a:r>
          </a:p>
        </p:txBody>
      </p:sp>
      <p:sp>
        <p:nvSpPr>
          <p:cNvPr id="76803" name="Rectangle 3"/>
          <p:cNvSpPr>
            <a:spLocks noGrp="1" noChangeArrowheads="1"/>
          </p:cNvSpPr>
          <p:nvPr>
            <p:ph type="body" idx="1"/>
          </p:nvPr>
        </p:nvSpPr>
        <p:spPr/>
        <p:txBody>
          <a:bodyPr/>
          <a:lstStyle/>
          <a:p>
            <a:pPr eaLnBrk="1" hangingPunct="1">
              <a:lnSpc>
                <a:spcPct val="90000"/>
              </a:lnSpc>
            </a:pPr>
            <a:r>
              <a:rPr lang="en-US" sz="2800" dirty="0">
                <a:solidFill>
                  <a:schemeClr val="tx1"/>
                </a:solidFill>
                <a:cs typeface="Times New Roman" pitchFamily="18" charset="0"/>
              </a:rPr>
              <a:t>Critics point out that social-contract theory provides for only a </a:t>
            </a:r>
            <a:r>
              <a:rPr lang="en-US" sz="2800" dirty="0">
                <a:solidFill>
                  <a:srgbClr val="C00000"/>
                </a:solidFill>
                <a:cs typeface="Times New Roman" pitchFamily="18" charset="0"/>
              </a:rPr>
              <a:t>minimalist morality</a:t>
            </a:r>
            <a:r>
              <a:rPr lang="en-US" sz="2800" dirty="0">
                <a:solidFill>
                  <a:schemeClr val="tx1"/>
                </a:solidFill>
                <a:cs typeface="Times New Roman" pitchFamily="18" charset="0"/>
              </a:rPr>
              <a:t>. </a:t>
            </a:r>
          </a:p>
          <a:p>
            <a:pPr lvl="1" eaLnBrk="1" hangingPunct="1">
              <a:lnSpc>
                <a:spcPct val="90000"/>
              </a:lnSpc>
            </a:pPr>
            <a:r>
              <a:rPr lang="en-US" sz="2400" dirty="0">
                <a:solidFill>
                  <a:schemeClr val="tx1"/>
                </a:solidFill>
                <a:cs typeface="Times New Roman" pitchFamily="18" charset="0"/>
              </a:rPr>
              <a:t>It is minimalist in the sense that we are </a:t>
            </a:r>
            <a:r>
              <a:rPr lang="en-US" sz="2400" dirty="0">
                <a:solidFill>
                  <a:srgbClr val="C00000"/>
                </a:solidFill>
                <a:cs typeface="Times New Roman" pitchFamily="18" charset="0"/>
              </a:rPr>
              <a:t>obligated </a:t>
            </a:r>
            <a:r>
              <a:rPr lang="en-US" sz="2400" dirty="0">
                <a:solidFill>
                  <a:schemeClr val="tx1"/>
                </a:solidFill>
                <a:cs typeface="Times New Roman" pitchFamily="18" charset="0"/>
              </a:rPr>
              <a:t>to behave morally only where an </a:t>
            </a:r>
            <a:r>
              <a:rPr lang="en-US" sz="2400" dirty="0">
                <a:solidFill>
                  <a:srgbClr val="C00000"/>
                </a:solidFill>
                <a:cs typeface="Times New Roman" pitchFamily="18" charset="0"/>
              </a:rPr>
              <a:t>explicit </a:t>
            </a:r>
            <a:r>
              <a:rPr lang="en-US" sz="2400" dirty="0">
                <a:solidFill>
                  <a:schemeClr val="tx1"/>
                </a:solidFill>
                <a:cs typeface="Times New Roman" pitchFamily="18" charset="0"/>
              </a:rPr>
              <a:t>or</a:t>
            </a:r>
            <a:r>
              <a:rPr lang="en-US" sz="2400" dirty="0">
                <a:solidFill>
                  <a:srgbClr val="C00000"/>
                </a:solidFill>
                <a:cs typeface="Times New Roman" pitchFamily="18" charset="0"/>
              </a:rPr>
              <a:t> formal </a:t>
            </a:r>
            <a:r>
              <a:rPr lang="en-US" sz="2400" dirty="0">
                <a:solidFill>
                  <a:schemeClr val="tx1"/>
                </a:solidFill>
                <a:cs typeface="Times New Roman" pitchFamily="18" charset="0"/>
              </a:rPr>
              <a:t>contract exists (</a:t>
            </a:r>
            <a:r>
              <a:rPr lang="en-US" sz="2400" dirty="0" err="1">
                <a:solidFill>
                  <a:schemeClr val="tx1"/>
                </a:solidFill>
                <a:cs typeface="Times New Roman" pitchFamily="18" charset="0"/>
              </a:rPr>
              <a:t>Pojman</a:t>
            </a:r>
            <a:r>
              <a:rPr lang="en-US" sz="2400" dirty="0">
                <a:solidFill>
                  <a:schemeClr val="tx1"/>
                </a:solidFill>
                <a:cs typeface="Times New Roman" pitchFamily="18" charset="0"/>
              </a:rPr>
              <a:t> 2006). </a:t>
            </a:r>
          </a:p>
          <a:p>
            <a:pPr eaLnBrk="1" hangingPunct="1">
              <a:lnSpc>
                <a:spcPct val="90000"/>
              </a:lnSpc>
            </a:pPr>
            <a:r>
              <a:rPr lang="en-US" sz="2400" dirty="0">
                <a:solidFill>
                  <a:schemeClr val="tx1"/>
                </a:solidFill>
                <a:cs typeface="Times New Roman" pitchFamily="18" charset="0"/>
              </a:rPr>
              <a:t>So if I have no express contract with you, or if a country like the U.S. has no explicit contract with a developing nation, there is no moral obligation for me to help you, or no obligation for the U.S. to come to the aid of that developing nation.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additive="base">
                                        <p:cTn id="7" dur="500" fill="hold"/>
                                        <p:tgtEl>
                                          <p:spTgt spid="768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680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6803">
                                            <p:txEl>
                                              <p:pRg st="1" end="1"/>
                                            </p:txEl>
                                          </p:spTgt>
                                        </p:tgtEl>
                                        <p:attrNameLst>
                                          <p:attrName>style.visibility</p:attrName>
                                        </p:attrNameLst>
                                      </p:cBhvr>
                                      <p:to>
                                        <p:strVal val="visible"/>
                                      </p:to>
                                    </p:set>
                                    <p:anim calcmode="lin" valueType="num">
                                      <p:cBhvr additive="base">
                                        <p:cTn id="11" dur="500" fill="hold"/>
                                        <p:tgtEl>
                                          <p:spTgt spid="7680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68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6803">
                                            <p:txEl>
                                              <p:pRg st="2" end="2"/>
                                            </p:txEl>
                                          </p:spTgt>
                                        </p:tgtEl>
                                        <p:attrNameLst>
                                          <p:attrName>style.visibility</p:attrName>
                                        </p:attrNameLst>
                                      </p:cBhvr>
                                      <p:to>
                                        <p:strVal val="visible"/>
                                      </p:to>
                                    </p:set>
                                    <p:anim calcmode="lin" valueType="num">
                                      <p:cBhvr additive="base">
                                        <p:cTn id="17" dur="500" fill="hold"/>
                                        <p:tgtEl>
                                          <p:spTgt spid="768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680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normAutofit fontScale="90000"/>
          </a:bodyPr>
          <a:lstStyle/>
          <a:p>
            <a:pPr eaLnBrk="1" hangingPunct="1"/>
            <a:r>
              <a:rPr lang="en-US" sz="4000"/>
              <a:t>Criticism of Social Contract Theory (Continued)</a:t>
            </a:r>
          </a:p>
        </p:txBody>
      </p:sp>
      <p:sp>
        <p:nvSpPr>
          <p:cNvPr id="77827" name="Rectangle 3"/>
          <p:cNvSpPr>
            <a:spLocks noGrp="1" noChangeArrowheads="1"/>
          </p:cNvSpPr>
          <p:nvPr>
            <p:ph type="body" idx="1"/>
          </p:nvPr>
        </p:nvSpPr>
        <p:spPr/>
        <p:txBody>
          <a:bodyPr/>
          <a:lstStyle/>
          <a:p>
            <a:pPr eaLnBrk="1" hangingPunct="1"/>
            <a:r>
              <a:rPr lang="en-US" sz="2800" dirty="0">
                <a:solidFill>
                  <a:schemeClr val="tx1"/>
                </a:solidFill>
                <a:cs typeface="Times New Roman" pitchFamily="18" charset="0"/>
              </a:rPr>
              <a:t>We can think of many situations involving morality where there are </a:t>
            </a:r>
            <a:r>
              <a:rPr lang="en-US" sz="2800" dirty="0">
                <a:solidFill>
                  <a:srgbClr val="C00000"/>
                </a:solidFill>
                <a:cs typeface="Times New Roman" pitchFamily="18" charset="0"/>
              </a:rPr>
              <a:t>no express contracts </a:t>
            </a:r>
            <a:r>
              <a:rPr lang="en-US" sz="2800" dirty="0">
                <a:solidFill>
                  <a:schemeClr val="tx1"/>
                </a:solidFill>
                <a:cs typeface="Times New Roman" pitchFamily="18" charset="0"/>
              </a:rPr>
              <a:t>or </a:t>
            </a:r>
            <a:r>
              <a:rPr lang="en-US" sz="2800" dirty="0">
                <a:solidFill>
                  <a:srgbClr val="C00000"/>
                </a:solidFill>
                <a:cs typeface="Times New Roman" pitchFamily="18" charset="0"/>
              </a:rPr>
              <a:t>explicit laws </a:t>
            </a:r>
            <a:r>
              <a:rPr lang="en-US" sz="2800" dirty="0">
                <a:solidFill>
                  <a:schemeClr val="tx1"/>
                </a:solidFill>
                <a:cs typeface="Times New Roman" pitchFamily="18" charset="0"/>
              </a:rPr>
              <a:t>describing our obligations to each other.</a:t>
            </a:r>
          </a:p>
          <a:p>
            <a:pPr eaLnBrk="1" hangingPunct="1"/>
            <a:r>
              <a:rPr lang="en-US" sz="2800" dirty="0">
                <a:solidFill>
                  <a:schemeClr val="tx1"/>
                </a:solidFill>
                <a:cs typeface="Times New Roman" pitchFamily="18" charset="0"/>
              </a:rPr>
              <a:t>Most of us also believe that in at least some of these cases, we are morally obligated to </a:t>
            </a:r>
            <a:r>
              <a:rPr lang="en-US" sz="2800" dirty="0">
                <a:solidFill>
                  <a:srgbClr val="C00000"/>
                </a:solidFill>
                <a:cs typeface="Times New Roman" pitchFamily="18" charset="0"/>
              </a:rPr>
              <a:t>help others </a:t>
            </a:r>
            <a:r>
              <a:rPr lang="en-US" sz="2800" dirty="0">
                <a:solidFill>
                  <a:schemeClr val="tx1"/>
                </a:solidFill>
                <a:cs typeface="Times New Roman" pitchFamily="18" charset="0"/>
              </a:rPr>
              <a:t>when it is in our </a:t>
            </a:r>
            <a:r>
              <a:rPr lang="en-US" sz="2800" dirty="0">
                <a:solidFill>
                  <a:srgbClr val="C00000"/>
                </a:solidFill>
                <a:cs typeface="Times New Roman" pitchFamily="18" charset="0"/>
              </a:rPr>
              <a:t>power</a:t>
            </a:r>
            <a:r>
              <a:rPr lang="en-US" sz="2800" dirty="0">
                <a:solidFill>
                  <a:schemeClr val="tx1"/>
                </a:solidFill>
                <a:cs typeface="Times New Roman" pitchFamily="18" charset="0"/>
              </a:rPr>
              <a:t> to do so.</a:t>
            </a:r>
          </a:p>
          <a:p>
            <a:pPr eaLnBrk="1" hangingPunct="1"/>
            <a:r>
              <a:rPr lang="en-US" sz="2800" dirty="0">
                <a:solidFill>
                  <a:schemeClr val="tx1"/>
                </a:solidFill>
                <a:cs typeface="Times New Roman" pitchFamily="18" charset="0"/>
              </a:rPr>
              <a:t>Consider the classic case involving Kitty Genovese in New York in the 1960s.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 calcmode="lin" valueType="num">
                                      <p:cBhvr additive="base">
                                        <p:cTn id="7" dur="500" fill="hold"/>
                                        <p:tgtEl>
                                          <p:spTgt spid="778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78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827">
                                            <p:txEl>
                                              <p:pRg st="1" end="1"/>
                                            </p:txEl>
                                          </p:spTgt>
                                        </p:tgtEl>
                                        <p:attrNameLst>
                                          <p:attrName>style.visibility</p:attrName>
                                        </p:attrNameLst>
                                      </p:cBhvr>
                                      <p:to>
                                        <p:strVal val="visible"/>
                                      </p:to>
                                    </p:set>
                                    <p:anim calcmode="lin" valueType="num">
                                      <p:cBhvr additive="base">
                                        <p:cTn id="13" dur="500" fill="hold"/>
                                        <p:tgtEl>
                                          <p:spTgt spid="778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78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7827">
                                            <p:txEl>
                                              <p:pRg st="2" end="2"/>
                                            </p:txEl>
                                          </p:spTgt>
                                        </p:tgtEl>
                                        <p:attrNameLst>
                                          <p:attrName>style.visibility</p:attrName>
                                        </p:attrNameLst>
                                      </p:cBhvr>
                                      <p:to>
                                        <p:strVal val="visible"/>
                                      </p:to>
                                    </p:set>
                                    <p:anim calcmode="lin" valueType="num">
                                      <p:cBhvr additive="base">
                                        <p:cTn id="19" dur="500" fill="hold"/>
                                        <p:tgtEl>
                                          <p:spTgt spid="778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782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normAutofit fontScale="90000"/>
          </a:bodyPr>
          <a:lstStyle/>
          <a:p>
            <a:pPr eaLnBrk="1" hangingPunct="1"/>
            <a:r>
              <a:rPr lang="en-US" sz="4000"/>
              <a:t>Criticism of Social Contract Theory (Continued)</a:t>
            </a:r>
          </a:p>
        </p:txBody>
      </p:sp>
      <p:sp>
        <p:nvSpPr>
          <p:cNvPr id="78851"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Philosophers differentiate between two kinds of </a:t>
            </a:r>
            <a:r>
              <a:rPr lang="en-US" sz="2800" dirty="0">
                <a:solidFill>
                  <a:srgbClr val="C00000"/>
                </a:solidFill>
                <a:cs typeface="Times New Roman" pitchFamily="18" charset="0"/>
              </a:rPr>
              <a:t>legal rights</a:t>
            </a:r>
            <a:r>
              <a:rPr lang="en-US" sz="2800" dirty="0">
                <a:solidFill>
                  <a:srgbClr val="000000"/>
                </a:solidFill>
                <a:cs typeface="Times New Roman" pitchFamily="18" charset="0"/>
              </a:rPr>
              <a:t>: </a:t>
            </a:r>
          </a:p>
          <a:p>
            <a:pPr lvl="1">
              <a:lnSpc>
                <a:spcPct val="90000"/>
              </a:lnSpc>
            </a:pPr>
            <a:r>
              <a:rPr lang="en-US" sz="2600" i="1" dirty="0">
                <a:solidFill>
                  <a:srgbClr val="C00000"/>
                </a:solidFill>
                <a:cs typeface="Times New Roman" pitchFamily="18" charset="0"/>
              </a:rPr>
              <a:t>positive</a:t>
            </a:r>
            <a:r>
              <a:rPr lang="en-US" sz="2600" i="1" dirty="0">
                <a:solidFill>
                  <a:srgbClr val="000000"/>
                </a:solidFill>
                <a:cs typeface="Times New Roman" pitchFamily="18" charset="0"/>
              </a:rPr>
              <a:t> rights</a:t>
            </a:r>
            <a:r>
              <a:rPr lang="en-US" sz="2600" dirty="0">
                <a:solidFill>
                  <a:srgbClr val="000000"/>
                </a:solidFill>
                <a:cs typeface="Times New Roman" pitchFamily="18" charset="0"/>
              </a:rPr>
              <a:t> </a:t>
            </a:r>
          </a:p>
          <a:p>
            <a:pPr lvl="1">
              <a:lnSpc>
                <a:spcPct val="90000"/>
              </a:lnSpc>
            </a:pPr>
            <a:r>
              <a:rPr lang="en-US" sz="2600" i="1" dirty="0">
                <a:solidFill>
                  <a:srgbClr val="C00000"/>
                </a:solidFill>
                <a:cs typeface="Times New Roman" pitchFamily="18" charset="0"/>
              </a:rPr>
              <a:t>negative</a:t>
            </a:r>
            <a:r>
              <a:rPr lang="en-US" sz="2600" i="1" dirty="0">
                <a:solidFill>
                  <a:srgbClr val="000000"/>
                </a:solidFill>
                <a:cs typeface="Times New Roman" pitchFamily="18" charset="0"/>
              </a:rPr>
              <a:t> rights</a:t>
            </a:r>
            <a:r>
              <a:rPr lang="en-US" sz="2600" dirty="0">
                <a:solidFill>
                  <a:srgbClr val="000000"/>
                </a:solidFill>
                <a:cs typeface="Times New Roman" pitchFamily="18" charset="0"/>
              </a:rPr>
              <a:t>.</a:t>
            </a:r>
            <a:r>
              <a:rPr lang="en-US" sz="3000" dirty="0">
                <a:solidFill>
                  <a:srgbClr val="000000"/>
                </a:solidFill>
                <a:cs typeface="Times New Roman" pitchFamily="18" charset="0"/>
              </a:rPr>
              <a:t> </a:t>
            </a:r>
          </a:p>
          <a:p>
            <a:pPr eaLnBrk="1" hangingPunct="1">
              <a:lnSpc>
                <a:spcPct val="90000"/>
              </a:lnSpc>
            </a:pPr>
            <a:r>
              <a:rPr lang="en-US" sz="2800" dirty="0">
                <a:solidFill>
                  <a:srgbClr val="000000"/>
                </a:solidFill>
                <a:cs typeface="Times New Roman" pitchFamily="18" charset="0"/>
              </a:rPr>
              <a:t>Having a negative right to something means simply that </a:t>
            </a:r>
            <a:r>
              <a:rPr lang="en-US" sz="2800" dirty="0">
                <a:solidFill>
                  <a:srgbClr val="C00000"/>
                </a:solidFill>
                <a:cs typeface="Times New Roman" pitchFamily="18" charset="0"/>
              </a:rPr>
              <a:t>one has the right not to be interfered</a:t>
            </a:r>
            <a:r>
              <a:rPr lang="en-US" sz="2800" dirty="0">
                <a:solidFill>
                  <a:srgbClr val="000000"/>
                </a:solidFill>
                <a:cs typeface="Times New Roman" pitchFamily="18" charset="0"/>
              </a:rPr>
              <a:t> with in carrying out the privileges associated with that right. </a:t>
            </a:r>
          </a:p>
          <a:p>
            <a:pPr lvl="1" eaLnBrk="1" hangingPunct="1">
              <a:lnSpc>
                <a:spcPct val="90000"/>
              </a:lnSpc>
            </a:pPr>
            <a:r>
              <a:rPr lang="en-US" sz="2400" dirty="0">
                <a:solidFill>
                  <a:srgbClr val="000000"/>
                </a:solidFill>
                <a:cs typeface="Times New Roman" pitchFamily="18" charset="0"/>
              </a:rPr>
              <a:t>For example, your right to vote and your right to own a computer are both negative rights.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 calcmode="lin" valueType="num">
                                      <p:cBhvr additive="base">
                                        <p:cTn id="7" dur="500" fill="hold"/>
                                        <p:tgtEl>
                                          <p:spTgt spid="788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8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8851">
                                            <p:txEl>
                                              <p:pRg st="1" end="1"/>
                                            </p:txEl>
                                          </p:spTgt>
                                        </p:tgtEl>
                                        <p:attrNameLst>
                                          <p:attrName>style.visibility</p:attrName>
                                        </p:attrNameLst>
                                      </p:cBhvr>
                                      <p:to>
                                        <p:strVal val="visible"/>
                                      </p:to>
                                    </p:set>
                                    <p:anim calcmode="lin" valueType="num">
                                      <p:cBhvr additive="base">
                                        <p:cTn id="11" dur="500" fill="hold"/>
                                        <p:tgtEl>
                                          <p:spTgt spid="7885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88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8851">
                                            <p:txEl>
                                              <p:pRg st="2" end="2"/>
                                            </p:txEl>
                                          </p:spTgt>
                                        </p:tgtEl>
                                        <p:attrNameLst>
                                          <p:attrName>style.visibility</p:attrName>
                                        </p:attrNameLst>
                                      </p:cBhvr>
                                      <p:to>
                                        <p:strVal val="visible"/>
                                      </p:to>
                                    </p:set>
                                    <p:anim calcmode="lin" valueType="num">
                                      <p:cBhvr additive="base">
                                        <p:cTn id="15" dur="500" fill="hold"/>
                                        <p:tgtEl>
                                          <p:spTgt spid="7885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88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78851">
                                            <p:txEl>
                                              <p:pRg st="3" end="3"/>
                                            </p:txEl>
                                          </p:spTgt>
                                        </p:tgtEl>
                                        <p:attrNameLst>
                                          <p:attrName>style.visibility</p:attrName>
                                        </p:attrNameLst>
                                      </p:cBhvr>
                                      <p:to>
                                        <p:strVal val="visible"/>
                                      </p:to>
                                    </p:set>
                                    <p:anim calcmode="lin" valueType="num">
                                      <p:cBhvr additive="base">
                                        <p:cTn id="21" dur="500" fill="hold"/>
                                        <p:tgtEl>
                                          <p:spTgt spid="7885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78851">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78851">
                                            <p:txEl>
                                              <p:pRg st="4" end="4"/>
                                            </p:txEl>
                                          </p:spTgt>
                                        </p:tgtEl>
                                        <p:attrNameLst>
                                          <p:attrName>style.visibility</p:attrName>
                                        </p:attrNameLst>
                                      </p:cBhvr>
                                      <p:to>
                                        <p:strVal val="visible"/>
                                      </p:to>
                                    </p:set>
                                    <p:anim calcmode="lin" valueType="num">
                                      <p:cBhvr additive="base">
                                        <p:cTn id="25" dur="500" fill="hold"/>
                                        <p:tgtEl>
                                          <p:spTgt spid="7885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88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t>Positive vs. Negative Rights</a:t>
            </a:r>
          </a:p>
        </p:txBody>
      </p:sp>
      <p:sp>
        <p:nvSpPr>
          <p:cNvPr id="79875"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The holder of a negative right has the right (and the expectation) </a:t>
            </a:r>
            <a:r>
              <a:rPr lang="en-US" sz="2800" dirty="0">
                <a:solidFill>
                  <a:srgbClr val="C00000"/>
                </a:solidFill>
                <a:cs typeface="Times New Roman" pitchFamily="18" charset="0"/>
              </a:rPr>
              <a:t>not to be interfered </a:t>
            </a:r>
            <a:r>
              <a:rPr lang="en-US" sz="2800" dirty="0">
                <a:solidFill>
                  <a:srgbClr val="000000"/>
                </a:solidFill>
                <a:cs typeface="Times New Roman" pitchFamily="18" charset="0"/>
              </a:rPr>
              <a:t>with in </a:t>
            </a:r>
            <a:r>
              <a:rPr lang="en-US" sz="2800" dirty="0">
                <a:solidFill>
                  <a:srgbClr val="C00000"/>
                </a:solidFill>
                <a:cs typeface="Times New Roman" pitchFamily="18" charset="0"/>
              </a:rPr>
              <a:t>exercising your right</a:t>
            </a:r>
          </a:p>
          <a:p>
            <a:pPr lvl="1" eaLnBrk="1" hangingPunct="1">
              <a:lnSpc>
                <a:spcPct val="90000"/>
              </a:lnSpc>
            </a:pPr>
            <a:r>
              <a:rPr lang="en-US" sz="2400" dirty="0">
                <a:solidFill>
                  <a:srgbClr val="000000"/>
                </a:solidFill>
                <a:cs typeface="Times New Roman" pitchFamily="18" charset="0"/>
              </a:rPr>
              <a:t>For example, your right to go to polls to cast your vote in a particular election or your right to purchase a computer. </a:t>
            </a:r>
          </a:p>
          <a:p>
            <a:pPr eaLnBrk="1" hangingPunct="1">
              <a:lnSpc>
                <a:spcPct val="90000"/>
              </a:lnSpc>
            </a:pPr>
            <a:r>
              <a:rPr lang="en-US" sz="2800" dirty="0">
                <a:solidFill>
                  <a:srgbClr val="000000"/>
                </a:solidFill>
                <a:cs typeface="Times New Roman" pitchFamily="18" charset="0"/>
              </a:rPr>
              <a:t>A negative right </a:t>
            </a:r>
            <a:r>
              <a:rPr lang="en-US" sz="2800" dirty="0">
                <a:solidFill>
                  <a:srgbClr val="C00000"/>
                </a:solidFill>
                <a:cs typeface="Times New Roman" pitchFamily="18" charset="0"/>
              </a:rPr>
              <a:t>cannot demand </a:t>
            </a:r>
            <a:r>
              <a:rPr lang="en-US" sz="2800" dirty="0">
                <a:solidFill>
                  <a:srgbClr val="000000"/>
                </a:solidFill>
                <a:cs typeface="Times New Roman" pitchFamily="18" charset="0"/>
              </a:rPr>
              <a:t>(or even expect) that others </a:t>
            </a:r>
            <a:r>
              <a:rPr lang="en-US" sz="2800" dirty="0">
                <a:solidFill>
                  <a:srgbClr val="C00000"/>
                </a:solidFill>
                <a:cs typeface="Times New Roman" pitchFamily="18" charset="0"/>
              </a:rPr>
              <a:t>must</a:t>
            </a:r>
            <a:r>
              <a:rPr lang="en-US" sz="2800" dirty="0">
                <a:solidFill>
                  <a:srgbClr val="000000"/>
                </a:solidFill>
                <a:cs typeface="Times New Roman" pitchFamily="18" charset="0"/>
              </a:rPr>
              <a:t> either physically transport you to the voting polls, or provide you with a computer if you cannot afford to purchase one.</a:t>
            </a:r>
          </a:p>
          <a:p>
            <a:pPr eaLnBrk="1" hangingPunct="1">
              <a:lnSpc>
                <a:spcPct val="90000"/>
              </a:lnSpc>
            </a:pPr>
            <a:endParaRPr lang="en-US" sz="2800" dirty="0"/>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 calcmode="lin" valueType="num">
                                      <p:cBhvr additive="base">
                                        <p:cTn id="7" dur="500" fill="hold"/>
                                        <p:tgtEl>
                                          <p:spTgt spid="798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8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9875">
                                            <p:txEl>
                                              <p:pRg st="1" end="1"/>
                                            </p:txEl>
                                          </p:spTgt>
                                        </p:tgtEl>
                                        <p:attrNameLst>
                                          <p:attrName>style.visibility</p:attrName>
                                        </p:attrNameLst>
                                      </p:cBhvr>
                                      <p:to>
                                        <p:strVal val="visible"/>
                                      </p:to>
                                    </p:set>
                                    <p:anim calcmode="lin" valueType="num">
                                      <p:cBhvr additive="base">
                                        <p:cTn id="11" dur="500" fill="hold"/>
                                        <p:tgtEl>
                                          <p:spTgt spid="7987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98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 calcmode="lin" valueType="num">
                                      <p:cBhvr additive="base">
                                        <p:cTn id="17" dur="500" fill="hold"/>
                                        <p:tgtEl>
                                          <p:spTgt spid="7987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987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normAutofit fontScale="90000"/>
          </a:bodyPr>
          <a:lstStyle/>
          <a:p>
            <a:pPr eaLnBrk="1" hangingPunct="1"/>
            <a:r>
              <a:rPr lang="en-US" sz="4000"/>
              <a:t>Positive and Negative Rights (Continued)</a:t>
            </a:r>
          </a:p>
        </p:txBody>
      </p:sp>
      <p:sp>
        <p:nvSpPr>
          <p:cNvPr id="80899" name="Rectangle 3"/>
          <p:cNvSpPr>
            <a:spLocks noGrp="1" noChangeArrowheads="1"/>
          </p:cNvSpPr>
          <p:nvPr>
            <p:ph type="body" idx="1"/>
          </p:nvPr>
        </p:nvSpPr>
        <p:spPr/>
        <p:txBody>
          <a:bodyPr/>
          <a:lstStyle/>
          <a:p>
            <a:pPr eaLnBrk="1" hangingPunct="1">
              <a:lnSpc>
                <a:spcPct val="90000"/>
              </a:lnSpc>
            </a:pPr>
            <a:r>
              <a:rPr lang="en-US" sz="2800" dirty="0">
                <a:solidFill>
                  <a:schemeClr val="tx1"/>
                </a:solidFill>
                <a:cs typeface="Times New Roman" pitchFamily="18" charset="0"/>
              </a:rPr>
              <a:t>Positive rights are very </a:t>
            </a:r>
            <a:r>
              <a:rPr lang="en-US" sz="2800" dirty="0">
                <a:solidFill>
                  <a:srgbClr val="C00000"/>
                </a:solidFill>
                <a:cs typeface="Times New Roman" pitchFamily="18" charset="0"/>
              </a:rPr>
              <a:t>rare</a:t>
            </a:r>
            <a:r>
              <a:rPr lang="en-US" sz="2800" dirty="0">
                <a:solidFill>
                  <a:schemeClr val="tx1"/>
                </a:solidFill>
                <a:cs typeface="Times New Roman" pitchFamily="18" charset="0"/>
              </a:rPr>
              <a:t> and are much more </a:t>
            </a:r>
            <a:r>
              <a:rPr lang="en-US" sz="2800" dirty="0">
                <a:solidFill>
                  <a:srgbClr val="C00000"/>
                </a:solidFill>
                <a:cs typeface="Times New Roman" pitchFamily="18" charset="0"/>
              </a:rPr>
              <a:t>difficult</a:t>
            </a:r>
            <a:r>
              <a:rPr lang="en-US" sz="2800" dirty="0">
                <a:solidFill>
                  <a:schemeClr val="tx1"/>
                </a:solidFill>
                <a:cs typeface="Times New Roman" pitchFamily="18" charset="0"/>
              </a:rPr>
              <a:t> to justify philosophically. </a:t>
            </a:r>
          </a:p>
          <a:p>
            <a:pPr eaLnBrk="1" hangingPunct="1">
              <a:lnSpc>
                <a:spcPct val="90000"/>
              </a:lnSpc>
            </a:pPr>
            <a:r>
              <a:rPr lang="en-US" sz="2800" dirty="0">
                <a:solidFill>
                  <a:schemeClr val="tx1"/>
                </a:solidFill>
                <a:cs typeface="Times New Roman" pitchFamily="18" charset="0"/>
              </a:rPr>
              <a:t>In the U.S., one's right to receive an education is a </a:t>
            </a:r>
            <a:r>
              <a:rPr lang="en-US" sz="2800" dirty="0">
                <a:solidFill>
                  <a:srgbClr val="C00000"/>
                </a:solidFill>
                <a:cs typeface="Times New Roman" pitchFamily="18" charset="0"/>
              </a:rPr>
              <a:t>positive right. </a:t>
            </a:r>
          </a:p>
          <a:p>
            <a:pPr eaLnBrk="1" hangingPunct="1">
              <a:lnSpc>
                <a:spcPct val="90000"/>
              </a:lnSpc>
            </a:pPr>
            <a:r>
              <a:rPr lang="en-US" sz="2800" dirty="0">
                <a:solidFill>
                  <a:schemeClr val="tx1"/>
                </a:solidFill>
                <a:cs typeface="Times New Roman" pitchFamily="18" charset="0"/>
              </a:rPr>
              <a:t>Because all American citizens are entitled to such an education, they must be provided with a</a:t>
            </a:r>
            <a:r>
              <a:rPr lang="en-US" sz="2800" dirty="0">
                <a:solidFill>
                  <a:srgbClr val="C00000"/>
                </a:solidFill>
                <a:cs typeface="Times New Roman" pitchFamily="18" charset="0"/>
              </a:rPr>
              <a:t> free public education. </a:t>
            </a:r>
          </a:p>
          <a:p>
            <a:pPr eaLnBrk="1" hangingPunct="1">
              <a:lnSpc>
                <a:spcPct val="90000"/>
              </a:lnSpc>
            </a:pPr>
            <a:r>
              <a:rPr lang="en-US" sz="2800" dirty="0">
                <a:solidFill>
                  <a:schemeClr val="tx1"/>
                </a:solidFill>
                <a:cs typeface="Times New Roman" pitchFamily="18" charset="0"/>
              </a:rPr>
              <a:t>If education requires Internet access at home, should students also be provided </a:t>
            </a:r>
            <a:r>
              <a:rPr lang="en-US" sz="2800" dirty="0">
                <a:solidFill>
                  <a:srgbClr val="C00000"/>
                </a:solidFill>
                <a:cs typeface="Times New Roman" pitchFamily="18" charset="0"/>
              </a:rPr>
              <a:t>with free Internet access?</a:t>
            </a:r>
            <a:r>
              <a:rPr lang="en-US" sz="2800" dirty="0">
                <a:solidFill>
                  <a:schemeClr val="tx1"/>
                </a:solidFill>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500" fill="hold"/>
                                        <p:tgtEl>
                                          <p:spTgt spid="80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899">
                                            <p:txEl>
                                              <p:pRg st="1" end="1"/>
                                            </p:txEl>
                                          </p:spTgt>
                                        </p:tgtEl>
                                        <p:attrNameLst>
                                          <p:attrName>style.visibility</p:attrName>
                                        </p:attrNameLst>
                                      </p:cBhvr>
                                      <p:to>
                                        <p:strVal val="visible"/>
                                      </p:to>
                                    </p:set>
                                    <p:anim calcmode="lin" valueType="num">
                                      <p:cBhvr additive="base">
                                        <p:cTn id="13" dur="500" fill="hold"/>
                                        <p:tgtEl>
                                          <p:spTgt spid="808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8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899">
                                            <p:txEl>
                                              <p:pRg st="2" end="2"/>
                                            </p:txEl>
                                          </p:spTgt>
                                        </p:tgtEl>
                                        <p:attrNameLst>
                                          <p:attrName>style.visibility</p:attrName>
                                        </p:attrNameLst>
                                      </p:cBhvr>
                                      <p:to>
                                        <p:strVal val="visible"/>
                                      </p:to>
                                    </p:set>
                                    <p:anim calcmode="lin" valueType="num">
                                      <p:cBhvr additive="base">
                                        <p:cTn id="19" dur="500" fill="hold"/>
                                        <p:tgtEl>
                                          <p:spTgt spid="808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8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899">
                                            <p:txEl>
                                              <p:pRg st="3" end="3"/>
                                            </p:txEl>
                                          </p:spTgt>
                                        </p:tgtEl>
                                        <p:attrNameLst>
                                          <p:attrName>style.visibility</p:attrName>
                                        </p:attrNameLst>
                                      </p:cBhvr>
                                      <p:to>
                                        <p:strVal val="visible"/>
                                      </p:to>
                                    </p:set>
                                    <p:anim calcmode="lin" valueType="num">
                                      <p:cBhvr additive="base">
                                        <p:cTn id="25" dur="500" fill="hold"/>
                                        <p:tgtEl>
                                          <p:spTgt spid="808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89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sz="4000">
                <a:cs typeface="Times New Roman" pitchFamily="18" charset="0"/>
              </a:rPr>
              <a:t>Character-based Ethical Theories</a:t>
            </a:r>
            <a:r>
              <a:rPr lang="en-US" sz="4000"/>
              <a:t> </a:t>
            </a:r>
          </a:p>
        </p:txBody>
      </p:sp>
      <p:sp>
        <p:nvSpPr>
          <p:cNvPr id="81923" name="Rectangle 3"/>
          <p:cNvSpPr>
            <a:spLocks noGrp="1" noChangeArrowheads="1"/>
          </p:cNvSpPr>
          <p:nvPr>
            <p:ph type="body" idx="1"/>
          </p:nvPr>
        </p:nvSpPr>
        <p:spPr/>
        <p:txBody>
          <a:bodyPr/>
          <a:lstStyle/>
          <a:p>
            <a:pPr eaLnBrk="1" hangingPunct="1"/>
            <a:r>
              <a:rPr lang="en-US" sz="2800" dirty="0">
                <a:solidFill>
                  <a:schemeClr val="tx1"/>
                </a:solidFill>
                <a:cs typeface="Times New Roman" pitchFamily="18" charset="0"/>
              </a:rPr>
              <a:t>Virtue ethics(also sometimes called "</a:t>
            </a:r>
            <a:r>
              <a:rPr lang="en-US" sz="2800" dirty="0">
                <a:solidFill>
                  <a:srgbClr val="C00000"/>
                </a:solidFill>
                <a:cs typeface="Times New Roman" pitchFamily="18" charset="0"/>
              </a:rPr>
              <a:t>character ethics</a:t>
            </a:r>
            <a:r>
              <a:rPr lang="en-US" sz="2800" dirty="0">
                <a:solidFill>
                  <a:schemeClr val="tx1"/>
                </a:solidFill>
                <a:cs typeface="Times New Roman" pitchFamily="18" charset="0"/>
              </a:rPr>
              <a:t>") ignores the roles that consequences, duties, and social contracts play in moral systems in  determining the appropriate standard for evaluating moral behavior. </a:t>
            </a:r>
          </a:p>
          <a:p>
            <a:pPr eaLnBrk="1" hangingPunct="1"/>
            <a:r>
              <a:rPr lang="en-US" sz="2800" dirty="0">
                <a:solidFill>
                  <a:srgbClr val="C00000"/>
                </a:solidFill>
                <a:cs typeface="Times New Roman" pitchFamily="18" charset="0"/>
              </a:rPr>
              <a:t>Virtue ethics </a:t>
            </a:r>
            <a:r>
              <a:rPr lang="en-US" sz="2800" dirty="0">
                <a:solidFill>
                  <a:schemeClr val="tx1"/>
                </a:solidFill>
                <a:cs typeface="Times New Roman" pitchFamily="18" charset="0"/>
              </a:rPr>
              <a:t>focuses on </a:t>
            </a:r>
            <a:r>
              <a:rPr lang="en-US" sz="2800" dirty="0">
                <a:solidFill>
                  <a:srgbClr val="C00000"/>
                </a:solidFill>
                <a:cs typeface="Times New Roman" pitchFamily="18" charset="0"/>
              </a:rPr>
              <a:t>criteria</a:t>
            </a:r>
            <a:r>
              <a:rPr lang="en-US" sz="2800" dirty="0">
                <a:solidFill>
                  <a:schemeClr val="tx1"/>
                </a:solidFill>
                <a:cs typeface="Times New Roman" pitchFamily="18" charset="0"/>
              </a:rPr>
              <a:t> having to do with the </a:t>
            </a:r>
            <a:r>
              <a:rPr lang="en-US" sz="2800" dirty="0">
                <a:solidFill>
                  <a:srgbClr val="C00000"/>
                </a:solidFill>
                <a:cs typeface="Times New Roman" pitchFamily="18" charset="0"/>
              </a:rPr>
              <a:t>character development </a:t>
            </a:r>
            <a:r>
              <a:rPr lang="en-US" sz="2800" dirty="0">
                <a:solidFill>
                  <a:schemeClr val="tx1"/>
                </a:solidFill>
                <a:cs typeface="Times New Roman" pitchFamily="18" charset="0"/>
              </a:rPr>
              <a:t>of individuals and their acquisition of good character traits from the kinds of habits they develop.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23">
                                            <p:txEl>
                                              <p:pRg st="1" end="1"/>
                                            </p:txEl>
                                          </p:spTgt>
                                        </p:tgtEl>
                                        <p:attrNameLst>
                                          <p:attrName>style.visibility</p:attrName>
                                        </p:attrNameLst>
                                      </p:cBhvr>
                                      <p:to>
                                        <p:strVal val="visible"/>
                                      </p:to>
                                    </p:set>
                                    <p:anim calcmode="lin" valueType="num">
                                      <p:cBhvr additive="base">
                                        <p:cTn id="13" dur="500" fill="hold"/>
                                        <p:tgtEl>
                                          <p:spTgt spid="819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2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pPr eaLnBrk="1" hangingPunct="1"/>
            <a:r>
              <a:rPr lang="en-US" sz="4000"/>
              <a:t>Character-based Ethical Theory (continued)</a:t>
            </a:r>
          </a:p>
        </p:txBody>
      </p:sp>
      <p:sp>
        <p:nvSpPr>
          <p:cNvPr id="82947" name="Rectangle 3"/>
          <p:cNvSpPr>
            <a:spLocks noGrp="1" noChangeArrowheads="1"/>
          </p:cNvSpPr>
          <p:nvPr>
            <p:ph type="body" idx="1"/>
          </p:nvPr>
        </p:nvSpPr>
        <p:spPr/>
        <p:txBody>
          <a:bodyPr/>
          <a:lstStyle/>
          <a:p>
            <a:pPr eaLnBrk="1" hangingPunct="1">
              <a:lnSpc>
                <a:spcPct val="90000"/>
              </a:lnSpc>
            </a:pPr>
            <a:r>
              <a:rPr lang="en-US" sz="2800" dirty="0"/>
              <a:t>Virtue ethics can be traced back to Plato and Aristotle.</a:t>
            </a:r>
          </a:p>
          <a:p>
            <a:pPr eaLnBrk="1" hangingPunct="1">
              <a:lnSpc>
                <a:spcPct val="90000"/>
              </a:lnSpc>
            </a:pPr>
            <a:r>
              <a:rPr lang="en-US" sz="2800" dirty="0">
                <a:solidFill>
                  <a:srgbClr val="000000"/>
                </a:solidFill>
                <a:cs typeface="Times New Roman" pitchFamily="18" charset="0"/>
              </a:rPr>
              <a:t>On this view, becoming an ethical person requires more than simply memorizing and deliberating on certain kinds of rules. </a:t>
            </a:r>
          </a:p>
          <a:p>
            <a:pPr lvl="1" eaLnBrk="1" hangingPunct="1">
              <a:lnSpc>
                <a:spcPct val="90000"/>
              </a:lnSpc>
            </a:pPr>
            <a:r>
              <a:rPr lang="en-US" sz="2400" dirty="0">
                <a:solidFill>
                  <a:srgbClr val="000000"/>
                </a:solidFill>
                <a:cs typeface="Times New Roman" pitchFamily="18" charset="0"/>
              </a:rPr>
              <a:t>What is also needed, Aristotle argued, is that people develop certain </a:t>
            </a:r>
            <a:r>
              <a:rPr lang="en-US" sz="2400" i="1" dirty="0">
                <a:solidFill>
                  <a:srgbClr val="000000"/>
                </a:solidFill>
                <a:cs typeface="Times New Roman" pitchFamily="18" charset="0"/>
              </a:rPr>
              <a:t>virtues</a:t>
            </a:r>
            <a:r>
              <a:rPr lang="en-US" sz="2400" dirty="0">
                <a:solidFill>
                  <a:srgbClr val="000000"/>
                </a:solidFill>
                <a:cs typeface="Times New Roman" pitchFamily="18" charset="0"/>
              </a:rPr>
              <a:t>. </a:t>
            </a:r>
          </a:p>
          <a:p>
            <a:pPr eaLnBrk="1" hangingPunct="1">
              <a:lnSpc>
                <a:spcPct val="90000"/>
              </a:lnSpc>
            </a:pPr>
            <a:r>
              <a:rPr lang="en-US" sz="2800" dirty="0">
                <a:solidFill>
                  <a:srgbClr val="000000"/>
                </a:solidFill>
                <a:cs typeface="Times New Roman" pitchFamily="18" charset="0"/>
              </a:rPr>
              <a:t>Aristotle believed that to be a </a:t>
            </a:r>
            <a:r>
              <a:rPr lang="en-US" sz="2800" dirty="0">
                <a:solidFill>
                  <a:srgbClr val="C00000"/>
                </a:solidFill>
                <a:cs typeface="Times New Roman" pitchFamily="18" charset="0"/>
              </a:rPr>
              <a:t>moral person</a:t>
            </a:r>
            <a:r>
              <a:rPr lang="en-US" sz="2800" dirty="0">
                <a:solidFill>
                  <a:srgbClr val="000000"/>
                </a:solidFill>
                <a:cs typeface="Times New Roman" pitchFamily="18" charset="0"/>
              </a:rPr>
              <a:t>, one had to acquire the </a:t>
            </a:r>
            <a:r>
              <a:rPr lang="en-US" sz="2800" dirty="0">
                <a:solidFill>
                  <a:srgbClr val="C00000"/>
                </a:solidFill>
                <a:cs typeface="Times New Roman" pitchFamily="18" charset="0"/>
              </a:rPr>
              <a:t>right virtues </a:t>
            </a:r>
            <a:r>
              <a:rPr lang="en-US" sz="2800" dirty="0">
                <a:solidFill>
                  <a:srgbClr val="000000"/>
                </a:solidFill>
                <a:cs typeface="Times New Roman" pitchFamily="18" charset="0"/>
              </a:rPr>
              <a:t>(strengths or excellences).  </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 calcmode="lin" valueType="num">
                                      <p:cBhvr additive="base">
                                        <p:cTn id="7" dur="500" fill="hold"/>
                                        <p:tgtEl>
                                          <p:spTgt spid="82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2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947">
                                            <p:txEl>
                                              <p:pRg st="1" end="1"/>
                                            </p:txEl>
                                          </p:spTgt>
                                        </p:tgtEl>
                                        <p:attrNameLst>
                                          <p:attrName>style.visibility</p:attrName>
                                        </p:attrNameLst>
                                      </p:cBhvr>
                                      <p:to>
                                        <p:strVal val="visible"/>
                                      </p:to>
                                    </p:set>
                                    <p:anim calcmode="lin" valueType="num">
                                      <p:cBhvr additive="base">
                                        <p:cTn id="13" dur="500" fill="hold"/>
                                        <p:tgtEl>
                                          <p:spTgt spid="829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2947">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82947">
                                            <p:txEl>
                                              <p:pRg st="2" end="2"/>
                                            </p:txEl>
                                          </p:spTgt>
                                        </p:tgtEl>
                                        <p:attrNameLst>
                                          <p:attrName>style.visibility</p:attrName>
                                        </p:attrNameLst>
                                      </p:cBhvr>
                                      <p:to>
                                        <p:strVal val="visible"/>
                                      </p:to>
                                    </p:set>
                                    <p:anim calcmode="lin" valueType="num">
                                      <p:cBhvr additive="base">
                                        <p:cTn id="17" dur="500" fill="hold"/>
                                        <p:tgtEl>
                                          <p:spTgt spid="8294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82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2947">
                                            <p:txEl>
                                              <p:pRg st="3" end="3"/>
                                            </p:txEl>
                                          </p:spTgt>
                                        </p:tgtEl>
                                        <p:attrNameLst>
                                          <p:attrName>style.visibility</p:attrName>
                                        </p:attrNameLst>
                                      </p:cBhvr>
                                      <p:to>
                                        <p:strVal val="visible"/>
                                      </p:to>
                                    </p:set>
                                    <p:anim calcmode="lin" valueType="num">
                                      <p:cBhvr additive="base">
                                        <p:cTn id="23" dur="500" fill="hold"/>
                                        <p:tgtEl>
                                          <p:spTgt spid="82947">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8294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normAutofit fontScale="90000"/>
          </a:bodyPr>
          <a:lstStyle/>
          <a:p>
            <a:pPr eaLnBrk="1" hangingPunct="1"/>
            <a:r>
              <a:rPr lang="en-US" sz="4000"/>
              <a:t>Character-based Ethical Theories (Continued)</a:t>
            </a:r>
          </a:p>
        </p:txBody>
      </p:sp>
      <p:sp>
        <p:nvSpPr>
          <p:cNvPr id="83971" name="Rectangle 3"/>
          <p:cNvSpPr>
            <a:spLocks noGrp="1" noChangeArrowheads="1"/>
          </p:cNvSpPr>
          <p:nvPr>
            <p:ph type="body" idx="1"/>
          </p:nvPr>
        </p:nvSpPr>
        <p:spPr/>
        <p:txBody>
          <a:bodyPr/>
          <a:lstStyle/>
          <a:p>
            <a:pPr eaLnBrk="1" hangingPunct="1"/>
            <a:r>
              <a:rPr lang="en-US" sz="2800" dirty="0">
                <a:solidFill>
                  <a:srgbClr val="000000"/>
                </a:solidFill>
                <a:cs typeface="Times New Roman" pitchFamily="18" charset="0"/>
              </a:rPr>
              <a:t>Aristotle believed that through the </a:t>
            </a:r>
            <a:r>
              <a:rPr lang="en-US" sz="2800" dirty="0">
                <a:solidFill>
                  <a:srgbClr val="C00000"/>
                </a:solidFill>
                <a:cs typeface="Times New Roman" pitchFamily="18" charset="0"/>
              </a:rPr>
              <a:t>proper training</a:t>
            </a:r>
            <a:r>
              <a:rPr lang="en-US" sz="2800" dirty="0">
                <a:solidFill>
                  <a:srgbClr val="000000"/>
                </a:solidFill>
                <a:cs typeface="Times New Roman" pitchFamily="18" charset="0"/>
              </a:rPr>
              <a:t> and </a:t>
            </a:r>
            <a:r>
              <a:rPr lang="en-US" sz="2800" dirty="0">
                <a:solidFill>
                  <a:srgbClr val="C00000"/>
                </a:solidFill>
                <a:cs typeface="Times New Roman" pitchFamily="18" charset="0"/>
              </a:rPr>
              <a:t>acquisition of “good habits” </a:t>
            </a:r>
            <a:r>
              <a:rPr lang="en-US" sz="2800" dirty="0">
                <a:solidFill>
                  <a:srgbClr val="000000"/>
                </a:solidFill>
                <a:cs typeface="Times New Roman" pitchFamily="18" charset="0"/>
              </a:rPr>
              <a:t>and good </a:t>
            </a:r>
            <a:r>
              <a:rPr lang="en-US" sz="2800" dirty="0">
                <a:solidFill>
                  <a:srgbClr val="C00000"/>
                </a:solidFill>
                <a:cs typeface="Times New Roman" pitchFamily="18" charset="0"/>
              </a:rPr>
              <a:t>character traits</a:t>
            </a:r>
            <a:r>
              <a:rPr lang="en-US" sz="2800" dirty="0">
                <a:solidFill>
                  <a:srgbClr val="000000"/>
                </a:solidFill>
                <a:cs typeface="Times New Roman" pitchFamily="18" charset="0"/>
              </a:rPr>
              <a:t>, one could achieve moral virtues, such </a:t>
            </a:r>
            <a:r>
              <a:rPr lang="en-US" sz="2800" dirty="0">
                <a:solidFill>
                  <a:schemeClr val="tx1"/>
                </a:solidFill>
                <a:cs typeface="Times New Roman" pitchFamily="18" charset="0"/>
              </a:rPr>
              <a:t>as temperance, courage</a:t>
            </a:r>
            <a:r>
              <a:rPr lang="en-US" sz="2800" dirty="0">
                <a:solidFill>
                  <a:srgbClr val="000000"/>
                </a:solidFill>
                <a:cs typeface="Times New Roman" pitchFamily="18" charset="0"/>
              </a:rPr>
              <a:t>, and so forth, that are need to "live well.“</a:t>
            </a:r>
          </a:p>
          <a:p>
            <a:pPr eaLnBrk="1" hangingPunct="1"/>
            <a:r>
              <a:rPr lang="en-US" sz="2800" dirty="0">
                <a:solidFill>
                  <a:srgbClr val="000000"/>
                </a:solidFill>
                <a:cs typeface="Times New Roman" pitchFamily="18" charset="0"/>
              </a:rPr>
              <a:t>According to Aristotle, a </a:t>
            </a:r>
            <a:r>
              <a:rPr lang="en-US" sz="2800" dirty="0">
                <a:solidFill>
                  <a:srgbClr val="C00000"/>
                </a:solidFill>
                <a:cs typeface="Times New Roman" pitchFamily="18" charset="0"/>
              </a:rPr>
              <a:t>moral person </a:t>
            </a:r>
            <a:r>
              <a:rPr lang="en-US" sz="2800" dirty="0">
                <a:solidFill>
                  <a:srgbClr val="000000"/>
                </a:solidFill>
                <a:cs typeface="Times New Roman" pitchFamily="18" charset="0"/>
              </a:rPr>
              <a:t>one is one who is necessarily </a:t>
            </a:r>
            <a:r>
              <a:rPr lang="en-US" sz="2800" dirty="0">
                <a:solidFill>
                  <a:srgbClr val="C00000"/>
                </a:solidFill>
                <a:cs typeface="Times New Roman" pitchFamily="18" charset="0"/>
              </a:rPr>
              <a:t>disposed </a:t>
            </a:r>
            <a:r>
              <a:rPr lang="en-US" sz="2800" dirty="0">
                <a:solidFill>
                  <a:srgbClr val="000000"/>
                </a:solidFill>
                <a:cs typeface="Times New Roman" pitchFamily="18" charset="0"/>
              </a:rPr>
              <a:t>to do the right thing.</a:t>
            </a:r>
          </a:p>
          <a:p>
            <a:pPr eaLnBrk="1" hangingPunct="1"/>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 calcmode="lin" valueType="num">
                                      <p:cBhvr additive="base">
                                        <p:cTn id="7" dur="500" fill="hold"/>
                                        <p:tgtEl>
                                          <p:spTgt spid="83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3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3971">
                                            <p:txEl>
                                              <p:pRg st="1" end="1"/>
                                            </p:txEl>
                                          </p:spTgt>
                                        </p:tgtEl>
                                        <p:attrNameLst>
                                          <p:attrName>style.visibility</p:attrName>
                                        </p:attrNameLst>
                                      </p:cBhvr>
                                      <p:to>
                                        <p:strVal val="visible"/>
                                      </p:to>
                                    </p:set>
                                    <p:anim calcmode="lin" valueType="num">
                                      <p:cBhvr additive="base">
                                        <p:cTn id="13" dur="500" fill="hold"/>
                                        <p:tgtEl>
                                          <p:spTgt spid="839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397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fontScale="90000"/>
          </a:bodyPr>
          <a:lstStyle/>
          <a:p>
            <a:pPr eaLnBrk="1" hangingPunct="1"/>
            <a:r>
              <a:rPr lang="en-US" sz="4000"/>
              <a:t>Character-based Ethical Theories (Continued)</a:t>
            </a:r>
          </a:p>
        </p:txBody>
      </p:sp>
      <p:sp>
        <p:nvSpPr>
          <p:cNvPr id="84995"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Instead of asking, “What should I </a:t>
            </a:r>
            <a:r>
              <a:rPr lang="en-US" sz="2800" i="1" dirty="0">
                <a:solidFill>
                  <a:srgbClr val="000000"/>
                </a:solidFill>
                <a:cs typeface="Times New Roman" pitchFamily="18" charset="0"/>
              </a:rPr>
              <a:t>do</a:t>
            </a:r>
            <a:r>
              <a:rPr lang="en-US" sz="2800" dirty="0">
                <a:solidFill>
                  <a:srgbClr val="000000"/>
                </a:solidFill>
                <a:cs typeface="Times New Roman" pitchFamily="18" charset="0"/>
              </a:rPr>
              <a:t> in such and such a situation?", a virtue ethicist asks: “What kind of person should I </a:t>
            </a:r>
            <a:r>
              <a:rPr lang="en-US" sz="2800" i="1" dirty="0">
                <a:solidFill>
                  <a:srgbClr val="000000"/>
                </a:solidFill>
                <a:cs typeface="Times New Roman" pitchFamily="18" charset="0"/>
              </a:rPr>
              <a:t>be</a:t>
            </a:r>
            <a:r>
              <a:rPr lang="en-US" sz="2800" dirty="0">
                <a:solidFill>
                  <a:srgbClr val="000000"/>
                </a:solidFill>
                <a:cs typeface="Times New Roman" pitchFamily="18" charset="0"/>
              </a:rPr>
              <a:t>?" </a:t>
            </a:r>
          </a:p>
          <a:p>
            <a:pPr eaLnBrk="1" hangingPunct="1">
              <a:lnSpc>
                <a:spcPct val="90000"/>
              </a:lnSpc>
            </a:pPr>
            <a:r>
              <a:rPr lang="en-US" sz="2800" dirty="0">
                <a:solidFill>
                  <a:srgbClr val="000000"/>
                </a:solidFill>
                <a:cs typeface="Times New Roman" pitchFamily="18" charset="0"/>
              </a:rPr>
              <a:t>The emphasis is on </a:t>
            </a:r>
            <a:r>
              <a:rPr lang="en-US" sz="2800" i="1" dirty="0">
                <a:solidFill>
                  <a:srgbClr val="C00000"/>
                </a:solidFill>
                <a:cs typeface="Times New Roman" pitchFamily="18" charset="0"/>
              </a:rPr>
              <a:t>being</a:t>
            </a:r>
            <a:r>
              <a:rPr lang="en-US" sz="2800" dirty="0">
                <a:solidFill>
                  <a:srgbClr val="000000"/>
                </a:solidFill>
                <a:cs typeface="Times New Roman" pitchFamily="18" charset="0"/>
              </a:rPr>
              <a:t> a moral person - not simply understanding what </a:t>
            </a:r>
            <a:r>
              <a:rPr lang="en-US" sz="2800" dirty="0">
                <a:solidFill>
                  <a:srgbClr val="C00000"/>
                </a:solidFill>
                <a:cs typeface="Times New Roman" pitchFamily="18" charset="0"/>
              </a:rPr>
              <a:t>moral rules </a:t>
            </a:r>
            <a:r>
              <a:rPr lang="en-US" sz="2800" dirty="0">
                <a:solidFill>
                  <a:srgbClr val="000000"/>
                </a:solidFill>
                <a:cs typeface="Times New Roman" pitchFamily="18" charset="0"/>
              </a:rPr>
              <a:t>are and how they </a:t>
            </a:r>
            <a:r>
              <a:rPr lang="en-US" sz="2800" dirty="0">
                <a:solidFill>
                  <a:srgbClr val="C00000"/>
                </a:solidFill>
                <a:cs typeface="Times New Roman" pitchFamily="18" charset="0"/>
              </a:rPr>
              <a:t>apply in certain situations</a:t>
            </a:r>
            <a:r>
              <a:rPr lang="en-US" sz="2800" dirty="0">
                <a:solidFill>
                  <a:srgbClr val="000000"/>
                </a:solidFill>
                <a:cs typeface="Times New Roman" pitchFamily="18" charset="0"/>
              </a:rPr>
              <a:t>. </a:t>
            </a:r>
          </a:p>
          <a:p>
            <a:pPr eaLnBrk="1" hangingPunct="1">
              <a:lnSpc>
                <a:spcPct val="90000"/>
              </a:lnSpc>
            </a:pPr>
            <a:r>
              <a:rPr lang="en-US" sz="2800" dirty="0">
                <a:solidFill>
                  <a:srgbClr val="000000"/>
                </a:solidFill>
                <a:cs typeface="Times New Roman" pitchFamily="18" charset="0"/>
              </a:rPr>
              <a:t>While deontological and utilitarian theories are "</a:t>
            </a:r>
            <a:r>
              <a:rPr lang="en-US" sz="2800" u="sng" dirty="0">
                <a:solidFill>
                  <a:srgbClr val="C00000"/>
                </a:solidFill>
                <a:cs typeface="Times New Roman" pitchFamily="18" charset="0"/>
              </a:rPr>
              <a:t>action-oriented</a:t>
            </a:r>
            <a:r>
              <a:rPr lang="en-US" sz="2800" dirty="0">
                <a:solidFill>
                  <a:srgbClr val="000000"/>
                </a:solidFill>
                <a:cs typeface="Times New Roman" pitchFamily="18" charset="0"/>
              </a:rPr>
              <a:t>" and "</a:t>
            </a:r>
            <a:r>
              <a:rPr lang="en-US" sz="2800" u="sng" dirty="0">
                <a:solidFill>
                  <a:srgbClr val="C00000"/>
                </a:solidFill>
                <a:cs typeface="Times New Roman" pitchFamily="18" charset="0"/>
              </a:rPr>
              <a:t>rule-oriented</a:t>
            </a:r>
            <a:r>
              <a:rPr lang="en-US" sz="2800" dirty="0">
                <a:solidFill>
                  <a:srgbClr val="000000"/>
                </a:solidFill>
                <a:cs typeface="Times New Roman" pitchFamily="18" charset="0"/>
              </a:rPr>
              <a:t>," virtue ethics is "</a:t>
            </a:r>
            <a:r>
              <a:rPr lang="en-US" sz="2800" u="sng" dirty="0">
                <a:solidFill>
                  <a:srgbClr val="C00000"/>
                </a:solidFill>
                <a:cs typeface="Times New Roman" pitchFamily="18" charset="0"/>
              </a:rPr>
              <a:t>agent-oriented</a:t>
            </a:r>
            <a:r>
              <a:rPr lang="en-US" sz="2800" dirty="0">
                <a:solidFill>
                  <a:srgbClr val="000000"/>
                </a:solidFill>
                <a:cs typeface="Times New Roman" pitchFamily="18" charset="0"/>
              </a:rPr>
              <a:t>" because it is centered on the agent him/her-self.</a:t>
            </a:r>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 calcmode="lin" valueType="num">
                                      <p:cBhvr additive="base">
                                        <p:cTn id="7" dur="500" fill="hold"/>
                                        <p:tgtEl>
                                          <p:spTgt spid="849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4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4995">
                                            <p:txEl>
                                              <p:pRg st="1" end="1"/>
                                            </p:txEl>
                                          </p:spTgt>
                                        </p:tgtEl>
                                        <p:attrNameLst>
                                          <p:attrName>style.visibility</p:attrName>
                                        </p:attrNameLst>
                                      </p:cBhvr>
                                      <p:to>
                                        <p:strVal val="visible"/>
                                      </p:to>
                                    </p:set>
                                    <p:anim calcmode="lin" valueType="num">
                                      <p:cBhvr additive="base">
                                        <p:cTn id="13" dur="500" fill="hold"/>
                                        <p:tgtEl>
                                          <p:spTgt spid="849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4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4995">
                                            <p:txEl>
                                              <p:pRg st="2" end="2"/>
                                            </p:txEl>
                                          </p:spTgt>
                                        </p:tgtEl>
                                        <p:attrNameLst>
                                          <p:attrName>style.visibility</p:attrName>
                                        </p:attrNameLst>
                                      </p:cBhvr>
                                      <p:to>
                                        <p:strVal val="visible"/>
                                      </p:to>
                                    </p:set>
                                    <p:anim calcmode="lin" valueType="num">
                                      <p:cBhvr additive="base">
                                        <p:cTn id="19" dur="500" fill="hold"/>
                                        <p:tgtEl>
                                          <p:spTgt spid="849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499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normAutofit fontScale="90000"/>
          </a:bodyPr>
          <a:lstStyle/>
          <a:p>
            <a:pPr eaLnBrk="1" hangingPunct="1"/>
            <a:r>
              <a:rPr lang="en-US" sz="4000"/>
              <a:t>Criticism of Character-based Ethical Theories</a:t>
            </a:r>
          </a:p>
        </p:txBody>
      </p:sp>
      <p:sp>
        <p:nvSpPr>
          <p:cNvPr id="86019" name="Rectangle 3"/>
          <p:cNvSpPr>
            <a:spLocks noGrp="1" noChangeArrowheads="1"/>
          </p:cNvSpPr>
          <p:nvPr>
            <p:ph type="body" idx="1"/>
          </p:nvPr>
        </p:nvSpPr>
        <p:spPr/>
        <p:txBody>
          <a:bodyPr/>
          <a:lstStyle/>
          <a:p>
            <a:pPr eaLnBrk="1" hangingPunct="1">
              <a:lnSpc>
                <a:spcPct val="90000"/>
              </a:lnSpc>
            </a:pPr>
            <a:r>
              <a:rPr lang="en-US" sz="2800" dirty="0">
                <a:solidFill>
                  <a:srgbClr val="000000"/>
                </a:solidFill>
                <a:cs typeface="Times New Roman" pitchFamily="18" charset="0"/>
              </a:rPr>
              <a:t>Character-based ethical systems tend to </a:t>
            </a:r>
            <a:r>
              <a:rPr lang="en-US" sz="2800" dirty="0">
                <a:solidFill>
                  <a:srgbClr val="C00000"/>
                </a:solidFill>
                <a:cs typeface="Times New Roman" pitchFamily="18" charset="0"/>
              </a:rPr>
              <a:t>flourish </a:t>
            </a:r>
            <a:r>
              <a:rPr lang="en-US" sz="2800" dirty="0">
                <a:solidFill>
                  <a:srgbClr val="000000"/>
                </a:solidFill>
                <a:cs typeface="Times New Roman" pitchFamily="18" charset="0"/>
              </a:rPr>
              <a:t>in cultures where there is a greater emphasis placed on </a:t>
            </a:r>
            <a:r>
              <a:rPr lang="en-US" sz="2800" dirty="0">
                <a:solidFill>
                  <a:srgbClr val="C00000"/>
                </a:solidFill>
                <a:cs typeface="Times New Roman" pitchFamily="18" charset="0"/>
              </a:rPr>
              <a:t>community life than on individuals. </a:t>
            </a:r>
          </a:p>
          <a:p>
            <a:pPr eaLnBrk="1" hangingPunct="1">
              <a:lnSpc>
                <a:spcPct val="90000"/>
              </a:lnSpc>
            </a:pPr>
            <a:r>
              <a:rPr lang="en-US" sz="2800" dirty="0">
                <a:solidFill>
                  <a:srgbClr val="000000"/>
                </a:solidFill>
                <a:cs typeface="Times New Roman" pitchFamily="18" charset="0"/>
              </a:rPr>
              <a:t>In the West, since the Enlightenment, more emphasis has been placed on the importance of individual autonomy and individual rights. </a:t>
            </a:r>
          </a:p>
          <a:p>
            <a:pPr eaLnBrk="1" hangingPunct="1">
              <a:lnSpc>
                <a:spcPct val="90000"/>
              </a:lnSpc>
            </a:pPr>
            <a:r>
              <a:rPr lang="en-US" sz="2800" dirty="0">
                <a:solidFill>
                  <a:srgbClr val="000000"/>
                </a:solidFill>
                <a:cs typeface="Times New Roman" pitchFamily="18" charset="0"/>
              </a:rPr>
              <a:t>In the Ancient Greek world of Aristotle's time, the notion of community was paramount. </a:t>
            </a:r>
          </a:p>
          <a:p>
            <a:pPr eaLnBrk="1" hangingPunct="1">
              <a:lnSpc>
                <a:spcPct val="90000"/>
              </a:lnSpc>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 calcmode="lin" valueType="num">
                                      <p:cBhvr additive="base">
                                        <p:cTn id="7" dur="500" fill="hold"/>
                                        <p:tgtEl>
                                          <p:spTgt spid="860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60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6019">
                                            <p:txEl>
                                              <p:pRg st="1" end="1"/>
                                            </p:txEl>
                                          </p:spTgt>
                                        </p:tgtEl>
                                        <p:attrNameLst>
                                          <p:attrName>style.visibility</p:attrName>
                                        </p:attrNameLst>
                                      </p:cBhvr>
                                      <p:to>
                                        <p:strVal val="visible"/>
                                      </p:to>
                                    </p:set>
                                    <p:anim calcmode="lin" valueType="num">
                                      <p:cBhvr additive="base">
                                        <p:cTn id="13" dur="500" fill="hold"/>
                                        <p:tgtEl>
                                          <p:spTgt spid="860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60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6019">
                                            <p:txEl>
                                              <p:pRg st="2" end="2"/>
                                            </p:txEl>
                                          </p:spTgt>
                                        </p:tgtEl>
                                        <p:attrNameLst>
                                          <p:attrName>style.visibility</p:attrName>
                                        </p:attrNameLst>
                                      </p:cBhvr>
                                      <p:to>
                                        <p:strVal val="visible"/>
                                      </p:to>
                                    </p:set>
                                    <p:anim calcmode="lin" valueType="num">
                                      <p:cBhvr additive="base">
                                        <p:cTn id="19" dur="500" fill="hold"/>
                                        <p:tgtEl>
                                          <p:spTgt spid="860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60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pPr eaLnBrk="1" hangingPunct="1">
              <a:defRPr/>
            </a:pPr>
            <a:r>
              <a:rPr lang="en-US" sz="4000" dirty="0">
                <a:effectLst>
                  <a:outerShdw blurRad="38100" dist="38100" dir="2700000" algn="tl">
                    <a:srgbClr val="C0C0C0"/>
                  </a:outerShdw>
                </a:effectLst>
                <a:latin typeface="Times" charset="0"/>
                <a:cs typeface="Times New Roman" pitchFamily="18" charset="0"/>
              </a:rPr>
              <a:t>Table 2-3:  Four Types of Ethical Theory</a:t>
            </a:r>
            <a:r>
              <a:rPr lang="en-US" sz="4000" dirty="0"/>
              <a:t> </a:t>
            </a:r>
          </a:p>
        </p:txBody>
      </p:sp>
      <p:sp>
        <p:nvSpPr>
          <p:cNvPr id="83971" name="Rectangle 3"/>
          <p:cNvSpPr>
            <a:spLocks noChangeArrowheads="1"/>
          </p:cNvSpPr>
          <p:nvPr/>
        </p:nvSpPr>
        <p:spPr bwMode="auto">
          <a:xfrm>
            <a:off x="228600" y="2057400"/>
            <a:ext cx="2971800" cy="793750"/>
          </a:xfrm>
          <a:prstGeom prst="rect">
            <a:avLst/>
          </a:prstGeom>
          <a:noFill/>
          <a:ln w="9525">
            <a:noFill/>
            <a:miter lim="800000"/>
            <a:headEnd/>
            <a:tailEnd/>
          </a:ln>
        </p:spPr>
        <p:txBody>
          <a:bodyPr>
            <a:spAutoFit/>
          </a:bodyPr>
          <a:lstStyle/>
          <a:p>
            <a:r>
              <a:rPr lang="en-US" sz="1600">
                <a:latin typeface="Times" charset="0"/>
                <a:cs typeface="Times New Roman" pitchFamily="18" charset="0"/>
              </a:rPr>
              <a:t>	</a:t>
            </a:r>
          </a:p>
          <a:p>
            <a:pPr eaLnBrk="0" hangingPunct="0"/>
            <a:r>
              <a:rPr lang="en-US" sz="1600">
                <a:latin typeface="Times" charset="0"/>
                <a:cs typeface="Times New Roman" pitchFamily="18" charset="0"/>
              </a:rPr>
              <a:t>	</a:t>
            </a:r>
          </a:p>
          <a:p>
            <a:pPr eaLnBrk="0" hangingPunct="0"/>
            <a:r>
              <a:rPr lang="en-US" sz="1200">
                <a:latin typeface="Times" charset="0"/>
                <a:cs typeface="Times New Roman" pitchFamily="18" charset="0"/>
              </a:rPr>
              <a:t>		</a:t>
            </a:r>
            <a:r>
              <a:rPr lang="en-US" sz="1400"/>
              <a:t> </a:t>
            </a:r>
            <a:endParaRPr lang="en-US">
              <a:latin typeface="Times New Roman" pitchFamily="18" charset="0"/>
            </a:endParaRPr>
          </a:p>
        </p:txBody>
      </p:sp>
      <p:graphicFrame>
        <p:nvGraphicFramePr>
          <p:cNvPr id="9220" name="Group 4"/>
          <p:cNvGraphicFramePr>
            <a:graphicFrameLocks noGrp="1"/>
          </p:cNvGraphicFramePr>
          <p:nvPr>
            <p:extLst>
              <p:ext uri="{D42A27DB-BD31-4B8C-83A1-F6EECF244321}">
                <p14:modId xmlns:p14="http://schemas.microsoft.com/office/powerpoint/2010/main" val="3509507240"/>
              </p:ext>
            </p:extLst>
          </p:nvPr>
        </p:nvGraphicFramePr>
        <p:xfrm>
          <a:off x="304800" y="1600200"/>
          <a:ext cx="8534400" cy="4676775"/>
        </p:xfrm>
        <a:graphic>
          <a:graphicData uri="http://schemas.openxmlformats.org/drawingml/2006/table">
            <a:tbl>
              <a:tblPr/>
              <a:tblGrid>
                <a:gridCol w="2844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584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1" i="0" u="none" strike="noStrike" cap="none" normalizeH="0" baseline="0" dirty="0">
                          <a:ln>
                            <a:noFill/>
                          </a:ln>
                          <a:solidFill>
                            <a:schemeClr val="tx1"/>
                          </a:solidFill>
                          <a:effectLst/>
                          <a:latin typeface="Times" charset="0"/>
                          <a:cs typeface="Times New Roman" pitchFamily="18" charset="0"/>
                        </a:rPr>
                        <a:t>   </a:t>
                      </a:r>
                      <a:r>
                        <a:rPr kumimoji="0" lang="en-US" sz="2800" b="1" i="0" u="sng" strike="noStrike" cap="none" normalizeH="0" baseline="0" dirty="0">
                          <a:ln>
                            <a:noFill/>
                          </a:ln>
                          <a:solidFill>
                            <a:schemeClr val="tx1"/>
                          </a:solidFill>
                          <a:effectLst/>
                          <a:latin typeface="Times" charset="0"/>
                          <a:cs typeface="Times New Roman" pitchFamily="18" charset="0"/>
                        </a:rPr>
                        <a:t>Type of Theory</a:t>
                      </a:r>
                      <a:r>
                        <a:rPr kumimoji="0" lang="en-US" sz="2800" b="1" i="0" u="none" strike="noStrike" cap="none" normalizeH="0" baseline="0" dirty="0">
                          <a:ln>
                            <a:noFill/>
                          </a:ln>
                          <a:solidFill>
                            <a:schemeClr val="tx1"/>
                          </a:solidFill>
                          <a:effectLst/>
                          <a:latin typeface="Tahoma" pitchFamily="34" charset="0"/>
                        </a:rPr>
                        <a:t> </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1" i="0" u="none" strike="noStrike" cap="none" normalizeH="0" baseline="0" dirty="0">
                          <a:ln>
                            <a:noFill/>
                          </a:ln>
                          <a:solidFill>
                            <a:schemeClr val="tx1"/>
                          </a:solidFill>
                          <a:effectLst/>
                          <a:latin typeface="Times" charset="0"/>
                          <a:cs typeface="Times New Roman" pitchFamily="18" charset="0"/>
                        </a:rPr>
                        <a:t>    </a:t>
                      </a:r>
                      <a:r>
                        <a:rPr kumimoji="0" lang="en-US" sz="2800" b="1" i="0" u="sng" strike="noStrike" cap="none" normalizeH="0" baseline="0" dirty="0">
                          <a:ln>
                            <a:noFill/>
                          </a:ln>
                          <a:solidFill>
                            <a:schemeClr val="tx1"/>
                          </a:solidFill>
                          <a:effectLst/>
                          <a:latin typeface="Times" charset="0"/>
                          <a:cs typeface="Times New Roman" pitchFamily="18" charset="0"/>
                        </a:rPr>
                        <a:t>Advantages</a:t>
                      </a:r>
                      <a:r>
                        <a:rPr kumimoji="0" lang="en-US" sz="3200" b="1" i="0" u="none" strike="noStrike" cap="none" normalizeH="0" baseline="0" dirty="0">
                          <a:ln>
                            <a:noFill/>
                          </a:ln>
                          <a:solidFill>
                            <a:schemeClr val="tx1"/>
                          </a:solidFill>
                          <a:effectLst/>
                          <a:latin typeface="Tahoma" pitchFamily="34" charset="0"/>
                        </a:rPr>
                        <a:t>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1" i="0" u="none" strike="noStrike" cap="none" normalizeH="0" baseline="0" dirty="0">
                          <a:ln>
                            <a:noFill/>
                          </a:ln>
                          <a:solidFill>
                            <a:schemeClr val="tx1"/>
                          </a:solidFill>
                          <a:effectLst/>
                          <a:latin typeface="Times" charset="0"/>
                          <a:cs typeface="Times New Roman" pitchFamily="18" charset="0"/>
                        </a:rPr>
                        <a:t>  </a:t>
                      </a:r>
                      <a:r>
                        <a:rPr kumimoji="0" lang="en-US" sz="2800" b="1" i="0" u="sng" strike="noStrike" cap="none" normalizeH="0" baseline="0" dirty="0">
                          <a:ln>
                            <a:noFill/>
                          </a:ln>
                          <a:solidFill>
                            <a:schemeClr val="tx1"/>
                          </a:solidFill>
                          <a:effectLst/>
                          <a:latin typeface="Times" charset="0"/>
                          <a:cs typeface="Times New Roman" pitchFamily="18" charset="0"/>
                        </a:rPr>
                        <a:t>Disadvantages</a:t>
                      </a:r>
                      <a:r>
                        <a:rPr kumimoji="0" lang="en-US" sz="3200" b="1" i="0" u="sng" strike="noStrike" cap="none" normalizeH="0" baseline="0" dirty="0">
                          <a:ln>
                            <a:noFill/>
                          </a:ln>
                          <a:solidFill>
                            <a:schemeClr val="tx1"/>
                          </a:solidFill>
                          <a:effectLst/>
                          <a:latin typeface="Tahoma" pitchFamily="34" charset="0"/>
                        </a:rPr>
                        <a:t> </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668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1" u="none" strike="noStrike" cap="none" normalizeH="0" baseline="0" dirty="0">
                          <a:ln>
                            <a:noFill/>
                          </a:ln>
                          <a:solidFill>
                            <a:schemeClr val="tx1"/>
                          </a:solidFill>
                          <a:effectLst/>
                          <a:latin typeface="Times" charset="0"/>
                          <a:cs typeface="Times New Roman" pitchFamily="18" charset="0"/>
                        </a:rPr>
                        <a:t>Consequence-based (Utilitarian)</a:t>
                      </a:r>
                      <a:endParaRPr kumimoji="0" lang="en-US" sz="3200" b="1" i="1"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C00000"/>
                          </a:solidFill>
                          <a:effectLst/>
                          <a:latin typeface="Times" charset="0"/>
                          <a:cs typeface="Times New Roman" pitchFamily="18" charset="0"/>
                        </a:rPr>
                        <a:t>Stresses promotion of happiness and social utility	</a:t>
                      </a:r>
                      <a:r>
                        <a:rPr kumimoji="0" lang="en-US" sz="3200" b="0" i="0" u="none" strike="noStrike" cap="none" normalizeH="0" baseline="0" dirty="0">
                          <a:ln>
                            <a:noFill/>
                          </a:ln>
                          <a:solidFill>
                            <a:srgbClr val="C00000"/>
                          </a:solidFill>
                          <a:effectLst/>
                          <a:latin typeface="Tahoma" pitchFamily="34" charset="0"/>
                        </a:rPr>
                        <a:t>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C00000"/>
                          </a:solidFill>
                          <a:effectLst/>
                          <a:latin typeface="Times" charset="0"/>
                          <a:cs typeface="Times New Roman" pitchFamily="18" charset="0"/>
                        </a:rPr>
                        <a:t>Ignores concerns of justice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C00000"/>
                          </a:solidFill>
                          <a:effectLst/>
                          <a:latin typeface="Times" charset="0"/>
                          <a:cs typeface="Times New Roman" pitchFamily="18" charset="0"/>
                        </a:rPr>
                        <a:t>for the minority population</a:t>
                      </a:r>
                      <a:r>
                        <a:rPr kumimoji="0" lang="en-US" sz="2000" b="0" i="0" u="none" strike="noStrike" cap="none" normalizeH="0" baseline="0" dirty="0">
                          <a:ln>
                            <a:noFill/>
                          </a:ln>
                          <a:solidFill>
                            <a:srgbClr val="C00000"/>
                          </a:solidFill>
                          <a:effectLst/>
                          <a:latin typeface="Tahoma" pitchFamily="34" charset="0"/>
                        </a:rPr>
                        <a:t> </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033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1" u="none" strike="noStrike" cap="none" normalizeH="0" baseline="0" dirty="0">
                          <a:ln>
                            <a:noFill/>
                          </a:ln>
                          <a:solidFill>
                            <a:schemeClr val="tx1"/>
                          </a:solidFill>
                          <a:effectLst/>
                          <a:latin typeface="Times" charset="0"/>
                          <a:cs typeface="Times New Roman" pitchFamily="18" charset="0"/>
                        </a:rPr>
                        <a:t>Duty-based (Deontology)</a:t>
                      </a:r>
                      <a:endParaRPr kumimoji="0" lang="en-US" sz="2000" b="1" i="1"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1D02E8"/>
                          </a:solidFill>
                          <a:effectLst/>
                          <a:latin typeface="Times" charset="0"/>
                          <a:cs typeface="Times New Roman" pitchFamily="18" charset="0"/>
                        </a:rPr>
                        <a:t>Stresses the role of duty and respect for persons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1D02E8"/>
                          </a:solidFill>
                          <a:effectLst/>
                          <a:latin typeface="Times" charset="0"/>
                          <a:cs typeface="Times New Roman" pitchFamily="18" charset="0"/>
                        </a:rPr>
                        <a:t>Underestimates the importance of happiness and social utility</a:t>
                      </a:r>
                      <a:endParaRPr kumimoji="0" lang="en-US" sz="3200" b="0" i="0" u="none" strike="noStrike" cap="none" normalizeH="0" baseline="0" dirty="0">
                        <a:ln>
                          <a:noFill/>
                        </a:ln>
                        <a:solidFill>
                          <a:srgbClr val="1D02E8"/>
                        </a:solidFill>
                        <a:effectLst/>
                        <a:latin typeface="Tahoma"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6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1" u="none" strike="noStrike" cap="none" normalizeH="0" baseline="0" dirty="0">
                          <a:ln>
                            <a:noFill/>
                          </a:ln>
                          <a:solidFill>
                            <a:schemeClr val="tx1"/>
                          </a:solidFill>
                          <a:effectLst/>
                          <a:latin typeface="Times" charset="0"/>
                          <a:cs typeface="Times New Roman" pitchFamily="18" charset="0"/>
                        </a:rPr>
                        <a:t>Contract-based (Rights)	</a:t>
                      </a:r>
                      <a:r>
                        <a:rPr kumimoji="0" lang="en-US" sz="2000" b="1" i="1" u="none" strike="noStrike" cap="none" normalizeH="0" baseline="0" dirty="0">
                          <a:ln>
                            <a:noFill/>
                          </a:ln>
                          <a:solidFill>
                            <a:schemeClr val="tx1"/>
                          </a:solidFill>
                          <a:effectLst/>
                          <a:latin typeface="Tahoma" pitchFamily="34" charset="0"/>
                        </a:rPr>
                        <a:t> </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C00000"/>
                          </a:solidFill>
                          <a:effectLst/>
                          <a:latin typeface="Times" charset="0"/>
                          <a:cs typeface="Times New Roman" pitchFamily="18" charset="0"/>
                        </a:rPr>
                        <a:t>Provides a motivation for morality</a:t>
                      </a:r>
                      <a:r>
                        <a:rPr kumimoji="0" lang="en-US" sz="2000" b="0" i="0" u="none" strike="noStrike" cap="none" normalizeH="0" baseline="0" dirty="0">
                          <a:ln>
                            <a:noFill/>
                          </a:ln>
                          <a:solidFill>
                            <a:srgbClr val="C00000"/>
                          </a:solidFill>
                          <a:effectLst/>
                          <a:latin typeface="Tahoma" pitchFamily="34" charset="0"/>
                        </a:rPr>
                        <a:t>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C00000"/>
                          </a:solidFill>
                          <a:effectLst/>
                          <a:latin typeface="Times" charset="0"/>
                          <a:cs typeface="Times New Roman" pitchFamily="18" charset="0"/>
                        </a:rPr>
                        <a:t>Offers only a minimal morality</a:t>
                      </a:r>
                      <a:endParaRPr kumimoji="0" lang="en-US" sz="3200" b="0" i="0" u="none" strike="noStrike" cap="none" normalizeH="0" baseline="0" dirty="0">
                        <a:ln>
                          <a:noFill/>
                        </a:ln>
                        <a:solidFill>
                          <a:srgbClr val="C00000"/>
                        </a:solidFill>
                        <a:effectLst/>
                        <a:latin typeface="Tahoma"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969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1" u="none" strike="noStrike" cap="none" normalizeH="0" baseline="0" dirty="0">
                          <a:ln>
                            <a:noFill/>
                          </a:ln>
                          <a:solidFill>
                            <a:schemeClr val="tx1"/>
                          </a:solidFill>
                          <a:effectLst/>
                          <a:latin typeface="Times" charset="0"/>
                          <a:cs typeface="Times New Roman" pitchFamily="18" charset="0"/>
                        </a:rPr>
                        <a:t>Character-based (Virtue)</a:t>
                      </a:r>
                      <a:r>
                        <a:rPr kumimoji="0" lang="en-US" sz="2000" b="1" i="1" u="none" strike="noStrike" cap="none" normalizeH="0" baseline="0" dirty="0">
                          <a:ln>
                            <a:noFill/>
                          </a:ln>
                          <a:solidFill>
                            <a:schemeClr val="tx1"/>
                          </a:solidFill>
                          <a:effectLst/>
                          <a:latin typeface="Tahoma" pitchFamily="34" charset="0"/>
                        </a:rPr>
                        <a:t> </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1D02E8"/>
                          </a:solidFill>
                          <a:effectLst/>
                          <a:latin typeface="Times" charset="0"/>
                          <a:cs typeface="Times New Roman" pitchFamily="18" charset="0"/>
                        </a:rPr>
                        <a:t>Stresses moral development and moral education</a:t>
                      </a:r>
                      <a:endParaRPr kumimoji="0" lang="en-US" sz="2000" b="0" i="0" u="none" strike="noStrike" cap="none" normalizeH="0" baseline="0" dirty="0">
                        <a:ln>
                          <a:noFill/>
                        </a:ln>
                        <a:solidFill>
                          <a:srgbClr val="1D02E8"/>
                        </a:solidFill>
                        <a:effectLst/>
                        <a:latin typeface="Tahoma"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1D02E8"/>
                          </a:solidFill>
                          <a:effectLst/>
                          <a:latin typeface="Times" charset="0"/>
                          <a:cs typeface="Times New Roman" pitchFamily="18" charset="0"/>
                        </a:rPr>
                        <a:t>Depends on homogeneous community standards for morality</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sz="2800"/>
              <a:t>Can a Comprehensive Ethical Theory Be Framed to Combine Two or More Traditional Theories?</a:t>
            </a:r>
          </a:p>
        </p:txBody>
      </p:sp>
      <p:sp>
        <p:nvSpPr>
          <p:cNvPr id="3" name="Content Placeholder 2"/>
          <p:cNvSpPr>
            <a:spLocks noGrp="1"/>
          </p:cNvSpPr>
          <p:nvPr>
            <p:ph idx="1"/>
          </p:nvPr>
        </p:nvSpPr>
        <p:spPr/>
        <p:txBody>
          <a:bodyPr/>
          <a:lstStyle/>
          <a:p>
            <a:r>
              <a:rPr lang="en-US" sz="2800" dirty="0">
                <a:solidFill>
                  <a:schemeClr val="tx1"/>
                </a:solidFill>
              </a:rPr>
              <a:t>Some Ethicists have tried to combine aspects of two more theories, such as consequentialism and deontology.</a:t>
            </a:r>
          </a:p>
          <a:p>
            <a:r>
              <a:rPr lang="en-US" sz="2800" dirty="0">
                <a:solidFill>
                  <a:schemeClr val="tx1"/>
                </a:solidFill>
              </a:rPr>
              <a:t>James Moor has devised a framework called “Just Consequentialism” that incorporates aspects of:</a:t>
            </a:r>
          </a:p>
          <a:p>
            <a:pPr lvl="1"/>
            <a:r>
              <a:rPr lang="en-US" sz="2400" dirty="0">
                <a:solidFill>
                  <a:srgbClr val="C00000"/>
                </a:solidFill>
              </a:rPr>
              <a:t>Deontology (justice)</a:t>
            </a:r>
          </a:p>
          <a:p>
            <a:pPr lvl="1"/>
            <a:r>
              <a:rPr lang="en-US" sz="2400" dirty="0">
                <a:solidFill>
                  <a:srgbClr val="C00000"/>
                </a:solidFill>
              </a:rPr>
              <a:t>Utilitarianism (consequences)</a:t>
            </a:r>
          </a:p>
          <a:p>
            <a:pPr>
              <a:buFont typeface="Wingdings" pitchFamily="2" charset="2"/>
              <a:buChar char="§"/>
            </a:pPr>
            <a:r>
              <a:rPr lang="en-US" sz="2800" dirty="0">
                <a:solidFill>
                  <a:schemeClr val="tx1"/>
                </a:solidFill>
              </a:rPr>
              <a:t>His theory has two steps or stages.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0" y="0"/>
            <a:ext cx="9144000" cy="2133600"/>
          </a:xfrm>
        </p:spPr>
        <p:txBody>
          <a:bodyPr/>
          <a:lstStyle/>
          <a:p>
            <a:pPr eaLnBrk="1" hangingPunct="1"/>
            <a:r>
              <a:rPr lang="en-US" sz="3200" b="1" dirty="0">
                <a:solidFill>
                  <a:schemeClr val="tx1"/>
                </a:solidFill>
                <a:latin typeface="MathematicalPi 6" charset="0"/>
                <a:cs typeface="Times New Roman" pitchFamily="18" charset="0"/>
              </a:rPr>
              <a:t>James Moor’s Ethical Framework of </a:t>
            </a:r>
            <a:r>
              <a:rPr lang="en-US" sz="3200" b="1" i="1" dirty="0">
                <a:solidFill>
                  <a:schemeClr val="tx1"/>
                </a:solidFill>
                <a:latin typeface="MathematicalPi 6" charset="0"/>
                <a:cs typeface="Times New Roman" pitchFamily="18" charset="0"/>
              </a:rPr>
              <a:t>Just </a:t>
            </a:r>
            <a:r>
              <a:rPr lang="en-US" sz="3200" b="1" i="1" dirty="0" err="1">
                <a:solidFill>
                  <a:schemeClr val="tx1"/>
                </a:solidFill>
                <a:latin typeface="MathematicalPi 6" charset="0"/>
                <a:cs typeface="Times New Roman" pitchFamily="18" charset="0"/>
              </a:rPr>
              <a:t>Consequentialism</a:t>
            </a:r>
            <a:r>
              <a:rPr lang="en-US" sz="3200" b="1" dirty="0">
                <a:solidFill>
                  <a:schemeClr val="tx1"/>
                </a:solidFill>
                <a:latin typeface="MathematicalPi 6" charset="0"/>
                <a:cs typeface="Times New Roman" pitchFamily="18" charset="0"/>
              </a:rPr>
              <a:t>: </a:t>
            </a:r>
            <a:br>
              <a:rPr lang="en-US" sz="3200" b="1" dirty="0">
                <a:solidFill>
                  <a:srgbClr val="1D02E8"/>
                </a:solidFill>
                <a:latin typeface="MathematicalPi 6" charset="0"/>
                <a:cs typeface="Times New Roman" pitchFamily="18" charset="0"/>
              </a:rPr>
            </a:br>
            <a:r>
              <a:rPr lang="en-US" sz="3200" b="1" dirty="0">
                <a:solidFill>
                  <a:srgbClr val="1D02E8"/>
                </a:solidFill>
                <a:latin typeface="MathematicalPi 6" charset="0"/>
                <a:cs typeface="Times New Roman" pitchFamily="18" charset="0"/>
              </a:rPr>
              <a:t>A Two-Step Strategy </a:t>
            </a:r>
          </a:p>
        </p:txBody>
      </p:sp>
      <p:sp>
        <p:nvSpPr>
          <p:cNvPr id="10243" name="Text Box 3"/>
          <p:cNvSpPr txBox="1">
            <a:spLocks noChangeArrowheads="1"/>
          </p:cNvSpPr>
          <p:nvPr/>
        </p:nvSpPr>
        <p:spPr bwMode="auto">
          <a:xfrm>
            <a:off x="0" y="1905000"/>
            <a:ext cx="9144000" cy="1169551"/>
          </a:xfrm>
          <a:prstGeom prst="rect">
            <a:avLst/>
          </a:prstGeom>
          <a:noFill/>
          <a:ln w="9525">
            <a:noFill/>
            <a:miter lim="800000"/>
            <a:headEnd/>
            <a:tailEnd/>
          </a:ln>
        </p:spPr>
        <p:txBody>
          <a:bodyPr>
            <a:spAutoFit/>
          </a:bodyPr>
          <a:lstStyle/>
          <a:p>
            <a:pPr marL="457200" indent="-457200">
              <a:spcBef>
                <a:spcPct val="50000"/>
              </a:spcBef>
            </a:pPr>
            <a:r>
              <a:rPr lang="en-US" sz="2000" b="1" dirty="0">
                <a:solidFill>
                  <a:srgbClr val="C00000"/>
                </a:solidFill>
                <a:latin typeface="Times New Roman" pitchFamily="18" charset="0"/>
                <a:cs typeface="Times New Roman" pitchFamily="18" charset="0"/>
              </a:rPr>
              <a:t>    1. </a:t>
            </a:r>
            <a:r>
              <a:rPr lang="en-US" sz="2000" b="1" i="1" dirty="0">
                <a:solidFill>
                  <a:srgbClr val="C00000"/>
                </a:solidFill>
                <a:latin typeface="Times New Roman" pitchFamily="18" charset="0"/>
                <a:cs typeface="Times New Roman" pitchFamily="18" charset="0"/>
              </a:rPr>
              <a:t>Deliberate</a:t>
            </a:r>
            <a:r>
              <a:rPr lang="en-US" sz="2000" b="1" dirty="0">
                <a:solidFill>
                  <a:srgbClr val="C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over various policies from an impartial point of view to determine whether they meet the criteria for being ethical policies. A policy is ethical if it:</a:t>
            </a:r>
            <a:endParaRPr lang="en-US" sz="2000" dirty="0">
              <a:latin typeface="Times New Roman" pitchFamily="18" charset="0"/>
              <a:cs typeface="Times New Roman" pitchFamily="18" charset="0"/>
            </a:endParaRPr>
          </a:p>
          <a:p>
            <a:pPr marL="457200" indent="-457200">
              <a:spcBef>
                <a:spcPct val="50000"/>
              </a:spcBef>
            </a:pPr>
            <a:endParaRPr lang="en-US" sz="2000" dirty="0">
              <a:latin typeface="Times New Roman" pitchFamily="18" charset="0"/>
            </a:endParaRPr>
          </a:p>
        </p:txBody>
      </p:sp>
      <p:sp>
        <p:nvSpPr>
          <p:cNvPr id="10244" name="Rectangle 4"/>
          <p:cNvSpPr>
            <a:spLocks noChangeArrowheads="1"/>
          </p:cNvSpPr>
          <p:nvPr/>
        </p:nvSpPr>
        <p:spPr bwMode="auto">
          <a:xfrm>
            <a:off x="0" y="2667000"/>
            <a:ext cx="9144000" cy="400110"/>
          </a:xfrm>
          <a:prstGeom prst="rect">
            <a:avLst/>
          </a:prstGeom>
          <a:noFill/>
          <a:ln w="9525">
            <a:noFill/>
            <a:miter lim="800000"/>
            <a:headEnd/>
            <a:tailEnd/>
          </a:ln>
        </p:spPr>
        <p:txBody>
          <a:bodyPr>
            <a:spAutoFit/>
          </a:bodyPr>
          <a:lstStyle/>
          <a:p>
            <a:r>
              <a:rPr lang="en-US" sz="2000" dirty="0">
                <a:solidFill>
                  <a:srgbClr val="000000"/>
                </a:solidFill>
                <a:latin typeface="Times New Roman" pitchFamily="18" charset="0"/>
                <a:cs typeface="Times New Roman" pitchFamily="18" charset="0"/>
              </a:rPr>
              <a:t>	a. does not cause any unnecessary harms to individual groups</a:t>
            </a:r>
            <a:r>
              <a:rPr lang="en-US" sz="2000" dirty="0">
                <a:latin typeface="Times New Roman" pitchFamily="18" charset="0"/>
              </a:rPr>
              <a:t> </a:t>
            </a:r>
          </a:p>
        </p:txBody>
      </p:sp>
      <p:sp>
        <p:nvSpPr>
          <p:cNvPr id="10245" name="Rectangle 5"/>
          <p:cNvSpPr>
            <a:spLocks noChangeArrowheads="1"/>
          </p:cNvSpPr>
          <p:nvPr/>
        </p:nvSpPr>
        <p:spPr bwMode="auto">
          <a:xfrm>
            <a:off x="0" y="3200400"/>
            <a:ext cx="9144000" cy="769441"/>
          </a:xfrm>
          <a:prstGeom prst="rect">
            <a:avLst/>
          </a:prstGeom>
          <a:noFill/>
          <a:ln w="9525">
            <a:noFill/>
            <a:miter lim="800000"/>
            <a:headEnd/>
            <a:tailEnd/>
          </a:ln>
        </p:spPr>
        <p:txBody>
          <a:bodyPr>
            <a:spAutoFit/>
          </a:bodyPr>
          <a:lstStyle/>
          <a:p>
            <a:r>
              <a:rPr lang="en-US" sz="2000" dirty="0">
                <a:solidFill>
                  <a:srgbClr val="000000"/>
                </a:solidFill>
                <a:latin typeface="Times New Roman" pitchFamily="18" charset="0"/>
                <a:cs typeface="Times New Roman" pitchFamily="18" charset="0"/>
              </a:rPr>
              <a:t>                b. supports </a:t>
            </a:r>
            <a:r>
              <a:rPr lang="en-US" dirty="0">
                <a:solidFill>
                  <a:srgbClr val="000000"/>
                </a:solidFill>
                <a:latin typeface="Times New Roman" pitchFamily="18" charset="0"/>
                <a:cs typeface="Times New Roman" pitchFamily="18" charset="0"/>
              </a:rPr>
              <a:t>individual</a:t>
            </a:r>
            <a:r>
              <a:rPr lang="en-US" sz="2000" dirty="0">
                <a:solidFill>
                  <a:srgbClr val="000000"/>
                </a:solidFill>
                <a:latin typeface="Times New Roman" pitchFamily="18" charset="0"/>
                <a:cs typeface="Times New Roman" pitchFamily="18" charset="0"/>
              </a:rPr>
              <a:t> rights, the fulfilling of duties, etc. </a:t>
            </a:r>
            <a:endParaRPr lang="en-US" sz="2000" dirty="0">
              <a:latin typeface="Times New Roman" pitchFamily="18" charset="0"/>
              <a:cs typeface="Times New Roman" pitchFamily="18" charset="0"/>
            </a:endParaRPr>
          </a:p>
          <a:p>
            <a:pPr eaLnBrk="0" hangingPunct="0"/>
            <a:endParaRPr lang="en-US" sz="2000" dirty="0">
              <a:latin typeface="Times New Roman" pitchFamily="18" charset="0"/>
            </a:endParaRPr>
          </a:p>
        </p:txBody>
      </p:sp>
      <p:sp>
        <p:nvSpPr>
          <p:cNvPr id="10246" name="Rectangle 6"/>
          <p:cNvSpPr>
            <a:spLocks noChangeArrowheads="1"/>
          </p:cNvSpPr>
          <p:nvPr/>
        </p:nvSpPr>
        <p:spPr bwMode="auto">
          <a:xfrm>
            <a:off x="0" y="3886200"/>
            <a:ext cx="9144000" cy="1323439"/>
          </a:xfrm>
          <a:prstGeom prst="rect">
            <a:avLst/>
          </a:prstGeom>
          <a:noFill/>
          <a:ln w="9525">
            <a:noFill/>
            <a:miter lim="800000"/>
            <a:headEnd/>
            <a:tailEnd/>
          </a:ln>
        </p:spPr>
        <p:txBody>
          <a:bodyPr>
            <a:spAutoFit/>
          </a:bodyPr>
          <a:lstStyle/>
          <a:p>
            <a:r>
              <a:rPr lang="en-US" sz="1000" b="1" dirty="0">
                <a:solidFill>
                  <a:srgbClr val="C00000"/>
                </a:solidFill>
                <a:latin typeface="Times New Roman" pitchFamily="18" charset="0"/>
                <a:cs typeface="Times New Roman" pitchFamily="18" charset="0"/>
              </a:rPr>
              <a:t>         </a:t>
            </a:r>
            <a:r>
              <a:rPr lang="en-US" sz="2000" b="1" dirty="0">
                <a:solidFill>
                  <a:srgbClr val="C00000"/>
                </a:solidFill>
                <a:latin typeface="Times New Roman" pitchFamily="18" charset="0"/>
                <a:cs typeface="Times New Roman" pitchFamily="18" charset="0"/>
              </a:rPr>
              <a:t>2. </a:t>
            </a:r>
            <a:r>
              <a:rPr lang="en-US" sz="2000" b="1" i="1" dirty="0">
                <a:solidFill>
                  <a:srgbClr val="C00000"/>
                </a:solidFill>
                <a:latin typeface="Times New Roman" pitchFamily="18" charset="0"/>
                <a:cs typeface="Times New Roman" pitchFamily="18" charset="0"/>
              </a:rPr>
              <a:t>Select</a:t>
            </a:r>
            <a:r>
              <a:rPr lang="en-US" sz="2000" b="1" dirty="0">
                <a:solidFill>
                  <a:srgbClr val="C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the best policy from the set of just policies arrived at the deliberation stage  </a:t>
            </a:r>
          </a:p>
          <a:p>
            <a:r>
              <a:rPr lang="en-US" sz="2000" dirty="0">
                <a:solidFill>
                  <a:srgbClr val="000000"/>
                </a:solidFill>
                <a:latin typeface="Times New Roman" pitchFamily="18" charset="0"/>
                <a:cs typeface="Times New Roman" pitchFamily="18" charset="0"/>
              </a:rPr>
              <a:t>         by ranking  ethical policies in terms of benefits and justifiable (harms). In doing </a:t>
            </a:r>
          </a:p>
          <a:p>
            <a:r>
              <a:rPr lang="en-US" sz="2000" dirty="0">
                <a:solidFill>
                  <a:srgbClr val="000000"/>
                </a:solidFill>
                <a:latin typeface="Times New Roman" pitchFamily="18" charset="0"/>
                <a:cs typeface="Times New Roman" pitchFamily="18" charset="0"/>
              </a:rPr>
              <a:t>         this, be sure to:</a:t>
            </a:r>
            <a:endParaRPr lang="en-US" sz="2000" dirty="0">
              <a:latin typeface="Times New Roman" pitchFamily="18" charset="0"/>
              <a:cs typeface="Times New Roman" pitchFamily="18" charset="0"/>
            </a:endParaRPr>
          </a:p>
          <a:p>
            <a:pPr eaLnBrk="0" hangingPunct="0"/>
            <a:endParaRPr lang="en-US" sz="2000" dirty="0">
              <a:latin typeface="Times New Roman" pitchFamily="18" charset="0"/>
            </a:endParaRPr>
          </a:p>
        </p:txBody>
      </p:sp>
      <p:sp>
        <p:nvSpPr>
          <p:cNvPr id="10247" name="Rectangle 7"/>
          <p:cNvSpPr>
            <a:spLocks noChangeArrowheads="1"/>
          </p:cNvSpPr>
          <p:nvPr/>
        </p:nvSpPr>
        <p:spPr bwMode="auto">
          <a:xfrm>
            <a:off x="-304800" y="4953000"/>
            <a:ext cx="9144000" cy="707886"/>
          </a:xfrm>
          <a:prstGeom prst="rect">
            <a:avLst/>
          </a:prstGeom>
          <a:noFill/>
          <a:ln w="9525">
            <a:noFill/>
            <a:miter lim="800000"/>
            <a:headEnd/>
            <a:tailEnd/>
          </a:ln>
        </p:spPr>
        <p:txBody>
          <a:bodyPr>
            <a:spAutoFit/>
          </a:bodyPr>
          <a:lstStyle/>
          <a:p>
            <a:r>
              <a:rPr lang="en-US" sz="1000" dirty="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a. weigh carefully between the good consequences and the bad consequences </a:t>
            </a:r>
          </a:p>
          <a:p>
            <a:r>
              <a:rPr lang="en-US" sz="2000" dirty="0">
                <a:solidFill>
                  <a:srgbClr val="000000"/>
                </a:solidFill>
                <a:latin typeface="Times New Roman" pitchFamily="18" charset="0"/>
                <a:cs typeface="Times New Roman" pitchFamily="18" charset="0"/>
              </a:rPr>
              <a:t>                   in the ethical policies and</a:t>
            </a:r>
            <a:r>
              <a:rPr lang="en-US" sz="2000" dirty="0">
                <a:latin typeface="Times New Roman" pitchFamily="18" charset="0"/>
              </a:rPr>
              <a:t> </a:t>
            </a:r>
          </a:p>
        </p:txBody>
      </p:sp>
      <p:sp>
        <p:nvSpPr>
          <p:cNvPr id="10248" name="Rectangle 8"/>
          <p:cNvSpPr>
            <a:spLocks noChangeArrowheads="1"/>
          </p:cNvSpPr>
          <p:nvPr/>
        </p:nvSpPr>
        <p:spPr bwMode="auto">
          <a:xfrm>
            <a:off x="-457200" y="5638800"/>
            <a:ext cx="9144000" cy="1015663"/>
          </a:xfrm>
          <a:prstGeom prst="rect">
            <a:avLst/>
          </a:prstGeom>
          <a:noFill/>
          <a:ln w="9525">
            <a:noFill/>
            <a:miter lim="800000"/>
            <a:headEnd/>
            <a:tailEnd/>
          </a:ln>
        </p:spPr>
        <p:txBody>
          <a:bodyPr>
            <a:spAutoFit/>
          </a:bodyPr>
          <a:lstStyle/>
          <a:p>
            <a:r>
              <a:rPr lang="en-US" sz="2000" dirty="0">
                <a:solidFill>
                  <a:srgbClr val="000000"/>
                </a:solidFill>
                <a:latin typeface="Times New Roman" pitchFamily="18" charset="0"/>
                <a:cs typeface="Times New Roman" pitchFamily="18" charset="0"/>
              </a:rPr>
              <a:t>                 b. distinguish between disagreements about facts and disagreements about </a:t>
            </a:r>
          </a:p>
          <a:p>
            <a:r>
              <a:rPr lang="en-US" sz="2000" dirty="0">
                <a:solidFill>
                  <a:srgbClr val="000000"/>
                </a:solidFill>
                <a:latin typeface="Times New Roman" pitchFamily="18" charset="0"/>
                <a:cs typeface="Times New Roman" pitchFamily="18" charset="0"/>
              </a:rPr>
              <a:t>                     principles and values, when deciding which particular ethical policy </a:t>
            </a:r>
          </a:p>
          <a:p>
            <a:r>
              <a:rPr lang="en-US" sz="2000" dirty="0">
                <a:solidFill>
                  <a:srgbClr val="000000"/>
                </a:solidFill>
                <a:latin typeface="Times New Roman" pitchFamily="18" charset="0"/>
                <a:cs typeface="Times New Roman" pitchFamily="18" charset="0"/>
              </a:rPr>
              <a:t>                     should be adopted. 	</a:t>
            </a:r>
            <a:endParaRPr lang="en-US" sz="2000" dirty="0">
              <a:latin typeface="Times New Roman" pitchFamily="18" charset="0"/>
            </a:endParaRPr>
          </a:p>
        </p:txBody>
      </p:sp>
      <p:sp>
        <p:nvSpPr>
          <p:cNvPr id="10249" name="Rectangle 9"/>
          <p:cNvSpPr>
            <a:spLocks noChangeArrowheads="1"/>
          </p:cNvSpPr>
          <p:nvPr/>
        </p:nvSpPr>
        <p:spPr bwMode="auto">
          <a:xfrm>
            <a:off x="0" y="3794125"/>
            <a:ext cx="9144000" cy="0"/>
          </a:xfrm>
          <a:prstGeom prst="rect">
            <a:avLst/>
          </a:prstGeom>
          <a:noFill/>
          <a:ln w="9525">
            <a:noFill/>
            <a:miter lim="800000"/>
            <a:headEnd/>
            <a:tailEnd/>
          </a:ln>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additive="base">
                                        <p:cTn id="7" dur="500" fill="hold"/>
                                        <p:tgtEl>
                                          <p:spTgt spid="10243"/>
                                        </p:tgtEl>
                                        <p:attrNameLst>
                                          <p:attrName>ppt_x</p:attrName>
                                        </p:attrNameLst>
                                      </p:cBhvr>
                                      <p:tavLst>
                                        <p:tav tm="0">
                                          <p:val>
                                            <p:strVal val="0-#ppt_w/2"/>
                                          </p:val>
                                        </p:tav>
                                        <p:tav tm="100000">
                                          <p:val>
                                            <p:strVal val="#ppt_x"/>
                                          </p:val>
                                        </p:tav>
                                      </p:tavLst>
                                    </p:anim>
                                    <p:anim calcmode="lin" valueType="num">
                                      <p:cBhvr additive="base">
                                        <p:cTn id="8" dur="500" fill="hold"/>
                                        <p:tgtEl>
                                          <p:spTgt spid="102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4"/>
                                        </p:tgtEl>
                                        <p:attrNameLst>
                                          <p:attrName>style.visibility</p:attrName>
                                        </p:attrNameLst>
                                      </p:cBhvr>
                                      <p:to>
                                        <p:strVal val="visible"/>
                                      </p:to>
                                    </p:set>
                                    <p:anim calcmode="lin" valueType="num">
                                      <p:cBhvr additive="base">
                                        <p:cTn id="13" dur="500" fill="hold"/>
                                        <p:tgtEl>
                                          <p:spTgt spid="10244"/>
                                        </p:tgtEl>
                                        <p:attrNameLst>
                                          <p:attrName>ppt_x</p:attrName>
                                        </p:attrNameLst>
                                      </p:cBhvr>
                                      <p:tavLst>
                                        <p:tav tm="0">
                                          <p:val>
                                            <p:strVal val="0-#ppt_w/2"/>
                                          </p:val>
                                        </p:tav>
                                        <p:tav tm="100000">
                                          <p:val>
                                            <p:strVal val="#ppt_x"/>
                                          </p:val>
                                        </p:tav>
                                      </p:tavLst>
                                    </p:anim>
                                    <p:anim calcmode="lin" valueType="num">
                                      <p:cBhvr additive="base">
                                        <p:cTn id="14" dur="500" fill="hold"/>
                                        <p:tgtEl>
                                          <p:spTgt spid="1024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5"/>
                                        </p:tgtEl>
                                        <p:attrNameLst>
                                          <p:attrName>style.visibility</p:attrName>
                                        </p:attrNameLst>
                                      </p:cBhvr>
                                      <p:to>
                                        <p:strVal val="visible"/>
                                      </p:to>
                                    </p:set>
                                    <p:anim calcmode="lin" valueType="num">
                                      <p:cBhvr additive="base">
                                        <p:cTn id="19" dur="500" fill="hold"/>
                                        <p:tgtEl>
                                          <p:spTgt spid="10245"/>
                                        </p:tgtEl>
                                        <p:attrNameLst>
                                          <p:attrName>ppt_x</p:attrName>
                                        </p:attrNameLst>
                                      </p:cBhvr>
                                      <p:tavLst>
                                        <p:tav tm="0">
                                          <p:val>
                                            <p:strVal val="0-#ppt_w/2"/>
                                          </p:val>
                                        </p:tav>
                                        <p:tav tm="100000">
                                          <p:val>
                                            <p:strVal val="#ppt_x"/>
                                          </p:val>
                                        </p:tav>
                                      </p:tavLst>
                                    </p:anim>
                                    <p:anim calcmode="lin" valueType="num">
                                      <p:cBhvr additive="base">
                                        <p:cTn id="20" dur="500" fill="hold"/>
                                        <p:tgtEl>
                                          <p:spTgt spid="1024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6"/>
                                        </p:tgtEl>
                                        <p:attrNameLst>
                                          <p:attrName>style.visibility</p:attrName>
                                        </p:attrNameLst>
                                      </p:cBhvr>
                                      <p:to>
                                        <p:strVal val="visible"/>
                                      </p:to>
                                    </p:set>
                                    <p:anim calcmode="lin" valueType="num">
                                      <p:cBhvr additive="base">
                                        <p:cTn id="25" dur="500" fill="hold"/>
                                        <p:tgtEl>
                                          <p:spTgt spid="10246"/>
                                        </p:tgtEl>
                                        <p:attrNameLst>
                                          <p:attrName>ppt_x</p:attrName>
                                        </p:attrNameLst>
                                      </p:cBhvr>
                                      <p:tavLst>
                                        <p:tav tm="0">
                                          <p:val>
                                            <p:strVal val="0-#ppt_w/2"/>
                                          </p:val>
                                        </p:tav>
                                        <p:tav tm="100000">
                                          <p:val>
                                            <p:strVal val="#ppt_x"/>
                                          </p:val>
                                        </p:tav>
                                      </p:tavLst>
                                    </p:anim>
                                    <p:anim calcmode="lin" valueType="num">
                                      <p:cBhvr additive="base">
                                        <p:cTn id="26" dur="500" fill="hold"/>
                                        <p:tgtEl>
                                          <p:spTgt spid="1024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7"/>
                                        </p:tgtEl>
                                        <p:attrNameLst>
                                          <p:attrName>style.visibility</p:attrName>
                                        </p:attrNameLst>
                                      </p:cBhvr>
                                      <p:to>
                                        <p:strVal val="visible"/>
                                      </p:to>
                                    </p:set>
                                    <p:anim calcmode="lin" valueType="num">
                                      <p:cBhvr additive="base">
                                        <p:cTn id="31" dur="500" fill="hold"/>
                                        <p:tgtEl>
                                          <p:spTgt spid="10247"/>
                                        </p:tgtEl>
                                        <p:attrNameLst>
                                          <p:attrName>ppt_x</p:attrName>
                                        </p:attrNameLst>
                                      </p:cBhvr>
                                      <p:tavLst>
                                        <p:tav tm="0">
                                          <p:val>
                                            <p:strVal val="0-#ppt_w/2"/>
                                          </p:val>
                                        </p:tav>
                                        <p:tav tm="100000">
                                          <p:val>
                                            <p:strVal val="#ppt_x"/>
                                          </p:val>
                                        </p:tav>
                                      </p:tavLst>
                                    </p:anim>
                                    <p:anim calcmode="lin" valueType="num">
                                      <p:cBhvr additive="base">
                                        <p:cTn id="32" dur="500" fill="hold"/>
                                        <p:tgtEl>
                                          <p:spTgt spid="1024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8"/>
                                        </p:tgtEl>
                                        <p:attrNameLst>
                                          <p:attrName>style.visibility</p:attrName>
                                        </p:attrNameLst>
                                      </p:cBhvr>
                                      <p:to>
                                        <p:strVal val="visible"/>
                                      </p:to>
                                    </p:set>
                                    <p:anim calcmode="lin" valueType="num">
                                      <p:cBhvr additive="base">
                                        <p:cTn id="37" dur="500" fill="hold"/>
                                        <p:tgtEl>
                                          <p:spTgt spid="10248"/>
                                        </p:tgtEl>
                                        <p:attrNameLst>
                                          <p:attrName>ppt_x</p:attrName>
                                        </p:attrNameLst>
                                      </p:cBhvr>
                                      <p:tavLst>
                                        <p:tav tm="0">
                                          <p:val>
                                            <p:strVal val="0-#ppt_w/2"/>
                                          </p:val>
                                        </p:tav>
                                        <p:tav tm="100000">
                                          <p:val>
                                            <p:strVal val="#ppt_x"/>
                                          </p:val>
                                        </p:tav>
                                      </p:tavLst>
                                    </p:anim>
                                    <p:anim calcmode="lin" valueType="num">
                                      <p:cBhvr additive="base">
                                        <p:cTn id="38" dur="500" fill="hold"/>
                                        <p:tgtEl>
                                          <p:spTgt spid="1024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nodePh="1">
                                  <p:stCondLst>
                                    <p:cond delay="0"/>
                                  </p:stCondLst>
                                  <p:endCondLst>
                                    <p:cond evt="begin" delay="0">
                                      <p:tn val="41"/>
                                    </p:cond>
                                  </p:endCondLst>
                                  <p:childTnLst>
                                    <p:set>
                                      <p:cBhvr>
                                        <p:cTn id="42" dur="1" fill="hold">
                                          <p:stCondLst>
                                            <p:cond delay="0"/>
                                          </p:stCondLst>
                                        </p:cTn>
                                        <p:tgtEl>
                                          <p:spTgt spid="10249"/>
                                        </p:tgtEl>
                                        <p:attrNameLst>
                                          <p:attrName>style.visibility</p:attrName>
                                        </p:attrNameLst>
                                      </p:cBhvr>
                                      <p:to>
                                        <p:strVal val="visible"/>
                                      </p:to>
                                    </p:set>
                                    <p:anim calcmode="lin" valueType="num">
                                      <p:cBhvr additive="base">
                                        <p:cTn id="43" dur="500" fill="hold"/>
                                        <p:tgtEl>
                                          <p:spTgt spid="10249"/>
                                        </p:tgtEl>
                                        <p:attrNameLst>
                                          <p:attrName>ppt_x</p:attrName>
                                        </p:attrNameLst>
                                      </p:cBhvr>
                                      <p:tavLst>
                                        <p:tav tm="0">
                                          <p:val>
                                            <p:strVal val="0-#ppt_w/2"/>
                                          </p:val>
                                        </p:tav>
                                        <p:tav tm="100000">
                                          <p:val>
                                            <p:strVal val="#ppt_x"/>
                                          </p:val>
                                        </p:tav>
                                      </p:tavLst>
                                    </p:anim>
                                    <p:anim calcmode="lin" valueType="num">
                                      <p:cBhvr additive="base">
                                        <p:cTn id="44" dur="500" fill="hold"/>
                                        <p:tgtEl>
                                          <p:spTgt spid="102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utoUpdateAnimBg="0"/>
      <p:bldP spid="10244" grpId="0" autoUpdateAnimBg="0"/>
      <p:bldP spid="10245" grpId="0" autoUpdateAnimBg="0"/>
      <p:bldP spid="10246" grpId="0" autoUpdateAnimBg="0"/>
      <p:bldP spid="10247" grpId="0" autoUpdateAnimBg="0"/>
      <p:bldP spid="10248" grpId="0" autoUpdateAnimBg="0"/>
      <p:bldP spid="1024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eaLnBrk="1" hangingPunct="1">
              <a:defRPr/>
            </a:pPr>
            <a:r>
              <a:rPr lang="en-US" sz="4000" dirty="0">
                <a:effectLst>
                  <a:outerShdw blurRad="38100" dist="38100" dir="2700000" algn="tl">
                    <a:srgbClr val="C0C0C0"/>
                  </a:outerShdw>
                </a:effectLst>
                <a:latin typeface="Times" charset="0"/>
                <a:cs typeface="Times New Roman" pitchFamily="18" charset="0"/>
              </a:rPr>
              <a:t>CLASS DEBATE</a:t>
            </a:r>
            <a:endParaRPr lang="en-US" sz="4000" dirty="0"/>
          </a:p>
        </p:txBody>
      </p:sp>
      <p:sp>
        <p:nvSpPr>
          <p:cNvPr id="5" name="Content Placeholder 2"/>
          <p:cNvSpPr>
            <a:spLocks noGrp="1"/>
          </p:cNvSpPr>
          <p:nvPr>
            <p:ph idx="1"/>
          </p:nvPr>
        </p:nvSpPr>
        <p:spPr>
          <a:xfrm>
            <a:off x="228600" y="1752600"/>
            <a:ext cx="8534400" cy="4379913"/>
          </a:xfrm>
          <a:solidFill>
            <a:schemeClr val="accent1">
              <a:lumMod val="60000"/>
              <a:lumOff val="40000"/>
            </a:schemeClr>
          </a:solidFill>
        </p:spPr>
        <p:txBody>
          <a:bodyPr>
            <a:normAutofit/>
          </a:bodyPr>
          <a:lstStyle/>
          <a:p>
            <a:r>
              <a:rPr lang="en-US" altLang="en-US" sz="2400" dirty="0">
                <a:solidFill>
                  <a:schemeClr val="tx1"/>
                </a:solidFill>
              </a:rPr>
              <a:t>Is the right to life a negative right or a positive right? In other words, when we say someone has the right to life, we are simply saying we have an obligation not to harm that person, or are we saying we have and obligation to provide that person what he/she needs in order to live, such as food and shelter.</a:t>
            </a:r>
          </a:p>
          <a:p>
            <a:r>
              <a:rPr lang="en-US" altLang="en-US" sz="2400" dirty="0">
                <a:solidFill>
                  <a:schemeClr val="tx1"/>
                </a:solidFill>
              </a:rPr>
              <a:t>Divide the class into two groups. One group should argue that the right to life is a negative right; the other should argue that the right to life is a positive right</a:t>
            </a:r>
          </a:p>
        </p:txBody>
      </p:sp>
    </p:spTree>
    <p:extLst>
      <p:ext uri="{BB962C8B-B14F-4D97-AF65-F5344CB8AC3E}">
        <p14:creationId xmlns:p14="http://schemas.microsoft.com/office/powerpoint/2010/main" val="1838359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2401</TotalTime>
  <Words>4953</Words>
  <Application>Microsoft Macintosh PowerPoint</Application>
  <PresentationFormat>On-screen Show (4:3)</PresentationFormat>
  <Paragraphs>330</Paragraphs>
  <Slides>43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Franklin Gothic Medium</vt:lpstr>
      <vt:lpstr>MathematicalPi 6</vt:lpstr>
      <vt:lpstr>Tahoma</vt:lpstr>
      <vt:lpstr>Times</vt:lpstr>
      <vt:lpstr>Times New Roman</vt:lpstr>
      <vt:lpstr>Wingdings</vt:lpstr>
      <vt:lpstr>Wingdings 2</vt:lpstr>
      <vt:lpstr>Grid</vt:lpstr>
      <vt:lpstr>CHAPTER 2: PHILOSOPHICAL  ETHICS</vt:lpstr>
      <vt:lpstr>LEARNING OUTCOMES</vt:lpstr>
      <vt:lpstr>The Structure of Ethical Theories </vt:lpstr>
      <vt:lpstr>The Structure of Ethical Theories (Continued)</vt:lpstr>
      <vt:lpstr>Four Kinds of Ethical Theories</vt:lpstr>
      <vt:lpstr>Consequence-based Ethical Theories</vt:lpstr>
      <vt:lpstr>Consequence-based Theories (Continued)</vt:lpstr>
      <vt:lpstr>Consequence-based Theories: (Utilitarianism Continued)</vt:lpstr>
      <vt:lpstr>Consequence-based Theories: (Utilitarianism Continued)</vt:lpstr>
      <vt:lpstr>Utilitarianism (continued)</vt:lpstr>
      <vt:lpstr>Utilitarianism (continued)</vt:lpstr>
      <vt:lpstr>Act Utilitarianism</vt:lpstr>
      <vt:lpstr>Criticism of Act Utilitarianism</vt:lpstr>
      <vt:lpstr>Criticism of Act Utilitarianism (continued)</vt:lpstr>
      <vt:lpstr>Rule Utilitarianism</vt:lpstr>
      <vt:lpstr>Criticism of Rule Utilitarianism</vt:lpstr>
      <vt:lpstr>Duty-based Ethical Theories </vt:lpstr>
      <vt:lpstr>Duty-based Ethical Theories (Continued)</vt:lpstr>
      <vt:lpstr>Duty-based Ethical Theories (Continued)</vt:lpstr>
      <vt:lpstr>Rule Deontology</vt:lpstr>
      <vt:lpstr>Rule Deontology (Continued)</vt:lpstr>
      <vt:lpstr>Categorical Imperative</vt:lpstr>
      <vt:lpstr>Criticisms of Rule Deontology</vt:lpstr>
      <vt:lpstr>Act Deontology</vt:lpstr>
      <vt:lpstr>Act Deontology (Continued)</vt:lpstr>
      <vt:lpstr>Act Deontology (Continued)</vt:lpstr>
      <vt:lpstr>Act Deontology (Continued)</vt:lpstr>
      <vt:lpstr>Contract-based Ethical Theories</vt:lpstr>
      <vt:lpstr>Contract-based Ethical Theories (Continued)</vt:lpstr>
      <vt:lpstr>Criticisms of Social Contract Theory</vt:lpstr>
      <vt:lpstr>Criticism of Social Contract Theory (Continued)</vt:lpstr>
      <vt:lpstr>Criticism of Social Contract Theory (Continued)</vt:lpstr>
      <vt:lpstr>Positive vs. Negative Rights</vt:lpstr>
      <vt:lpstr>Positive and Negative Rights (Continued)</vt:lpstr>
      <vt:lpstr>Character-based Ethical Theories </vt:lpstr>
      <vt:lpstr>Character-based Ethical Theory (continued)</vt:lpstr>
      <vt:lpstr>Character-based Ethical Theories (Continued)</vt:lpstr>
      <vt:lpstr>Character-based Ethical Theories (Continued)</vt:lpstr>
      <vt:lpstr>Criticism of Character-based Ethical Theories</vt:lpstr>
      <vt:lpstr>Table 2-3:  Four Types of Ethical Theory </vt:lpstr>
      <vt:lpstr>Can a Comprehensive Ethical Theory Be Framed to Combine Two or More Traditional Theories?</vt:lpstr>
      <vt:lpstr>James Moor’s Ethical Framework of Just Consequentialism:  A Two-Step Strategy </vt:lpstr>
      <vt:lpstr>CLASS DEBATE</vt:lpstr>
    </vt:vector>
  </TitlesOfParts>
  <Company>Rivier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2-1: Basic Components of a Moral System</dc:title>
  <dc:creator>rozinorhaizan nor</dc:creator>
  <cp:lastModifiedBy>ROZI NOR HAIZAN BINTI NOR</cp:lastModifiedBy>
  <cp:revision>114</cp:revision>
  <cp:lastPrinted>2022-04-05T03:22:39Z</cp:lastPrinted>
  <dcterms:created xsi:type="dcterms:W3CDTF">2003-08-18T14:38:56Z</dcterms:created>
  <dcterms:modified xsi:type="dcterms:W3CDTF">2025-03-20T03:33:44Z</dcterms:modified>
</cp:coreProperties>
</file>