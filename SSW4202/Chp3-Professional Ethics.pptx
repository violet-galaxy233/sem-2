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2" r:id="rId1"/>
  </p:sldMasterIdLst>
  <p:notesMasterIdLst>
    <p:notesMasterId r:id="rId59"/>
  </p:notesMasterIdLst>
  <p:handoutMasterIdLst>
    <p:handoutMasterId r:id="rId60"/>
  </p:handoutMasterIdLst>
  <p:sldIdLst>
    <p:sldId id="31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13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311" r:id="rId29"/>
    <p:sldId id="282" r:id="rId30"/>
    <p:sldId id="283" r:id="rId31"/>
    <p:sldId id="312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284" r:id="rId45"/>
    <p:sldId id="285" r:id="rId46"/>
    <p:sldId id="286" r:id="rId47"/>
    <p:sldId id="287" r:id="rId48"/>
    <p:sldId id="288" r:id="rId49"/>
    <p:sldId id="289" r:id="rId50"/>
    <p:sldId id="297" r:id="rId51"/>
    <p:sldId id="290" r:id="rId52"/>
    <p:sldId id="291" r:id="rId53"/>
    <p:sldId id="292" r:id="rId54"/>
    <p:sldId id="293" r:id="rId55"/>
    <p:sldId id="294" r:id="rId56"/>
    <p:sldId id="295" r:id="rId57"/>
    <p:sldId id="296" r:id="rId58"/>
  </p:sldIdLst>
  <p:sldSz cx="9144000" cy="6858000" type="screen4x3"/>
  <p:notesSz cx="6761163" cy="99425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Times New Roman" pitchFamily="18" charset="0"/>
        <a:ea typeface="MS 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Times New Roman" pitchFamily="18" charset="0"/>
        <a:ea typeface="MS 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Times New Roman" pitchFamily="18" charset="0"/>
        <a:ea typeface="MS 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Times New Roman" pitchFamily="18" charset="0"/>
        <a:ea typeface="MS 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Times New Roman" pitchFamily="18" charset="0"/>
        <a:ea typeface="MS 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Times New Roman" pitchFamily="18" charset="0"/>
        <a:ea typeface="MS 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Times New Roman" pitchFamily="18" charset="0"/>
        <a:ea typeface="MS 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Times New Roman" pitchFamily="18" charset="0"/>
        <a:ea typeface="MS 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Times New Roman" pitchFamily="18" charset="0"/>
        <a:ea typeface="MS 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/>
    <p:restoredTop sz="68634"/>
  </p:normalViewPr>
  <p:slideViewPr>
    <p:cSldViewPr>
      <p:cViewPr varScale="1">
        <p:scale>
          <a:sx n="74" d="100"/>
          <a:sy n="74" d="100"/>
        </p:scale>
        <p:origin x="632" y="17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856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132"/>
        <p:guide pos="213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C20CA-9314-43EE-ADCD-FBB34DFDD507}" type="datetimeFigureOut">
              <a:rPr lang="en-MY" smtClean="0"/>
              <a:t>20/03/2025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60A1A-E607-405E-ABF3-535743DC685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48752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AutoShape 1"/>
          <p:cNvSpPr>
            <a:spLocks noChangeArrowheads="1"/>
          </p:cNvSpPr>
          <p:nvPr/>
        </p:nvSpPr>
        <p:spPr bwMode="auto">
          <a:xfrm>
            <a:off x="0" y="0"/>
            <a:ext cx="6761163" cy="99425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endParaRPr lang="en-US" altLang="en-US"/>
          </a:p>
        </p:txBody>
      </p:sp>
      <p:sp>
        <p:nvSpPr>
          <p:cNvPr id="69635" name="AutoShape 2"/>
          <p:cNvSpPr>
            <a:spLocks noChangeArrowheads="1"/>
          </p:cNvSpPr>
          <p:nvPr/>
        </p:nvSpPr>
        <p:spPr bwMode="auto">
          <a:xfrm>
            <a:off x="0" y="0"/>
            <a:ext cx="6761163" cy="99425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endParaRPr lang="en-US" altLang="en-US"/>
          </a:p>
        </p:txBody>
      </p:sp>
      <p:sp>
        <p:nvSpPr>
          <p:cNvPr id="69636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-11079163" y="330200"/>
            <a:ext cx="22159913" cy="166211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2" name="Rectangle 4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96133" y="4693350"/>
            <a:ext cx="5773594" cy="4413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560783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7065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7168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7270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7373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7475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7577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7680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7782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7885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7987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8089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8192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8294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8294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8397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8499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8601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8704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8806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8909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9011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9113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9216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9318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9421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9523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9625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30200"/>
            <a:ext cx="1588" cy="1588"/>
          </a:xfrm>
          <a:ln/>
        </p:spPr>
      </p:sp>
      <p:sp>
        <p:nvSpPr>
          <p:cNvPr id="9728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ln/>
        </p:spPr>
      </p:sp>
      <p:sp>
        <p:nvSpPr>
          <p:cNvPr id="9830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ln/>
        </p:spPr>
      </p:sp>
      <p:sp>
        <p:nvSpPr>
          <p:cNvPr id="9933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ln/>
        </p:spPr>
      </p:sp>
      <p:sp>
        <p:nvSpPr>
          <p:cNvPr id="10035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ln/>
        </p:spPr>
      </p:sp>
      <p:sp>
        <p:nvSpPr>
          <p:cNvPr id="10137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ln/>
        </p:spPr>
      </p:sp>
      <p:sp>
        <p:nvSpPr>
          <p:cNvPr id="10240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ln/>
        </p:spPr>
      </p:sp>
      <p:sp>
        <p:nvSpPr>
          <p:cNvPr id="10342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1079163" y="330200"/>
            <a:ext cx="22159913" cy="16621125"/>
          </a:xfrm>
          <a:ln/>
        </p:spPr>
      </p:sp>
      <p:sp>
        <p:nvSpPr>
          <p:cNvPr id="10445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1079163" y="330200"/>
            <a:ext cx="22159913" cy="16621125"/>
          </a:xfrm>
          <a:ln/>
        </p:spPr>
      </p:sp>
      <p:sp>
        <p:nvSpPr>
          <p:cNvPr id="10547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496133" y="4693351"/>
            <a:ext cx="5773594" cy="4415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10400" y="152400"/>
            <a:ext cx="1981200" cy="6556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400" y="153988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/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A2580A2-8AC8-44E3-82B5-2F77F7CD3C86}" type="datetimeFigureOut">
              <a:rPr lang="en-US"/>
              <a:pPr>
                <a:defRPr/>
              </a:pPr>
              <a:t>3/20/25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427D966-F91B-4A16-B481-2BB6AD5F81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 eaLnBrk="0" hangingPunct="0"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37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E3AFD-BAC5-4598-A88A-8B6B0184C737}" type="datetimeFigureOut">
              <a:rPr lang="en-US"/>
              <a:pPr>
                <a:defRPr/>
              </a:pPr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 eaLnBrk="0" hangingPunct="0">
              <a:defRPr/>
            </a:lvl1pPr>
          </a:lstStyle>
          <a:p>
            <a:pPr>
              <a:defRPr/>
            </a:pPr>
            <a:fld id="{AF460A47-417E-4FFE-A150-2E49FE88F6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3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10400" y="152400"/>
            <a:ext cx="1981200" cy="6556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400" y="153988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015941B-CC8C-41B1-B541-F6DCB0264166}" type="datetimeFigureOut">
              <a:rPr lang="en-US"/>
              <a:pPr>
                <a:defRPr/>
              </a:pPr>
              <a:t>3/20/25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F393FB7-E6D6-444E-AD2B-76BB02F0E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 eaLnBrk="0" hangingPunct="0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2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2ADB0A-D2D8-4504-98F4-C5361DEB704D}" type="datetimeFigureOut">
              <a:rPr lang="en-US"/>
              <a:pPr>
                <a:defRPr/>
              </a:pPr>
              <a:t>3/20/25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 eaLnBrk="0" hangingPunct="0">
              <a:defRPr/>
            </a:lvl1pPr>
          </a:lstStyle>
          <a:p>
            <a:pPr>
              <a:defRPr/>
            </a:pPr>
            <a:fld id="{CAE091CD-2825-4ACC-843E-7D1BA78066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04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1F334-0E98-4381-8908-BCFBC20AD928}" type="datetimeFigureOut">
              <a:rPr lang="en-US"/>
              <a:pPr>
                <a:defRPr/>
              </a:pPr>
              <a:t>3/20/25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 eaLnBrk="0" hangingPunct="0">
              <a:defRPr/>
            </a:lvl1pPr>
          </a:lstStyle>
          <a:p>
            <a:pPr>
              <a:defRPr/>
            </a:pPr>
            <a:fld id="{333F967F-8A94-49F5-93BC-55A48914D3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6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5259-E3E7-4BCE-A466-6E4F6FE22632}" type="datetimeFigureOut">
              <a:rPr lang="en-US"/>
              <a:pPr>
                <a:defRPr/>
              </a:pPr>
              <a:t>3/20/25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 eaLnBrk="0" hangingPunct="0">
              <a:defRPr/>
            </a:lvl1pPr>
          </a:lstStyle>
          <a:p>
            <a:pPr>
              <a:defRPr/>
            </a:pPr>
            <a:fld id="{478A51CD-6451-4426-86C1-798FF35B4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0813"/>
            <a:ext cx="8831263" cy="6556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6A8D9-3893-4AFC-9E39-816639ADE027}" type="datetimeFigureOut">
              <a:rPr lang="en-US"/>
              <a:pPr>
                <a:defRPr/>
              </a:pPr>
              <a:t>3/20/25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 eaLnBrk="0" hangingPunct="0">
              <a:defRPr/>
            </a:lvl1pPr>
          </a:lstStyle>
          <a:p>
            <a:pPr>
              <a:defRPr/>
            </a:pPr>
            <a:fld id="{CF2F32B6-1591-421F-A1EF-91B43916EF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3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010400" y="150813"/>
            <a:ext cx="1981200" cy="6556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7" name="Rectangle 6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08CAE-5E42-4072-98A1-870D82F5E714}" type="datetimeFigureOut">
              <a:rPr lang="en-US"/>
              <a:pPr>
                <a:defRPr/>
              </a:pPr>
              <a:t>3/20/25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 eaLnBrk="0" hangingPunct="0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EEDC27-A4C8-48DF-AEBB-12281986D8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24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Rectangle 5"/>
          <p:cNvSpPr/>
          <p:nvPr/>
        </p:nvSpPr>
        <p:spPr>
          <a:xfrm>
            <a:off x="7010400" y="150813"/>
            <a:ext cx="1981200" cy="65563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EFD48-07ED-415F-9DBD-ABC10773FE83}" type="datetimeFigureOut">
              <a:rPr lang="en-US"/>
              <a:pPr>
                <a:defRPr/>
              </a:pPr>
              <a:t>3/20/25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 eaLnBrk="0" hangingPunct="0">
              <a:defRPr/>
            </a:lvl1pPr>
          </a:lstStyle>
          <a:p>
            <a:pPr>
              <a:defRPr/>
            </a:pPr>
            <a:fld id="{5BE991F7-4F31-4E76-9EDA-D0041CFCF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5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4CC5C-8D2E-4D9A-8702-89C6E5FDADB9}" type="datetimeFigureOut">
              <a:rPr lang="en-US"/>
              <a:pPr>
                <a:defRPr/>
              </a:pPr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 eaLnBrk="0" hangingPunct="0">
              <a:defRPr/>
            </a:lvl1pPr>
          </a:lstStyle>
          <a:p>
            <a:pPr>
              <a:defRPr/>
            </a:pPr>
            <a:fld id="{8B64CA4B-861C-4420-BB9E-ABD7BF5DAD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53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47638"/>
            <a:ext cx="6705600" cy="6556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10400" y="147638"/>
            <a:ext cx="1955800" cy="6556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9F479-E51A-4FA4-B026-20892706375E}" type="datetimeFigureOut">
              <a:rPr lang="en-US"/>
              <a:pPr>
                <a:defRPr/>
              </a:pPr>
              <a:t>3/20/25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 eaLnBrk="0" hangingPunct="0"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4C68A08-1122-439D-836A-64690B3B66E9}" type="slidenum">
              <a:rPr lang="en-US"/>
              <a:pPr>
                <a:defRPr/>
              </a:pPr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95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5125"/>
            <a:ext cx="8831263" cy="5045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2400"/>
            <a:ext cx="8813800" cy="1346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2000" cy="1054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7400" cy="4406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475" y="6356350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D3AFB1A-35E7-41F4-89FA-083EFA125DA2}" type="datetimeFigureOut">
              <a:rPr lang="en-US"/>
              <a:pPr>
                <a:defRPr/>
              </a:pPr>
              <a:t>3/20/25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363" y="6354763"/>
            <a:ext cx="582612" cy="274637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r" eaLnBrk="1" hangingPunct="1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1A6594B-ED53-4F2A-8336-9E462861E2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 cap="all" spc="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9pPr>
    </p:titleStyle>
    <p:bodyStyle>
      <a:lvl1pPr marL="27305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 2" pitchFamily="18" charset="2"/>
        <a:buChar char=""/>
        <a:defRPr sz="2000" kern="1200" spc="150">
          <a:solidFill>
            <a:schemeClr val="tx2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ern="1200" spc="1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" pitchFamily="2" charset="2"/>
        <a:buChar char="§"/>
        <a:defRPr sz="1600" kern="1200" spc="100">
          <a:solidFill>
            <a:schemeClr val="tx2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ct val="20000"/>
        </a:spcBef>
        <a:spcAft>
          <a:spcPct val="0"/>
        </a:spcAft>
        <a:buClr>
          <a:srgbClr val="475A8D"/>
        </a:buClr>
        <a:buFont typeface="Wingdings" pitchFamily="2" charset="2"/>
        <a:buChar char="§"/>
        <a:defRPr sz="1300" kern="1200" spc="10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s.uci.edu/~redmiles/ics131-FQ03/week08ethics/IEEE-ACM-Ethics.PDF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7010400" y="5791200"/>
            <a:ext cx="1981200" cy="8382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MY" sz="1100" b="1" dirty="0">
                <a:solidFill>
                  <a:srgbClr val="002060"/>
                </a:solidFill>
              </a:rPr>
              <a:t>TS. DR. ROZI NOR HAIZAN BINTI NOR</a:t>
            </a:r>
          </a:p>
        </p:txBody>
      </p:sp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1066800" y="2286000"/>
            <a:ext cx="7772400" cy="1447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   CHA</a:t>
            </a:r>
            <a:r>
              <a:rPr lang="en-US" dirty="0">
                <a:solidFill>
                  <a:schemeClr val="tx1"/>
                </a:solidFill>
              </a:rPr>
              <a:t>PTER 3:</a:t>
            </a:r>
            <a:br>
              <a:rPr lang="en-US" dirty="0"/>
            </a:br>
            <a:r>
              <a:rPr lang="en-US" dirty="0"/>
              <a:t>PROFESSIONAL </a:t>
            </a:r>
            <a:r>
              <a:rPr lang="en-US" dirty="0">
                <a:solidFill>
                  <a:schemeClr val="tx1"/>
                </a:solidFill>
              </a:rPr>
              <a:t>ETHICS</a:t>
            </a:r>
            <a:endParaRPr lang="en-MY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458200" cy="4114800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Describe the relationship to be managed by IT professional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State the professional code of ethics for software engineers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Know the related law for IT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Making an ethical decision</a:t>
            </a:r>
          </a:p>
        </p:txBody>
      </p:sp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90500"/>
            <a:ext cx="8610600" cy="1181100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/>
              <a:t>Objectives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229600" cy="4303713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IT professional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IT professional relationship to be managed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Professional Code of Ethics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Related laws in regards of IT/ICT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Making ethical decision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</p:txBody>
      </p:sp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190500"/>
            <a:ext cx="78486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/>
              <a:t>Contents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229600" cy="5076825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Profession (Webster) : A calling requiring specialized knowledge and often long and intensive academic preparation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Profession (informal)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buClr>
                <a:srgbClr val="7030A0"/>
              </a:buClr>
              <a:buFont typeface="Wingdings" pitchFamily="2" charset="2"/>
              <a:buChar char="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High level of education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buClr>
                <a:srgbClr val="7030A0"/>
              </a:buClr>
              <a:buFont typeface="Wingdings" pitchFamily="2" charset="2"/>
              <a:buChar char="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Practical experience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buClr>
                <a:srgbClr val="7030A0"/>
              </a:buClr>
              <a:buFont typeface="Wingdings" pitchFamily="2" charset="2"/>
              <a:buChar char="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Decisions have impact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</p:txBody>
      </p:sp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90500"/>
            <a:ext cx="8915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/>
              <a:t>IT Profession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153400" cy="2895600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Professional: someone who requires advanced training and experience, must exercise discretion and judgment in the course of his or her work</a:t>
            </a:r>
          </a:p>
          <a:p>
            <a:pPr marL="45720" indent="0" eaLnBrk="1" fontAlgn="auto" hangingPunct="1">
              <a:lnSpc>
                <a:spcPct val="93000"/>
              </a:lnSpc>
              <a:spcAft>
                <a:spcPts val="0"/>
              </a:spcAft>
              <a:buFont typeface="Wingdings 2" pitchFamily="18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Who recognizes his or her obligation to society by living up to established and accepted codes of conduct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</p:txBody>
      </p:sp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IT Profession</a:t>
            </a:r>
          </a:p>
        </p:txBody>
      </p:sp>
      <p:pic>
        <p:nvPicPr>
          <p:cNvPr id="17412" name="Picture 4" descr="C:\Users\AKADEMI 87\Desktop\image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114800"/>
            <a:ext cx="3717925" cy="254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idx="1"/>
          </p:nvPr>
        </p:nvSpPr>
        <p:spPr>
          <a:xfrm>
            <a:off x="3810000" y="1817688"/>
            <a:ext cx="4495800" cy="4267200"/>
          </a:xfrm>
        </p:spPr>
        <p:txBody>
          <a:bodyPr>
            <a:normAutofit/>
          </a:bodyPr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Many workers in IT industry are considered to be professional: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programmers/analysts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Software engineers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Database administrators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LAN administrators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CIOs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 err="1"/>
              <a:t>etc</a:t>
            </a:r>
            <a:endParaRPr lang="en-GB" sz="2400" dirty="0"/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</p:txBody>
      </p:sp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IT Professional</a:t>
            </a:r>
          </a:p>
        </p:txBody>
      </p:sp>
      <p:pic>
        <p:nvPicPr>
          <p:cNvPr id="18436" name="Picture 6" descr="C:\Users\AKADEMI 87\Desktop\downloa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572000"/>
            <a:ext cx="2619375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7" descr="C:\Users\AKADEMI 87\Desktop\information-technology-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2819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229600" cy="4297363"/>
          </a:xfrm>
        </p:spPr>
        <p:txBody>
          <a:bodyPr>
            <a:normAutofit/>
          </a:bodyPr>
          <a:lstStyle/>
          <a:p>
            <a:pPr marL="274320" eaLnBrk="1" fontAlgn="auto" hangingPunct="1">
              <a:lnSpc>
                <a:spcPct val="93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An ethical IT professional acts honestly and appropriately, and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at all time steer away from any unethical action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Relationships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IT professional-employer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IT professional-client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IT professional-supplier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IT professional-professional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IT professional-IT user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Arial" charset="0"/>
              <a:buChar char="-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IT professional-society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Aria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</p:txBody>
      </p:sp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Professional relationships to be managed</a:t>
            </a:r>
          </a:p>
        </p:txBody>
      </p:sp>
      <p:pic>
        <p:nvPicPr>
          <p:cNvPr id="19460" name="Picture 4" descr="C:\Users\AKADEMI 87\Desktop\dreamstime_9776170v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810000"/>
            <a:ext cx="3714750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229600" cy="4545013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Term of employment</a:t>
            </a:r>
          </a:p>
          <a:p>
            <a:pPr marL="548958" lvl="1" eaLnBrk="1" fontAlgn="auto" hangingPunct="1">
              <a:lnSpc>
                <a:spcPct val="93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job title, performance expectation, work responsibility, drug testing, location of employment, salary, dress code,  etc.</a:t>
            </a:r>
          </a:p>
          <a:p>
            <a:pPr marL="548958" lvl="1" eaLnBrk="1" fontAlgn="auto" hangingPunct="1">
              <a:lnSpc>
                <a:spcPct val="93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Policies, procedures manual, or code of conduct</a:t>
            </a:r>
          </a:p>
          <a:p>
            <a:pPr marL="548958" lvl="1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protection of secrets, vacations, use of company resources, </a:t>
            </a:r>
            <a:r>
              <a:rPr lang="en-GB" sz="2400" dirty="0" err="1"/>
              <a:t>etc</a:t>
            </a:r>
            <a:endParaRPr lang="en-GB" sz="2400" dirty="0"/>
          </a:p>
          <a:p>
            <a:pPr marL="366395" lvl="1" indent="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Some specific aspect – programming language to be used, </a:t>
            </a:r>
            <a:r>
              <a:rPr lang="en-GB" sz="2600" dirty="0" err="1"/>
              <a:t>etc</a:t>
            </a:r>
            <a:endParaRPr lang="en-GB" sz="2600" dirty="0"/>
          </a:p>
          <a:p>
            <a:pPr marL="502920" indent="-45720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600" dirty="0"/>
          </a:p>
        </p:txBody>
      </p:sp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190500"/>
            <a:ext cx="8153400" cy="1181100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/>
              <a:t>IT Professional-Employer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8153400" cy="4233863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Must set example and enforce the policies in regards to ethical use of IT</a:t>
            </a:r>
          </a:p>
          <a:p>
            <a:pPr marL="274320" eaLnBrk="1" fontAlgn="auto" hangingPunct="1"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Have knowledge and skill to abuse systems and data or to allow others to do so</a:t>
            </a:r>
          </a:p>
          <a:p>
            <a:pPr marL="274320" eaLnBrk="1" fontAlgn="auto" hangingPunct="1"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Some ethical issues</a:t>
            </a:r>
          </a:p>
          <a:p>
            <a:pPr marL="274320" eaLnBrk="1" fontAlgn="auto" hangingPunct="1">
              <a:spcBef>
                <a:spcPts val="650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  - software piracy</a:t>
            </a:r>
          </a:p>
          <a:p>
            <a:pPr marL="274320" eaLnBrk="1" fontAlgn="auto" hangingPunct="1">
              <a:spcBef>
                <a:spcPts val="650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  - trade secret</a:t>
            </a:r>
          </a:p>
          <a:p>
            <a:pPr marL="274320" eaLnBrk="1" fontAlgn="auto" hangingPunct="1">
              <a:spcBef>
                <a:spcPts val="650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  - whistle-blowing</a:t>
            </a:r>
          </a:p>
          <a:p>
            <a:pPr marL="274320" eaLnBrk="1" fontAlgn="auto" hangingPunct="1">
              <a:spcBef>
                <a:spcPts val="650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600" dirty="0"/>
          </a:p>
        </p:txBody>
      </p:sp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90500"/>
            <a:ext cx="8534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/>
              <a:t>IT Professional-Employer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305800" cy="4114800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Whom professional provides services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Can be from outside or internal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Some ethical issues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    - actual status of projects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    - trusted recommendation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</p:txBody>
      </p:sp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IT Professional-Client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077200" cy="4114800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Dealing with hardware, software, and service providers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Some ethical issues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  - fair in dealing with suppliers and do not make unreasonable demands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  - accept bribe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</p:txBody>
      </p:sp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IT Professional-Supplier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8153400" cy="4572000"/>
          </a:xfrm>
        </p:spPr>
        <p:txBody>
          <a:bodyPr>
            <a:normAutofit/>
          </a:bodyPr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200" dirty="0"/>
              <a:t>Loyalty to other members of profession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200" dirty="0"/>
              <a:t>Some ethical issues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200" dirty="0"/>
              <a:t>   - resume inflation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200" dirty="0"/>
              <a:t>   - inappropriate sharing of corporate information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</p:txBody>
      </p:sp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IT Professional-Professional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229600" cy="4343400"/>
          </a:xfrm>
        </p:spPr>
        <p:txBody>
          <a:bodyPr>
            <a:normAutofit fontScale="92500" lnSpcReduction="20000"/>
          </a:bodyPr>
          <a:lstStyle/>
          <a:p>
            <a:pPr marL="274320" eaLnBrk="1" fontAlgn="auto" hangingPunct="1">
              <a:lnSpc>
                <a:spcPct val="93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000" dirty="0"/>
              <a:t>Employs the product to deliver organization benefits or to increase productivity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000" dirty="0"/>
              <a:t>A duty to understand to needs and capabilities of users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000" dirty="0"/>
              <a:t>To deliver product and services that best meet these needs within budget and time constraint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000" dirty="0"/>
              <a:t>Discourage piracy, minimize the appropriate use of computing resources, avoid the inappropriate sharing of information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000" dirty="0"/>
              <a:t>Establishment of IT usage policy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000" dirty="0"/>
              <a:t>    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</p:txBody>
      </p:sp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IT Professional-IT User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8153400" cy="4114800"/>
          </a:xfrm>
        </p:spPr>
        <p:txBody>
          <a:bodyPr>
            <a:normAutofit fontScale="77500" lnSpcReduction="20000"/>
          </a:bodyPr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600" dirty="0"/>
              <a:t>Practice in ways that not only causes no harm but also provide significant benefits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3300" dirty="0"/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3300" dirty="0"/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3300" dirty="0"/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3300" dirty="0"/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3300" dirty="0"/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3300" dirty="0"/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600" dirty="0"/>
              <a:t>To establish and maintain professional standards that protect public 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300" dirty="0"/>
              <a:t>    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</p:txBody>
      </p:sp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IT Professional-Society</a:t>
            </a:r>
          </a:p>
        </p:txBody>
      </p:sp>
      <p:pic>
        <p:nvPicPr>
          <p:cNvPr id="26628" name="Picture 4" descr="C:\Users\AKADEMI 87\Desktop\PublicRelations-300x17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819400"/>
            <a:ext cx="3657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/>
              <a:t>CLASS DEBATE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2057400"/>
            <a:ext cx="800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800" b="1" dirty="0">
                <a:solidFill>
                  <a:schemeClr val="tx1"/>
                </a:solidFill>
                <a:latin typeface="Arial Narrow" panose="020B0606020202030204" pitchFamily="34" charset="0"/>
              </a:rPr>
              <a:t>How do you distinguish between </a:t>
            </a:r>
            <a:r>
              <a:rPr lang="en-US" sz="2800" b="1" dirty="0">
                <a:solidFill>
                  <a:srgbClr val="C00000"/>
                </a:solidFill>
                <a:latin typeface="Arial Narrow" panose="020B0606020202030204" pitchFamily="34" charset="0"/>
              </a:rPr>
              <a:t>misrepresentation</a:t>
            </a:r>
            <a:r>
              <a:rPr lang="en-US" sz="2800" b="1" dirty="0">
                <a:solidFill>
                  <a:schemeClr val="tx1"/>
                </a:solidFill>
                <a:latin typeface="Arial Narrow" panose="020B0606020202030204" pitchFamily="34" charset="0"/>
              </a:rPr>
              <a:t> and </a:t>
            </a:r>
            <a:r>
              <a:rPr lang="en-US" sz="2800" b="1" dirty="0">
                <a:solidFill>
                  <a:srgbClr val="C00000"/>
                </a:solidFill>
                <a:latin typeface="Arial Narrow" panose="020B0606020202030204" pitchFamily="34" charset="0"/>
              </a:rPr>
              <a:t>embellishment</a:t>
            </a:r>
            <a:r>
              <a:rPr lang="en-US" sz="2800" b="1" dirty="0">
                <a:solidFill>
                  <a:schemeClr val="tx1"/>
                </a:solidFill>
                <a:latin typeface="Arial Narrow" panose="020B0606020202030204" pitchFamily="34" charset="0"/>
              </a:rPr>
              <a:t> of one’s professional accomplishments in order to win a contract to complete a major project? Provide an example of an embellishment that would not be considered misrepresentation.</a:t>
            </a:r>
            <a:endParaRPr lang="en-MY" sz="28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just"/>
            <a:endParaRPr lang="en-MY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58853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229600" cy="4210050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States the principles and core values essential to the work of a particular occupational group.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Laws do not provide a complete guide to ethical behaviour – </a:t>
            </a:r>
            <a:r>
              <a:rPr lang="en-GB" sz="2600" b="1" dirty="0">
                <a:solidFill>
                  <a:srgbClr val="C00000"/>
                </a:solidFill>
              </a:rPr>
              <a:t>illegality does not mean ethical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Help to ensure: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  - abiding the laws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  - following necessary regulations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  - behaving in an ethical manner</a:t>
            </a:r>
          </a:p>
        </p:txBody>
      </p:sp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Professional Codes of Ethics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905000"/>
            <a:ext cx="8763000" cy="4151313"/>
          </a:xfrm>
        </p:spPr>
        <p:txBody>
          <a:bodyPr>
            <a:noAutofit/>
          </a:bodyPr>
          <a:lstStyle/>
          <a:p>
            <a:pPr marL="274320" eaLnBrk="1" fontAlgn="auto" hangingPunct="1">
              <a:lnSpc>
                <a:spcPct val="93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Improves ethical decision making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   - use common set of core values and beliefs to serve as a guideline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Promote high standard of practice and ethical </a:t>
            </a:r>
            <a:r>
              <a:rPr lang="en-GB" sz="2400" dirty="0" err="1"/>
              <a:t>behavior</a:t>
            </a:r>
            <a:endParaRPr lang="en-GB" sz="2400" dirty="0"/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    - reminder of responsibilities and duties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    - defines acceptable and unacceptable </a:t>
            </a:r>
            <a:r>
              <a:rPr lang="en-GB" sz="2400" dirty="0" err="1"/>
              <a:t>behavior</a:t>
            </a:r>
            <a:endParaRPr lang="en-GB" sz="2400" dirty="0"/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Enhances trust and respect from the public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    - depends on the integrity and good judgment to tell the truth, abstain from giving self-serving advice, and offer warning of potential negative side effects.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Provides an evaluation benchmark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    - self assessment and peer evaluation</a:t>
            </a:r>
          </a:p>
        </p:txBody>
      </p:sp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4000"/>
              <a:t>Professional Codes of Ethics - Benefits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229600" cy="4114800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Association for Computing Machinery (ACM) Code of Ethics and Professional Conduct</a:t>
            </a:r>
          </a:p>
          <a:p>
            <a:pPr marL="274320" eaLnBrk="1" fontAlgn="auto" hangingPunct="1"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Association of Information Technology Professional (AITP) Code of Ethics</a:t>
            </a:r>
          </a:p>
          <a:p>
            <a:pPr marL="274320" eaLnBrk="1" fontAlgn="auto" hangingPunct="1"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Computer Society of the Institute of Electrical and Electronics Engineers (IEEE-CS) – Software Engineering Code of Ethics and Professional Practices (SECEPP)</a:t>
            </a:r>
          </a:p>
        </p:txBody>
      </p:sp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Types of Code of Ethics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idx="1"/>
          </p:nvPr>
        </p:nvSpPr>
        <p:spPr>
          <a:xfrm>
            <a:off x="914400" y="1981200"/>
            <a:ext cx="7010400" cy="4343400"/>
          </a:xfrm>
        </p:spPr>
        <p:txBody>
          <a:bodyPr>
            <a:normAutofit/>
          </a:bodyPr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200" dirty="0"/>
              <a:t>Preamble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200" dirty="0"/>
              <a:t>Principles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download at: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hlinkClick r:id="rId3"/>
              </a:rPr>
              <a:t>http://www.ics.uci.edu/~redmiles/ics131-FQ03/week08ethics/IEEE-ACM-Ethics.PDF</a:t>
            </a:r>
            <a:endParaRPr lang="en-GB" sz="2400" dirty="0"/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</p:txBody>
      </p:sp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90500"/>
            <a:ext cx="8534400" cy="1181100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/>
              <a:t>Software Engineering Codes of Ethics and </a:t>
            </a:r>
            <a:r>
              <a:rPr lang="en-GB" dirty="0" err="1"/>
              <a:t>Profesional</a:t>
            </a:r>
            <a:r>
              <a:rPr lang="en-GB" dirty="0"/>
              <a:t> Practice (SECEPP)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382000" cy="4343400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Software engineers have opportunities to do good or cause harm, or to influence others to do good or cause harm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Software engineers ought to be committed to doing good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Eight principles identify key ethical relationships and obligations within these relationship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Code should be seen as a whole, not a collection of parts</a:t>
            </a:r>
          </a:p>
          <a:p>
            <a:pPr marL="274320" eaLnBrk="1" fontAlgn="auto" hangingPunct="1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Concern for the public interest is paramount</a:t>
            </a:r>
          </a:p>
        </p:txBody>
      </p:sp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Preamble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229600" cy="4495800"/>
          </a:xfrm>
        </p:spPr>
        <p:txBody>
          <a:bodyPr>
            <a:normAutofit/>
          </a:bodyPr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Principle 1 </a:t>
            </a:r>
            <a:r>
              <a:rPr lang="en-GB" sz="2800" dirty="0">
                <a:solidFill>
                  <a:srgbClr val="C00000"/>
                </a:solidFill>
              </a:rPr>
              <a:t>Public</a:t>
            </a:r>
          </a:p>
          <a:p>
            <a:pPr marL="548958" lvl="1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software engineers shall act consistently with the public interest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Principle 2 </a:t>
            </a:r>
            <a:r>
              <a:rPr lang="en-GB" sz="2800" dirty="0">
                <a:solidFill>
                  <a:srgbClr val="C00000"/>
                </a:solidFill>
              </a:rPr>
              <a:t>Client and Employer</a:t>
            </a:r>
          </a:p>
          <a:p>
            <a:pPr marL="548958" lvl="1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software engineers shall act in a manner that is in the best interests of their client and employer and that is consistent with the public interest</a:t>
            </a:r>
          </a:p>
        </p:txBody>
      </p:sp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Principles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001000" cy="4572000"/>
          </a:xfrm>
        </p:spPr>
        <p:txBody>
          <a:bodyPr>
            <a:normAutofit/>
          </a:bodyPr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Principle 3 </a:t>
            </a:r>
            <a:r>
              <a:rPr lang="en-GB" sz="2800" dirty="0">
                <a:solidFill>
                  <a:srgbClr val="C00000"/>
                </a:solidFill>
              </a:rPr>
              <a:t>Product</a:t>
            </a:r>
          </a:p>
          <a:p>
            <a:pPr marL="548958" lvl="1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software engineers shall ensure that their products and related modifications meet the highest professional standards possible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Principle 4 </a:t>
            </a:r>
            <a:r>
              <a:rPr lang="en-GB" sz="2800" dirty="0">
                <a:solidFill>
                  <a:srgbClr val="C00000"/>
                </a:solidFill>
              </a:rPr>
              <a:t>Judgment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software engineers shall maintain integrity and independence in their professional judgment</a:t>
            </a:r>
          </a:p>
        </p:txBody>
      </p:sp>
      <p:sp>
        <p:nvSpPr>
          <p:cNvPr id="22530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Principles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077200" cy="4114800"/>
          </a:xfrm>
        </p:spPr>
        <p:txBody>
          <a:bodyPr>
            <a:noAutofit/>
          </a:bodyPr>
          <a:lstStyle/>
          <a:p>
            <a:pPr marL="274320" eaLnBrk="1" fontAlgn="auto" hangingPunct="1">
              <a:lnSpc>
                <a:spcPct val="93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Principle 5 </a:t>
            </a:r>
            <a:r>
              <a:rPr lang="en-GB" sz="2800" dirty="0">
                <a:solidFill>
                  <a:srgbClr val="C00000"/>
                </a:solidFill>
              </a:rPr>
              <a:t>Management</a:t>
            </a:r>
          </a:p>
          <a:p>
            <a:pPr marL="548958" lvl="1" eaLnBrk="1" fontAlgn="auto" hangingPunct="1">
              <a:lnSpc>
                <a:spcPct val="93000"/>
              </a:lnSpc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software engineering managers and leaders shall subscribe to and promote an ethical approach to the management of software development and maintenance</a:t>
            </a:r>
          </a:p>
          <a:p>
            <a:pPr marL="274320" eaLnBrk="1" fontAlgn="auto" hangingPunct="1">
              <a:spcBef>
                <a:spcPts val="650"/>
              </a:spcBef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  <a:p>
            <a:pPr marL="274320" eaLnBrk="1" fontAlgn="auto" hangingPunct="1"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Principle 6 </a:t>
            </a:r>
            <a:r>
              <a:rPr lang="en-GB" sz="2800" dirty="0">
                <a:solidFill>
                  <a:srgbClr val="C00000"/>
                </a:solidFill>
              </a:rPr>
              <a:t>Profession</a:t>
            </a:r>
          </a:p>
          <a:p>
            <a:pPr marL="548958" lvl="1" eaLnBrk="1" fontAlgn="auto" hangingPunct="1">
              <a:spcBef>
                <a:spcPts val="650"/>
              </a:spcBef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software engineers shall advance the integrity and reputation of the profession consistent with the public interest</a:t>
            </a:r>
          </a:p>
        </p:txBody>
      </p:sp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Principles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077200" cy="4572000"/>
          </a:xfrm>
        </p:spPr>
        <p:txBody>
          <a:bodyPr>
            <a:normAutofit/>
          </a:bodyPr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Principle 7 </a:t>
            </a:r>
            <a:r>
              <a:rPr lang="en-GB" sz="2800" dirty="0">
                <a:solidFill>
                  <a:srgbClr val="C00000"/>
                </a:solidFill>
              </a:rPr>
              <a:t>Colleagues</a:t>
            </a:r>
          </a:p>
          <a:p>
            <a:pPr marL="548958" lvl="1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software engineers shall be fair to and supportive of their colleagues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Principle 8 </a:t>
            </a:r>
            <a:r>
              <a:rPr lang="en-GB" sz="2800" dirty="0">
                <a:solidFill>
                  <a:srgbClr val="C00000"/>
                </a:solidFill>
              </a:rPr>
              <a:t>Self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software engineers shall participate in lifelong learning regarding the practice of their profession and promote an ethical approach to the practice of the profession</a:t>
            </a:r>
          </a:p>
        </p:txBody>
      </p:sp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Principles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229600" cy="4114800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Be impartial :   1.02, 1.03, 1.05, 1.07, 3.03, 3.12, 4.01, 6.05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Disclose information that others ought to know : 1.04, 1.06, 2.06, 2.07, 3.01, 4.05, 4.06, 5.05, 5.06, 6.07, 6.08, 6.09, 6.12, 6.13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Respect the rights of others : 2.02, 2.03, 2.05, 3.13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Treat others justly : 5.06, 5.07, 5.08, 5.09, 5.10, 5.11, 5.12, 7.03, 7.04, 7.05, 7.07, 8.07</a:t>
            </a:r>
          </a:p>
        </p:txBody>
      </p:sp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3600" dirty="0"/>
              <a:t>Alternative List (virtues discipline-independent)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905000"/>
            <a:ext cx="8305800" cy="4668838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Take responsibility for your actions and inaction : 1.01, 3.04, 3.05, 3.06, 3.07, 3.08, 3.10, 3.11, 3.14, 3.15, 4.02, 7.08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Take responsibility for the actions of those you supervise : 5.01, 5.02, 5.03, 5.04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Maintain your integrity : 2.01, 2.04, 2.08, 2.09, 3.01, 3.02, 3.09, 4.03, 4.04, 6.06, 6.10, 6.11, 8.08, 8.09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Continually improve your ability : 8.01-8.06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Share your knowledge, expertise, and values: 1.08, 6.01-6.04, 7.01,7.02, 7.06</a:t>
            </a:r>
          </a:p>
        </p:txBody>
      </p:sp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3600"/>
              <a:t>Alternative List (virtues discipline-independent)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905000"/>
            <a:ext cx="8305800" cy="5526088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b="1" u="sng" dirty="0"/>
              <a:t>A three step process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1) consult and identify relevant fundamental </a:t>
            </a:r>
            <a:r>
              <a:rPr lang="en-GB" sz="2600" dirty="0">
                <a:solidFill>
                  <a:srgbClr val="C00000"/>
                </a:solidFill>
              </a:rPr>
              <a:t>principle</a:t>
            </a:r>
            <a:r>
              <a:rPr lang="en-GB" sz="2600" dirty="0"/>
              <a:t> (alternative list)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2) search the list of </a:t>
            </a:r>
            <a:r>
              <a:rPr lang="en-GB" sz="2600" dirty="0">
                <a:solidFill>
                  <a:srgbClr val="C00000"/>
                </a:solidFill>
              </a:rPr>
              <a:t>clauses</a:t>
            </a:r>
            <a:r>
              <a:rPr lang="en-GB" sz="2600" dirty="0"/>
              <a:t> to see the most directly speak for the relevant principles 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3) determine whether the </a:t>
            </a:r>
            <a:r>
              <a:rPr lang="en-GB" sz="2600" dirty="0">
                <a:solidFill>
                  <a:srgbClr val="C00000"/>
                </a:solidFill>
              </a:rPr>
              <a:t>contemplated action aligns with or contradicts the statement </a:t>
            </a:r>
            <a:r>
              <a:rPr lang="en-GB" sz="2600" dirty="0"/>
              <a:t>in the clauses. If the action agrees with all of the clauses --&gt; strong evidence the action is  moral. If is in disagreement with all the clauses --&gt; safe to say the action is immoral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600" dirty="0"/>
          </a:p>
        </p:txBody>
      </p:sp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90500"/>
            <a:ext cx="86868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3600" dirty="0"/>
              <a:t>Case Study – evaluate moral problem using SECEPP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z="3600" dirty="0"/>
              <a:t>Case 1– Software Recommendation </a:t>
            </a:r>
            <a:endParaRPr lang="en-MY" sz="3600" dirty="0"/>
          </a:p>
        </p:txBody>
      </p:sp>
      <p:pic>
        <p:nvPicPr>
          <p:cNvPr id="3993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8305800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905000"/>
            <a:ext cx="8686800" cy="3962400"/>
          </a:xfrm>
        </p:spPr>
        <p:txBody>
          <a:bodyPr>
            <a:normAutofit lnSpcReduction="10000"/>
          </a:bodyPr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Sam Shaw asks for free advise on LAN security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 err="1"/>
              <a:t>Prof.</a:t>
            </a:r>
            <a:r>
              <a:rPr lang="en-GB" sz="2600" dirty="0"/>
              <a:t> Smith answers questions and recommends top-ranked package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Prof Smith does not disclose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   - she has financial interest in company producing top-ranked package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   - another package was given a “best-buy” rating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Did Prof. Smith do anything wrong?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 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600" dirty="0"/>
          </a:p>
        </p:txBody>
      </p:sp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>
          <a:xfrm>
            <a:off x="304800" y="190500"/>
            <a:ext cx="84582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3600" dirty="0"/>
              <a:t>Case 1– Software Recommendation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752600"/>
            <a:ext cx="8458200" cy="4495800"/>
          </a:xfrm>
        </p:spPr>
        <p:txBody>
          <a:bodyPr>
            <a:noAutofit/>
          </a:bodyPr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Most relevant </a:t>
            </a:r>
            <a:r>
              <a:rPr lang="en-GB" sz="2400" dirty="0">
                <a:solidFill>
                  <a:srgbClr val="C00000"/>
                </a:solidFill>
              </a:rPr>
              <a:t>principles/disciplines </a:t>
            </a:r>
          </a:p>
          <a:p>
            <a:pPr marL="914400" lvl="1" indent="-514350" eaLnBrk="1" fontAlgn="auto" hangingPunct="1">
              <a:lnSpc>
                <a:spcPct val="93000"/>
              </a:lnSpc>
              <a:spcAft>
                <a:spcPts val="0"/>
              </a:spcAft>
              <a:buClr>
                <a:srgbClr val="00B050"/>
              </a:buClr>
              <a:buFont typeface="Arial" charset="0"/>
              <a:buAutoNum type="alphaLcParenR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    be impartial</a:t>
            </a:r>
          </a:p>
          <a:p>
            <a:pPr marL="914400" lvl="1" indent="-514350" eaLnBrk="1" fontAlgn="auto" hangingPunct="1">
              <a:lnSpc>
                <a:spcPct val="93000"/>
              </a:lnSpc>
              <a:spcAft>
                <a:spcPts val="0"/>
              </a:spcAft>
              <a:buClr>
                <a:srgbClr val="00B050"/>
              </a:buClr>
              <a:buFont typeface="Arial" charset="0"/>
              <a:buAutoNum type="alphaLcParenR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    disclose information others ought to know</a:t>
            </a:r>
          </a:p>
          <a:p>
            <a:pPr marL="914400" lvl="1" indent="-514350" eaLnBrk="1" fontAlgn="auto" hangingPunct="1">
              <a:lnSpc>
                <a:spcPct val="93000"/>
              </a:lnSpc>
              <a:spcAft>
                <a:spcPts val="0"/>
              </a:spcAft>
              <a:buClr>
                <a:srgbClr val="00B050"/>
              </a:buClr>
              <a:buFont typeface="Arial" charset="0"/>
              <a:buAutoNum type="alphaLcParenR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    share your knowledge, expertise, and values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solidFill>
                  <a:srgbClr val="C00000"/>
                </a:solidFill>
              </a:rPr>
              <a:t>Clause</a:t>
            </a:r>
            <a:r>
              <a:rPr lang="en-GB" sz="2400" dirty="0"/>
              <a:t> 1.06: Prof Smith was deceptive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solidFill>
                  <a:srgbClr val="C00000"/>
                </a:solidFill>
              </a:rPr>
              <a:t>Clauses</a:t>
            </a:r>
            <a:r>
              <a:rPr lang="en-GB" sz="2400" dirty="0"/>
              <a:t> 1.08, 6.02: prof smith freely gave valuable information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solidFill>
                  <a:srgbClr val="C00000"/>
                </a:solidFill>
              </a:rPr>
              <a:t>Clauses</a:t>
            </a:r>
            <a:r>
              <a:rPr lang="en-GB" sz="2400" dirty="0"/>
              <a:t> 4.05,6.05 : prof smith did not reveal conflict of interest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US" sz="2800" b="1" dirty="0">
                <a:solidFill>
                  <a:srgbClr val="C00000"/>
                </a:solidFill>
              </a:rPr>
              <a:t>Conclusion</a:t>
            </a:r>
            <a:r>
              <a:rPr lang="en-US" sz="2800" dirty="0"/>
              <a:t>: Professor Smith should have revealed her conflict of interest to Mr. Shaw.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 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 </a:t>
            </a:r>
          </a:p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/>
          </a:p>
        </p:txBody>
      </p:sp>
      <p:sp>
        <p:nvSpPr>
          <p:cNvPr id="29698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3600"/>
              <a:t>Analysis – Software Recommendation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719263"/>
            <a:ext cx="8305800" cy="44069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8153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Case  2: Child Pornography</a:t>
            </a:r>
          </a:p>
        </p:txBody>
      </p:sp>
    </p:spTree>
    <p:extLst>
      <p:ext uri="{BB962C8B-B14F-4D97-AF65-F5344CB8AC3E}">
        <p14:creationId xmlns:p14="http://schemas.microsoft.com/office/powerpoint/2010/main" val="868932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Joe Green a system administrator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Asked to install new software package on Chuck Dennis’s computer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Green not authorized to read other people’s emails or personal files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Green sees suspicious-looking file names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He opens some of Dennis’s files and discovers child pornography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What should he do?</a:t>
            </a: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E8EA50B2-5069-43C6-B463-2A542C2E6596}" type="slidenum">
              <a:rPr lang="en-US" altLang="en-US" smtClean="0">
                <a:solidFill>
                  <a:schemeClr val="tx2"/>
                </a:solidFill>
              </a:rPr>
              <a:pPr/>
              <a:t>32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Case  2: Child Pornography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Most relevant </a:t>
            </a:r>
            <a:r>
              <a:rPr lang="en-US" sz="2800" b="1" dirty="0">
                <a:solidFill>
                  <a:srgbClr val="C00000"/>
                </a:solidFill>
              </a:rPr>
              <a:t>principles/disciplines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Be impartial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Respect the rights of others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Treat others justly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Maintain your integrity</a:t>
            </a:r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3BE2DDF3-B671-40CF-885A-1ECD931F7B66}" type="slidenum">
              <a:rPr lang="en-US" altLang="en-US" smtClean="0">
                <a:solidFill>
                  <a:schemeClr val="tx2"/>
                </a:solidFill>
              </a:rPr>
              <a:pPr/>
              <a:t>33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Analysis (1/2)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Most relevant </a:t>
            </a:r>
            <a:r>
              <a:rPr lang="en-US" sz="2800" b="1" dirty="0">
                <a:solidFill>
                  <a:srgbClr val="C00000"/>
                </a:solidFill>
              </a:rPr>
              <a:t>clauses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2.03: Somebody has misused the company PC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2.09: Someone is using the PC for a purpose not in the employer’s interest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3.13: Joe violated the policy against opening files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5.10: Someone else may have planted the files on Chuck’s computer</a:t>
            </a:r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3A65DC94-CA86-408F-849F-9ABBEC8563DD}" type="slidenum">
              <a:rPr lang="en-US" altLang="en-US" smtClean="0">
                <a:solidFill>
                  <a:schemeClr val="tx2"/>
                </a:solidFill>
              </a:rPr>
              <a:pPr/>
              <a:t>34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Analysis (2/2)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2800" b="1" dirty="0">
                <a:solidFill>
                  <a:srgbClr val="C00000"/>
                </a:solidFill>
              </a:rPr>
              <a:t>Conclusions: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dirty="0"/>
              <a:t>Joe was wrong to violate company policy to uncover child pornography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dirty="0"/>
              <a:t>Once he has this knowledge, however, he is obliged to share it with company authorities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dirty="0"/>
              <a:t>Joe should be discreet</a:t>
            </a:r>
          </a:p>
        </p:txBody>
      </p:sp>
      <p:sp>
        <p:nvSpPr>
          <p:cNvPr id="46083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3287EE20-9BA2-4D8D-B895-E505DB918113}" type="slidenum">
              <a:rPr lang="en-US" altLang="en-US" smtClean="0">
                <a:solidFill>
                  <a:schemeClr val="tx2"/>
                </a:solidFill>
              </a:rPr>
              <a:pPr/>
              <a:t>35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Conclusions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7772400" cy="4724400"/>
          </a:xfrm>
        </p:spPr>
        <p:txBody>
          <a:bodyPr/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Internet plagued by new worm that exploits hole in popular operating system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Tim Smart creates anti-worm that exploits same security hole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Tim’s anti-worm fixes PCs it infects. It also uses these PCs as launch pad to reach new PCs.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Tim launches anti-worm, taking pains to keep it from being traced back to him.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The anti-worm quickly spreads through Internet, infecting millions of computers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System administrators around the world combat the anti-worm</a:t>
            </a: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07FBAD0B-62F0-4CEE-88FA-4ACA1F34015C}" type="slidenum">
              <a:rPr lang="en-US" altLang="en-US" smtClean="0">
                <a:solidFill>
                  <a:schemeClr val="tx2"/>
                </a:solidFill>
              </a:rPr>
              <a:pPr/>
              <a:t>36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Case 3: Anti-Worm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dirty="0"/>
              <a:t>Most relevant </a:t>
            </a:r>
            <a:r>
              <a:rPr lang="en-US" sz="2400" dirty="0">
                <a:solidFill>
                  <a:srgbClr val="C00000"/>
                </a:solidFill>
              </a:rPr>
              <a:t>principles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000" dirty="0"/>
              <a:t>Continually improve your abilities.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000" dirty="0"/>
              <a:t>Share your knowledge, expertise, and values.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000" dirty="0"/>
              <a:t>Respect the rights of others.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000" dirty="0"/>
              <a:t>Take responsibility for your actions and inactions.</a:t>
            </a:r>
          </a:p>
        </p:txBody>
      </p:sp>
      <p:sp>
        <p:nvSpPr>
          <p:cNvPr id="48131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AD5B8E75-1C44-426E-B2A1-145D2AC5ED68}" type="slidenum">
              <a:rPr lang="en-US" altLang="en-US" smtClean="0">
                <a:solidFill>
                  <a:schemeClr val="tx2"/>
                </a:solidFill>
              </a:rPr>
              <a:pPr/>
              <a:t>37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Analysis (1/2)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Most relevant </a:t>
            </a:r>
            <a:r>
              <a:rPr lang="en-US" sz="2400" dirty="0">
                <a:solidFill>
                  <a:srgbClr val="C00000"/>
                </a:solidFill>
              </a:rPr>
              <a:t>clauses</a:t>
            </a:r>
            <a:r>
              <a:rPr lang="en-US" sz="2400" dirty="0"/>
              <a:t>: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000" dirty="0"/>
              <a:t>1.01: Tim did not accept responsibility for his action.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000" dirty="0"/>
              <a:t>1.08: The worm was free, but cost system administrators a lot of time.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000" dirty="0"/>
              <a:t>2.03: The anti-worm entered computers without permission of their owners.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000" dirty="0"/>
              <a:t>8.01, 8.02, 8.06: Tim improved his knowledge and skills by creating the anti-worm.</a:t>
            </a:r>
          </a:p>
        </p:txBody>
      </p:sp>
      <p:sp>
        <p:nvSpPr>
          <p:cNvPr id="49155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6E09E4B4-9BC1-45B4-B38F-D2D372574D3A}" type="slidenum">
              <a:rPr lang="en-US" altLang="en-US" smtClean="0">
                <a:solidFill>
                  <a:schemeClr val="tx2"/>
                </a:solidFill>
              </a:rPr>
              <a:pPr/>
              <a:t>38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Analysis (2/2)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2800" b="1" dirty="0">
                <a:solidFill>
                  <a:srgbClr val="C00000"/>
                </a:solidFill>
              </a:rPr>
              <a:t>Conclusions: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Tim’s welfare is less important than the public good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By attempting to hide his identity, Tim refused to accept responsibility for his actions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Tim violated the property rights of the PC owners whose systems were infected by his anti-worm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Tim violated the Code</a:t>
            </a:r>
          </a:p>
        </p:txBody>
      </p:sp>
      <p:sp>
        <p:nvSpPr>
          <p:cNvPr id="50179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B9868A91-0036-4EDD-BF7B-6233378F1528}" type="slidenum">
              <a:rPr lang="en-US" altLang="en-US" smtClean="0">
                <a:solidFill>
                  <a:schemeClr val="tx2"/>
                </a:solidFill>
              </a:rPr>
              <a:pPr/>
              <a:t>39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Conclusions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305800" cy="4343400"/>
          </a:xfrm>
        </p:spPr>
        <p:txBody>
          <a:bodyPr>
            <a:normAutofit fontScale="92500"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Jean works in support organization for Acme Corporation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Many Acme customers downgrading their level of support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East Dakota gives Jean opportunity to run a training class similar to that provided by Acme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Jean tells no one at Acme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Jean develops materials at home on own time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Jean takes paid vacation to teach class</a:t>
            </a:r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AA23DF4B-353A-4A53-BC2F-47D9B49BA55A}" type="slidenum">
              <a:rPr lang="en-US" altLang="en-US" smtClean="0">
                <a:solidFill>
                  <a:schemeClr val="tx2"/>
                </a:solidFill>
              </a:rPr>
              <a:pPr/>
              <a:t>40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Case 4: Consulting Opportunity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Most relevant </a:t>
            </a:r>
            <a:r>
              <a:rPr lang="en-US" sz="2800" b="1" dirty="0">
                <a:solidFill>
                  <a:srgbClr val="C00000"/>
                </a:solidFill>
              </a:rPr>
              <a:t>principles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Be impartial.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Take responsibility for your actions and inactions.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Disclose information that others ought to know.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Maintain your integrity.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Continually improve your abilities.</a:t>
            </a:r>
          </a:p>
        </p:txBody>
      </p:sp>
      <p:sp>
        <p:nvSpPr>
          <p:cNvPr id="5222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38E08871-437D-43A6-99F5-3B419739CB82}" type="slidenum">
              <a:rPr lang="en-US" altLang="en-US" smtClean="0">
                <a:solidFill>
                  <a:schemeClr val="tx2"/>
                </a:solidFill>
              </a:rPr>
              <a:pPr/>
              <a:t>41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Analysis (1/2)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dirty="0"/>
              <a:t>Most relevant </a:t>
            </a:r>
            <a:r>
              <a:rPr lang="en-US" sz="2400" b="1" dirty="0">
                <a:solidFill>
                  <a:srgbClr val="C00000"/>
                </a:solidFill>
              </a:rPr>
              <a:t>clauses: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3.04: Jean was well qualified to develop materials and teach class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8.04: By creating materials, Jean became even more familiar with Acme’s package and its capabilities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4.05: Jean didn’t disclose his conflict of interest with his employer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2.08: Jean deprived himself of “time off” needed to do his best work at Acme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2400" dirty="0"/>
              <a:t>6.05: Jean put his own interest above that of his employer</a:t>
            </a:r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1E0BEEEB-0D54-41BF-928C-210C3456A5FA}" type="slidenum">
              <a:rPr lang="en-US" altLang="en-US" smtClean="0">
                <a:solidFill>
                  <a:schemeClr val="tx2"/>
                </a:solidFill>
              </a:rPr>
              <a:pPr/>
              <a:t>42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Analysis (2/2)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3200" b="1" dirty="0">
                <a:solidFill>
                  <a:srgbClr val="C00000"/>
                </a:solidFill>
              </a:rPr>
              <a:t>Conclusions: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Jean did not disclose East Dakota’s offer or his decision to Acme’s management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Acme’s management is likely to question Jean’s loyalty to the company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Jean’s actions were wrong and unwise</a:t>
            </a:r>
          </a:p>
        </p:txBody>
      </p:sp>
      <p:sp>
        <p:nvSpPr>
          <p:cNvPr id="54275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397625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  <a:ea typeface="MS Gothic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1-</a:t>
            </a:r>
            <a:fld id="{7E7BA54C-1182-4D04-9418-A1A30E5676AD}" type="slidenum">
              <a:rPr lang="en-US" altLang="en-US" smtClean="0">
                <a:solidFill>
                  <a:schemeClr val="tx2"/>
                </a:solidFill>
              </a:rPr>
              <a:pPr/>
              <a:t>43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Conclusions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229600" cy="4114800"/>
          </a:xfrm>
        </p:spPr>
        <p:txBody>
          <a:bodyPr lIns="0" tIns="0" rIns="0" bIns="0"/>
          <a:lstStyle/>
          <a:p>
            <a:pPr marL="274320" eaLnBrk="1" fontAlgn="auto" hangingPunct="1">
              <a:lnSpc>
                <a:spcPct val="95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 of 24 imperatives formulated as statements of personal responsibility, identifies the elements of such a commitment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Moral Imperatives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Professional Responsibility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Leadership Imperatives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the Code </a:t>
            </a:r>
          </a:p>
        </p:txBody>
      </p:sp>
      <p:sp>
        <p:nvSpPr>
          <p:cNvPr id="43010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 lIns="0" tIns="0" rIns="0" bIns="0"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ACM Code of Ethics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8153400" cy="4114800"/>
          </a:xfrm>
        </p:spPr>
        <p:txBody>
          <a:bodyPr lIns="0" tIns="0" rIns="0" bIns="0">
            <a:normAutofit lnSpcReduction="10000"/>
          </a:bodyPr>
          <a:lstStyle/>
          <a:p>
            <a:pPr marL="274320" eaLnBrk="1" fontAlgn="auto" hangingPunct="1">
              <a:lnSpc>
                <a:spcPct val="95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Times New Roman" pitchFamily="18" charset="0"/>
              </a:rPr>
              <a:t>As an ACM member I will: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1.1 Contribute to society and human well-being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1.2 Avoid harm to others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1.3 Be honest and trustworthy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1.4 Be fair, and take action not to discriminate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1.5 </a:t>
            </a:r>
            <a:r>
              <a:rPr lang="en-GB" sz="2400" dirty="0" err="1">
                <a:latin typeface="Times New Roman" pitchFamily="18" charset="0"/>
              </a:rPr>
              <a:t>Honor</a:t>
            </a:r>
            <a:r>
              <a:rPr lang="en-GB" sz="2400" dirty="0">
                <a:latin typeface="Times New Roman" pitchFamily="18" charset="0"/>
              </a:rPr>
              <a:t> property rights including copyrights and patents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1.6 Give proper credit for intellectual property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1.7 Respect privacy of others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1.8 </a:t>
            </a:r>
            <a:r>
              <a:rPr lang="en-GB" sz="2400" dirty="0" err="1">
                <a:latin typeface="Times New Roman" pitchFamily="18" charset="0"/>
              </a:rPr>
              <a:t>Honor</a:t>
            </a:r>
            <a:r>
              <a:rPr lang="en-GB" sz="2400" dirty="0">
                <a:latin typeface="Times New Roman" pitchFamily="18" charset="0"/>
              </a:rPr>
              <a:t> confidentiality </a:t>
            </a:r>
          </a:p>
        </p:txBody>
      </p:sp>
      <p:sp>
        <p:nvSpPr>
          <p:cNvPr id="4403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190500"/>
            <a:ext cx="8077200" cy="1527175"/>
          </a:xfrm>
        </p:spPr>
        <p:txBody>
          <a:bodyPr lIns="0" tIns="0" rIns="0" bIns="0"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/>
              <a:t>General Moral Imperatives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1905000"/>
            <a:ext cx="7696200" cy="4114800"/>
          </a:xfrm>
        </p:spPr>
        <p:txBody>
          <a:bodyPr lIns="0" tIns="0" rIns="0" bIns="0">
            <a:normAutofit lnSpcReduction="10000"/>
          </a:bodyPr>
          <a:lstStyle/>
          <a:p>
            <a:pPr marL="274320" eaLnBrk="1" fontAlgn="auto" hangingPunct="1">
              <a:lnSpc>
                <a:spcPct val="95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Times New Roman" pitchFamily="18" charset="0"/>
              </a:rPr>
              <a:t>As an ACM computing professional I will: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2.1 Strive to achieve the highest quality in both the process and products of professional work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2.2 Acquire and maintain professional competence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2.3 Know and respect existing laws pertaining to professional work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2.4 Accept and provide appropriate professional review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2.5 Give comprehensive and thorough evaluation of computer system and their impacts, including analysis of possible risk</a:t>
            </a:r>
          </a:p>
        </p:txBody>
      </p:sp>
      <p:sp>
        <p:nvSpPr>
          <p:cNvPr id="45058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 lIns="0" tIns="0" rIns="0" bIns="0"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Specific Professional Responsibilities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905000"/>
            <a:ext cx="7696200" cy="4114800"/>
          </a:xfrm>
        </p:spPr>
        <p:txBody>
          <a:bodyPr lIns="0" tIns="0" rIns="0" bIns="0"/>
          <a:lstStyle/>
          <a:p>
            <a:pPr marL="274320" eaLnBrk="1" fontAlgn="auto" hangingPunct="1">
              <a:lnSpc>
                <a:spcPct val="95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Times New Roman" pitchFamily="18" charset="0"/>
              </a:rPr>
              <a:t>As an ACM computing professional I will: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latin typeface="Times New Roman" pitchFamily="18" charset="0"/>
              </a:rPr>
              <a:t>2.6 </a:t>
            </a:r>
            <a:r>
              <a:rPr lang="en-GB" sz="2800" dirty="0" err="1">
                <a:latin typeface="Times New Roman" pitchFamily="18" charset="0"/>
              </a:rPr>
              <a:t>Honor</a:t>
            </a:r>
            <a:r>
              <a:rPr lang="en-GB" sz="2800" dirty="0">
                <a:latin typeface="Times New Roman" pitchFamily="18" charset="0"/>
              </a:rPr>
              <a:t> contracts, agreements, and assigned responsibilities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latin typeface="Times New Roman" pitchFamily="18" charset="0"/>
              </a:rPr>
              <a:t>2.7 Improve public understanding of computing and its consequences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latin typeface="Times New Roman" pitchFamily="18" charset="0"/>
              </a:rPr>
              <a:t>2.8 Access computing and communication resources only when authorized to do so</a:t>
            </a:r>
          </a:p>
        </p:txBody>
      </p:sp>
      <p:sp>
        <p:nvSpPr>
          <p:cNvPr id="46082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 lIns="0" tIns="0" rIns="0" bIns="0"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Specific Professional Responsibilities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8153400" cy="4495800"/>
          </a:xfrm>
        </p:spPr>
        <p:txBody>
          <a:bodyPr lIns="0" tIns="0" rIns="0" bIns="0">
            <a:noAutofit/>
          </a:bodyPr>
          <a:lstStyle/>
          <a:p>
            <a:pPr marL="274320" eaLnBrk="1" fontAlgn="auto" hangingPunct="1">
              <a:lnSpc>
                <a:spcPct val="95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Times New Roman" pitchFamily="18" charset="0"/>
              </a:rPr>
              <a:t>As an ACM member and an organizational leader, I will: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3.1Articulate social responsibilities of members of an organizational unit and encourage full acceptance of those responsibilities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3.2 Manage personnel and resources to design and build information systems that enhance the quality, effectiveness and dignity of working life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3.3 Acknowledge and support proper and authorized uses of an organization’s computing and communications resources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>
              <a:latin typeface="Times New Roman" pitchFamily="18" charset="0"/>
            </a:endParaRPr>
          </a:p>
        </p:txBody>
      </p:sp>
      <p:sp>
        <p:nvSpPr>
          <p:cNvPr id="47106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 lIns="0" tIns="0" rIns="0" bIns="0"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Organizational Leadership Imperatives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1905000"/>
            <a:ext cx="7696200" cy="4114800"/>
          </a:xfrm>
        </p:spPr>
        <p:txBody>
          <a:bodyPr lIns="0" tIns="0" rIns="0" bIns="0">
            <a:normAutofit fontScale="92500"/>
          </a:bodyPr>
          <a:lstStyle/>
          <a:p>
            <a:pPr marL="274320" eaLnBrk="1" fontAlgn="auto" hangingPunct="1">
              <a:lnSpc>
                <a:spcPct val="95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Times New Roman" pitchFamily="18" charset="0"/>
              </a:rPr>
              <a:t>As an ACM member and an organizational leader, I will: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3.4 Ensure that users and those who will be affected by a computing system have their needs clearly articulated during the assessment and design of requirement. Later the system must be validated to meet requirements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3.5 Articulate and support policies that protect the dignity of users and others affected by a computing system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Times New Roman" pitchFamily="18" charset="0"/>
              </a:rPr>
              <a:t>3.6 Create opportunities for members of the organization to learn the principles and limitations of computer systems</a:t>
            </a:r>
          </a:p>
          <a:p>
            <a:pPr marL="274320" eaLnBrk="1" fontAlgn="auto" hangingPunct="1">
              <a:lnSpc>
                <a:spcPct val="102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>
              <a:latin typeface="Times New Roman" pitchFamily="18" charset="0"/>
            </a:endParaRPr>
          </a:p>
        </p:txBody>
      </p:sp>
      <p:sp>
        <p:nvSpPr>
          <p:cNvPr id="48130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 lIns="0" tIns="0" rIns="0" bIns="0"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Organizational Leadership Imperatives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4.1 Uphold and promote the principles of this code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4.2 Treat violations of this code as inconsistent with membership in the ACM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Compliance with code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905000"/>
            <a:ext cx="8304213" cy="4267200"/>
          </a:xfrm>
        </p:spPr>
        <p:txBody>
          <a:bodyPr/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Honesty and fairness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    SE 1.6, 2.1, 6.7, Professional behaviour, 7.4, 7.5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    ACM 1.3, 1.4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responsibilities to respect confidentiality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    SE 2.5, ACM 1.8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Maintain professional competence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    SE 8.1 – 8.5, AM 2.2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Aware of relevant laws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    SE 8.5, ACM 2.3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 err="1"/>
              <a:t>Honor</a:t>
            </a:r>
            <a:r>
              <a:rPr lang="en-GB" dirty="0"/>
              <a:t> contracts and agreement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     ACM 2.6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dirty="0"/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dirty="0"/>
          </a:p>
        </p:txBody>
      </p:sp>
      <p:sp>
        <p:nvSpPr>
          <p:cNvPr id="50178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7008813" cy="1525588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/>
              <a:t>Some emphasizes of the codes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8151813" cy="4113213"/>
          </a:xfrm>
        </p:spPr>
        <p:txBody>
          <a:bodyPr>
            <a:normAutofit/>
          </a:bodyPr>
          <a:lstStyle/>
          <a:p>
            <a:pPr marL="274320" eaLnBrk="1" fontAlgn="auto" hangingPunct="1">
              <a:lnSpc>
                <a:spcPct val="93000"/>
              </a:lnSpc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Respect and protect privacy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    SE 1.3, 3.12, ACM 1.7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Avoid harm to others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    SE 1.3, ACM 1.2</a:t>
            </a:r>
          </a:p>
          <a:p>
            <a:pPr marL="274320" eaLnBrk="1" fontAlgn="auto" hangingPunct="1">
              <a:spcAft>
                <a:spcPts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Respect property right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    SE 2.2, 2.3, ACM 1.5, 1.6, 2.8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</p:txBody>
      </p:sp>
      <p:sp>
        <p:nvSpPr>
          <p:cNvPr id="51202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7008813" cy="1525588"/>
          </a:xfrm>
        </p:spPr>
        <p:txBody>
          <a:bodyPr/>
          <a:lstStyle/>
          <a:p>
            <a:pPr eaLnBrk="1" fontAlgn="auto" hangingPunct="1">
              <a:lnSpc>
                <a:spcPct val="93000"/>
              </a:lnSpc>
              <a:spcAft>
                <a:spcPts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/>
              <a:t>Some emphasizes of the codes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3600"/>
              <a:t>Software piracy.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3600"/>
              <a:t>Inappropriate use of computing resources.</a:t>
            </a:r>
          </a:p>
          <a:p>
            <a:pPr marL="548640" lvl="1" indent="-182880" eaLnBrk="1" fontAlgn="auto" hangingPunct="1">
              <a:spcAft>
                <a:spcPts val="0"/>
              </a:spcAft>
              <a:defRPr/>
            </a:pPr>
            <a:r>
              <a:rPr lang="en-US" sz="3600"/>
              <a:t>Inappropriate sharing of information.</a:t>
            </a:r>
            <a:r>
              <a:rPr lang="en-US" sz="3200"/>
              <a:t>   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IT Users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Define and limit the appropriate use of IT resources.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Establish guidelines for the use of company software.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Structure information systems to protect data and information.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Install and maintain</a:t>
            </a:r>
            <a:r>
              <a:rPr lang="en-US" dirty="0"/>
              <a:t> </a:t>
            </a:r>
            <a:r>
              <a:rPr lang="en-US" sz="2800" dirty="0"/>
              <a:t>a corporate firewall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Supporting Ethical Practices of IT Users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A professional is someone: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who requires advanced training and experience.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who exercises discretion and judgment during work.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whose work cannot be standardized. 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IT professionals have many different relationships that have different ethical issues.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3200" dirty="0"/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3200" dirty="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Summary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A professional code of ethics states the principles and core values essential to the work of a particular occupational group.</a:t>
            </a:r>
            <a:endParaRPr lang="en-US" sz="3200" dirty="0"/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Licensing and certification of IT professionals would increase the reliability and effectiveness of information systems.</a:t>
            </a:r>
            <a:r>
              <a:rPr lang="en-US" sz="3200" dirty="0"/>
              <a:t>  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1600" dirty="0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Summary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dirty="0"/>
              <a:t>IT users encounter many ethical issues, including: 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Software piracy.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Inappropriate use of IT resources.</a:t>
            </a:r>
          </a:p>
          <a:p>
            <a:pPr marL="548640" lvl="1" indent="-18288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Inappropriate sharing of private and secret data. 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dirty="0"/>
              <a:t>An IT usage policy helps users understand how to appropriately use IT resources. </a:t>
            </a:r>
            <a:endParaRPr lang="en-US" sz="2400" dirty="0"/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Summary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Grid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Grid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olstice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792</TotalTime>
  <Words>2695</Words>
  <Application>Microsoft Macintosh PowerPoint</Application>
  <PresentationFormat>On-screen Show (4:3)</PresentationFormat>
  <Paragraphs>360</Paragraphs>
  <Slides>57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Arial Narrow</vt:lpstr>
      <vt:lpstr>Franklin Gothic Medium</vt:lpstr>
      <vt:lpstr>Times New Roman</vt:lpstr>
      <vt:lpstr>Wingdings</vt:lpstr>
      <vt:lpstr>Wingdings 2</vt:lpstr>
      <vt:lpstr>Theme1</vt:lpstr>
      <vt:lpstr>   CHAPTER 3: PROFESSIONAL ETHICS</vt:lpstr>
      <vt:lpstr>Objectives</vt:lpstr>
      <vt:lpstr>Contents</vt:lpstr>
      <vt:lpstr>IT Profession</vt:lpstr>
      <vt:lpstr>IT Profession</vt:lpstr>
      <vt:lpstr>IT Professional</vt:lpstr>
      <vt:lpstr>Professional relationships to be managed</vt:lpstr>
      <vt:lpstr>IT Professional-Employer</vt:lpstr>
      <vt:lpstr>IT Professional-Employer</vt:lpstr>
      <vt:lpstr>IT Professional-Client</vt:lpstr>
      <vt:lpstr>IT Professional-Supplier</vt:lpstr>
      <vt:lpstr>IT Professional-Professional</vt:lpstr>
      <vt:lpstr>IT Professional-IT User</vt:lpstr>
      <vt:lpstr>IT Professional-Society</vt:lpstr>
      <vt:lpstr>CLASS DEBATE</vt:lpstr>
      <vt:lpstr>Professional Codes of Ethics</vt:lpstr>
      <vt:lpstr>Professional Codes of Ethics - Benefits</vt:lpstr>
      <vt:lpstr>Types of Code of Ethics</vt:lpstr>
      <vt:lpstr>Software Engineering Codes of Ethics and Profesional Practice (SECEPP)</vt:lpstr>
      <vt:lpstr>Preamble</vt:lpstr>
      <vt:lpstr>Principles</vt:lpstr>
      <vt:lpstr>Principles</vt:lpstr>
      <vt:lpstr>Principles</vt:lpstr>
      <vt:lpstr>Principles</vt:lpstr>
      <vt:lpstr>Alternative List (virtues discipline-independent)</vt:lpstr>
      <vt:lpstr>Alternative List (virtues discipline-independent)</vt:lpstr>
      <vt:lpstr>Case Study – evaluate moral problem using SECEPP</vt:lpstr>
      <vt:lpstr>Case 1– Software Recommendation </vt:lpstr>
      <vt:lpstr>Case 1– Software Recommendation</vt:lpstr>
      <vt:lpstr>Analysis – Software Recommendation</vt:lpstr>
      <vt:lpstr>Case  2: Child Pornography</vt:lpstr>
      <vt:lpstr>Case  2: Child Pornography</vt:lpstr>
      <vt:lpstr>Analysis (1/2)</vt:lpstr>
      <vt:lpstr>Analysis (2/2)</vt:lpstr>
      <vt:lpstr>Conclusions</vt:lpstr>
      <vt:lpstr>Case 3: Anti-Worm</vt:lpstr>
      <vt:lpstr>Analysis (1/2)</vt:lpstr>
      <vt:lpstr>Analysis (2/2)</vt:lpstr>
      <vt:lpstr>Conclusions</vt:lpstr>
      <vt:lpstr>Case 4: Consulting Opportunity</vt:lpstr>
      <vt:lpstr>Analysis (1/2)</vt:lpstr>
      <vt:lpstr>Analysis (2/2)</vt:lpstr>
      <vt:lpstr>Conclusions</vt:lpstr>
      <vt:lpstr>ACM Code of Ethics</vt:lpstr>
      <vt:lpstr>General Moral Imperatives</vt:lpstr>
      <vt:lpstr>Specific Professional Responsibilities</vt:lpstr>
      <vt:lpstr>Specific Professional Responsibilities</vt:lpstr>
      <vt:lpstr>Organizational Leadership Imperatives</vt:lpstr>
      <vt:lpstr>Organizational Leadership Imperatives</vt:lpstr>
      <vt:lpstr>Compliance with code</vt:lpstr>
      <vt:lpstr>Some emphasizes of the codes</vt:lpstr>
      <vt:lpstr>Some emphasizes of the codes</vt:lpstr>
      <vt:lpstr>IT Users</vt:lpstr>
      <vt:lpstr>Supporting Ethical Practices of IT Users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Ethics</dc:title>
  <dc:creator>rozinor</dc:creator>
  <cp:lastModifiedBy>ROZI NOR HAIZAN BINTI NOR</cp:lastModifiedBy>
  <cp:revision>44</cp:revision>
  <cp:lastPrinted>2016-09-26T02:36:00Z</cp:lastPrinted>
  <dcterms:modified xsi:type="dcterms:W3CDTF">2025-03-20T08:34:21Z</dcterms:modified>
</cp:coreProperties>
</file>